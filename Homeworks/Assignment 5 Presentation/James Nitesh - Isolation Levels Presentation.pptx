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134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0F0F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685800"/>
            <a:ext cx="201168" cy="5257800"/>
          </a:xfrm>
          <a:prstGeom prst="rect">
            <a:avLst/>
          </a:prstGeom>
          <a:solidFill>
            <a:srgbClr val="0F0F0F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777240"/>
            <a:ext cx="996696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5F5F5F"/>
                </a:solidFill>
                <a:latin typeface="Aptos"/>
              </a:defRPr>
            </a:pPr>
            <a:r>
              <a:t>DBMS  / 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417320"/>
            <a:ext cx="10241280" cy="16002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3800" b="1">
                <a:solidFill>
                  <a:srgbClr val="0F0F0F"/>
                </a:solidFill>
                <a:latin typeface="Aptos"/>
              </a:defRPr>
            </a:pPr>
            <a:r>
              <a:t>TRANSACTION</a:t>
            </a:r>
          </a:p>
          <a:p>
            <a:pPr algn="l">
              <a:spcAft>
                <a:spcPts val="700"/>
              </a:spcAft>
              <a:defRPr sz="3800" b="1">
                <a:solidFill>
                  <a:srgbClr val="0F0F0F"/>
                </a:solidFill>
                <a:latin typeface="Aptos"/>
              </a:defRPr>
            </a:pPr>
            <a:r>
              <a:t>ISOLATION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3337560"/>
            <a:ext cx="9601200" cy="6858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100" b="0">
                <a:solidFill>
                  <a:srgbClr val="0F0F0F"/>
                </a:solidFill>
                <a:latin typeface="Aptos"/>
              </a:defRPr>
            </a:pPr>
            <a:r>
              <a:t>How databases balance consistency, concurrency, and performance.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4343400"/>
            <a:ext cx="3657600" cy="73152"/>
          </a:xfrm>
          <a:prstGeom prst="rect">
            <a:avLst/>
          </a:prstGeom>
          <a:solidFill>
            <a:srgbClr val="0F0F0F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4617720"/>
            <a:ext cx="4645695" cy="973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5F5F5F"/>
                </a:solidFill>
                <a:latin typeface="Aptos"/>
              </a:defRPr>
            </a:pPr>
            <a:r>
              <a:rPr lang="en-US" sz="1600" dirty="0"/>
              <a:t>James McGuigan &amp; Nitesh Kumar Chahar</a:t>
            </a:r>
          </a:p>
          <a:p>
            <a:pPr algn="l">
              <a:spcAft>
                <a:spcPts val="700"/>
              </a:spcAft>
              <a:defRPr sz="1300" b="1">
                <a:solidFill>
                  <a:srgbClr val="5F5F5F"/>
                </a:solidFill>
                <a:latin typeface="Aptos"/>
              </a:defRPr>
            </a:pPr>
            <a:endParaRPr lang="en-US" dirty="0"/>
          </a:p>
          <a:p>
            <a:pPr algn="l">
              <a:spcAft>
                <a:spcPts val="700"/>
              </a:spcAft>
              <a:defRPr sz="1300" b="1">
                <a:solidFill>
                  <a:srgbClr val="5F5F5F"/>
                </a:solidFill>
                <a:latin typeface="Aptos"/>
              </a:defRPr>
            </a:pPr>
            <a:r>
              <a:rPr dirty="0"/>
              <a:t>PART 1  —  ANOMALIES     /     PART 2  —  ISOLATION CHOICES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0F0F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144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5F5F5F"/>
                </a:solidFill>
                <a:latin typeface="Aptos"/>
              </a:defRPr>
            </a:pPr>
            <a:r>
              <a:t>01 /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12648"/>
            <a:ext cx="7394910" cy="111466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0F0F0F"/>
                </a:solidFill>
                <a:latin typeface="Aptos"/>
              </a:defRPr>
            </a:pPr>
            <a:r>
              <a:rPr lang="en-US" sz="2800" b="1" dirty="0">
                <a:solidFill>
                  <a:srgbClr val="141414"/>
                </a:solidFill>
                <a:latin typeface="Arial"/>
              </a:rPr>
              <a:t>What is isolation—and why do we need it?</a:t>
            </a:r>
          </a:p>
          <a:p>
            <a:pPr algn="l">
              <a:spcAft>
                <a:spcPts val="700"/>
              </a:spcAft>
              <a:defRPr sz="2900" b="1">
                <a:solidFill>
                  <a:srgbClr val="0F0F0F"/>
                </a:solidFill>
                <a:latin typeface="Aptos"/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30352" y="1179576"/>
            <a:ext cx="8397089" cy="39395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5F5F5F"/>
                </a:solidFill>
                <a:latin typeface="Aptos"/>
              </a:defRPr>
            </a:pPr>
            <a:r>
              <a:rPr sz="1600" dirty="0"/>
              <a:t>Isolation defines what one transaction can see while another transaction is running</a:t>
            </a:r>
            <a:r>
              <a:rPr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D7D7D7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F5F5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74519"/>
            <a:ext cx="5349240" cy="3154680"/>
          </a:xfrm>
          <a:prstGeom prst="rect">
            <a:avLst/>
          </a:prstGeom>
          <a:solidFill>
            <a:srgbClr val="F2F2F2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2039112"/>
            <a:ext cx="5020055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0F0F0F"/>
                </a:solidFill>
                <a:latin typeface="Aptos"/>
              </a:defRPr>
            </a:pPr>
            <a:r>
              <a:t>THE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478024"/>
            <a:ext cx="4950330" cy="1296765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100" b="0">
                <a:solidFill>
                  <a:srgbClr val="0F0F0F"/>
                </a:solidFill>
                <a:latin typeface="Aptos"/>
              </a:defRPr>
            </a:pPr>
            <a:r>
              <a:rPr dirty="0"/>
              <a:t>A set of database rules that controls </a:t>
            </a:r>
            <a:endParaRPr lang="en-US" dirty="0"/>
          </a:p>
          <a:p>
            <a:pPr algn="l">
              <a:spcAft>
                <a:spcPts val="700"/>
              </a:spcAft>
              <a:defRPr sz="2100" b="0">
                <a:solidFill>
                  <a:srgbClr val="0F0F0F"/>
                </a:solidFill>
                <a:latin typeface="Aptos"/>
              </a:defRPr>
            </a:pPr>
            <a:r>
              <a:rPr dirty="0"/>
              <a:t>whether one transaction can see another </a:t>
            </a:r>
            <a:endParaRPr lang="en-US" dirty="0"/>
          </a:p>
          <a:p>
            <a:pPr algn="l">
              <a:spcAft>
                <a:spcPts val="700"/>
              </a:spcAft>
              <a:defRPr sz="2100" b="0">
                <a:solidFill>
                  <a:srgbClr val="0F0F0F"/>
                </a:solidFill>
                <a:latin typeface="Aptos"/>
              </a:defRPr>
            </a:pPr>
            <a:r>
              <a:rPr dirty="0"/>
              <a:t>transaction’s changes.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74519"/>
            <a:ext cx="5349240" cy="3154680"/>
          </a:xfrm>
          <a:prstGeom prst="rect">
            <a:avLst/>
          </a:prstGeom>
          <a:solidFill>
            <a:srgbClr val="F2F2F2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2039112"/>
            <a:ext cx="5020055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0F0F0F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478024"/>
            <a:ext cx="4953151" cy="1709699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0F0F0F"/>
                </a:solidFill>
                <a:latin typeface="Aptos"/>
              </a:defRPr>
            </a:pPr>
            <a:r>
              <a:rPr sz="2100" dirty="0"/>
              <a:t>Many </a:t>
            </a:r>
            <a:r>
              <a:rPr lang="en-US" sz="2100" dirty="0"/>
              <a:t>users'</a:t>
            </a:r>
            <a:r>
              <a:rPr sz="2100" dirty="0"/>
              <a:t> access data at once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0F0F0F"/>
                </a:solidFill>
                <a:latin typeface="Aptos"/>
              </a:defRPr>
            </a:pPr>
            <a:r>
              <a:rPr sz="2100" dirty="0"/>
              <a:t>Unfinished changes can cause confusing </a:t>
            </a:r>
            <a:endParaRPr lang="en-US" sz="2100" dirty="0"/>
          </a:p>
          <a:p>
            <a:pPr algn="l">
              <a:spcAft>
                <a:spcPts val="700"/>
              </a:spcAft>
              <a:defRPr sz="1700" b="0">
                <a:solidFill>
                  <a:srgbClr val="0F0F0F"/>
                </a:solidFill>
                <a:latin typeface="Aptos"/>
              </a:defRPr>
            </a:pPr>
            <a:r>
              <a:rPr lang="en-US" sz="2100" dirty="0"/>
              <a:t>R</a:t>
            </a:r>
            <a:r>
              <a:rPr sz="2100" dirty="0"/>
              <a:t>esults</a:t>
            </a:r>
            <a:r>
              <a:rPr lang="en-US" sz="2100" dirty="0"/>
              <a:t> </a:t>
            </a:r>
            <a:r>
              <a:rPr sz="2100" dirty="0"/>
              <a:t>Isolation reduces anomalies </a:t>
            </a:r>
            <a:endParaRPr lang="en-US" sz="2100" dirty="0"/>
          </a:p>
          <a:p>
            <a:pPr algn="l">
              <a:spcAft>
                <a:spcPts val="700"/>
              </a:spcAft>
              <a:defRPr sz="1700" b="0">
                <a:solidFill>
                  <a:srgbClr val="0F0F0F"/>
                </a:solidFill>
                <a:latin typeface="Aptos"/>
              </a:defRPr>
            </a:pPr>
            <a:r>
              <a:rPr sz="2100" dirty="0"/>
              <a:t>without stopping all</a:t>
            </a:r>
            <a:r>
              <a:rPr lang="en-US" sz="2100" dirty="0"/>
              <a:t> </a:t>
            </a:r>
            <a:r>
              <a:rPr sz="2100" dirty="0"/>
              <a:t>parallel 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5349240"/>
            <a:ext cx="10972800" cy="685800"/>
          </a:xfrm>
          <a:prstGeom prst="rect">
            <a:avLst/>
          </a:prstGeom>
          <a:solidFill>
            <a:srgbClr val="0F0F0F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5486400"/>
            <a:ext cx="10515600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GOAL: reliable results without stopping all concurrent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0F0F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144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5F5F5F"/>
                </a:solidFill>
                <a:latin typeface="Aptos"/>
              </a:defRPr>
            </a:pPr>
            <a:r>
              <a:t>02 / VISIBILITY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5569089" cy="1130053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0F0F0F"/>
                </a:solidFill>
                <a:latin typeface="Aptos"/>
              </a:defRPr>
            </a:pPr>
            <a:r>
              <a:rPr lang="en-US" sz="2800" b="1" dirty="0">
                <a:solidFill>
                  <a:srgbClr val="141414"/>
                </a:solidFill>
                <a:latin typeface="Arial"/>
              </a:rPr>
              <a:t>Isolation is a visibility contract</a:t>
            </a:r>
          </a:p>
          <a:p>
            <a:pPr algn="l">
              <a:spcAft>
                <a:spcPts val="700"/>
              </a:spcAft>
              <a:defRPr sz="2900" b="1">
                <a:solidFill>
                  <a:srgbClr val="0F0F0F"/>
                </a:solidFill>
                <a:latin typeface="Aptos"/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30352" y="1234440"/>
            <a:ext cx="10972800" cy="43891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5F5F5F"/>
                </a:solidFill>
                <a:latin typeface="Aptos"/>
              </a:defRPr>
            </a:pPr>
            <a:r>
              <a:t>What Transaction B can see depends on the isolation level.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D7D7D7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F5F5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5074920" cy="3291840"/>
          </a:xfrm>
          <a:prstGeom prst="rect">
            <a:avLst/>
          </a:prstGeom>
          <a:solidFill>
            <a:srgbClr val="F2F2F2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874519"/>
            <a:ext cx="5074920" cy="502920"/>
          </a:xfrm>
          <a:prstGeom prst="rect">
            <a:avLst/>
          </a:prstGeom>
          <a:solidFill>
            <a:srgbClr val="0F0F0F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4663440" cy="2743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TRANSACTION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651760"/>
            <a:ext cx="4480560" cy="21031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0F0F0F"/>
                </a:solidFill>
                <a:latin typeface="Aptos"/>
              </a:defRPr>
            </a:pPr>
            <a:r>
              <a:t>1  Read data</a:t>
            </a:r>
          </a:p>
          <a:p>
            <a:pPr algn="l">
              <a:spcAft>
                <a:spcPts val="700"/>
              </a:spcAft>
              <a:defRPr sz="1900" b="1">
                <a:solidFill>
                  <a:srgbClr val="0F0F0F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900" b="1">
                <a:solidFill>
                  <a:srgbClr val="0F0F0F"/>
                </a:solidFill>
                <a:latin typeface="Aptos"/>
              </a:defRPr>
            </a:pPr>
            <a:r>
              <a:t>2  Update data</a:t>
            </a:r>
          </a:p>
          <a:p>
            <a:pPr algn="l">
              <a:spcAft>
                <a:spcPts val="700"/>
              </a:spcAft>
              <a:defRPr sz="1900" b="1">
                <a:solidFill>
                  <a:srgbClr val="0F0F0F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900" b="1">
                <a:solidFill>
                  <a:srgbClr val="0F0F0F"/>
                </a:solidFill>
                <a:latin typeface="Aptos"/>
              </a:defRPr>
            </a:pPr>
            <a:r>
              <a:t>3  Commit changes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874519"/>
            <a:ext cx="5074920" cy="3291840"/>
          </a:xfrm>
          <a:prstGeom prst="rect">
            <a:avLst/>
          </a:prstGeom>
          <a:solidFill>
            <a:srgbClr val="F2F2F2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874519"/>
            <a:ext cx="5074920" cy="502920"/>
          </a:xfrm>
          <a:prstGeom prst="rect">
            <a:avLst/>
          </a:prstGeom>
          <a:solidFill>
            <a:srgbClr val="0F0F0F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965960"/>
            <a:ext cx="4663440" cy="2743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TRANSACTION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651760"/>
            <a:ext cx="4480560" cy="21031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0F0F0F"/>
                </a:solidFill>
                <a:latin typeface="Aptos"/>
              </a:defRPr>
            </a:pPr>
            <a:r>
              <a:rPr dirty="0"/>
              <a:t>1  Read data</a:t>
            </a:r>
          </a:p>
          <a:p>
            <a:pPr algn="l">
              <a:spcAft>
                <a:spcPts val="700"/>
              </a:spcAft>
              <a:defRPr sz="1900" b="1">
                <a:solidFill>
                  <a:srgbClr val="0F0F0F"/>
                </a:solidFill>
                <a:latin typeface="Aptos"/>
              </a:defRPr>
            </a:pPr>
            <a:endParaRPr dirty="0"/>
          </a:p>
          <a:p>
            <a:pPr algn="l">
              <a:spcAft>
                <a:spcPts val="700"/>
              </a:spcAft>
              <a:defRPr sz="1900" b="1">
                <a:solidFill>
                  <a:srgbClr val="0F0F0F"/>
                </a:solidFill>
                <a:latin typeface="Aptos"/>
              </a:defRPr>
            </a:pPr>
            <a:r>
              <a:rPr dirty="0"/>
              <a:t>2  Update data</a:t>
            </a:r>
          </a:p>
          <a:p>
            <a:pPr algn="l">
              <a:spcAft>
                <a:spcPts val="700"/>
              </a:spcAft>
              <a:defRPr sz="1900" b="1">
                <a:solidFill>
                  <a:srgbClr val="0F0F0F"/>
                </a:solidFill>
                <a:latin typeface="Aptos"/>
              </a:defRPr>
            </a:pPr>
            <a:endParaRPr dirty="0"/>
          </a:p>
          <a:p>
            <a:pPr algn="l">
              <a:spcAft>
                <a:spcPts val="700"/>
              </a:spcAft>
              <a:defRPr sz="1900" b="1">
                <a:solidFill>
                  <a:srgbClr val="0F0F0F"/>
                </a:solidFill>
                <a:latin typeface="Aptos"/>
              </a:defRPr>
            </a:pPr>
            <a:r>
              <a:rPr dirty="0"/>
              <a:t>3  Commit changes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486400"/>
            <a:ext cx="1078992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0F0F0F"/>
                </a:solidFill>
                <a:latin typeface="Aptos"/>
              </a:defRPr>
            </a:pPr>
            <a:r>
              <a:t>Isolation controls: uncommitted data • repeat reads • rows matching a range query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0F0F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144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5F5F5F"/>
                </a:solidFill>
                <a:latin typeface="Aptos"/>
              </a:defRPr>
            </a:pPr>
            <a:r>
              <a:t>03 / WHAT CAN GO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6692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900" b="1">
                <a:solidFill>
                  <a:srgbClr val="0F0F0F"/>
                </a:solidFill>
                <a:latin typeface="Aptos"/>
              </a:defRPr>
            </a:pPr>
            <a:r>
              <a:t>Four concurrency anomalies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34440"/>
            <a:ext cx="10972800" cy="43891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5F5F5F"/>
                </a:solidFill>
                <a:latin typeface="Aptos"/>
              </a:defRPr>
            </a:pPr>
            <a:r>
              <a:t>Anomalies are surprising results caused by concurrent transactions.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D7D7D7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F5F5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74519"/>
            <a:ext cx="5349240" cy="1645920"/>
          </a:xfrm>
          <a:prstGeom prst="rect">
            <a:avLst/>
          </a:prstGeom>
          <a:solidFill>
            <a:srgbClr val="F2F2F2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984248"/>
            <a:ext cx="45720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5F5F5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304287"/>
            <a:ext cx="5020055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0F0F0F"/>
                </a:solidFill>
                <a:latin typeface="Aptos"/>
              </a:defRPr>
            </a:pPr>
            <a:r>
              <a:t>DIRTY 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743199"/>
            <a:ext cx="5020055" cy="6858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0F0F0F"/>
                </a:solidFill>
                <a:latin typeface="Aptos"/>
              </a:defRPr>
            </a:pPr>
            <a:r>
              <a:t>Reading another transaction’s uncommitted change.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74519"/>
            <a:ext cx="5349240" cy="1645920"/>
          </a:xfrm>
          <a:prstGeom prst="rect">
            <a:avLst/>
          </a:prstGeom>
          <a:solidFill>
            <a:srgbClr val="F2F2F2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984248"/>
            <a:ext cx="45720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5F5F5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304287"/>
            <a:ext cx="5020055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0F0F0F"/>
                </a:solidFill>
                <a:latin typeface="Aptos"/>
              </a:defRPr>
            </a:pPr>
            <a:r>
              <a:t>NON-REPEATABLE 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743199"/>
            <a:ext cx="5020055" cy="6858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0F0F0F"/>
                </a:solidFill>
                <a:latin typeface="Aptos"/>
              </a:defRPr>
            </a:pPr>
            <a:r>
              <a:t>Reading the same row twice and getting different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200"/>
            <a:ext cx="5349240" cy="1645920"/>
          </a:xfrm>
          <a:prstGeom prst="rect">
            <a:avLst/>
          </a:prstGeom>
          <a:solidFill>
            <a:srgbClr val="F2F2F2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" y="3995928"/>
            <a:ext cx="45720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5F5F5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315968"/>
            <a:ext cx="5020055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0F0F0F"/>
                </a:solidFill>
                <a:latin typeface="Aptos"/>
              </a:defRPr>
            </a:pPr>
            <a:r>
              <a:t>PHANTOM 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754879"/>
            <a:ext cx="5020055" cy="6858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0F0F0F"/>
                </a:solidFill>
                <a:latin typeface="Aptos"/>
              </a:defRPr>
            </a:pPr>
            <a:r>
              <a:t>Repeating a range query and getting a different set of rows.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886200"/>
            <a:ext cx="5349240" cy="1645920"/>
          </a:xfrm>
          <a:prstGeom prst="rect">
            <a:avLst/>
          </a:prstGeom>
          <a:solidFill>
            <a:srgbClr val="F2F2F2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82512" y="3995928"/>
            <a:ext cx="45720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5F5F5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4315968"/>
            <a:ext cx="5020055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0F0F0F"/>
                </a:solidFill>
                <a:latin typeface="Aptos"/>
              </a:defRPr>
            </a:pPr>
            <a:r>
              <a:t>LOST UPDATE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754879"/>
            <a:ext cx="5020055" cy="6858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0F0F0F"/>
                </a:solidFill>
                <a:latin typeface="Aptos"/>
              </a:defRPr>
            </a:pPr>
            <a:r>
              <a:t>One transaction overwrites another transaction’s change.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0F0F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144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5F5F5F"/>
                </a:solidFill>
                <a:latin typeface="Aptos"/>
              </a:defRPr>
            </a:pPr>
            <a:r>
              <a:t>04 /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7220182" cy="5786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0F0F0F"/>
                </a:solidFill>
                <a:latin typeface="Aptos"/>
              </a:defRPr>
            </a:pPr>
            <a:r>
              <a:rPr lang="en-US" sz="2800" b="1" dirty="0">
                <a:solidFill>
                  <a:srgbClr val="141414"/>
                </a:solidFill>
                <a:latin typeface="Arial"/>
              </a:rPr>
              <a:t>What two concurrent transactions can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D7D7D7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F5F5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09343"/>
            <a:ext cx="5349240" cy="1828800"/>
          </a:xfrm>
          <a:prstGeom prst="rect">
            <a:avLst/>
          </a:prstGeom>
          <a:solidFill>
            <a:srgbClr val="F2F2F2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709928"/>
            <a:ext cx="45720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5F5F5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029967"/>
            <a:ext cx="5020055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0F0F0F"/>
                </a:solidFill>
                <a:latin typeface="Aptos"/>
              </a:defRPr>
            </a:pPr>
            <a:r>
              <a:rPr dirty="0"/>
              <a:t>DIRTY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468879"/>
            <a:ext cx="5287409" cy="1019766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0F0F0F"/>
                </a:solidFill>
                <a:latin typeface="Aptos"/>
              </a:defRPr>
            </a:pPr>
            <a:r>
              <a:rPr dirty="0"/>
              <a:t>T1 changes a balance to $1,000 but has not committed. </a:t>
            </a:r>
            <a:endParaRPr lang="en-US" dirty="0"/>
          </a:p>
          <a:p>
            <a:pPr algn="l">
              <a:spcAft>
                <a:spcPts val="700"/>
              </a:spcAft>
              <a:defRPr sz="1500" b="0">
                <a:solidFill>
                  <a:srgbClr val="0F0F0F"/>
                </a:solidFill>
                <a:latin typeface="Aptos"/>
              </a:defRPr>
            </a:pPr>
            <a:r>
              <a:rPr dirty="0"/>
              <a:t>T2 reads $1,000. </a:t>
            </a:r>
            <a:endParaRPr lang="en-US" dirty="0"/>
          </a:p>
          <a:p>
            <a:pPr algn="l">
              <a:spcAft>
                <a:spcPts val="700"/>
              </a:spcAft>
              <a:defRPr sz="1500" b="0">
                <a:solidFill>
                  <a:srgbClr val="0F0F0F"/>
                </a:solidFill>
                <a:latin typeface="Aptos"/>
              </a:defRPr>
            </a:pPr>
            <a:r>
              <a:rPr lang="en-US" dirty="0"/>
              <a:t>			</a:t>
            </a:r>
            <a:r>
              <a:rPr dirty="0"/>
              <a:t>T1 rolls back</a:t>
            </a:r>
            <a:r>
              <a:rPr lang="en-US" dirty="0"/>
              <a:t>, </a:t>
            </a:r>
            <a:r>
              <a:rPr dirty="0"/>
              <a:t>the value was never permanent.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5349240" cy="1828800"/>
          </a:xfrm>
          <a:prstGeom prst="rect">
            <a:avLst/>
          </a:prstGeom>
          <a:solidFill>
            <a:srgbClr val="F2F2F2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709928"/>
            <a:ext cx="45720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5F5F5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029967"/>
            <a:ext cx="5020055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0F0F0F"/>
                </a:solidFill>
                <a:latin typeface="Aptos"/>
              </a:defRPr>
            </a:pPr>
            <a:r>
              <a:t>NON-REPEATABLE 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468879"/>
            <a:ext cx="5079339" cy="1019766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0F0F0F"/>
                </a:solidFill>
                <a:latin typeface="Aptos"/>
              </a:defRPr>
            </a:pPr>
            <a:r>
              <a:rPr dirty="0"/>
              <a:t>T1 reads $500. </a:t>
            </a:r>
            <a:endParaRPr lang="en-US" dirty="0"/>
          </a:p>
          <a:p>
            <a:pPr algn="l">
              <a:spcAft>
                <a:spcPts val="700"/>
              </a:spcAft>
              <a:defRPr sz="1500" b="0">
                <a:solidFill>
                  <a:srgbClr val="0F0F0F"/>
                </a:solidFill>
                <a:latin typeface="Aptos"/>
              </a:defRPr>
            </a:pPr>
            <a:r>
              <a:rPr dirty="0"/>
              <a:t>T2 changes it to $700 and commits. </a:t>
            </a:r>
            <a:endParaRPr lang="en-US" dirty="0"/>
          </a:p>
          <a:p>
            <a:pPr algn="l">
              <a:spcAft>
                <a:spcPts val="700"/>
              </a:spcAft>
              <a:defRPr sz="1500" b="0">
                <a:solidFill>
                  <a:srgbClr val="0F0F0F"/>
                </a:solidFill>
                <a:latin typeface="Aptos"/>
              </a:defRPr>
            </a:pPr>
            <a:r>
              <a:rPr lang="en-US" dirty="0"/>
              <a:t>					     </a:t>
            </a:r>
            <a:r>
              <a:rPr dirty="0"/>
              <a:t>T1 reads again and sees $700.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703320"/>
            <a:ext cx="5349240" cy="1828800"/>
          </a:xfrm>
          <a:prstGeom prst="rect">
            <a:avLst/>
          </a:prstGeom>
          <a:solidFill>
            <a:srgbClr val="F2F2F2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3813048"/>
            <a:ext cx="45720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5F5F5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133087"/>
            <a:ext cx="5020055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0F0F0F"/>
                </a:solidFill>
                <a:latin typeface="Aptos"/>
              </a:defRPr>
            </a:pPr>
            <a:r>
              <a:t>PHANTOM READ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572000"/>
            <a:ext cx="5130700" cy="1019766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0F0F0F"/>
                </a:solidFill>
                <a:latin typeface="Aptos"/>
              </a:defRPr>
            </a:pPr>
            <a:r>
              <a:rPr dirty="0"/>
              <a:t>T1 counts 3 matching orders. </a:t>
            </a:r>
            <a:endParaRPr lang="en-US" dirty="0"/>
          </a:p>
          <a:p>
            <a:pPr algn="l">
              <a:spcAft>
                <a:spcPts val="700"/>
              </a:spcAft>
              <a:defRPr sz="1500" b="0">
                <a:solidFill>
                  <a:srgbClr val="0F0F0F"/>
                </a:solidFill>
                <a:latin typeface="Aptos"/>
              </a:defRPr>
            </a:pPr>
            <a:r>
              <a:rPr dirty="0"/>
              <a:t>T2 inserts another matching order. </a:t>
            </a:r>
            <a:endParaRPr lang="en-US" dirty="0"/>
          </a:p>
          <a:p>
            <a:pPr algn="l">
              <a:spcAft>
                <a:spcPts val="700"/>
              </a:spcAft>
              <a:defRPr sz="1500" b="0">
                <a:solidFill>
                  <a:srgbClr val="0F0F0F"/>
                </a:solidFill>
                <a:latin typeface="Aptos"/>
              </a:defRPr>
            </a:pPr>
            <a:r>
              <a:rPr lang="en-US" dirty="0"/>
              <a:t>				</a:t>
            </a:r>
            <a:r>
              <a:rPr dirty="0"/>
              <a:t>T1 repeats the query and may count 4.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703320"/>
            <a:ext cx="5349240" cy="1828800"/>
          </a:xfrm>
          <a:prstGeom prst="rect">
            <a:avLst/>
          </a:prstGeom>
          <a:solidFill>
            <a:srgbClr val="F2F2F2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3813048"/>
            <a:ext cx="45720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5F5F5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133087"/>
            <a:ext cx="5020055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0F0F0F"/>
                </a:solidFill>
                <a:latin typeface="Aptos"/>
              </a:defRPr>
            </a:pPr>
            <a:r>
              <a:t>LOST UPDATE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4572000"/>
            <a:ext cx="5097678" cy="1019766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0F0F0F"/>
                </a:solidFill>
                <a:latin typeface="Aptos"/>
              </a:defRPr>
            </a:pPr>
            <a:r>
              <a:rPr dirty="0"/>
              <a:t>Two shoppers read stock = 1 and both calculate stock = 0. </a:t>
            </a:r>
            <a:endParaRPr lang="en-US" dirty="0"/>
          </a:p>
          <a:p>
            <a:pPr algn="l">
              <a:spcAft>
                <a:spcPts val="700"/>
              </a:spcAft>
              <a:defRPr sz="1500" b="0">
                <a:solidFill>
                  <a:srgbClr val="0F0F0F"/>
                </a:solidFill>
                <a:latin typeface="Aptos"/>
              </a:defRPr>
            </a:pPr>
            <a:endParaRPr lang="en-US" dirty="0"/>
          </a:p>
          <a:p>
            <a:pPr algn="l">
              <a:spcAft>
                <a:spcPts val="700"/>
              </a:spcAft>
              <a:defRPr sz="1500" b="0">
                <a:solidFill>
                  <a:srgbClr val="0F0F0F"/>
                </a:solidFill>
                <a:latin typeface="Aptos"/>
              </a:defRPr>
            </a:pPr>
            <a:r>
              <a:rPr lang="en-US" dirty="0"/>
              <a:t>				    </a:t>
            </a:r>
            <a:r>
              <a:rPr dirty="0"/>
              <a:t>One update can overwrite the other.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0F0F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144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5F5F5F"/>
                </a:solidFill>
                <a:latin typeface="Aptos"/>
              </a:defRPr>
            </a:pPr>
            <a:r>
              <a:t>05 / SQL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6692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900" b="1">
                <a:solidFill>
                  <a:srgbClr val="0F0F0F"/>
                </a:solidFill>
                <a:latin typeface="Aptos"/>
              </a:defRPr>
            </a:pPr>
            <a:r>
              <a:t>Anomalies shown in SQL (1 of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34440"/>
            <a:ext cx="10972800" cy="43891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5F5F5F"/>
                </a:solidFill>
                <a:latin typeface="Aptos"/>
              </a:defRPr>
            </a:pPr>
            <a:r>
              <a:t>These snippets illustrate the timing problem; exact behavior depends on isolation and engine.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D7D7D7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F5F5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645920"/>
            <a:ext cx="5349240" cy="4206240"/>
          </a:xfrm>
          <a:prstGeom prst="rect">
            <a:avLst/>
          </a:prstGeom>
          <a:solidFill>
            <a:srgbClr val="F2F2F2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810512"/>
            <a:ext cx="5020055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0F0F0F"/>
                </a:solidFill>
                <a:latin typeface="Aptos"/>
              </a:defRPr>
            </a:pPr>
            <a:r>
              <a:t>DIRTY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249424"/>
            <a:ext cx="5020055" cy="3511296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0F0F0F"/>
                </a:solidFill>
                <a:latin typeface="Aptos"/>
              </a:defRPr>
            </a:pPr>
            <a:r>
              <a:t>-- T1: update, but do not commit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0F0F0F"/>
                </a:solidFill>
                <a:latin typeface="Aptos"/>
              </a:defRPr>
            </a:pPr>
            <a:r>
              <a:t>UPDATE accounts SET balance = 1000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0F0F0F"/>
                </a:solidFill>
                <a:latin typeface="Aptos"/>
              </a:defRPr>
            </a:pPr>
            <a:r>
              <a:t>WHERE id = 1;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0F0F0F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400" b="0">
                <a:solidFill>
                  <a:srgbClr val="0F0F0F"/>
                </a:solidFill>
                <a:latin typeface="Aptos"/>
              </a:defRPr>
            </a:pPr>
            <a:r>
              <a:t>-- T2 reads 1000 before T1 commits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5349240" cy="4206240"/>
          </a:xfrm>
          <a:prstGeom prst="rect">
            <a:avLst/>
          </a:prstGeom>
          <a:solidFill>
            <a:srgbClr val="F2F2F2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810512"/>
            <a:ext cx="5020055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0F0F0F"/>
                </a:solidFill>
                <a:latin typeface="Aptos"/>
              </a:defRPr>
            </a:pPr>
            <a:r>
              <a:t>NON-REPEATABLE 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249424"/>
            <a:ext cx="5020055" cy="3511296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0F0F0F"/>
                </a:solidFill>
                <a:latin typeface="Aptos"/>
              </a:defRPr>
            </a:pPr>
            <a:r>
              <a:t>-- T1 reads 500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0F0F0F"/>
                </a:solidFill>
                <a:latin typeface="Aptos"/>
              </a:defRPr>
            </a:pPr>
            <a:r>
              <a:t>SELECT balance FROM accounts WHERE id = 1;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0F0F0F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400" b="0">
                <a:solidFill>
                  <a:srgbClr val="0F0F0F"/>
                </a:solidFill>
                <a:latin typeface="Aptos"/>
              </a:defRPr>
            </a:pPr>
            <a:r>
              <a:t>-- T2 updates to 700 and commits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0F0F0F"/>
                </a:solidFill>
                <a:latin typeface="Aptos"/>
              </a:defRPr>
            </a:pPr>
            <a:r>
              <a:t>-- T1 reads again → 700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0F0F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144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5F5F5F"/>
                </a:solidFill>
                <a:latin typeface="Aptos"/>
              </a:defRPr>
            </a:pPr>
            <a:r>
              <a:t>05 / SQL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6692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900" b="1">
                <a:solidFill>
                  <a:srgbClr val="0F0F0F"/>
                </a:solidFill>
                <a:latin typeface="Aptos"/>
              </a:defRPr>
            </a:pPr>
            <a:r>
              <a:t>Anomalies shown in SQL (2 of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34440"/>
            <a:ext cx="10972800" cy="43891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5F5F5F"/>
                </a:solidFill>
                <a:latin typeface="Aptos"/>
              </a:defRPr>
            </a:pPr>
            <a:r>
              <a:t>Concurrent transaction timing determines the outcome.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D7D7D7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8229600" cy="16459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800" b="1">
                <a:solidFill>
                  <a:srgbClr val="5F5F5F"/>
                </a:solidFill>
                <a:latin typeface="Aptos"/>
              </a:defRPr>
            </a:pPr>
            <a:r>
              <a:t>DBMS  /  TRANSACTION ISOLATION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F5F5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645920"/>
            <a:ext cx="5349240" cy="4206240"/>
          </a:xfrm>
          <a:prstGeom prst="rect">
            <a:avLst/>
          </a:prstGeom>
          <a:solidFill>
            <a:srgbClr val="F2F2F2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810512"/>
            <a:ext cx="5020055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0F0F0F"/>
                </a:solidFill>
                <a:latin typeface="Aptos"/>
              </a:defRPr>
            </a:pPr>
            <a:r>
              <a:t>PHANTOM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249424"/>
            <a:ext cx="5020055" cy="3511296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0F0F0F"/>
                </a:solidFill>
                <a:latin typeface="Aptos"/>
              </a:defRPr>
            </a:pPr>
            <a:r>
              <a:t>-- T1 finds 3 matching orders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0F0F0F"/>
                </a:solidFill>
                <a:latin typeface="Aptos"/>
              </a:defRPr>
            </a:pPr>
            <a:r>
              <a:t>SELECT COUNT(*) FROM orders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0F0F0F"/>
                </a:solidFill>
                <a:latin typeface="Aptos"/>
              </a:defRPr>
            </a:pPr>
            <a:r>
              <a:t>WHERE total &gt; 100;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0F0F0F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400" b="0">
                <a:solidFill>
                  <a:srgbClr val="0F0F0F"/>
                </a:solidFill>
                <a:latin typeface="Aptos"/>
              </a:defRPr>
            </a:pPr>
            <a:r>
              <a:t>-- T2 inserts total = 150 and commits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0F0F0F"/>
                </a:solidFill>
                <a:latin typeface="Aptos"/>
              </a:defRPr>
            </a:pPr>
            <a:r>
              <a:t>-- T1 may now find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5349240" cy="4206240"/>
          </a:xfrm>
          <a:prstGeom prst="rect">
            <a:avLst/>
          </a:prstGeom>
          <a:solidFill>
            <a:srgbClr val="F2F2F2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810512"/>
            <a:ext cx="5020055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0F0F0F"/>
                </a:solidFill>
                <a:latin typeface="Aptos"/>
              </a:defRPr>
            </a:pPr>
            <a:r>
              <a:t>LOST UPDATE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249424"/>
            <a:ext cx="5020055" cy="3511296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0F0F0F"/>
                </a:solidFill>
                <a:latin typeface="Aptos"/>
              </a:defRPr>
            </a:pPr>
            <a:r>
              <a:t>-- T1 and T2 both read stock = 1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0F0F0F"/>
                </a:solidFill>
                <a:latin typeface="Aptos"/>
              </a:defRPr>
            </a:pPr>
            <a:r>
              <a:t>-- both calculate next_stock = 0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0F0F0F"/>
                </a:solidFill>
                <a:latin typeface="Aptos"/>
              </a:defRPr>
            </a:pPr>
            <a:r>
              <a:t>UPDATE items SET stock = 0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0F0F0F"/>
                </a:solidFill>
                <a:latin typeface="Aptos"/>
              </a:defRPr>
            </a:pPr>
            <a:r>
              <a:t>WHERE id = 7;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0F0F0F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400" b="0">
                <a:solidFill>
                  <a:srgbClr val="0F0F0F"/>
                </a:solidFill>
                <a:latin typeface="Aptos"/>
              </a:defRPr>
            </a:pPr>
            <a:r>
              <a:t>-- Last write can overwrite the other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0F0F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144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5F5F5F"/>
                </a:solidFill>
                <a:latin typeface="Aptos"/>
              </a:defRPr>
            </a:pPr>
            <a:r>
              <a:t>06 /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6692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900" b="1">
                <a:solidFill>
                  <a:srgbClr val="0F0F0F"/>
                </a:solidFill>
                <a:latin typeface="Aptos"/>
              </a:defRPr>
            </a:pPr>
            <a:r>
              <a:t>Why have multiple isolation levels?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34440"/>
            <a:ext cx="7010381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5F5F5F"/>
                </a:solidFill>
                <a:latin typeface="Aptos"/>
              </a:defRPr>
            </a:pPr>
            <a:r>
              <a:rPr sz="1600"/>
              <a:t>Different workloads need different balances of speed, waiting, and protection.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D7D7D7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F5F5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737360"/>
            <a:ext cx="3520440" cy="3337560"/>
          </a:xfrm>
          <a:prstGeom prst="rect">
            <a:avLst/>
          </a:prstGeom>
          <a:solidFill>
            <a:srgbClr val="F2F2F2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901952"/>
            <a:ext cx="3191256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0F0F0F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340864"/>
            <a:ext cx="3419398" cy="140192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0F0F0F"/>
                </a:solidFill>
                <a:latin typeface="Aptos"/>
              </a:defRPr>
            </a:pPr>
            <a:r>
              <a:rPr dirty="0"/>
              <a:t>Changing counts may be acceptable.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0F0F0F"/>
                </a:solidFill>
                <a:latin typeface="Aptos"/>
              </a:defRPr>
            </a:pPr>
            <a:endParaRPr dirty="0"/>
          </a:p>
          <a:p>
            <a:pPr algn="l">
              <a:spcAft>
                <a:spcPts val="700"/>
              </a:spcAft>
              <a:defRPr sz="1600" b="0">
                <a:solidFill>
                  <a:srgbClr val="0F0F0F"/>
                </a:solidFill>
                <a:latin typeface="Aptos"/>
              </a:defRPr>
            </a:pPr>
            <a:r>
              <a:rPr dirty="0"/>
              <a:t>A fresher view can matter more </a:t>
            </a:r>
            <a:endParaRPr lang="en-US" dirty="0"/>
          </a:p>
          <a:p>
            <a:pPr algn="l">
              <a:spcAft>
                <a:spcPts val="700"/>
              </a:spcAft>
              <a:defRPr sz="1600" b="0">
                <a:solidFill>
                  <a:srgbClr val="0F0F0F"/>
                </a:solidFill>
                <a:latin typeface="Aptos"/>
              </a:defRPr>
            </a:pPr>
            <a:r>
              <a:rPr dirty="0"/>
              <a:t>than a perfectly stable result.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737360"/>
            <a:ext cx="3520440" cy="3337560"/>
          </a:xfrm>
          <a:prstGeom prst="rect">
            <a:avLst/>
          </a:prstGeom>
          <a:solidFill>
            <a:srgbClr val="F2F2F2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1901952"/>
            <a:ext cx="3191256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0F0F0F"/>
                </a:solidFill>
                <a:latin typeface="Aptos"/>
              </a:defRPr>
            </a:pPr>
            <a:r>
              <a:t>STANDARD OLTP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340864"/>
            <a:ext cx="3090783" cy="173791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0F0F0F"/>
                </a:solidFill>
                <a:latin typeface="Aptos"/>
              </a:defRPr>
            </a:pPr>
            <a:r>
              <a:rPr dirty="0"/>
              <a:t>Committed data with reasonable </a:t>
            </a:r>
            <a:endParaRPr lang="en-US" dirty="0"/>
          </a:p>
          <a:p>
            <a:pPr algn="l">
              <a:spcAft>
                <a:spcPts val="700"/>
              </a:spcAft>
              <a:defRPr sz="1600" b="0">
                <a:solidFill>
                  <a:srgbClr val="0F0F0F"/>
                </a:solidFill>
                <a:latin typeface="Aptos"/>
              </a:defRPr>
            </a:pPr>
            <a:r>
              <a:rPr dirty="0"/>
              <a:t>concurrency.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0F0F0F"/>
                </a:solidFill>
                <a:latin typeface="Aptos"/>
              </a:defRPr>
            </a:pPr>
            <a:endParaRPr dirty="0"/>
          </a:p>
          <a:p>
            <a:pPr algn="l">
              <a:spcAft>
                <a:spcPts val="700"/>
              </a:spcAft>
              <a:defRPr sz="1600" b="0">
                <a:solidFill>
                  <a:srgbClr val="0F0F0F"/>
                </a:solidFill>
                <a:latin typeface="Aptos"/>
              </a:defRPr>
            </a:pPr>
            <a:r>
              <a:rPr dirty="0"/>
              <a:t>Read Committed is a common </a:t>
            </a:r>
            <a:endParaRPr lang="en-US" dirty="0"/>
          </a:p>
          <a:p>
            <a:pPr algn="l">
              <a:spcAft>
                <a:spcPts val="700"/>
              </a:spcAft>
              <a:defRPr sz="1600" b="0">
                <a:solidFill>
                  <a:srgbClr val="0F0F0F"/>
                </a:solidFill>
                <a:latin typeface="Aptos"/>
              </a:defRPr>
            </a:pPr>
            <a:r>
              <a:rPr dirty="0"/>
              <a:t>choice.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737360"/>
            <a:ext cx="3520440" cy="3337560"/>
          </a:xfrm>
          <a:prstGeom prst="rect">
            <a:avLst/>
          </a:prstGeom>
          <a:solidFill>
            <a:srgbClr val="F2F2F2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7031" y="1901952"/>
            <a:ext cx="3191256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0F0F0F"/>
                </a:solidFill>
                <a:latin typeface="Aptos"/>
              </a:defRPr>
            </a:pPr>
            <a:r>
              <a:t>CRITICAL ALLOCATION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2340864"/>
            <a:ext cx="3460884" cy="140192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0F0F0F"/>
                </a:solidFill>
                <a:latin typeface="Aptos"/>
              </a:defRPr>
            </a:pPr>
            <a:r>
              <a:rPr dirty="0"/>
              <a:t>An impossible result is unacceptable.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0F0F0F"/>
                </a:solidFill>
                <a:latin typeface="Aptos"/>
              </a:defRPr>
            </a:pPr>
            <a:endParaRPr dirty="0"/>
          </a:p>
          <a:p>
            <a:pPr algn="l">
              <a:spcAft>
                <a:spcPts val="700"/>
              </a:spcAft>
              <a:defRPr sz="1600" b="0">
                <a:solidFill>
                  <a:srgbClr val="0F0F0F"/>
                </a:solidFill>
                <a:latin typeface="Aptos"/>
              </a:defRPr>
            </a:pPr>
            <a:r>
              <a:rPr dirty="0"/>
              <a:t>Serializable offers the strongest </a:t>
            </a:r>
            <a:endParaRPr lang="en-US" dirty="0"/>
          </a:p>
          <a:p>
            <a:pPr algn="l">
              <a:spcAft>
                <a:spcPts val="700"/>
              </a:spcAft>
              <a:defRPr sz="1600" b="0">
                <a:solidFill>
                  <a:srgbClr val="0F0F0F"/>
                </a:solidFill>
                <a:latin typeface="Aptos"/>
              </a:defRPr>
            </a:pPr>
            <a:r>
              <a:rPr dirty="0"/>
              <a:t>protection.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5440680"/>
            <a:ext cx="11018520" cy="621792"/>
          </a:xfrm>
          <a:prstGeom prst="rect">
            <a:avLst/>
          </a:prstGeom>
          <a:solidFill>
            <a:srgbClr val="0F0F0F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5559552"/>
            <a:ext cx="10607040" cy="32918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RULE OF THUMB: use the lowest level that safely protects the business rule.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0F0F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144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5F5F5F"/>
                </a:solidFill>
                <a:latin typeface="Aptos"/>
              </a:defRPr>
            </a:pPr>
            <a:r>
              <a:t>07 /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6692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900" b="1">
                <a:solidFill>
                  <a:srgbClr val="0F0F0F"/>
                </a:solidFill>
                <a:latin typeface="Aptos"/>
              </a:defRPr>
            </a:pPr>
            <a:r>
              <a:t>The four isolation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34440"/>
            <a:ext cx="8151527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5F5F5F"/>
                </a:solidFill>
                <a:latin typeface="Aptos"/>
              </a:defRPr>
            </a:pPr>
            <a:r>
              <a:rPr sz="1600" dirty="0"/>
              <a:t>Typical SQL-standard summary; MySQL InnoDB details can depend on read type and locks.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D7D7D7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F5F5F"/>
                </a:solidFill>
                <a:latin typeface="Aptos"/>
              </a:defRPr>
            </a:pPr>
            <a:r>
              <a:t>09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417351"/>
              </p:ext>
            </p:extLst>
          </p:nvPr>
        </p:nvGraphicFramePr>
        <p:xfrm>
          <a:off x="502920" y="1691640"/>
          <a:ext cx="11201399" cy="4078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1381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400" dirty="0"/>
                        <a:t>LEVEL</a:t>
                      </a:r>
                    </a:p>
                  </a:txBody>
                  <a:tcPr marL="73152" marR="73152" marT="54864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400"/>
                        <a:t>DIRTY READ</a:t>
                      </a:r>
                    </a:p>
                  </a:txBody>
                  <a:tcPr marL="73152" marR="73152" marT="54864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400"/>
                        <a:t>NON-REPEATABLE</a:t>
                      </a:r>
                    </a:p>
                  </a:txBody>
                  <a:tcPr marL="73152" marR="73152" marT="54864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400"/>
                        <a:t>PHANTOM READ</a:t>
                      </a:r>
                    </a:p>
                  </a:txBody>
                  <a:tcPr marL="73152" marR="73152" marT="54864" marB="36576"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400" dirty="0"/>
                        <a:t>TRADE-OFF</a:t>
                      </a:r>
                    </a:p>
                  </a:txBody>
                  <a:tcPr marL="73152" marR="73152" marT="54864" marB="36576">
                    <a:solidFill>
                      <a:srgbClr val="0F0F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0F0F"/>
                          </a:solidFill>
                          <a:latin typeface="Aptos"/>
                        </a:defRPr>
                      </a:pPr>
                      <a:r>
                        <a:rPr sz="2000"/>
                        <a:t>Read Uncommitted</a:t>
                      </a:r>
                    </a:p>
                  </a:txBody>
                  <a:tcPr marL="73152" marR="73152" marT="54864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0F0F"/>
                          </a:solidFill>
                          <a:latin typeface="Aptos"/>
                        </a:defRPr>
                      </a:pPr>
                      <a:r>
                        <a:rPr sz="2000" dirty="0"/>
                        <a:t>Possible</a:t>
                      </a:r>
                    </a:p>
                  </a:txBody>
                  <a:tcPr marL="73152" marR="73152" marT="54864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0F0F"/>
                          </a:solidFill>
                          <a:latin typeface="Aptos"/>
                        </a:defRPr>
                      </a:pPr>
                      <a:r>
                        <a:rPr sz="2000" dirty="0"/>
                        <a:t>Possible</a:t>
                      </a:r>
                    </a:p>
                  </a:txBody>
                  <a:tcPr marL="73152" marR="73152" marT="54864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0F0F"/>
                          </a:solidFill>
                          <a:latin typeface="Aptos"/>
                        </a:defRPr>
                      </a:pPr>
                      <a:r>
                        <a:rPr sz="2000" dirty="0"/>
                        <a:t>Possible</a:t>
                      </a:r>
                    </a:p>
                  </a:txBody>
                  <a:tcPr marL="73152" marR="73152" marT="54864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0F0F"/>
                          </a:solidFill>
                          <a:latin typeface="Aptos"/>
                        </a:defRPr>
                      </a:pPr>
                      <a:r>
                        <a:rPr sz="2000"/>
                        <a:t>Highest concurrency; weakest consistency</a:t>
                      </a:r>
                    </a:p>
                  </a:txBody>
                  <a:tcPr marL="73152" marR="73152" marT="54864" marB="36576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0F0F"/>
                          </a:solidFill>
                          <a:latin typeface="Aptos"/>
                        </a:defRPr>
                      </a:pPr>
                      <a:r>
                        <a:rPr sz="2000"/>
                        <a:t>Read Committed</a:t>
                      </a:r>
                    </a:p>
                  </a:txBody>
                  <a:tcPr marL="73152" marR="73152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0F0F"/>
                          </a:solidFill>
                          <a:latin typeface="Aptos"/>
                        </a:defRPr>
                      </a:pPr>
                      <a:r>
                        <a:rPr sz="2000"/>
                        <a:t>Prevented</a:t>
                      </a:r>
                    </a:p>
                  </a:txBody>
                  <a:tcPr marL="73152" marR="73152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0F0F"/>
                          </a:solidFill>
                          <a:latin typeface="Aptos"/>
                        </a:defRPr>
                      </a:pPr>
                      <a:r>
                        <a:rPr sz="2000" dirty="0"/>
                        <a:t>Possible</a:t>
                      </a:r>
                    </a:p>
                  </a:txBody>
                  <a:tcPr marL="73152" marR="73152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0F0F"/>
                          </a:solidFill>
                          <a:latin typeface="Aptos"/>
                        </a:defRPr>
                      </a:pPr>
                      <a:r>
                        <a:rPr sz="2000" dirty="0"/>
                        <a:t>Possible</a:t>
                      </a:r>
                    </a:p>
                  </a:txBody>
                  <a:tcPr marL="73152" marR="73152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0F0F"/>
                          </a:solidFill>
                          <a:latin typeface="Aptos"/>
                        </a:defRPr>
                      </a:pPr>
                      <a:r>
                        <a:rPr sz="2000"/>
                        <a:t>Fresh committed view per read</a:t>
                      </a:r>
                    </a:p>
                  </a:txBody>
                  <a:tcPr marL="73152" marR="73152" marT="54864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0F0F"/>
                          </a:solidFill>
                          <a:latin typeface="Aptos"/>
                        </a:defRPr>
                      </a:pPr>
                      <a:r>
                        <a:rPr sz="2000"/>
                        <a:t>Repeatable Read</a:t>
                      </a:r>
                    </a:p>
                  </a:txBody>
                  <a:tcPr marL="73152" marR="73152" marT="54864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0F0F"/>
                          </a:solidFill>
                          <a:latin typeface="Aptos"/>
                        </a:defRPr>
                      </a:pPr>
                      <a:r>
                        <a:rPr sz="2000"/>
                        <a:t>Prevented</a:t>
                      </a:r>
                    </a:p>
                  </a:txBody>
                  <a:tcPr marL="73152" marR="73152" marT="54864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0F0F"/>
                          </a:solidFill>
                          <a:latin typeface="Aptos"/>
                        </a:defRPr>
                      </a:pPr>
                      <a:r>
                        <a:rPr sz="2000"/>
                        <a:t>Prevented for snapshot reads</a:t>
                      </a:r>
                    </a:p>
                  </a:txBody>
                  <a:tcPr marL="73152" marR="73152" marT="54864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0F0F"/>
                          </a:solidFill>
                          <a:latin typeface="Aptos"/>
                        </a:defRPr>
                      </a:pPr>
                      <a:r>
                        <a:rPr sz="2000" dirty="0"/>
                        <a:t>Depends on read type</a:t>
                      </a:r>
                    </a:p>
                  </a:txBody>
                  <a:tcPr marL="73152" marR="73152" marT="54864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0F0F"/>
                          </a:solidFill>
                          <a:latin typeface="Aptos"/>
                        </a:defRPr>
                      </a:pPr>
                      <a:r>
                        <a:rPr sz="2000" dirty="0"/>
                        <a:t>InnoDB default; range locks may matter</a:t>
                      </a:r>
                    </a:p>
                  </a:txBody>
                  <a:tcPr marL="73152" marR="73152" marT="54864" marB="36576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0F0F"/>
                          </a:solidFill>
                          <a:latin typeface="Aptos"/>
                        </a:defRPr>
                      </a:pPr>
                      <a:r>
                        <a:rPr sz="2000"/>
                        <a:t>Serializable</a:t>
                      </a:r>
                    </a:p>
                  </a:txBody>
                  <a:tcPr marL="73152" marR="73152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0F0F"/>
                          </a:solidFill>
                          <a:latin typeface="Aptos"/>
                        </a:defRPr>
                      </a:pPr>
                      <a:r>
                        <a:rPr sz="2000"/>
                        <a:t>Prevented</a:t>
                      </a:r>
                    </a:p>
                  </a:txBody>
                  <a:tcPr marL="73152" marR="73152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0F0F"/>
                          </a:solidFill>
                          <a:latin typeface="Aptos"/>
                        </a:defRPr>
                      </a:pPr>
                      <a:r>
                        <a:rPr sz="2000"/>
                        <a:t>Prevented</a:t>
                      </a:r>
                    </a:p>
                  </a:txBody>
                  <a:tcPr marL="73152" marR="73152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0F0F"/>
                          </a:solidFill>
                          <a:latin typeface="Aptos"/>
                        </a:defRPr>
                      </a:pPr>
                      <a:r>
                        <a:rPr sz="2000"/>
                        <a:t>Prevented</a:t>
                      </a:r>
                    </a:p>
                  </a:txBody>
                  <a:tcPr marL="73152" marR="73152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0F0F"/>
                          </a:solidFill>
                          <a:latin typeface="Aptos"/>
                        </a:defRPr>
                      </a:pPr>
                      <a:r>
                        <a:rPr sz="2000" dirty="0"/>
                        <a:t>Strongest protection; more waiting</a:t>
                      </a:r>
                    </a:p>
                  </a:txBody>
                  <a:tcPr marL="73152" marR="73152" marT="54864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94360" y="5870448"/>
            <a:ext cx="7516288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5F5F5F"/>
                </a:solidFill>
                <a:latin typeface="Aptos"/>
              </a:defRPr>
            </a:pPr>
            <a:r>
              <a:rPr sz="1600" dirty="0"/>
              <a:t>The SQL standard and a database engine’s implementation are not always identical.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0F0F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688219" cy="31701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5F5F5F"/>
                </a:solidFill>
                <a:latin typeface="Aptos"/>
              </a:defRPr>
            </a:pPr>
            <a:r>
              <a:rPr sz="1100"/>
              <a:t>08 / CHOOSING A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7328866" cy="70173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900" b="1">
                <a:solidFill>
                  <a:srgbClr val="0F0F0F"/>
                </a:solidFill>
                <a:latin typeface="Aptos"/>
              </a:defRPr>
            </a:pPr>
            <a:r>
              <a:rPr sz="3600" dirty="0"/>
              <a:t>What each level means in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D7D7D7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11275156" y="6492240"/>
            <a:ext cx="292004" cy="309315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F5F5F"/>
                </a:solidFill>
                <a:latin typeface="Aptos"/>
              </a:defRPr>
            </a:pPr>
            <a:r>
              <a:rPr sz="1050"/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86587" y="1508760"/>
            <a:ext cx="11239756" cy="914400"/>
          </a:xfrm>
          <a:prstGeom prst="rect">
            <a:avLst/>
          </a:prstGeom>
          <a:solidFill>
            <a:srgbClr val="F2F2F2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777240" y="1627631"/>
            <a:ext cx="2682657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0F0F0F"/>
                </a:solidFill>
                <a:latin typeface="Aptos"/>
              </a:defRPr>
            </a:pPr>
            <a:r>
              <a:rPr sz="1600" dirty="0"/>
              <a:t>RU  /  READ UNCOMMITTED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627631"/>
            <a:ext cx="1053237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5F5F5F"/>
                </a:solidFill>
                <a:latin typeface="Aptos"/>
              </a:defRPr>
            </a:pPr>
            <a:r>
              <a:rPr sz="1600" dirty="0"/>
              <a:t>WEAKEST</a:t>
            </a:r>
            <a:endParaRPr sz="1100" dirty="0"/>
          </a:p>
        </p:txBody>
      </p:sp>
      <p:sp>
        <p:nvSpPr>
          <p:cNvPr id="11" name="TextBox 10"/>
          <p:cNvSpPr txBox="1"/>
          <p:nvPr/>
        </p:nvSpPr>
        <p:spPr>
          <a:xfrm>
            <a:off x="5866574" y="1666792"/>
            <a:ext cx="5548186" cy="363176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0F0F0F"/>
                </a:solidFill>
                <a:latin typeface="Aptos"/>
              </a:defRPr>
            </a:pPr>
            <a:r>
              <a:rPr dirty="0"/>
              <a:t>May see uncommitted values. All classic read anomalies are possible.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59" y="2651760"/>
            <a:ext cx="11231983" cy="914400"/>
          </a:xfrm>
          <a:prstGeom prst="rect">
            <a:avLst/>
          </a:prstGeom>
          <a:solidFill>
            <a:srgbClr val="F2F2F2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777240" y="2770632"/>
            <a:ext cx="2388987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0F0F0F"/>
                </a:solidFill>
                <a:latin typeface="Aptos"/>
              </a:defRPr>
            </a:pPr>
            <a:r>
              <a:rPr sz="1600"/>
              <a:t>RC  /  READ COMMITTED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770632"/>
            <a:ext cx="1873141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5F5F5F"/>
                </a:solidFill>
                <a:latin typeface="Aptos"/>
              </a:defRPr>
            </a:pPr>
            <a:r>
              <a:rPr sz="1600" dirty="0"/>
              <a:t>COMMON</a:t>
            </a:r>
            <a:r>
              <a:rPr sz="1100" dirty="0"/>
              <a:t> </a:t>
            </a:r>
            <a:r>
              <a:rPr sz="1600" dirty="0"/>
              <a:t>CHOICE</a:t>
            </a:r>
            <a:endParaRPr sz="1100" dirty="0"/>
          </a:p>
        </p:txBody>
      </p:sp>
      <p:sp>
        <p:nvSpPr>
          <p:cNvPr id="15" name="TextBox 14"/>
          <p:cNvSpPr txBox="1"/>
          <p:nvPr/>
        </p:nvSpPr>
        <p:spPr>
          <a:xfrm>
            <a:off x="5841618" y="2800565"/>
            <a:ext cx="5725542" cy="363176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0F0F0F"/>
                </a:solidFill>
                <a:latin typeface="Aptos"/>
              </a:defRPr>
            </a:pPr>
            <a:r>
              <a:t>Dirty reads are prevented; repeated reads and range results may change.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59" y="3794760"/>
            <a:ext cx="11231983" cy="914400"/>
          </a:xfrm>
          <a:prstGeom prst="rect">
            <a:avLst/>
          </a:prstGeom>
          <a:solidFill>
            <a:srgbClr val="F2F2F2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777240" y="3913632"/>
            <a:ext cx="2391296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0F0F0F"/>
                </a:solidFill>
                <a:latin typeface="Aptos"/>
              </a:defRPr>
            </a:pPr>
            <a:r>
              <a:rPr sz="1600"/>
              <a:t>RR  /  REPEATABLE READ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913632"/>
            <a:ext cx="1801968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5F5F5F"/>
                </a:solidFill>
                <a:latin typeface="Aptos"/>
              </a:defRPr>
            </a:pPr>
            <a:r>
              <a:rPr sz="1600" dirty="0"/>
              <a:t>INNODB DEFAULT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77956" y="3933742"/>
            <a:ext cx="6048387" cy="363176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0F0F0F"/>
                </a:solidFill>
                <a:latin typeface="Aptos"/>
              </a:defRPr>
            </a:pPr>
            <a:r>
              <a:rPr dirty="0"/>
              <a:t>Snapshot reads keep a consistent view; locking reads can behave differently.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59" y="4937760"/>
            <a:ext cx="11231983" cy="914400"/>
          </a:xfrm>
          <a:prstGeom prst="rect">
            <a:avLst/>
          </a:prstGeom>
          <a:solidFill>
            <a:srgbClr val="F2F2F2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777240" y="5056632"/>
            <a:ext cx="1830886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0F0F0F"/>
                </a:solidFill>
                <a:latin typeface="Aptos"/>
              </a:defRPr>
            </a:pPr>
            <a:r>
              <a:rPr sz="1600"/>
              <a:t>S  /  SERIALIZABLE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056632"/>
            <a:ext cx="1286763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5F5F5F"/>
                </a:solidFill>
                <a:latin typeface="Aptos"/>
              </a:defRPr>
            </a:pPr>
            <a:r>
              <a:rPr sz="1600" dirty="0"/>
              <a:t>STRONGEST</a:t>
            </a:r>
            <a:endParaRPr sz="1100" dirty="0"/>
          </a:p>
        </p:txBody>
      </p:sp>
      <p:sp>
        <p:nvSpPr>
          <p:cNvPr id="23" name="TextBox 22"/>
          <p:cNvSpPr txBox="1"/>
          <p:nvPr/>
        </p:nvSpPr>
        <p:spPr>
          <a:xfrm>
            <a:off x="5669280" y="5047488"/>
            <a:ext cx="6030562" cy="363176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0F0F0F"/>
                </a:solidFill>
                <a:latin typeface="Aptos"/>
              </a:defRPr>
            </a:pPr>
            <a:r>
              <a:t>Transactions behave as if run one at a time; expect more waiting or conflicts.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0F0F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144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5F5F5F"/>
                </a:solidFill>
                <a:latin typeface="Aptos"/>
              </a:defRPr>
            </a:pPr>
            <a:r>
              <a:t>09 / SQL SYNTAX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6692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900" b="1">
                <a:solidFill>
                  <a:srgbClr val="0F0F0F"/>
                </a:solidFill>
                <a:latin typeface="Aptos"/>
              </a:defRPr>
            </a:pPr>
            <a:r>
              <a:t>Set the isolation level in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34440"/>
            <a:ext cx="5349240" cy="39395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5F5F5F"/>
                </a:solidFill>
                <a:latin typeface="Aptos"/>
              </a:defRPr>
            </a:pPr>
            <a:r>
              <a:rPr sz="1600" dirty="0"/>
              <a:t>Set the level before starting the transaction.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D7D7D7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F5F5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600200"/>
            <a:ext cx="5349240" cy="1737360"/>
          </a:xfrm>
          <a:prstGeom prst="rect">
            <a:avLst/>
          </a:prstGeom>
          <a:solidFill>
            <a:srgbClr val="F2F2F2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709928"/>
            <a:ext cx="4983480" cy="2743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1">
                <a:solidFill>
                  <a:srgbClr val="0F0F0F"/>
                </a:solidFill>
                <a:latin typeface="Aptos"/>
              </a:defRPr>
            </a:pPr>
            <a:r>
              <a:t>READ UNCOMMITTED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103120"/>
            <a:ext cx="5184648" cy="64017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0F0F0F"/>
                </a:solidFill>
                <a:latin typeface="Aptos"/>
              </a:defRPr>
            </a:pPr>
            <a:r>
              <a:rPr sz="1600" dirty="0"/>
              <a:t>SET TRANSACTION ISOLATION LEVEL READ UNCOMMITTED;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770632"/>
            <a:ext cx="2895857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5F5F5F"/>
                </a:solidFill>
                <a:latin typeface="Aptos"/>
              </a:defRPr>
            </a:pPr>
            <a:r>
              <a:rPr sz="1600"/>
              <a:t>Unfinished data may be visible.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00200"/>
            <a:ext cx="5349240" cy="1737360"/>
          </a:xfrm>
          <a:prstGeom prst="rect">
            <a:avLst/>
          </a:prstGeom>
          <a:solidFill>
            <a:srgbClr val="F2F2F2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709928"/>
            <a:ext cx="4983480" cy="2743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1">
                <a:solidFill>
                  <a:srgbClr val="0F0F0F"/>
                </a:solidFill>
                <a:latin typeface="Aptos"/>
              </a:defRPr>
            </a:pPr>
            <a:r>
              <a:t>READ COMMITTED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3" y="2103120"/>
            <a:ext cx="5050536" cy="64017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0F0F0F"/>
                </a:solidFill>
                <a:latin typeface="Aptos"/>
              </a:defRPr>
            </a:pPr>
            <a:r>
              <a:rPr sz="1600"/>
              <a:t>SET TRANSACTION ISOLATION LEVEL READ COMMITTED;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770632"/>
            <a:ext cx="4360874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5F5F5F"/>
                </a:solidFill>
                <a:latin typeface="Aptos"/>
              </a:defRPr>
            </a:pPr>
            <a:r>
              <a:rPr sz="1600"/>
              <a:t>Reads committed data; later reads may change.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657600"/>
            <a:ext cx="5349240" cy="1737360"/>
          </a:xfrm>
          <a:prstGeom prst="rect">
            <a:avLst/>
          </a:prstGeom>
          <a:solidFill>
            <a:srgbClr val="F2F2F2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" y="3767328"/>
            <a:ext cx="4983480" cy="2743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1">
                <a:solidFill>
                  <a:srgbClr val="0F0F0F"/>
                </a:solidFill>
                <a:latin typeface="Aptos"/>
              </a:defRPr>
            </a:pPr>
            <a:r>
              <a:t>REPEATABLE READ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160520"/>
            <a:ext cx="5215129" cy="64017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0F0F0F"/>
                </a:solidFill>
                <a:latin typeface="Aptos"/>
              </a:defRPr>
            </a:pPr>
            <a:r>
              <a:rPr sz="1600" dirty="0"/>
              <a:t>SET TRANSACTION ISOLATION LEVEL REPEATABLE READ;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828032"/>
            <a:ext cx="4449038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5F5F5F"/>
                </a:solidFill>
                <a:latin typeface="Aptos"/>
              </a:defRPr>
            </a:pPr>
            <a:r>
              <a:rPr sz="1600" dirty="0"/>
              <a:t>Stable snapshot reads; common InnoDB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657600"/>
            <a:ext cx="5349240" cy="1737360"/>
          </a:xfrm>
          <a:prstGeom prst="rect">
            <a:avLst/>
          </a:prstGeom>
          <a:solidFill>
            <a:srgbClr val="F2F2F2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82512" y="3767328"/>
            <a:ext cx="4983480" cy="2743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1">
                <a:solidFill>
                  <a:srgbClr val="0F0F0F"/>
                </a:solidFill>
                <a:latin typeface="Aptos"/>
              </a:defRPr>
            </a:pPr>
            <a:r>
              <a:t>SERIALIZABLE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4160520"/>
            <a:ext cx="4990918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0F0F0F"/>
                </a:solidFill>
                <a:latin typeface="Aptos"/>
              </a:defRPr>
            </a:pPr>
            <a:r>
              <a:rPr sz="1600"/>
              <a:t>SET TRANSACTION ISOLATION LEVEL SERIALIZABLE;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828032"/>
            <a:ext cx="3556423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5F5F5F"/>
                </a:solidFill>
                <a:latin typeface="Aptos"/>
              </a:defRPr>
            </a:pPr>
            <a:r>
              <a:rPr sz="1600"/>
              <a:t>Strongest protection; may wait or retry.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897880"/>
            <a:ext cx="8382744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0F0F0F"/>
                </a:solidFill>
                <a:latin typeface="Aptos"/>
              </a:defRPr>
            </a:pPr>
            <a:r>
              <a:rPr sz="1600" dirty="0"/>
              <a:t>Example </a:t>
            </a:r>
            <a:r>
              <a:rPr lang="en-US" sz="1600" dirty="0"/>
              <a:t>T</a:t>
            </a:r>
            <a:r>
              <a:rPr sz="1600" dirty="0"/>
              <a:t>ransaction: </a:t>
            </a:r>
            <a:r>
              <a:rPr lang="en-US" sz="1600" dirty="0"/>
              <a:t>		</a:t>
            </a:r>
            <a:r>
              <a:rPr sz="1600" dirty="0"/>
              <a:t>START TRANSACTION;  </a:t>
            </a:r>
            <a:r>
              <a:rPr lang="en-US" sz="1600" dirty="0"/>
              <a:t>	</a:t>
            </a:r>
            <a:r>
              <a:rPr sz="1600" dirty="0"/>
              <a:t>→  </a:t>
            </a:r>
            <a:r>
              <a:rPr lang="en-US" sz="1600" dirty="0"/>
              <a:t>	</a:t>
            </a:r>
            <a:r>
              <a:rPr sz="1600" dirty="0"/>
              <a:t>SELECT ...;  </a:t>
            </a:r>
            <a:r>
              <a:rPr lang="en-US" sz="1600" dirty="0"/>
              <a:t>	</a:t>
            </a:r>
            <a:r>
              <a:rPr sz="1600" dirty="0"/>
              <a:t>→  </a:t>
            </a:r>
            <a:r>
              <a:rPr lang="en-US" sz="1600" dirty="0"/>
              <a:t>	</a:t>
            </a:r>
            <a:r>
              <a:rPr sz="1600" dirty="0"/>
              <a:t>COMMIT;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0F0F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144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5F5F5F"/>
                </a:solidFill>
                <a:latin typeface="Aptos"/>
              </a:defRPr>
            </a:pPr>
            <a:r>
              <a:rPr dirty="0"/>
              <a:t>10 / MYSQL AND INNODB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6692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900" b="1">
                <a:solidFill>
                  <a:srgbClr val="0F0F0F"/>
                </a:solidFill>
                <a:latin typeface="Aptos"/>
              </a:defRPr>
            </a:pPr>
            <a:r>
              <a:t>Engine details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34440"/>
            <a:ext cx="6500177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5F5F5F"/>
                </a:solidFill>
                <a:latin typeface="Aptos"/>
              </a:defRPr>
            </a:pPr>
            <a:r>
              <a:rPr sz="1600" dirty="0"/>
              <a:t>Do not assume every database engine handles every read the same way.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D7D7D7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F5F5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691640"/>
            <a:ext cx="5349240" cy="3429000"/>
          </a:xfrm>
          <a:prstGeom prst="rect">
            <a:avLst/>
          </a:prstGeom>
          <a:solidFill>
            <a:srgbClr val="F2F2F2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856232"/>
            <a:ext cx="5020055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0F0F0F"/>
                </a:solidFill>
                <a:latin typeface="Aptos"/>
              </a:defRPr>
            </a:pPr>
            <a:r>
              <a:rPr dirty="0"/>
              <a:t>INNODB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295144"/>
            <a:ext cx="5020055" cy="164814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0F0F0F"/>
                </a:solidFill>
                <a:latin typeface="Aptos"/>
              </a:defRPr>
            </a:pPr>
            <a:r>
              <a:rPr sz="2000" dirty="0"/>
              <a:t>Uses MVCC and locking strategies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0F0F0F"/>
                </a:solidFill>
                <a:latin typeface="Aptos"/>
              </a:defRPr>
            </a:pPr>
            <a:r>
              <a:rPr sz="2000" dirty="0"/>
              <a:t>Repeatable Read is the default in InnoDB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0F0F0F"/>
                </a:solidFill>
                <a:latin typeface="Aptos"/>
              </a:defRPr>
            </a:pPr>
            <a:r>
              <a:rPr sz="2000" dirty="0"/>
              <a:t>Snapshot reads and locking reads may</a:t>
            </a:r>
            <a:endParaRPr lang="en-US" sz="2000" dirty="0"/>
          </a:p>
          <a:p>
            <a:pPr algn="l">
              <a:spcAft>
                <a:spcPts val="700"/>
              </a:spcAft>
              <a:defRPr sz="1700" b="0">
                <a:solidFill>
                  <a:srgbClr val="0F0F0F"/>
                </a:solidFill>
                <a:latin typeface="Aptos"/>
              </a:defRPr>
            </a:pPr>
            <a:r>
              <a:rPr sz="2000" dirty="0"/>
              <a:t>behave differently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91640"/>
            <a:ext cx="5349240" cy="3429000"/>
          </a:xfrm>
          <a:prstGeom prst="rect">
            <a:avLst/>
          </a:prstGeom>
          <a:solidFill>
            <a:srgbClr val="F2F2F2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856232"/>
            <a:ext cx="5020055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0F0F0F"/>
                </a:solidFill>
                <a:latin typeface="Aptos"/>
              </a:defRPr>
            </a:pPr>
            <a:r>
              <a:t>PRACTICAL 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295144"/>
            <a:ext cx="4819333" cy="1648143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0F0F0F"/>
                </a:solidFill>
                <a:latin typeface="Aptos"/>
              </a:defRPr>
            </a:pPr>
            <a:r>
              <a:rPr sz="2000" dirty="0"/>
              <a:t>Match isolation to the business rule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0F0F0F"/>
                </a:solidFill>
                <a:latin typeface="Aptos"/>
              </a:defRPr>
            </a:pPr>
            <a:r>
              <a:rPr sz="2000" dirty="0"/>
              <a:t>Test concurrent transactions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0F0F0F"/>
                </a:solidFill>
                <a:latin typeface="Aptos"/>
              </a:defRPr>
            </a:pPr>
            <a:r>
              <a:rPr sz="2000" dirty="0"/>
              <a:t>Check the query type and locking behavior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0F0F0F"/>
                </a:solidFill>
                <a:latin typeface="Aptos"/>
              </a:defRPr>
            </a:pPr>
            <a:r>
              <a:rPr sz="2000" dirty="0"/>
              <a:t>Expect waiting or retries at stronger levels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5440680"/>
            <a:ext cx="10972800" cy="594360"/>
          </a:xfrm>
          <a:prstGeom prst="rect">
            <a:avLst/>
          </a:prstGeom>
          <a:solidFill>
            <a:srgbClr val="0F0F0F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5559552"/>
            <a:ext cx="8695137" cy="39395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1600" dirty="0"/>
              <a:t>SET TRANSACTION applies to the next transaction when issued before START TRANSACTION.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0F0F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144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5F5F5F"/>
                </a:solidFill>
                <a:latin typeface="Aptos"/>
              </a:defRPr>
            </a:pPr>
            <a:r>
              <a:t>11 /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6692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900" b="1">
                <a:solidFill>
                  <a:srgbClr val="0F0F0F"/>
                </a:solidFill>
                <a:latin typeface="Aptos"/>
              </a:defRPr>
            </a:pPr>
            <a:r>
              <a:t>Choose the guarantee your business rule needs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D7D7D7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F5F5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45920"/>
            <a:ext cx="6583680" cy="3566160"/>
          </a:xfrm>
          <a:prstGeom prst="rect">
            <a:avLst/>
          </a:prstGeom>
          <a:solidFill>
            <a:srgbClr val="F2F2F2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810512"/>
            <a:ext cx="6254496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0F0F0F"/>
                </a:solidFill>
                <a:latin typeface="Aptos"/>
              </a:defRPr>
            </a:pPr>
            <a:r>
              <a:t>THREE IDEAS TO 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249424"/>
            <a:ext cx="6346698" cy="296901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0F0F0F"/>
                </a:solidFill>
                <a:latin typeface="Aptos"/>
              </a:defRPr>
            </a:pPr>
            <a:r>
              <a:rPr sz="2000" dirty="0"/>
              <a:t>1. Isolation controls what each transaction can see, and when.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0F0F0F"/>
                </a:solidFill>
                <a:latin typeface="Aptos"/>
              </a:defRPr>
            </a:pPr>
            <a:endParaRPr sz="2000" dirty="0"/>
          </a:p>
          <a:p>
            <a:pPr algn="l">
              <a:spcAft>
                <a:spcPts val="700"/>
              </a:spcAft>
              <a:defRPr sz="1700" b="0">
                <a:solidFill>
                  <a:srgbClr val="0F0F0F"/>
                </a:solidFill>
                <a:latin typeface="Aptos"/>
              </a:defRPr>
            </a:pPr>
            <a:r>
              <a:rPr sz="2000" dirty="0"/>
              <a:t>2. Dirty reads, non-repeatable reads, phantoms, and lost updates are concurrency risks.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0F0F0F"/>
                </a:solidFill>
                <a:latin typeface="Aptos"/>
              </a:defRPr>
            </a:pPr>
            <a:endParaRPr sz="2000" dirty="0"/>
          </a:p>
          <a:p>
            <a:pPr algn="l">
              <a:spcAft>
                <a:spcPts val="700"/>
              </a:spcAft>
              <a:defRPr sz="1700" b="0">
                <a:solidFill>
                  <a:srgbClr val="0F0F0F"/>
                </a:solidFill>
                <a:latin typeface="Aptos"/>
              </a:defRPr>
            </a:pPr>
            <a:r>
              <a:rPr sz="2000" dirty="0"/>
              <a:t>3. Isolation levels balance correctness, throughput, and workload needs.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1645920"/>
            <a:ext cx="4114800" cy="3566160"/>
          </a:xfrm>
          <a:prstGeom prst="rect">
            <a:avLst/>
          </a:prstGeom>
          <a:solidFill>
            <a:srgbClr val="0F0F0F"/>
          </a:solidFill>
          <a:ln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18120" y="2057400"/>
            <a:ext cx="3474720" cy="1325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rPr dirty="0"/>
              <a:t>USE THE LOWEST 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2480" y="3474720"/>
            <a:ext cx="3426002" cy="1099275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rPr lang="en-US" sz="2800" dirty="0"/>
              <a:t>That “</a:t>
            </a:r>
            <a:r>
              <a:rPr sz="2800" dirty="0"/>
              <a:t>safely protects</a:t>
            </a:r>
            <a:r>
              <a:rPr lang="en-US" sz="2800" dirty="0"/>
              <a:t>"</a:t>
            </a:r>
            <a:endParaRPr sz="2800" dirty="0"/>
          </a:p>
          <a:p>
            <a:pPr algn="ctr">
              <a:spcAft>
                <a:spcPts val="7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rPr sz="2800" dirty="0"/>
              <a:t>the business rule.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623560"/>
            <a:ext cx="9998956" cy="640175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0F0F0F"/>
                </a:solidFill>
                <a:latin typeface="Aptos"/>
              </a:defRPr>
            </a:pPr>
            <a:r>
              <a:rPr sz="3200" dirty="0"/>
              <a:t>QUESTIONS?  </a:t>
            </a:r>
            <a:r>
              <a:rPr lang="en-US" sz="3200" dirty="0"/>
              <a:t>												</a:t>
            </a:r>
            <a:r>
              <a:rPr sz="3200" dirty="0"/>
              <a:t>Thank </a:t>
            </a:r>
            <a:r>
              <a:rPr lang="en-US" sz="3200" dirty="0"/>
              <a:t>Y</a:t>
            </a:r>
            <a:r>
              <a:rPr sz="3200" dirty="0"/>
              <a:t>ou</a:t>
            </a:r>
            <a:r>
              <a:rPr lang="en-US" sz="3200" dirty="0"/>
              <a:t>!</a:t>
            </a:r>
            <a:endParaRPr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1082</Words>
  <Application>Microsoft Office PowerPoint</Application>
  <PresentationFormat>Widescreen</PresentationFormat>
  <Paragraphs>223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James McGuigan</cp:lastModifiedBy>
  <cp:revision>3</cp:revision>
  <dcterms:created xsi:type="dcterms:W3CDTF">2013-01-27T09:14:16Z</dcterms:created>
  <dcterms:modified xsi:type="dcterms:W3CDTF">2026-10-28T21:14:59Z</dcterms:modified>
  <cp:category/>
</cp:coreProperties>
</file>