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692" y="5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0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63623"/>
          </a:solidFill>
          <a:ln>
            <a:solidFill>
              <a:srgbClr val="D63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47472" y="310896"/>
            <a:ext cx="11475720" cy="22860"/>
          </a:xfrm>
          <a:prstGeom prst="rect">
            <a:avLst/>
          </a:prstGeom>
          <a:solidFill>
            <a:srgbClr val="9D9C94"/>
          </a:solidFill>
          <a:ln>
            <a:solidFill>
              <a:srgbClr val="9D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47472" y="6446520"/>
            <a:ext cx="11475720" cy="22860"/>
          </a:xfrm>
          <a:prstGeom prst="rect">
            <a:avLst/>
          </a:prstGeom>
          <a:solidFill>
            <a:srgbClr val="9D9C94"/>
          </a:solidFill>
          <a:ln>
            <a:solidFill>
              <a:srgbClr val="9D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438912"/>
            <a:ext cx="502920" cy="411480"/>
          </a:xfrm>
          <a:prstGeom prst="rect">
            <a:avLst/>
          </a:prstGeom>
          <a:solidFill>
            <a:srgbClr val="121414"/>
          </a:solidFill>
          <a:ln>
            <a:solidFill>
              <a:srgbClr val="12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89204"/>
            <a:ext cx="466344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A"/>
                </a:solidFill>
                <a:latin typeface="Aptos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1321308"/>
            <a:ext cx="4983480" cy="4526280"/>
          </a:xfrm>
          <a:prstGeom prst="rect">
            <a:avLst/>
          </a:prstGeom>
          <a:solidFill>
            <a:srgbClr val="F5F3EC"/>
          </a:solidFill>
          <a:ln>
            <a:solidFill>
              <a:srgbClr val="9D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475488" y="1234440"/>
            <a:ext cx="4983480" cy="109728"/>
          </a:xfrm>
          <a:prstGeom prst="rect">
            <a:avLst/>
          </a:prstGeom>
          <a:solidFill>
            <a:srgbClr val="D63623"/>
          </a:solidFill>
          <a:ln>
            <a:solidFill>
              <a:srgbClr val="D63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4572000" cy="22860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300" b="1">
                <a:solidFill>
                  <a:srgbClr val="121414"/>
                </a:solidFill>
                <a:latin typeface="Aptos Display"/>
              </a:rPr>
              <a:t>ISOLATION
LEVELS IN
MYSQL / MARIADB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730752"/>
            <a:ext cx="438912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dirty="0">
                <a:solidFill>
                  <a:srgbClr val="D63623"/>
                </a:solidFill>
                <a:latin typeface="Aptos"/>
              </a:rPr>
              <a:t>CONSISTENCY  /  CONCURRENCY  /  PERFORMANCE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371" y="5513832"/>
            <a:ext cx="4472426" cy="109728"/>
          </a:xfrm>
          <a:prstGeom prst="rect">
            <a:avLst/>
          </a:prstGeom>
          <a:solidFill>
            <a:srgbClr val="121414"/>
          </a:solidFill>
          <a:ln>
            <a:solidFill>
              <a:srgbClr val="12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52828" y="4010475"/>
            <a:ext cx="4297680" cy="78072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dirty="0">
                <a:solidFill>
                  <a:srgbClr val="121414"/>
                </a:solidFill>
                <a:latin typeface="Aptos"/>
              </a:rPr>
              <a:t>Different levels. </a:t>
            </a:r>
            <a:endParaRPr lang="en-US" sz="1500" b="0" dirty="0">
              <a:solidFill>
                <a:srgbClr val="121414"/>
              </a:solidFill>
              <a:latin typeface="Aptos"/>
            </a:endParaRPr>
          </a:p>
          <a:p>
            <a:pPr algn="l">
              <a:spcAft>
                <a:spcPts val="200"/>
              </a:spcAft>
            </a:pPr>
            <a:r>
              <a:rPr lang="en-US" sz="1500" b="0" dirty="0">
                <a:solidFill>
                  <a:srgbClr val="121414"/>
                </a:solidFill>
                <a:latin typeface="Aptos"/>
              </a:rPr>
              <a:t>		</a:t>
            </a:r>
            <a:r>
              <a:rPr sz="1500" b="0" dirty="0">
                <a:solidFill>
                  <a:srgbClr val="121414"/>
                </a:solidFill>
                <a:latin typeface="Aptos"/>
              </a:rPr>
              <a:t>Different trade-offs.</a:t>
            </a:r>
            <a:r>
              <a:rPr lang="en-US" sz="1500" dirty="0">
                <a:solidFill>
                  <a:srgbClr val="121414"/>
                </a:solidFill>
                <a:latin typeface="Apto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lang="en-US" sz="1500" dirty="0">
                <a:solidFill>
                  <a:srgbClr val="121414"/>
                </a:solidFill>
                <a:latin typeface="Aptos"/>
              </a:rPr>
              <a:t>				   R</a:t>
            </a:r>
            <a:r>
              <a:rPr sz="1500" b="0" dirty="0">
                <a:solidFill>
                  <a:srgbClr val="121414"/>
                </a:solidFill>
                <a:latin typeface="Aptos"/>
              </a:rPr>
              <a:t>eliable </a:t>
            </a:r>
            <a:r>
              <a:rPr lang="en-US" sz="1500" dirty="0">
                <a:solidFill>
                  <a:srgbClr val="121414"/>
                </a:solidFill>
                <a:latin typeface="Aptos"/>
              </a:rPr>
              <a:t>D</a:t>
            </a:r>
            <a:r>
              <a:rPr sz="1500" b="0" dirty="0">
                <a:solidFill>
                  <a:srgbClr val="121414"/>
                </a:solidFill>
                <a:latin typeface="Aptos"/>
              </a:rPr>
              <a:t>ata.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1051560"/>
            <a:ext cx="2057400" cy="4526280"/>
          </a:xfrm>
          <a:prstGeom prst="rect">
            <a:avLst/>
          </a:prstGeom>
          <a:solidFill>
            <a:srgbClr val="535552"/>
          </a:solidFill>
          <a:ln>
            <a:solidFill>
              <a:srgbClr val="535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60920" y="1554480"/>
            <a:ext cx="2057400" cy="4023360"/>
          </a:xfrm>
          <a:prstGeom prst="rect">
            <a:avLst/>
          </a:prstGeom>
          <a:solidFill>
            <a:srgbClr val="121414"/>
          </a:solidFill>
          <a:ln>
            <a:solidFill>
              <a:srgbClr val="12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732520" y="2057400"/>
            <a:ext cx="2468880" cy="3520440"/>
          </a:xfrm>
          <a:prstGeom prst="rect">
            <a:avLst/>
          </a:prstGeom>
          <a:solidFill>
            <a:srgbClr val="D63623"/>
          </a:solidFill>
          <a:ln>
            <a:solidFill>
              <a:srgbClr val="D63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4572000"/>
            <a:ext cx="2743200" cy="6858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FFFFFA"/>
                </a:solidFill>
                <a:latin typeface="Aptos"/>
              </a:rPr>
              <a:t>DATABASE
CONCURRENCY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6528816"/>
            <a:ext cx="77724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535552"/>
                </a:solidFill>
                <a:latin typeface="Aptos"/>
              </a:rPr>
              <a:t>MYSQL / MARIADB  •  INNODB FOCUS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438FB2-C3CD-66E5-A05A-7261279AF7E2}"/>
              </a:ext>
            </a:extLst>
          </p:cNvPr>
          <p:cNvSpPr txBox="1"/>
          <p:nvPr/>
        </p:nvSpPr>
        <p:spPr>
          <a:xfrm>
            <a:off x="690371" y="5114782"/>
            <a:ext cx="3906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JAMES MCGUIGAN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0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63623"/>
          </a:solidFill>
          <a:ln>
            <a:solidFill>
              <a:srgbClr val="D63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47472" y="310896"/>
            <a:ext cx="11475720" cy="22860"/>
          </a:xfrm>
          <a:prstGeom prst="rect">
            <a:avLst/>
          </a:prstGeom>
          <a:solidFill>
            <a:srgbClr val="9D9C94"/>
          </a:solidFill>
          <a:ln>
            <a:solidFill>
              <a:srgbClr val="9D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47472" y="6446520"/>
            <a:ext cx="11475720" cy="22860"/>
          </a:xfrm>
          <a:prstGeom prst="rect">
            <a:avLst/>
          </a:prstGeom>
          <a:solidFill>
            <a:srgbClr val="9D9C94"/>
          </a:solidFill>
          <a:ln>
            <a:solidFill>
              <a:srgbClr val="9D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438912"/>
            <a:ext cx="502920" cy="411480"/>
          </a:xfrm>
          <a:prstGeom prst="rect">
            <a:avLst/>
          </a:prstGeom>
          <a:solidFill>
            <a:srgbClr val="121414"/>
          </a:solidFill>
          <a:ln>
            <a:solidFill>
              <a:srgbClr val="12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89204"/>
            <a:ext cx="466344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A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393192"/>
            <a:ext cx="1033272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21414"/>
                </a:solidFill>
                <a:latin typeface="Aptos Display"/>
              </a:rPr>
              <a:t>THE BIG PICTURE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005840"/>
            <a:ext cx="101498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535552"/>
                </a:solidFill>
                <a:latin typeface="Aptos"/>
              </a:rPr>
              <a:t>WHAT IS AN ISOLATION LEVEL?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572768"/>
            <a:ext cx="4800600" cy="3611880"/>
          </a:xfrm>
          <a:prstGeom prst="rect">
            <a:avLst/>
          </a:prstGeom>
          <a:solidFill>
            <a:srgbClr val="F5F3EC"/>
          </a:solidFill>
          <a:ln>
            <a:solidFill>
              <a:srgbClr val="9D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1572768"/>
            <a:ext cx="82296" cy="3611880"/>
          </a:xfrm>
          <a:prstGeom prst="rect">
            <a:avLst/>
          </a:prstGeom>
          <a:solidFill>
            <a:srgbClr val="D63623"/>
          </a:solidFill>
          <a:ln>
            <a:solidFill>
              <a:srgbClr val="D63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1719072"/>
            <a:ext cx="4453128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D63623"/>
                </a:solidFill>
                <a:latin typeface="Aptos"/>
              </a:rPr>
              <a:t>DEFINITION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139696"/>
            <a:ext cx="4434840" cy="29260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0">
                <a:solidFill>
                  <a:srgbClr val="121414"/>
                </a:solidFill>
                <a:latin typeface="Aptos"/>
              </a:rPr>
              <a:t>An isolation level controls how transactions see and interact with each other’s data.
It determines what kinds of temporary or inconsistent reads are allowed.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42432" y="1572768"/>
            <a:ext cx="2560320" cy="1481328"/>
          </a:xfrm>
          <a:prstGeom prst="rect">
            <a:avLst/>
          </a:prstGeom>
          <a:solidFill>
            <a:srgbClr val="F5F3EC"/>
          </a:solidFill>
          <a:ln>
            <a:solidFill>
              <a:srgbClr val="9D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42432" y="1572768"/>
            <a:ext cx="82296" cy="1481328"/>
          </a:xfrm>
          <a:prstGeom prst="rect">
            <a:avLst/>
          </a:prstGeom>
          <a:solidFill>
            <a:srgbClr val="121414"/>
          </a:solidFill>
          <a:ln>
            <a:solidFill>
              <a:srgbClr val="12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0" y="1719072"/>
            <a:ext cx="2212848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21414"/>
                </a:solidFill>
                <a:latin typeface="Aptos"/>
              </a:rPr>
              <a:t>TRANSACTION 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139696"/>
            <a:ext cx="2194560" cy="7955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21414"/>
                </a:solidFill>
                <a:latin typeface="Aptos"/>
              </a:rPr>
              <a:t>Reads / writes data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41080" y="1572768"/>
            <a:ext cx="2560320" cy="1481328"/>
          </a:xfrm>
          <a:prstGeom prst="rect">
            <a:avLst/>
          </a:prstGeom>
          <a:solidFill>
            <a:srgbClr val="F5F3EC"/>
          </a:solidFill>
          <a:ln>
            <a:solidFill>
              <a:srgbClr val="9D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641080" y="1572768"/>
            <a:ext cx="82296" cy="1481328"/>
          </a:xfrm>
          <a:prstGeom prst="rect">
            <a:avLst/>
          </a:prstGeom>
          <a:solidFill>
            <a:srgbClr val="D63623"/>
          </a:solidFill>
          <a:ln>
            <a:solidFill>
              <a:srgbClr val="D63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42248" y="1719072"/>
            <a:ext cx="2212848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D63623"/>
                </a:solidFill>
                <a:latin typeface="Aptos"/>
              </a:rPr>
              <a:t>TRANSACTION 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42248" y="2139696"/>
            <a:ext cx="2194560" cy="7955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21414"/>
                </a:solidFill>
                <a:latin typeface="Aptos"/>
              </a:rPr>
              <a:t>Reads / writes data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26679" y="3520440"/>
            <a:ext cx="1691640" cy="822960"/>
          </a:xfrm>
          <a:prstGeom prst="rect">
            <a:avLst/>
          </a:prstGeom>
          <a:solidFill>
            <a:srgbClr val="121414"/>
          </a:solidFill>
          <a:ln>
            <a:solidFill>
              <a:srgbClr val="12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18120" y="3767328"/>
            <a:ext cx="15087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A"/>
                </a:solidFill>
                <a:latin typeface="Aptos"/>
              </a:rPr>
              <a:t>DATABASE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9440" y="3200400"/>
            <a:ext cx="685800" cy="45720"/>
          </a:xfrm>
          <a:prstGeom prst="rect">
            <a:avLst/>
          </a:prstGeom>
          <a:solidFill>
            <a:srgbClr val="D63623"/>
          </a:solidFill>
          <a:ln>
            <a:solidFill>
              <a:srgbClr val="D63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464040" y="3200400"/>
            <a:ext cx="685800" cy="45720"/>
          </a:xfrm>
          <a:prstGeom prst="rect">
            <a:avLst/>
          </a:prstGeom>
          <a:solidFill>
            <a:srgbClr val="D63623"/>
          </a:solidFill>
          <a:ln>
            <a:solidFill>
              <a:srgbClr val="D63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806440" y="4663440"/>
            <a:ext cx="27432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D63623"/>
                </a:solidFill>
                <a:latin typeface="Aptos"/>
              </a:rPr>
              <a:t>WHY IT MATTERS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5029200"/>
            <a:ext cx="5486400" cy="9601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21414"/>
                </a:solidFill>
                <a:latin typeface="Aptos"/>
              </a:rPr>
              <a:t>■  Prevents surprising data anomalies
■  Balances consistency and throughput
■  Helps applications behave predictably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0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63623"/>
          </a:solidFill>
          <a:ln>
            <a:solidFill>
              <a:srgbClr val="D63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47472" y="310896"/>
            <a:ext cx="11475720" cy="22860"/>
          </a:xfrm>
          <a:prstGeom prst="rect">
            <a:avLst/>
          </a:prstGeom>
          <a:solidFill>
            <a:srgbClr val="9D9C94"/>
          </a:solidFill>
          <a:ln>
            <a:solidFill>
              <a:srgbClr val="9D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47472" y="6446520"/>
            <a:ext cx="11475720" cy="22860"/>
          </a:xfrm>
          <a:prstGeom prst="rect">
            <a:avLst/>
          </a:prstGeom>
          <a:solidFill>
            <a:srgbClr val="9D9C94"/>
          </a:solidFill>
          <a:ln>
            <a:solidFill>
              <a:srgbClr val="9D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438912"/>
            <a:ext cx="502920" cy="411480"/>
          </a:xfrm>
          <a:prstGeom prst="rect">
            <a:avLst/>
          </a:prstGeom>
          <a:solidFill>
            <a:srgbClr val="121414"/>
          </a:solidFill>
          <a:ln>
            <a:solidFill>
              <a:srgbClr val="12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89204"/>
            <a:ext cx="466344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A"/>
                </a:solidFill>
                <a:latin typeface="Apto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393192"/>
            <a:ext cx="1033272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21414"/>
                </a:solidFill>
                <a:latin typeface="Aptos Display"/>
              </a:rPr>
              <a:t>COMMON ANOMALIES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005840"/>
            <a:ext cx="10149840" cy="22159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dirty="0">
                <a:solidFill>
                  <a:srgbClr val="535552"/>
                </a:solidFill>
                <a:latin typeface="Aptos"/>
              </a:rPr>
              <a:t>READ PHENOMENA</a:t>
            </a:r>
            <a:r>
              <a:rPr lang="en-US" sz="1200" b="1" dirty="0">
                <a:solidFill>
                  <a:srgbClr val="535552"/>
                </a:solidFill>
                <a:latin typeface="Aptos"/>
              </a:rPr>
              <a:t> &amp; RISK</a:t>
            </a:r>
            <a:r>
              <a:rPr sz="1200" b="1" dirty="0">
                <a:solidFill>
                  <a:srgbClr val="535552"/>
                </a:solidFill>
                <a:latin typeface="Aptos"/>
              </a:rPr>
              <a:t> 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508760"/>
            <a:ext cx="5303520" cy="1938528"/>
          </a:xfrm>
          <a:prstGeom prst="rect">
            <a:avLst/>
          </a:prstGeom>
          <a:solidFill>
            <a:srgbClr val="F5F3EC"/>
          </a:solidFill>
          <a:ln>
            <a:solidFill>
              <a:srgbClr val="9D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1508760"/>
            <a:ext cx="82296" cy="1938528"/>
          </a:xfrm>
          <a:prstGeom prst="rect">
            <a:avLst/>
          </a:prstGeom>
          <a:solidFill>
            <a:srgbClr val="D63623"/>
          </a:solidFill>
          <a:ln>
            <a:solidFill>
              <a:srgbClr val="D63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1655063"/>
            <a:ext cx="4956048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D63623"/>
                </a:solidFill>
                <a:latin typeface="Aptos"/>
              </a:rPr>
              <a:t>DIRTY READ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075688"/>
            <a:ext cx="4937759" cy="12527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21414"/>
                </a:solidFill>
                <a:latin typeface="Aptos"/>
              </a:rPr>
              <a:t>A transaction reads another transaction’s uncommitted change. If the writer rolls back, the value was never committed.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508760"/>
            <a:ext cx="5303520" cy="1938528"/>
          </a:xfrm>
          <a:prstGeom prst="rect">
            <a:avLst/>
          </a:prstGeom>
          <a:solidFill>
            <a:srgbClr val="F5F3EC"/>
          </a:solidFill>
          <a:ln>
            <a:solidFill>
              <a:srgbClr val="9D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1508760"/>
            <a:ext cx="82296" cy="1938528"/>
          </a:xfrm>
          <a:prstGeom prst="rect">
            <a:avLst/>
          </a:prstGeom>
          <a:solidFill>
            <a:srgbClr val="121414"/>
          </a:solidFill>
          <a:ln>
            <a:solidFill>
              <a:srgbClr val="12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73368" y="1655063"/>
            <a:ext cx="4956048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21414"/>
                </a:solidFill>
                <a:latin typeface="Aptos"/>
              </a:rPr>
              <a:t>NON-REPEATABLE READ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075688"/>
            <a:ext cx="4937759" cy="12527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21414"/>
                </a:solidFill>
                <a:latin typeface="Aptos"/>
              </a:rPr>
              <a:t>A transaction reads the same row twice and gets different values because another transaction committed an update in between.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703320"/>
            <a:ext cx="5303520" cy="1938528"/>
          </a:xfrm>
          <a:prstGeom prst="rect">
            <a:avLst/>
          </a:prstGeom>
          <a:solidFill>
            <a:srgbClr val="F5F3EC"/>
          </a:solidFill>
          <a:ln>
            <a:solidFill>
              <a:srgbClr val="9D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8368" y="3703320"/>
            <a:ext cx="82296" cy="1938528"/>
          </a:xfrm>
          <a:prstGeom prst="rect">
            <a:avLst/>
          </a:prstGeom>
          <a:solidFill>
            <a:srgbClr val="121414"/>
          </a:solidFill>
          <a:ln>
            <a:solidFill>
              <a:srgbClr val="12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9536" y="3849624"/>
            <a:ext cx="4956048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21414"/>
                </a:solidFill>
                <a:latin typeface="Aptos"/>
              </a:rPr>
              <a:t>PHANTOM 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4270248"/>
            <a:ext cx="4937759" cy="12527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21414"/>
                </a:solidFill>
                <a:latin typeface="Aptos"/>
              </a:rPr>
              <a:t>The same search returns a different set of rows because another transaction inserted or deleted rows matching the condition.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703320"/>
            <a:ext cx="5303520" cy="1938528"/>
          </a:xfrm>
          <a:prstGeom prst="rect">
            <a:avLst/>
          </a:prstGeom>
          <a:solidFill>
            <a:srgbClr val="F5F3EC"/>
          </a:solidFill>
          <a:ln>
            <a:solidFill>
              <a:srgbClr val="9D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3703320"/>
            <a:ext cx="82296" cy="1938528"/>
          </a:xfrm>
          <a:prstGeom prst="rect">
            <a:avLst/>
          </a:prstGeom>
          <a:solidFill>
            <a:srgbClr val="D63623"/>
          </a:solidFill>
          <a:ln>
            <a:solidFill>
              <a:srgbClr val="D63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73368" y="3849624"/>
            <a:ext cx="4956048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D63623"/>
                </a:solidFill>
                <a:latin typeface="Aptos"/>
              </a:rPr>
              <a:t>LOST UPDATE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4270248"/>
            <a:ext cx="4937759" cy="12527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21414"/>
                </a:solidFill>
                <a:latin typeface="Aptos"/>
              </a:rPr>
              <a:t>Two transactions change the same record; one write can overwrite the other. This is a related concurrency risk, not one of the three classic read phenomena.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0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63623"/>
          </a:solidFill>
          <a:ln>
            <a:solidFill>
              <a:srgbClr val="D63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47472" y="310896"/>
            <a:ext cx="11475720" cy="22860"/>
          </a:xfrm>
          <a:prstGeom prst="rect">
            <a:avLst/>
          </a:prstGeom>
          <a:solidFill>
            <a:srgbClr val="9D9C94"/>
          </a:solidFill>
          <a:ln>
            <a:solidFill>
              <a:srgbClr val="9D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47472" y="6446520"/>
            <a:ext cx="11475720" cy="22860"/>
          </a:xfrm>
          <a:prstGeom prst="rect">
            <a:avLst/>
          </a:prstGeom>
          <a:solidFill>
            <a:srgbClr val="9D9C94"/>
          </a:solidFill>
          <a:ln>
            <a:solidFill>
              <a:srgbClr val="9D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438912"/>
            <a:ext cx="502920" cy="411480"/>
          </a:xfrm>
          <a:prstGeom prst="rect">
            <a:avLst/>
          </a:prstGeom>
          <a:solidFill>
            <a:srgbClr val="121414"/>
          </a:solidFill>
          <a:ln>
            <a:solidFill>
              <a:srgbClr val="12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89204"/>
            <a:ext cx="466344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A"/>
                </a:solidFill>
                <a:latin typeface="Apto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393192"/>
            <a:ext cx="1033272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21414"/>
                </a:solidFill>
                <a:latin typeface="Aptos Display"/>
              </a:rPr>
              <a:t>THE FOUR ISOLATION LEVELS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005840"/>
            <a:ext cx="10149840" cy="22159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dirty="0">
                <a:solidFill>
                  <a:srgbClr val="535552"/>
                </a:solidFill>
                <a:latin typeface="Aptos"/>
              </a:rPr>
              <a:t>INNODB BEHAVIOR QUERY TYPE AND LOCKING STRATEGY MATTER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36192"/>
            <a:ext cx="2057400" cy="566928"/>
          </a:xfrm>
          <a:prstGeom prst="rect">
            <a:avLst/>
          </a:prstGeom>
          <a:solidFill>
            <a:srgbClr val="121414"/>
          </a:solidFill>
          <a:ln>
            <a:solidFill>
              <a:srgbClr val="12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6072" y="1673351"/>
            <a:ext cx="1911095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FFFFA"/>
                </a:solidFill>
                <a:latin typeface="Aptos"/>
              </a:rPr>
              <a:t>LEVEL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39" y="1536192"/>
            <a:ext cx="1417320" cy="566928"/>
          </a:xfrm>
          <a:prstGeom prst="rect">
            <a:avLst/>
          </a:prstGeom>
          <a:solidFill>
            <a:srgbClr val="121414"/>
          </a:solidFill>
          <a:ln>
            <a:solidFill>
              <a:srgbClr val="12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79191" y="1673351"/>
            <a:ext cx="1271016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FFFFA"/>
                </a:solidFill>
                <a:latin typeface="Aptos"/>
              </a:rPr>
              <a:t>DIRTY READ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9079" y="1536192"/>
            <a:ext cx="1965960" cy="566928"/>
          </a:xfrm>
          <a:prstGeom prst="rect">
            <a:avLst/>
          </a:prstGeom>
          <a:solidFill>
            <a:srgbClr val="121414"/>
          </a:solidFill>
          <a:ln>
            <a:solidFill>
              <a:srgbClr val="12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42231" y="1673351"/>
            <a:ext cx="1819656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FFFFA"/>
                </a:solidFill>
                <a:latin typeface="Aptos"/>
              </a:rPr>
              <a:t>NON-REPEATABLE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59" y="1536192"/>
            <a:ext cx="3063240" cy="566928"/>
          </a:xfrm>
          <a:prstGeom prst="rect">
            <a:avLst/>
          </a:prstGeom>
          <a:solidFill>
            <a:srgbClr val="121414"/>
          </a:solidFill>
          <a:ln>
            <a:solidFill>
              <a:srgbClr val="12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53911" y="1673351"/>
            <a:ext cx="2916936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FFFFA"/>
                </a:solidFill>
                <a:latin typeface="Aptos"/>
              </a:rPr>
              <a:t>PHANTOM READ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19" y="1536192"/>
            <a:ext cx="2286000" cy="566928"/>
          </a:xfrm>
          <a:prstGeom prst="rect">
            <a:avLst/>
          </a:prstGeom>
          <a:solidFill>
            <a:srgbClr val="121414"/>
          </a:solidFill>
          <a:ln>
            <a:solidFill>
              <a:srgbClr val="12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62872" y="1673351"/>
            <a:ext cx="2139696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FFFFA"/>
                </a:solidFill>
                <a:latin typeface="Aptos"/>
              </a:rPr>
              <a:t>TRADE-OFF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176272"/>
            <a:ext cx="2057400" cy="896112"/>
          </a:xfrm>
          <a:prstGeom prst="rect">
            <a:avLst/>
          </a:prstGeom>
          <a:solidFill>
            <a:srgbClr val="F5F3EC"/>
          </a:solidFill>
          <a:ln>
            <a:solidFill>
              <a:srgbClr val="9D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6072" y="2286000"/>
            <a:ext cx="1911095" cy="7132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D63623"/>
                </a:solidFill>
                <a:latin typeface="Aptos"/>
              </a:rPr>
              <a:t>READ UNCOMMITTED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06039" y="2176272"/>
            <a:ext cx="1417320" cy="896112"/>
          </a:xfrm>
          <a:prstGeom prst="rect">
            <a:avLst/>
          </a:prstGeom>
          <a:solidFill>
            <a:srgbClr val="F5F3EC"/>
          </a:solidFill>
          <a:ln>
            <a:solidFill>
              <a:srgbClr val="9D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679191" y="2286000"/>
            <a:ext cx="1271016" cy="7132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D63623"/>
                </a:solidFill>
                <a:latin typeface="Aptos"/>
              </a:rPr>
              <a:t>Possible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69079" y="2176272"/>
            <a:ext cx="1965960" cy="896112"/>
          </a:xfrm>
          <a:prstGeom prst="rect">
            <a:avLst/>
          </a:prstGeom>
          <a:solidFill>
            <a:srgbClr val="F5F3EC"/>
          </a:solidFill>
          <a:ln>
            <a:solidFill>
              <a:srgbClr val="9D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42231" y="2286000"/>
            <a:ext cx="1819656" cy="7132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D63623"/>
                </a:solidFill>
                <a:latin typeface="Aptos"/>
              </a:rPr>
              <a:t>Possible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59" y="2176272"/>
            <a:ext cx="3063240" cy="896112"/>
          </a:xfrm>
          <a:prstGeom prst="rect">
            <a:avLst/>
          </a:prstGeom>
          <a:solidFill>
            <a:srgbClr val="F5F3EC"/>
          </a:solidFill>
          <a:ln>
            <a:solidFill>
              <a:srgbClr val="9D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53911" y="2286000"/>
            <a:ext cx="2916936" cy="7132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D63623"/>
                </a:solidFill>
                <a:latin typeface="Aptos"/>
              </a:rPr>
              <a:t>Possible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89719" y="2176272"/>
            <a:ext cx="2286000" cy="896112"/>
          </a:xfrm>
          <a:prstGeom prst="rect">
            <a:avLst/>
          </a:prstGeom>
          <a:solidFill>
            <a:srgbClr val="F5F3EC"/>
          </a:solidFill>
          <a:ln>
            <a:solidFill>
              <a:srgbClr val="9D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62872" y="2286000"/>
            <a:ext cx="2139696" cy="7132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121414"/>
                </a:solidFill>
                <a:latin typeface="Aptos"/>
              </a:rPr>
              <a:t>Highest concurrency; weakest consistency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163824"/>
            <a:ext cx="2057400" cy="896112"/>
          </a:xfrm>
          <a:prstGeom prst="rect">
            <a:avLst/>
          </a:prstGeom>
          <a:solidFill>
            <a:srgbClr val="D6D4CC"/>
          </a:solidFill>
          <a:ln>
            <a:solidFill>
              <a:srgbClr val="9D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76072" y="3273552"/>
            <a:ext cx="1911095" cy="7132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D63623"/>
                </a:solidFill>
                <a:latin typeface="Aptos"/>
              </a:rPr>
              <a:t>READ COMMITTED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06039" y="3163824"/>
            <a:ext cx="1417320" cy="896112"/>
          </a:xfrm>
          <a:prstGeom prst="rect">
            <a:avLst/>
          </a:prstGeom>
          <a:solidFill>
            <a:srgbClr val="D6D4CC"/>
          </a:solidFill>
          <a:ln>
            <a:solidFill>
              <a:srgbClr val="9D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679191" y="3273552"/>
            <a:ext cx="1271016" cy="7132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21414"/>
                </a:solidFill>
                <a:latin typeface="Aptos"/>
              </a:rPr>
              <a:t>Prevented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69079" y="3163824"/>
            <a:ext cx="1965960" cy="896112"/>
          </a:xfrm>
          <a:prstGeom prst="rect">
            <a:avLst/>
          </a:prstGeom>
          <a:solidFill>
            <a:srgbClr val="D6D4CC"/>
          </a:solidFill>
          <a:ln>
            <a:solidFill>
              <a:srgbClr val="9D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42231" y="3273552"/>
            <a:ext cx="1819656" cy="7132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D63623"/>
                </a:solidFill>
                <a:latin typeface="Aptos"/>
              </a:rPr>
              <a:t>Possible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59" y="3163824"/>
            <a:ext cx="3063240" cy="896112"/>
          </a:xfrm>
          <a:prstGeom prst="rect">
            <a:avLst/>
          </a:prstGeom>
          <a:solidFill>
            <a:srgbClr val="D6D4CC"/>
          </a:solidFill>
          <a:ln>
            <a:solidFill>
              <a:srgbClr val="9D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53911" y="3273552"/>
            <a:ext cx="2916936" cy="7132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D63623"/>
                </a:solidFill>
                <a:latin typeface="Aptos"/>
              </a:rPr>
              <a:t>Possible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89719" y="3163824"/>
            <a:ext cx="2286000" cy="896112"/>
          </a:xfrm>
          <a:prstGeom prst="rect">
            <a:avLst/>
          </a:prstGeom>
          <a:solidFill>
            <a:srgbClr val="D6D4CC"/>
          </a:solidFill>
          <a:ln>
            <a:solidFill>
              <a:srgbClr val="9D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262872" y="3273552"/>
            <a:ext cx="2139696" cy="7132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121414"/>
                </a:solidFill>
                <a:latin typeface="Aptos"/>
              </a:rPr>
              <a:t>Fresh committed view per read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151376"/>
            <a:ext cx="2057400" cy="896112"/>
          </a:xfrm>
          <a:prstGeom prst="rect">
            <a:avLst/>
          </a:prstGeom>
          <a:solidFill>
            <a:srgbClr val="F5F3EC"/>
          </a:solidFill>
          <a:ln>
            <a:solidFill>
              <a:srgbClr val="9D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76072" y="4261104"/>
            <a:ext cx="1911095" cy="7132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D63623"/>
                </a:solidFill>
                <a:latin typeface="Aptos"/>
              </a:rPr>
              <a:t>REPEATABLE READ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06039" y="4151376"/>
            <a:ext cx="1417320" cy="896112"/>
          </a:xfrm>
          <a:prstGeom prst="rect">
            <a:avLst/>
          </a:prstGeom>
          <a:solidFill>
            <a:srgbClr val="F5F3EC"/>
          </a:solidFill>
          <a:ln>
            <a:solidFill>
              <a:srgbClr val="9D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679191" y="4261104"/>
            <a:ext cx="1271016" cy="7132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21414"/>
                </a:solidFill>
                <a:latin typeface="Aptos"/>
              </a:rPr>
              <a:t>Prevented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69079" y="4151376"/>
            <a:ext cx="1965960" cy="896112"/>
          </a:xfrm>
          <a:prstGeom prst="rect">
            <a:avLst/>
          </a:prstGeom>
          <a:solidFill>
            <a:srgbClr val="F5F3EC"/>
          </a:solidFill>
          <a:ln>
            <a:solidFill>
              <a:srgbClr val="9D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142231" y="4261104"/>
            <a:ext cx="1819656" cy="7132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121414"/>
                </a:solidFill>
                <a:latin typeface="Aptos"/>
              </a:rPr>
              <a:t>Prevented for snapshot reads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80759" y="4151376"/>
            <a:ext cx="3063240" cy="896112"/>
          </a:xfrm>
          <a:prstGeom prst="rect">
            <a:avLst/>
          </a:prstGeom>
          <a:solidFill>
            <a:srgbClr val="F5F3EC"/>
          </a:solidFill>
          <a:ln>
            <a:solidFill>
              <a:srgbClr val="9D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153911" y="4261104"/>
            <a:ext cx="2916936" cy="7132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121414"/>
                </a:solidFill>
                <a:latin typeface="Aptos"/>
              </a:rPr>
              <a:t>Depends on read type; locking range reads use gap/next-key locks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89719" y="4151376"/>
            <a:ext cx="2286000" cy="896112"/>
          </a:xfrm>
          <a:prstGeom prst="rect">
            <a:avLst/>
          </a:prstGeom>
          <a:solidFill>
            <a:srgbClr val="F5F3EC"/>
          </a:solidFill>
          <a:ln>
            <a:solidFill>
              <a:srgbClr val="9D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262872" y="4261104"/>
            <a:ext cx="2139696" cy="7132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121414"/>
                </a:solidFill>
                <a:latin typeface="Aptos"/>
              </a:rPr>
              <a:t>MySQL InnoDB default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5138928"/>
            <a:ext cx="2057400" cy="896112"/>
          </a:xfrm>
          <a:prstGeom prst="rect">
            <a:avLst/>
          </a:prstGeom>
          <a:solidFill>
            <a:srgbClr val="D6D4CC"/>
          </a:solidFill>
          <a:ln>
            <a:solidFill>
              <a:srgbClr val="9D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76072" y="5248656"/>
            <a:ext cx="1911095" cy="7132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D63623"/>
                </a:solidFill>
                <a:latin typeface="Aptos"/>
              </a:rPr>
              <a:t>SERIALIZABLE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606039" y="5138928"/>
            <a:ext cx="1417320" cy="896112"/>
          </a:xfrm>
          <a:prstGeom prst="rect">
            <a:avLst/>
          </a:prstGeom>
          <a:solidFill>
            <a:srgbClr val="D6D4CC"/>
          </a:solidFill>
          <a:ln>
            <a:solidFill>
              <a:srgbClr val="9D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679191" y="5248656"/>
            <a:ext cx="1271016" cy="7132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21414"/>
                </a:solidFill>
                <a:latin typeface="Aptos"/>
              </a:rPr>
              <a:t>Prevented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069079" y="5138928"/>
            <a:ext cx="1965960" cy="896112"/>
          </a:xfrm>
          <a:prstGeom prst="rect">
            <a:avLst/>
          </a:prstGeom>
          <a:solidFill>
            <a:srgbClr val="D6D4CC"/>
          </a:solidFill>
          <a:ln>
            <a:solidFill>
              <a:srgbClr val="9D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142231" y="5248656"/>
            <a:ext cx="1819656" cy="7132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121414"/>
                </a:solidFill>
                <a:latin typeface="Aptos"/>
              </a:rPr>
              <a:t>Prevented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80759" y="5138928"/>
            <a:ext cx="3063240" cy="896112"/>
          </a:xfrm>
          <a:prstGeom prst="rect">
            <a:avLst/>
          </a:prstGeom>
          <a:solidFill>
            <a:srgbClr val="D6D4CC"/>
          </a:solidFill>
          <a:ln>
            <a:solidFill>
              <a:srgbClr val="9D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153911" y="5248656"/>
            <a:ext cx="2916936" cy="7132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121414"/>
                </a:solidFill>
                <a:latin typeface="Aptos"/>
              </a:rPr>
              <a:t>Prevented through stricter serialization/locking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189719" y="5138928"/>
            <a:ext cx="2286000" cy="896112"/>
          </a:xfrm>
          <a:prstGeom prst="rect">
            <a:avLst/>
          </a:prstGeom>
          <a:solidFill>
            <a:srgbClr val="D6D4CC"/>
          </a:solidFill>
          <a:ln>
            <a:solidFill>
              <a:srgbClr val="9D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262872" y="5248656"/>
            <a:ext cx="2139696" cy="7132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D63623"/>
                </a:solidFill>
                <a:latin typeface="Aptos"/>
              </a:rPr>
              <a:t>Strongest protection; more waiting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0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63623"/>
          </a:solidFill>
          <a:ln>
            <a:solidFill>
              <a:srgbClr val="D63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47472" y="310896"/>
            <a:ext cx="11475720" cy="22860"/>
          </a:xfrm>
          <a:prstGeom prst="rect">
            <a:avLst/>
          </a:prstGeom>
          <a:solidFill>
            <a:srgbClr val="9D9C94"/>
          </a:solidFill>
          <a:ln>
            <a:solidFill>
              <a:srgbClr val="9D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47472" y="6446520"/>
            <a:ext cx="11475720" cy="22860"/>
          </a:xfrm>
          <a:prstGeom prst="rect">
            <a:avLst/>
          </a:prstGeom>
          <a:solidFill>
            <a:srgbClr val="9D9C94"/>
          </a:solidFill>
          <a:ln>
            <a:solidFill>
              <a:srgbClr val="9D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438912"/>
            <a:ext cx="502920" cy="411480"/>
          </a:xfrm>
          <a:prstGeom prst="rect">
            <a:avLst/>
          </a:prstGeom>
          <a:solidFill>
            <a:srgbClr val="121414"/>
          </a:solidFill>
          <a:ln>
            <a:solidFill>
              <a:srgbClr val="12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89204"/>
            <a:ext cx="466344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A"/>
                </a:solidFill>
                <a:latin typeface="Apto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393192"/>
            <a:ext cx="1033272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21414"/>
                </a:solidFill>
                <a:latin typeface="Aptos Display"/>
              </a:rPr>
              <a:t>ANOMALIES IN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005840"/>
            <a:ext cx="101498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535552"/>
                </a:solidFill>
                <a:latin typeface="Aptos"/>
              </a:rPr>
              <a:t>WHAT TWO CONCURRENT TRANSACTIONS CAN DO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481328"/>
            <a:ext cx="5440680" cy="1920240"/>
          </a:xfrm>
          <a:prstGeom prst="rect">
            <a:avLst/>
          </a:prstGeom>
          <a:solidFill>
            <a:srgbClr val="F5F3EC"/>
          </a:solidFill>
          <a:ln>
            <a:solidFill>
              <a:srgbClr val="9D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481328"/>
            <a:ext cx="82296" cy="1920240"/>
          </a:xfrm>
          <a:prstGeom prst="rect">
            <a:avLst/>
          </a:prstGeom>
          <a:solidFill>
            <a:srgbClr val="D63623"/>
          </a:solidFill>
          <a:ln>
            <a:solidFill>
              <a:srgbClr val="D63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1627632"/>
            <a:ext cx="5093208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D63623"/>
                </a:solidFill>
                <a:latin typeface="Aptos"/>
              </a:rPr>
              <a:t>DIRTY READ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048256"/>
            <a:ext cx="5074920" cy="1234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21414"/>
                </a:solidFill>
                <a:latin typeface="Aptos"/>
              </a:rPr>
              <a:t>T1: UPDATE accounts SET balance = 1000;  (not committed)
T2: SELECT balance → sees 1000
T1: ROLLBACK
T2 saw a value that never became permanent.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481328"/>
            <a:ext cx="5440680" cy="1920240"/>
          </a:xfrm>
          <a:prstGeom prst="rect">
            <a:avLst/>
          </a:prstGeom>
          <a:solidFill>
            <a:srgbClr val="F5F3EC"/>
          </a:solidFill>
          <a:ln>
            <a:solidFill>
              <a:srgbClr val="9D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481328"/>
            <a:ext cx="82296" cy="1920240"/>
          </a:xfrm>
          <a:prstGeom prst="rect">
            <a:avLst/>
          </a:prstGeom>
          <a:solidFill>
            <a:srgbClr val="121414"/>
          </a:solidFill>
          <a:ln>
            <a:solidFill>
              <a:srgbClr val="12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627632"/>
            <a:ext cx="5093208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21414"/>
                </a:solidFill>
                <a:latin typeface="Aptos"/>
              </a:rPr>
              <a:t>NON-REPEATABLE READ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48256"/>
            <a:ext cx="5074920" cy="1234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21414"/>
                </a:solidFill>
                <a:latin typeface="Aptos"/>
              </a:rPr>
              <a:t>T1: SELECT balance → 500
T2: UPDATE balance = 700; COMMIT
T1: SELECT balance → 700
Same row, different result inside T1.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675887"/>
            <a:ext cx="5440680" cy="1920240"/>
          </a:xfrm>
          <a:prstGeom prst="rect">
            <a:avLst/>
          </a:prstGeom>
          <a:solidFill>
            <a:srgbClr val="F5F3EC"/>
          </a:solidFill>
          <a:ln>
            <a:solidFill>
              <a:srgbClr val="9D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" y="3675887"/>
            <a:ext cx="82296" cy="1920240"/>
          </a:xfrm>
          <a:prstGeom prst="rect">
            <a:avLst/>
          </a:prstGeom>
          <a:solidFill>
            <a:srgbClr val="121414"/>
          </a:solidFill>
          <a:ln>
            <a:solidFill>
              <a:srgbClr val="12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" y="3822191"/>
            <a:ext cx="5093208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21414"/>
                </a:solidFill>
                <a:latin typeface="Aptos"/>
              </a:rPr>
              <a:t>PHANTOM READ EXAMPLE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4242816"/>
            <a:ext cx="5074920" cy="1234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21414"/>
                </a:solidFill>
                <a:latin typeface="Aptos"/>
              </a:rPr>
              <a:t>T1: SELECT COUNT(*) FROM orders WHERE total &gt; 100 → 3
T2: INSERT order with total = 150; COMMIT
T1: run the same search → may see 4 under weaker isolation.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9632" y="3675887"/>
            <a:ext cx="5440680" cy="1920240"/>
          </a:xfrm>
          <a:prstGeom prst="rect">
            <a:avLst/>
          </a:prstGeom>
          <a:solidFill>
            <a:srgbClr val="F5F3EC"/>
          </a:solidFill>
          <a:ln>
            <a:solidFill>
              <a:srgbClr val="9D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99632" y="3675887"/>
            <a:ext cx="82296" cy="1920240"/>
          </a:xfrm>
          <a:prstGeom prst="rect">
            <a:avLst/>
          </a:prstGeom>
          <a:solidFill>
            <a:srgbClr val="D63623"/>
          </a:solidFill>
          <a:ln>
            <a:solidFill>
              <a:srgbClr val="D63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3822191"/>
            <a:ext cx="5093208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D63623"/>
                </a:solidFill>
                <a:latin typeface="Aptos"/>
              </a:rPr>
              <a:t>LOST UPDATE EXAMPLE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242816"/>
            <a:ext cx="5074920" cy="1234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21414"/>
                </a:solidFill>
                <a:latin typeface="Aptos"/>
              </a:rPr>
              <a:t>Two shoppers read stock = 1. Both decide to decrement it. If updates are not coordinated, one write may overwrite the other’s result.
Use appropriate locking or atomic updates.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0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63623"/>
          </a:solidFill>
          <a:ln>
            <a:solidFill>
              <a:srgbClr val="D63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47472" y="310896"/>
            <a:ext cx="11475720" cy="22860"/>
          </a:xfrm>
          <a:prstGeom prst="rect">
            <a:avLst/>
          </a:prstGeom>
          <a:solidFill>
            <a:srgbClr val="9D9C94"/>
          </a:solidFill>
          <a:ln>
            <a:solidFill>
              <a:srgbClr val="9D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47472" y="6446520"/>
            <a:ext cx="11475720" cy="22860"/>
          </a:xfrm>
          <a:prstGeom prst="rect">
            <a:avLst/>
          </a:prstGeom>
          <a:solidFill>
            <a:srgbClr val="9D9C94"/>
          </a:solidFill>
          <a:ln>
            <a:solidFill>
              <a:srgbClr val="9D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438912"/>
            <a:ext cx="502920" cy="411480"/>
          </a:xfrm>
          <a:prstGeom prst="rect">
            <a:avLst/>
          </a:prstGeom>
          <a:solidFill>
            <a:srgbClr val="121414"/>
          </a:solidFill>
          <a:ln>
            <a:solidFill>
              <a:srgbClr val="12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89204"/>
            <a:ext cx="466344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A"/>
                </a:solidFill>
                <a:latin typeface="Aptos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393192"/>
            <a:ext cx="1033272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21414"/>
                </a:solidFill>
                <a:latin typeface="Aptos Display"/>
              </a:rPr>
              <a:t>WHY MULTIPLE LEVELS?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005840"/>
            <a:ext cx="101498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535552"/>
                </a:solidFill>
                <a:latin typeface="Aptos"/>
              </a:rPr>
              <a:t>NO SINGLE SETTING IS BEST FOR EVERY WORKLOAD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444752"/>
            <a:ext cx="621792" cy="658368"/>
          </a:xfrm>
          <a:prstGeom prst="rect">
            <a:avLst/>
          </a:prstGeom>
          <a:solidFill>
            <a:srgbClr val="121414"/>
          </a:solidFill>
          <a:ln>
            <a:solidFill>
              <a:srgbClr val="12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1627632"/>
            <a:ext cx="530352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A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463040"/>
            <a:ext cx="39319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D63623"/>
                </a:solidFill>
                <a:latin typeface="Aptos"/>
              </a:rPr>
              <a:t>PERFORMANCE VS. CONSISTENCY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801368"/>
            <a:ext cx="6903720" cy="6583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21414"/>
                </a:solidFill>
                <a:latin typeface="Aptos"/>
              </a:rPr>
              <a:t>Higher isolation can mean more locking, waiting, and deadlocks. Lower isolation can improve throughput but allow more inconsistent observations.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615184"/>
            <a:ext cx="621792" cy="658368"/>
          </a:xfrm>
          <a:prstGeom prst="rect">
            <a:avLst/>
          </a:prstGeom>
          <a:solidFill>
            <a:srgbClr val="121414"/>
          </a:solidFill>
          <a:ln>
            <a:solidFill>
              <a:srgbClr val="12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4088" y="2798064"/>
            <a:ext cx="530352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A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633472"/>
            <a:ext cx="39319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D63623"/>
                </a:solidFill>
                <a:latin typeface="Aptos"/>
              </a:rPr>
              <a:t>DIFFERENT USE CASES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971800"/>
            <a:ext cx="6903720" cy="6583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21414"/>
                </a:solidFill>
                <a:latin typeface="Aptos"/>
              </a:rPr>
              <a:t>A dashboard may tolerate changing counts. Inventory checkout and financial transfers need stronger correctness guarantees.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785616"/>
            <a:ext cx="621792" cy="658368"/>
          </a:xfrm>
          <a:prstGeom prst="rect">
            <a:avLst/>
          </a:prstGeom>
          <a:solidFill>
            <a:srgbClr val="121414"/>
          </a:solidFill>
          <a:ln>
            <a:solidFill>
              <a:srgbClr val="12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4088" y="3968496"/>
            <a:ext cx="530352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A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803904"/>
            <a:ext cx="39319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D63623"/>
                </a:solidFill>
                <a:latin typeface="Aptos"/>
              </a:rPr>
              <a:t>PRACTICAL TRADE-OFF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142232"/>
            <a:ext cx="6903720" cy="6583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21414"/>
                </a:solidFill>
                <a:latin typeface="Aptos"/>
              </a:rPr>
              <a:t>Choose the least restrictive level that meets the correctness requirement, then test concurrent workloads.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956048"/>
            <a:ext cx="621792" cy="658368"/>
          </a:xfrm>
          <a:prstGeom prst="rect">
            <a:avLst/>
          </a:prstGeom>
          <a:solidFill>
            <a:srgbClr val="121414"/>
          </a:solidFill>
          <a:ln>
            <a:solidFill>
              <a:srgbClr val="12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4088" y="5138928"/>
            <a:ext cx="530352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A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974336"/>
            <a:ext cx="39319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D63623"/>
                </a:solidFill>
                <a:latin typeface="Aptos"/>
              </a:rPr>
              <a:t>ENGINE DETAILS MATTER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312664"/>
            <a:ext cx="6903720" cy="6583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21414"/>
                </a:solidFill>
                <a:latin typeface="Aptos"/>
              </a:rPr>
              <a:t>MySQL/MariaDB InnoDB use MVCC and locking strategies. Exact behavior depends on isolation level and read type.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23960" y="1444752"/>
            <a:ext cx="2606040" cy="4526280"/>
          </a:xfrm>
          <a:prstGeom prst="rect">
            <a:avLst/>
          </a:prstGeom>
          <a:solidFill>
            <a:srgbClr val="D63623"/>
          </a:solidFill>
          <a:ln>
            <a:solidFill>
              <a:srgbClr val="D63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0" y="1828800"/>
            <a:ext cx="2011680" cy="1508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>
                <a:solidFill>
                  <a:srgbClr val="FFFFFA"/>
                </a:solidFill>
                <a:latin typeface="Aptos"/>
              </a:rPr>
              <a:t>HIGHER
ISOLATION
=
MORE
PROTECTION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89720" y="3794760"/>
            <a:ext cx="1874519" cy="36576"/>
          </a:xfrm>
          <a:prstGeom prst="rect">
            <a:avLst/>
          </a:prstGeom>
          <a:solidFill>
            <a:srgbClr val="FFFFFA"/>
          </a:solidFill>
          <a:ln>
            <a:solidFill>
              <a:srgbClr val="FFF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0" y="4160520"/>
            <a:ext cx="2011680" cy="1417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A"/>
                </a:solidFill>
                <a:latin typeface="Aptos"/>
              </a:rPr>
              <a:t>LOWER
ISOLATION
=
MORE
FLEXIBILITY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0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63623"/>
          </a:solidFill>
          <a:ln>
            <a:solidFill>
              <a:srgbClr val="D63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47472" y="310896"/>
            <a:ext cx="11475720" cy="22860"/>
          </a:xfrm>
          <a:prstGeom prst="rect">
            <a:avLst/>
          </a:prstGeom>
          <a:solidFill>
            <a:srgbClr val="9D9C94"/>
          </a:solidFill>
          <a:ln>
            <a:solidFill>
              <a:srgbClr val="9D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47472" y="6446520"/>
            <a:ext cx="11475720" cy="22860"/>
          </a:xfrm>
          <a:prstGeom prst="rect">
            <a:avLst/>
          </a:prstGeom>
          <a:solidFill>
            <a:srgbClr val="9D9C94"/>
          </a:solidFill>
          <a:ln>
            <a:solidFill>
              <a:srgbClr val="9D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438912"/>
            <a:ext cx="502920" cy="411480"/>
          </a:xfrm>
          <a:prstGeom prst="rect">
            <a:avLst/>
          </a:prstGeom>
          <a:solidFill>
            <a:srgbClr val="121414"/>
          </a:solidFill>
          <a:ln>
            <a:solidFill>
              <a:srgbClr val="12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89204"/>
            <a:ext cx="466344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A"/>
                </a:solidFill>
                <a:latin typeface="Aptos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393192"/>
            <a:ext cx="1033272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21414"/>
                </a:solidFill>
                <a:latin typeface="Aptos Display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005840"/>
            <a:ext cx="101498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535552"/>
                </a:solidFill>
                <a:latin typeface="Aptos"/>
              </a:rPr>
              <a:t>A PRACTICAL WAY TO THINK ABOUT ISOLATION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59436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D63623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664208"/>
            <a:ext cx="457200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21414"/>
                </a:solidFill>
                <a:latin typeface="Aptos"/>
              </a:rPr>
              <a:t>Isolation defines what each transaction can see, and when.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23160"/>
            <a:ext cx="59436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D63623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487168"/>
            <a:ext cx="4572000" cy="6400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21414"/>
                </a:solidFill>
                <a:latin typeface="Aptos"/>
              </a:rPr>
              <a:t>Each level changes the risk of dirty reads, non-repeatable reads, and phantoms.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337560"/>
            <a:ext cx="59436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D63623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401568"/>
            <a:ext cx="4572000" cy="6400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21414"/>
                </a:solidFill>
                <a:latin typeface="Aptos"/>
              </a:rPr>
              <a:t>Multiple levels exist to balance correctness, throughput, and workload needs.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508760"/>
            <a:ext cx="4983480" cy="3429000"/>
          </a:xfrm>
          <a:prstGeom prst="rect">
            <a:avLst/>
          </a:prstGeom>
          <a:solidFill>
            <a:srgbClr val="121414"/>
          </a:solidFill>
          <a:ln>
            <a:solidFill>
              <a:srgbClr val="12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20840" y="1783080"/>
            <a:ext cx="27432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D63623"/>
                </a:solidFill>
                <a:latin typeface="Aptos"/>
              </a:rPr>
              <a:t>EXAMPLE 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240280"/>
            <a:ext cx="4389120" cy="21945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FFA"/>
                </a:solidFill>
                <a:latin typeface="Consolas"/>
              </a:rPr>
              <a:t>-- Set for the next transaction
SET TRANSACTION ISOLATION LEVEL
REPEATABLE READ;
START TRANSACTION;
SELECT balance FROM accounts WHERE id = 1;
COMMIT;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86548"/>
            <a:ext cx="10607040" cy="6400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dirty="0">
                <a:solidFill>
                  <a:srgbClr val="D63623"/>
                </a:solidFill>
                <a:latin typeface="Aptos"/>
              </a:rPr>
              <a:t>Start with </a:t>
            </a:r>
            <a:r>
              <a:rPr sz="1700" b="1" dirty="0" err="1">
                <a:solidFill>
                  <a:srgbClr val="D63623"/>
                </a:solidFill>
                <a:latin typeface="Aptos"/>
              </a:rPr>
              <a:t>InnoDB’s</a:t>
            </a:r>
            <a:r>
              <a:rPr sz="1700" b="1" dirty="0">
                <a:solidFill>
                  <a:srgbClr val="D63623"/>
                </a:solidFill>
                <a:latin typeface="Aptos"/>
              </a:rPr>
              <a:t> default REPEATABLE READ, then change it only when the workload and tests justify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690</Words>
  <Application>Microsoft Office PowerPoint</Application>
  <PresentationFormat>Widescreen</PresentationFormat>
  <Paragraphs>100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James Mc</cp:lastModifiedBy>
  <cp:revision>2</cp:revision>
  <dcterms:created xsi:type="dcterms:W3CDTF">2013-01-27T09:14:16Z</dcterms:created>
  <dcterms:modified xsi:type="dcterms:W3CDTF">2026-10-25T16:42:13Z</dcterms:modified>
  <cp:category/>
</cp:coreProperties>
</file>