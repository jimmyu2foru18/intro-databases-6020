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4"/>
  </p:sldMasterIdLst>
  <p:notesMasterIdLst>
    <p:notesMasterId r:id="rId121"/>
  </p:notesMasterIdLst>
  <p:sldIdLst>
    <p:sldId id="257" r:id="rId5"/>
    <p:sldId id="387" r:id="rId6"/>
    <p:sldId id="369" r:id="rId7"/>
    <p:sldId id="259" r:id="rId8"/>
    <p:sldId id="371" r:id="rId9"/>
    <p:sldId id="262" r:id="rId10"/>
    <p:sldId id="372" r:id="rId11"/>
    <p:sldId id="374" r:id="rId12"/>
    <p:sldId id="263" r:id="rId13"/>
    <p:sldId id="373" r:id="rId14"/>
    <p:sldId id="392" r:id="rId15"/>
    <p:sldId id="264" r:id="rId16"/>
    <p:sldId id="266" r:id="rId17"/>
    <p:sldId id="267" r:id="rId18"/>
    <p:sldId id="268" r:id="rId19"/>
    <p:sldId id="270" r:id="rId20"/>
    <p:sldId id="271" r:id="rId21"/>
    <p:sldId id="376" r:id="rId22"/>
    <p:sldId id="377" r:id="rId23"/>
    <p:sldId id="273" r:id="rId24"/>
    <p:sldId id="274" r:id="rId25"/>
    <p:sldId id="382" r:id="rId26"/>
    <p:sldId id="276" r:id="rId27"/>
    <p:sldId id="277" r:id="rId28"/>
    <p:sldId id="278" r:id="rId29"/>
    <p:sldId id="279" r:id="rId30"/>
    <p:sldId id="280" r:id="rId31"/>
    <p:sldId id="383" r:id="rId32"/>
    <p:sldId id="384" r:id="rId33"/>
    <p:sldId id="284" r:id="rId34"/>
    <p:sldId id="285" r:id="rId35"/>
    <p:sldId id="286" r:id="rId36"/>
    <p:sldId id="287" r:id="rId37"/>
    <p:sldId id="389" r:id="rId38"/>
    <p:sldId id="288" r:id="rId39"/>
    <p:sldId id="390" r:id="rId40"/>
    <p:sldId id="289" r:id="rId41"/>
    <p:sldId id="294" r:id="rId42"/>
    <p:sldId id="391" r:id="rId43"/>
    <p:sldId id="296" r:id="rId44"/>
    <p:sldId id="298" r:id="rId45"/>
    <p:sldId id="393" r:id="rId46"/>
    <p:sldId id="442" r:id="rId47"/>
    <p:sldId id="291" r:id="rId48"/>
    <p:sldId id="292" r:id="rId49"/>
    <p:sldId id="388" r:id="rId50"/>
    <p:sldId id="379" r:id="rId51"/>
    <p:sldId id="380" r:id="rId52"/>
    <p:sldId id="452" r:id="rId53"/>
    <p:sldId id="449" r:id="rId54"/>
    <p:sldId id="450" r:id="rId55"/>
    <p:sldId id="451" r:id="rId56"/>
    <p:sldId id="453" r:id="rId57"/>
    <p:sldId id="398" r:id="rId58"/>
    <p:sldId id="397" r:id="rId59"/>
    <p:sldId id="418" r:id="rId60"/>
    <p:sldId id="400" r:id="rId61"/>
    <p:sldId id="415" r:id="rId62"/>
    <p:sldId id="456" r:id="rId63"/>
    <p:sldId id="464" r:id="rId64"/>
    <p:sldId id="423" r:id="rId65"/>
    <p:sldId id="461" r:id="rId66"/>
    <p:sldId id="312" r:id="rId67"/>
    <p:sldId id="313" r:id="rId68"/>
    <p:sldId id="472" r:id="rId69"/>
    <p:sldId id="424" r:id="rId70"/>
    <p:sldId id="315" r:id="rId71"/>
    <p:sldId id="425" r:id="rId72"/>
    <p:sldId id="435" r:id="rId73"/>
    <p:sldId id="470" r:id="rId74"/>
    <p:sldId id="319" r:id="rId75"/>
    <p:sldId id="474" r:id="rId76"/>
    <p:sldId id="321" r:id="rId77"/>
    <p:sldId id="322" r:id="rId78"/>
    <p:sldId id="475" r:id="rId79"/>
    <p:sldId id="411" r:id="rId80"/>
    <p:sldId id="412" r:id="rId81"/>
    <p:sldId id="324" r:id="rId82"/>
    <p:sldId id="325" r:id="rId83"/>
    <p:sldId id="326" r:id="rId84"/>
    <p:sldId id="327" r:id="rId85"/>
    <p:sldId id="328" r:id="rId86"/>
    <p:sldId id="329" r:id="rId87"/>
    <p:sldId id="330" r:id="rId88"/>
    <p:sldId id="427" r:id="rId89"/>
    <p:sldId id="428" r:id="rId90"/>
    <p:sldId id="332" r:id="rId91"/>
    <p:sldId id="335" r:id="rId92"/>
    <p:sldId id="467" r:id="rId93"/>
    <p:sldId id="337" r:id="rId94"/>
    <p:sldId id="429" r:id="rId95"/>
    <p:sldId id="430" r:id="rId96"/>
    <p:sldId id="431" r:id="rId97"/>
    <p:sldId id="469" r:id="rId98"/>
    <p:sldId id="432" r:id="rId99"/>
    <p:sldId id="403" r:id="rId100"/>
    <p:sldId id="341" r:id="rId101"/>
    <p:sldId id="436" r:id="rId102"/>
    <p:sldId id="354" r:id="rId103"/>
    <p:sldId id="356" r:id="rId104"/>
    <p:sldId id="357" r:id="rId105"/>
    <p:sldId id="358" r:id="rId106"/>
    <p:sldId id="359" r:id="rId107"/>
    <p:sldId id="361" r:id="rId108"/>
    <p:sldId id="438" r:id="rId109"/>
    <p:sldId id="362" r:id="rId110"/>
    <p:sldId id="363" r:id="rId111"/>
    <p:sldId id="440" r:id="rId112"/>
    <p:sldId id="366" r:id="rId113"/>
    <p:sldId id="471" r:id="rId114"/>
    <p:sldId id="443" r:id="rId115"/>
    <p:sldId id="444" r:id="rId116"/>
    <p:sldId id="445" r:id="rId117"/>
    <p:sldId id="447" r:id="rId118"/>
    <p:sldId id="448" r:id="rId119"/>
    <p:sldId id="367" r:id="rId1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B0837F-DBB6-DB70-792F-AB8798D87E05}" v="16" dt="2026-09-03T20:57:40.924"/>
    <p1510:client id="{6ACF6371-CA74-DC91-2DCA-1F3BBCBC7952}" v="111" dt="2026-09-02T23:34:17.458"/>
    <p1510:client id="{CC8AD61E-DF56-50F3-7A75-4E8D0049A55B}" v="745" dt="2026-09-01T21:54:23.4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9158"/>
    <p:restoredTop sz="94034"/>
  </p:normalViewPr>
  <p:slideViewPr>
    <p:cSldViewPr snapToGrid="0" snapToObjects="1">
      <p:cViewPr varScale="1">
        <p:scale>
          <a:sx n="93" d="100"/>
          <a:sy n="93" d="100"/>
        </p:scale>
        <p:origin x="240" y="8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viewProps" Target="viewProps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theme" Target="theme/theme1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4DB4B4-F88A-A045-ABD5-7624204FA17F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FC2BF-AFBC-2D4F-9C77-81B715142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78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C2510-E658-4176-9BC5-3335DBD0E44C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577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C2510-E658-4176-9BC5-3335DBD0E44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54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7C051A-E1BE-4115-B362-29E8152F7B81}" type="slidenum">
              <a:rPr lang="en-US"/>
              <a:pPr/>
              <a:t>4</a:t>
            </a:fld>
            <a:endParaRPr lang="en-US"/>
          </a:p>
        </p:txBody>
      </p:sp>
      <p:sp>
        <p:nvSpPr>
          <p:cNvPr id="19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745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BAFAC4-A9B6-4548-84A8-8CA362D91D62}" type="slidenum">
              <a:rPr lang="en-US"/>
              <a:pPr/>
              <a:t>6</a:t>
            </a:fld>
            <a:endParaRPr lang="en-US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735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3FC90D-F5FD-4EC8-9A20-FA926EA35948}" type="slidenum">
              <a:rPr lang="en-US"/>
              <a:pPr/>
              <a:t>7</a:t>
            </a:fld>
            <a:endParaRPr lang="en-US"/>
          </a:p>
        </p:txBody>
      </p:sp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14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3FC90D-F5FD-4EC8-9A20-FA926EA35948}" type="slidenum">
              <a:rPr lang="en-US"/>
              <a:pPr/>
              <a:t>8</a:t>
            </a:fld>
            <a:endParaRPr lang="en-US"/>
          </a:p>
        </p:txBody>
      </p:sp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333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3FC90D-F5FD-4EC8-9A20-FA926EA35948}" type="slidenum">
              <a:rPr lang="en-US"/>
              <a:pPr/>
              <a:t>9</a:t>
            </a:fld>
            <a:endParaRPr lang="en-US"/>
          </a:p>
        </p:txBody>
      </p:sp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343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3FC90D-F5FD-4EC8-9A20-FA926EA35948}" type="slidenum">
              <a:rPr lang="en-US"/>
              <a:pPr/>
              <a:t>10</a:t>
            </a:fld>
            <a:endParaRPr lang="en-US"/>
          </a:p>
        </p:txBody>
      </p:sp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96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3FC90D-F5FD-4EC8-9A20-FA926EA35948}" type="slidenum">
              <a:rPr lang="en-US"/>
              <a:pPr/>
              <a:t>11</a:t>
            </a:fld>
            <a:endParaRPr lang="en-US"/>
          </a:p>
        </p:txBody>
      </p:sp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03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F1DBE1-F881-447A-BD83-525E419A7BDF}" type="slidenum">
              <a:rPr lang="en-US"/>
              <a:pPr/>
              <a:t>12</a:t>
            </a:fld>
            <a:endParaRPr lang="en-US"/>
          </a:p>
        </p:txBody>
      </p:sp>
      <p:sp>
        <p:nvSpPr>
          <p:cNvPr id="20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409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537920-C064-4783-BA27-1563C3CA487C}" type="slidenum">
              <a:rPr lang="en-US"/>
              <a:pPr/>
              <a:t>13</a:t>
            </a:fld>
            <a:endParaRPr lang="en-US"/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7095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C2510-E658-4176-9BC5-3335DBD0E44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3994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C2510-E658-4176-9BC5-3335DBD0E44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2941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C2510-E658-4176-9BC5-3335DBD0E44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5051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9040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75BABC-8AE4-4864-9D16-4FBEEC793F13}" type="slidenum">
              <a:rPr lang="en-US"/>
              <a:pPr/>
              <a:t>20</a:t>
            </a:fld>
            <a:endParaRPr lang="en-US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357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C14D81-D799-4CF1-80FC-FA801A29DB3A}" type="slidenum">
              <a:rPr lang="en-US"/>
              <a:pPr/>
              <a:t>21</a:t>
            </a:fld>
            <a:endParaRPr lang="en-US"/>
          </a:p>
        </p:txBody>
      </p:sp>
      <p:sp>
        <p:nvSpPr>
          <p:cNvPr id="20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8654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C14D81-D799-4CF1-80FC-FA801A29DB3A}" type="slidenum">
              <a:rPr lang="en-US"/>
              <a:pPr/>
              <a:t>22</a:t>
            </a:fld>
            <a:endParaRPr lang="en-US"/>
          </a:p>
        </p:txBody>
      </p:sp>
      <p:sp>
        <p:nvSpPr>
          <p:cNvPr id="20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248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94A279-2CFC-42E7-B264-814B65AE43D4}" type="slidenum">
              <a:rPr lang="en-US"/>
              <a:pPr/>
              <a:t>23</a:t>
            </a:fld>
            <a:endParaRPr lang="en-US"/>
          </a:p>
        </p:txBody>
      </p:sp>
      <p:sp>
        <p:nvSpPr>
          <p:cNvPr id="21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572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D3D508-DEE3-4B48-8B21-E612AFF5B608}" type="slidenum">
              <a:rPr lang="en-US"/>
              <a:pPr/>
              <a:t>25</a:t>
            </a:fld>
            <a:endParaRPr lang="en-US"/>
          </a:p>
        </p:txBody>
      </p:sp>
      <p:sp>
        <p:nvSpPr>
          <p:cNvPr id="21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646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B94508-F7E1-47A8-A3D4-38299D702657}" type="slidenum">
              <a:rPr lang="en-US"/>
              <a:pPr/>
              <a:t>26</a:t>
            </a:fld>
            <a:endParaRPr lang="en-US"/>
          </a:p>
        </p:txBody>
      </p:sp>
      <p:sp>
        <p:nvSpPr>
          <p:cNvPr id="21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918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45F0F2-A68C-4D6C-83C7-25655A43559B}" type="slidenum">
              <a:rPr lang="en-US"/>
              <a:pPr/>
              <a:t>27</a:t>
            </a:fld>
            <a:endParaRPr lang="en-US"/>
          </a:p>
        </p:txBody>
      </p:sp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5471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137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C2510-E658-4176-9BC5-3335DBD0E44C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118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C2510-E658-4176-9BC5-3335DBD0E44C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73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0D7EEC-0E4C-4CB8-99FF-E1DCDDDFF694}" type="slidenum">
              <a:rPr lang="en-US"/>
              <a:pPr/>
              <a:t>33</a:t>
            </a:fld>
            <a:endParaRPr lang="en-US"/>
          </a:p>
        </p:txBody>
      </p:sp>
      <p:sp>
        <p:nvSpPr>
          <p:cNvPr id="216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2282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483057-5BFD-4E3C-AAB5-9166BAE2A395}" type="slidenum">
              <a:rPr lang="en-US"/>
              <a:pPr/>
              <a:t>34</a:t>
            </a:fld>
            <a:endParaRPr lang="en-US"/>
          </a:p>
        </p:txBody>
      </p:sp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720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483057-5BFD-4E3C-AAB5-9166BAE2A395}" type="slidenum">
              <a:rPr lang="en-US"/>
              <a:pPr/>
              <a:t>35</a:t>
            </a:fld>
            <a:endParaRPr lang="en-US"/>
          </a:p>
        </p:txBody>
      </p:sp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88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483057-5BFD-4E3C-AAB5-9166BAE2A395}" type="slidenum">
              <a:rPr lang="en-US"/>
              <a:pPr/>
              <a:t>36</a:t>
            </a:fld>
            <a:endParaRPr lang="en-US"/>
          </a:p>
        </p:txBody>
      </p:sp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47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C6E57F-65A4-4DD4-8906-AF6578A64FB2}" type="slidenum">
              <a:rPr lang="en-US"/>
              <a:pPr/>
              <a:t>37</a:t>
            </a:fld>
            <a:endParaRPr lang="en-US"/>
          </a:p>
        </p:txBody>
      </p:sp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0142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8B04EB-C411-4BE9-9006-6E38C7683AC5}" type="slidenum">
              <a:rPr lang="en-US"/>
              <a:pPr/>
              <a:t>38</a:t>
            </a:fld>
            <a:endParaRPr lang="en-US"/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338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8B04EB-C411-4BE9-9006-6E38C7683AC5}" type="slidenum">
              <a:rPr lang="en-US"/>
              <a:pPr/>
              <a:t>39</a:t>
            </a:fld>
            <a:endParaRPr lang="en-US"/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242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277D02-60D4-44C0-9B82-A856D999DC77}" type="slidenum">
              <a:rPr lang="en-US"/>
              <a:pPr/>
              <a:t>40</a:t>
            </a:fld>
            <a:endParaRPr lang="en-US"/>
          </a:p>
        </p:txBody>
      </p:sp>
      <p:sp>
        <p:nvSpPr>
          <p:cNvPr id="222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727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36E8EA-D698-45F0-91E7-0B4FE51C20DA}" type="slidenum">
              <a:rPr lang="en-US"/>
              <a:pPr/>
              <a:t>44</a:t>
            </a:fld>
            <a:endParaRPr lang="en-US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772" y="4343401"/>
            <a:ext cx="5030456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31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C6E57F-65A4-4DD4-8906-AF6578A64FB2}" type="slidenum">
              <a:rPr lang="en-US"/>
              <a:pPr/>
              <a:t>45</a:t>
            </a:fld>
            <a:endParaRPr lang="en-US"/>
          </a:p>
        </p:txBody>
      </p:sp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5944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C2510-E658-4176-9BC5-3335DBD0E44C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0934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952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Simplfy</a:t>
            </a:r>
            <a:r>
              <a:rPr lang="en-US" dirty="0">
                <a:ea typeface="Calibri"/>
                <a:cs typeface="Calibri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FC2BF-AFBC-2D4F-9C77-81B715142B3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7903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A: max(lambda</a:t>
            </a:r>
            <a:r>
              <a:rPr lang="en-US" baseline="0" dirty="0"/>
              <a:t>(x) </a:t>
            </a:r>
            <a:r>
              <a:rPr lang="mr-IN" baseline="0" dirty="0"/>
              <a:t>–</a:t>
            </a:r>
            <a:r>
              <a:rPr lang="en-US" baseline="0" dirty="0"/>
              <a:t> lambda(y), 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FC2BF-AFBC-2D4F-9C77-81B715142B3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523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9D0B4B-A99C-4EA3-BB61-D5CE1032B3EB}" type="slidenum">
              <a:rPr lang="en-US"/>
              <a:pPr/>
              <a:t>63</a:t>
            </a:fld>
            <a:endParaRPr lang="en-US"/>
          </a:p>
        </p:txBody>
      </p:sp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56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2BF1F8-ED5A-425B-853D-68E023615F06}" type="slidenum">
              <a:rPr lang="en-US"/>
              <a:pPr/>
              <a:t>64</a:t>
            </a:fld>
            <a:endParaRPr lang="en-US"/>
          </a:p>
        </p:txBody>
      </p:sp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3111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2BF1F8-ED5A-425B-853D-68E023615F06}" type="slidenum">
              <a:rPr lang="en-US"/>
              <a:pPr/>
              <a:t>66</a:t>
            </a:fld>
            <a:endParaRPr lang="en-US"/>
          </a:p>
        </p:txBody>
      </p:sp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7755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E6A1E7-D163-48F1-B323-726834F1BCA6}" type="slidenum">
              <a:rPr lang="en-US"/>
              <a:pPr/>
              <a:t>67</a:t>
            </a:fld>
            <a:endParaRPr lang="en-US"/>
          </a:p>
        </p:txBody>
      </p:sp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34320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E6A1E7-D163-48F1-B323-726834F1BCA6}" type="slidenum">
              <a:rPr lang="en-US"/>
              <a:pPr/>
              <a:t>68</a:t>
            </a:fld>
            <a:endParaRPr lang="en-US"/>
          </a:p>
        </p:txBody>
      </p:sp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8206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0D662C-68B4-41D2-B634-ACFA1283DC81}" type="slidenum">
              <a:rPr lang="en-US"/>
              <a:pPr/>
              <a:t>69</a:t>
            </a:fld>
            <a:endParaRPr lang="en-US"/>
          </a:p>
        </p:txBody>
      </p:sp>
      <p:sp>
        <p:nvSpPr>
          <p:cNvPr id="24473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3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4998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0D662C-68B4-41D2-B634-ACFA1283DC81}" type="slidenum">
              <a:rPr lang="en-US"/>
              <a:pPr/>
              <a:t>70</a:t>
            </a:fld>
            <a:endParaRPr lang="en-US"/>
          </a:p>
        </p:txBody>
      </p:sp>
      <p:sp>
        <p:nvSpPr>
          <p:cNvPr id="24473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3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8999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E48071-1762-407E-992A-3F778AEF61A8}" type="slidenum">
              <a:rPr lang="en-US"/>
              <a:pPr/>
              <a:t>71</a:t>
            </a:fld>
            <a:endParaRPr lang="en-US"/>
          </a:p>
        </p:txBody>
      </p:sp>
      <p:sp>
        <p:nvSpPr>
          <p:cNvPr id="22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7611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0F093F-2565-4BC4-88E5-437546BE3F98}" type="slidenum">
              <a:rPr lang="en-US"/>
              <a:pPr/>
              <a:t>73</a:t>
            </a:fld>
            <a:endParaRPr lang="en-US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1861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012AF0-E292-4706-98CF-7E02414A8168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02859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6493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C0E02B-ACB9-47AA-97EC-D40AD3B49C47}" type="slidenum">
              <a:rPr lang="en-US"/>
              <a:pPr/>
              <a:t>78</a:t>
            </a:fld>
            <a:endParaRPr lang="en-US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13073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6EA1FD-D7DE-487C-A13B-48CB7B3FCB1B}" type="slidenum">
              <a:rPr lang="en-US"/>
              <a:pPr/>
              <a:t>79</a:t>
            </a:fld>
            <a:endParaRPr lang="en-US"/>
          </a:p>
        </p:txBody>
      </p:sp>
      <p:sp>
        <p:nvSpPr>
          <p:cNvPr id="23142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84594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9AD5BE-2861-4996-A59C-547EA546E5CC}" type="slidenum">
              <a:rPr lang="en-US"/>
              <a:pPr/>
              <a:t>80</a:t>
            </a:fld>
            <a:endParaRPr lang="en-US"/>
          </a:p>
        </p:txBody>
      </p:sp>
      <p:sp>
        <p:nvSpPr>
          <p:cNvPr id="23245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56841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6C2B3F-2EE9-48CD-B642-AB6348E9EFC4}" type="slidenum">
              <a:rPr lang="en-US"/>
              <a:pPr/>
              <a:t>81</a:t>
            </a:fld>
            <a:endParaRPr lang="en-US"/>
          </a:p>
        </p:txBody>
      </p:sp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60261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0CD93C-A1AB-4F9D-A73F-E272AA11FBB9}" type="slidenum">
              <a:rPr lang="en-US"/>
              <a:pPr/>
              <a:t>82</a:t>
            </a:fld>
            <a:endParaRPr lang="en-US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2075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587893-6C22-4EAA-8362-768E961E3E74}" type="slidenum">
              <a:rPr lang="en-US"/>
              <a:pPr/>
              <a:t>83</a:t>
            </a:fld>
            <a:endParaRPr lang="en-US"/>
          </a:p>
        </p:txBody>
      </p:sp>
      <p:sp>
        <p:nvSpPr>
          <p:cNvPr id="23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3077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1AD065-7167-487D-84C4-7B47B901E43C}" type="slidenum">
              <a:rPr lang="en-US"/>
              <a:pPr/>
              <a:t>84</a:t>
            </a:fld>
            <a:endParaRPr lang="en-US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87600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1AD065-7167-487D-84C4-7B47B901E43C}" type="slidenum">
              <a:rPr lang="en-US"/>
              <a:pPr/>
              <a:t>85</a:t>
            </a:fld>
            <a:endParaRPr lang="en-US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3371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1AD065-7167-487D-84C4-7B47B901E43C}" type="slidenum">
              <a:rPr lang="en-US"/>
              <a:pPr/>
              <a:t>86</a:t>
            </a:fld>
            <a:endParaRPr lang="en-US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3501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3EDB32-9059-411C-B470-4F17C612DB19}" type="slidenum">
              <a:rPr lang="en-US"/>
              <a:pPr/>
              <a:t>87</a:t>
            </a:fld>
            <a:endParaRPr lang="en-US"/>
          </a:p>
        </p:txBody>
      </p:sp>
      <p:sp>
        <p:nvSpPr>
          <p:cNvPr id="23859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27897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732A3D-8256-43D1-9D37-64AE574CDA46}" type="slidenum">
              <a:rPr lang="en-US"/>
              <a:pPr/>
              <a:t>88</a:t>
            </a:fld>
            <a:endParaRPr lang="en-US"/>
          </a:p>
        </p:txBody>
      </p:sp>
      <p:sp>
        <p:nvSpPr>
          <p:cNvPr id="240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5167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D73612-B2B7-415B-BD0B-C3DDB45ED59C}" type="slidenum">
              <a:rPr lang="en-US"/>
              <a:pPr/>
              <a:t>90</a:t>
            </a:fld>
            <a:endParaRPr lang="en-US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3547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D73612-B2B7-415B-BD0B-C3DDB45ED59C}" type="slidenum">
              <a:rPr lang="en-US"/>
              <a:pPr/>
              <a:t>91</a:t>
            </a:fld>
            <a:endParaRPr lang="en-US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1252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7E0670-3023-4BB7-A747-16ED1710E089}" type="slidenum">
              <a:rPr lang="en-US"/>
              <a:pPr/>
              <a:t>92</a:t>
            </a:fld>
            <a:endParaRPr lang="en-US"/>
          </a:p>
        </p:txBody>
      </p:sp>
      <p:sp>
        <p:nvSpPr>
          <p:cNvPr id="248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3351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EAE8DC-4C15-40A1-B210-B3F44905FF19}" type="slidenum">
              <a:rPr lang="en-US"/>
              <a:pPr/>
              <a:t>93</a:t>
            </a:fld>
            <a:endParaRPr lang="en-US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25898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EAE8DC-4C15-40A1-B210-B3F44905FF19}" type="slidenum">
              <a:rPr lang="en-US"/>
              <a:pPr/>
              <a:t>94</a:t>
            </a:fld>
            <a:endParaRPr lang="en-US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3707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500832-FEF8-4A35-B001-DD1AC04483DC}" type="slidenum">
              <a:rPr lang="en-US"/>
              <a:pPr/>
              <a:t>97</a:t>
            </a:fld>
            <a:endParaRPr lang="en-US"/>
          </a:p>
        </p:txBody>
      </p:sp>
      <p:sp>
        <p:nvSpPr>
          <p:cNvPr id="245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03221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500832-FEF8-4A35-B001-DD1AC04483DC}" type="slidenum">
              <a:rPr lang="en-US"/>
              <a:pPr/>
              <a:t>98</a:t>
            </a:fld>
            <a:endParaRPr lang="en-US"/>
          </a:p>
        </p:txBody>
      </p:sp>
      <p:sp>
        <p:nvSpPr>
          <p:cNvPr id="245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4872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9CCDD6-DCF9-4647-ACD1-A06B9FB769C1}" type="slidenum">
              <a:rPr lang="en-US"/>
              <a:pPr/>
              <a:t>99</a:t>
            </a:fld>
            <a:endParaRPr lang="en-US"/>
          </a:p>
        </p:txBody>
      </p:sp>
      <p:sp>
        <p:nvSpPr>
          <p:cNvPr id="275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4487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ECF976-0675-4E93-82D8-8266C63D9B50}" type="slidenum">
              <a:rPr lang="en-US"/>
              <a:pPr/>
              <a:t>100</a:t>
            </a:fld>
            <a:endParaRPr lang="en-US"/>
          </a:p>
        </p:txBody>
      </p:sp>
      <p:sp>
        <p:nvSpPr>
          <p:cNvPr id="276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138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BAA930-C99C-46CF-B550-963ADE7193B2}" type="slidenum">
              <a:rPr lang="en-US"/>
              <a:pPr/>
              <a:t>101</a:t>
            </a:fld>
            <a:endParaRPr lang="en-US"/>
          </a:p>
        </p:txBody>
      </p:sp>
      <p:sp>
        <p:nvSpPr>
          <p:cNvPr id="277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70074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2E86E1-9278-48F6-96C9-0626624145BD}" type="slidenum">
              <a:rPr lang="en-US"/>
              <a:pPr/>
              <a:t>102</a:t>
            </a:fld>
            <a:endParaRPr lang="en-US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1862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6D348A-7BFC-4920-8A9D-54488F67B281}" type="slidenum">
              <a:rPr lang="en-US"/>
              <a:pPr/>
              <a:t>103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0635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7C69EB-C3EE-4167-9D19-2D3B25BCB404}" type="slidenum">
              <a:rPr lang="en-US"/>
              <a:pPr/>
              <a:t>104</a:t>
            </a:fld>
            <a:endParaRPr lang="en-US"/>
          </a:p>
        </p:txBody>
      </p:sp>
      <p:sp>
        <p:nvSpPr>
          <p:cNvPr id="28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9411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7C69EB-C3EE-4167-9D19-2D3B25BCB404}" type="slidenum">
              <a:rPr lang="en-US"/>
              <a:pPr/>
              <a:t>105</a:t>
            </a:fld>
            <a:endParaRPr lang="en-US"/>
          </a:p>
        </p:txBody>
      </p:sp>
      <p:sp>
        <p:nvSpPr>
          <p:cNvPr id="28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272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0A1A98-B9CB-4B22-9355-B7137C3D055D}" type="slidenum">
              <a:rPr lang="en-US"/>
              <a:pPr/>
              <a:t>106</a:t>
            </a:fld>
            <a:endParaRPr lang="en-US"/>
          </a:p>
        </p:txBody>
      </p:sp>
      <p:sp>
        <p:nvSpPr>
          <p:cNvPr id="281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1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6177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BDD09C-D1BD-4088-978B-E55F385BC749}" type="slidenum">
              <a:rPr lang="en-US"/>
              <a:pPr/>
              <a:t>107</a:t>
            </a:fld>
            <a:endParaRPr lang="en-US"/>
          </a:p>
        </p:txBody>
      </p:sp>
      <p:sp>
        <p:nvSpPr>
          <p:cNvPr id="28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6026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BDD09C-D1BD-4088-978B-E55F385BC749}" type="slidenum">
              <a:rPr lang="en-US"/>
              <a:pPr/>
              <a:t>108</a:t>
            </a:fld>
            <a:endParaRPr lang="en-US"/>
          </a:p>
        </p:txBody>
      </p:sp>
      <p:sp>
        <p:nvSpPr>
          <p:cNvPr id="28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3337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F73A19-C203-4DC6-9465-F3C0E7BBC946}" type="slidenum">
              <a:rPr lang="en-US"/>
              <a:pPr/>
              <a:t>109</a:t>
            </a:fld>
            <a:endParaRPr lang="en-US"/>
          </a:p>
        </p:txBody>
      </p:sp>
      <p:sp>
        <p:nvSpPr>
          <p:cNvPr id="285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5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4089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8C454F-492C-4C0C-A74B-2C04BB4152E4}" type="slidenum">
              <a:rPr lang="en-US"/>
              <a:pPr/>
              <a:t>111</a:t>
            </a:fld>
            <a:endParaRPr lang="en-US"/>
          </a:p>
        </p:txBody>
      </p:sp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944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8C454F-492C-4C0C-A74B-2C04BB4152E4}" type="slidenum">
              <a:rPr lang="en-US"/>
              <a:pPr/>
              <a:t>112</a:t>
            </a:fld>
            <a:endParaRPr lang="en-US"/>
          </a:p>
        </p:txBody>
      </p:sp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2468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8C454F-492C-4C0C-A74B-2C04BB4152E4}" type="slidenum">
              <a:rPr lang="en-US"/>
              <a:pPr/>
              <a:t>113</a:t>
            </a:fld>
            <a:endParaRPr lang="en-US"/>
          </a:p>
        </p:txBody>
      </p:sp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0140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8C454F-492C-4C0C-A74B-2C04BB4152E4}" type="slidenum">
              <a:rPr lang="en-US"/>
              <a:pPr/>
              <a:t>114</a:t>
            </a:fld>
            <a:endParaRPr lang="en-US"/>
          </a:p>
        </p:txBody>
      </p:sp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99529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8C454F-492C-4C0C-A74B-2C04BB4152E4}" type="slidenum">
              <a:rPr lang="en-US"/>
              <a:pPr/>
              <a:t>115</a:t>
            </a:fld>
            <a:endParaRPr lang="en-US"/>
          </a:p>
        </p:txBody>
      </p:sp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30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4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432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03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98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88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81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02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515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550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90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707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2FFB4CD0-E1CF-4347-8A81-77586409F32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459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D90B07-AD28-5747-9B73-288F5357B022}"/>
              </a:ext>
            </a:extLst>
          </p:cNvPr>
          <p:cNvSpPr/>
          <p:nvPr userDrawn="1"/>
        </p:nvSpPr>
        <p:spPr>
          <a:xfrm>
            <a:off x="0" y="-49167"/>
            <a:ext cx="12192000" cy="26275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Spring 2026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FE4DAA-039B-ED4A-AA72-44818C475C0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1900"/>
            <a:ext cx="866825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82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60.png"/><Relationship Id="rId4" Type="http://schemas.openxmlformats.org/officeDocument/2006/relationships/image" Target="../media/image11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00095"/>
            <a:ext cx="9144000" cy="2387600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Introduction to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00095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SQL Part I</a:t>
            </a:r>
          </a:p>
        </p:txBody>
      </p:sp>
    </p:spTree>
    <p:extLst>
      <p:ext uri="{BB962C8B-B14F-4D97-AF65-F5344CB8AC3E}">
        <p14:creationId xmlns:p14="http://schemas.microsoft.com/office/powerpoint/2010/main" val="1470253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SQL Introduction &amp; Definitions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01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3048000"/>
            <a:ext cx="7772400" cy="1143000"/>
          </a:xfrm>
        </p:spPr>
        <p:txBody>
          <a:bodyPr>
            <a:normAutofit/>
          </a:bodyPr>
          <a:lstStyle/>
          <a:p>
            <a:r>
              <a:rPr lang="en-US" dirty="0"/>
              <a:t>Basic SQL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444B9-D1EF-4D11-A3FF-47B6DD513258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295965" cy="3660775"/>
          </a:xfrm>
        </p:spPr>
        <p:txBody>
          <a:bodyPr>
            <a:normAutofit lnSpcReduction="10000"/>
          </a:bodyPr>
          <a:lstStyle/>
          <a:p>
            <a:pPr eaLnBrk="0" hangingPunct="0"/>
            <a:r>
              <a:rPr lang="en-US" dirty="0"/>
              <a:t>SQL is a standard language for querying and manipulating data</a:t>
            </a:r>
          </a:p>
          <a:p>
            <a:pPr eaLnBrk="0" hangingPunct="0"/>
            <a:endParaRPr lang="en-US" dirty="0"/>
          </a:p>
          <a:p>
            <a:pPr eaLnBrk="0" hangingPunct="0"/>
            <a:r>
              <a:rPr lang="en-US" dirty="0"/>
              <a:t>SQL is a </a:t>
            </a:r>
            <a:r>
              <a:rPr lang="en-US" b="1" dirty="0"/>
              <a:t>very high-level </a:t>
            </a:r>
            <a:r>
              <a:rPr lang="en-US" dirty="0"/>
              <a:t>programming language</a:t>
            </a:r>
          </a:p>
          <a:p>
            <a:pPr lvl="1" eaLnBrk="0" hangingPunct="0"/>
            <a:r>
              <a:rPr lang="en-US" dirty="0"/>
              <a:t>This works because it is optimized well!</a:t>
            </a:r>
          </a:p>
          <a:p>
            <a:pPr eaLnBrk="0" hangingPunct="0"/>
            <a:endParaRPr lang="en-US" dirty="0"/>
          </a:p>
          <a:p>
            <a:pPr eaLnBrk="0" hangingPunct="0"/>
            <a:r>
              <a:rPr lang="en-US" dirty="0"/>
              <a:t>Many standards out there: </a:t>
            </a:r>
          </a:p>
          <a:p>
            <a:pPr lvl="1" eaLnBrk="0" hangingPunct="0"/>
            <a:r>
              <a:rPr lang="en-US" dirty="0"/>
              <a:t>ANSI SQL,  SQL92 (a.k.a. SQL2),  SQL99 (a.k.a. SQL3), ….</a:t>
            </a:r>
          </a:p>
          <a:p>
            <a:pPr lvl="1" eaLnBrk="0" hangingPunct="0"/>
            <a:r>
              <a:rPr lang="en-US" dirty="0"/>
              <a:t>Vendors support various subsets</a:t>
            </a:r>
          </a:p>
          <a:p>
            <a:pPr lvl="1" eaLnBrk="0" hangingPunct="0"/>
            <a:endParaRPr lang="en-US" dirty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766047" y="5699909"/>
            <a:ext cx="8659906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latin typeface="+mj-lt"/>
              </a:rPr>
              <a:t>NB</a:t>
            </a:r>
            <a:r>
              <a:rPr lang="en-US" sz="2800" dirty="0">
                <a:latin typeface="+mj-lt"/>
              </a:rPr>
              <a:t>: Probably the world’s most successful </a:t>
            </a:r>
            <a:r>
              <a:rPr lang="en-US" sz="2800" b="1" dirty="0">
                <a:latin typeface="+mj-lt"/>
              </a:rPr>
              <a:t>parallel</a:t>
            </a:r>
            <a:r>
              <a:rPr lang="en-US" sz="2800" dirty="0">
                <a:latin typeface="+mj-lt"/>
              </a:rPr>
              <a:t> programming language (</a:t>
            </a:r>
            <a:r>
              <a:rPr lang="en-US" sz="2800" dirty="0" err="1">
                <a:latin typeface="+mj-lt"/>
              </a:rPr>
              <a:t>multicore</a:t>
            </a:r>
            <a:r>
              <a:rPr lang="en-US" sz="2800" dirty="0">
                <a:latin typeface="+mj-lt"/>
              </a:rPr>
              <a:t>?)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5447" y="2457637"/>
            <a:ext cx="3572966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400" b="1" u="sng" dirty="0">
                <a:latin typeface="+mj-lt"/>
              </a:rPr>
              <a:t>SQL</a:t>
            </a:r>
            <a:r>
              <a:rPr lang="en-US" sz="2400" dirty="0">
                <a:latin typeface="+mj-lt"/>
              </a:rPr>
              <a:t> stands for</a:t>
            </a:r>
          </a:p>
          <a:p>
            <a:r>
              <a:rPr lang="en-US" sz="2400" b="1" u="sng" dirty="0">
                <a:latin typeface="+mj-lt"/>
              </a:rPr>
              <a:t>S</a:t>
            </a:r>
            <a:r>
              <a:rPr lang="en-US" sz="2400" dirty="0">
                <a:latin typeface="+mj-lt"/>
              </a:rPr>
              <a:t>tructured </a:t>
            </a:r>
            <a:r>
              <a:rPr lang="en-US" sz="2400" b="1" u="sng" dirty="0">
                <a:latin typeface="+mj-lt"/>
              </a:rPr>
              <a:t>Q</a:t>
            </a:r>
            <a:r>
              <a:rPr lang="en-US" sz="2400" dirty="0">
                <a:latin typeface="+mj-lt"/>
              </a:rPr>
              <a:t>uery </a:t>
            </a:r>
            <a:r>
              <a:rPr lang="en-US" sz="2400" b="1" u="sng" dirty="0">
                <a:latin typeface="+mj-lt"/>
              </a:rPr>
              <a:t>L</a:t>
            </a:r>
            <a:r>
              <a:rPr lang="en-US" sz="2400" dirty="0">
                <a:latin typeface="+mj-lt"/>
              </a:rPr>
              <a:t>anguage</a:t>
            </a:r>
          </a:p>
        </p:txBody>
      </p:sp>
    </p:spTree>
    <p:extLst>
      <p:ext uri="{BB962C8B-B14F-4D97-AF65-F5344CB8AC3E}">
        <p14:creationId xmlns:p14="http://schemas.microsoft.com/office/powerpoint/2010/main" val="158202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is a…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Definition Language (DDL)</a:t>
            </a:r>
          </a:p>
          <a:p>
            <a:pPr lvl="1"/>
            <a:r>
              <a:rPr lang="en-US" dirty="0"/>
              <a:t>Define relational </a:t>
            </a:r>
            <a:r>
              <a:rPr lang="en-US" i="1" dirty="0"/>
              <a:t>schemata</a:t>
            </a:r>
            <a:endParaRPr lang="en-US" dirty="0"/>
          </a:p>
          <a:p>
            <a:pPr lvl="1"/>
            <a:r>
              <a:rPr lang="en-US" dirty="0"/>
              <a:t>Create/alter/delete tables and their attributes</a:t>
            </a:r>
          </a:p>
          <a:p>
            <a:endParaRPr lang="en-US" dirty="0"/>
          </a:p>
          <a:p>
            <a:r>
              <a:rPr lang="en-US" dirty="0"/>
              <a:t>Data Manipulation Language (DML)</a:t>
            </a:r>
          </a:p>
          <a:p>
            <a:pPr lvl="1"/>
            <a:r>
              <a:rPr lang="en-US" dirty="0"/>
              <a:t>Insert/delete/modify tuples in tables</a:t>
            </a:r>
          </a:p>
          <a:p>
            <a:pPr lvl="1"/>
            <a:r>
              <a:rPr lang="en-US" dirty="0"/>
              <a:t>Query one or more tables – discussed next!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547D-5CA1-48CC-BABC-156000CC738F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10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 in SQL</a:t>
            </a:r>
          </a:p>
        </p:txBody>
      </p:sp>
      <p:sp>
        <p:nvSpPr>
          <p:cNvPr id="4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CBCE-A4BA-4841-98AE-8E0EF7CDDA2A}" type="slidenum">
              <a:rPr lang="en-US"/>
              <a:pPr/>
              <a:t>7</a:t>
            </a:fld>
            <a:endParaRPr lang="en-US"/>
          </a:p>
        </p:txBody>
      </p:sp>
      <p:graphicFrame>
        <p:nvGraphicFramePr>
          <p:cNvPr id="141367" name="Group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618871"/>
              </p:ext>
            </p:extLst>
          </p:nvPr>
        </p:nvGraphicFramePr>
        <p:xfrm>
          <a:off x="2980764" y="2606348"/>
          <a:ext cx="4672854" cy="2436298"/>
        </p:xfrm>
        <a:graphic>
          <a:graphicData uri="http://schemas.openxmlformats.org/drawingml/2006/table">
            <a:tbl>
              <a:tblPr/>
              <a:tblGrid>
                <a:gridCol w="1557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7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3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Manufacturer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Powergizmo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$29.99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SingleTouch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$149.99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Canon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MultiTouch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$203.99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Hitachi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1368" name="Text Box 56"/>
          <p:cNvSpPr txBox="1">
            <a:spLocks noChangeArrowheads="1"/>
          </p:cNvSpPr>
          <p:nvPr/>
        </p:nvSpPr>
        <p:spPr bwMode="auto">
          <a:xfrm>
            <a:off x="2909046" y="2108779"/>
            <a:ext cx="11844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690688"/>
            <a:ext cx="3124200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A </a:t>
            </a:r>
            <a:r>
              <a:rPr lang="en-US" sz="2400" b="1" u="sng" dirty="0">
                <a:latin typeface="+mj-lt"/>
              </a:rPr>
              <a:t>relation</a:t>
            </a:r>
            <a:r>
              <a:rPr lang="en-US" sz="2400" dirty="0">
                <a:latin typeface="+mj-lt"/>
              </a:rPr>
              <a:t> or </a:t>
            </a:r>
            <a:r>
              <a:rPr lang="en-US" sz="2400" b="1" u="sng" dirty="0">
                <a:latin typeface="+mj-lt"/>
              </a:rPr>
              <a:t>table</a:t>
            </a:r>
            <a:r>
              <a:rPr lang="en-US" sz="2400" dirty="0">
                <a:latin typeface="+mj-lt"/>
              </a:rPr>
              <a:t> is a </a:t>
            </a:r>
            <a:r>
              <a:rPr lang="en-US" sz="2400" dirty="0" err="1">
                <a:latin typeface="+mj-lt"/>
              </a:rPr>
              <a:t>multiset</a:t>
            </a:r>
            <a:r>
              <a:rPr lang="en-US" sz="2400" dirty="0">
                <a:latin typeface="+mj-lt"/>
              </a:rPr>
              <a:t> of tuples having the attributes specified by the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797140"/>
            <a:ext cx="3545030" cy="962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Let’s break this definition down</a:t>
            </a:r>
          </a:p>
        </p:txBody>
      </p:sp>
    </p:spTree>
    <p:extLst>
      <p:ext uri="{BB962C8B-B14F-4D97-AF65-F5344CB8AC3E}">
        <p14:creationId xmlns:p14="http://schemas.microsoft.com/office/powerpoint/2010/main" val="18802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 in SQL</a:t>
            </a:r>
          </a:p>
        </p:txBody>
      </p:sp>
      <p:sp>
        <p:nvSpPr>
          <p:cNvPr id="4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CBCE-A4BA-4841-98AE-8E0EF7CDDA2A}" type="slidenum">
              <a:rPr lang="en-US"/>
              <a:pPr/>
              <a:t>8</a:t>
            </a:fld>
            <a:endParaRPr lang="en-US" dirty="0"/>
          </a:p>
        </p:txBody>
      </p:sp>
      <p:graphicFrame>
        <p:nvGraphicFramePr>
          <p:cNvPr id="141367" name="Group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618871"/>
              </p:ext>
            </p:extLst>
          </p:nvPr>
        </p:nvGraphicFramePr>
        <p:xfrm>
          <a:off x="2980764" y="2606348"/>
          <a:ext cx="4672854" cy="2436298"/>
        </p:xfrm>
        <a:graphic>
          <a:graphicData uri="http://schemas.openxmlformats.org/drawingml/2006/table">
            <a:tbl>
              <a:tblPr/>
              <a:tblGrid>
                <a:gridCol w="1557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7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3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Manufacturer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Powergizmo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$29.99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SingleTouch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$149.99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Canon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MultiTouch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$203.99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Hitachi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1368" name="Text Box 56"/>
          <p:cNvSpPr txBox="1">
            <a:spLocks noChangeArrowheads="1"/>
          </p:cNvSpPr>
          <p:nvPr/>
        </p:nvSpPr>
        <p:spPr bwMode="auto">
          <a:xfrm>
            <a:off x="2909046" y="2108779"/>
            <a:ext cx="11844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20100" y="1554781"/>
            <a:ext cx="3124200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A </a:t>
            </a:r>
            <a:r>
              <a:rPr lang="en-US" sz="2400" b="1" u="sng" dirty="0" err="1">
                <a:latin typeface="+mj-lt"/>
              </a:rPr>
              <a:t>multiset</a:t>
            </a:r>
            <a:r>
              <a:rPr lang="en-US" sz="2400" dirty="0">
                <a:latin typeface="+mj-lt"/>
              </a:rPr>
              <a:t> is an unordered list (or: a set with multiple duplicate instances allowed)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913317" y="3494668"/>
            <a:ext cx="21377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List:            [1, 1, 2, 3]</a:t>
            </a:r>
          </a:p>
          <a:p>
            <a:r>
              <a:rPr lang="en-US" dirty="0"/>
              <a:t>Set:            {1, 2, 3}</a:t>
            </a:r>
          </a:p>
          <a:p>
            <a:r>
              <a:rPr lang="en-US" dirty="0" err="1"/>
              <a:t>Multiset</a:t>
            </a:r>
            <a:r>
              <a:rPr lang="en-US" dirty="0"/>
              <a:t>:   {1, 1, 2, 3}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2844" y="4922597"/>
            <a:ext cx="277870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/>
              <a:t>i.e. no </a:t>
            </a:r>
            <a:r>
              <a:rPr lang="en-US" i="1" dirty="0"/>
              <a:t>next()</a:t>
            </a:r>
            <a:r>
              <a:rPr lang="en-US" dirty="0"/>
              <a:t>, etc. methods!</a:t>
            </a:r>
          </a:p>
        </p:txBody>
      </p:sp>
    </p:spTree>
    <p:extLst>
      <p:ext uri="{BB962C8B-B14F-4D97-AF65-F5344CB8AC3E}">
        <p14:creationId xmlns:p14="http://schemas.microsoft.com/office/powerpoint/2010/main" val="1080110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 in SQL</a:t>
            </a:r>
          </a:p>
        </p:txBody>
      </p:sp>
      <p:sp>
        <p:nvSpPr>
          <p:cNvPr id="4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CBCE-A4BA-4841-98AE-8E0EF7CDDA2A}" type="slidenum">
              <a:rPr lang="en-US"/>
              <a:pPr/>
              <a:t>9</a:t>
            </a:fld>
            <a:endParaRPr lang="en-US"/>
          </a:p>
        </p:txBody>
      </p:sp>
      <p:graphicFrame>
        <p:nvGraphicFramePr>
          <p:cNvPr id="141367" name="Group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618871"/>
              </p:ext>
            </p:extLst>
          </p:nvPr>
        </p:nvGraphicFramePr>
        <p:xfrm>
          <a:off x="2980764" y="2606348"/>
          <a:ext cx="4672854" cy="2436298"/>
        </p:xfrm>
        <a:graphic>
          <a:graphicData uri="http://schemas.openxmlformats.org/drawingml/2006/table">
            <a:tbl>
              <a:tblPr/>
              <a:tblGrid>
                <a:gridCol w="1557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7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3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Manufacturer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Powergizmo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$29.99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SingleTouch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$149.99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Canon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MultiTouch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$203.99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Hitachi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1368" name="Text Box 56"/>
          <p:cNvSpPr txBox="1">
            <a:spLocks noChangeArrowheads="1"/>
          </p:cNvSpPr>
          <p:nvPr/>
        </p:nvSpPr>
        <p:spPr bwMode="auto">
          <a:xfrm>
            <a:off x="2909046" y="2108779"/>
            <a:ext cx="11844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Product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5983941" y="2501154"/>
            <a:ext cx="1761565" cy="264907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073874" y="2108779"/>
            <a:ext cx="3279926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An </a:t>
            </a:r>
            <a:r>
              <a:rPr lang="en-US" sz="2400" b="1" u="sng" dirty="0">
                <a:latin typeface="+mj-lt"/>
              </a:rPr>
              <a:t>attribute</a:t>
            </a:r>
            <a:r>
              <a:rPr lang="en-US" sz="2400" dirty="0">
                <a:latin typeface="+mj-lt"/>
              </a:rPr>
              <a:t> (or </a:t>
            </a:r>
            <a:r>
              <a:rPr lang="en-US" sz="2400" b="1" u="sng" dirty="0">
                <a:latin typeface="+mj-lt"/>
              </a:rPr>
              <a:t>column</a:t>
            </a:r>
            <a:r>
              <a:rPr lang="en-US" sz="2400" dirty="0">
                <a:latin typeface="+mj-lt"/>
              </a:rPr>
              <a:t>) is a typed data entry present in each tuple in the relation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3874" y="4673314"/>
            <a:ext cx="3279926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i="1" dirty="0"/>
              <a:t>NB: Attributes must have an </a:t>
            </a:r>
            <a:r>
              <a:rPr lang="en-US" b="1" i="1" u="sng" dirty="0"/>
              <a:t>atomic</a:t>
            </a:r>
            <a:r>
              <a:rPr lang="en-US" i="1" dirty="0"/>
              <a:t> type in standard SQL, i.e. not a list, set, etc. </a:t>
            </a:r>
            <a:endParaRPr lang="en-US" b="1" i="1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 in SQL</a:t>
            </a:r>
          </a:p>
        </p:txBody>
      </p:sp>
      <p:sp>
        <p:nvSpPr>
          <p:cNvPr id="4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CBCE-A4BA-4841-98AE-8E0EF7CDDA2A}" type="slidenum">
              <a:rPr lang="en-US"/>
              <a:pPr/>
              <a:t>10</a:t>
            </a:fld>
            <a:endParaRPr lang="en-US"/>
          </a:p>
        </p:txBody>
      </p:sp>
      <p:graphicFrame>
        <p:nvGraphicFramePr>
          <p:cNvPr id="141367" name="Group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618871"/>
              </p:ext>
            </p:extLst>
          </p:nvPr>
        </p:nvGraphicFramePr>
        <p:xfrm>
          <a:off x="2980764" y="2606348"/>
          <a:ext cx="4672854" cy="2436298"/>
        </p:xfrm>
        <a:graphic>
          <a:graphicData uri="http://schemas.openxmlformats.org/drawingml/2006/table">
            <a:tbl>
              <a:tblPr/>
              <a:tblGrid>
                <a:gridCol w="1557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7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3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Manufacturer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Powergizmo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$29.99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SingleTouch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$149.99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Canon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MultiTouch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$203.99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Hitachi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1368" name="Text Box 56"/>
          <p:cNvSpPr txBox="1">
            <a:spLocks noChangeArrowheads="1"/>
          </p:cNvSpPr>
          <p:nvPr/>
        </p:nvSpPr>
        <p:spPr bwMode="auto">
          <a:xfrm>
            <a:off x="2909046" y="2108779"/>
            <a:ext cx="11844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Product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2895599" y="4464424"/>
            <a:ext cx="4849907" cy="65890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135470" y="4464424"/>
            <a:ext cx="3124200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A </a:t>
            </a:r>
            <a:r>
              <a:rPr lang="en-US" sz="2400" b="1" u="sng" dirty="0">
                <a:latin typeface="+mj-lt"/>
              </a:rPr>
              <a:t>tuple</a:t>
            </a:r>
            <a:r>
              <a:rPr lang="en-US" sz="2400" dirty="0">
                <a:latin typeface="+mj-lt"/>
              </a:rPr>
              <a:t> or </a:t>
            </a:r>
            <a:r>
              <a:rPr lang="en-US" sz="2400" b="1" u="sng" dirty="0">
                <a:latin typeface="+mj-lt"/>
              </a:rPr>
              <a:t>row</a:t>
            </a:r>
            <a:r>
              <a:rPr lang="en-US" sz="2400" dirty="0">
                <a:latin typeface="+mj-lt"/>
              </a:rPr>
              <a:t> is a single entry in the table having the attributes specified by the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1259" y="5664752"/>
            <a:ext cx="379642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i="1" dirty="0"/>
              <a:t>Also referred to sometimes as a </a:t>
            </a:r>
            <a:r>
              <a:rPr lang="en-US" b="1" i="1" u="sng" dirty="0"/>
              <a:t>record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5268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 in SQL</a:t>
            </a:r>
          </a:p>
        </p:txBody>
      </p:sp>
      <p:sp>
        <p:nvSpPr>
          <p:cNvPr id="4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ECBCE-A4BA-4841-98AE-8E0EF7CDDA2A}" type="slidenum">
              <a:rPr lang="en-US"/>
              <a:pPr/>
              <a:t>11</a:t>
            </a:fld>
            <a:endParaRPr lang="en-US"/>
          </a:p>
        </p:txBody>
      </p:sp>
      <p:graphicFrame>
        <p:nvGraphicFramePr>
          <p:cNvPr id="141367" name="Group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109520"/>
              </p:ext>
            </p:extLst>
          </p:nvPr>
        </p:nvGraphicFramePr>
        <p:xfrm>
          <a:off x="2724184" y="2349788"/>
          <a:ext cx="4672854" cy="2436298"/>
        </p:xfrm>
        <a:graphic>
          <a:graphicData uri="http://schemas.openxmlformats.org/drawingml/2006/table">
            <a:tbl>
              <a:tblPr/>
              <a:tblGrid>
                <a:gridCol w="1557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7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3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Manufacturer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Powergizmo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$29.99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SingleTouch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$149.99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Canon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MultiTouch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$203.99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Hitachi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1368" name="Text Box 56"/>
          <p:cNvSpPr txBox="1">
            <a:spLocks noChangeArrowheads="1"/>
          </p:cNvSpPr>
          <p:nvPr/>
        </p:nvSpPr>
        <p:spPr bwMode="auto">
          <a:xfrm>
            <a:off x="2652466" y="1852219"/>
            <a:ext cx="11844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Product</a:t>
            </a:r>
          </a:p>
        </p:txBody>
      </p:sp>
      <p:sp>
        <p:nvSpPr>
          <p:cNvPr id="6" name="Right Brace 5"/>
          <p:cNvSpPr/>
          <p:nvPr/>
        </p:nvSpPr>
        <p:spPr>
          <a:xfrm>
            <a:off x="7553143" y="2274461"/>
            <a:ext cx="363893" cy="25869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354020" y="3106272"/>
            <a:ext cx="238086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The number of tuples is the </a:t>
            </a:r>
            <a:r>
              <a:rPr lang="en-US" b="1" u="sng" dirty="0">
                <a:latin typeface="+mj-lt"/>
              </a:rPr>
              <a:t>cardinality</a:t>
            </a:r>
            <a:r>
              <a:rPr lang="en-US" dirty="0">
                <a:latin typeface="+mj-lt"/>
              </a:rPr>
              <a:t> of the relation</a:t>
            </a:r>
          </a:p>
        </p:txBody>
      </p:sp>
      <p:sp>
        <p:nvSpPr>
          <p:cNvPr id="15" name="Right Brace 14"/>
          <p:cNvSpPr/>
          <p:nvPr/>
        </p:nvSpPr>
        <p:spPr>
          <a:xfrm rot="5400000">
            <a:off x="4842805" y="2828511"/>
            <a:ext cx="363893" cy="474457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3870181" y="5541585"/>
            <a:ext cx="238086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The number of attributes is the </a:t>
            </a:r>
            <a:r>
              <a:rPr lang="en-US" b="1" u="sng" dirty="0">
                <a:latin typeface="+mj-lt"/>
              </a:rPr>
              <a:t>arity</a:t>
            </a:r>
            <a:r>
              <a:rPr lang="en-US" b="1" dirty="0">
                <a:latin typeface="+mj-lt"/>
              </a:rPr>
              <a:t> </a:t>
            </a:r>
            <a:r>
              <a:rPr lang="en-US" dirty="0">
                <a:latin typeface="+mj-lt"/>
              </a:rPr>
              <a:t>of the relation</a:t>
            </a:r>
          </a:p>
        </p:txBody>
      </p:sp>
    </p:spTree>
    <p:extLst>
      <p:ext uri="{BB962C8B-B14F-4D97-AF65-F5344CB8AC3E}">
        <p14:creationId xmlns:p14="http://schemas.microsoft.com/office/powerpoint/2010/main" val="1338158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Types in SQL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Atomic types: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Characters: CHAR(20), VARCHAR(50)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Numbers: INT, BIGINT, SMALLINT, FLOAT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Others: MONEY, DATETIME, …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Every attribute must have an atomic type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Hence tables are flat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292A-D71F-4960-A670-1AD11466BC0F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407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Schemas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930373"/>
            <a:ext cx="10515600" cy="4114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The </a:t>
            </a:r>
            <a:r>
              <a:rPr lang="en-US" b="1" dirty="0"/>
              <a:t>schema</a:t>
            </a:r>
            <a:r>
              <a:rPr lang="en-US" dirty="0"/>
              <a:t> of a table is the table name, its attributes, and their types: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A </a:t>
            </a:r>
            <a:r>
              <a:rPr lang="en-US" b="1" dirty="0"/>
              <a:t>key</a:t>
            </a:r>
            <a:r>
              <a:rPr lang="en-US" dirty="0"/>
              <a:t> is an attribute whose values are unique; we underline a key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BD6C-6555-47FC-BB60-D2EFC8517D67}" type="slidenum">
              <a:rPr lang="en-US"/>
              <a:pPr/>
              <a:t>13</a:t>
            </a:fld>
            <a:endParaRPr lang="en-US"/>
          </a:p>
        </p:txBody>
      </p:sp>
      <p:sp>
        <p:nvSpPr>
          <p:cNvPr id="10" name="Rectangle 35"/>
          <p:cNvSpPr>
            <a:spLocks noChangeArrowheads="1"/>
          </p:cNvSpPr>
          <p:nvPr/>
        </p:nvSpPr>
        <p:spPr bwMode="auto">
          <a:xfrm>
            <a:off x="1207618" y="3119696"/>
            <a:ext cx="9279991" cy="75713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Product(</a:t>
            </a:r>
            <a:r>
              <a:rPr lang="en-US" sz="24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24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Price: </a:t>
            </a:r>
            <a:r>
              <a:rPr lang="en-US" sz="24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float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Category: </a:t>
            </a:r>
            <a:r>
              <a:rPr lang="en-US" sz="24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Manufacturer: </a:t>
            </a:r>
            <a:r>
              <a:rPr lang="en-US" sz="24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1207618" y="5181762"/>
            <a:ext cx="9279991" cy="75713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Product(</a:t>
            </a:r>
            <a:r>
              <a:rPr lang="en-US" sz="24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24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Price: </a:t>
            </a:r>
            <a:r>
              <a:rPr lang="en-US" sz="24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float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Category: </a:t>
            </a:r>
            <a:r>
              <a:rPr lang="en-US" sz="24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400" u="sng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Manufacturer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24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46649"/>
            <a:ext cx="10515600" cy="4911351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key is an implicit constraint on which tuples can be in the relation</a:t>
            </a:r>
          </a:p>
          <a:p>
            <a:pPr lvl="1"/>
            <a:endParaRPr lang="en-US" dirty="0"/>
          </a:p>
          <a:p>
            <a:pPr lvl="1"/>
            <a:r>
              <a:rPr lang="en-US" sz="2800" dirty="0"/>
              <a:t>i.e. if two tuples agree on the values of the key, then they must be the same tuple!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08694" y="5373505"/>
            <a:ext cx="4975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Which would you select as a key?</a:t>
            </a:r>
          </a:p>
          <a:p>
            <a:r>
              <a:rPr lang="en-US" sz="2400" dirty="0"/>
              <a:t>2. Is a key always guaranteed to exist?</a:t>
            </a:r>
          </a:p>
          <a:p>
            <a:r>
              <a:rPr lang="en-US" sz="2400" dirty="0"/>
              <a:t>3. Can we have more than one key?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880" y="1672031"/>
            <a:ext cx="7924800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A </a:t>
            </a:r>
            <a:r>
              <a:rPr lang="en-US" sz="2800" b="1" u="sng" dirty="0">
                <a:latin typeface="+mj-lt"/>
              </a:rPr>
              <a:t>key</a:t>
            </a:r>
            <a:r>
              <a:rPr lang="en-US" sz="2800" dirty="0">
                <a:latin typeface="+mj-lt"/>
              </a:rPr>
              <a:t> is a </a:t>
            </a:r>
            <a:r>
              <a:rPr lang="en-US" sz="2800" b="1" dirty="0">
                <a:latin typeface="+mj-lt"/>
              </a:rPr>
              <a:t>minimal subset of attributes</a:t>
            </a:r>
            <a:r>
              <a:rPr lang="en-US" sz="2800" dirty="0">
                <a:latin typeface="+mj-lt"/>
              </a:rPr>
              <a:t> that acts as a unique identifier for tuples in a relation</a:t>
            </a:r>
          </a:p>
        </p:txBody>
      </p:sp>
      <p:sp>
        <p:nvSpPr>
          <p:cNvPr id="13" name="Rectangle 35"/>
          <p:cNvSpPr>
            <a:spLocks noChangeArrowheads="1"/>
          </p:cNvSpPr>
          <p:nvPr/>
        </p:nvSpPr>
        <p:spPr bwMode="auto">
          <a:xfrm>
            <a:off x="4699280" y="4905927"/>
            <a:ext cx="7084826" cy="4001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Students(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sid:string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name:string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gpa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float)</a:t>
            </a:r>
          </a:p>
        </p:txBody>
      </p:sp>
    </p:spTree>
    <p:extLst>
      <p:ext uri="{BB962C8B-B14F-4D97-AF65-F5344CB8AC3E}">
        <p14:creationId xmlns:p14="http://schemas.microsoft.com/office/powerpoint/2010/main" val="64128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and NOT NULL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say “don’t know the value” we use 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NULL</a:t>
            </a:r>
          </a:p>
          <a:p>
            <a:pPr lvl="1"/>
            <a:r>
              <a:rPr lang="en-US" dirty="0"/>
              <a:t>NULL has (sometimes painful) semantics, more detail later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369435"/>
              </p:ext>
            </p:extLst>
          </p:nvPr>
        </p:nvGraphicFramePr>
        <p:xfrm>
          <a:off x="1905000" y="3820412"/>
          <a:ext cx="289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sid</a:t>
                      </a:r>
                      <a:endParaRPr 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name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gpa</a:t>
                      </a:r>
                      <a:endParaRPr 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143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Jim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NULL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109882" y="4736847"/>
            <a:ext cx="4881283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Say, Jim just enrolled in his first class.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7068" y="5943600"/>
            <a:ext cx="9924547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/>
              <a:t>In SQL, we may constrain a column to be NOT NULL, e.g., “name” in this table</a:t>
            </a:r>
          </a:p>
        </p:txBody>
      </p:sp>
      <p:sp>
        <p:nvSpPr>
          <p:cNvPr id="12" name="Rectangle 35"/>
          <p:cNvSpPr>
            <a:spLocks noChangeArrowheads="1"/>
          </p:cNvSpPr>
          <p:nvPr/>
        </p:nvSpPr>
        <p:spPr bwMode="auto">
          <a:xfrm>
            <a:off x="1905000" y="3053649"/>
            <a:ext cx="7084826" cy="4001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Students(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sid:string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name:string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gpa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float)</a:t>
            </a:r>
          </a:p>
        </p:txBody>
      </p:sp>
    </p:spTree>
    <p:extLst>
      <p:ext uri="{BB962C8B-B14F-4D97-AF65-F5344CB8AC3E}">
        <p14:creationId xmlns:p14="http://schemas.microsoft.com/office/powerpoint/2010/main" val="97979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actually specify arbitrary assertions</a:t>
            </a:r>
          </a:p>
          <a:p>
            <a:pPr lvl="1"/>
            <a:r>
              <a:rPr lang="en-US" dirty="0"/>
              <a:t>E.g. “</a:t>
            </a:r>
            <a:r>
              <a:rPr lang="en-US" i="1" dirty="0"/>
              <a:t>There cannot be 25 people in the DB class”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In practice, we don’t specify many such constraints. Why?</a:t>
            </a:r>
          </a:p>
          <a:p>
            <a:pPr lvl="1"/>
            <a:r>
              <a:rPr lang="en-US" sz="3200" u="sng" dirty="0"/>
              <a:t>Performance!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34353" y="5357793"/>
            <a:ext cx="9323294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Whenever we do something ugly (or avoid doing something convenient) it’s for the sake of performance</a:t>
            </a:r>
          </a:p>
        </p:txBody>
      </p:sp>
    </p:spTree>
    <p:extLst>
      <p:ext uri="{BB962C8B-B14F-4D97-AF65-F5344CB8AC3E}">
        <p14:creationId xmlns:p14="http://schemas.microsoft.com/office/powerpoint/2010/main" val="1770596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Schema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Schema and Constraints are how databases understand the semantics (meaning) of data</a:t>
            </a:r>
          </a:p>
          <a:p>
            <a:endParaRPr lang="en-US" dirty="0"/>
          </a:p>
          <a:p>
            <a:r>
              <a:rPr lang="en-US" dirty="0"/>
              <a:t>They are also useful for optimization</a:t>
            </a:r>
          </a:p>
          <a:p>
            <a:endParaRPr lang="en-US" dirty="0"/>
          </a:p>
          <a:p>
            <a:r>
              <a:rPr lang="en-US" dirty="0"/>
              <a:t>SQL supports general constraints: </a:t>
            </a:r>
          </a:p>
          <a:p>
            <a:pPr lvl="1"/>
            <a:r>
              <a:rPr lang="en-US" dirty="0"/>
              <a:t>Keys and foreign keys are most important</a:t>
            </a:r>
          </a:p>
          <a:p>
            <a:pPr lvl="1"/>
            <a:r>
              <a:rPr lang="en-US" dirty="0"/>
              <a:t>We’ll give you a chance to write the others</a:t>
            </a:r>
          </a:p>
        </p:txBody>
      </p:sp>
    </p:spTree>
    <p:extLst>
      <p:ext uri="{BB962C8B-B14F-4D97-AF65-F5344CB8AC3E}">
        <p14:creationId xmlns:p14="http://schemas.microsoft.com/office/powerpoint/2010/main" val="438342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Single-table queries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78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will learn about in this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7578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The SFW query</a:t>
            </a:r>
          </a:p>
          <a:p>
            <a:pPr marL="514350" indent="-514350">
              <a:buAutoNum type="arabicPeriod"/>
            </a:pPr>
            <a:endParaRPr lang="en-US" dirty="0">
              <a:latin typeface="+mj-lt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Other useful operators: LIKE, DISTINCT, ORDER BY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61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SQL Query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C526F-8790-44EF-9560-02FEAC2B4870}" type="slidenum">
              <a:rPr lang="en-US"/>
              <a:pPr/>
              <a:t>20</a:t>
            </a:fld>
            <a:endParaRPr lang="en-US"/>
          </a:p>
        </p:txBody>
      </p:sp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896218" y="1572308"/>
            <a:ext cx="9184245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endParaRPr lang="en-US" dirty="0"/>
          </a:p>
          <a:p>
            <a:pPr marL="457200" indent="-457200" eaLnBrk="0" hangingPunct="0">
              <a:buFont typeface="Arial" charset="0"/>
              <a:buChar char="•"/>
            </a:pPr>
            <a:r>
              <a:rPr lang="en-US" sz="2800" dirty="0"/>
              <a:t>Basic form (there are many many more bells and whistles)</a:t>
            </a:r>
          </a:p>
          <a:p>
            <a:pPr eaLnBrk="0" hangingPunct="0"/>
            <a:endParaRPr lang="en-US" sz="2800" dirty="0"/>
          </a:p>
          <a:p>
            <a:pPr eaLnBrk="0" hangingPunct="0"/>
            <a:endParaRPr lang="en-US" dirty="0"/>
          </a:p>
          <a:p>
            <a:pPr eaLnBrk="0" hangingPunct="0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737063" y="4928421"/>
            <a:ext cx="4343400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Call this a </a:t>
            </a:r>
            <a:r>
              <a:rPr lang="en-US" sz="2800" b="1" u="sng" dirty="0">
                <a:latin typeface="+mj-lt"/>
              </a:rPr>
              <a:t>SFW</a:t>
            </a:r>
            <a:r>
              <a:rPr lang="en-US" sz="2800" dirty="0">
                <a:latin typeface="+mj-lt"/>
              </a:rPr>
              <a:t> query.</a:t>
            </a:r>
          </a:p>
        </p:txBody>
      </p:sp>
      <p:sp>
        <p:nvSpPr>
          <p:cNvPr id="11" name="Rectangle 35"/>
          <p:cNvSpPr>
            <a:spLocks noChangeArrowheads="1"/>
          </p:cNvSpPr>
          <p:nvPr/>
        </p:nvSpPr>
        <p:spPr bwMode="auto">
          <a:xfrm>
            <a:off x="2149926" y="2957303"/>
            <a:ext cx="6676828" cy="138499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800" dirty="0">
                <a:latin typeface="Menlo" charset="0"/>
                <a:ea typeface="Menlo" charset="0"/>
                <a:cs typeface="Menlo" charset="0"/>
              </a:rPr>
              <a:t> &lt;attributes&gt;</a:t>
            </a:r>
            <a:br>
              <a:rPr lang="en-US" sz="2800" dirty="0">
                <a:latin typeface="Menlo" charset="0"/>
                <a:ea typeface="Menlo" charset="0"/>
                <a:cs typeface="Menlo" charset="0"/>
              </a:rPr>
            </a:br>
            <a:r>
              <a:rPr lang="en-US" sz="28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800" dirty="0">
                <a:latin typeface="Menlo" charset="0"/>
                <a:ea typeface="Menlo" charset="0"/>
                <a:cs typeface="Menlo" charset="0"/>
              </a:rPr>
              <a:t>   &lt;one or more relations&gt;</a:t>
            </a:r>
            <a:br>
              <a:rPr lang="en-US" sz="2800" dirty="0">
                <a:latin typeface="Menlo" charset="0"/>
                <a:ea typeface="Menlo" charset="0"/>
                <a:cs typeface="Menlo" charset="0"/>
              </a:rPr>
            </a:br>
            <a:r>
              <a:rPr lang="en-US" sz="28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800" dirty="0">
                <a:latin typeface="Menlo" charset="0"/>
                <a:ea typeface="Menlo" charset="0"/>
                <a:cs typeface="Menlo" charset="0"/>
              </a:rPr>
              <a:t>  &lt;conditions&gt;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SQL Query: Selection</a:t>
            </a:r>
          </a:p>
        </p:txBody>
      </p:sp>
      <p:sp>
        <p:nvSpPr>
          <p:cNvPr id="6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1101B-DADB-43FB-B06F-64B9832C7E47}" type="slidenum">
              <a:rPr lang="en-US"/>
              <a:pPr/>
              <a:t>21</a:t>
            </a:fld>
            <a:endParaRPr lang="en-US"/>
          </a:p>
        </p:txBody>
      </p:sp>
      <p:graphicFrame>
        <p:nvGraphicFramePr>
          <p:cNvPr id="14438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800854"/>
              </p:ext>
            </p:extLst>
          </p:nvPr>
        </p:nvGraphicFramePr>
        <p:xfrm>
          <a:off x="4433598" y="1685315"/>
          <a:ext cx="6234404" cy="1828800"/>
        </p:xfrm>
        <a:graphic>
          <a:graphicData uri="http://schemas.openxmlformats.org/drawingml/2006/table">
            <a:tbl>
              <a:tblPr/>
              <a:tblGrid>
                <a:gridCol w="1675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1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29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Category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Manufacturer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Powergizmo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$29.99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SingleTouch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$149.99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Photography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Canon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MultiTouch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$203.99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Household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Hitachi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4421" name="AutoShape 37"/>
          <p:cNvSpPr>
            <a:spLocks noChangeArrowheads="1"/>
          </p:cNvSpPr>
          <p:nvPr/>
        </p:nvSpPr>
        <p:spPr bwMode="auto">
          <a:xfrm>
            <a:off x="7246000" y="3769659"/>
            <a:ext cx="609600" cy="1384995"/>
          </a:xfrm>
          <a:prstGeom prst="down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4454" name="Group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037469"/>
              </p:ext>
            </p:extLst>
          </p:nvPr>
        </p:nvGraphicFramePr>
        <p:xfrm>
          <a:off x="4433600" y="5410198"/>
          <a:ext cx="6234403" cy="1097280"/>
        </p:xfrm>
        <a:graphic>
          <a:graphicData uri="http://schemas.openxmlformats.org/drawingml/2006/table">
            <a:tbl>
              <a:tblPr/>
              <a:tblGrid>
                <a:gridCol w="1668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8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6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7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Category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Manufacturer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Powergizmo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$29.99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1891398" y="3954324"/>
            <a:ext cx="4339650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*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Product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Category = ‘Gadgets’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2" y="2130897"/>
            <a:ext cx="3407648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+mj-lt"/>
              </a:rPr>
              <a:t>Selection</a:t>
            </a:r>
            <a:r>
              <a:rPr lang="en-US" sz="2400" dirty="0">
                <a:latin typeface="+mj-lt"/>
              </a:rPr>
              <a:t> is the operation of filtering a relation’s tuples on some condition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4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4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SQL Query: Projection</a:t>
            </a:r>
          </a:p>
        </p:txBody>
      </p:sp>
      <p:sp>
        <p:nvSpPr>
          <p:cNvPr id="6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1101B-DADB-43FB-B06F-64B9832C7E47}" type="slidenum">
              <a:rPr lang="en-US"/>
              <a:pPr/>
              <a:t>22</a:t>
            </a:fld>
            <a:endParaRPr lang="en-US"/>
          </a:p>
        </p:txBody>
      </p:sp>
      <p:graphicFrame>
        <p:nvGraphicFramePr>
          <p:cNvPr id="14438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800854"/>
              </p:ext>
            </p:extLst>
          </p:nvPr>
        </p:nvGraphicFramePr>
        <p:xfrm>
          <a:off x="4433598" y="1685315"/>
          <a:ext cx="6234404" cy="1828800"/>
        </p:xfrm>
        <a:graphic>
          <a:graphicData uri="http://schemas.openxmlformats.org/drawingml/2006/table">
            <a:tbl>
              <a:tblPr/>
              <a:tblGrid>
                <a:gridCol w="1675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1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29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Category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Manufacturer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Powergizmo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$29.99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SingleTouch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$149.99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Photography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Canon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MultiTouch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$203.99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Household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Hitachi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4421" name="AutoShape 37"/>
          <p:cNvSpPr>
            <a:spLocks noChangeArrowheads="1"/>
          </p:cNvSpPr>
          <p:nvPr/>
        </p:nvSpPr>
        <p:spPr bwMode="auto">
          <a:xfrm>
            <a:off x="7246000" y="3769659"/>
            <a:ext cx="609600" cy="1384995"/>
          </a:xfrm>
          <a:prstGeom prst="down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4454" name="Group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287895"/>
              </p:ext>
            </p:extLst>
          </p:nvPr>
        </p:nvGraphicFramePr>
        <p:xfrm>
          <a:off x="5212704" y="5410198"/>
          <a:ext cx="4676191" cy="1097280"/>
        </p:xfrm>
        <a:graphic>
          <a:graphicData uri="http://schemas.openxmlformats.org/drawingml/2006/table">
            <a:tbl>
              <a:tblPr/>
              <a:tblGrid>
                <a:gridCol w="1668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6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Manufacturer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Powergizmo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$29.99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1350316" y="3954324"/>
            <a:ext cx="3909532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 anchor="t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/>
                <a:ea typeface="Menlo" charset="0"/>
                <a:cs typeface="Menlo" charset="0"/>
              </a:rPr>
              <a:t>Pname</a:t>
            </a:r>
            <a:r>
              <a:rPr lang="en-US" sz="2000" dirty="0">
                <a:latin typeface="Menlo"/>
                <a:ea typeface="Menlo" charset="0"/>
                <a:cs typeface="Menlo" charset="0"/>
              </a:rPr>
              <a:t>, Price, Manufacturer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/>
                <a:ea typeface="Menlo" charset="0"/>
                <a:cs typeface="Menlo" charset="0"/>
              </a:rPr>
              <a:t>   Product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/>
                <a:ea typeface="Menlo" charset="0"/>
                <a:cs typeface="Menlo" charset="0"/>
              </a:rPr>
              <a:t>  Category = 'Gadgets'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2" y="1853010"/>
            <a:ext cx="3407648" cy="19389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+mj-lt"/>
              </a:rPr>
              <a:t>Projection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is the operation of producing an output table with tuples that have a subset of their prior attributes</a:t>
            </a:r>
          </a:p>
        </p:txBody>
      </p:sp>
    </p:spTree>
    <p:extLst>
      <p:ext uri="{BB962C8B-B14F-4D97-AF65-F5344CB8AC3E}">
        <p14:creationId xmlns:p14="http://schemas.microsoft.com/office/powerpoint/2010/main" val="32475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4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4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Notation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12F50-448E-45B0-9025-39BA41339210}" type="slidenum">
              <a:rPr lang="en-US"/>
              <a:pPr/>
              <a:t>23</a:t>
            </a:fld>
            <a:endParaRPr lang="en-US"/>
          </a:p>
        </p:txBody>
      </p:sp>
      <p:sp>
        <p:nvSpPr>
          <p:cNvPr id="14" name="AutoShape 37"/>
          <p:cNvSpPr>
            <a:spLocks noChangeArrowheads="1"/>
          </p:cNvSpPr>
          <p:nvPr/>
        </p:nvSpPr>
        <p:spPr bwMode="auto">
          <a:xfrm>
            <a:off x="6733884" y="3171143"/>
            <a:ext cx="609600" cy="1384995"/>
          </a:xfrm>
          <a:prstGeom prst="down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35"/>
          <p:cNvSpPr>
            <a:spLocks noChangeArrowheads="1"/>
          </p:cNvSpPr>
          <p:nvPr/>
        </p:nvSpPr>
        <p:spPr bwMode="auto">
          <a:xfrm>
            <a:off x="838200" y="3355808"/>
            <a:ext cx="5262979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Price, Manufacturer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Product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Category = ‘Gadgets’</a:t>
            </a:r>
          </a:p>
        </p:txBody>
      </p:sp>
      <p:sp>
        <p:nvSpPr>
          <p:cNvPr id="16" name="Rectangle 35"/>
          <p:cNvSpPr>
            <a:spLocks noChangeArrowheads="1"/>
          </p:cNvSpPr>
          <p:nvPr/>
        </p:nvSpPr>
        <p:spPr bwMode="auto">
          <a:xfrm>
            <a:off x="3556783" y="2314478"/>
            <a:ext cx="6963802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Product(</a:t>
            </a:r>
            <a:r>
              <a:rPr lang="en-US" sz="2000" u="sng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Price, Category, </a:t>
            </a:r>
            <a:r>
              <a:rPr lang="en-US" sz="2000" u="sng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Manfacturer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  <p:sp>
        <p:nvSpPr>
          <p:cNvPr id="18" name="Rectangle 35"/>
          <p:cNvSpPr>
            <a:spLocks noChangeArrowheads="1"/>
          </p:cNvSpPr>
          <p:nvPr/>
        </p:nvSpPr>
        <p:spPr bwMode="auto">
          <a:xfrm>
            <a:off x="4286529" y="4748645"/>
            <a:ext cx="5504309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Answer(PName, Price</a:t>
            </a:r>
            <a:r>
              <a:rPr lang="en-US" sz="20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Manfacturer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04717" y="2323710"/>
            <a:ext cx="1861407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400">
                <a:latin typeface="+mj-lt"/>
              </a:rPr>
              <a:t>Input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4717" y="4790762"/>
            <a:ext cx="208903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Output schema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Few Details</a:t>
            </a:r>
          </a:p>
        </p:txBody>
      </p:sp>
      <p:sp>
        <p:nvSpPr>
          <p:cNvPr id="23245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SQL </a:t>
            </a:r>
            <a:r>
              <a:rPr lang="en-US" b="1" dirty="0"/>
              <a:t>commands</a:t>
            </a:r>
            <a:r>
              <a:rPr lang="en-US" dirty="0"/>
              <a:t> are case insensitive: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Same: SELECT,  Select,  select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Same: Product,   product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dirty="0"/>
          </a:p>
          <a:p>
            <a:r>
              <a:rPr lang="en-US" b="1" dirty="0"/>
              <a:t>Values</a:t>
            </a:r>
            <a:r>
              <a:rPr lang="en-US" dirty="0"/>
              <a:t> are </a:t>
            </a:r>
            <a:r>
              <a:rPr lang="en-US" b="1" dirty="0"/>
              <a:t>not:</a:t>
            </a:r>
          </a:p>
          <a:p>
            <a:pPr lvl="1">
              <a:lnSpc>
                <a:spcPct val="90000"/>
              </a:lnSpc>
            </a:pPr>
            <a:r>
              <a:rPr lang="en-US" u="sng" dirty="0"/>
              <a:t>Different:</a:t>
            </a:r>
            <a:r>
              <a:rPr lang="en-US" dirty="0"/>
              <a:t> ‘Seattle’,  ‘</a:t>
            </a:r>
            <a:r>
              <a:rPr lang="en-US" dirty="0" err="1"/>
              <a:t>seattle</a:t>
            </a:r>
            <a:r>
              <a:rPr lang="en-US" dirty="0"/>
              <a:t>’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MySQL uses case insensitive value.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Use single quotes for constants:</a:t>
            </a:r>
          </a:p>
          <a:p>
            <a:pPr lvl="1">
              <a:lnSpc>
                <a:spcPct val="90000"/>
              </a:lnSpc>
            </a:pPr>
            <a:r>
              <a:rPr lang="en-US"/>
              <a:t>'</a:t>
            </a:r>
            <a:r>
              <a:rPr lang="en-US" err="1"/>
              <a:t>abc</a:t>
            </a:r>
            <a:r>
              <a:rPr lang="en-US"/>
              <a:t>'</a:t>
            </a:r>
            <a:r>
              <a:rPr lang="en-US" dirty="0"/>
              <a:t>  - yes</a:t>
            </a:r>
            <a:endParaRPr lang="en-US" dirty="0"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en-US" dirty="0"/>
              <a:t>"</a:t>
            </a:r>
            <a:r>
              <a:rPr lang="en-US" dirty="0" err="1"/>
              <a:t>abc</a:t>
            </a:r>
            <a:r>
              <a:rPr lang="en-US" dirty="0"/>
              <a:t>" - no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E785-290F-4CF6-ADF0-EB2AD60461E4}" type="slidenum">
              <a:rPr lang="en-US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LIKE: Simple String Pattern Matching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>
          <a:xfrm>
            <a:off x="2936810" y="3711071"/>
            <a:ext cx="6318380" cy="2286000"/>
          </a:xfrm>
        </p:spPr>
        <p:txBody>
          <a:bodyPr/>
          <a:lstStyle/>
          <a:p>
            <a:pPr marL="609600" indent="-609600"/>
            <a:r>
              <a:rPr lang="en-US" dirty="0"/>
              <a:t>s </a:t>
            </a:r>
            <a:r>
              <a:rPr lang="en-US" b="1" dirty="0"/>
              <a:t>LIKE</a:t>
            </a:r>
            <a:r>
              <a:rPr lang="en-US" dirty="0"/>
              <a:t> p:  pattern matching on strings</a:t>
            </a:r>
          </a:p>
          <a:p>
            <a:pPr marL="609600" indent="-609600"/>
            <a:r>
              <a:rPr lang="en-US" dirty="0"/>
              <a:t>p may contain two special symbols:</a:t>
            </a:r>
          </a:p>
          <a:p>
            <a:pPr marL="990600" lvl="1" indent="-533400"/>
            <a:r>
              <a:rPr lang="en-US" dirty="0"/>
              <a:t>%  = any sequence of characters</a:t>
            </a:r>
          </a:p>
          <a:p>
            <a:pPr marL="990600" lvl="1" indent="-533400"/>
            <a:r>
              <a:rPr lang="en-US" dirty="0"/>
              <a:t>_   = any single character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1483-E1F0-436D-B0C4-8D219A5AD8F2}" type="slidenum">
              <a:rPr lang="en-US"/>
              <a:pPr/>
              <a:t>25</a:t>
            </a:fld>
            <a:endParaRPr lang="en-US"/>
          </a:p>
        </p:txBody>
      </p:sp>
      <p:sp>
        <p:nvSpPr>
          <p:cNvPr id="112644" name="Rectangle 4"/>
          <p:cNvSpPr>
            <a:spLocks noChangeArrowheads="1"/>
          </p:cNvSpPr>
          <p:nvPr/>
        </p:nvSpPr>
        <p:spPr bwMode="auto">
          <a:xfrm>
            <a:off x="3470989" y="2103438"/>
            <a:ext cx="5250022" cy="10895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sz="24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 *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   Products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  PName </a:t>
            </a:r>
            <a:r>
              <a:rPr lang="en-US" sz="2400" b="1" dirty="0">
                <a:latin typeface="Menlo" charset="0"/>
                <a:ea typeface="Menlo" charset="0"/>
                <a:cs typeface="Menlo" charset="0"/>
              </a:rPr>
              <a:t>LIKE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‘%gizmo%’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DISTINCT: Eliminating Duplicates</a:t>
            </a:r>
          </a:p>
        </p:txBody>
      </p:sp>
      <p:sp>
        <p:nvSpPr>
          <p:cNvPr id="3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F4034-38E0-4772-80C3-35B6F682A55E}" type="slidenum">
              <a:rPr lang="en-US"/>
              <a:pPr/>
              <a:t>26</a:t>
            </a:fld>
            <a:endParaRPr lang="en-US"/>
          </a:p>
        </p:txBody>
      </p:sp>
      <p:sp>
        <p:nvSpPr>
          <p:cNvPr id="150531" name="Rectangle 3"/>
          <p:cNvSpPr>
            <a:spLocks noChangeArrowheads="1"/>
          </p:cNvSpPr>
          <p:nvPr/>
        </p:nvSpPr>
        <p:spPr bwMode="auto">
          <a:xfrm>
            <a:off x="1438472" y="2133601"/>
            <a:ext cx="4631797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DISTINCT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Category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Product</a:t>
            </a:r>
          </a:p>
        </p:txBody>
      </p:sp>
      <p:sp>
        <p:nvSpPr>
          <p:cNvPr id="150532" name="Text Box 4"/>
          <p:cNvSpPr txBox="1">
            <a:spLocks noChangeArrowheads="1"/>
          </p:cNvSpPr>
          <p:nvPr/>
        </p:nvSpPr>
        <p:spPr bwMode="auto">
          <a:xfrm>
            <a:off x="3133834" y="3600071"/>
            <a:ext cx="9903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latin typeface="+mj-lt"/>
              </a:rPr>
              <a:t>Versus</a:t>
            </a:r>
          </a:p>
        </p:txBody>
      </p:sp>
      <p:sp>
        <p:nvSpPr>
          <p:cNvPr id="150533" name="Rectangle 5"/>
          <p:cNvSpPr>
            <a:spLocks noChangeArrowheads="1"/>
          </p:cNvSpPr>
          <p:nvPr/>
        </p:nvSpPr>
        <p:spPr bwMode="auto">
          <a:xfrm>
            <a:off x="2374214" y="4697209"/>
            <a:ext cx="2964123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Category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Product</a:t>
            </a:r>
          </a:p>
        </p:txBody>
      </p:sp>
      <p:graphicFrame>
        <p:nvGraphicFramePr>
          <p:cNvPr id="150567" name="Group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591708"/>
              </p:ext>
            </p:extLst>
          </p:nvPr>
        </p:nvGraphicFramePr>
        <p:xfrm>
          <a:off x="7772400" y="4163808"/>
          <a:ext cx="1981200" cy="22860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Category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Photography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Household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0582" name="Group 54"/>
          <p:cNvGraphicFramePr>
            <a:graphicFrameLocks noGrp="1"/>
          </p:cNvGraphicFramePr>
          <p:nvPr/>
        </p:nvGraphicFramePr>
        <p:xfrm>
          <a:off x="7772400" y="1905000"/>
          <a:ext cx="1981200" cy="18288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Category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Photography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Household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0583" name="AutoShape 55"/>
          <p:cNvSpPr>
            <a:spLocks noChangeArrowheads="1"/>
          </p:cNvSpPr>
          <p:nvPr/>
        </p:nvSpPr>
        <p:spPr bwMode="auto">
          <a:xfrm>
            <a:off x="6657005" y="2343280"/>
            <a:ext cx="544287" cy="411637"/>
          </a:xfrm>
          <a:prstGeom prst="rightArrow">
            <a:avLst>
              <a:gd name="adj1" fmla="val 50000"/>
              <a:gd name="adj2" fmla="val 5024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14" name="AutoShape 55"/>
          <p:cNvSpPr>
            <a:spLocks noChangeArrowheads="1"/>
          </p:cNvSpPr>
          <p:nvPr/>
        </p:nvSpPr>
        <p:spPr bwMode="auto">
          <a:xfrm>
            <a:off x="6653508" y="4906888"/>
            <a:ext cx="544287" cy="411637"/>
          </a:xfrm>
          <a:prstGeom prst="rightArrow">
            <a:avLst>
              <a:gd name="adj1" fmla="val 50000"/>
              <a:gd name="adj2" fmla="val 5024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BY: Sorting the Results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02D97-CCAA-4512-B572-D64BCF59CDE8}" type="slidenum">
              <a:rPr lang="en-US"/>
              <a:pPr/>
              <a:t>27</a:t>
            </a:fld>
            <a:endParaRPr lang="en-US"/>
          </a:p>
        </p:txBody>
      </p:sp>
      <p:sp>
        <p:nvSpPr>
          <p:cNvPr id="115715" name="Rectangle 3"/>
          <p:cNvSpPr>
            <a:spLocks noChangeArrowheads="1"/>
          </p:cNvSpPr>
          <p:nvPr/>
        </p:nvSpPr>
        <p:spPr bwMode="auto">
          <a:xfrm>
            <a:off x="2283840" y="2249201"/>
            <a:ext cx="7622600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, Price, Manufacturer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Product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Category=‘gizmo’ AND Price &gt; 50</a:t>
            </a:r>
          </a:p>
          <a:p>
            <a:pPr eaLnBrk="0" hangingPunct="0"/>
            <a:r>
              <a:rPr lang="en-US" sz="2400" dirty="0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ORDER BY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Price,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PName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46581" y="4458133"/>
            <a:ext cx="2690342" cy="13234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  <a:cs typeface="Calibri (Light Headings)"/>
              </a:rPr>
              <a:t>Ties are broken by the second attribute on the ORDER BY list, etc.</a:t>
            </a:r>
          </a:p>
          <a:p>
            <a:endParaRPr lang="en-US" sz="2000" dirty="0"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0795" y="4458133"/>
            <a:ext cx="2690342" cy="13234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2000" dirty="0">
                <a:latin typeface="+mj-lt"/>
              </a:rPr>
              <a:t>Ordering is ascending, unless you specify the DESC keyword.</a:t>
            </a:r>
          </a:p>
          <a:p>
            <a:endParaRPr lang="en-US" sz="20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Multi-table queries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072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will learn about in this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7578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Foreign key constraints</a:t>
            </a:r>
          </a:p>
          <a:p>
            <a:pPr marL="514350" indent="-514350">
              <a:buAutoNum type="arabicPeriod"/>
            </a:pPr>
            <a:endParaRPr lang="en-US" dirty="0">
              <a:latin typeface="+mj-lt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Joins: basics</a:t>
            </a:r>
          </a:p>
          <a:p>
            <a:pPr marL="514350" indent="-514350">
              <a:buAutoNum type="arabicPeriod"/>
            </a:pPr>
            <a:endParaRPr lang="en-US" dirty="0">
              <a:latin typeface="+mj-lt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Joins: SQL semantics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6193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 constraints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838200" y="1604865"/>
            <a:ext cx="8427098" cy="4399001"/>
          </a:xfrm>
        </p:spPr>
        <p:txBody>
          <a:bodyPr>
            <a:normAutofit/>
          </a:bodyPr>
          <a:lstStyle/>
          <a:p>
            <a:r>
              <a:rPr lang="en-US" dirty="0"/>
              <a:t>Suppose we have the following schema: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And we want to impose the following constraint:</a:t>
            </a:r>
          </a:p>
          <a:p>
            <a:pPr lvl="1"/>
            <a:r>
              <a:rPr lang="en-US" u="sng" dirty="0"/>
              <a:t>‘Only bona fide students may enroll in courses’</a:t>
            </a:r>
            <a:r>
              <a:rPr lang="en-US" dirty="0"/>
              <a:t> i.e. a student must appear in the Students table to enroll in a class</a:t>
            </a:r>
            <a:endParaRPr lang="en-US" u="sng" dirty="0"/>
          </a:p>
        </p:txBody>
      </p:sp>
      <p:sp>
        <p:nvSpPr>
          <p:cNvPr id="8" name="TextBox 7"/>
          <p:cNvSpPr txBox="1"/>
          <p:nvPr/>
        </p:nvSpPr>
        <p:spPr>
          <a:xfrm>
            <a:off x="9265298" y="4260685"/>
            <a:ext cx="2530898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342900" indent="-342900"/>
            <a:r>
              <a:rPr lang="en-US" dirty="0" err="1">
                <a:latin typeface="+mj-lt"/>
              </a:rPr>
              <a:t>student_id</a:t>
            </a:r>
            <a:r>
              <a:rPr lang="en-US" dirty="0">
                <a:latin typeface="+mj-lt"/>
              </a:rPr>
              <a:t> alone is not a key- what is?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428730"/>
              </p:ext>
            </p:extLst>
          </p:nvPr>
        </p:nvGraphicFramePr>
        <p:xfrm>
          <a:off x="2743201" y="4765322"/>
          <a:ext cx="202940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4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4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72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sid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baseline="0" dirty="0"/>
                        <a:t>n</a:t>
                      </a:r>
                      <a:r>
                        <a:rPr lang="en-US" sz="1800" b="1" dirty="0"/>
                        <a:t>ame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gpa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096">
                <a:tc>
                  <a:txBody>
                    <a:bodyPr/>
                    <a:lstStyle/>
                    <a:p>
                      <a:r>
                        <a:rPr lang="en-US" sz="1800" dirty="0"/>
                        <a:t>101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Bob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3.2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096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3.8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036288"/>
              </p:ext>
            </p:extLst>
          </p:nvPr>
        </p:nvGraphicFramePr>
        <p:xfrm>
          <a:off x="6088767" y="4765323"/>
          <a:ext cx="3000148" cy="11115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34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student_id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grade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434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34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537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A+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667001" y="4395990"/>
            <a:ext cx="1029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Students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1678" y="4395990"/>
            <a:ext cx="973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Enrolled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2920" y="6149632"/>
            <a:ext cx="943169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We say that </a:t>
            </a:r>
            <a:r>
              <a:rPr lang="en-US" sz="2800" dirty="0" err="1">
                <a:latin typeface="+mj-lt"/>
              </a:rPr>
              <a:t>student_id</a:t>
            </a:r>
            <a:r>
              <a:rPr lang="en-US" sz="2800" dirty="0">
                <a:latin typeface="+mj-lt"/>
              </a:rPr>
              <a:t> is a </a:t>
            </a:r>
            <a:r>
              <a:rPr lang="en-US" sz="2800" b="1" u="sng" dirty="0">
                <a:latin typeface="+mj-lt"/>
              </a:rPr>
              <a:t>foreign key</a:t>
            </a:r>
            <a:r>
              <a:rPr lang="en-US" sz="2800" dirty="0">
                <a:latin typeface="+mj-lt"/>
              </a:rPr>
              <a:t> that refers to Students</a:t>
            </a:r>
          </a:p>
        </p:txBody>
      </p:sp>
      <p:cxnSp>
        <p:nvCxnSpPr>
          <p:cNvPr id="11" name="Straight Arrow Connector 10"/>
          <p:cNvCxnSpPr>
            <a:endCxn id="10" idx="1"/>
          </p:cNvCxnSpPr>
          <p:nvPr/>
        </p:nvCxnSpPr>
        <p:spPr>
          <a:xfrm flipV="1">
            <a:off x="4772609" y="5321086"/>
            <a:ext cx="1316158" cy="3671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772609" y="5688193"/>
            <a:ext cx="13161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2055830" y="2083217"/>
            <a:ext cx="8865488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Students(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sid</a:t>
            </a:r>
            <a:r>
              <a:rPr lang="en-US" sz="20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string,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name: </a:t>
            </a:r>
            <a:r>
              <a:rPr lang="en-US" sz="20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gpa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20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float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Enrolled(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student_id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20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string, 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cid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20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grade: </a:t>
            </a:r>
            <a:r>
              <a:rPr lang="en-US" sz="20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4706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/>
      <p:bldP spid="13" grpId="0"/>
      <p:bldP spid="14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Declaring Foreign Keys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451138" y="2077617"/>
            <a:ext cx="10219464" cy="360098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Students(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sid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20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string, 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name: </a:t>
            </a:r>
            <a:r>
              <a:rPr lang="en-US" sz="20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string,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gpa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20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float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Enrolled(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student_id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20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cid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20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string, 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grade: </a:t>
            </a:r>
            <a:r>
              <a:rPr lang="en-US" sz="20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pPr eaLnBrk="0" hangingPunct="0"/>
            <a:endParaRPr lang="en-US" sz="2000" dirty="0">
              <a:solidFill>
                <a:schemeClr val="accent2"/>
              </a:solidFill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CREATE TABLE 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Enrolled(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student_id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CHAR(20)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,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cid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	 CHAR(20)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,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grade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 CHAR(10)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,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PRIMARY KEY 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student_id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cid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),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</a:t>
            </a:r>
            <a:r>
              <a:rPr lang="en-US" sz="24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FOREIGN KEY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student_id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) </a:t>
            </a:r>
            <a:r>
              <a:rPr lang="en-US" sz="24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REFERENCES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Students(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sid</a:t>
            </a:r>
            <a:r>
              <a:rPr lang="en-US" sz="2400">
                <a:latin typeface="Menlo" charset="0"/>
                <a:ea typeface="Menlo" charset="0"/>
                <a:cs typeface="Menlo" charset="0"/>
              </a:rPr>
              <a:t>)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796210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Foreign Keys and update operations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838200" y="3116425"/>
            <a:ext cx="10515600" cy="4572098"/>
          </a:xfrm>
        </p:spPr>
        <p:txBody>
          <a:bodyPr>
            <a:normAutofit/>
          </a:bodyPr>
          <a:lstStyle/>
          <a:p>
            <a:r>
              <a:rPr lang="en-US" dirty="0"/>
              <a:t>What if we insert a tuple into Enrolled, but no corresponding student?</a:t>
            </a:r>
          </a:p>
          <a:p>
            <a:pPr lvl="1"/>
            <a:r>
              <a:rPr lang="en-US" dirty="0"/>
              <a:t>INSERT is rejected (foreign keys are </a:t>
            </a:r>
            <a:r>
              <a:rPr lang="en-US" u="sng" dirty="0"/>
              <a:t>constraints</a:t>
            </a:r>
            <a:r>
              <a:rPr lang="en-US" dirty="0"/>
              <a:t>)!</a:t>
            </a:r>
          </a:p>
          <a:p>
            <a:endParaRPr lang="en-US" dirty="0"/>
          </a:p>
          <a:p>
            <a:r>
              <a:rPr lang="en-US" dirty="0"/>
              <a:t>What if we delete a student?</a:t>
            </a:r>
          </a:p>
          <a:p>
            <a:pPr marL="800100" lvl="1" indent="-342900">
              <a:buAutoNum type="arabicPeriod"/>
            </a:pPr>
            <a:r>
              <a:rPr lang="en-US" dirty="0"/>
              <a:t>Disallow the delete</a:t>
            </a:r>
          </a:p>
          <a:p>
            <a:pPr marL="800100" lvl="1" indent="-342900">
              <a:buAutoNum type="arabicPeriod"/>
            </a:pPr>
            <a:r>
              <a:rPr lang="en-US" dirty="0"/>
              <a:t>Remove all of the courses for that student</a:t>
            </a:r>
          </a:p>
          <a:p>
            <a:pPr marL="800100" lvl="1" indent="-342900">
              <a:buAutoNum type="arabicPeriod"/>
            </a:pPr>
            <a:r>
              <a:rPr lang="en-US" i="1" dirty="0"/>
              <a:t>SQL allows a third via NULL (not yet covered)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602714" y="4813041"/>
            <a:ext cx="3630094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+mj-lt"/>
              </a:rPr>
              <a:t>DBA chooses (syntax in the book)</a:t>
            </a:r>
          </a:p>
        </p:txBody>
      </p:sp>
      <p:sp>
        <p:nvSpPr>
          <p:cNvPr id="15" name="Rectangle 35"/>
          <p:cNvSpPr>
            <a:spLocks noChangeArrowheads="1"/>
          </p:cNvSpPr>
          <p:nvPr/>
        </p:nvSpPr>
        <p:spPr bwMode="auto">
          <a:xfrm>
            <a:off x="1853756" y="1690688"/>
            <a:ext cx="8865488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Students(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sid</a:t>
            </a:r>
            <a:r>
              <a:rPr lang="en-US" sz="20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string,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name: </a:t>
            </a:r>
            <a:r>
              <a:rPr lang="en-US" sz="20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gpa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20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float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Enrolled(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student_id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20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string, 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cid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20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grade: </a:t>
            </a:r>
            <a:r>
              <a:rPr lang="en-US" sz="20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9515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Keys and Foreign Keys</a:t>
            </a:r>
          </a:p>
        </p:txBody>
      </p:sp>
      <p:sp>
        <p:nvSpPr>
          <p:cNvPr id="6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02CB-ED81-4078-B374-A703DF7518F6}" type="slidenum">
              <a:rPr lang="en-US"/>
              <a:pPr/>
              <a:t>33</a:t>
            </a:fld>
            <a:endParaRPr lang="en-US"/>
          </a:p>
        </p:txBody>
      </p:sp>
      <p:graphicFrame>
        <p:nvGraphicFramePr>
          <p:cNvPr id="153702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388110"/>
              </p:ext>
            </p:extLst>
          </p:nvPr>
        </p:nvGraphicFramePr>
        <p:xfrm>
          <a:off x="1828800" y="4495800"/>
          <a:ext cx="6400799" cy="1860550"/>
        </p:xfrm>
        <a:graphic>
          <a:graphicData uri="http://schemas.openxmlformats.org/drawingml/2006/table">
            <a:tbl>
              <a:tblPr/>
              <a:tblGrid>
                <a:gridCol w="1702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0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2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1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PName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Category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Manufacturer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1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1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Powergizmo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$29.99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1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SingleTouch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$149.99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Photography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Canon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1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MultiTouch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$203.99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Household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Hitachi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3636" name="Text Box 36"/>
          <p:cNvSpPr txBox="1">
            <a:spLocks noChangeArrowheads="1"/>
          </p:cNvSpPr>
          <p:nvPr/>
        </p:nvSpPr>
        <p:spPr bwMode="auto">
          <a:xfrm>
            <a:off x="1828800" y="3962401"/>
            <a:ext cx="11649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Product</a:t>
            </a:r>
          </a:p>
        </p:txBody>
      </p:sp>
      <p:sp>
        <p:nvSpPr>
          <p:cNvPr id="153662" name="Text Box 62"/>
          <p:cNvSpPr txBox="1">
            <a:spLocks noChangeArrowheads="1"/>
          </p:cNvSpPr>
          <p:nvPr/>
        </p:nvSpPr>
        <p:spPr bwMode="auto">
          <a:xfrm>
            <a:off x="1905001" y="1594052"/>
            <a:ext cx="1368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Company</a:t>
            </a:r>
          </a:p>
        </p:txBody>
      </p:sp>
      <p:graphicFrame>
        <p:nvGraphicFramePr>
          <p:cNvPr id="153706" name="Group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067324"/>
              </p:ext>
            </p:extLst>
          </p:nvPr>
        </p:nvGraphicFramePr>
        <p:xfrm>
          <a:off x="1828800" y="2124277"/>
          <a:ext cx="3909527" cy="1463040"/>
        </p:xfrm>
        <a:graphic>
          <a:graphicData uri="http://schemas.openxmlformats.org/drawingml/2006/table">
            <a:tbl>
              <a:tblPr/>
              <a:tblGrid>
                <a:gridCol w="1437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4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9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CName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StockPrice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Country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9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USA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9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Canon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65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Japan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9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Hitachi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Japan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128588" y="1975628"/>
            <a:ext cx="2438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+mj-lt"/>
              </a:rPr>
              <a:t>What is a foreign key vs. a key here?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5251-FD48-4EFD-BC81-08BA09D58607}" type="slidenum">
              <a:rPr lang="en-US"/>
              <a:pPr/>
              <a:t>34</a:t>
            </a:fld>
            <a:endParaRPr lang="en-US"/>
          </a:p>
        </p:txBody>
      </p:sp>
      <p:sp>
        <p:nvSpPr>
          <p:cNvPr id="116739" name="Rectangle 3"/>
          <p:cNvSpPr>
            <a:spLocks noChangeArrowheads="1"/>
          </p:cNvSpPr>
          <p:nvPr/>
        </p:nvSpPr>
        <p:spPr bwMode="auto">
          <a:xfrm>
            <a:off x="4953000" y="2571750"/>
            <a:ext cx="2375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116740" name="Rectangle 4"/>
          <p:cNvSpPr>
            <a:spLocks noChangeArrowheads="1"/>
          </p:cNvSpPr>
          <p:nvPr/>
        </p:nvSpPr>
        <p:spPr bwMode="auto">
          <a:xfrm>
            <a:off x="1781888" y="2861524"/>
            <a:ext cx="7191375" cy="896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/>
            <a:r>
              <a:rPr lang="en-US" sz="2400" i="1" dirty="0"/>
              <a:t>Ex: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Find all products under $200 manufactured in Japan;</a:t>
            </a:r>
            <a:br>
              <a:rPr lang="en-US" sz="2400" dirty="0"/>
            </a:br>
            <a:r>
              <a:rPr lang="en-US" sz="2400" dirty="0"/>
              <a:t>return their names and prices. </a:t>
            </a:r>
          </a:p>
        </p:txBody>
      </p:sp>
      <p:sp>
        <p:nvSpPr>
          <p:cNvPr id="116741" name="Rectangle 5"/>
          <p:cNvSpPr>
            <a:spLocks noChangeArrowheads="1"/>
          </p:cNvSpPr>
          <p:nvPr/>
        </p:nvSpPr>
        <p:spPr bwMode="auto">
          <a:xfrm>
            <a:off x="3130806" y="4006756"/>
            <a:ext cx="4493538" cy="163121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Price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Product, Company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  </a:t>
            </a:r>
            <a:r>
              <a:rPr lang="en-US" sz="2000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Manufacturer = </a:t>
            </a:r>
            <a:r>
              <a:rPr lang="en-US" sz="2000" dirty="0" err="1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CName</a:t>
            </a:r>
            <a:r>
              <a:rPr lang="en-US" sz="2000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	 AND Country=‘Japan’</a:t>
            </a:r>
            <a:br>
              <a:rPr lang="en-US" sz="2000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       AND Price &lt;= 200</a:t>
            </a:r>
          </a:p>
        </p:txBody>
      </p:sp>
      <p:sp>
        <p:nvSpPr>
          <p:cNvPr id="16" name="Rectangle 35"/>
          <p:cNvSpPr>
            <a:spLocks noChangeArrowheads="1"/>
          </p:cNvSpPr>
          <p:nvPr/>
        </p:nvSpPr>
        <p:spPr bwMode="auto">
          <a:xfrm>
            <a:off x="1699797" y="1678109"/>
            <a:ext cx="7355558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Price, Category, Manufacturer)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Company(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CName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StockPrice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Country)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429036" y="2372589"/>
            <a:ext cx="2617038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i="1" dirty="0"/>
              <a:t>Note: we will often omit attribute types in schema definitions for brevity, but assume attributes are always atomic types</a:t>
            </a:r>
          </a:p>
        </p:txBody>
      </p:sp>
    </p:spTree>
    <p:extLst>
      <p:ext uri="{BB962C8B-B14F-4D97-AF65-F5344CB8AC3E}">
        <p14:creationId xmlns:p14="http://schemas.microsoft.com/office/powerpoint/2010/main" val="829284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Joins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5251-FD48-4EFD-BC81-08BA09D58607}" type="slidenum">
              <a:rPr lang="en-US"/>
              <a:pPr/>
              <a:t>35</a:t>
            </a:fld>
            <a:endParaRPr lang="en-US"/>
          </a:p>
        </p:txBody>
      </p:sp>
      <p:sp>
        <p:nvSpPr>
          <p:cNvPr id="116739" name="Rectangle 3"/>
          <p:cNvSpPr>
            <a:spLocks noChangeArrowheads="1"/>
          </p:cNvSpPr>
          <p:nvPr/>
        </p:nvSpPr>
        <p:spPr bwMode="auto">
          <a:xfrm>
            <a:off x="4953000" y="2571750"/>
            <a:ext cx="2375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116740" name="Rectangle 4"/>
          <p:cNvSpPr>
            <a:spLocks noChangeArrowheads="1"/>
          </p:cNvSpPr>
          <p:nvPr/>
        </p:nvSpPr>
        <p:spPr bwMode="auto">
          <a:xfrm>
            <a:off x="2500312" y="2861524"/>
            <a:ext cx="7191375" cy="896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/>
            <a:r>
              <a:rPr lang="en-US" sz="2400" i="1" dirty="0"/>
              <a:t>Ex: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Find all products under $200 manufactured in Japan;</a:t>
            </a:r>
            <a:br>
              <a:rPr lang="en-US" sz="2400" dirty="0"/>
            </a:br>
            <a:r>
              <a:rPr lang="en-US" sz="2400" dirty="0"/>
              <a:t>return their names and prices. </a:t>
            </a:r>
          </a:p>
        </p:txBody>
      </p:sp>
      <p:sp>
        <p:nvSpPr>
          <p:cNvPr id="116741" name="Rectangle 5"/>
          <p:cNvSpPr>
            <a:spLocks noChangeArrowheads="1"/>
          </p:cNvSpPr>
          <p:nvPr/>
        </p:nvSpPr>
        <p:spPr bwMode="auto">
          <a:xfrm>
            <a:off x="1914832" y="4006756"/>
            <a:ext cx="4493538" cy="163121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Price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Product, Company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  </a:t>
            </a:r>
            <a:r>
              <a:rPr lang="en-US" sz="2000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Manufacturer = </a:t>
            </a:r>
            <a:r>
              <a:rPr lang="en-US" sz="2000" dirty="0" err="1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CName</a:t>
            </a:r>
            <a:r>
              <a:rPr lang="en-US" sz="2000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	 AND Country=‘Japan’</a:t>
            </a:r>
            <a:br>
              <a:rPr lang="en-US" sz="2000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       AND Price &lt;= 200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9812" y="4634421"/>
            <a:ext cx="3340359" cy="33135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813254" y="4037534"/>
            <a:ext cx="3796947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A </a:t>
            </a:r>
            <a:r>
              <a:rPr lang="en-US" sz="2400" b="1" u="sng" dirty="0">
                <a:latin typeface="+mj-lt"/>
              </a:rPr>
              <a:t>join</a:t>
            </a:r>
            <a:r>
              <a:rPr lang="en-US" sz="2400" dirty="0">
                <a:latin typeface="+mj-lt"/>
              </a:rPr>
              <a:t> between tables returns all unique combinations of their tuples </a:t>
            </a:r>
            <a:r>
              <a:rPr lang="en-US" sz="2400" b="1" dirty="0">
                <a:latin typeface="+mj-lt"/>
              </a:rPr>
              <a:t>which meet some specified join condition</a:t>
            </a:r>
            <a:endParaRPr lang="en-US" sz="2400" dirty="0">
              <a:latin typeface="+mj-lt"/>
            </a:endParaRPr>
          </a:p>
        </p:txBody>
      </p:sp>
      <p:sp>
        <p:nvSpPr>
          <p:cNvPr id="16" name="Rectangle 35"/>
          <p:cNvSpPr>
            <a:spLocks noChangeArrowheads="1"/>
          </p:cNvSpPr>
          <p:nvPr/>
        </p:nvSpPr>
        <p:spPr bwMode="auto">
          <a:xfrm>
            <a:off x="2418221" y="1678109"/>
            <a:ext cx="7355558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Price, Category, Manufacturer)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Company(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CName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StockPrice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Country)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Joins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5251-FD48-4EFD-BC81-08BA09D58607}" type="slidenum">
              <a:rPr lang="en-US"/>
              <a:pPr/>
              <a:t>36</a:t>
            </a:fld>
            <a:endParaRPr lang="en-US"/>
          </a:p>
        </p:txBody>
      </p:sp>
      <p:sp>
        <p:nvSpPr>
          <p:cNvPr id="116739" name="Rectangle 3"/>
          <p:cNvSpPr>
            <a:spLocks noChangeArrowheads="1"/>
          </p:cNvSpPr>
          <p:nvPr/>
        </p:nvSpPr>
        <p:spPr bwMode="auto">
          <a:xfrm>
            <a:off x="4953000" y="2571750"/>
            <a:ext cx="2375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116740" name="Rectangle 4"/>
          <p:cNvSpPr>
            <a:spLocks noChangeArrowheads="1"/>
          </p:cNvSpPr>
          <p:nvPr/>
        </p:nvSpPr>
        <p:spPr bwMode="auto">
          <a:xfrm>
            <a:off x="578245" y="3003672"/>
            <a:ext cx="7191375" cy="488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/>
            <a:r>
              <a:rPr lang="en-US" sz="2400" dirty="0"/>
              <a:t>Several equivalent ways to write a basic join in SQL:</a:t>
            </a:r>
          </a:p>
        </p:txBody>
      </p:sp>
      <p:sp>
        <p:nvSpPr>
          <p:cNvPr id="116741" name="Rectangle 5"/>
          <p:cNvSpPr>
            <a:spLocks noChangeArrowheads="1"/>
          </p:cNvSpPr>
          <p:nvPr/>
        </p:nvSpPr>
        <p:spPr bwMode="auto">
          <a:xfrm>
            <a:off x="671551" y="3826323"/>
            <a:ext cx="3937771" cy="14773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, Price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Product, Company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  </a:t>
            </a:r>
            <a:r>
              <a:rPr lang="en-US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Manufacturer = </a:t>
            </a:r>
            <a:r>
              <a:rPr lang="en-US" dirty="0" err="1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CName</a:t>
            </a:r>
            <a:r>
              <a:rPr lang="en-US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 eaLnBrk="0" hangingPunct="0"/>
            <a:r>
              <a:rPr lang="en-US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	 AND Country=‘Japan’</a:t>
            </a:r>
            <a:br>
              <a:rPr lang="en-US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       AND Price &lt;= 200</a:t>
            </a: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4952999" y="3822144"/>
            <a:ext cx="6794241" cy="14773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, Price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Product</a:t>
            </a:r>
          </a:p>
          <a:p>
            <a:pPr eaLnBrk="0" hangingPunct="0"/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JOIN   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Company 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ON </a:t>
            </a:r>
            <a:r>
              <a:rPr lang="en-US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Manufacturer = </a:t>
            </a:r>
            <a:r>
              <a:rPr lang="en-US" dirty="0" err="1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Cname</a:t>
            </a:r>
            <a:r>
              <a:rPr lang="en-US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 eaLnBrk="0" hangingPunct="0"/>
            <a:r>
              <a:rPr lang="en-US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	       AND Country=‘Japan’</a:t>
            </a:r>
            <a:br>
              <a:rPr lang="en-US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  Price &lt;= 200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249886" y="5784980"/>
            <a:ext cx="222112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A few more later on…</a:t>
            </a:r>
          </a:p>
        </p:txBody>
      </p:sp>
      <p:sp>
        <p:nvSpPr>
          <p:cNvPr id="14" name="Rectangle 35"/>
          <p:cNvSpPr>
            <a:spLocks noChangeArrowheads="1"/>
          </p:cNvSpPr>
          <p:nvPr/>
        </p:nvSpPr>
        <p:spPr bwMode="auto">
          <a:xfrm>
            <a:off x="2418221" y="1678109"/>
            <a:ext cx="7355558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Price, Category, Manufacturer)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Company(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CName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StockPrice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Country)</a:t>
            </a:r>
          </a:p>
        </p:txBody>
      </p:sp>
    </p:spTree>
    <p:extLst>
      <p:ext uri="{BB962C8B-B14F-4D97-AF65-F5344CB8AC3E}">
        <p14:creationId xmlns:p14="http://schemas.microsoft.com/office/powerpoint/2010/main" val="1203636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04800"/>
            <a:ext cx="8229600" cy="1143000"/>
          </a:xfrm>
        </p:spPr>
        <p:txBody>
          <a:bodyPr/>
          <a:lstStyle/>
          <a:p>
            <a:r>
              <a:rPr lang="en-US" dirty="0"/>
              <a:t>Joins</a:t>
            </a:r>
          </a:p>
        </p:txBody>
      </p:sp>
      <p:sp>
        <p:nvSpPr>
          <p:cNvPr id="8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6484-5FE9-4B9D-AD26-033FE1A8F5C0}" type="slidenum">
              <a:rPr lang="en-US"/>
              <a:pPr/>
              <a:t>37</a:t>
            </a:fld>
            <a:endParaRPr lang="en-US"/>
          </a:p>
        </p:txBody>
      </p:sp>
      <p:graphicFrame>
        <p:nvGraphicFramePr>
          <p:cNvPr id="156742" name="Group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123850"/>
              </p:ext>
            </p:extLst>
          </p:nvPr>
        </p:nvGraphicFramePr>
        <p:xfrm>
          <a:off x="1524000" y="1708151"/>
          <a:ext cx="5029200" cy="2456793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88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Category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Manuf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GWorks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Powergizmo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$29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GWorks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SingleTouch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$149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Photography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Canon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89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MultiTouch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$203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Household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Hitachi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6708" name="Text Box 36"/>
          <p:cNvSpPr txBox="1">
            <a:spLocks noChangeArrowheads="1"/>
          </p:cNvSpPr>
          <p:nvPr/>
        </p:nvSpPr>
        <p:spPr bwMode="auto">
          <a:xfrm>
            <a:off x="1524000" y="1244478"/>
            <a:ext cx="11649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Product</a:t>
            </a:r>
          </a:p>
        </p:txBody>
      </p:sp>
      <p:sp>
        <p:nvSpPr>
          <p:cNvPr id="156709" name="Text Box 37"/>
          <p:cNvSpPr txBox="1">
            <a:spLocks noChangeArrowheads="1"/>
          </p:cNvSpPr>
          <p:nvPr/>
        </p:nvSpPr>
        <p:spPr bwMode="auto">
          <a:xfrm>
            <a:off x="9347067" y="1489841"/>
            <a:ext cx="13644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Company</a:t>
            </a:r>
          </a:p>
        </p:txBody>
      </p:sp>
      <p:graphicFrame>
        <p:nvGraphicFramePr>
          <p:cNvPr id="156743" name="Group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395204"/>
              </p:ext>
            </p:extLst>
          </p:nvPr>
        </p:nvGraphicFramePr>
        <p:xfrm>
          <a:off x="6858000" y="1936751"/>
          <a:ext cx="3810000" cy="1845129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8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Cname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Stock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Country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GWorks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USA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Canon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65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Japan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Hitachi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Japan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6785" name="Group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573037"/>
              </p:ext>
            </p:extLst>
          </p:nvPr>
        </p:nvGraphicFramePr>
        <p:xfrm>
          <a:off x="6858000" y="5441950"/>
          <a:ext cx="3810000" cy="914400"/>
        </p:xfrm>
        <a:graphic>
          <a:graphicData uri="http://schemas.openxmlformats.org/drawingml/2006/table">
            <a:tbl>
              <a:tblPr/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SingleTouch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$149.99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6786" name="AutoShape 114"/>
          <p:cNvSpPr>
            <a:spLocks noChangeArrowheads="1"/>
          </p:cNvSpPr>
          <p:nvPr/>
        </p:nvSpPr>
        <p:spPr bwMode="auto">
          <a:xfrm>
            <a:off x="8559282" y="4146550"/>
            <a:ext cx="366960" cy="458629"/>
          </a:xfrm>
          <a:prstGeom prst="downArrow">
            <a:avLst>
              <a:gd name="adj1" fmla="val 50000"/>
              <a:gd name="adj2" fmla="val 5024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cxnSp>
        <p:nvCxnSpPr>
          <p:cNvPr id="20" name="Elbow Connector 19"/>
          <p:cNvCxnSpPr/>
          <p:nvPr/>
        </p:nvCxnSpPr>
        <p:spPr>
          <a:xfrm rot="16200000" flipH="1">
            <a:off x="6515100" y="2279650"/>
            <a:ext cx="381000" cy="30480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/>
          <p:nvPr/>
        </p:nvCxnSpPr>
        <p:spPr>
          <a:xfrm flipV="1">
            <a:off x="6553200" y="2622550"/>
            <a:ext cx="304800" cy="15240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/>
          <p:nvPr/>
        </p:nvCxnSpPr>
        <p:spPr>
          <a:xfrm flipV="1">
            <a:off x="6553200" y="3155950"/>
            <a:ext cx="304800" cy="15240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/>
          <p:nvPr/>
        </p:nvCxnSpPr>
        <p:spPr>
          <a:xfrm flipV="1">
            <a:off x="6553200" y="3536950"/>
            <a:ext cx="304800" cy="15240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3124200" y="2095018"/>
            <a:ext cx="838200" cy="1441932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9525000" y="2774950"/>
            <a:ext cx="838200" cy="1143000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1524000" y="4725134"/>
            <a:ext cx="4493538" cy="163121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Price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Product, Company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  </a:t>
            </a:r>
            <a:r>
              <a:rPr lang="en-US" sz="2000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Manufacturer = </a:t>
            </a:r>
            <a:r>
              <a:rPr lang="en-US" sz="2000" dirty="0" err="1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CName</a:t>
            </a:r>
            <a:r>
              <a:rPr lang="en-US" sz="2000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	 AND Country=‘Japan’</a:t>
            </a:r>
            <a:br>
              <a:rPr lang="en-US" sz="2000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       AND Price &lt;= 200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6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56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786" grpId="0" animBg="1"/>
      <p:bldP spid="30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 Variable Ambiguity in Multi-Table</a:t>
            </a:r>
          </a:p>
        </p:txBody>
      </p:sp>
      <p:sp>
        <p:nvSpPr>
          <p:cNvPr id="1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FD01-A463-40E6-8EDF-34ACF87CFEE9}" type="slidenum">
              <a:rPr lang="en-US"/>
              <a:pPr/>
              <a:t>38</a:t>
            </a:fld>
            <a:endParaRPr lang="en-US"/>
          </a:p>
        </p:txBody>
      </p:sp>
      <p:sp>
        <p:nvSpPr>
          <p:cNvPr id="161796" name="Rectangle 4"/>
          <p:cNvSpPr>
            <a:spLocks noChangeArrowheads="1"/>
          </p:cNvSpPr>
          <p:nvPr/>
        </p:nvSpPr>
        <p:spPr bwMode="auto">
          <a:xfrm>
            <a:off x="2680685" y="3959736"/>
            <a:ext cx="5109091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DISTINCT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name, address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   	    Person, Company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           </a:t>
            </a:r>
            <a:r>
              <a:rPr lang="en-US" sz="2000" dirty="0" err="1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worksfor</a:t>
            </a:r>
            <a:r>
              <a:rPr lang="en-US" sz="2000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 = name</a:t>
            </a:r>
          </a:p>
        </p:txBody>
      </p:sp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2590799" y="1900375"/>
            <a:ext cx="5288865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Person(</a:t>
            </a:r>
            <a:r>
              <a:rPr lang="en-US" sz="2000" u="sng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name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address,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worksfor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  <a:b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Company(</a:t>
            </a:r>
            <a:r>
              <a:rPr lang="en-US" sz="2000" u="sng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name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address)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0641" y="3682737"/>
            <a:ext cx="3167779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Which “address” does this refer to</a:t>
            </a:r>
            <a:r>
              <a:rPr lang="en-US" sz="2400" b="1" dirty="0">
                <a:latin typeface="+mj-lt"/>
              </a:rPr>
              <a:t>?</a:t>
            </a:r>
          </a:p>
          <a:p>
            <a:endParaRPr lang="en-US" sz="2400" b="1" dirty="0">
              <a:latin typeface="+mj-lt"/>
            </a:endParaRPr>
          </a:p>
          <a:p>
            <a:r>
              <a:rPr lang="en-US" sz="2400" b="1" dirty="0">
                <a:latin typeface="+mj-lt"/>
              </a:rPr>
              <a:t>Which “</a:t>
            </a:r>
            <a:r>
              <a:rPr lang="en-US" sz="2400" b="1" dirty="0" err="1">
                <a:latin typeface="+mj-lt"/>
              </a:rPr>
              <a:t>name”s</a:t>
            </a:r>
            <a:r>
              <a:rPr lang="en-US" sz="2400" b="1" dirty="0">
                <a:latin typeface="+mj-lt"/>
              </a:rPr>
              <a:t>??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 Variable Ambiguity in Multi-Table</a:t>
            </a:r>
          </a:p>
        </p:txBody>
      </p:sp>
      <p:sp>
        <p:nvSpPr>
          <p:cNvPr id="1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FD01-A463-40E6-8EDF-34ACF87CFEE9}" type="slidenum">
              <a:rPr lang="en-US"/>
              <a:pPr/>
              <a:t>39</a:t>
            </a:fld>
            <a:endParaRPr lang="en-US"/>
          </a:p>
        </p:txBody>
      </p:sp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2590799" y="1900375"/>
            <a:ext cx="5288865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Person(</a:t>
            </a:r>
            <a:r>
              <a:rPr lang="en-US" sz="2000" u="sng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name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address,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worksfor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  <a:b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Company(</a:t>
            </a:r>
            <a:r>
              <a:rPr lang="en-US" sz="2000" u="sng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name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address)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590799" y="3275513"/>
            <a:ext cx="7417415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DISTINCT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Person.name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Person.address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   	    Person, Company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           </a:t>
            </a:r>
            <a:r>
              <a:rPr lang="en-US" sz="2000" dirty="0" err="1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Person.worksfor</a:t>
            </a:r>
            <a:r>
              <a:rPr lang="en-US" sz="2000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000" dirty="0" err="1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Company.name</a:t>
            </a:r>
            <a:endParaRPr lang="en-US" sz="2000" dirty="0">
              <a:solidFill>
                <a:schemeClr val="tx2"/>
              </a:solidFill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2590799" y="4650651"/>
            <a:ext cx="5570756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DISTINCT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p.name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p.address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   	    Person p, Company c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           </a:t>
            </a:r>
            <a:r>
              <a:rPr lang="en-US" sz="2000" dirty="0" err="1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p.worksfor</a:t>
            </a:r>
            <a:r>
              <a:rPr lang="en-US" sz="2000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000" dirty="0" err="1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c.name</a:t>
            </a:r>
            <a:endParaRPr lang="en-US" sz="2000" dirty="0">
              <a:solidFill>
                <a:schemeClr val="tx2"/>
              </a:solidFill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2" name="Left Brace 1"/>
          <p:cNvSpPr/>
          <p:nvPr/>
        </p:nvSpPr>
        <p:spPr>
          <a:xfrm>
            <a:off x="2146041" y="3116424"/>
            <a:ext cx="233265" cy="280851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73225" y="3853543"/>
            <a:ext cx="17728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Both equivalent ways to resolve </a:t>
            </a:r>
            <a:r>
              <a:rPr lang="en-US">
                <a:latin typeface="+mj-lt"/>
              </a:rPr>
              <a:t>variable ambiguity</a:t>
            </a:r>
          </a:p>
        </p:txBody>
      </p:sp>
    </p:spTree>
    <p:extLst>
      <p:ext uri="{BB962C8B-B14F-4D97-AF65-F5344CB8AC3E}">
        <p14:creationId xmlns:p14="http://schemas.microsoft.com/office/powerpoint/2010/main" val="18002330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Meaning (Semantics) of SQL Queries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279F-C85C-4384-9BE6-F588BE1D5F0F}" type="slidenum">
              <a:rPr lang="en-US"/>
              <a:pPr/>
              <a:t>40</a:t>
            </a:fld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946275"/>
            <a:ext cx="5878513" cy="923925"/>
          </a:xfrm>
          <a:solidFill>
            <a:schemeClr val="bg1"/>
          </a:solidFill>
          <a:ln cap="flat">
            <a:solidFill>
              <a:schemeClr val="tx1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x</a:t>
            </a:r>
            <a:r>
              <a:rPr lang="en-US" sz="2000" baseline="-25000" dirty="0">
                <a:latin typeface="Menlo" charset="0"/>
                <a:ea typeface="Menlo" charset="0"/>
                <a:cs typeface="Menlo" charset="0"/>
              </a:rPr>
              <a:t>1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.a</a:t>
            </a:r>
            <a:r>
              <a:rPr lang="en-US" sz="2000" baseline="-25000" dirty="0">
                <a:latin typeface="Menlo" charset="0"/>
                <a:ea typeface="Menlo" charset="0"/>
                <a:cs typeface="Menlo" charset="0"/>
              </a:rPr>
              <a:t>1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x</a:t>
            </a:r>
            <a:r>
              <a:rPr lang="en-US" sz="2000" baseline="-25000" dirty="0">
                <a:latin typeface="Menlo" charset="0"/>
                <a:ea typeface="Menlo" charset="0"/>
                <a:cs typeface="Menlo" charset="0"/>
              </a:rPr>
              <a:t>1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.a</a:t>
            </a:r>
            <a:r>
              <a:rPr lang="en-US" sz="2000" baseline="-25000" dirty="0">
                <a:latin typeface="Menlo" charset="0"/>
                <a:ea typeface="Menlo" charset="0"/>
                <a:cs typeface="Menlo" charset="0"/>
              </a:rPr>
              <a:t>2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…,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x</a:t>
            </a:r>
            <a:r>
              <a:rPr lang="en-US" sz="2000" baseline="-25000" dirty="0" err="1">
                <a:latin typeface="Menlo" charset="0"/>
                <a:ea typeface="Menlo" charset="0"/>
                <a:cs typeface="Menlo" charset="0"/>
              </a:rPr>
              <a:t>n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.a</a:t>
            </a:r>
            <a:r>
              <a:rPr lang="en-US" sz="2000" baseline="-25000" dirty="0" err="1">
                <a:latin typeface="Menlo" charset="0"/>
                <a:ea typeface="Menlo" charset="0"/>
                <a:cs typeface="Menlo" charset="0"/>
              </a:rPr>
              <a:t>k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R</a:t>
            </a:r>
            <a:r>
              <a:rPr lang="en-US" sz="2000" baseline="-25000" dirty="0">
                <a:latin typeface="Menlo" charset="0"/>
                <a:ea typeface="Menlo" charset="0"/>
                <a:cs typeface="Menlo" charset="0"/>
              </a:rPr>
              <a:t>1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AS x</a:t>
            </a:r>
            <a:r>
              <a:rPr lang="en-US" sz="2000" baseline="-25000" dirty="0">
                <a:latin typeface="Menlo" charset="0"/>
                <a:ea typeface="Menlo" charset="0"/>
                <a:cs typeface="Menlo" charset="0"/>
              </a:rPr>
              <a:t>1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R</a:t>
            </a:r>
            <a:r>
              <a:rPr lang="en-US" sz="2000" baseline="-25000" dirty="0">
                <a:latin typeface="Menlo" charset="0"/>
                <a:ea typeface="Menlo" charset="0"/>
                <a:cs typeface="Menlo" charset="0"/>
              </a:rPr>
              <a:t>2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AS x</a:t>
            </a:r>
            <a:r>
              <a:rPr lang="en-US" sz="2000" baseline="-25000" dirty="0">
                <a:latin typeface="Menlo" charset="0"/>
                <a:ea typeface="Menlo" charset="0"/>
                <a:cs typeface="Menlo" charset="0"/>
              </a:rPr>
              <a:t>2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…, R</a:t>
            </a:r>
            <a:r>
              <a:rPr lang="en-US" sz="2000" baseline="-25000" dirty="0">
                <a:latin typeface="Menlo" charset="0"/>
                <a:ea typeface="Menlo" charset="0"/>
                <a:cs typeface="Menlo" charset="0"/>
              </a:rPr>
              <a:t>n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AS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x</a:t>
            </a:r>
            <a:r>
              <a:rPr lang="en-US" sz="2000" baseline="-25000" dirty="0" err="1">
                <a:latin typeface="Menlo" charset="0"/>
                <a:ea typeface="Menlo" charset="0"/>
                <a:cs typeface="Menlo" charset="0"/>
              </a:rPr>
              <a:t>n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Conditions(x</a:t>
            </a:r>
            <a:r>
              <a:rPr lang="en-US" sz="2000" baseline="-25000" dirty="0">
                <a:latin typeface="Menlo" charset="0"/>
                <a:ea typeface="Menlo" charset="0"/>
                <a:cs typeface="Menlo" charset="0"/>
              </a:rPr>
              <a:t>1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,…,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x</a:t>
            </a:r>
            <a:r>
              <a:rPr lang="en-US" sz="2000" baseline="-25000" dirty="0" err="1">
                <a:latin typeface="Menlo" charset="0"/>
                <a:ea typeface="Menlo" charset="0"/>
                <a:cs typeface="Menlo" charset="0"/>
              </a:rPr>
              <a:t>n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  <p:sp>
        <p:nvSpPr>
          <p:cNvPr id="120836" name="Rectangle 4"/>
          <p:cNvSpPr>
            <a:spLocks noChangeArrowheads="1"/>
          </p:cNvSpPr>
          <p:nvPr/>
        </p:nvSpPr>
        <p:spPr bwMode="auto">
          <a:xfrm>
            <a:off x="838200" y="3178864"/>
            <a:ext cx="8153400" cy="275152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90000"/>
              </a:lnSpc>
            </a:pPr>
            <a:r>
              <a:rPr lang="en-US" sz="2400" dirty="0"/>
              <a:t>Answer = {}</a:t>
            </a:r>
          </a:p>
          <a:p>
            <a:pPr marL="342900" indent="-342900" eaLnBrk="0" hangingPunct="0">
              <a:lnSpc>
                <a:spcPct val="90000"/>
              </a:lnSpc>
            </a:pPr>
            <a:r>
              <a:rPr lang="en-US" sz="2400" b="1" dirty="0"/>
              <a:t>for</a:t>
            </a:r>
            <a:r>
              <a:rPr lang="en-US" sz="2400" dirty="0"/>
              <a:t> x</a:t>
            </a:r>
            <a:r>
              <a:rPr lang="en-US" sz="2400" baseline="-25000" dirty="0"/>
              <a:t>1</a:t>
            </a:r>
            <a:r>
              <a:rPr lang="en-US" sz="2400" dirty="0"/>
              <a:t> </a:t>
            </a:r>
            <a:r>
              <a:rPr lang="en-US" sz="2400" b="1" dirty="0"/>
              <a:t>in</a:t>
            </a:r>
            <a:r>
              <a:rPr lang="en-US" sz="2400" dirty="0"/>
              <a:t> R</a:t>
            </a:r>
            <a:r>
              <a:rPr lang="en-US" sz="2400" b="1" baseline="-25000" dirty="0"/>
              <a:t>1</a:t>
            </a:r>
            <a:r>
              <a:rPr lang="en-US" sz="2400" dirty="0"/>
              <a:t> </a:t>
            </a:r>
            <a:r>
              <a:rPr lang="en-US" sz="2400" b="1" dirty="0"/>
              <a:t>do</a:t>
            </a:r>
          </a:p>
          <a:p>
            <a:pPr marL="342900" indent="-342900" eaLnBrk="0" hangingPunct="0">
              <a:lnSpc>
                <a:spcPct val="90000"/>
              </a:lnSpc>
            </a:pPr>
            <a:r>
              <a:rPr lang="en-US" sz="2400" dirty="0"/>
              <a:t>      </a:t>
            </a:r>
            <a:r>
              <a:rPr lang="en-US" sz="2400" b="1" dirty="0"/>
              <a:t>for</a:t>
            </a:r>
            <a:r>
              <a:rPr lang="en-US" sz="2400" dirty="0"/>
              <a:t> x</a:t>
            </a:r>
            <a:r>
              <a:rPr lang="en-US" sz="2400" baseline="-25000" dirty="0"/>
              <a:t>2</a:t>
            </a:r>
            <a:r>
              <a:rPr lang="en-US" sz="2400" dirty="0"/>
              <a:t> </a:t>
            </a:r>
            <a:r>
              <a:rPr lang="en-US" sz="2400" b="1" dirty="0"/>
              <a:t>in</a:t>
            </a:r>
            <a:r>
              <a:rPr lang="en-US" sz="2400" dirty="0"/>
              <a:t> R</a:t>
            </a:r>
            <a:r>
              <a:rPr lang="en-US" sz="2400" baseline="-25000" dirty="0"/>
              <a:t>2</a:t>
            </a:r>
            <a:r>
              <a:rPr lang="en-US" sz="2400" dirty="0"/>
              <a:t> </a:t>
            </a:r>
            <a:r>
              <a:rPr lang="en-US" sz="2400" b="1" dirty="0"/>
              <a:t>do</a:t>
            </a:r>
          </a:p>
          <a:p>
            <a:pPr marL="342900" indent="-342900" eaLnBrk="0" hangingPunct="0">
              <a:lnSpc>
                <a:spcPct val="90000"/>
              </a:lnSpc>
            </a:pPr>
            <a:r>
              <a:rPr lang="en-US" sz="2400" dirty="0"/>
              <a:t>           …..</a:t>
            </a:r>
          </a:p>
          <a:p>
            <a:pPr marL="342900" indent="-342900" eaLnBrk="0" hangingPunct="0">
              <a:lnSpc>
                <a:spcPct val="90000"/>
              </a:lnSpc>
            </a:pPr>
            <a:r>
              <a:rPr lang="en-US" sz="2400" dirty="0"/>
              <a:t>                </a:t>
            </a:r>
            <a:r>
              <a:rPr lang="en-US" sz="2400" b="1" dirty="0"/>
              <a:t>for</a:t>
            </a:r>
            <a:r>
              <a:rPr lang="en-US" sz="2400" dirty="0"/>
              <a:t> </a:t>
            </a:r>
            <a:r>
              <a:rPr lang="en-US" sz="2400" dirty="0" err="1"/>
              <a:t>x</a:t>
            </a:r>
            <a:r>
              <a:rPr lang="en-US" sz="2400" baseline="-25000" dirty="0" err="1"/>
              <a:t>n</a:t>
            </a:r>
            <a:r>
              <a:rPr lang="en-US" sz="2400" dirty="0"/>
              <a:t> </a:t>
            </a:r>
            <a:r>
              <a:rPr lang="en-US" sz="2400" b="1" dirty="0"/>
              <a:t>in</a:t>
            </a:r>
            <a:r>
              <a:rPr lang="en-US" sz="2400" dirty="0"/>
              <a:t> </a:t>
            </a:r>
            <a:r>
              <a:rPr lang="en-US" sz="2400" dirty="0" err="1"/>
              <a:t>R</a:t>
            </a:r>
            <a:r>
              <a:rPr lang="en-US" sz="2400" baseline="-25000" dirty="0" err="1"/>
              <a:t>n</a:t>
            </a:r>
            <a:r>
              <a:rPr lang="en-US" sz="2400" dirty="0"/>
              <a:t> </a:t>
            </a:r>
            <a:r>
              <a:rPr lang="en-US" sz="2400" b="1" dirty="0"/>
              <a:t>do</a:t>
            </a:r>
          </a:p>
          <a:p>
            <a:pPr marL="342900" indent="-342900" eaLnBrk="0" hangingPunct="0">
              <a:lnSpc>
                <a:spcPct val="90000"/>
              </a:lnSpc>
            </a:pPr>
            <a:r>
              <a:rPr lang="en-US" sz="2400" dirty="0"/>
              <a:t>                       </a:t>
            </a:r>
            <a:r>
              <a:rPr lang="en-US" sz="2400" b="1" dirty="0"/>
              <a:t>if</a:t>
            </a:r>
            <a:r>
              <a:rPr lang="en-US" sz="2400" dirty="0"/>
              <a:t> Conditions(x</a:t>
            </a:r>
            <a:r>
              <a:rPr lang="en-US" sz="2400" baseline="-25000" dirty="0"/>
              <a:t>1</a:t>
            </a:r>
            <a:r>
              <a:rPr lang="en-US" sz="2400" dirty="0"/>
              <a:t>,…, </a:t>
            </a:r>
            <a:r>
              <a:rPr lang="en-US" sz="2400" dirty="0" err="1"/>
              <a:t>x</a:t>
            </a:r>
            <a:r>
              <a:rPr lang="en-US" sz="2400" baseline="-25000" dirty="0" err="1"/>
              <a:t>n</a:t>
            </a:r>
            <a:r>
              <a:rPr lang="en-US" sz="2400" dirty="0"/>
              <a:t>)</a:t>
            </a:r>
          </a:p>
          <a:p>
            <a:pPr marL="342900" indent="-342900" eaLnBrk="0" hangingPunct="0">
              <a:lnSpc>
                <a:spcPct val="90000"/>
              </a:lnSpc>
            </a:pPr>
            <a:r>
              <a:rPr lang="en-US" sz="2400" dirty="0"/>
              <a:t>                             </a:t>
            </a:r>
            <a:r>
              <a:rPr lang="en-US" sz="2400" b="1" dirty="0"/>
              <a:t>then</a:t>
            </a:r>
            <a:r>
              <a:rPr lang="en-US" sz="2400" dirty="0"/>
              <a:t> Answer = Answer </a:t>
            </a:r>
            <a:r>
              <a:rPr lang="en-US" sz="2400" dirty="0">
                <a:sym typeface="Symbol" charset="2"/>
              </a:rPr>
              <a:t></a:t>
            </a:r>
            <a:r>
              <a:rPr lang="en-US" sz="2400" dirty="0"/>
              <a:t> {(x</a:t>
            </a:r>
            <a:r>
              <a:rPr lang="en-US" sz="2400" baseline="-25000" dirty="0"/>
              <a:t>1</a:t>
            </a:r>
            <a:r>
              <a:rPr lang="en-US" sz="2400" dirty="0"/>
              <a:t>.a</a:t>
            </a:r>
            <a:r>
              <a:rPr lang="en-US" sz="2400" baseline="-25000" dirty="0"/>
              <a:t>1</a:t>
            </a:r>
            <a:r>
              <a:rPr lang="en-US" sz="2400" dirty="0"/>
              <a:t>, x</a:t>
            </a:r>
            <a:r>
              <a:rPr lang="en-US" sz="2400" baseline="-25000" dirty="0"/>
              <a:t>1</a:t>
            </a:r>
            <a:r>
              <a:rPr lang="en-US" sz="2400" dirty="0"/>
              <a:t>.a</a:t>
            </a:r>
            <a:r>
              <a:rPr lang="en-US" sz="2400" baseline="-25000" dirty="0"/>
              <a:t>2</a:t>
            </a:r>
            <a:r>
              <a:rPr lang="en-US" sz="2400" dirty="0"/>
              <a:t>, …, </a:t>
            </a:r>
            <a:r>
              <a:rPr lang="en-US" sz="2400" dirty="0" err="1"/>
              <a:t>x</a:t>
            </a:r>
            <a:r>
              <a:rPr lang="en-US" sz="2400" baseline="-25000" dirty="0" err="1"/>
              <a:t>n</a:t>
            </a:r>
            <a:r>
              <a:rPr lang="en-US" sz="2400" dirty="0" err="1"/>
              <a:t>.a</a:t>
            </a:r>
            <a:r>
              <a:rPr lang="en-US" sz="2400" baseline="-25000" dirty="0" err="1"/>
              <a:t>k</a:t>
            </a:r>
            <a:r>
              <a:rPr lang="en-US" sz="2400" dirty="0"/>
              <a:t>)}</a:t>
            </a:r>
          </a:p>
          <a:p>
            <a:pPr marL="342900" indent="-342900" eaLnBrk="0" hangingPunct="0">
              <a:lnSpc>
                <a:spcPct val="90000"/>
              </a:lnSpc>
            </a:pPr>
            <a:r>
              <a:rPr lang="en-US" sz="2400" b="1" dirty="0"/>
              <a:t>return</a:t>
            </a:r>
            <a:r>
              <a:rPr lang="en-US" sz="2400" dirty="0"/>
              <a:t>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72569" y="2057219"/>
            <a:ext cx="3241610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Almost never the </a:t>
            </a:r>
            <a:r>
              <a:rPr lang="en-US" sz="2000" i="1" dirty="0">
                <a:latin typeface="+mj-lt"/>
              </a:rPr>
              <a:t>fastest</a:t>
            </a:r>
            <a:r>
              <a:rPr lang="en-US" sz="2000" dirty="0">
                <a:latin typeface="+mj-lt"/>
              </a:rPr>
              <a:t> way to compute it!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84979" y="6125517"/>
            <a:ext cx="3872205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Note: </a:t>
            </a:r>
            <a:r>
              <a:rPr lang="en-US" sz="2400" dirty="0">
                <a:latin typeface="+mj-lt"/>
              </a:rPr>
              <a:t>this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is a </a:t>
            </a:r>
            <a:r>
              <a:rPr lang="en-US" sz="2400" i="1" dirty="0" err="1">
                <a:latin typeface="+mj-lt"/>
              </a:rPr>
              <a:t>multiset</a:t>
            </a:r>
            <a:r>
              <a:rPr lang="en-US" sz="2400" i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union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5577232" y="5019357"/>
            <a:ext cx="609600" cy="649188"/>
          </a:xfrm>
          <a:prstGeom prst="ellipse">
            <a:avLst/>
          </a:prstGeom>
          <a:noFill/>
          <a:ln w="50800" cap="flat" cmpd="sng" algn="ctr">
            <a:solidFill>
              <a:srgbClr val="FF5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643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6" grpId="0" animBg="1" autoUpdateAnimBg="0"/>
      <p:bldP spid="7" grpId="0" animBg="1"/>
      <p:bldP spid="8" grpId="0" animBg="1"/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of SQL semantics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162CE-480A-44CE-B867-ADB1FE527ED4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648901" y="1443866"/>
            <a:ext cx="2895600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R.A</a:t>
            </a:r>
          </a:p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R, S</a:t>
            </a:r>
          </a:p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R.A = S.B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261093"/>
              </p:ext>
            </p:extLst>
          </p:nvPr>
        </p:nvGraphicFramePr>
        <p:xfrm>
          <a:off x="974813" y="2590773"/>
          <a:ext cx="609600" cy="15544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151818"/>
              </p:ext>
            </p:extLst>
          </p:nvPr>
        </p:nvGraphicFramePr>
        <p:xfrm>
          <a:off x="974813" y="4511013"/>
          <a:ext cx="990600" cy="20726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909331"/>
              </p:ext>
            </p:extLst>
          </p:nvPr>
        </p:nvGraphicFramePr>
        <p:xfrm>
          <a:off x="4283532" y="2972853"/>
          <a:ext cx="1447800" cy="36271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ight Arrow 9"/>
          <p:cNvSpPr/>
          <p:nvPr/>
        </p:nvSpPr>
        <p:spPr bwMode="auto">
          <a:xfrm>
            <a:off x="2783744" y="4358167"/>
            <a:ext cx="956042" cy="496555"/>
          </a:xfrm>
          <a:prstGeom prst="rightArrow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 New Roman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58489" y="3368013"/>
            <a:ext cx="121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Cross Product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063523"/>
              </p:ext>
            </p:extLst>
          </p:nvPr>
        </p:nvGraphicFramePr>
        <p:xfrm>
          <a:off x="8033661" y="4801870"/>
          <a:ext cx="1447800" cy="15544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Right Arrow 15"/>
          <p:cNvSpPr/>
          <p:nvPr/>
        </p:nvSpPr>
        <p:spPr bwMode="auto">
          <a:xfrm>
            <a:off x="7041414" y="1849845"/>
            <a:ext cx="1021646" cy="458859"/>
          </a:xfrm>
          <a:prstGeom prst="rightArrow">
            <a:avLst/>
          </a:prstGeom>
          <a:solidFill>
            <a:srgbClr val="C0C0C0">
              <a:alpha val="5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 New Roman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726105"/>
              </p:ext>
            </p:extLst>
          </p:nvPr>
        </p:nvGraphicFramePr>
        <p:xfrm>
          <a:off x="8559973" y="1460152"/>
          <a:ext cx="533400" cy="15544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ight Brace 6"/>
          <p:cNvSpPr/>
          <p:nvPr/>
        </p:nvSpPr>
        <p:spPr>
          <a:xfrm>
            <a:off x="1889213" y="2436195"/>
            <a:ext cx="576944" cy="434050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/>
          <p:cNvSpPr/>
          <p:nvPr/>
        </p:nvSpPr>
        <p:spPr bwMode="auto">
          <a:xfrm rot="16200000">
            <a:off x="8508990" y="3591539"/>
            <a:ext cx="625778" cy="481649"/>
          </a:xfrm>
          <a:prstGeom prst="rightArrow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 New Roman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93374" y="3416864"/>
            <a:ext cx="15620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Apply Projection</a:t>
            </a:r>
          </a:p>
        </p:txBody>
      </p:sp>
      <p:sp>
        <p:nvSpPr>
          <p:cNvPr id="23" name="Right Arrow 22"/>
          <p:cNvSpPr/>
          <p:nvPr/>
        </p:nvSpPr>
        <p:spPr bwMode="auto">
          <a:xfrm>
            <a:off x="6489229" y="5328730"/>
            <a:ext cx="956042" cy="496555"/>
          </a:xfrm>
          <a:prstGeom prst="rightArrow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 New Roman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81068" y="3900801"/>
            <a:ext cx="1761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Apply Selections / Conditions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0103" y="1381851"/>
            <a:ext cx="1562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+mj-lt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3675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6" grpId="0" animBg="1"/>
      <p:bldP spid="7" grpId="0" animBg="1"/>
      <p:bldP spid="20" grpId="0" animBg="1"/>
      <p:bldP spid="21" grpId="0"/>
      <p:bldP spid="23" grpId="0" animBg="1"/>
      <p:bldP spid="24" grpId="0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the </a:t>
            </a:r>
            <a:r>
              <a:rPr lang="en-US" b="1" i="1" dirty="0"/>
              <a:t>semantics</a:t>
            </a:r>
            <a:r>
              <a:rPr lang="en-US" dirty="0"/>
              <a:t> of a join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162CE-480A-44CE-B867-ADB1FE527ED4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808730" y="675025"/>
            <a:ext cx="2895600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R.A</a:t>
            </a:r>
          </a:p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R, S</a:t>
            </a:r>
          </a:p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R.A = S.B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5105" y="1888246"/>
            <a:ext cx="4478695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Recall: Cross product (A X B) is the set of all unique tuples in A,B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Ex: {</a:t>
            </a:r>
            <a:r>
              <a:rPr lang="en-US" dirty="0" err="1">
                <a:latin typeface="+mj-lt"/>
              </a:rPr>
              <a:t>a,b,c</a:t>
            </a:r>
            <a:r>
              <a:rPr lang="en-US" dirty="0">
                <a:latin typeface="+mj-lt"/>
              </a:rPr>
              <a:t>} X {1,2} </a:t>
            </a:r>
          </a:p>
          <a:p>
            <a:r>
              <a:rPr lang="en-US" dirty="0">
                <a:latin typeface="+mj-lt"/>
              </a:rPr>
              <a:t>	= {(a,1), (a,2), (b,1), (b,2), (c,1), (c,2)}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5105" y="3693743"/>
            <a:ext cx="1507818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= Filtering!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5105" y="4793117"/>
            <a:ext cx="3541892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= Returning only </a:t>
            </a:r>
            <a:r>
              <a:rPr lang="en-US" sz="2000" i="1" dirty="0">
                <a:latin typeface="+mj-lt"/>
              </a:rPr>
              <a:t>some</a:t>
            </a:r>
            <a:r>
              <a:rPr lang="en-US" sz="2000" dirty="0">
                <a:latin typeface="+mj-lt"/>
              </a:rPr>
              <a:t> attributes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1575" y="6013589"/>
            <a:ext cx="6348850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+mj-lt"/>
              </a:rPr>
              <a:t>Remembering this order is critical to understanding the output of certain queries (see later on…)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923731" y="1991625"/>
                <a:ext cx="6979298" cy="3600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800" dirty="0"/>
                  <a:t>Take </a:t>
                </a:r>
                <a:r>
                  <a:rPr lang="en-US" sz="2800" b="1" dirty="0"/>
                  <a:t>cross product</a:t>
                </a:r>
                <a:r>
                  <a:rPr lang="en-US" sz="2800" dirty="0"/>
                  <a:t>:</a:t>
                </a:r>
                <a:endParaRPr lang="en-US" sz="2800" b="0" i="1" dirty="0">
                  <a:latin typeface="Cambria Math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charset="0"/>
                        </a:rPr>
                        <m:t>𝑋</m:t>
                      </m:r>
                      <m:r>
                        <a:rPr lang="en-US" sz="2000" b="0" i="1" smtClean="0">
                          <a:latin typeface="Cambria Math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×</m:t>
                      </m:r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</m:t>
                      </m:r>
                    </m:oMath>
                  </m:oMathPara>
                </a14:m>
                <a:endParaRPr lang="en-US" sz="2000" b="0" dirty="0">
                  <a:ea typeface="Cambria Math" charset="0"/>
                  <a:cs typeface="Cambria Math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800" b="0" dirty="0">
                  <a:ea typeface="Cambria Math" charset="0"/>
                  <a:cs typeface="Cambria Math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800" b="0" dirty="0">
                  <a:ea typeface="Cambria Math" charset="0"/>
                  <a:cs typeface="Cambria Math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800" b="0" dirty="0">
                    <a:ea typeface="Cambria Math" charset="0"/>
                    <a:cs typeface="Cambria Math" charset="0"/>
                  </a:rPr>
                  <a:t>Apply </a:t>
                </a:r>
                <a:r>
                  <a:rPr lang="en-US" sz="2800" b="1" dirty="0">
                    <a:ea typeface="Cambria Math" charset="0"/>
                    <a:cs typeface="Cambria Math" charset="0"/>
                  </a:rPr>
                  <a:t>selections / conditions</a:t>
                </a:r>
                <a:r>
                  <a:rPr lang="en-US" sz="2800" b="0" dirty="0">
                    <a:ea typeface="Cambria Math" charset="0"/>
                    <a:cs typeface="Cambria Math" charset="0"/>
                  </a:rPr>
                  <a:t>:</a:t>
                </a:r>
                <a:endParaRPr lang="en-US" sz="2800" b="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𝑌</m:t>
                      </m:r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𝑟</m:t>
                              </m:r>
                              <m:r>
                                <a:rPr lang="en-US" sz="20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∈</m:t>
                          </m:r>
                          <m:r>
                            <a:rPr lang="en-US" sz="20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𝑋</m:t>
                          </m:r>
                          <m:r>
                            <a:rPr lang="en-US" sz="20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 </m:t>
                          </m:r>
                        </m:e>
                      </m:d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𝑟</m:t>
                      </m:r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==</m:t>
                      </m:r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𝑟</m:t>
                      </m:r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}</m:t>
                      </m:r>
                    </m:oMath>
                  </m:oMathPara>
                </a14:m>
                <a:endParaRPr lang="en-US" sz="2000" b="0" dirty="0">
                  <a:ea typeface="Cambria Math" charset="0"/>
                  <a:cs typeface="Cambria Math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800" b="0" dirty="0">
                  <a:ea typeface="Cambria Math" charset="0"/>
                  <a:cs typeface="Cambria Math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800" b="0" dirty="0">
                    <a:ea typeface="Cambria Math" charset="0"/>
                    <a:cs typeface="Cambria Math" charset="0"/>
                  </a:rPr>
                  <a:t>Apply </a:t>
                </a:r>
                <a:r>
                  <a:rPr lang="en-US" sz="2800" b="1" dirty="0">
                    <a:ea typeface="Cambria Math" charset="0"/>
                    <a:cs typeface="Cambria Math" charset="0"/>
                  </a:rPr>
                  <a:t>projections</a:t>
                </a:r>
                <a:r>
                  <a:rPr lang="en-US" sz="2800" b="0" dirty="0">
                    <a:ea typeface="Cambria Math" charset="0"/>
                    <a:cs typeface="Cambria Math" charset="0"/>
                  </a:rPr>
                  <a:t> to get final output:</a:t>
                </a:r>
                <a:endParaRPr lang="en-US" sz="2800" b="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𝑍</m:t>
                      </m:r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=(</m:t>
                      </m:r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,) </m:t>
                      </m:r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𝑓𝑜𝑟</m:t>
                      </m:r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𝑌</m:t>
                      </m:r>
                    </m:oMath>
                  </m:oMathPara>
                </a14:m>
                <a:endParaRPr lang="en-US" sz="2000" b="0" dirty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731" y="1991625"/>
                <a:ext cx="6979298" cy="360098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08585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Note: we say “semantics” not “execution order”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The preceding slides show </a:t>
            </a:r>
            <a:r>
              <a:rPr lang="en-US" i="1" dirty="0"/>
              <a:t>what a join means</a:t>
            </a:r>
            <a:endParaRPr lang="en-US" dirty="0"/>
          </a:p>
          <a:p>
            <a:endParaRPr lang="en-US" dirty="0"/>
          </a:p>
          <a:p>
            <a:r>
              <a:rPr lang="en-US" dirty="0"/>
              <a:t>Not actually how the DBMS executes it under the covers</a:t>
            </a:r>
          </a:p>
        </p:txBody>
      </p:sp>
    </p:spTree>
    <p:extLst>
      <p:ext uri="{BB962C8B-B14F-4D97-AF65-F5344CB8AC3E}">
        <p14:creationId xmlns:p14="http://schemas.microsoft.com/office/powerpoint/2010/main" val="15010609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Subtlety about Joins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A909-642B-4A41-9DA8-4CA43674AC60}" type="slidenum">
              <a:rPr lang="en-US"/>
              <a:pPr/>
              <a:t>44</a:t>
            </a:fld>
            <a:endParaRPr lang="en-US"/>
          </a:p>
        </p:txBody>
      </p:sp>
      <p:sp>
        <p:nvSpPr>
          <p:cNvPr id="233475" name="Rectangle 3"/>
          <p:cNvSpPr>
            <a:spLocks noChangeArrowheads="1"/>
          </p:cNvSpPr>
          <p:nvPr/>
        </p:nvSpPr>
        <p:spPr bwMode="auto">
          <a:xfrm>
            <a:off x="4953000" y="2760008"/>
            <a:ext cx="2375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233476" name="Rectangle 4"/>
          <p:cNvSpPr>
            <a:spLocks noChangeArrowheads="1"/>
          </p:cNvSpPr>
          <p:nvPr/>
        </p:nvSpPr>
        <p:spPr bwMode="auto">
          <a:xfrm>
            <a:off x="2704714" y="3218829"/>
            <a:ext cx="6573819" cy="967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/>
            <a:r>
              <a:rPr lang="en-US" sz="2400"/>
              <a:t>Find </a:t>
            </a:r>
            <a:r>
              <a:rPr lang="en-US" sz="2400" dirty="0"/>
              <a:t>all countries that manufacture some product in the ‘Gadgets’ category.</a:t>
            </a:r>
          </a:p>
        </p:txBody>
      </p:sp>
      <p:sp>
        <p:nvSpPr>
          <p:cNvPr id="233477" name="Rectangle 5"/>
          <p:cNvSpPr>
            <a:spLocks noChangeArrowheads="1"/>
          </p:cNvSpPr>
          <p:nvPr/>
        </p:nvSpPr>
        <p:spPr bwMode="auto">
          <a:xfrm>
            <a:off x="2233404" y="4523209"/>
            <a:ext cx="7725192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>
                <a:latin typeface="Menlo" charset="0"/>
                <a:ea typeface="Menlo" charset="0"/>
                <a:cs typeface="Menlo" charset="0"/>
              </a:rPr>
              <a:t> Country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>
                <a:latin typeface="Menlo" charset="0"/>
                <a:ea typeface="Menlo" charset="0"/>
                <a:cs typeface="Menlo" charset="0"/>
              </a:rPr>
              <a:t>   Product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Company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  </a:t>
            </a:r>
            <a:r>
              <a:rPr lang="en-US" sz="200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Manufacturer=</a:t>
            </a:r>
            <a:r>
              <a:rPr lang="en-US" sz="2000" dirty="0" err="1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CName</a:t>
            </a:r>
            <a:r>
              <a:rPr lang="en-US" sz="2000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 AND Category=‘Gadgets’</a:t>
            </a:r>
          </a:p>
        </p:txBody>
      </p:sp>
      <p:sp>
        <p:nvSpPr>
          <p:cNvPr id="18" name="Rectangle 35"/>
          <p:cNvSpPr>
            <a:spLocks noChangeArrowheads="1"/>
          </p:cNvSpPr>
          <p:nvPr/>
        </p:nvSpPr>
        <p:spPr bwMode="auto">
          <a:xfrm>
            <a:off x="2418221" y="1782787"/>
            <a:ext cx="7355558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Price, Category, Manufacturer)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Company(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CName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StockPrice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Country)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04800"/>
            <a:ext cx="8229600" cy="1143000"/>
          </a:xfrm>
        </p:spPr>
        <p:txBody>
          <a:bodyPr/>
          <a:lstStyle/>
          <a:p>
            <a:r>
              <a:rPr lang="en-US" dirty="0"/>
              <a:t>A subtlety about Joins</a:t>
            </a:r>
          </a:p>
        </p:txBody>
      </p:sp>
      <p:sp>
        <p:nvSpPr>
          <p:cNvPr id="8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6484-5FE9-4B9D-AD26-033FE1A8F5C0}" type="slidenum">
              <a:rPr lang="en-US"/>
              <a:pPr/>
              <a:t>45</a:t>
            </a:fld>
            <a:endParaRPr lang="en-US"/>
          </a:p>
        </p:txBody>
      </p:sp>
      <p:graphicFrame>
        <p:nvGraphicFramePr>
          <p:cNvPr id="156742" name="Group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849240"/>
              </p:ext>
            </p:extLst>
          </p:nvPr>
        </p:nvGraphicFramePr>
        <p:xfrm>
          <a:off x="1819835" y="1911884"/>
          <a:ext cx="4285129" cy="2055375"/>
        </p:xfrm>
        <a:graphic>
          <a:graphicData uri="http://schemas.openxmlformats.org/drawingml/2006/table">
            <a:tbl>
              <a:tblPr/>
              <a:tblGrid>
                <a:gridCol w="1363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38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5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Category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Manuf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GWorks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Powergizmo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$29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GWorks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3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SingleTouch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$149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Photography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Canon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2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MultiTouch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$203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Household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Hitachi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6708" name="Text Box 36"/>
          <p:cNvSpPr txBox="1">
            <a:spLocks noChangeArrowheads="1"/>
          </p:cNvSpPr>
          <p:nvPr/>
        </p:nvSpPr>
        <p:spPr bwMode="auto">
          <a:xfrm>
            <a:off x="1819835" y="1424627"/>
            <a:ext cx="11649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Product</a:t>
            </a:r>
          </a:p>
        </p:txBody>
      </p:sp>
      <p:sp>
        <p:nvSpPr>
          <p:cNvPr id="156709" name="Text Box 37"/>
          <p:cNvSpPr txBox="1">
            <a:spLocks noChangeArrowheads="1"/>
          </p:cNvSpPr>
          <p:nvPr/>
        </p:nvSpPr>
        <p:spPr bwMode="auto">
          <a:xfrm>
            <a:off x="7112774" y="1450219"/>
            <a:ext cx="13644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Company</a:t>
            </a:r>
          </a:p>
        </p:txBody>
      </p:sp>
      <p:graphicFrame>
        <p:nvGraphicFramePr>
          <p:cNvPr id="156743" name="Group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101723"/>
              </p:ext>
            </p:extLst>
          </p:nvPr>
        </p:nvGraphicFramePr>
        <p:xfrm>
          <a:off x="7124700" y="1933400"/>
          <a:ext cx="2705100" cy="1364178"/>
        </p:xfrm>
        <a:graphic>
          <a:graphicData uri="http://schemas.openxmlformats.org/drawingml/2006/table">
            <a:tbl>
              <a:tblPr/>
              <a:tblGrid>
                <a:gridCol w="973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8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Cname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Stock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Country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GWorks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USA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Canon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65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Japan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Hitachi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Japan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6785" name="Group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787583"/>
              </p:ext>
            </p:extLst>
          </p:nvPr>
        </p:nvGraphicFramePr>
        <p:xfrm>
          <a:off x="7391400" y="4421326"/>
          <a:ext cx="2171700" cy="1371600"/>
        </p:xfrm>
        <a:graphic>
          <a:graphicData uri="http://schemas.openxmlformats.org/drawingml/2006/table">
            <a:tbl>
              <a:tblPr/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Country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?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?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6786" name="AutoShape 114"/>
          <p:cNvSpPr>
            <a:spLocks noChangeArrowheads="1"/>
          </p:cNvSpPr>
          <p:nvPr/>
        </p:nvSpPr>
        <p:spPr bwMode="auto">
          <a:xfrm>
            <a:off x="8293770" y="3630137"/>
            <a:ext cx="366960" cy="458629"/>
          </a:xfrm>
          <a:prstGeom prst="downArrow">
            <a:avLst>
              <a:gd name="adj1" fmla="val 50000"/>
              <a:gd name="adj2" fmla="val 5024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cxnSp>
        <p:nvCxnSpPr>
          <p:cNvPr id="21" name="Elbow Connector 20"/>
          <p:cNvCxnSpPr/>
          <p:nvPr/>
        </p:nvCxnSpPr>
        <p:spPr>
          <a:xfrm flipV="1">
            <a:off x="6096000" y="2414763"/>
            <a:ext cx="1028700" cy="41717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/>
          <p:nvPr/>
        </p:nvCxnSpPr>
        <p:spPr>
          <a:xfrm flipV="1">
            <a:off x="6096000" y="2784677"/>
            <a:ext cx="1028700" cy="425255"/>
          </a:xfrm>
          <a:prstGeom prst="bentConnector3">
            <a:avLst>
              <a:gd name="adj1" fmla="val 63595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/>
          <p:nvPr/>
        </p:nvCxnSpPr>
        <p:spPr>
          <a:xfrm flipV="1">
            <a:off x="6096000" y="3122422"/>
            <a:ext cx="1028700" cy="567123"/>
          </a:xfrm>
          <a:prstGeom prst="bentConnector3">
            <a:avLst>
              <a:gd name="adj1" fmla="val 86601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03"/>
          <p:cNvSpPr>
            <a:spLocks noChangeArrowheads="1"/>
          </p:cNvSpPr>
          <p:nvPr/>
        </p:nvSpPr>
        <p:spPr bwMode="auto">
          <a:xfrm>
            <a:off x="1869518" y="4421326"/>
            <a:ext cx="4185761" cy="13234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Country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Product, Company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  </a:t>
            </a:r>
            <a:r>
              <a:rPr lang="en-US" sz="2000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Manufacturer=</a:t>
            </a:r>
            <a:r>
              <a:rPr lang="en-US" sz="2000" dirty="0" err="1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Cname</a:t>
            </a:r>
            <a:r>
              <a:rPr lang="en-US" sz="2000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   AND Category=‘Gadgets’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5000" y="5943600"/>
            <a:ext cx="4114800" cy="72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2400" dirty="0"/>
              <a:t>What is the problem ?</a:t>
            </a:r>
          </a:p>
          <a:p>
            <a:pPr algn="ctr">
              <a:lnSpc>
                <a:spcPct val="85000"/>
              </a:lnSpc>
            </a:pPr>
            <a:r>
              <a:rPr lang="en-US" sz="2400" dirty="0"/>
              <a:t> What’s the solution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29722" y="2269533"/>
            <a:ext cx="1290918" cy="797859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6096000" y="2414762"/>
            <a:ext cx="10287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6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6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78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1948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Lecture 3: SQL Part II</a:t>
            </a:r>
          </a:p>
        </p:txBody>
      </p:sp>
    </p:spTree>
    <p:extLst>
      <p:ext uri="{BB962C8B-B14F-4D97-AF65-F5344CB8AC3E}">
        <p14:creationId xmlns:p14="http://schemas.microsoft.com/office/powerpoint/2010/main" val="16231968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Set Operators &amp; Nested Queries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552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will learn about in this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757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514350" indent="-514350">
              <a:buAutoNum type="arabicPeriod"/>
            </a:pPr>
            <a:r>
              <a:rPr lang="en-US" dirty="0" err="1">
                <a:latin typeface="+mj-lt"/>
              </a:rPr>
              <a:t>Multiset</a:t>
            </a:r>
            <a:r>
              <a:rPr lang="en-US" dirty="0">
                <a:latin typeface="+mj-lt"/>
              </a:rPr>
              <a:t> operators in SQL</a:t>
            </a:r>
          </a:p>
          <a:p>
            <a:pPr marL="514350" indent="-514350">
              <a:buAutoNum type="arabicPeriod"/>
            </a:pPr>
            <a:endParaRPr lang="en-US" dirty="0">
              <a:latin typeface="+mj-lt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Nested queries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332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93054"/>
            <a:ext cx="10515600" cy="2852737"/>
          </a:xfrm>
        </p:spPr>
        <p:txBody>
          <a:bodyPr/>
          <a:lstStyle/>
          <a:p>
            <a:r>
              <a:rPr lang="en-US" dirty="0" err="1"/>
              <a:t>Multiset</a:t>
            </a:r>
            <a:r>
              <a:rPr lang="en-US" dirty="0"/>
              <a:t> Operations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49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25407" y="59160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3913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</a:t>
            </a:r>
            <a:r>
              <a:rPr lang="en-US" dirty="0" err="1"/>
              <a:t>Multisets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162CE-480A-44CE-B867-ADB1FE527ED4}" type="slidenum">
              <a:rPr lang="en-US" smtClean="0"/>
              <a:pPr/>
              <a:t>50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22041" y="1966494"/>
          <a:ext cx="1045684" cy="453976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45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4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4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 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4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 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4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</a:t>
                      </a:r>
                      <a:r>
                        <a:rPr lang="en-US" baseline="0" dirty="0"/>
                        <a:t> b)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4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 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4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 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4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 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44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 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44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 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2676472"/>
                  </p:ext>
                </p:extLst>
              </p:nvPr>
            </p:nvGraphicFramePr>
            <p:xfrm>
              <a:off x="7767504" y="2579731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533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Tuple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𝝀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𝑿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 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 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(2, 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</a:t>
                          </a:r>
                          <a:r>
                            <a:rPr lang="en-US" baseline="0" dirty="0"/>
                            <a:t> d)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2676472"/>
                  </p:ext>
                </p:extLst>
              </p:nvPr>
            </p:nvGraphicFramePr>
            <p:xfrm>
              <a:off x="7767504" y="2579731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/>
                    <a:gridCol w="1553378"/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Tuple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62745" t="-7813" r="-392" b="-415625"/>
                          </a:stretch>
                        </a:blipFill>
                      </a:tcPr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 a)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 b)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(2, c)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</a:t>
                          </a:r>
                          <a:r>
                            <a:rPr lang="en-US" baseline="0" dirty="0" smtClean="0"/>
                            <a:t> d)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Left-Right Arrow 7"/>
          <p:cNvSpPr/>
          <p:nvPr/>
        </p:nvSpPr>
        <p:spPr>
          <a:xfrm>
            <a:off x="4939229" y="3316076"/>
            <a:ext cx="1156771" cy="462709"/>
          </a:xfrm>
          <a:prstGeom prst="left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371860" y="4040427"/>
            <a:ext cx="22915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Equivalent Representations of a </a:t>
            </a:r>
            <a:r>
              <a:rPr lang="en-US" sz="2400" b="1" u="sng" dirty="0" err="1">
                <a:latin typeface="+mj-lt"/>
              </a:rPr>
              <a:t>Multiset</a:t>
            </a:r>
            <a:endParaRPr lang="en-US" sz="2400" b="1" u="sng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67504" y="2103978"/>
            <a:ext cx="12271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latin typeface="+mj-lt"/>
              </a:rPr>
              <a:t>Multiset</a:t>
            </a:r>
            <a:r>
              <a:rPr lang="en-US" sz="2000" b="1" dirty="0">
                <a:latin typeface="+mj-lt"/>
              </a:rPr>
              <a:t> 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1285" y="1566384"/>
            <a:ext cx="12271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latin typeface="+mj-lt"/>
              </a:rPr>
              <a:t>Multiset</a:t>
            </a:r>
            <a:r>
              <a:rPr lang="en-US" sz="2000" b="1" dirty="0">
                <a:latin typeface="+mj-lt"/>
              </a:rPr>
              <a:t> 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8412" y="5404174"/>
            <a:ext cx="230134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i="1">
                <a:latin typeface="+mj-lt"/>
              </a:rPr>
              <a:t>Note: In </a:t>
            </a:r>
            <a:r>
              <a:rPr lang="en-US" sz="2400" i="1" dirty="0">
                <a:latin typeface="+mj-lt"/>
              </a:rPr>
              <a:t>a set all counts are {0,1}.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767504" y="676049"/>
                <a:ext cx="3557265" cy="120032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𝝀</m:t>
                    </m:r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𝑿</m:t>
                        </m:r>
                      </m:e>
                    </m:d>
                  </m:oMath>
                </a14:m>
                <a:r>
                  <a:rPr lang="en-US" sz="2400" i="1" dirty="0">
                    <a:latin typeface="+mj-lt"/>
                  </a:rPr>
                  <a:t>= “Count of tuple in X”</a:t>
                </a:r>
              </a:p>
              <a:p>
                <a:r>
                  <a:rPr lang="en-US" sz="2400" i="1" dirty="0">
                    <a:latin typeface="+mj-lt"/>
                  </a:rPr>
                  <a:t>(Items not listed have implicit count 0)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504" y="676049"/>
                <a:ext cx="3557265" cy="120032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effectLst>
                <a:outerShdw blurRad="508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4685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Generalizing Set Operations to </a:t>
            </a:r>
            <a:r>
              <a:rPr lang="en-US" dirty="0" err="1"/>
              <a:t>Multiset</a:t>
            </a:r>
            <a:r>
              <a:rPr lang="en-US" dirty="0"/>
              <a:t> Operations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162CE-480A-44CE-B867-ADB1FE527ED4}" type="slidenum">
              <a:rPr lang="en-US" smtClean="0"/>
              <a:pPr/>
              <a:t>51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922027"/>
                  </p:ext>
                </p:extLst>
              </p:nvPr>
            </p:nvGraphicFramePr>
            <p:xfrm>
              <a:off x="838200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533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Tuple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𝝀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𝑿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 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 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(2, 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</a:t>
                          </a:r>
                          <a:r>
                            <a:rPr lang="en-US" baseline="0" dirty="0"/>
                            <a:t> d)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922027"/>
                  </p:ext>
                </p:extLst>
              </p:nvPr>
            </p:nvGraphicFramePr>
            <p:xfrm>
              <a:off x="838200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/>
                    <a:gridCol w="1553378"/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Tuple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62500" t="-7813" r="-391" b="-417188"/>
                          </a:stretch>
                        </a:blipFill>
                      </a:tcPr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 a)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 b)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(2, c)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</a:t>
                          </a:r>
                          <a:r>
                            <a:rPr lang="en-US" baseline="0" dirty="0" smtClean="0"/>
                            <a:t> d)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TextBox 3"/>
          <p:cNvSpPr txBox="1"/>
          <p:nvPr/>
        </p:nvSpPr>
        <p:spPr>
          <a:xfrm>
            <a:off x="760777" y="2017933"/>
            <a:ext cx="12271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latin typeface="+mj-lt"/>
              </a:rPr>
              <a:t>Multiset</a:t>
            </a:r>
            <a:r>
              <a:rPr lang="en-US" sz="2000" b="1" dirty="0">
                <a:latin typeface="+mj-lt"/>
              </a:rPr>
              <a:t>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5382541"/>
                  </p:ext>
                </p:extLst>
              </p:nvPr>
            </p:nvGraphicFramePr>
            <p:xfrm>
              <a:off x="4796163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533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Tuple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𝝀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𝒀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 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 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(2, 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</a:t>
                          </a:r>
                          <a:r>
                            <a:rPr lang="en-US" baseline="0" dirty="0"/>
                            <a:t> d)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5382541"/>
                  </p:ext>
                </p:extLst>
              </p:nvPr>
            </p:nvGraphicFramePr>
            <p:xfrm>
              <a:off x="4796163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/>
                    <a:gridCol w="1553378"/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Tuple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62109" t="-7813" r="-391" b="-417188"/>
                          </a:stretch>
                        </a:blipFill>
                      </a:tcPr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 a)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 b)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(2, c)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</a:t>
                          </a:r>
                          <a:r>
                            <a:rPr lang="en-US" baseline="0" dirty="0" smtClean="0"/>
                            <a:t> d)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5" name="TextBox 14"/>
          <p:cNvSpPr txBox="1"/>
          <p:nvPr/>
        </p:nvSpPr>
        <p:spPr>
          <a:xfrm>
            <a:off x="4718740" y="2017933"/>
            <a:ext cx="1219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latin typeface="+mj-lt"/>
              </a:rPr>
              <a:t>Multiset</a:t>
            </a:r>
            <a:r>
              <a:rPr lang="en-US" sz="2000" b="1" dirty="0">
                <a:latin typeface="+mj-lt"/>
              </a:rPr>
              <a:t> 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0553759"/>
                  </p:ext>
                </p:extLst>
              </p:nvPr>
            </p:nvGraphicFramePr>
            <p:xfrm>
              <a:off x="8831550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533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Tuple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𝝀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𝒁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 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 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(2, 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</a:t>
                          </a:r>
                          <a:r>
                            <a:rPr lang="en-US" baseline="0" dirty="0"/>
                            <a:t> d)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0553759"/>
                  </p:ext>
                </p:extLst>
              </p:nvPr>
            </p:nvGraphicFramePr>
            <p:xfrm>
              <a:off x="8831550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/>
                    <a:gridCol w="1553378"/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Tuple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2109" t="-7813" r="-391" b="-417188"/>
                          </a:stretch>
                        </a:blipFill>
                      </a:tcPr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 a)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 b)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(2, c)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</a:t>
                          </a:r>
                          <a:r>
                            <a:rPr lang="en-US" baseline="0" dirty="0" smtClean="0"/>
                            <a:t> d)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7" name="TextBox 16"/>
          <p:cNvSpPr txBox="1"/>
          <p:nvPr/>
        </p:nvSpPr>
        <p:spPr>
          <a:xfrm>
            <a:off x="8754127" y="2017933"/>
            <a:ext cx="12175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latin typeface="+mj-lt"/>
              </a:rPr>
              <a:t>Multiset</a:t>
            </a:r>
            <a:r>
              <a:rPr lang="en-US" sz="2000" b="1" dirty="0">
                <a:latin typeface="+mj-lt"/>
              </a:rPr>
              <a:t> 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02830" y="3056289"/>
                <a:ext cx="62837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830" y="3056289"/>
                <a:ext cx="628377" cy="83099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760793" y="3056289"/>
                <a:ext cx="674865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0793" y="3056289"/>
                <a:ext cx="674865" cy="83099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4061981" y="5252887"/>
                <a:ext cx="406803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𝝀</m:t>
                      </m:r>
                      <m:d>
                        <m:d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𝒁</m:t>
                          </m:r>
                        </m:e>
                      </m:d>
                      <m:r>
                        <a:rPr lang="en-US" sz="2800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𝒎𝒊𝒏</m:t>
                      </m:r>
                      <m:r>
                        <a:rPr lang="en-US" sz="2800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US" sz="28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𝝀</m:t>
                      </m:r>
                      <m:d>
                        <m:d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𝑿</m:t>
                          </m:r>
                        </m:e>
                      </m:d>
                      <m:r>
                        <a:rPr lang="en-US" sz="2800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,</m:t>
                      </m:r>
                      <m:r>
                        <a:rPr lang="en-US" sz="28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𝝀</m:t>
                      </m:r>
                      <m:d>
                        <m:d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𝒀</m:t>
                          </m:r>
                        </m:e>
                      </m:d>
                      <m:r>
                        <a:rPr lang="en-US" sz="2800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981" y="5252887"/>
                <a:ext cx="4068037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8821033" y="4982420"/>
            <a:ext cx="230134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For sets, this is </a:t>
            </a:r>
            <a:r>
              <a:rPr lang="en-US" sz="2400" b="1" dirty="0">
                <a:latin typeface="+mj-lt"/>
              </a:rPr>
              <a:t>intersection</a:t>
            </a:r>
          </a:p>
        </p:txBody>
      </p:sp>
    </p:spTree>
    <p:extLst>
      <p:ext uri="{BB962C8B-B14F-4D97-AF65-F5344CB8AC3E}">
        <p14:creationId xmlns:p14="http://schemas.microsoft.com/office/powerpoint/2010/main" val="14473598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Generalizing Set Operations to </a:t>
            </a:r>
            <a:r>
              <a:rPr lang="en-US" dirty="0" err="1"/>
              <a:t>Multiset</a:t>
            </a:r>
            <a:r>
              <a:rPr lang="en-US" dirty="0"/>
              <a:t> Operations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162CE-480A-44CE-B867-ADB1FE527ED4}" type="slidenum">
              <a:rPr lang="en-US" smtClean="0"/>
              <a:pPr/>
              <a:t>52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171538"/>
                  </p:ext>
                </p:extLst>
              </p:nvPr>
            </p:nvGraphicFramePr>
            <p:xfrm>
              <a:off x="838200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533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Tuple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𝝀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𝑿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 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 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(2, 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</a:t>
                          </a:r>
                          <a:r>
                            <a:rPr lang="en-US" baseline="0" dirty="0"/>
                            <a:t> d)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171538"/>
                  </p:ext>
                </p:extLst>
              </p:nvPr>
            </p:nvGraphicFramePr>
            <p:xfrm>
              <a:off x="838200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/>
                    <a:gridCol w="1553378"/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Tuple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62500" t="-7813" r="-391" b="-417188"/>
                          </a:stretch>
                        </a:blipFill>
                      </a:tcPr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 a)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 b)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(2, c)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</a:t>
                          </a:r>
                          <a:r>
                            <a:rPr lang="en-US" baseline="0" dirty="0" smtClean="0"/>
                            <a:t> d)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TextBox 3"/>
          <p:cNvSpPr txBox="1"/>
          <p:nvPr/>
        </p:nvSpPr>
        <p:spPr>
          <a:xfrm>
            <a:off x="760777" y="2017933"/>
            <a:ext cx="12271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latin typeface="+mj-lt"/>
              </a:rPr>
              <a:t>Multiset</a:t>
            </a:r>
            <a:r>
              <a:rPr lang="en-US" sz="2000" b="1" dirty="0">
                <a:latin typeface="+mj-lt"/>
              </a:rPr>
              <a:t>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5748022"/>
                  </p:ext>
                </p:extLst>
              </p:nvPr>
            </p:nvGraphicFramePr>
            <p:xfrm>
              <a:off x="4796163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533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Tuple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𝝀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𝒀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 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 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(2, 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</a:t>
                          </a:r>
                          <a:r>
                            <a:rPr lang="en-US" baseline="0" dirty="0"/>
                            <a:t> d)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5748022"/>
                  </p:ext>
                </p:extLst>
              </p:nvPr>
            </p:nvGraphicFramePr>
            <p:xfrm>
              <a:off x="4796163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/>
                    <a:gridCol w="1553378"/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Tuple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62109" t="-7813" r="-391" b="-417188"/>
                          </a:stretch>
                        </a:blipFill>
                      </a:tcPr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 a)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 b)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(2, c)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</a:t>
                          </a:r>
                          <a:r>
                            <a:rPr lang="en-US" baseline="0" dirty="0" smtClean="0"/>
                            <a:t> d)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5" name="TextBox 14"/>
          <p:cNvSpPr txBox="1"/>
          <p:nvPr/>
        </p:nvSpPr>
        <p:spPr>
          <a:xfrm>
            <a:off x="4718740" y="2017933"/>
            <a:ext cx="1219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latin typeface="+mj-lt"/>
              </a:rPr>
              <a:t>Multiset</a:t>
            </a:r>
            <a:r>
              <a:rPr lang="en-US" sz="2000" b="1" dirty="0">
                <a:latin typeface="+mj-lt"/>
              </a:rPr>
              <a:t> 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3173512"/>
                  </p:ext>
                </p:extLst>
              </p:nvPr>
            </p:nvGraphicFramePr>
            <p:xfrm>
              <a:off x="8831550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533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Tuple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𝝀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𝒁</m:t>
                                </m:r>
                                <m:r>
                                  <a:rPr lang="en-US" b="1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 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 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(2, 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(1,</a:t>
                          </a:r>
                          <a:r>
                            <a:rPr lang="en-US" baseline="0" dirty="0"/>
                            <a:t> d)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3173512"/>
                  </p:ext>
                </p:extLst>
              </p:nvPr>
            </p:nvGraphicFramePr>
            <p:xfrm>
              <a:off x="8831550" y="2504088"/>
              <a:ext cx="2522250" cy="1935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968872"/>
                    <a:gridCol w="1553378"/>
                  </a:tblGrid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Tuple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2109" t="-7813" r="-391" b="-417188"/>
                          </a:stretch>
                        </a:blipFill>
                      </a:tcPr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 a)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7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 b)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(2, c)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87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(1,</a:t>
                          </a:r>
                          <a:r>
                            <a:rPr lang="en-US" baseline="0" dirty="0" smtClean="0"/>
                            <a:t> d)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7" name="TextBox 16"/>
          <p:cNvSpPr txBox="1"/>
          <p:nvPr/>
        </p:nvSpPr>
        <p:spPr>
          <a:xfrm>
            <a:off x="8754127" y="2017933"/>
            <a:ext cx="12175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latin typeface="+mj-lt"/>
              </a:rPr>
              <a:t>Multiset</a:t>
            </a:r>
            <a:r>
              <a:rPr lang="en-US" sz="2000" b="1" dirty="0">
                <a:latin typeface="+mj-lt"/>
              </a:rPr>
              <a:t> 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777553" y="2810068"/>
                <a:ext cx="62837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∪</m:t>
                      </m:r>
                    </m:oMath>
                  </m:oMathPara>
                </a14:m>
                <a:endParaRPr lang="en-US" sz="5400" dirty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553" y="2810068"/>
                <a:ext cx="628377" cy="83099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760793" y="3056289"/>
                <a:ext cx="674865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0793" y="3056289"/>
                <a:ext cx="674865" cy="83099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4374407" y="5297258"/>
                <a:ext cx="344318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𝝀</m:t>
                      </m:r>
                      <m:d>
                        <m:d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𝒁</m:t>
                          </m:r>
                        </m:e>
                      </m:d>
                      <m:r>
                        <a:rPr lang="en-US" sz="2800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28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𝝀</m:t>
                      </m:r>
                      <m:d>
                        <m:d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𝑿</m:t>
                          </m:r>
                        </m:e>
                      </m:d>
                      <m:r>
                        <a:rPr lang="en-US" sz="2800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 </m:t>
                      </m:r>
                      <m:r>
                        <a:rPr lang="en-US" sz="28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𝝀</m:t>
                      </m:r>
                      <m:d>
                        <m:d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𝒀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407" y="5297258"/>
                <a:ext cx="3443186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8821033" y="4982420"/>
            <a:ext cx="230134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For sets, </a:t>
            </a:r>
          </a:p>
          <a:p>
            <a:pPr algn="ctr"/>
            <a:r>
              <a:rPr lang="en-US" sz="2400" dirty="0">
                <a:latin typeface="+mj-lt"/>
              </a:rPr>
              <a:t>this is </a:t>
            </a:r>
            <a:r>
              <a:rPr lang="en-US" sz="2400" b="1" dirty="0">
                <a:latin typeface="+mj-lt"/>
              </a:rPr>
              <a:t>union</a:t>
            </a:r>
          </a:p>
        </p:txBody>
      </p:sp>
    </p:spTree>
    <p:extLst>
      <p:ext uri="{BB962C8B-B14F-4D97-AF65-F5344CB8AC3E}">
        <p14:creationId xmlns:p14="http://schemas.microsoft.com/office/powerpoint/2010/main" val="12293428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Multiset</a:t>
            </a:r>
            <a:r>
              <a:rPr lang="en-US" dirty="0"/>
              <a:t> Operations in SQL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53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25407" y="59160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1301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Explicit Set Operators: INTERSECT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162CE-480A-44CE-B867-ADB1FE527ED4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308704" y="2283268"/>
            <a:ext cx="2940085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anchor="t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R.A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   R</a:t>
            </a:r>
          </a:p>
          <a:p>
            <a:pPr eaLnBrk="0" hangingPunct="0"/>
            <a:r>
              <a:rPr lang="en-US" sz="24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INTERSECT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 T.A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    T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6744800" y="3582527"/>
            <a:ext cx="0" cy="8714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5588059" y="3955228"/>
            <a:ext cx="2305614" cy="1381688"/>
            <a:chOff x="8905312" y="3952260"/>
            <a:chExt cx="2305614" cy="1381688"/>
          </a:xfrm>
        </p:grpSpPr>
        <p:sp>
          <p:nvSpPr>
            <p:cNvPr id="19" name="Oval 18"/>
            <p:cNvSpPr/>
            <p:nvPr/>
          </p:nvSpPr>
          <p:spPr>
            <a:xfrm>
              <a:off x="8905312" y="3952260"/>
              <a:ext cx="1381688" cy="138168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20" name="Oval 19"/>
            <p:cNvSpPr/>
            <p:nvPr/>
          </p:nvSpPr>
          <p:spPr>
            <a:xfrm>
              <a:off x="9829238" y="3952260"/>
              <a:ext cx="1381688" cy="138168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</a:t>
              </a:r>
              <a:r>
                <a:rPr lang="en-US" baseline="-25000" dirty="0"/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338549" y="3257677"/>
                <a:ext cx="36477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 </m:t>
                          </m:r>
                        </m:e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𝑟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𝑡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549" y="3257677"/>
                <a:ext cx="3647793" cy="276999"/>
              </a:xfrm>
              <a:prstGeom prst="rect">
                <a:avLst/>
              </a:prstGeom>
              <a:blipFill rotWithShape="0">
                <a:blip r:embed="rId2"/>
                <a:stretch>
                  <a:fillRect t="-143478" r="-1839" b="-17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486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85551" y="4227746"/>
            <a:ext cx="2743200" cy="365125"/>
          </a:xfrm>
        </p:spPr>
        <p:txBody>
          <a:bodyPr/>
          <a:lstStyle/>
          <a:p>
            <a:fld id="{71C162CE-480A-44CE-B867-ADB1FE527ED4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243025" y="2280300"/>
            <a:ext cx="2940085" cy="26776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R.A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R, S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R.A=S.A</a:t>
            </a:r>
          </a:p>
          <a:p>
            <a:pPr eaLnBrk="0" hangingPunct="0"/>
            <a:r>
              <a:rPr lang="en-US" sz="24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UNION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R.A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R, T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R.A=T.A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597331" y="1823656"/>
            <a:ext cx="2305614" cy="1381688"/>
            <a:chOff x="8905312" y="3952260"/>
            <a:chExt cx="2305614" cy="1381688"/>
          </a:xfrm>
        </p:grpSpPr>
        <p:sp>
          <p:nvSpPr>
            <p:cNvPr id="21" name="Oval 20"/>
            <p:cNvSpPr/>
            <p:nvPr/>
          </p:nvSpPr>
          <p:spPr>
            <a:xfrm>
              <a:off x="8905312" y="3952260"/>
              <a:ext cx="1381688" cy="138168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9829238" y="3952260"/>
              <a:ext cx="1381688" cy="138168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</a:t>
              </a:r>
              <a:r>
                <a:rPr lang="en-US" baseline="-25000" dirty="0"/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47821" y="1384379"/>
                <a:ext cx="36467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charset="0"/>
                            </a:rPr>
                            <m:t>.</m:t>
                          </m:r>
                          <m:r>
                            <a:rPr lang="en-US" i="1">
                              <a:latin typeface="Cambria Math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charset="0"/>
                            </a:rPr>
                            <m:t> </m:t>
                          </m:r>
                        </m:e>
                        <m:e>
                          <m:r>
                            <a:rPr lang="en-US" i="1">
                              <a:latin typeface="Cambria Math" charset="0"/>
                            </a:rPr>
                            <m:t> </m:t>
                          </m:r>
                          <m:r>
                            <a:rPr lang="en-US" i="1">
                              <a:latin typeface="Cambria Math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charset="0"/>
                            </a:rPr>
                            <m:t>.</m:t>
                          </m:r>
                          <m:r>
                            <a:rPr lang="en-US" i="1">
                              <a:latin typeface="Cambria Math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charset="0"/>
                            </a:rPr>
                            <m:t>=</m:t>
                          </m:r>
                          <m:r>
                            <a:rPr lang="en-US" i="1">
                              <a:latin typeface="Cambria Math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charset="0"/>
                            </a:rPr>
                            <m:t>.</m:t>
                          </m:r>
                          <m:r>
                            <a:rPr lang="en-US" i="1">
                              <a:latin typeface="Cambria Math" charset="0"/>
                            </a:rPr>
                            <m:t>𝐴</m:t>
                          </m:r>
                        </m:e>
                      </m:d>
                      <m:r>
                        <a:rPr lang="en-US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∪</m:t>
                      </m:r>
                      <m:d>
                        <m:dPr>
                          <m:begChr m:val="{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.</m:t>
                          </m:r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𝑟</m:t>
                      </m:r>
                      <m:r>
                        <a:rPr lang="en-U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r>
                        <a:rPr lang="en-U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𝑡</m:t>
                      </m:r>
                      <m:r>
                        <a:rPr lang="en-U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r>
                        <a:rPr lang="en-U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821" y="1384379"/>
                <a:ext cx="3646704" cy="276999"/>
              </a:xfrm>
              <a:prstGeom prst="rect">
                <a:avLst/>
              </a:prstGeom>
              <a:blipFill rotWithShape="0">
                <a:blip r:embed="rId2"/>
                <a:stretch>
                  <a:fillRect t="-143478" r="-1839" b="-17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8548147" y="1940360"/>
            <a:ext cx="2667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Why aren’t there duplicates?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8147" y="3083360"/>
            <a:ext cx="33990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By default: </a:t>
            </a:r>
          </a:p>
          <a:p>
            <a:r>
              <a:rPr lang="en-US" sz="2800" dirty="0">
                <a:latin typeface="+mj-lt"/>
              </a:rPr>
              <a:t>SQL uses set semantics!</a:t>
            </a:r>
          </a:p>
          <a:p>
            <a:endParaRPr lang="en-US" sz="2800" dirty="0">
              <a:latin typeface="+mj-lt"/>
            </a:endParaRPr>
          </a:p>
          <a:p>
            <a:r>
              <a:rPr lang="en-US" sz="2800" dirty="0">
                <a:latin typeface="+mj-lt"/>
              </a:rPr>
              <a:t>What if we want duplicates?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A40C6C-7A44-D919-62D1-E505EBED5877}"/>
              </a:ext>
            </a:extLst>
          </p:cNvPr>
          <p:cNvSpPr txBox="1"/>
          <p:nvPr/>
        </p:nvSpPr>
        <p:spPr>
          <a:xfrm>
            <a:off x="4286250" y="61659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sqlfiddle.com</a:t>
            </a:r>
            <a:r>
              <a:rPr lang="en-US" dirty="0"/>
              <a:t>/#!17/96ef0/9</a:t>
            </a:r>
          </a:p>
        </p:txBody>
      </p:sp>
    </p:spTree>
    <p:extLst>
      <p:ext uri="{BB962C8B-B14F-4D97-AF65-F5344CB8AC3E}">
        <p14:creationId xmlns:p14="http://schemas.microsoft.com/office/powerpoint/2010/main" val="180393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8" grpId="0"/>
      <p:bldP spid="2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 ALL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162CE-480A-44CE-B867-ADB1FE527ED4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247799" y="2280300"/>
            <a:ext cx="2940085" cy="26776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R.A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R, S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R.A=S.A</a:t>
            </a:r>
          </a:p>
          <a:p>
            <a:pPr eaLnBrk="0" hangingPunct="0"/>
            <a:r>
              <a:rPr lang="en-US" sz="24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UNION ALL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R.A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R, T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R.A=T.A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527154" y="3952260"/>
            <a:ext cx="2305614" cy="1381688"/>
            <a:chOff x="8905312" y="3952260"/>
            <a:chExt cx="2305614" cy="1381688"/>
          </a:xfrm>
        </p:grpSpPr>
        <p:sp>
          <p:nvSpPr>
            <p:cNvPr id="21" name="Oval 20"/>
            <p:cNvSpPr/>
            <p:nvPr/>
          </p:nvSpPr>
          <p:spPr>
            <a:xfrm>
              <a:off x="8905312" y="3952260"/>
              <a:ext cx="1381688" cy="138168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9829238" y="3952260"/>
              <a:ext cx="1381688" cy="138168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</a:t>
              </a:r>
              <a:r>
                <a:rPr lang="en-US" baseline="-25000" dirty="0"/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277644" y="3512983"/>
                <a:ext cx="36467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charset="0"/>
                            </a:rPr>
                            <m:t>.</m:t>
                          </m:r>
                          <m:r>
                            <a:rPr lang="en-US" i="1">
                              <a:latin typeface="Cambria Math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charset="0"/>
                            </a:rPr>
                            <m:t> </m:t>
                          </m:r>
                        </m:e>
                        <m:e>
                          <m:r>
                            <a:rPr lang="en-US" i="1">
                              <a:latin typeface="Cambria Math" charset="0"/>
                            </a:rPr>
                            <m:t> </m:t>
                          </m:r>
                          <m:r>
                            <a:rPr lang="en-US" i="1">
                              <a:latin typeface="Cambria Math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charset="0"/>
                            </a:rPr>
                            <m:t>.</m:t>
                          </m:r>
                          <m:r>
                            <a:rPr lang="en-US" i="1">
                              <a:latin typeface="Cambria Math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charset="0"/>
                            </a:rPr>
                            <m:t>=</m:t>
                          </m:r>
                          <m:r>
                            <a:rPr lang="en-US" i="1">
                              <a:latin typeface="Cambria Math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charset="0"/>
                            </a:rPr>
                            <m:t>.</m:t>
                          </m:r>
                          <m:r>
                            <a:rPr lang="en-US" i="1">
                              <a:latin typeface="Cambria Math" charset="0"/>
                            </a:rPr>
                            <m:t>𝐴</m:t>
                          </m:r>
                        </m:e>
                      </m:d>
                      <m:r>
                        <a:rPr lang="en-U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∪</m:t>
                      </m:r>
                      <m:d>
                        <m:dPr>
                          <m:begChr m:val="{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.</m:t>
                          </m:r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𝑟</m:t>
                      </m:r>
                      <m:r>
                        <a:rPr lang="en-U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r>
                        <a:rPr lang="en-U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𝑡</m:t>
                      </m:r>
                      <m:r>
                        <a:rPr lang="en-U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r>
                        <a:rPr lang="en-U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644" y="3512983"/>
                <a:ext cx="3646704" cy="276999"/>
              </a:xfrm>
              <a:prstGeom prst="rect">
                <a:avLst/>
              </a:prstGeom>
              <a:blipFill rotWithShape="0">
                <a:blip r:embed="rId3"/>
                <a:stretch>
                  <a:fillRect t="-143478" r="-1839" b="-17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8610600" y="4257056"/>
            <a:ext cx="2301342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i="1" dirty="0">
                <a:latin typeface="+mj-lt"/>
              </a:rPr>
              <a:t>ALL indicates </a:t>
            </a:r>
            <a:r>
              <a:rPr lang="en-US" sz="2800" i="1" dirty="0" err="1">
                <a:latin typeface="+mj-lt"/>
              </a:rPr>
              <a:t>Multiset</a:t>
            </a:r>
            <a:r>
              <a:rPr lang="en-US" sz="2800" i="1" dirty="0">
                <a:latin typeface="+mj-lt"/>
              </a:rPr>
              <a:t>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C7EED-F095-848D-BFC1-7D3C529F7321}"/>
              </a:ext>
            </a:extLst>
          </p:cNvPr>
          <p:cNvSpPr txBox="1"/>
          <p:nvPr/>
        </p:nvSpPr>
        <p:spPr>
          <a:xfrm>
            <a:off x="3790950" y="61716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sqlfiddle.com</a:t>
            </a:r>
            <a:r>
              <a:rPr lang="en-US" dirty="0"/>
              <a:t>/#!17/96ef0/9</a:t>
            </a:r>
          </a:p>
        </p:txBody>
      </p:sp>
    </p:spTree>
    <p:extLst>
      <p:ext uri="{BB962C8B-B14F-4D97-AF65-F5344CB8AC3E}">
        <p14:creationId xmlns:p14="http://schemas.microsoft.com/office/powerpoint/2010/main" val="52769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162CE-480A-44CE-B867-ADB1FE527ED4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259420" y="2280300"/>
            <a:ext cx="2940085" cy="26776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R.A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R, S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R.A=S.A</a:t>
            </a:r>
          </a:p>
          <a:p>
            <a:pPr eaLnBrk="0" hangingPunct="0"/>
            <a:r>
              <a:rPr lang="en-US" sz="24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EXCEPT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R.A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R, T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R.A=T.A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538775" y="3952260"/>
            <a:ext cx="2305614" cy="1381688"/>
            <a:chOff x="8905312" y="3952260"/>
            <a:chExt cx="2305614" cy="1381688"/>
          </a:xfrm>
        </p:grpSpPr>
        <p:sp>
          <p:nvSpPr>
            <p:cNvPr id="19" name="Oval 18"/>
            <p:cNvSpPr/>
            <p:nvPr/>
          </p:nvSpPr>
          <p:spPr>
            <a:xfrm>
              <a:off x="8905312" y="3952260"/>
              <a:ext cx="1381688" cy="13816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20" name="Oval 19"/>
            <p:cNvSpPr/>
            <p:nvPr/>
          </p:nvSpPr>
          <p:spPr>
            <a:xfrm>
              <a:off x="9829238" y="3952260"/>
              <a:ext cx="1381688" cy="13816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Q</a:t>
              </a:r>
              <a:r>
                <a:rPr lang="en-US" baseline="-25000" dirty="0">
                  <a:solidFill>
                    <a:schemeClr val="accent2"/>
                  </a:solidFill>
                </a:rPr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417705" y="3480628"/>
                <a:ext cx="34506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 </m:t>
                          </m:r>
                        </m:e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\{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𝑟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|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𝑟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𝑡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705" y="3480628"/>
                <a:ext cx="3450625" cy="276999"/>
              </a:xfrm>
              <a:prstGeom prst="rect">
                <a:avLst/>
              </a:prstGeom>
              <a:blipFill rotWithShape="0">
                <a:blip r:embed="rId3"/>
                <a:stretch>
                  <a:fillRect t="-146667" r="-1943" b="-18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8531975" y="4356636"/>
            <a:ext cx="2821825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i="1" dirty="0">
                <a:latin typeface="+mj-lt"/>
              </a:rPr>
              <a:t>What is the </a:t>
            </a:r>
            <a:r>
              <a:rPr lang="en-US" sz="2800" i="1" dirty="0" err="1">
                <a:latin typeface="+mj-lt"/>
              </a:rPr>
              <a:t>multiset</a:t>
            </a:r>
            <a:r>
              <a:rPr lang="en-US" sz="2800" i="1" dirty="0">
                <a:latin typeface="+mj-lt"/>
              </a:rPr>
              <a:t> version?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47F802-A836-1108-3CC1-A6CE7D717361}"/>
              </a:ext>
            </a:extLst>
          </p:cNvPr>
          <p:cNvSpPr txBox="1"/>
          <p:nvPr/>
        </p:nvSpPr>
        <p:spPr>
          <a:xfrm>
            <a:off x="3872463" y="61235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sqlfiddle.com</a:t>
            </a:r>
            <a:r>
              <a:rPr lang="en-US" dirty="0"/>
              <a:t>/#!17/96ef0/9</a:t>
            </a:r>
          </a:p>
        </p:txBody>
      </p:sp>
    </p:spTree>
    <p:extLst>
      <p:ext uri="{BB962C8B-B14F-4D97-AF65-F5344CB8AC3E}">
        <p14:creationId xmlns:p14="http://schemas.microsoft.com/office/powerpoint/2010/main" val="742444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6" grpId="0" animBg="1"/>
      <p:bldP spid="16" grpId="1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INTERSECT: Still some subtle problems…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162CE-480A-44CE-B867-ADB1FE527ED4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676400" y="1589048"/>
            <a:ext cx="5416868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Company(</a:t>
            </a:r>
            <a:r>
              <a:rPr lang="en-US" sz="2000" u="sng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name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hq_city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maker,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factory_loc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76400" y="2592358"/>
            <a:ext cx="5416868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highlight>
                  <a:srgbClr val="FFFF00"/>
                </a:highlight>
                <a:latin typeface="Menlo"/>
                <a:ea typeface="Menlo" charset="0"/>
                <a:cs typeface="Menlo" charset="0"/>
              </a:rPr>
              <a:t>SELECT</a:t>
            </a:r>
            <a:r>
              <a:rPr lang="en-US" sz="2000" dirty="0">
                <a:highlight>
                  <a:srgbClr val="FFFF00"/>
                </a:highlight>
                <a:latin typeface="Menlo"/>
                <a:ea typeface="Menlo" charset="0"/>
                <a:cs typeface="Menlo" charset="0"/>
              </a:rPr>
              <a:t> </a:t>
            </a:r>
            <a:r>
              <a:rPr lang="en-US" sz="2000" err="1">
                <a:highlight>
                  <a:srgbClr val="FFFF00"/>
                </a:highlight>
                <a:latin typeface="Menlo"/>
                <a:ea typeface="Menlo" charset="0"/>
                <a:cs typeface="Menlo" charset="0"/>
              </a:rPr>
              <a:t>hq_city</a:t>
            </a:r>
            <a:endParaRPr lang="en-US" sz="2000">
              <a:highlight>
                <a:srgbClr val="FFFF00"/>
              </a:highlight>
              <a:latin typeface="Menlo"/>
              <a:ea typeface="Menlo" charset="0"/>
              <a:cs typeface="Menlo" charset="0"/>
            </a:endParaRPr>
          </a:p>
          <a:p>
            <a:r>
              <a:rPr lang="en-US" sz="2000" dirty="0">
                <a:solidFill>
                  <a:schemeClr val="accent2"/>
                </a:solidFill>
                <a:highlight>
                  <a:srgbClr val="FFFF00"/>
                </a:highlight>
                <a:latin typeface="Menlo"/>
                <a:ea typeface="Menlo" charset="0"/>
                <a:cs typeface="Menlo" charset="0"/>
              </a:rPr>
              <a:t>FROM</a:t>
            </a:r>
            <a:r>
              <a:rPr lang="en-US" sz="2000" dirty="0">
                <a:highlight>
                  <a:srgbClr val="FFFF00"/>
                </a:highlight>
                <a:latin typeface="Menlo"/>
                <a:ea typeface="Menlo" charset="0"/>
                <a:cs typeface="Menlo" charset="0"/>
              </a:rPr>
              <a:t>   Company, Product</a:t>
            </a:r>
          </a:p>
          <a:p>
            <a:r>
              <a:rPr lang="en-US" sz="2000" dirty="0">
                <a:solidFill>
                  <a:schemeClr val="accent2"/>
                </a:solidFill>
                <a:highlight>
                  <a:srgbClr val="FFFF00"/>
                </a:highlight>
                <a:latin typeface="Menlo"/>
                <a:ea typeface="Menlo" charset="0"/>
                <a:cs typeface="Menlo" charset="0"/>
              </a:rPr>
              <a:t>WHERE</a:t>
            </a:r>
            <a:r>
              <a:rPr lang="en-US" sz="2000" dirty="0">
                <a:highlight>
                  <a:srgbClr val="FFFF00"/>
                </a:highlight>
                <a:latin typeface="Menlo"/>
                <a:ea typeface="Menlo" charset="0"/>
                <a:cs typeface="Menlo" charset="0"/>
              </a:rPr>
              <a:t>  maker = name </a:t>
            </a:r>
          </a:p>
          <a:p>
            <a:r>
              <a:rPr lang="en-US" sz="2000" dirty="0">
                <a:highlight>
                  <a:srgbClr val="FFFF00"/>
                </a:highlight>
                <a:latin typeface="Menlo"/>
                <a:ea typeface="Menlo" charset="0"/>
                <a:cs typeface="Menlo" charset="0"/>
              </a:rPr>
              <a:t>       AND </a:t>
            </a:r>
            <a:r>
              <a:rPr lang="en-US" sz="2000" err="1">
                <a:highlight>
                  <a:srgbClr val="FFFF00"/>
                </a:highlight>
                <a:latin typeface="Menlo"/>
                <a:ea typeface="Menlo" charset="0"/>
                <a:cs typeface="Menlo" charset="0"/>
              </a:rPr>
              <a:t>factory_loc</a:t>
            </a:r>
            <a:r>
              <a:rPr lang="en-US" sz="2000" dirty="0">
                <a:highlight>
                  <a:srgbClr val="FFFF00"/>
                </a:highlight>
                <a:latin typeface="Menlo"/>
                <a:ea typeface="Menlo" charset="0"/>
                <a:cs typeface="Menlo" charset="0"/>
              </a:rPr>
              <a:t> = ‘U</a:t>
            </a:r>
            <a:r>
              <a:rPr lang="en-US" sz="2000" dirty="0">
                <a:latin typeface="Menlo"/>
                <a:ea typeface="Menlo" charset="0"/>
                <a:cs typeface="Menlo" charset="0"/>
              </a:rPr>
              <a:t>S’</a:t>
            </a: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INTERSECT</a:t>
            </a: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hq_city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Company, Product</a:t>
            </a: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maker = name </a:t>
            </a:r>
          </a:p>
          <a:p>
            <a:r>
              <a:rPr lang="en-US" sz="2000" dirty="0">
                <a:latin typeface="Menlo" charset="0"/>
                <a:ea typeface="Menlo" charset="0"/>
                <a:cs typeface="Menlo" charset="0"/>
              </a:rPr>
              <a:t>	 AND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factory_loc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‘China’</a:t>
            </a:r>
            <a:endParaRPr lang="en-US" sz="2000" i="1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71700" y="5714640"/>
            <a:ext cx="7848600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What if two companies have HQ in US: BUT one has factory in China (but not US) and vice versa?  </a:t>
            </a:r>
            <a:r>
              <a:rPr lang="en-US" sz="2400" b="1" dirty="0">
                <a:latin typeface="+mj-lt"/>
              </a:rPr>
              <a:t>What goes wrong?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85100" y="2592358"/>
            <a:ext cx="3009900" cy="181588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800" i="1" dirty="0">
                <a:latin typeface="+mj-lt"/>
              </a:rPr>
              <a:t>“Headquarters of companies which make gizmos in US </a:t>
            </a:r>
            <a:r>
              <a:rPr lang="en-US" sz="2800" b="1" i="1" dirty="0">
                <a:latin typeface="+mj-lt"/>
              </a:rPr>
              <a:t>AND</a:t>
            </a:r>
            <a:r>
              <a:rPr lang="en-US" sz="2800" i="1" dirty="0">
                <a:latin typeface="+mj-lt"/>
              </a:rPr>
              <a:t> China”</a:t>
            </a:r>
          </a:p>
        </p:txBody>
      </p:sp>
    </p:spTree>
    <p:extLst>
      <p:ext uri="{BB962C8B-B14F-4D97-AF65-F5344CB8AC3E}">
        <p14:creationId xmlns:p14="http://schemas.microsoft.com/office/powerpoint/2010/main" val="157475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INTERSECT: Remember the semantics!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162CE-480A-44CE-B867-ADB1FE527ED4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68985" y="1589048"/>
            <a:ext cx="3975693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Company(</a:t>
            </a:r>
            <a:r>
              <a:rPr lang="en-US" u="sng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name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hq_city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 AS C</a:t>
            </a:r>
          </a:p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Product(</a:t>
            </a:r>
            <a:r>
              <a:rPr lang="en-US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maker, </a:t>
            </a:r>
            <a:r>
              <a:rPr lang="en-US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factory_loc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 AS P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8986" y="2755572"/>
            <a:ext cx="3547430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SELECT </a:t>
            </a:r>
            <a:r>
              <a:rPr lang="en-US" dirty="0" err="1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hq_city</a:t>
            </a:r>
            <a:endParaRPr lang="en-US" dirty="0">
              <a:solidFill>
                <a:schemeClr val="bg2">
                  <a:lumMod val="90000"/>
                </a:schemeClr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Company, Product</a:t>
            </a:r>
          </a:p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maker = name </a:t>
            </a:r>
          </a:p>
          <a:p>
            <a:r>
              <a:rPr lang="en-US" dirty="0">
                <a:latin typeface="Menlo" charset="0"/>
                <a:ea typeface="Menlo" charset="0"/>
                <a:cs typeface="Menlo" charset="0"/>
              </a:rPr>
              <a:t>  AND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factory_loc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=‘US’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INTERSECT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SELECT </a:t>
            </a:r>
            <a:r>
              <a:rPr lang="en-US" dirty="0" err="1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hq_city</a:t>
            </a:r>
            <a:endParaRPr lang="en-US" dirty="0">
              <a:solidFill>
                <a:schemeClr val="bg2">
                  <a:lumMod val="90000"/>
                </a:schemeClr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Company, Product</a:t>
            </a:r>
          </a:p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maker = name</a:t>
            </a:r>
          </a:p>
          <a:p>
            <a:r>
              <a:rPr lang="en-US" dirty="0">
                <a:latin typeface="Menlo" charset="0"/>
                <a:ea typeface="Menlo" charset="0"/>
                <a:cs typeface="Menlo" charset="0"/>
              </a:rPr>
              <a:t>AND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factory_loc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=‘China’</a:t>
            </a:r>
            <a:endParaRPr lang="en-US" i="1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60396" y="1409035"/>
            <a:ext cx="4834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Example:  C  JOIN  P on maker = name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60401"/>
              </p:ext>
            </p:extLst>
          </p:nvPr>
        </p:nvGraphicFramePr>
        <p:xfrm>
          <a:off x="4960396" y="1870700"/>
          <a:ext cx="675318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6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52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C.name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C.hq_city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P.pname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P.maker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P.factory_loc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 Co.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 Co.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U.S.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r>
                        <a:rPr lang="en-US" baseline="0" dirty="0"/>
                        <a:t> Inc.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70390" y="3078866"/>
            <a:ext cx="3738623" cy="868101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373389" y="4438069"/>
            <a:ext cx="3738623" cy="868101"/>
          </a:xfrm>
          <a:prstGeom prst="roundRect">
            <a:avLst/>
          </a:prstGeom>
          <a:solidFill>
            <a:srgbClr val="C00000">
              <a:alpha val="3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4871977" y="2210766"/>
            <a:ext cx="6934200" cy="416688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4867799" y="2627454"/>
            <a:ext cx="6938378" cy="429202"/>
          </a:xfrm>
          <a:prstGeom prst="roundRect">
            <a:avLst/>
          </a:prstGeom>
          <a:solidFill>
            <a:srgbClr val="C00000">
              <a:alpha val="3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217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INTERSECT: Remember the semantics!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162CE-480A-44CE-B867-ADB1FE527ED4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68985" y="1589048"/>
            <a:ext cx="3975693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Company(</a:t>
            </a:r>
            <a:r>
              <a:rPr lang="en-US" u="sng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name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hq_city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 AS C</a:t>
            </a:r>
          </a:p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Product(</a:t>
            </a:r>
            <a:r>
              <a:rPr lang="en-US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maker, </a:t>
            </a:r>
            <a:r>
              <a:rPr lang="en-US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factory_loc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 AS P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8986" y="2755572"/>
            <a:ext cx="3547430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SELECT </a:t>
            </a:r>
            <a:r>
              <a:rPr lang="en-US" dirty="0" err="1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hq_city</a:t>
            </a:r>
            <a:endParaRPr lang="en-US" dirty="0">
              <a:solidFill>
                <a:schemeClr val="bg2">
                  <a:lumMod val="90000"/>
                </a:schemeClr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Company, Product</a:t>
            </a:r>
          </a:p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maker = name </a:t>
            </a:r>
          </a:p>
          <a:p>
            <a:r>
              <a:rPr lang="en-US" dirty="0">
                <a:latin typeface="Menlo" charset="0"/>
                <a:ea typeface="Menlo" charset="0"/>
                <a:cs typeface="Menlo" charset="0"/>
              </a:rPr>
              <a:t>  AND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factory_loc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=‘US’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INTERSECT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SELECT </a:t>
            </a:r>
            <a:r>
              <a:rPr lang="en-US" dirty="0" err="1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hq_city</a:t>
            </a:r>
            <a:endParaRPr lang="en-US" dirty="0">
              <a:solidFill>
                <a:schemeClr val="bg2">
                  <a:lumMod val="90000"/>
                </a:schemeClr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Company, Product</a:t>
            </a:r>
          </a:p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maker = name</a:t>
            </a:r>
          </a:p>
          <a:p>
            <a:r>
              <a:rPr lang="en-US" dirty="0">
                <a:latin typeface="Menlo" charset="0"/>
                <a:ea typeface="Menlo" charset="0"/>
                <a:cs typeface="Menlo" charset="0"/>
              </a:rPr>
              <a:t>AND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factory_loc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=‘China’</a:t>
            </a:r>
            <a:endParaRPr lang="en-US" i="1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60396" y="1409035"/>
            <a:ext cx="4995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Example:  C  JOIN  P on maker = name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399444"/>
              </p:ext>
            </p:extLst>
          </p:nvPr>
        </p:nvGraphicFramePr>
        <p:xfrm>
          <a:off x="4960396" y="1870700"/>
          <a:ext cx="675318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6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52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C.name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C.hq_city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P.pname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P.maker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P.factory_loc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 Co.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 Co.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U.S.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r>
                        <a:rPr lang="en-US" baseline="0" dirty="0"/>
                        <a:t> Inc.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70390" y="3078866"/>
            <a:ext cx="3738623" cy="868101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373389" y="4438069"/>
            <a:ext cx="3738623" cy="868101"/>
          </a:xfrm>
          <a:prstGeom prst="roundRect">
            <a:avLst/>
          </a:prstGeom>
          <a:solidFill>
            <a:srgbClr val="C00000">
              <a:alpha val="3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4871977" y="2210766"/>
            <a:ext cx="6934200" cy="416688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4956864" y="2637350"/>
            <a:ext cx="6938378" cy="429202"/>
          </a:xfrm>
          <a:prstGeom prst="roundRect">
            <a:avLst/>
          </a:prstGeom>
          <a:solidFill>
            <a:srgbClr val="C00000">
              <a:alpha val="3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249763" y="3661844"/>
            <a:ext cx="6174449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X Co has a factory in the US (but not China)</a:t>
            </a:r>
          </a:p>
          <a:p>
            <a:r>
              <a:rPr lang="en-US" sz="2400" dirty="0">
                <a:latin typeface="+mj-lt"/>
              </a:rPr>
              <a:t>Y Inc. has a factory in China (but not US)</a:t>
            </a:r>
          </a:p>
          <a:p>
            <a:endParaRPr lang="en-US" sz="2400" b="1" dirty="0">
              <a:latin typeface="+mj-lt"/>
            </a:endParaRPr>
          </a:p>
          <a:p>
            <a:r>
              <a:rPr lang="en-US" sz="2400" b="1" dirty="0">
                <a:latin typeface="+mj-lt"/>
              </a:rPr>
              <a:t>But Seattle is returned by the query!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0369" y="5647750"/>
            <a:ext cx="3727048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We did the INTERSECT on the wrong attributes!</a:t>
            </a:r>
          </a:p>
        </p:txBody>
      </p:sp>
    </p:spTree>
    <p:extLst>
      <p:ext uri="{BB962C8B-B14F-4D97-AF65-F5344CB8AC3E}">
        <p14:creationId xmlns:p14="http://schemas.microsoft.com/office/powerpoint/2010/main" val="200665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Solution: </a:t>
            </a:r>
            <a:r>
              <a:rPr lang="en-US" b="1" dirty="0"/>
              <a:t>Nested Queries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162CE-480A-44CE-B867-ADB1FE527ED4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676400" y="1589048"/>
            <a:ext cx="5416868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Company(</a:t>
            </a:r>
            <a:r>
              <a:rPr lang="en-US" sz="2000" u="sng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name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hq_city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pname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maker,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factory_loc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76400" y="2592358"/>
            <a:ext cx="6540500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DISTINCT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hq_city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Company</a:t>
            </a: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name </a:t>
            </a:r>
            <a:r>
              <a:rPr lang="en-US" sz="20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IN 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	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maker</a:t>
            </a: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  	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Product</a:t>
            </a:r>
          </a:p>
          <a:p>
            <a:r>
              <a:rPr lang="en-US" sz="2000" dirty="0">
                <a:latin typeface="Menlo" charset="0"/>
                <a:ea typeface="Menlo" charset="0"/>
                <a:cs typeface="Menlo" charset="0"/>
              </a:rPr>
              <a:t>	  	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factory_loc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‘US’)</a:t>
            </a:r>
          </a:p>
          <a:p>
            <a:r>
              <a:rPr lang="en-US" sz="2000" dirty="0">
                <a:latin typeface="Menlo" charset="0"/>
                <a:ea typeface="Menlo" charset="0"/>
                <a:cs typeface="Menlo" charset="0"/>
              </a:rPr>
              <a:t>	 AND name </a:t>
            </a:r>
            <a:r>
              <a:rPr lang="en-US" sz="20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IN 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	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maker</a:t>
            </a: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  	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Product</a:t>
            </a:r>
          </a:p>
          <a:p>
            <a:r>
              <a:rPr lang="en-US" sz="2000" dirty="0">
                <a:latin typeface="Menlo" charset="0"/>
                <a:ea typeface="Menlo" charset="0"/>
                <a:cs typeface="Menlo" charset="0"/>
              </a:rPr>
              <a:t>	  	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factory_loc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‘China’)</a:t>
            </a:r>
            <a:endParaRPr lang="en-US" sz="2000" i="1" dirty="0">
              <a:latin typeface="Menlo" charset="0"/>
              <a:ea typeface="Menlo" charset="0"/>
              <a:cs typeface="Menlo" charset="0"/>
            </a:endParaRPr>
          </a:p>
          <a:p>
            <a:endParaRPr lang="en-US" sz="2000" i="1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10600" y="1770546"/>
            <a:ext cx="3009900" cy="181588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800" i="1" dirty="0">
                <a:latin typeface="+mj-lt"/>
              </a:rPr>
              <a:t>“Headquarters of companies which make gizmos in US </a:t>
            </a:r>
            <a:r>
              <a:rPr lang="en-US" sz="2800" b="1" i="1" dirty="0">
                <a:latin typeface="+mj-lt"/>
              </a:rPr>
              <a:t>AND</a:t>
            </a:r>
            <a:r>
              <a:rPr lang="en-US" sz="2800" i="1" dirty="0">
                <a:latin typeface="+mj-lt"/>
              </a:rPr>
              <a:t> China”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27311" y="3946967"/>
            <a:ext cx="2893189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Note: If we hadn’t used DISTINCT here, how many copies of each </a:t>
            </a:r>
            <a:r>
              <a:rPr lang="en-US" sz="2400" dirty="0" err="1">
                <a:latin typeface="+mj-lt"/>
              </a:rPr>
              <a:t>hq_city</a:t>
            </a:r>
            <a:r>
              <a:rPr lang="en-US" sz="2400" dirty="0">
                <a:latin typeface="+mj-lt"/>
              </a:rPr>
              <a:t> would have been returned?</a:t>
            </a:r>
          </a:p>
        </p:txBody>
      </p:sp>
    </p:spTree>
    <p:extLst>
      <p:ext uri="{BB962C8B-B14F-4D97-AF65-F5344CB8AC3E}">
        <p14:creationId xmlns:p14="http://schemas.microsoft.com/office/powerpoint/2010/main" val="152377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note on nested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nested queries because SQL is </a:t>
            </a:r>
            <a:r>
              <a:rPr lang="en-US" b="1" i="1" dirty="0"/>
              <a:t>compositional: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Everything (inputs / outputs) is represented as </a:t>
            </a:r>
            <a:r>
              <a:rPr lang="en-US" dirty="0" err="1"/>
              <a:t>multisets</a:t>
            </a:r>
            <a:r>
              <a:rPr lang="en-US" dirty="0"/>
              <a:t>- the output of one query can thus be used as the input to another (nesting)!</a:t>
            </a:r>
          </a:p>
          <a:p>
            <a:pPr lvl="1"/>
            <a:endParaRPr lang="en-US" dirty="0"/>
          </a:p>
          <a:p>
            <a:r>
              <a:rPr lang="en-US" dirty="0"/>
              <a:t>This is </a:t>
            </a:r>
            <a:r>
              <a:rPr lang="en-US" u="sng" dirty="0"/>
              <a:t>extremely</a:t>
            </a:r>
            <a:r>
              <a:rPr lang="en-US" dirty="0"/>
              <a:t> powerful!</a:t>
            </a:r>
          </a:p>
        </p:txBody>
      </p:sp>
    </p:spTree>
    <p:extLst>
      <p:ext uri="{BB962C8B-B14F-4D97-AF65-F5344CB8AC3E}">
        <p14:creationId xmlns:p14="http://schemas.microsoft.com/office/powerpoint/2010/main" val="19996310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Nested queries: Sub-queries Return Relations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45DB7-4617-4575-9446-CC3ED7D53B58}" type="slidenum">
              <a:rPr lang="en-US"/>
              <a:pPr/>
              <a:t>63</a:t>
            </a:fld>
            <a:endParaRPr lang="en-US"/>
          </a:p>
        </p:txBody>
      </p:sp>
      <p:sp>
        <p:nvSpPr>
          <p:cNvPr id="180227" name="Text Box 3"/>
          <p:cNvSpPr txBox="1">
            <a:spLocks noChangeArrowheads="1"/>
          </p:cNvSpPr>
          <p:nvPr/>
        </p:nvSpPr>
        <p:spPr bwMode="auto">
          <a:xfrm>
            <a:off x="1281570" y="3436008"/>
            <a:ext cx="6756400" cy="26776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c.city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Company c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c.name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>
                <a:solidFill>
                  <a:srgbClr val="FF0066"/>
                </a:solidFill>
                <a:latin typeface="Menlo" charset="0"/>
                <a:ea typeface="Menlo" charset="0"/>
                <a:cs typeface="Menlo" charset="0"/>
              </a:rPr>
              <a:t>IN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(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pr.maker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Purchase p, Product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p.product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pr.name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   AND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p.buyer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‘Joe Blow‘)</a:t>
            </a:r>
          </a:p>
        </p:txBody>
      </p:sp>
      <p:sp>
        <p:nvSpPr>
          <p:cNvPr id="180228" name="Text Box 4"/>
          <p:cNvSpPr txBox="1">
            <a:spLocks noChangeArrowheads="1"/>
          </p:cNvSpPr>
          <p:nvPr/>
        </p:nvSpPr>
        <p:spPr bwMode="auto">
          <a:xfrm>
            <a:off x="8901570" y="3436008"/>
            <a:ext cx="2452230" cy="2380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latin typeface="+mj-lt"/>
              </a:rPr>
              <a:t>“Cities where one   can find companies that manufacture products bought by Joe Blow”</a:t>
            </a:r>
          </a:p>
        </p:txBody>
      </p:sp>
      <p:sp>
        <p:nvSpPr>
          <p:cNvPr id="180230" name="Rectangle 6"/>
          <p:cNvSpPr>
            <a:spLocks noChangeArrowheads="1"/>
          </p:cNvSpPr>
          <p:nvPr/>
        </p:nvSpPr>
        <p:spPr bwMode="auto">
          <a:xfrm>
            <a:off x="1981201" y="1823413"/>
            <a:ext cx="4493538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Company(</a:t>
            </a:r>
            <a:r>
              <a:rPr lang="en-US" sz="2000" u="sng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name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city)</a:t>
            </a:r>
            <a:b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Product(</a:t>
            </a:r>
            <a:r>
              <a:rPr lang="en-US" sz="2000" u="sng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name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maker)</a:t>
            </a:r>
            <a:b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Purchase(</a:t>
            </a:r>
            <a:r>
              <a:rPr lang="en-US" sz="2000" u="sng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id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product, buyer)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823413"/>
            <a:ext cx="11556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Another example: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7" grpId="0" animBg="1"/>
      <p:bldP spid="180228" grpId="0"/>
      <p:bldP spid="180230" grpId="0" animBg="1"/>
      <p:bldP spid="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Queries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505A5-3EC9-41E9-BEDA-F94199773880}" type="slidenum">
              <a:rPr lang="en-US"/>
              <a:pPr/>
              <a:t>64</a:t>
            </a:fld>
            <a:endParaRPr lang="en-US"/>
          </a:p>
        </p:txBody>
      </p:sp>
      <p:sp>
        <p:nvSpPr>
          <p:cNvPr id="181251" name="Text Box 3"/>
          <p:cNvSpPr txBox="1">
            <a:spLocks noChangeArrowheads="1"/>
          </p:cNvSpPr>
          <p:nvPr/>
        </p:nvSpPr>
        <p:spPr bwMode="auto">
          <a:xfrm>
            <a:off x="6366067" y="2453921"/>
            <a:ext cx="5391219" cy="26776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c.city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Company c, 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   Product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, 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   Purchase p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c.name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pr.maker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AND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pr.name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p.product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AND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p.buyer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‘Joe Blow’</a:t>
            </a:r>
          </a:p>
        </p:txBody>
      </p:sp>
      <p:sp>
        <p:nvSpPr>
          <p:cNvPr id="181252" name="Text Box 4"/>
          <p:cNvSpPr txBox="1">
            <a:spLocks noChangeArrowheads="1"/>
          </p:cNvSpPr>
          <p:nvPr/>
        </p:nvSpPr>
        <p:spPr bwMode="auto">
          <a:xfrm>
            <a:off x="3620384" y="1770546"/>
            <a:ext cx="447231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800">
                <a:latin typeface="+mj-lt"/>
              </a:rPr>
              <a:t>Are these queries equivalent</a:t>
            </a:r>
            <a:r>
              <a:rPr lang="en-US" sz="2800" dirty="0">
                <a:latin typeface="+mj-lt"/>
              </a:rPr>
              <a:t>?</a:t>
            </a:r>
          </a:p>
        </p:txBody>
      </p:sp>
      <p:sp>
        <p:nvSpPr>
          <p:cNvPr id="181254" name="Rectangle 6"/>
          <p:cNvSpPr>
            <a:spLocks noChangeArrowheads="1"/>
          </p:cNvSpPr>
          <p:nvPr/>
        </p:nvSpPr>
        <p:spPr bwMode="auto">
          <a:xfrm>
            <a:off x="4099298" y="5884287"/>
            <a:ext cx="3993401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 eaLnBrk="0" hangingPunct="0"/>
            <a:r>
              <a:rPr lang="en-US" sz="3200" dirty="0">
                <a:latin typeface="+mj-lt"/>
              </a:rPr>
              <a:t>Beware of duplicates! </a:t>
            </a:r>
            <a:endParaRPr lang="en-US" dirty="0">
              <a:solidFill>
                <a:srgbClr val="FF5050"/>
              </a:solidFill>
              <a:latin typeface="+mj-lt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352180" y="2457803"/>
            <a:ext cx="5553945" cy="26776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c.city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Company c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c.name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>
                <a:solidFill>
                  <a:srgbClr val="FF0066"/>
                </a:solidFill>
                <a:latin typeface="Menlo" charset="0"/>
                <a:ea typeface="Menlo" charset="0"/>
                <a:cs typeface="Menlo" charset="0"/>
              </a:rPr>
              <a:t>IN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(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pr.maker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Purchase p, Product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p.name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pr.product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AND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p.buyer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‘Joe Blow‘)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1" grpId="0" animBg="1"/>
      <p:bldP spid="181252" grpId="0"/>
      <p:bldP spid="181254" grpId="0" animBg="1"/>
      <p:bldP spid="1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C9FF4-F990-2F90-932C-34575E633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0BD3AC-3C98-97C5-358A-89EF66FB21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354122"/>
              </p:ext>
            </p:extLst>
          </p:nvPr>
        </p:nvGraphicFramePr>
        <p:xfrm>
          <a:off x="715291" y="4403726"/>
          <a:ext cx="5445760" cy="2225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880">
                  <a:extLst>
                    <a:ext uri="{9D8B030D-6E8A-4147-A177-3AD203B41FA5}">
                      <a16:colId xmlns:a16="http://schemas.microsoft.com/office/drawing/2014/main" val="3809757083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2645035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555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4315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Iphone</a:t>
                      </a:r>
                      <a:r>
                        <a:rPr lang="en-US" dirty="0"/>
                        <a:t>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54287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Iphone</a:t>
                      </a:r>
                      <a:r>
                        <a:rPr lang="en-US" dirty="0"/>
                        <a:t>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053334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MacBook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441016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Galaxy A50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Samsung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9798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044F59-12CF-94A2-542C-76CEEA4D6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183746"/>
              </p:ext>
            </p:extLst>
          </p:nvPr>
        </p:nvGraphicFramePr>
        <p:xfrm>
          <a:off x="6484719" y="3097441"/>
          <a:ext cx="6008748" cy="2225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2916">
                  <a:extLst>
                    <a:ext uri="{9D8B030D-6E8A-4147-A177-3AD203B41FA5}">
                      <a16:colId xmlns:a16="http://schemas.microsoft.com/office/drawing/2014/main" val="1753439132"/>
                    </a:ext>
                  </a:extLst>
                </a:gridCol>
                <a:gridCol w="2002916">
                  <a:extLst>
                    <a:ext uri="{9D8B030D-6E8A-4147-A177-3AD203B41FA5}">
                      <a16:colId xmlns:a16="http://schemas.microsoft.com/office/drawing/2014/main" val="1843290598"/>
                    </a:ext>
                  </a:extLst>
                </a:gridCol>
                <a:gridCol w="2002916">
                  <a:extLst>
                    <a:ext uri="{9D8B030D-6E8A-4147-A177-3AD203B41FA5}">
                      <a16:colId xmlns:a16="http://schemas.microsoft.com/office/drawing/2014/main" val="2816142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130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Buyer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721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Iphone</a:t>
                      </a:r>
                      <a:r>
                        <a:rPr lang="en-US" dirty="0"/>
                        <a:t>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Joe Blow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22734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Iphone</a:t>
                      </a:r>
                      <a:r>
                        <a:rPr lang="en-US" dirty="0"/>
                        <a:t>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Joe Blow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74818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MacBook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Alex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543125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Galaxy A50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60240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445C73E-3F7F-0B2C-67AA-BD757ADEB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783936"/>
              </p:ext>
            </p:extLst>
          </p:nvPr>
        </p:nvGraphicFramePr>
        <p:xfrm>
          <a:off x="509145" y="604320"/>
          <a:ext cx="54457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880">
                  <a:extLst>
                    <a:ext uri="{9D8B030D-6E8A-4147-A177-3AD203B41FA5}">
                      <a16:colId xmlns:a16="http://schemas.microsoft.com/office/drawing/2014/main" val="3026420468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3164950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790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Cupertino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0706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A132C73-2FDE-4EDB-EC80-E330A7DE606F}"/>
              </a:ext>
            </a:extLst>
          </p:cNvPr>
          <p:cNvSpPr txBox="1"/>
          <p:nvPr/>
        </p:nvSpPr>
        <p:spPr>
          <a:xfrm>
            <a:off x="385948" y="1608117"/>
            <a:ext cx="6096000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2400" b="0" i="0" u="none" strike="noStrike" baseline="0">
                <a:solidFill>
                  <a:srgbClr val="ED7D31"/>
                </a:solidFill>
                <a:latin typeface="Menlo"/>
                <a:ea typeface="Segoe UI"/>
                <a:cs typeface="Segoe UI"/>
              </a:rPr>
              <a:t>SELECT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Menlo"/>
                <a:ea typeface="Segoe UI"/>
                <a:cs typeface="Segoe UI"/>
              </a:rPr>
              <a:t> c.city​</a:t>
            </a:r>
          </a:p>
          <a:p>
            <a:pPr algn="l" rtl="0"/>
            <a:r>
              <a:rPr lang="en-US" sz="2400" b="0" i="0" u="none" strike="noStrike" baseline="0">
                <a:solidFill>
                  <a:srgbClr val="ED7D31"/>
                </a:solidFill>
                <a:latin typeface="Menlo"/>
                <a:ea typeface="Segoe UI"/>
                <a:cs typeface="Segoe UI"/>
              </a:rPr>
              <a:t>FROM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Menlo"/>
                <a:ea typeface="Segoe UI"/>
                <a:cs typeface="Segoe UI"/>
              </a:rPr>
              <a:t> Company c, </a:t>
            </a:r>
            <a:r>
              <a:rPr lang="en-US" sz="2400" b="0" i="0">
                <a:solidFill>
                  <a:srgbClr val="000000"/>
                </a:solidFill>
                <a:latin typeface="Menlo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2400" b="0" i="0" u="none" strike="noStrike" baseline="0">
                <a:solidFill>
                  <a:srgbClr val="000000"/>
                </a:solidFill>
                <a:latin typeface="Menlo"/>
                <a:ea typeface="Segoe UI"/>
                <a:cs typeface="Segoe UI"/>
              </a:rPr>
              <a:t>Product pr, </a:t>
            </a:r>
            <a:r>
              <a:rPr lang="en-US" sz="2400" b="0" i="0">
                <a:solidFill>
                  <a:srgbClr val="000000"/>
                </a:solidFill>
                <a:latin typeface="Menlo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2400" b="0" i="0" u="none" strike="noStrike" baseline="0">
                <a:solidFill>
                  <a:srgbClr val="000000"/>
                </a:solidFill>
                <a:latin typeface="Menlo"/>
                <a:ea typeface="Segoe UI"/>
                <a:cs typeface="Segoe UI"/>
              </a:rPr>
              <a:t>Purchase p</a:t>
            </a:r>
            <a:r>
              <a:rPr lang="en-US" sz="2400" b="0" i="0">
                <a:solidFill>
                  <a:srgbClr val="000000"/>
                </a:solidFill>
                <a:latin typeface="Menlo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2400" b="0" i="0" u="none" strike="noStrike" baseline="0">
                <a:solidFill>
                  <a:srgbClr val="ED7D31"/>
                </a:solidFill>
                <a:latin typeface="Menlo"/>
                <a:ea typeface="Segoe UI"/>
                <a:cs typeface="Segoe UI"/>
              </a:rPr>
              <a:t>WHERE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Menlo"/>
                <a:ea typeface="Segoe UI"/>
                <a:cs typeface="Segoe UI"/>
              </a:rPr>
              <a:t> c.name = pr.maker</a:t>
            </a:r>
            <a:r>
              <a:rPr lang="en-US" sz="2400" b="0" i="0">
                <a:solidFill>
                  <a:srgbClr val="000000"/>
                </a:solidFill>
                <a:latin typeface="Menlo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2400" b="0" i="0" u="none" strike="noStrike" baseline="0">
                <a:solidFill>
                  <a:srgbClr val="000000"/>
                </a:solidFill>
                <a:latin typeface="Menlo"/>
                <a:ea typeface="Segoe UI"/>
                <a:cs typeface="Segoe UI"/>
              </a:rPr>
              <a:t>AND pr.name = p.product</a:t>
            </a:r>
            <a:r>
              <a:rPr lang="en-US" sz="2400" b="0" i="0">
                <a:solidFill>
                  <a:srgbClr val="000000"/>
                </a:solidFill>
                <a:latin typeface="Menlo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2400" b="0" i="0" u="none" strike="noStrike" baseline="0">
                <a:solidFill>
                  <a:srgbClr val="000000"/>
                </a:solidFill>
                <a:latin typeface="Menlo"/>
                <a:ea typeface="Segoe UI"/>
                <a:cs typeface="Segoe UI"/>
              </a:rPr>
              <a:t>AND p.buyer = ‘Joe Blow’</a:t>
            </a:r>
            <a:r>
              <a:rPr lang="en-US" sz="2400" b="0" i="0">
                <a:solidFill>
                  <a:srgbClr val="000000"/>
                </a:solidFill>
                <a:latin typeface="Menlo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85360316-6130-347C-DE99-806D71C56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1870" y="601099"/>
            <a:ext cx="5553945" cy="26776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c.city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Company c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c.name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>
                <a:solidFill>
                  <a:srgbClr val="FF0066"/>
                </a:solidFill>
                <a:latin typeface="Menlo" charset="0"/>
                <a:ea typeface="Menlo" charset="0"/>
                <a:cs typeface="Menlo" charset="0"/>
              </a:rPr>
              <a:t>IN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(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pr.maker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Purchase p, Product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p.name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pr.product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AND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p.buyer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‘Joe Blow‘)</a:t>
            </a:r>
          </a:p>
        </p:txBody>
      </p:sp>
    </p:spTree>
    <p:extLst>
      <p:ext uri="{BB962C8B-B14F-4D97-AF65-F5344CB8AC3E}">
        <p14:creationId xmlns:p14="http://schemas.microsoft.com/office/powerpoint/2010/main" val="3086113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Queries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505A5-3EC9-41E9-BEDA-F94199773880}" type="slidenum">
              <a:rPr lang="en-US"/>
              <a:pPr/>
              <a:t>66</a:t>
            </a:fld>
            <a:endParaRPr lang="en-US" dirty="0"/>
          </a:p>
        </p:txBody>
      </p:sp>
      <p:sp>
        <p:nvSpPr>
          <p:cNvPr id="181251" name="Text Box 3"/>
          <p:cNvSpPr txBox="1">
            <a:spLocks noChangeArrowheads="1"/>
          </p:cNvSpPr>
          <p:nvPr/>
        </p:nvSpPr>
        <p:spPr bwMode="auto">
          <a:xfrm>
            <a:off x="428590" y="2243574"/>
            <a:ext cx="4493538" cy="224676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DISTINCT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c.city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Company c, </a:t>
            </a: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     Product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</a:t>
            </a: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     Purchase p</a:t>
            </a: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c.name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pr.maker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AND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pr.name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p.product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AND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p.buyer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‘Joe Blow’</a:t>
            </a:r>
          </a:p>
        </p:txBody>
      </p:sp>
      <p:sp>
        <p:nvSpPr>
          <p:cNvPr id="181254" name="Rectangle 6"/>
          <p:cNvSpPr>
            <a:spLocks noChangeArrowheads="1"/>
          </p:cNvSpPr>
          <p:nvPr/>
        </p:nvSpPr>
        <p:spPr bwMode="auto">
          <a:xfrm>
            <a:off x="1928809" y="5125220"/>
            <a:ext cx="8334397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 eaLnBrk="0" hangingPunct="0"/>
            <a:r>
              <a:rPr lang="en-US" sz="3200" dirty="0">
                <a:latin typeface="+mj-lt"/>
              </a:rPr>
              <a:t>Now they are equivalent (both use set semantics)</a:t>
            </a:r>
            <a:endParaRPr lang="en-US" dirty="0">
              <a:solidFill>
                <a:srgbClr val="FF5050"/>
              </a:solidFill>
              <a:latin typeface="+mj-lt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5489609" y="2232097"/>
            <a:ext cx="6059030" cy="224676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DISTINCT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c.city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Company c</a:t>
            </a:r>
          </a:p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c.name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>
                <a:solidFill>
                  <a:srgbClr val="FF0066"/>
                </a:solidFill>
                <a:latin typeface="Menlo" charset="0"/>
                <a:ea typeface="Menlo" charset="0"/>
                <a:cs typeface="Menlo" charset="0"/>
              </a:rPr>
              <a:t>IN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(</a:t>
            </a:r>
          </a:p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 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pr.maker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Purchase p, Product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p.product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pr.name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	AND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p.buyer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‘Joe Blow‘)</a:t>
            </a:r>
          </a:p>
        </p:txBody>
      </p:sp>
    </p:spTree>
    <p:extLst>
      <p:ext uri="{BB962C8B-B14F-4D97-AF65-F5344CB8AC3E}">
        <p14:creationId xmlns:p14="http://schemas.microsoft.com/office/powerpoint/2010/main" val="1158095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4" grpId="0" animBg="1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Subqueries Return Relations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DD40D-2378-4F8B-8576-98768B62F35F}" type="slidenum">
              <a:rPr lang="en-US"/>
              <a:pPr/>
              <a:t>67</a:t>
            </a:fld>
            <a:endParaRPr lang="en-US"/>
          </a:p>
        </p:txBody>
      </p:sp>
      <p:sp>
        <p:nvSpPr>
          <p:cNvPr id="183299" name="Text Box 3"/>
          <p:cNvSpPr txBox="1">
            <a:spLocks noChangeArrowheads="1"/>
          </p:cNvSpPr>
          <p:nvPr/>
        </p:nvSpPr>
        <p:spPr bwMode="auto">
          <a:xfrm>
            <a:off x="1531259" y="4226645"/>
            <a:ext cx="4781540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anchor="t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name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Product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price &gt; </a:t>
            </a:r>
            <a:r>
              <a:rPr lang="en-US" sz="2400" dirty="0">
                <a:solidFill>
                  <a:srgbClr val="FF0066"/>
                </a:solidFill>
                <a:latin typeface="Menlo" charset="0"/>
                <a:ea typeface="Menlo" charset="0"/>
                <a:cs typeface="Menlo" charset="0"/>
              </a:rPr>
              <a:t>ALL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price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Product</a:t>
            </a:r>
          </a:p>
          <a:p>
            <a:pPr eaLnBrk="0" hangingPunct="0"/>
            <a:r>
              <a:rPr lang="en-US" sz="2400" dirty="0">
                <a:latin typeface="Menlo"/>
                <a:ea typeface="Menlo" charset="0"/>
                <a:cs typeface="Menlo" charset="0"/>
              </a:rPr>
              <a:t>     </a:t>
            </a:r>
            <a:r>
              <a:rPr lang="en-US" sz="24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  maker = ‘</a:t>
            </a:r>
            <a:r>
              <a:rPr lang="en-US" sz="2400" dirty="0" err="1">
                <a:latin typeface="Menlo"/>
                <a:ea typeface="Menlo" charset="0"/>
                <a:cs typeface="Menlo" charset="0"/>
              </a:rPr>
              <a:t>Gizmoworks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’)</a:t>
            </a:r>
          </a:p>
        </p:txBody>
      </p:sp>
      <p:sp>
        <p:nvSpPr>
          <p:cNvPr id="183300" name="Text Box 4"/>
          <p:cNvSpPr txBox="1">
            <a:spLocks noChangeArrowheads="1"/>
          </p:cNvSpPr>
          <p:nvPr/>
        </p:nvSpPr>
        <p:spPr bwMode="auto">
          <a:xfrm>
            <a:off x="1531259" y="3482089"/>
            <a:ext cx="5878532" cy="4001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Product(name, price, category, maker)</a:t>
            </a:r>
          </a:p>
        </p:txBody>
      </p:sp>
      <p:sp>
        <p:nvSpPr>
          <p:cNvPr id="183301" name="Text Box 5"/>
          <p:cNvSpPr txBox="1">
            <a:spLocks noChangeArrowheads="1"/>
          </p:cNvSpPr>
          <p:nvPr/>
        </p:nvSpPr>
        <p:spPr bwMode="auto">
          <a:xfrm>
            <a:off x="838200" y="1596919"/>
            <a:ext cx="5234576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/>
              <a:t>You can also use operations of the form:    </a:t>
            </a:r>
          </a:p>
          <a:p>
            <a:pPr marL="800100" lvl="1" indent="-342900" eaLnBrk="0" hangingPunct="0">
              <a:buFont typeface="Arial" charset="0"/>
              <a:buChar char="•"/>
            </a:pPr>
            <a:r>
              <a:rPr lang="en-US" sz="2400" u="sng" dirty="0"/>
              <a:t>s &gt; ALL R</a:t>
            </a:r>
          </a:p>
          <a:p>
            <a:pPr marL="800100" lvl="1" indent="-342900" eaLnBrk="0" hangingPunct="0">
              <a:buFont typeface="Arial" charset="0"/>
              <a:buChar char="•"/>
            </a:pPr>
            <a:r>
              <a:rPr lang="en-US" sz="2400" dirty="0"/>
              <a:t>s &lt; ANY R</a:t>
            </a:r>
          </a:p>
          <a:p>
            <a:pPr marL="800100" lvl="1" indent="-342900" eaLnBrk="0" hangingPunct="0">
              <a:buFont typeface="Arial" charset="0"/>
              <a:buChar char="•"/>
            </a:pPr>
            <a:r>
              <a:rPr lang="en-US" sz="2400" dirty="0"/>
              <a:t>EXISTS R</a:t>
            </a:r>
          </a:p>
        </p:txBody>
      </p:sp>
      <p:sp>
        <p:nvSpPr>
          <p:cNvPr id="2" name="Rectangle 1"/>
          <p:cNvSpPr/>
          <p:nvPr/>
        </p:nvSpPr>
        <p:spPr>
          <a:xfrm>
            <a:off x="8633536" y="4232567"/>
            <a:ext cx="269732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latin typeface="+mj-lt"/>
              </a:rPr>
              <a:t>Find products that are more expensive than all those produced by “Gizmo-Works”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" y="3482089"/>
            <a:ext cx="2697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latin typeface="+mj-lt"/>
              </a:rPr>
              <a:t>Ex: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7803" y="1538419"/>
            <a:ext cx="4125997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ANY and ALL not supported by SQLite.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9" grpId="0" animBg="1"/>
      <p:bldP spid="183300" grpId="0" animBg="1"/>
      <p:bldP spid="2" grpId="0"/>
      <p:bldP spid="11" grpId="0"/>
      <p:bldP spid="12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Subqueries Returning Relations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DD40D-2378-4F8B-8576-98768B62F35F}" type="slidenum">
              <a:rPr lang="en-US"/>
              <a:pPr/>
              <a:t>68</a:t>
            </a:fld>
            <a:endParaRPr lang="en-US"/>
          </a:p>
        </p:txBody>
      </p:sp>
      <p:sp>
        <p:nvSpPr>
          <p:cNvPr id="183299" name="Text Box 3"/>
          <p:cNvSpPr txBox="1">
            <a:spLocks noChangeArrowheads="1"/>
          </p:cNvSpPr>
          <p:nvPr/>
        </p:nvSpPr>
        <p:spPr bwMode="auto">
          <a:xfrm>
            <a:off x="1180923" y="4132015"/>
            <a:ext cx="6032421" cy="255454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p1.name</a:t>
            </a:r>
          </a:p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Product p1</a:t>
            </a:r>
          </a:p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p1.maker = ‘Gizmo-Works’</a:t>
            </a:r>
          </a:p>
          <a:p>
            <a:pPr eaLnBrk="0" hangingPunct="0"/>
            <a:r>
              <a:rPr lang="en-US" sz="2000" dirty="0">
                <a:solidFill>
                  <a:srgbClr val="FF0066"/>
                </a:solidFill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AND</a:t>
            </a:r>
            <a:r>
              <a:rPr lang="en-US" sz="2000" dirty="0">
                <a:solidFill>
                  <a:srgbClr val="FF0066"/>
                </a:solidFill>
                <a:latin typeface="Menlo" charset="0"/>
                <a:ea typeface="Menlo" charset="0"/>
                <a:cs typeface="Menlo" charset="0"/>
              </a:rPr>
              <a:t> EXISTS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p2.name</a:t>
            </a: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   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Product p2</a:t>
            </a: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   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p2.maker &lt;&gt; ‘Gizmo-Works’</a:t>
            </a: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	   AND p1.name = p2.name)</a:t>
            </a:r>
          </a:p>
        </p:txBody>
      </p:sp>
      <p:sp>
        <p:nvSpPr>
          <p:cNvPr id="183300" name="Text Box 4"/>
          <p:cNvSpPr txBox="1">
            <a:spLocks noChangeArrowheads="1"/>
          </p:cNvSpPr>
          <p:nvPr/>
        </p:nvSpPr>
        <p:spPr bwMode="auto">
          <a:xfrm>
            <a:off x="1180923" y="3416395"/>
            <a:ext cx="5878532" cy="4001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Product(name, price, category, maker)</a:t>
            </a:r>
          </a:p>
        </p:txBody>
      </p:sp>
      <p:sp>
        <p:nvSpPr>
          <p:cNvPr id="183301" name="Text Box 5"/>
          <p:cNvSpPr txBox="1">
            <a:spLocks noChangeArrowheads="1"/>
          </p:cNvSpPr>
          <p:nvPr/>
        </p:nvSpPr>
        <p:spPr bwMode="auto">
          <a:xfrm>
            <a:off x="838200" y="1596919"/>
            <a:ext cx="5467972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/>
              <a:t>You can also use operations of the form:    </a:t>
            </a:r>
          </a:p>
          <a:p>
            <a:pPr marL="800100" lvl="1" indent="-342900" eaLnBrk="0" hangingPunct="0">
              <a:buFont typeface="Arial" charset="0"/>
              <a:buChar char="•"/>
            </a:pPr>
            <a:r>
              <a:rPr lang="en-US" sz="2400" dirty="0"/>
              <a:t>s &gt; ALL R</a:t>
            </a:r>
          </a:p>
          <a:p>
            <a:pPr marL="800100" lvl="1" indent="-342900" eaLnBrk="0" hangingPunct="0">
              <a:buFont typeface="Arial" charset="0"/>
              <a:buChar char="•"/>
            </a:pPr>
            <a:r>
              <a:rPr lang="en-US" sz="2400" dirty="0"/>
              <a:t>s &lt; ANY R</a:t>
            </a:r>
          </a:p>
          <a:p>
            <a:pPr marL="800100" lvl="1" indent="-342900" eaLnBrk="0" hangingPunct="0">
              <a:buFont typeface="Arial" charset="0"/>
              <a:buChar char="•"/>
            </a:pPr>
            <a:r>
              <a:rPr lang="en-US" sz="2400" u="sng" dirty="0"/>
              <a:t>EXISTS R</a:t>
            </a:r>
          </a:p>
        </p:txBody>
      </p:sp>
      <p:sp>
        <p:nvSpPr>
          <p:cNvPr id="2" name="Rectangle 1"/>
          <p:cNvSpPr/>
          <p:nvPr/>
        </p:nvSpPr>
        <p:spPr>
          <a:xfrm>
            <a:off x="8950737" y="3968931"/>
            <a:ext cx="269732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latin typeface="+mj-lt"/>
              </a:rPr>
              <a:t>Find ‘copycat’ products, i.e. products made by competitors with the same names as products made by “Gizmo-Works”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864" y="3416395"/>
            <a:ext cx="2697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latin typeface="+mj-lt"/>
              </a:rPr>
              <a:t>Ex: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97280" y="5858392"/>
            <a:ext cx="137006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&lt;&gt; means !=</a:t>
            </a:r>
          </a:p>
        </p:txBody>
      </p:sp>
    </p:spTree>
    <p:extLst>
      <p:ext uri="{BB962C8B-B14F-4D97-AF65-F5344CB8AC3E}">
        <p14:creationId xmlns:p14="http://schemas.microsoft.com/office/powerpoint/2010/main" val="790843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9" grpId="0" animBg="1"/>
      <p:bldP spid="183300" grpId="0" animBg="1"/>
      <p:bldP spid="2" grpId="0"/>
      <p:bldP spid="11" grpId="0"/>
      <p:bldP spid="1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38200" y="671382"/>
            <a:ext cx="10515600" cy="1325563"/>
          </a:xfrm>
        </p:spPr>
        <p:txBody>
          <a:bodyPr/>
          <a:lstStyle/>
          <a:p>
            <a:r>
              <a:rPr lang="en-US" dirty="0"/>
              <a:t>Nested queries as alternatives to INTERSECT and EXCEPT</a:t>
            </a:r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E7F1-00A3-4FC2-89CA-DCEFAF8DBF03}" type="slidenum">
              <a:rPr lang="en-US"/>
              <a:pPr/>
              <a:t>69</a:t>
            </a:fld>
            <a:endParaRPr lang="en-US"/>
          </a:p>
        </p:txBody>
      </p:sp>
      <p:sp>
        <p:nvSpPr>
          <p:cNvPr id="224259" name="Rectangle 1027"/>
          <p:cNvSpPr>
            <a:spLocks noChangeArrowheads="1"/>
          </p:cNvSpPr>
          <p:nvPr/>
        </p:nvSpPr>
        <p:spPr bwMode="auto">
          <a:xfrm>
            <a:off x="838200" y="2594508"/>
            <a:ext cx="2416046" cy="13388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R.A, R.B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R)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INTERSECT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S.A, S.B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S)</a:t>
            </a:r>
          </a:p>
        </p:txBody>
      </p:sp>
      <p:sp>
        <p:nvSpPr>
          <p:cNvPr id="224260" name="Rectangle 1028"/>
          <p:cNvSpPr>
            <a:spLocks noChangeArrowheads="1"/>
          </p:cNvSpPr>
          <p:nvPr/>
        </p:nvSpPr>
        <p:spPr bwMode="auto">
          <a:xfrm>
            <a:off x="4343399" y="2594508"/>
            <a:ext cx="4786888" cy="158812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R.A, R.B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R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EXISTS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  	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*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latin typeface="Menlo" charset="0"/>
                <a:ea typeface="Menlo" charset="0"/>
                <a:cs typeface="Menlo" charset="0"/>
              </a:rPr>
              <a:t> 	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S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latin typeface="Menlo" charset="0"/>
                <a:ea typeface="Menlo" charset="0"/>
                <a:cs typeface="Menlo" charset="0"/>
              </a:rPr>
              <a:t>       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R.A=S.A AND R.B=S.B)</a:t>
            </a:r>
          </a:p>
        </p:txBody>
      </p:sp>
      <p:sp>
        <p:nvSpPr>
          <p:cNvPr id="224261" name="AutoShape 1029"/>
          <p:cNvSpPr>
            <a:spLocks noChangeArrowheads="1"/>
          </p:cNvSpPr>
          <p:nvPr/>
        </p:nvSpPr>
        <p:spPr bwMode="auto">
          <a:xfrm>
            <a:off x="3609816" y="3163791"/>
            <a:ext cx="504984" cy="443010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24263" name="Rectangle 1031"/>
          <p:cNvSpPr>
            <a:spLocks noChangeArrowheads="1"/>
          </p:cNvSpPr>
          <p:nvPr/>
        </p:nvSpPr>
        <p:spPr bwMode="auto">
          <a:xfrm>
            <a:off x="4419599" y="4804308"/>
            <a:ext cx="4786888" cy="158812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R.A, R.B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R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NOT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EXISTS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*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latin typeface="Menlo" charset="0"/>
                <a:ea typeface="Menlo" charset="0"/>
                <a:cs typeface="Menlo" charset="0"/>
              </a:rPr>
              <a:t>       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S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latin typeface="Menlo" charset="0"/>
                <a:ea typeface="Menlo" charset="0"/>
                <a:cs typeface="Menlo" charset="0"/>
              </a:rPr>
              <a:t>       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R.A=S.A AND R.B=S.B)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7803" y="1538419"/>
            <a:ext cx="4125997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INTERSECT and EXCEPT not in some DBMSs!</a:t>
            </a:r>
          </a:p>
        </p:txBody>
      </p:sp>
      <p:sp>
        <p:nvSpPr>
          <p:cNvPr id="4" name="Rectangle 3"/>
          <p:cNvSpPr/>
          <p:nvPr/>
        </p:nvSpPr>
        <p:spPr>
          <a:xfrm>
            <a:off x="9664700" y="3688104"/>
            <a:ext cx="1955800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If R, S have no duplicates, then can write without sub-queries (HOW?)</a:t>
            </a:r>
          </a:p>
        </p:txBody>
      </p:sp>
      <p:sp>
        <p:nvSpPr>
          <p:cNvPr id="18" name="Rectangle 1027"/>
          <p:cNvSpPr>
            <a:spLocks noChangeArrowheads="1"/>
          </p:cNvSpPr>
          <p:nvPr/>
        </p:nvSpPr>
        <p:spPr bwMode="auto">
          <a:xfrm>
            <a:off x="838200" y="4804308"/>
            <a:ext cx="2416046" cy="13388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R.A, R.B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R)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EXCEPT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S.A, S.B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S)</a:t>
            </a:r>
          </a:p>
        </p:txBody>
      </p:sp>
      <p:sp>
        <p:nvSpPr>
          <p:cNvPr id="19" name="AutoShape 1029"/>
          <p:cNvSpPr>
            <a:spLocks noChangeArrowheads="1"/>
          </p:cNvSpPr>
          <p:nvPr/>
        </p:nvSpPr>
        <p:spPr bwMode="auto">
          <a:xfrm>
            <a:off x="3609816" y="5373591"/>
            <a:ext cx="504984" cy="443010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975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4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4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9" grpId="0" animBg="1"/>
      <p:bldP spid="224260" grpId="0" animBg="1" autoUpdateAnimBg="0"/>
      <p:bldP spid="224261" grpId="0" animBg="1"/>
      <p:bldP spid="224263" grpId="0" animBg="1" autoUpdateAnimBg="0"/>
      <p:bldP spid="3" grpId="0" animBg="1"/>
      <p:bldP spid="4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38200" y="671382"/>
            <a:ext cx="10515600" cy="1325563"/>
          </a:xfrm>
        </p:spPr>
        <p:txBody>
          <a:bodyPr/>
          <a:lstStyle/>
          <a:p>
            <a:r>
              <a:rPr lang="en-US" dirty="0"/>
              <a:t>Nested queries as alternatives to INTERSECT and EXCEPT</a:t>
            </a:r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E7F1-00A3-4FC2-89CA-DCEFAF8DBF03}" type="slidenum">
              <a:rPr lang="en-US"/>
              <a:pPr/>
              <a:t>70</a:t>
            </a:fld>
            <a:endParaRPr lang="en-US"/>
          </a:p>
        </p:txBody>
      </p:sp>
      <p:sp>
        <p:nvSpPr>
          <p:cNvPr id="224259" name="Rectangle 1027"/>
          <p:cNvSpPr>
            <a:spLocks noChangeArrowheads="1"/>
          </p:cNvSpPr>
          <p:nvPr/>
        </p:nvSpPr>
        <p:spPr bwMode="auto">
          <a:xfrm>
            <a:off x="838200" y="2594508"/>
            <a:ext cx="2416046" cy="13388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R.A, R.B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R)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INTERSECT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S.A, S.B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S)</a:t>
            </a:r>
          </a:p>
        </p:txBody>
      </p:sp>
      <p:sp>
        <p:nvSpPr>
          <p:cNvPr id="224260" name="Rectangle 1028"/>
          <p:cNvSpPr>
            <a:spLocks noChangeArrowheads="1"/>
          </p:cNvSpPr>
          <p:nvPr/>
        </p:nvSpPr>
        <p:spPr bwMode="auto">
          <a:xfrm>
            <a:off x="4343399" y="2594508"/>
            <a:ext cx="3199915" cy="13388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R.A, R.B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R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(A,B) </a:t>
            </a:r>
            <a:r>
              <a:rPr lang="en-US" dirty="0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IN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( 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  	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S.A, S,B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latin typeface="Menlo" charset="0"/>
                <a:ea typeface="Menlo" charset="0"/>
                <a:cs typeface="Menlo" charset="0"/>
              </a:rPr>
              <a:t> 	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S)</a:t>
            </a:r>
          </a:p>
        </p:txBody>
      </p:sp>
      <p:sp>
        <p:nvSpPr>
          <p:cNvPr id="224261" name="AutoShape 1029"/>
          <p:cNvSpPr>
            <a:spLocks noChangeArrowheads="1"/>
          </p:cNvSpPr>
          <p:nvPr/>
        </p:nvSpPr>
        <p:spPr bwMode="auto">
          <a:xfrm>
            <a:off x="3609816" y="3163791"/>
            <a:ext cx="504984" cy="443010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24263" name="Rectangle 1031"/>
          <p:cNvSpPr>
            <a:spLocks noChangeArrowheads="1"/>
          </p:cNvSpPr>
          <p:nvPr/>
        </p:nvSpPr>
        <p:spPr bwMode="auto">
          <a:xfrm>
            <a:off x="4419599" y="4804308"/>
            <a:ext cx="2834430" cy="13388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R.A, R.B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R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(A,B) </a:t>
            </a:r>
            <a:r>
              <a:rPr lang="en-US" dirty="0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NOT IN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A,B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latin typeface="Menlo" charset="0"/>
                <a:ea typeface="Menlo" charset="0"/>
                <a:cs typeface="Menlo" charset="0"/>
              </a:rPr>
              <a:t>       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7803" y="1538419"/>
            <a:ext cx="4125997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INTERSECT and EXCEPT not in some DBMSs!</a:t>
            </a:r>
          </a:p>
        </p:txBody>
      </p:sp>
      <p:sp>
        <p:nvSpPr>
          <p:cNvPr id="4" name="Rectangle 3"/>
          <p:cNvSpPr/>
          <p:nvPr/>
        </p:nvSpPr>
        <p:spPr>
          <a:xfrm>
            <a:off x="9664700" y="3688104"/>
            <a:ext cx="1955800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If R, S have no duplicates, then can write without sub-queries (HOW?)</a:t>
            </a:r>
          </a:p>
        </p:txBody>
      </p:sp>
      <p:sp>
        <p:nvSpPr>
          <p:cNvPr id="18" name="Rectangle 1027"/>
          <p:cNvSpPr>
            <a:spLocks noChangeArrowheads="1"/>
          </p:cNvSpPr>
          <p:nvPr/>
        </p:nvSpPr>
        <p:spPr bwMode="auto">
          <a:xfrm>
            <a:off x="838200" y="4804308"/>
            <a:ext cx="2416046" cy="13388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R.A, R.B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R)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EXCEPT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S.A, S.B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S)</a:t>
            </a:r>
          </a:p>
        </p:txBody>
      </p:sp>
      <p:sp>
        <p:nvSpPr>
          <p:cNvPr id="19" name="AutoShape 1029"/>
          <p:cNvSpPr>
            <a:spLocks noChangeArrowheads="1"/>
          </p:cNvSpPr>
          <p:nvPr/>
        </p:nvSpPr>
        <p:spPr bwMode="auto">
          <a:xfrm>
            <a:off x="3609816" y="5373591"/>
            <a:ext cx="504984" cy="443010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5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4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4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9" grpId="0" animBg="1"/>
      <p:bldP spid="224260" grpId="0" animBg="1" autoUpdateAnimBg="0"/>
      <p:bldP spid="224261" grpId="0" animBg="1"/>
      <p:bldP spid="224263" grpId="0" animBg="1" autoUpdateAnimBg="0"/>
      <p:bldP spid="3" grpId="0" animBg="1"/>
      <p:bldP spid="4" grpId="0" animBg="1"/>
      <p:bldP spid="18" grpId="0" animBg="1"/>
      <p:bldP spid="1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Correlated Queries </a:t>
            </a:r>
            <a:r>
              <a:rPr lang="en-US" sz="2400" dirty="0"/>
              <a:t>Using External </a:t>
            </a:r>
            <a:r>
              <a:rPr lang="en-US" sz="2400" dirty="0" err="1"/>
              <a:t>Vars</a:t>
            </a:r>
            <a:r>
              <a:rPr lang="en-US" sz="2400" dirty="0"/>
              <a:t> in Internal Subquery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3310C-327C-4CB2-B85E-5B7845518CE8}" type="slidenum">
              <a:rPr lang="en-US"/>
              <a:pPr/>
              <a:t>71</a:t>
            </a:fld>
            <a:endParaRPr lang="en-US"/>
          </a:p>
        </p:txBody>
      </p:sp>
      <p:sp>
        <p:nvSpPr>
          <p:cNvPr id="185347" name="Text Box 3"/>
          <p:cNvSpPr txBox="1">
            <a:spLocks noChangeArrowheads="1"/>
          </p:cNvSpPr>
          <p:nvPr/>
        </p:nvSpPr>
        <p:spPr bwMode="auto">
          <a:xfrm>
            <a:off x="834172" y="2624882"/>
            <a:ext cx="6882834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DISTINCT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title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Movie AS </a:t>
            </a:r>
            <a:r>
              <a:rPr lang="en-US" sz="2400" dirty="0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m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year &lt;&gt;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ANY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	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year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Movie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title =  </a:t>
            </a:r>
            <a:r>
              <a:rPr lang="en-US" sz="2400" dirty="0" err="1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m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.title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  <p:sp>
        <p:nvSpPr>
          <p:cNvPr id="185348" name="Text Box 4"/>
          <p:cNvSpPr txBox="1">
            <a:spLocks noChangeArrowheads="1"/>
          </p:cNvSpPr>
          <p:nvPr/>
        </p:nvSpPr>
        <p:spPr bwMode="auto">
          <a:xfrm>
            <a:off x="838200" y="1716236"/>
            <a:ext cx="6878806" cy="46166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Movie(</a:t>
            </a:r>
            <a:r>
              <a:rPr lang="en-US" sz="2400" u="sng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title,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u="sng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year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director, length)</a:t>
            </a:r>
          </a:p>
        </p:txBody>
      </p:sp>
      <p:sp>
        <p:nvSpPr>
          <p:cNvPr id="185349" name="Text Box 5"/>
          <p:cNvSpPr txBox="1">
            <a:spLocks noChangeArrowheads="1"/>
          </p:cNvSpPr>
          <p:nvPr/>
        </p:nvSpPr>
        <p:spPr bwMode="auto">
          <a:xfrm>
            <a:off x="3038368" y="5380187"/>
            <a:ext cx="6115264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000" i="1" dirty="0">
                <a:latin typeface="+mj-lt"/>
              </a:rPr>
              <a:t>Note also: this can still be expressed as single SFW query…</a:t>
            </a:r>
          </a:p>
        </p:txBody>
      </p:sp>
      <p:sp>
        <p:nvSpPr>
          <p:cNvPr id="2" name="Rectangle 1"/>
          <p:cNvSpPr/>
          <p:nvPr/>
        </p:nvSpPr>
        <p:spPr>
          <a:xfrm>
            <a:off x="8390587" y="2177901"/>
            <a:ext cx="27219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latin typeface="+mj-lt"/>
              </a:rPr>
              <a:t>Find movies whose title appears more than once.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29713" y="3009045"/>
            <a:ext cx="1997788" cy="369186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2466888" y="4479097"/>
            <a:ext cx="1146888" cy="369186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3722578" y="4482478"/>
            <a:ext cx="1489788" cy="369186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390587" y="3865443"/>
            <a:ext cx="2370446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Note the scoping of the variables!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7" grpId="0" animBg="1"/>
      <p:bldP spid="185349" grpId="0" animBg="1"/>
      <p:bldP spid="2" grpId="0"/>
      <p:bldP spid="14" grpId="0" animBg="1"/>
      <p:bldP spid="15" grpId="0" animBg="1"/>
      <p:bldP spid="16" grpId="0" animBg="1"/>
      <p:bldP spid="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CFC0F-E92D-977E-0FDB-8D8FB8835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A1A23E-18F7-9252-E3D6-019C7092E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724311"/>
              </p:ext>
            </p:extLst>
          </p:nvPr>
        </p:nvGraphicFramePr>
        <p:xfrm>
          <a:off x="2001784" y="752065"/>
          <a:ext cx="5445760" cy="3708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880">
                  <a:extLst>
                    <a:ext uri="{9D8B030D-6E8A-4147-A177-3AD203B41FA5}">
                      <a16:colId xmlns:a16="http://schemas.microsoft.com/office/drawing/2014/main" val="3229384309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3454509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0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King Kong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39212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King Kong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1976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180965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King Kong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704807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The Mummy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1932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354267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The Mummy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19915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The Mummy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09058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The Lion 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1994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129586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The Lion 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2019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27430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The Dark Knight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2008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817682"/>
                  </a:ext>
                </a:extLst>
              </a:tr>
            </a:tbl>
          </a:graphicData>
        </a:graphic>
      </p:graphicFrame>
      <p:sp>
        <p:nvSpPr>
          <p:cNvPr id="5" name="Text Box 3">
            <a:extLst>
              <a:ext uri="{FF2B5EF4-FFF2-40B4-BE49-F238E27FC236}">
                <a16:creationId xmlns:a16="http://schemas.microsoft.com/office/drawing/2014/main" id="{3588CF64-65E5-EC1E-C3D4-1C3870FB1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0899" y="4554622"/>
            <a:ext cx="6882834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DISTINCT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title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Movie AS </a:t>
            </a:r>
            <a:r>
              <a:rPr lang="en-US" sz="2400" dirty="0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m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year &lt;&gt;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ANY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	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year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Movie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	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title =  </a:t>
            </a:r>
            <a:r>
              <a:rPr lang="en-US" sz="2400" dirty="0" err="1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m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.title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5161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Complex Correlated Query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DBF21-8A9E-45B5-920E-882710C83F38}" type="slidenum">
              <a:rPr lang="en-US"/>
              <a:pPr/>
              <a:t>73</a:t>
            </a:fld>
            <a:endParaRPr lang="en-US"/>
          </a:p>
        </p:txBody>
      </p:sp>
      <p:sp>
        <p:nvSpPr>
          <p:cNvPr id="186372" name="Rectangle 4"/>
          <p:cNvSpPr>
            <a:spLocks noChangeArrowheads="1"/>
          </p:cNvSpPr>
          <p:nvPr/>
        </p:nvSpPr>
        <p:spPr bwMode="auto">
          <a:xfrm>
            <a:off x="838200" y="2544279"/>
            <a:ext cx="6692858" cy="24191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DISTINCT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x.name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x.maker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Product AS x</a:t>
            </a:r>
          </a:p>
          <a:p>
            <a:pPr eaLnBrk="0" hangingPunct="0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x.price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&gt;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ALL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pPr eaLnBrk="0" hangingPunct="0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	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y.price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>
              <a:lnSpc>
                <a:spcPct val="90000"/>
              </a:lnSpc>
            </a:pP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    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Product AS y</a:t>
            </a:r>
          </a:p>
          <a:p>
            <a:pPr eaLnBrk="0" hangingPunct="0">
              <a:lnSpc>
                <a:spcPct val="90000"/>
              </a:lnSpc>
            </a:pP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    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x.maker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y.maker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 eaLnBrk="0" hangingPunct="0">
              <a:lnSpc>
                <a:spcPct val="90000"/>
              </a:lnSpc>
            </a:pP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	   AND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y.year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&lt; 1972)</a:t>
            </a:r>
          </a:p>
        </p:txBody>
      </p:sp>
      <p:sp>
        <p:nvSpPr>
          <p:cNvPr id="2" name="Rectangle 1"/>
          <p:cNvSpPr/>
          <p:nvPr/>
        </p:nvSpPr>
        <p:spPr>
          <a:xfrm>
            <a:off x="8267658" y="2544279"/>
            <a:ext cx="3200442" cy="208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+mj-lt"/>
              </a:rPr>
              <a:t>Find products (and their manufacturers) that are more expensive than all products made by the same manufacturer before 1972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632929"/>
            <a:ext cx="680186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Product(name, price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category, maker, year)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8504" y="5790006"/>
            <a:ext cx="6754991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Can be </a:t>
            </a:r>
            <a:r>
              <a:rPr lang="en-US" sz="2400">
                <a:latin typeface="+mj-lt"/>
              </a:rPr>
              <a:t>very powerful (also much harder to optimize)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2" grpId="0" animBg="1"/>
      <p:bldP spid="2" grpId="0"/>
      <p:bldP spid="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SQL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SQL provides a high-level declarative language for manipulating data (DML)</a:t>
            </a:r>
          </a:p>
          <a:p>
            <a:endParaRPr lang="en-US" dirty="0"/>
          </a:p>
          <a:p>
            <a:r>
              <a:rPr lang="en-US" dirty="0"/>
              <a:t>The workhorse is the SFW block</a:t>
            </a:r>
          </a:p>
          <a:p>
            <a:endParaRPr lang="en-US" dirty="0"/>
          </a:p>
          <a:p>
            <a:r>
              <a:rPr lang="en-US" dirty="0"/>
              <a:t>Set operators are powerful but have some subtleties</a:t>
            </a:r>
          </a:p>
          <a:p>
            <a:endParaRPr lang="en-US" dirty="0"/>
          </a:p>
          <a:p>
            <a:r>
              <a:rPr lang="en-US" dirty="0"/>
              <a:t>Powerful, nested queries also allowed.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9F4F-503A-4A35-BDFA-CB903A9A9F13}" type="slidenum">
              <a:rPr lang="en-US" smtClean="0"/>
              <a:pPr/>
              <a:t>74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8C34E-C953-1CEE-5EF2-6B9BAE814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Leet Code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89988-4014-ACC5-79E3-46F636CA9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Solution 1</a:t>
            </a:r>
          </a:p>
          <a:p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SELECT</a:t>
            </a:r>
            <a:r>
              <a:rPr lang="en-US" sz="1000" dirty="0"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distinct</a:t>
            </a:r>
            <a:r>
              <a:rPr lang="en-US" sz="1000" dirty="0">
                <a:highlight>
                  <a:srgbClr val="FFFFFF"/>
                </a:highlight>
                <a:latin typeface="Consolas"/>
              </a:rPr>
              <a:t> p1.email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FROM</a:t>
            </a:r>
            <a:r>
              <a:rPr lang="en-US" sz="1000" dirty="0">
                <a:highlight>
                  <a:srgbClr val="FFFFFF"/>
                </a:highlight>
                <a:latin typeface="Consolas"/>
              </a:rPr>
              <a:t> Person p1, Person p2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    where</a:t>
            </a:r>
            <a:r>
              <a:rPr lang="en-US" sz="1000" dirty="0">
                <a:highlight>
                  <a:srgbClr val="FFFFFF"/>
                </a:highlight>
                <a:latin typeface="Consolas"/>
              </a:rPr>
              <a:t> p1.email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=</a:t>
            </a:r>
            <a:r>
              <a:rPr lang="en-US" sz="1000" dirty="0">
                <a:highlight>
                  <a:srgbClr val="FFFFFF"/>
                </a:highlight>
                <a:latin typeface="Consolas"/>
              </a:rPr>
              <a:t>p2.email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and</a:t>
            </a:r>
            <a:r>
              <a:rPr lang="en-US" sz="1000" dirty="0">
                <a:highlight>
                  <a:srgbClr val="FFFFFF"/>
                </a:highlight>
                <a:latin typeface="Consolas"/>
              </a:rPr>
              <a:t> p1.id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&lt;&gt;</a:t>
            </a:r>
            <a:r>
              <a:rPr lang="en-US" sz="1000" dirty="0">
                <a:highlight>
                  <a:srgbClr val="FFFFFF"/>
                </a:highlight>
                <a:latin typeface="Consolas"/>
              </a:rPr>
              <a:t> p2.id;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sz="1000" dirty="0"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Solution 2</a:t>
            </a:r>
          </a:p>
          <a:p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SELECT</a:t>
            </a:r>
            <a:r>
              <a:rPr lang="en-US" sz="1000" dirty="0"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distinct</a:t>
            </a:r>
            <a:r>
              <a:rPr lang="en-US" sz="1000" dirty="0"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 p1.email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FROM</a:t>
            </a:r>
            <a:r>
              <a:rPr lang="en-US" sz="1000" dirty="0"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 Person p1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     WHERE</a:t>
            </a:r>
            <a:r>
              <a:rPr lang="en-US" sz="1000" dirty="0"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Exists</a:t>
            </a:r>
            <a:r>
              <a:rPr lang="en-US" sz="1000" dirty="0"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 (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select</a:t>
            </a:r>
            <a:r>
              <a:rPr lang="en-US" sz="1000" dirty="0"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*</a:t>
            </a:r>
            <a:r>
              <a:rPr lang="en-US" sz="1000" dirty="0"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from</a:t>
            </a:r>
            <a:r>
              <a:rPr lang="en-US" sz="1000" dirty="0"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 person p2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                 where</a:t>
            </a:r>
            <a:r>
              <a:rPr lang="en-US" sz="1000" dirty="0"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 p1.email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=</a:t>
            </a:r>
            <a:r>
              <a:rPr lang="en-US" sz="1000" dirty="0"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p2.email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and</a:t>
            </a:r>
            <a:r>
              <a:rPr lang="en-US" sz="1000" dirty="0"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 p1.id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&lt;&gt;</a:t>
            </a:r>
            <a:r>
              <a:rPr lang="en-US" sz="1000" dirty="0">
                <a:highlight>
                  <a:srgbClr val="FFFFFF"/>
                </a:highlight>
                <a:latin typeface="Consolas"/>
                <a:ea typeface="Calibri Light"/>
                <a:cs typeface="Calibri Light"/>
              </a:rPr>
              <a:t> p2.id)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 sz="1000" dirty="0">
              <a:highlight>
                <a:srgbClr val="FFFFFF"/>
              </a:highlight>
              <a:latin typeface="Consolas"/>
              <a:ea typeface="Calibri Light"/>
              <a:cs typeface="Calibri Light"/>
            </a:endParaRPr>
          </a:p>
          <a:p>
            <a:r>
              <a:rPr lang="en-US" sz="4400" dirty="0">
                <a:highlight>
                  <a:srgbClr val="FFFFFF"/>
                </a:highlight>
                <a:latin typeface="Calibri Light"/>
                <a:ea typeface="Calibri Light"/>
                <a:cs typeface="Calibri Light"/>
              </a:rPr>
              <a:t>https://leetcode.com/problems/duplicate-emails/</a:t>
            </a:r>
            <a:endParaRPr lang="en-US" sz="4400">
              <a:highlight>
                <a:srgbClr val="FFFFFF"/>
              </a:highlight>
              <a:latin typeface="Calibri Light"/>
              <a:ea typeface="Calibri Light"/>
              <a:cs typeface="Calibri Light"/>
            </a:endParaRPr>
          </a:p>
          <a:p>
            <a:endParaRPr lang="en-US" sz="1000" dirty="0">
              <a:highlight>
                <a:srgbClr val="FFFFFF"/>
              </a:highlight>
              <a:latin typeface="Consolas"/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50883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Aggregation &amp; GROUP BY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41028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will learn about in this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7578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Aggregation operators</a:t>
            </a:r>
          </a:p>
          <a:p>
            <a:pPr marL="514350" indent="-514350">
              <a:buAutoNum type="arabicPeriod"/>
            </a:pPr>
            <a:endParaRPr lang="en-US" dirty="0">
              <a:latin typeface="+mj-lt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GROUP BY</a:t>
            </a:r>
          </a:p>
          <a:p>
            <a:pPr marL="514350" indent="-514350">
              <a:buAutoNum type="arabicPeriod"/>
            </a:pPr>
            <a:endParaRPr lang="en-US" dirty="0">
              <a:latin typeface="+mj-lt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GROUP BY: with HAVING, semantics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06813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Aggregation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B093A-BDA9-4DDC-BF9B-58FC7DF60248}" type="slidenum">
              <a:rPr lang="en-US"/>
              <a:pPr/>
              <a:t>78</a:t>
            </a:fld>
            <a:endParaRPr lang="en-US"/>
          </a:p>
        </p:txBody>
      </p:sp>
      <p:sp>
        <p:nvSpPr>
          <p:cNvPr id="177155" name="Text Box 3"/>
          <p:cNvSpPr txBox="1">
            <a:spLocks noChangeArrowheads="1"/>
          </p:cNvSpPr>
          <p:nvPr/>
        </p:nvSpPr>
        <p:spPr bwMode="auto">
          <a:xfrm>
            <a:off x="6084982" y="1904999"/>
            <a:ext cx="3531736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COUNT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(*)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Product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year &gt; 1995</a:t>
            </a:r>
          </a:p>
        </p:txBody>
      </p:sp>
      <p:sp>
        <p:nvSpPr>
          <p:cNvPr id="177156" name="Rectangle 4"/>
          <p:cNvSpPr>
            <a:spLocks noChangeArrowheads="1"/>
          </p:cNvSpPr>
          <p:nvPr/>
        </p:nvSpPr>
        <p:spPr bwMode="auto">
          <a:xfrm>
            <a:off x="6578601" y="4572971"/>
            <a:ext cx="4419599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i="1">
                <a:latin typeface="+mj-lt"/>
              </a:rPr>
              <a:t>Except COUNT, </a:t>
            </a:r>
            <a:r>
              <a:rPr lang="en-US" sz="2400" i="1" dirty="0">
                <a:latin typeface="+mj-lt"/>
              </a:rPr>
              <a:t>all aggregations apply to a single attribute</a:t>
            </a:r>
          </a:p>
        </p:txBody>
      </p:sp>
      <p:sp>
        <p:nvSpPr>
          <p:cNvPr id="177157" name="Text Box 5"/>
          <p:cNvSpPr txBox="1">
            <a:spLocks noChangeArrowheads="1"/>
          </p:cNvSpPr>
          <p:nvPr/>
        </p:nvSpPr>
        <p:spPr bwMode="auto">
          <a:xfrm>
            <a:off x="838200" y="1904999"/>
            <a:ext cx="3294620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 anchor="t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AVG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(price)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Product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WHERE 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 maker = 'Toyota'</a:t>
            </a:r>
          </a:p>
        </p:txBody>
      </p:sp>
      <p:sp>
        <p:nvSpPr>
          <p:cNvPr id="177158" name="Text Box 6"/>
          <p:cNvSpPr txBox="1">
            <a:spLocks noChangeArrowheads="1"/>
          </p:cNvSpPr>
          <p:nvPr/>
        </p:nvSpPr>
        <p:spPr bwMode="auto">
          <a:xfrm>
            <a:off x="838200" y="3657601"/>
            <a:ext cx="8161064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0" hangingPunct="0">
              <a:buFont typeface="Arial" charset="0"/>
              <a:buChar char="•"/>
            </a:pPr>
            <a:r>
              <a:rPr lang="en-US" sz="2800" dirty="0"/>
              <a:t>SQL supports several </a:t>
            </a:r>
            <a:r>
              <a:rPr lang="en-US" sz="2800" b="1" dirty="0"/>
              <a:t>aggregation</a:t>
            </a:r>
            <a:r>
              <a:rPr lang="en-US" sz="2800" dirty="0"/>
              <a:t> operations:</a:t>
            </a:r>
          </a:p>
          <a:p>
            <a:pPr marL="914400" lvl="1" indent="-457200" eaLnBrk="0" hangingPunct="0">
              <a:buFont typeface="Arial" charset="0"/>
              <a:buChar char="•"/>
            </a:pPr>
            <a:r>
              <a:rPr lang="en-US" sz="2800" dirty="0"/>
              <a:t>SUM, COUNT, MIN, MAX, AVG</a:t>
            </a:r>
          </a:p>
          <a:p>
            <a:pPr eaLnBrk="0" hangingPunct="0"/>
            <a:endParaRPr lang="en-US" dirty="0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774149B2-ECDF-08BF-AFFA-4C9650707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6047" y="415784"/>
            <a:ext cx="519952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i="1" dirty="0">
                <a:latin typeface="+mj-lt"/>
              </a:rPr>
              <a:t>https://</a:t>
            </a:r>
            <a:r>
              <a:rPr lang="en-US" i="1" dirty="0" err="1">
                <a:latin typeface="+mj-lt"/>
              </a:rPr>
              <a:t>teachingow.github.io</a:t>
            </a:r>
            <a:r>
              <a:rPr lang="en-US" i="1" dirty="0">
                <a:latin typeface="+mj-lt"/>
              </a:rPr>
              <a:t>/DBMS-SQL-Labs/Lab2_3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6" grpId="0" animBg="1"/>
      <p:bldP spid="177158" grpId="0"/>
      <p:bldP spid="2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84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Aggregation: COUNT</a:t>
            </a: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6AAF-1074-4920-99E0-9D21388DB79E}" type="slidenum">
              <a:rPr lang="en-US"/>
              <a:pPr/>
              <a:t>79</a:t>
            </a:fld>
            <a:endParaRPr lang="en-US"/>
          </a:p>
        </p:txBody>
      </p:sp>
      <p:sp>
        <p:nvSpPr>
          <p:cNvPr id="178179" name="Text Box 3"/>
          <p:cNvSpPr txBox="1">
            <a:spLocks noChangeArrowheads="1"/>
          </p:cNvSpPr>
          <p:nvPr/>
        </p:nvSpPr>
        <p:spPr bwMode="auto">
          <a:xfrm>
            <a:off x="825500" y="1941733"/>
            <a:ext cx="8432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eaLnBrk="0" hangingPunct="0">
              <a:buFont typeface="Arial" charset="0"/>
              <a:buChar char="•"/>
            </a:pPr>
            <a:r>
              <a:rPr lang="en-US" sz="2800" dirty="0"/>
              <a:t>COUNT applies to duplicates, unless otherwise stated</a:t>
            </a:r>
          </a:p>
        </p:txBody>
      </p:sp>
      <p:sp>
        <p:nvSpPr>
          <p:cNvPr id="178180" name="Text Box 4"/>
          <p:cNvSpPr txBox="1">
            <a:spLocks noChangeArrowheads="1"/>
          </p:cNvSpPr>
          <p:nvPr/>
        </p:nvSpPr>
        <p:spPr bwMode="auto">
          <a:xfrm>
            <a:off x="854988" y="2823189"/>
            <a:ext cx="4461478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COUNT(category) 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Product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year &gt; 1995</a:t>
            </a:r>
          </a:p>
        </p:txBody>
      </p:sp>
      <p:sp>
        <p:nvSpPr>
          <p:cNvPr id="178181" name="Rectangle 5"/>
          <p:cNvSpPr>
            <a:spLocks noChangeArrowheads="1"/>
          </p:cNvSpPr>
          <p:nvPr/>
        </p:nvSpPr>
        <p:spPr bwMode="auto">
          <a:xfrm>
            <a:off x="5906593" y="2823189"/>
            <a:ext cx="270400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i="1" dirty="0">
                <a:latin typeface="+mj-lt"/>
              </a:rPr>
              <a:t>Note: Same as COUNT(*).  Why?</a:t>
            </a:r>
          </a:p>
        </p:txBody>
      </p:sp>
      <p:sp>
        <p:nvSpPr>
          <p:cNvPr id="178182" name="Rectangle 6"/>
          <p:cNvSpPr>
            <a:spLocks noChangeArrowheads="1"/>
          </p:cNvSpPr>
          <p:nvPr/>
        </p:nvSpPr>
        <p:spPr bwMode="auto">
          <a:xfrm>
            <a:off x="838200" y="4343400"/>
            <a:ext cx="314817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3000" dirty="0"/>
              <a:t>We probably want:</a:t>
            </a:r>
          </a:p>
        </p:txBody>
      </p:sp>
      <p:sp>
        <p:nvSpPr>
          <p:cNvPr id="178183" name="Text Box 7"/>
          <p:cNvSpPr txBox="1">
            <a:spLocks noChangeArrowheads="1"/>
          </p:cNvSpPr>
          <p:nvPr/>
        </p:nvSpPr>
        <p:spPr bwMode="auto">
          <a:xfrm>
            <a:off x="838200" y="5169932"/>
            <a:ext cx="5949064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COUNT(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DISTINCT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category)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Product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year &gt; 1995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/>
      <p:bldP spid="178180" grpId="0" animBg="1"/>
      <p:bldP spid="178181" grpId="0" animBg="1"/>
      <p:bldP spid="178182" grpId="0"/>
      <p:bldP spid="17818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Examples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6CE4-223D-4721-B0AF-061C56D01E44}" type="slidenum">
              <a:rPr lang="en-US"/>
              <a:pPr/>
              <a:t>80</a:t>
            </a:fld>
            <a:endParaRPr lang="en-US"/>
          </a:p>
        </p:txBody>
      </p:sp>
      <p:sp>
        <p:nvSpPr>
          <p:cNvPr id="179203" name="Text Box 3"/>
          <p:cNvSpPr txBox="1">
            <a:spLocks noChangeArrowheads="1"/>
          </p:cNvSpPr>
          <p:nvPr/>
        </p:nvSpPr>
        <p:spPr bwMode="auto">
          <a:xfrm>
            <a:off x="838200" y="1891736"/>
            <a:ext cx="7622600" cy="46166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Purchase(product, date, price, quantity)</a:t>
            </a:r>
          </a:p>
        </p:txBody>
      </p:sp>
      <p:sp>
        <p:nvSpPr>
          <p:cNvPr id="179205" name="Text Box 5"/>
          <p:cNvSpPr txBox="1">
            <a:spLocks noChangeArrowheads="1"/>
          </p:cNvSpPr>
          <p:nvPr/>
        </p:nvSpPr>
        <p:spPr bwMode="auto">
          <a:xfrm>
            <a:off x="838200" y="3060701"/>
            <a:ext cx="5391219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SUM(price * quantity)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Purchase</a:t>
            </a:r>
          </a:p>
        </p:txBody>
      </p:sp>
      <p:sp>
        <p:nvSpPr>
          <p:cNvPr id="179206" name="Text Box 6"/>
          <p:cNvSpPr txBox="1">
            <a:spLocks noChangeArrowheads="1"/>
          </p:cNvSpPr>
          <p:nvPr/>
        </p:nvSpPr>
        <p:spPr bwMode="auto">
          <a:xfrm>
            <a:off x="838200" y="4737100"/>
            <a:ext cx="5391219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SUM(price * quantity)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Purchase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 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product = ‘bagel’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251700" y="4046324"/>
            <a:ext cx="3371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j-lt"/>
              </a:rPr>
              <a:t>What do these mean?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5" grpId="0" animBg="1"/>
      <p:bldP spid="179206" grpId="0" animBg="1"/>
      <p:bldP spid="2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Aggregations</a:t>
            </a:r>
          </a:p>
        </p:txBody>
      </p:sp>
      <p:sp>
        <p:nvSpPr>
          <p:cNvPr id="4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53D0A-9BCB-460A-B87C-22D150A4087A}" type="slidenum">
              <a:rPr lang="en-US"/>
              <a:pPr/>
              <a:t>81</a:t>
            </a:fld>
            <a:endParaRPr lang="en-US"/>
          </a:p>
        </p:txBody>
      </p:sp>
      <p:sp>
        <p:nvSpPr>
          <p:cNvPr id="180236" name="Rectangle 12"/>
          <p:cNvSpPr>
            <a:spLocks noChangeArrowheads="1"/>
          </p:cNvSpPr>
          <p:nvPr/>
        </p:nvSpPr>
        <p:spPr bwMode="auto">
          <a:xfrm>
            <a:off x="3084472" y="1546840"/>
            <a:ext cx="170014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>
                <a:solidFill>
                  <a:schemeClr val="accent2"/>
                </a:solidFill>
              </a:rPr>
              <a:t>Purchase</a:t>
            </a:r>
          </a:p>
        </p:txBody>
      </p:sp>
      <p:graphicFrame>
        <p:nvGraphicFramePr>
          <p:cNvPr id="180271" name="Group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72143"/>
              </p:ext>
            </p:extLst>
          </p:nvPr>
        </p:nvGraphicFramePr>
        <p:xfrm>
          <a:off x="3155950" y="2191544"/>
          <a:ext cx="5880100" cy="2489200"/>
        </p:xfrm>
        <a:graphic>
          <a:graphicData uri="http://schemas.openxmlformats.org/drawingml/2006/table">
            <a:tbl>
              <a:tblPr/>
              <a:tblGrid>
                <a:gridCol w="147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0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0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8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Date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Quantity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7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1.50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0272" name="Text Box 48"/>
          <p:cNvSpPr txBox="1">
            <a:spLocks noChangeArrowheads="1"/>
          </p:cNvSpPr>
          <p:nvPr/>
        </p:nvSpPr>
        <p:spPr bwMode="auto">
          <a:xfrm>
            <a:off x="838200" y="5105341"/>
            <a:ext cx="5372099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SUM(price * quantity)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Purchase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 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product = ‘bagel’</a:t>
            </a:r>
          </a:p>
        </p:txBody>
      </p:sp>
      <p:sp>
        <p:nvSpPr>
          <p:cNvPr id="180273" name="AutoShape 49"/>
          <p:cNvSpPr>
            <a:spLocks noChangeArrowheads="1"/>
          </p:cNvSpPr>
          <p:nvPr/>
        </p:nvSpPr>
        <p:spPr bwMode="auto">
          <a:xfrm>
            <a:off x="6584176" y="5400645"/>
            <a:ext cx="1041400" cy="609720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180274" name="Rectangle 50"/>
          <p:cNvSpPr>
            <a:spLocks noChangeArrowheads="1"/>
          </p:cNvSpPr>
          <p:nvPr/>
        </p:nvSpPr>
        <p:spPr bwMode="auto">
          <a:xfrm>
            <a:off x="7883992" y="5418239"/>
            <a:ext cx="350889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/>
              <a:t>50  (= 1</a:t>
            </a:r>
            <a:r>
              <a:rPr lang="en-US" sz="2800" dirty="0">
                <a:latin typeface="Menlo" charset="0"/>
                <a:ea typeface="Menlo" charset="0"/>
                <a:cs typeface="Menlo" charset="0"/>
              </a:rPr>
              <a:t>*</a:t>
            </a:r>
            <a:r>
              <a:rPr lang="en-US" sz="2800" dirty="0"/>
              <a:t>20 + 1.50</a:t>
            </a:r>
            <a:r>
              <a:rPr lang="en-US" sz="2800" dirty="0">
                <a:latin typeface="Menlo" charset="0"/>
                <a:ea typeface="Menlo" charset="0"/>
                <a:cs typeface="Menlo" charset="0"/>
              </a:rPr>
              <a:t>*</a:t>
            </a:r>
            <a:r>
              <a:rPr lang="en-US" sz="2800" dirty="0"/>
              <a:t>20)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80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72" grpId="0" animBg="1"/>
      <p:bldP spid="180273" grpId="0" animBg="1"/>
      <p:bldP spid="180274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 and Aggregation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4683-2E2F-4C51-A164-2F22C9DE3054}" type="slidenum">
              <a:rPr lang="en-US" sz="2400"/>
              <a:pPr/>
              <a:t>82</a:t>
            </a:fld>
            <a:endParaRPr lang="en-US" sz="2400"/>
          </a:p>
        </p:txBody>
      </p:sp>
      <p:sp>
        <p:nvSpPr>
          <p:cNvPr id="181252" name="Rectangle 4"/>
          <p:cNvSpPr>
            <a:spLocks noChangeArrowheads="1"/>
          </p:cNvSpPr>
          <p:nvPr/>
        </p:nvSpPr>
        <p:spPr bwMode="auto">
          <a:xfrm>
            <a:off x="838200" y="3007611"/>
            <a:ext cx="8334583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product,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    SUM(price * quantity) AS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TotalSales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Purchase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date &gt; ‘10/1/2005’</a:t>
            </a:r>
          </a:p>
          <a:p>
            <a:pPr eaLnBrk="0" hangingPunct="0"/>
            <a:r>
              <a:rPr lang="en-US" sz="2400" dirty="0">
                <a:solidFill>
                  <a:srgbClr val="FF0066"/>
                </a:solidFill>
                <a:latin typeface="Menlo" charset="0"/>
                <a:ea typeface="Menlo" charset="0"/>
                <a:cs typeface="Menlo" charset="0"/>
              </a:rPr>
              <a:t>GROUP BY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product</a:t>
            </a:r>
          </a:p>
        </p:txBody>
      </p:sp>
      <p:sp>
        <p:nvSpPr>
          <p:cNvPr id="181253" name="Text Box 5"/>
          <p:cNvSpPr txBox="1">
            <a:spLocks noChangeArrowheads="1"/>
          </p:cNvSpPr>
          <p:nvPr/>
        </p:nvSpPr>
        <p:spPr bwMode="auto">
          <a:xfrm>
            <a:off x="4038609" y="5722003"/>
            <a:ext cx="411478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latin typeface="+mj-lt"/>
              </a:rPr>
              <a:t>Let’s see what this means…</a:t>
            </a:r>
          </a:p>
        </p:txBody>
      </p:sp>
      <p:sp>
        <p:nvSpPr>
          <p:cNvPr id="181254" name="Rectangle 6"/>
          <p:cNvSpPr>
            <a:spLocks noChangeArrowheads="1"/>
          </p:cNvSpPr>
          <p:nvPr/>
        </p:nvSpPr>
        <p:spPr bwMode="auto">
          <a:xfrm>
            <a:off x="9438481" y="3007611"/>
            <a:ext cx="243363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Find total sales after 10/1/2005 per product.</a:t>
            </a: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838200" y="1770546"/>
            <a:ext cx="7622600" cy="46166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Purchase(product, date, price, quantity)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2" grpId="0" animBg="1"/>
      <p:bldP spid="181253" grpId="0"/>
      <p:bldP spid="181254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Grouping and Aggregation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16053-BFB1-44E9-9605-58935677B8A9}" type="slidenum">
              <a:rPr lang="en-US"/>
              <a:pPr/>
              <a:t>83</a:t>
            </a:fld>
            <a:endParaRPr lang="en-US"/>
          </a:p>
        </p:txBody>
      </p:sp>
      <p:sp>
        <p:nvSpPr>
          <p:cNvPr id="182275" name="Text Box 3"/>
          <p:cNvSpPr txBox="1">
            <a:spLocks noChangeArrowheads="1"/>
          </p:cNvSpPr>
          <p:nvPr/>
        </p:nvSpPr>
        <p:spPr bwMode="auto">
          <a:xfrm>
            <a:off x="838200" y="2654300"/>
            <a:ext cx="10515600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2800" dirty="0"/>
              <a:t>1. Compute the </a:t>
            </a:r>
            <a:r>
              <a:rPr lang="en-US" sz="2800" dirty="0">
                <a:solidFill>
                  <a:schemeClr val="accent2"/>
                </a:solidFill>
              </a:rPr>
              <a:t>FROM</a:t>
            </a:r>
            <a:r>
              <a:rPr lang="en-US" sz="2800" dirty="0"/>
              <a:t> and </a:t>
            </a:r>
            <a:r>
              <a:rPr lang="en-US" sz="2800" dirty="0">
                <a:solidFill>
                  <a:schemeClr val="accent2"/>
                </a:solidFill>
              </a:rPr>
              <a:t>WHERE</a:t>
            </a:r>
            <a:r>
              <a:rPr lang="en-US" sz="2800" dirty="0"/>
              <a:t> clauses</a:t>
            </a:r>
          </a:p>
          <a:p>
            <a:pPr eaLnBrk="0" hangingPunct="0"/>
            <a:endParaRPr lang="en-US" sz="2800" dirty="0"/>
          </a:p>
          <a:p>
            <a:pPr eaLnBrk="0" hangingPunct="0"/>
            <a:endParaRPr lang="en-US" sz="2800" dirty="0"/>
          </a:p>
          <a:p>
            <a:pPr eaLnBrk="0" hangingPunct="0"/>
            <a:r>
              <a:rPr lang="en-US" sz="2800" dirty="0"/>
              <a:t>2. Group by the attributes in the </a:t>
            </a:r>
            <a:r>
              <a:rPr lang="en-US" sz="2800" dirty="0">
                <a:solidFill>
                  <a:schemeClr val="accent2"/>
                </a:solidFill>
              </a:rPr>
              <a:t>GROUP BY</a:t>
            </a:r>
          </a:p>
          <a:p>
            <a:pPr eaLnBrk="0" hangingPunct="0"/>
            <a:endParaRPr lang="en-US" sz="2800" dirty="0"/>
          </a:p>
          <a:p>
            <a:pPr eaLnBrk="0" hangingPunct="0"/>
            <a:endParaRPr lang="en-US" sz="2800" dirty="0"/>
          </a:p>
          <a:p>
            <a:pPr eaLnBrk="0" hangingPunct="0"/>
            <a:r>
              <a:rPr lang="en-US" sz="2800" dirty="0"/>
              <a:t>3. Compute the </a:t>
            </a:r>
            <a:r>
              <a:rPr lang="en-US" sz="2800" dirty="0">
                <a:solidFill>
                  <a:schemeClr val="accent2"/>
                </a:solidFill>
              </a:rPr>
              <a:t>SELECT</a:t>
            </a:r>
            <a:r>
              <a:rPr lang="en-US" sz="2800" dirty="0"/>
              <a:t> clause: grouped attributes and aggregates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8200" y="1690688"/>
            <a:ext cx="40923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u="sng" dirty="0">
                <a:latin typeface="+mj-lt"/>
              </a:rPr>
              <a:t>Semantics of the query: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806450" y="622300"/>
            <a:ext cx="10045700" cy="1143000"/>
          </a:xfrm>
        </p:spPr>
        <p:txBody>
          <a:bodyPr>
            <a:normAutofit/>
          </a:bodyPr>
          <a:lstStyle/>
          <a:p>
            <a:r>
              <a:rPr lang="en-US" dirty="0"/>
              <a:t>1. Compute the </a:t>
            </a:r>
            <a:r>
              <a:rPr lang="en-US" dirty="0">
                <a:solidFill>
                  <a:schemeClr val="accent2"/>
                </a:solidFill>
              </a:rPr>
              <a:t>FROM</a:t>
            </a:r>
            <a:r>
              <a:rPr lang="en-US" dirty="0"/>
              <a:t> and </a:t>
            </a:r>
            <a:r>
              <a:rPr lang="en-US" dirty="0">
                <a:solidFill>
                  <a:schemeClr val="accent2"/>
                </a:solidFill>
              </a:rPr>
              <a:t>WHERE</a:t>
            </a:r>
            <a:r>
              <a:rPr lang="en-US" dirty="0"/>
              <a:t> clauses</a:t>
            </a:r>
            <a:endParaRPr lang="en-US" sz="3200" dirty="0"/>
          </a:p>
        </p:txBody>
      </p:sp>
      <p:sp>
        <p:nvSpPr>
          <p:cNvPr id="3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AEB7-BA22-4EB6-A91B-7EA529618DD9}" type="slidenum">
              <a:rPr lang="en-US"/>
              <a:pPr/>
              <a:t>84</a:t>
            </a:fld>
            <a:endParaRPr lang="en-US"/>
          </a:p>
        </p:txBody>
      </p:sp>
      <p:graphicFrame>
        <p:nvGraphicFramePr>
          <p:cNvPr id="183354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80053"/>
              </p:ext>
            </p:extLst>
          </p:nvPr>
        </p:nvGraphicFramePr>
        <p:xfrm>
          <a:off x="3638550" y="3807618"/>
          <a:ext cx="4381500" cy="1981200"/>
        </p:xfrm>
        <a:graphic>
          <a:graphicData uri="http://schemas.openxmlformats.org/drawingml/2006/table">
            <a:tbl>
              <a:tblPr/>
              <a:tblGrid>
                <a:gridCol w="109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9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Date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Quantity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9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1.50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9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AutoShape 79"/>
          <p:cNvSpPr>
            <a:spLocks noChangeArrowheads="1"/>
          </p:cNvSpPr>
          <p:nvPr/>
        </p:nvSpPr>
        <p:spPr bwMode="auto">
          <a:xfrm>
            <a:off x="2095500" y="4431386"/>
            <a:ext cx="905874" cy="733663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06451" y="1760656"/>
            <a:ext cx="7326894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SELECT   product, SUM(price*quantity) AS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TotalSales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  Purchase</a:t>
            </a:r>
          </a:p>
          <a:p>
            <a:pPr eaLnBrk="0" hangingPunct="0"/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 date &gt; ‘10/1/2005’</a:t>
            </a:r>
          </a:p>
          <a:p>
            <a:pPr eaLnBrk="0" hangingPunct="0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GROUP BY product</a:t>
            </a:r>
          </a:p>
        </p:txBody>
      </p:sp>
      <p:sp>
        <p:nvSpPr>
          <p:cNvPr id="2" name="Rectangle 1"/>
          <p:cNvSpPr/>
          <p:nvPr/>
        </p:nvSpPr>
        <p:spPr>
          <a:xfrm>
            <a:off x="2095500" y="4062054"/>
            <a:ext cx="740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731408"/>
              </p:ext>
            </p:extLst>
          </p:nvPr>
        </p:nvGraphicFramePr>
        <p:xfrm>
          <a:off x="240440" y="3939002"/>
          <a:ext cx="4381500" cy="1981200"/>
        </p:xfrm>
        <a:graphic>
          <a:graphicData uri="http://schemas.openxmlformats.org/drawingml/2006/table">
            <a:tbl>
              <a:tblPr/>
              <a:tblGrid>
                <a:gridCol w="109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9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Date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Quantity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9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1.50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9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806450" y="622300"/>
            <a:ext cx="10045700" cy="1143000"/>
          </a:xfrm>
        </p:spPr>
        <p:txBody>
          <a:bodyPr>
            <a:normAutofit/>
          </a:bodyPr>
          <a:lstStyle/>
          <a:p>
            <a:pPr eaLnBrk="0" hangingPunct="0"/>
            <a:r>
              <a:rPr lang="en-US" dirty="0"/>
              <a:t>2. Group by the attributes in the </a:t>
            </a:r>
            <a:r>
              <a:rPr lang="en-US" dirty="0">
                <a:solidFill>
                  <a:schemeClr val="accent2"/>
                </a:solidFill>
              </a:rPr>
              <a:t>GROUP BY</a:t>
            </a:r>
          </a:p>
        </p:txBody>
      </p:sp>
      <p:sp>
        <p:nvSpPr>
          <p:cNvPr id="3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AEB7-BA22-4EB6-A91B-7EA529618DD9}" type="slidenum">
              <a:rPr lang="en-US"/>
              <a:pPr/>
              <a:t>85</a:t>
            </a:fld>
            <a:endParaRPr lang="en-US"/>
          </a:p>
        </p:txBody>
      </p:sp>
      <p:sp>
        <p:nvSpPr>
          <p:cNvPr id="5" name="AutoShape 79"/>
          <p:cNvSpPr>
            <a:spLocks noChangeArrowheads="1"/>
          </p:cNvSpPr>
          <p:nvPr/>
        </p:nvSpPr>
        <p:spPr bwMode="auto">
          <a:xfrm>
            <a:off x="4952050" y="4431385"/>
            <a:ext cx="905874" cy="733663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06450" y="2094051"/>
            <a:ext cx="7288409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SELECT   product, SUM(price*quantity) AS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TotalSales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FROM     Purchase</a:t>
            </a:r>
          </a:p>
          <a:p>
            <a:pPr eaLnBrk="0" hangingPunct="0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WHERE    date &gt; ‘10/1/2005’</a:t>
            </a:r>
          </a:p>
          <a:p>
            <a:pPr eaLnBrk="0" hangingPunct="0"/>
            <a:r>
              <a:rPr lang="en-US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GROUP BY 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product</a:t>
            </a:r>
          </a:p>
        </p:txBody>
      </p:sp>
      <p:sp>
        <p:nvSpPr>
          <p:cNvPr id="2" name="Rectangle 1"/>
          <p:cNvSpPr/>
          <p:nvPr/>
        </p:nvSpPr>
        <p:spPr>
          <a:xfrm>
            <a:off x="4709524" y="4073486"/>
            <a:ext cx="1300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GROUP BY </a:t>
            </a:r>
            <a:endParaRPr lang="en-US" dirty="0"/>
          </a:p>
        </p:txBody>
      </p:sp>
      <p:graphicFrame>
        <p:nvGraphicFramePr>
          <p:cNvPr id="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775747"/>
              </p:ext>
            </p:extLst>
          </p:nvPr>
        </p:nvGraphicFramePr>
        <p:xfrm>
          <a:off x="6096000" y="3939002"/>
          <a:ext cx="4381500" cy="1981200"/>
        </p:xfrm>
        <a:graphic>
          <a:graphicData uri="http://schemas.openxmlformats.org/drawingml/2006/table">
            <a:tbl>
              <a:tblPr/>
              <a:tblGrid>
                <a:gridCol w="109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Date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Quantity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98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2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1.50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2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98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885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806450" y="622300"/>
            <a:ext cx="10045700" cy="1143000"/>
          </a:xfrm>
        </p:spPr>
        <p:txBody>
          <a:bodyPr>
            <a:normAutofit fontScale="90000"/>
          </a:bodyPr>
          <a:lstStyle/>
          <a:p>
            <a:pPr eaLnBrk="0" hangingPunct="0"/>
            <a:r>
              <a:rPr lang="en-US" dirty="0"/>
              <a:t>3. Compute the </a:t>
            </a:r>
            <a:r>
              <a:rPr lang="en-US" dirty="0">
                <a:solidFill>
                  <a:schemeClr val="accent2"/>
                </a:solidFill>
              </a:rPr>
              <a:t>SELECT</a:t>
            </a:r>
            <a:r>
              <a:rPr lang="en-US" dirty="0"/>
              <a:t> clause: grouped attributes and aggregates</a:t>
            </a:r>
          </a:p>
        </p:txBody>
      </p:sp>
      <p:sp>
        <p:nvSpPr>
          <p:cNvPr id="3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AEB7-BA22-4EB6-A91B-7EA529618DD9}" type="slidenum">
              <a:rPr lang="en-US"/>
              <a:pPr/>
              <a:t>86</a:t>
            </a:fld>
            <a:endParaRPr lang="en-US"/>
          </a:p>
        </p:txBody>
      </p:sp>
      <p:sp>
        <p:nvSpPr>
          <p:cNvPr id="5" name="AutoShape 79"/>
          <p:cNvSpPr>
            <a:spLocks noChangeArrowheads="1"/>
          </p:cNvSpPr>
          <p:nvPr/>
        </p:nvSpPr>
        <p:spPr bwMode="auto">
          <a:xfrm>
            <a:off x="6453610" y="4300000"/>
            <a:ext cx="905874" cy="733663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06450" y="1986284"/>
            <a:ext cx="7272281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product, SUM(price*quantity) AS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TotalSales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FROM     Purchase</a:t>
            </a:r>
          </a:p>
          <a:p>
            <a:pPr eaLnBrk="0" hangingPunct="0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WHERE    date &gt; ‘10/1/2005’</a:t>
            </a:r>
          </a:p>
          <a:p>
            <a:pPr eaLnBrk="0" hangingPunct="0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GROUP BY product</a:t>
            </a:r>
          </a:p>
        </p:txBody>
      </p:sp>
      <p:graphicFrame>
        <p:nvGraphicFramePr>
          <p:cNvPr id="7" name="Group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216580"/>
              </p:ext>
            </p:extLst>
          </p:nvPr>
        </p:nvGraphicFramePr>
        <p:xfrm>
          <a:off x="7771442" y="3776079"/>
          <a:ext cx="3429000" cy="1803401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1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TotalSales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6340981" y="3930668"/>
            <a:ext cx="10185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endParaRPr lang="en-US" dirty="0"/>
          </a:p>
        </p:txBody>
      </p:sp>
      <p:graphicFrame>
        <p:nvGraphicFramePr>
          <p:cNvPr id="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99711"/>
              </p:ext>
            </p:extLst>
          </p:nvPr>
        </p:nvGraphicFramePr>
        <p:xfrm>
          <a:off x="806450" y="3776079"/>
          <a:ext cx="4381500" cy="1981200"/>
        </p:xfrm>
        <a:graphic>
          <a:graphicData uri="http://schemas.openxmlformats.org/drawingml/2006/table">
            <a:tbl>
              <a:tblPr/>
              <a:tblGrid>
                <a:gridCol w="109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Date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Quantity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98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2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1.50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2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98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761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09800" y="358492"/>
            <a:ext cx="7772400" cy="1143000"/>
          </a:xfrm>
        </p:spPr>
        <p:txBody>
          <a:bodyPr/>
          <a:lstStyle/>
          <a:p>
            <a:r>
              <a:rPr lang="en-US"/>
              <a:t>GROUP BY </a:t>
            </a:r>
            <a:r>
              <a:rPr lang="en-US" dirty="0" err="1"/>
              <a:t>v.s</a:t>
            </a:r>
            <a:r>
              <a:rPr lang="en-US" dirty="0"/>
              <a:t>. Nested </a:t>
            </a:r>
            <a:r>
              <a:rPr lang="en-US" dirty="0" err="1"/>
              <a:t>Quereis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C799A-A04E-4773-B15B-034B0121996E}" type="slidenum">
              <a:rPr lang="en-US"/>
              <a:pPr/>
              <a:t>87</a:t>
            </a:fld>
            <a:endParaRPr lang="en-US"/>
          </a:p>
        </p:txBody>
      </p:sp>
      <p:sp>
        <p:nvSpPr>
          <p:cNvPr id="196616" name="Text Box 1032"/>
          <p:cNvSpPr txBox="1">
            <a:spLocks noChangeArrowheads="1"/>
          </p:cNvSpPr>
          <p:nvPr/>
        </p:nvSpPr>
        <p:spPr bwMode="auto">
          <a:xfrm>
            <a:off x="1008382" y="1685919"/>
            <a:ext cx="9668031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product, Sum(price*quantity)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AS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TotalSales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Purchase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date &gt; ‘10/1/2005’</a:t>
            </a:r>
          </a:p>
          <a:p>
            <a:pPr eaLnBrk="0" hangingPunct="0"/>
            <a:r>
              <a:rPr lang="en-US" sz="2400" dirty="0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GROUP BY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product</a:t>
            </a:r>
          </a:p>
        </p:txBody>
      </p:sp>
      <p:sp>
        <p:nvSpPr>
          <p:cNvPr id="196618" name="Text Box 1034"/>
          <p:cNvSpPr txBox="1">
            <a:spLocks noChangeArrowheads="1"/>
          </p:cNvSpPr>
          <p:nvPr/>
        </p:nvSpPr>
        <p:spPr bwMode="auto">
          <a:xfrm>
            <a:off x="1008382" y="3673781"/>
            <a:ext cx="9668031" cy="26776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DISTINCT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x.product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, 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  (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Sum(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y.price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*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y.quantity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)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  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Purchase y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  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x.product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y.product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      AND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y.date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&gt; ‘10/1/2005’)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AS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TotalSales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Purchase x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x.date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&gt; ‘10/1/2005’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6" grpId="0" animBg="1"/>
      <p:bldP spid="196618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HAVING Clause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92735-C9B9-4325-BCC9-0EAC5E63928C}" type="slidenum">
              <a:rPr lang="en-US"/>
              <a:pPr/>
              <a:t>88</a:t>
            </a:fld>
            <a:endParaRPr lang="en-US"/>
          </a:p>
        </p:txBody>
      </p:sp>
      <p:sp>
        <p:nvSpPr>
          <p:cNvPr id="186372" name="Text Box 4"/>
          <p:cNvSpPr txBox="1">
            <a:spLocks noChangeArrowheads="1"/>
          </p:cNvSpPr>
          <p:nvPr/>
        </p:nvSpPr>
        <p:spPr bwMode="auto">
          <a:xfrm>
            <a:off x="8305800" y="2360063"/>
            <a:ext cx="29337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2800" dirty="0">
                <a:latin typeface="+mj-lt"/>
              </a:rPr>
              <a:t>Same query as before, except that we consider only products that have more than</a:t>
            </a:r>
          </a:p>
          <a:p>
            <a:pPr eaLnBrk="0" hangingPunct="0"/>
            <a:r>
              <a:rPr lang="en-US" sz="2800" dirty="0">
                <a:latin typeface="+mj-lt"/>
              </a:rPr>
              <a:t>20 items</a:t>
            </a:r>
          </a:p>
        </p:txBody>
      </p:sp>
      <p:sp>
        <p:nvSpPr>
          <p:cNvPr id="186373" name="Text Box 5"/>
          <p:cNvSpPr txBox="1">
            <a:spLocks noChangeArrowheads="1"/>
          </p:cNvSpPr>
          <p:nvPr/>
        </p:nvSpPr>
        <p:spPr bwMode="auto">
          <a:xfrm>
            <a:off x="838200" y="4809119"/>
            <a:ext cx="657628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latin typeface="+mj-lt"/>
              </a:rPr>
              <a:t>HAVING clauses contains conditions on </a:t>
            </a:r>
            <a:r>
              <a:rPr lang="en-US" sz="2400" b="1" dirty="0">
                <a:latin typeface="+mj-lt"/>
              </a:rPr>
              <a:t>aggregates</a:t>
            </a:r>
          </a:p>
        </p:txBody>
      </p:sp>
      <p:sp>
        <p:nvSpPr>
          <p:cNvPr id="11" name="Text Box 1032"/>
          <p:cNvSpPr txBox="1">
            <a:spLocks noChangeArrowheads="1"/>
          </p:cNvSpPr>
          <p:nvPr/>
        </p:nvSpPr>
        <p:spPr bwMode="auto">
          <a:xfrm>
            <a:off x="838200" y="2381482"/>
            <a:ext cx="5014193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 anchor="t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product, SUM(price*quantity)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Purchase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date &gt; ‘10/1/2005’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GROUP BY 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product</a:t>
            </a:r>
          </a:p>
          <a:p>
            <a:pPr eaLnBrk="0" hangingPunct="0"/>
            <a:r>
              <a:rPr lang="en-US" sz="2400" dirty="0">
                <a:solidFill>
                  <a:srgbClr val="FF0000"/>
                </a:solidFill>
                <a:latin typeface="Menlo"/>
                <a:ea typeface="Menlo" charset="0"/>
                <a:cs typeface="Menlo" charset="0"/>
              </a:rPr>
              <a:t>HAVING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   SUM(quantity) &gt; 30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838200" y="5759429"/>
            <a:ext cx="7104253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i="1" dirty="0">
                <a:latin typeface="+mj-lt"/>
              </a:rPr>
              <a:t>Whereas WHERE clauses condition on </a:t>
            </a:r>
            <a:r>
              <a:rPr lang="en-US" sz="2400" b="1" i="1" dirty="0">
                <a:latin typeface="+mj-lt"/>
              </a:rPr>
              <a:t>individual tuples…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2" grpId="0"/>
      <p:bldP spid="186373" grpId="0" animBg="1"/>
      <p:bldP spid="11" grpId="0" animBg="1"/>
      <p:bldP spid="12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A9EC4-33A7-5949-8252-995102503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AutoShape 79">
            <a:extLst>
              <a:ext uri="{FF2B5EF4-FFF2-40B4-BE49-F238E27FC236}">
                <a16:creationId xmlns:a16="http://schemas.microsoft.com/office/drawing/2014/main" id="{30667CA0-D6C3-AB48-92D4-2D3B35756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610" y="4300000"/>
            <a:ext cx="905874" cy="733663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en-US"/>
          </a:p>
        </p:txBody>
      </p:sp>
      <p:graphicFrame>
        <p:nvGraphicFramePr>
          <p:cNvPr id="4" name="Group 74">
            <a:extLst>
              <a:ext uri="{FF2B5EF4-FFF2-40B4-BE49-F238E27FC236}">
                <a16:creationId xmlns:a16="http://schemas.microsoft.com/office/drawing/2014/main" id="{C4A2BEFE-F7AC-B54C-AC25-0B84EB73D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763706"/>
              </p:ext>
            </p:extLst>
          </p:nvPr>
        </p:nvGraphicFramePr>
        <p:xfrm>
          <a:off x="7771442" y="3776079"/>
          <a:ext cx="3429000" cy="1201738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1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TotalSales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58">
            <a:extLst>
              <a:ext uri="{FF2B5EF4-FFF2-40B4-BE49-F238E27FC236}">
                <a16:creationId xmlns:a16="http://schemas.microsoft.com/office/drawing/2014/main" id="{894197A0-DF29-8C43-AC09-D444921C63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894756"/>
              </p:ext>
            </p:extLst>
          </p:nvPr>
        </p:nvGraphicFramePr>
        <p:xfrm>
          <a:off x="806450" y="3776079"/>
          <a:ext cx="4381500" cy="1981200"/>
        </p:xfrm>
        <a:graphic>
          <a:graphicData uri="http://schemas.openxmlformats.org/drawingml/2006/table">
            <a:tbl>
              <a:tblPr/>
              <a:tblGrid>
                <a:gridCol w="109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Date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Quantity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98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2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1.50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2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98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Box 1032">
            <a:extLst>
              <a:ext uri="{FF2B5EF4-FFF2-40B4-BE49-F238E27FC236}">
                <a16:creationId xmlns:a16="http://schemas.microsoft.com/office/drawing/2014/main" id="{10A2BAB3-7687-E147-883D-2976B5EA3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6543" y="1223243"/>
            <a:ext cx="7064755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product, SUM(price*quantity)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Purchase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date &gt; ‘10/1/2005’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GROUP BY 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product</a:t>
            </a:r>
          </a:p>
          <a:p>
            <a:pPr eaLnBrk="0" hangingPunct="0"/>
            <a:r>
              <a:rPr lang="en-US" sz="24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HAVING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SUM(quantity) &gt; 30</a:t>
            </a:r>
          </a:p>
        </p:txBody>
      </p:sp>
    </p:spTree>
    <p:extLst>
      <p:ext uri="{BB962C8B-B14F-4D97-AF65-F5344CB8AC3E}">
        <p14:creationId xmlns:p14="http://schemas.microsoft.com/office/powerpoint/2010/main" val="66209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64654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General form of Grouping and Aggregation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4637361"/>
            <a:ext cx="10515600" cy="1228131"/>
          </a:xfrm>
        </p:spPr>
        <p:txBody>
          <a:bodyPr>
            <a:noAutofit/>
          </a:bodyPr>
          <a:lstStyle/>
          <a:p>
            <a:r>
              <a:rPr lang="en-US" sz="2400" dirty="0"/>
              <a:t>S = Can ONLY contain attributes a</a:t>
            </a:r>
            <a:r>
              <a:rPr lang="en-US" sz="2400" baseline="-25000" dirty="0"/>
              <a:t>1</a:t>
            </a:r>
            <a:r>
              <a:rPr lang="en-US" sz="2400" dirty="0"/>
              <a:t>,…,</a:t>
            </a:r>
            <a:r>
              <a:rPr lang="en-US" sz="2400" dirty="0" err="1"/>
              <a:t>a</a:t>
            </a:r>
            <a:r>
              <a:rPr lang="en-US" sz="2400" baseline="-25000" dirty="0" err="1"/>
              <a:t>k</a:t>
            </a:r>
            <a:r>
              <a:rPr lang="en-US" sz="2400" dirty="0"/>
              <a:t> and/or aggregates over other attributes</a:t>
            </a:r>
          </a:p>
          <a:p>
            <a:r>
              <a:rPr lang="en-US" sz="2400" dirty="0"/>
              <a:t>C</a:t>
            </a:r>
            <a:r>
              <a:rPr lang="en-US" sz="2400" baseline="-25000" dirty="0"/>
              <a:t>1</a:t>
            </a:r>
            <a:r>
              <a:rPr lang="en-US" sz="2400" dirty="0"/>
              <a:t> = is any condition on the attributes in R</a:t>
            </a:r>
            <a:r>
              <a:rPr lang="en-US" sz="2400" baseline="-25000" dirty="0"/>
              <a:t>1</a:t>
            </a:r>
            <a:r>
              <a:rPr lang="en-US" sz="2400" dirty="0"/>
              <a:t>,…,R</a:t>
            </a:r>
            <a:r>
              <a:rPr lang="en-US" sz="2400" baseline="-25000" dirty="0"/>
              <a:t>n</a:t>
            </a:r>
          </a:p>
          <a:p>
            <a:r>
              <a:rPr lang="en-US" sz="2400" dirty="0"/>
              <a:t>C</a:t>
            </a:r>
            <a:r>
              <a:rPr lang="en-US" sz="2400" baseline="-25000" dirty="0"/>
              <a:t>2</a:t>
            </a:r>
            <a:r>
              <a:rPr lang="en-US" sz="2400" dirty="0"/>
              <a:t> = is any condition on the aggregate expressions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6A94-9259-4A86-8439-1E49423A5C0C}" type="slidenum">
              <a:rPr lang="en-US"/>
              <a:pPr/>
              <a:t>90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956050" y="2002685"/>
            <a:ext cx="4279900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800" dirty="0">
                <a:latin typeface="Menlo" charset="0"/>
                <a:ea typeface="Menlo" charset="0"/>
                <a:cs typeface="Menlo" charset="0"/>
              </a:rPr>
              <a:t>     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800" dirty="0">
                <a:latin typeface="Menlo" charset="0"/>
                <a:ea typeface="Menlo" charset="0"/>
                <a:cs typeface="Menlo" charset="0"/>
              </a:rPr>
              <a:t>       R</a:t>
            </a:r>
            <a:r>
              <a:rPr lang="en-US" sz="2800" baseline="-25000" dirty="0">
                <a:latin typeface="Menlo" charset="0"/>
                <a:ea typeface="Menlo" charset="0"/>
                <a:cs typeface="Menlo" charset="0"/>
              </a:rPr>
              <a:t>1</a:t>
            </a:r>
            <a:r>
              <a:rPr lang="en-US" sz="2800" dirty="0">
                <a:latin typeface="Menlo" charset="0"/>
                <a:ea typeface="Menlo" charset="0"/>
                <a:cs typeface="Menlo" charset="0"/>
              </a:rPr>
              <a:t>,…,R</a:t>
            </a:r>
            <a:r>
              <a:rPr lang="en-US" sz="2800" baseline="-25000" dirty="0">
                <a:latin typeface="Menlo" charset="0"/>
                <a:ea typeface="Menlo" charset="0"/>
                <a:cs typeface="Menlo" charset="0"/>
              </a:rPr>
              <a:t>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800" dirty="0">
                <a:latin typeface="Menlo" charset="0"/>
                <a:ea typeface="Menlo" charset="0"/>
                <a:cs typeface="Menlo" charset="0"/>
              </a:rPr>
              <a:t>      C</a:t>
            </a:r>
            <a:r>
              <a:rPr lang="en-US" sz="2800" baseline="-25000" dirty="0">
                <a:latin typeface="Menlo" charset="0"/>
                <a:ea typeface="Menlo" charset="0"/>
                <a:cs typeface="Menlo" charset="0"/>
              </a:rPr>
              <a:t>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GROUP BY</a:t>
            </a:r>
            <a:r>
              <a:rPr lang="en-US" sz="2800" dirty="0">
                <a:latin typeface="Menlo" charset="0"/>
                <a:ea typeface="Menlo" charset="0"/>
                <a:cs typeface="Menlo" charset="0"/>
              </a:rPr>
              <a:t>   a</a:t>
            </a:r>
            <a:r>
              <a:rPr lang="en-US" sz="2800" baseline="-25000" dirty="0">
                <a:latin typeface="Menlo" charset="0"/>
                <a:ea typeface="Menlo" charset="0"/>
                <a:cs typeface="Menlo" charset="0"/>
              </a:rPr>
              <a:t>1</a:t>
            </a:r>
            <a:r>
              <a:rPr lang="en-US" sz="2800" dirty="0">
                <a:latin typeface="Menlo" charset="0"/>
                <a:ea typeface="Menlo" charset="0"/>
                <a:cs typeface="Menlo" charset="0"/>
              </a:rPr>
              <a:t>,…,</a:t>
            </a:r>
            <a:r>
              <a:rPr lang="en-US" sz="2800" dirty="0" err="1">
                <a:latin typeface="Menlo" charset="0"/>
                <a:ea typeface="Menlo" charset="0"/>
                <a:cs typeface="Menlo" charset="0"/>
              </a:rPr>
              <a:t>a</a:t>
            </a:r>
            <a:r>
              <a:rPr lang="en-US" sz="2800" baseline="-25000" dirty="0" err="1">
                <a:latin typeface="Menlo" charset="0"/>
                <a:ea typeface="Menlo" charset="0"/>
                <a:cs typeface="Menlo" charset="0"/>
              </a:rPr>
              <a:t>k</a:t>
            </a:r>
            <a:endParaRPr lang="en-US" sz="2800" baseline="-25000" dirty="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HAVING</a:t>
            </a:r>
            <a:r>
              <a:rPr lang="en-US" sz="2800" dirty="0">
                <a:latin typeface="Menlo" charset="0"/>
                <a:ea typeface="Menlo" charset="0"/>
                <a:cs typeface="Menlo" charset="0"/>
              </a:rPr>
              <a:t>     C</a:t>
            </a:r>
            <a:r>
              <a:rPr lang="en-US" sz="2800" baseline="-25000" dirty="0">
                <a:latin typeface="Menlo" charset="0"/>
                <a:ea typeface="Menlo" charset="0"/>
                <a:cs typeface="Menlo" charset="0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6817" y="4264842"/>
            <a:ext cx="892488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+mj-lt"/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204347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64654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General form of Grouping and Aggregation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6A94-9259-4A86-8439-1E49423A5C0C}" type="slidenum">
              <a:rPr lang="en-US"/>
              <a:pPr/>
              <a:t>91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956050" y="1790217"/>
            <a:ext cx="4279900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  R</a:t>
            </a:r>
            <a:r>
              <a:rPr lang="en-US" sz="2400" baseline="-25000" dirty="0">
                <a:latin typeface="Menlo" charset="0"/>
                <a:ea typeface="Menlo" charset="0"/>
                <a:cs typeface="Menlo" charset="0"/>
              </a:rPr>
              <a:t>1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,…,R</a:t>
            </a:r>
            <a:r>
              <a:rPr lang="en-US" sz="2400" baseline="-25000" dirty="0">
                <a:latin typeface="Menlo" charset="0"/>
                <a:ea typeface="Menlo" charset="0"/>
                <a:cs typeface="Menlo" charset="0"/>
              </a:rPr>
              <a:t>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 C</a:t>
            </a:r>
            <a:r>
              <a:rPr lang="en-US" sz="2400" baseline="-25000" dirty="0">
                <a:latin typeface="Menlo" charset="0"/>
                <a:ea typeface="Menlo" charset="0"/>
                <a:cs typeface="Menlo" charset="0"/>
              </a:rPr>
              <a:t>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GROUP BY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a</a:t>
            </a:r>
            <a:r>
              <a:rPr lang="en-US" sz="2400" baseline="-25000" dirty="0">
                <a:latin typeface="Menlo" charset="0"/>
                <a:ea typeface="Menlo" charset="0"/>
                <a:cs typeface="Menlo" charset="0"/>
              </a:rPr>
              <a:t>1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,…,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a</a:t>
            </a:r>
            <a:r>
              <a:rPr lang="en-US" sz="2400" baseline="-25000" dirty="0" err="1">
                <a:latin typeface="Menlo" charset="0"/>
                <a:ea typeface="Menlo" charset="0"/>
                <a:cs typeface="Menlo" charset="0"/>
              </a:rPr>
              <a:t>k</a:t>
            </a:r>
            <a:endParaRPr lang="en-US" sz="2400" baseline="-25000" dirty="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HAVING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C</a:t>
            </a:r>
            <a:r>
              <a:rPr lang="en-US" sz="2400" baseline="-25000" dirty="0">
                <a:latin typeface="Menlo" charset="0"/>
                <a:ea typeface="Menlo" charset="0"/>
                <a:cs typeface="Menlo" charset="0"/>
              </a:rPr>
              <a:t>2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2133601" y="3809998"/>
            <a:ext cx="8240486" cy="260584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 typeface="Arial"/>
              <a:buNone/>
            </a:pPr>
            <a:r>
              <a:rPr lang="en-US" sz="2400" dirty="0"/>
              <a:t>Evaluation steps:</a:t>
            </a:r>
          </a:p>
          <a:p>
            <a:pPr marL="609600" indent="-609600">
              <a:buFontTx/>
              <a:buAutoNum type="arabicPeriod"/>
            </a:pPr>
            <a:r>
              <a:rPr lang="en-US" sz="2400" dirty="0"/>
              <a:t>Evaluate </a:t>
            </a:r>
            <a:r>
              <a:rPr lang="en-US" sz="2400" dirty="0">
                <a:solidFill>
                  <a:schemeClr val="accent2"/>
                </a:solidFill>
              </a:rPr>
              <a:t>FROM-WHERE</a:t>
            </a:r>
            <a:r>
              <a:rPr lang="en-US" sz="2400" dirty="0"/>
              <a:t>: apply condition C</a:t>
            </a:r>
            <a:r>
              <a:rPr lang="en-US" sz="2400" baseline="-25000" dirty="0"/>
              <a:t>1</a:t>
            </a:r>
            <a:r>
              <a:rPr lang="en-US" sz="2400" dirty="0"/>
              <a:t> on the  attributes in R</a:t>
            </a:r>
            <a:r>
              <a:rPr lang="en-US" sz="2400" baseline="-25000" dirty="0"/>
              <a:t>1</a:t>
            </a:r>
            <a:r>
              <a:rPr lang="en-US" sz="2400" dirty="0"/>
              <a:t>,…,R</a:t>
            </a:r>
            <a:r>
              <a:rPr lang="en-US" sz="2400" baseline="-25000" dirty="0"/>
              <a:t>n</a:t>
            </a:r>
            <a:endParaRPr lang="en-US" sz="2400" dirty="0">
              <a:solidFill>
                <a:srgbClr val="000000"/>
              </a:solidFill>
            </a:endParaRPr>
          </a:p>
          <a:p>
            <a:pPr marL="609600" indent="-609600">
              <a:buFontTx/>
              <a:buAutoNum type="arabicPeriod"/>
            </a:pP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chemeClr val="accent2"/>
                </a:solidFill>
              </a:rPr>
              <a:t>GROUP BY </a:t>
            </a:r>
            <a:r>
              <a:rPr lang="en-US" sz="2400" dirty="0"/>
              <a:t>the attributes a</a:t>
            </a:r>
            <a:r>
              <a:rPr lang="en-US" sz="2400" baseline="-25000" dirty="0"/>
              <a:t>1</a:t>
            </a:r>
            <a:r>
              <a:rPr lang="en-US" sz="2400" dirty="0"/>
              <a:t>,…,</a:t>
            </a:r>
            <a:r>
              <a:rPr lang="en-US" sz="2400" dirty="0" err="1"/>
              <a:t>a</a:t>
            </a:r>
            <a:r>
              <a:rPr lang="en-US" sz="2400" baseline="-25000" dirty="0" err="1"/>
              <a:t>k</a:t>
            </a:r>
            <a:r>
              <a:rPr lang="en-US" baseline="-25000" dirty="0"/>
              <a:t> </a:t>
            </a:r>
            <a:endParaRPr lang="en-US" sz="2400" dirty="0"/>
          </a:p>
          <a:p>
            <a:pPr marL="609600" indent="-609600">
              <a:buFontTx/>
              <a:buAutoNum type="arabicPeriod"/>
            </a:pP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Apply condition C</a:t>
            </a:r>
            <a:r>
              <a:rPr lang="en-US" sz="2400" baseline="-25000" dirty="0">
                <a:solidFill>
                  <a:srgbClr val="FF0000"/>
                </a:solidFill>
              </a:rPr>
              <a:t>2</a:t>
            </a:r>
            <a:r>
              <a:rPr lang="en-US" sz="2400" dirty="0">
                <a:solidFill>
                  <a:srgbClr val="FF0000"/>
                </a:solidFill>
              </a:rPr>
              <a:t> to each group (may have aggregates)</a:t>
            </a:r>
          </a:p>
          <a:p>
            <a:pPr marL="609600" indent="-609600">
              <a:buFontTx/>
              <a:buAutoNum type="arabicPeriod"/>
            </a:pPr>
            <a:r>
              <a:rPr lang="en-US" sz="2400" dirty="0"/>
              <a:t> Compute aggregates in S and return the result</a:t>
            </a:r>
          </a:p>
        </p:txBody>
      </p:sp>
    </p:spTree>
    <p:extLst>
      <p:ext uri="{BB962C8B-B14F-4D97-AF65-F5344CB8AC3E}">
        <p14:creationId xmlns:p14="http://schemas.microsoft.com/office/powerpoint/2010/main" val="80458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Group-by </a:t>
            </a:r>
            <a:r>
              <a:rPr lang="en-US" dirty="0" err="1"/>
              <a:t>v.s</a:t>
            </a:r>
            <a:r>
              <a:rPr lang="en-US" dirty="0"/>
              <a:t>. Nested Query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842614"/>
            <a:ext cx="7772400" cy="2209800"/>
          </a:xfrm>
        </p:spPr>
        <p:txBody>
          <a:bodyPr/>
          <a:lstStyle/>
          <a:p>
            <a:r>
              <a:rPr lang="en-US" dirty="0"/>
              <a:t>Find authors who wrote </a:t>
            </a:r>
            <a:r>
              <a:rPr lang="en-US" dirty="0">
                <a:latin typeface="Symbol" charset="2"/>
              </a:rPr>
              <a:t>³</a:t>
            </a:r>
            <a:r>
              <a:rPr lang="en-US" dirty="0"/>
              <a:t> 10 documents:</a:t>
            </a:r>
          </a:p>
          <a:p>
            <a:r>
              <a:rPr lang="en-US" dirty="0"/>
              <a:t>Attempt 1: with nested queries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EFFA-C79D-4CA6-BC1B-EBA359CCE9EC}" type="slidenum">
              <a:rPr lang="en-US"/>
              <a:pPr/>
              <a:t>92</a:t>
            </a:fld>
            <a:endParaRPr lang="en-US"/>
          </a:p>
        </p:txBody>
      </p:sp>
      <p:sp>
        <p:nvSpPr>
          <p:cNvPr id="164869" name="Text Box 5"/>
          <p:cNvSpPr txBox="1">
            <a:spLocks noChangeArrowheads="1"/>
          </p:cNvSpPr>
          <p:nvPr/>
        </p:nvSpPr>
        <p:spPr bwMode="auto">
          <a:xfrm>
            <a:off x="2099441" y="3952819"/>
            <a:ext cx="6235287" cy="22984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DISTINCT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 Author.name</a:t>
            </a:r>
          </a:p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   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Author</a:t>
            </a:r>
          </a:p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  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COUNT(</a:t>
            </a:r>
          </a:p>
          <a:p>
            <a:r>
              <a:rPr lang="en-US" sz="24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	SELECT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 Wrote.url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/>
                <a:ea typeface="Menlo" charset="0"/>
                <a:cs typeface="Menlo" charset="0"/>
              </a:rPr>
              <a:t>     </a:t>
            </a:r>
            <a:r>
              <a:rPr lang="en-US" sz="24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   Wrote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/>
                <a:ea typeface="Menlo" charset="0"/>
                <a:cs typeface="Menlo" charset="0"/>
              </a:rPr>
              <a:t>     </a:t>
            </a:r>
            <a:r>
              <a:rPr lang="en-US" sz="24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/>
                <a:ea typeface="Menlo" charset="0"/>
                <a:cs typeface="Menlo" charset="0"/>
              </a:rPr>
              <a:t>Author.login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 = </a:t>
            </a:r>
            <a:r>
              <a:rPr lang="en-US" sz="2400" dirty="0" err="1">
                <a:latin typeface="Menlo"/>
                <a:ea typeface="Menlo" charset="0"/>
                <a:cs typeface="Menlo" charset="0"/>
              </a:rPr>
              <a:t>Wrote.login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) &gt; =10</a:t>
            </a:r>
          </a:p>
        </p:txBody>
      </p:sp>
      <p:sp>
        <p:nvSpPr>
          <p:cNvPr id="164873" name="Rectangle 9"/>
          <p:cNvSpPr>
            <a:spLocks noChangeArrowheads="1"/>
          </p:cNvSpPr>
          <p:nvPr/>
        </p:nvSpPr>
        <p:spPr bwMode="auto">
          <a:xfrm>
            <a:off x="838200" y="1668629"/>
            <a:ext cx="3717684" cy="904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Author(</a:t>
            </a:r>
            <a:r>
              <a:rPr lang="en-US" sz="2400" u="sng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login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name)</a:t>
            </a:r>
          </a:p>
          <a:p>
            <a:pPr>
              <a:spcBef>
                <a:spcPct val="20000"/>
              </a:spcBef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Wrote(login, url)</a:t>
            </a:r>
          </a:p>
        </p:txBody>
      </p:sp>
      <p:sp>
        <p:nvSpPr>
          <p:cNvPr id="2" name="Rectangle 1"/>
          <p:cNvSpPr/>
          <p:nvPr/>
        </p:nvSpPr>
        <p:spPr>
          <a:xfrm>
            <a:off x="9893300" y="4129084"/>
            <a:ext cx="1079500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>
                <a:latin typeface="+mj-lt"/>
              </a:rPr>
              <a:t>This is</a:t>
            </a:r>
            <a:br>
              <a:rPr lang="en-US">
                <a:latin typeface="+mj-lt"/>
              </a:rPr>
            </a:br>
            <a:r>
              <a:rPr lang="en-US">
                <a:latin typeface="+mj-lt"/>
              </a:rPr>
              <a:t>SQL by</a:t>
            </a:r>
            <a:br>
              <a:rPr lang="en-US">
                <a:latin typeface="+mj-lt"/>
              </a:rPr>
            </a:br>
            <a:r>
              <a:rPr lang="en-US">
                <a:latin typeface="+mj-lt"/>
              </a:rPr>
              <a:t>a novice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4639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9" grpId="0" animBg="1"/>
      <p:bldP spid="164873" grpId="0" animBg="1"/>
      <p:bldP spid="2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Group-by </a:t>
            </a:r>
            <a:r>
              <a:rPr lang="en-US" dirty="0" err="1"/>
              <a:t>v.s</a:t>
            </a:r>
            <a:r>
              <a:rPr lang="en-US" dirty="0"/>
              <a:t>. Nested Query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all authors who wrote at least 10 documents:</a:t>
            </a:r>
          </a:p>
          <a:p>
            <a:r>
              <a:rPr lang="en-US" dirty="0"/>
              <a:t>Attempt 2: SQL style (with GROUP BY)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B6BD1-4CEC-473C-A992-0164528D1046}" type="slidenum">
              <a:rPr lang="en-US"/>
              <a:pPr/>
              <a:t>93</a:t>
            </a:fld>
            <a:endParaRPr lang="en-US"/>
          </a:p>
        </p:txBody>
      </p:sp>
      <p:sp>
        <p:nvSpPr>
          <p:cNvPr id="195588" name="Text Box 4"/>
          <p:cNvSpPr txBox="1">
            <a:spLocks noChangeArrowheads="1"/>
          </p:cNvSpPr>
          <p:nvPr/>
        </p:nvSpPr>
        <p:spPr bwMode="auto">
          <a:xfrm>
            <a:off x="838200" y="3161320"/>
            <a:ext cx="4684103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   Author.name</a:t>
            </a:r>
          </a:p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   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Author, Wrote</a:t>
            </a:r>
          </a:p>
          <a:p>
            <a:r>
              <a:rPr lang="en-US" sz="24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    Author.login = Wrote.login</a:t>
            </a:r>
          </a:p>
          <a:p>
            <a:r>
              <a:rPr lang="en-US" sz="24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GROUP BY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 Author.name</a:t>
            </a:r>
          </a:p>
          <a:p>
            <a:r>
              <a:rPr lang="en-US" sz="24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HAVING   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COUNT(Wrote.url) &gt;= 10</a:t>
            </a:r>
          </a:p>
        </p:txBody>
      </p:sp>
      <p:sp>
        <p:nvSpPr>
          <p:cNvPr id="195590" name="Text Box 6"/>
          <p:cNvSpPr txBox="1">
            <a:spLocks noChangeArrowheads="1"/>
          </p:cNvSpPr>
          <p:nvPr/>
        </p:nvSpPr>
        <p:spPr bwMode="auto">
          <a:xfrm>
            <a:off x="784788" y="5509071"/>
            <a:ext cx="67462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/>
              <a:t>No need for </a:t>
            </a:r>
            <a:r>
              <a:rPr lang="en-US" sz="2400" dirty="0">
                <a:solidFill>
                  <a:schemeClr val="accent2"/>
                </a:solidFill>
              </a:rPr>
              <a:t>DISTINCT</a:t>
            </a:r>
            <a:r>
              <a:rPr lang="en-US" sz="2400" dirty="0"/>
              <a:t>: automatically from </a:t>
            </a:r>
            <a:r>
              <a:rPr lang="en-US" sz="2400" dirty="0">
                <a:solidFill>
                  <a:schemeClr val="accent2"/>
                </a:solidFill>
              </a:rPr>
              <a:t>GROUP BY</a:t>
            </a:r>
          </a:p>
        </p:txBody>
      </p:sp>
      <p:sp>
        <p:nvSpPr>
          <p:cNvPr id="2" name="Rectangle 1"/>
          <p:cNvSpPr/>
          <p:nvPr/>
        </p:nvSpPr>
        <p:spPr>
          <a:xfrm>
            <a:off x="8674079" y="3190036"/>
            <a:ext cx="1536700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This is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SQL  by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an expert</a:t>
            </a:r>
          </a:p>
        </p:txBody>
      </p:sp>
    </p:spTree>
    <p:extLst>
      <p:ext uri="{BB962C8B-B14F-4D97-AF65-F5344CB8AC3E}">
        <p14:creationId xmlns:p14="http://schemas.microsoft.com/office/powerpoint/2010/main" val="1649740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8" grpId="0" animBg="1"/>
      <p:bldP spid="2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Group-by </a:t>
            </a:r>
            <a:r>
              <a:rPr lang="en-US" dirty="0" err="1"/>
              <a:t>v.s</a:t>
            </a:r>
            <a:r>
              <a:rPr lang="en-US" dirty="0"/>
              <a:t>. Nested Query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all authors who wrote at least 10 documents:</a:t>
            </a:r>
          </a:p>
          <a:p>
            <a:r>
              <a:rPr lang="en-US" dirty="0"/>
              <a:t>Attempt 2: SQL style (with GROUP BY)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B6BD1-4CEC-473C-A992-0164528D1046}" type="slidenum">
              <a:rPr lang="en-US"/>
              <a:pPr/>
              <a:t>94</a:t>
            </a:fld>
            <a:endParaRPr lang="en-US"/>
          </a:p>
        </p:txBody>
      </p:sp>
      <p:sp>
        <p:nvSpPr>
          <p:cNvPr id="195588" name="Text Box 4"/>
          <p:cNvSpPr txBox="1">
            <a:spLocks noChangeArrowheads="1"/>
          </p:cNvSpPr>
          <p:nvPr/>
        </p:nvSpPr>
        <p:spPr bwMode="auto">
          <a:xfrm>
            <a:off x="838200" y="3161320"/>
            <a:ext cx="9530462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   Author.name</a:t>
            </a:r>
          </a:p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   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Author</a:t>
            </a:r>
          </a:p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login in (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login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wrote </a:t>
            </a:r>
          </a:p>
          <a:p>
            <a:r>
              <a:rPr lang="en-US" sz="24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			   GROUP BY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 login </a:t>
            </a:r>
            <a:r>
              <a:rPr lang="en-US" sz="2400" dirty="0">
                <a:solidFill>
                  <a:schemeClr val="accent2"/>
                </a:solidFill>
                <a:latin typeface="Menlo"/>
                <a:ea typeface="Menlo" charset="0"/>
                <a:cs typeface="Menlo" charset="0"/>
              </a:rPr>
              <a:t>HAVING</a:t>
            </a:r>
            <a:r>
              <a:rPr lang="en-US" sz="2400" dirty="0">
                <a:latin typeface="Menlo"/>
                <a:ea typeface="Menlo" charset="0"/>
                <a:cs typeface="Menlo" charset="0"/>
              </a:rPr>
              <a:t> count(*)&gt;=10)</a:t>
            </a:r>
          </a:p>
        </p:txBody>
      </p:sp>
    </p:spTree>
    <p:extLst>
      <p:ext uri="{BB962C8B-B14F-4D97-AF65-F5344CB8AC3E}">
        <p14:creationId xmlns:p14="http://schemas.microsoft.com/office/powerpoint/2010/main" val="57780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8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Group-by vs. Nested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Which way is more efficient?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Attempt #1- </a:t>
            </a:r>
            <a:r>
              <a:rPr lang="en-US" i="1" dirty="0"/>
              <a:t>With nested: </a:t>
            </a:r>
            <a:r>
              <a:rPr lang="en-US" dirty="0"/>
              <a:t>How many times do we do a SFW query over all of the Wrote relations?</a:t>
            </a:r>
          </a:p>
          <a:p>
            <a:endParaRPr lang="en-US" dirty="0"/>
          </a:p>
          <a:p>
            <a:r>
              <a:rPr lang="en-US" dirty="0"/>
              <a:t>Attempt #2- </a:t>
            </a:r>
            <a:r>
              <a:rPr lang="en-US" i="1" dirty="0"/>
              <a:t>With group-by</a:t>
            </a:r>
            <a:r>
              <a:rPr lang="en-US" dirty="0"/>
              <a:t>: How about when written this way?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21275" y="5801380"/>
            <a:ext cx="6600525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j-lt"/>
              </a:rPr>
              <a:t>With GROUP BY can be </a:t>
            </a:r>
            <a:r>
              <a:rPr lang="en-US" sz="2800" b="1" u="sng" dirty="0">
                <a:latin typeface="+mj-lt"/>
              </a:rPr>
              <a:t>much</a:t>
            </a:r>
            <a:r>
              <a:rPr lang="en-US" sz="2800" dirty="0">
                <a:latin typeface="+mj-lt"/>
              </a:rPr>
              <a:t> more efficient!</a:t>
            </a:r>
          </a:p>
        </p:txBody>
      </p:sp>
    </p:spTree>
    <p:extLst>
      <p:ext uri="{BB962C8B-B14F-4D97-AF65-F5344CB8AC3E}">
        <p14:creationId xmlns:p14="http://schemas.microsoft.com/office/powerpoint/2010/main" val="1983323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Advanced SQL-</a:t>
            </a:r>
            <a:r>
              <a:rPr lang="en-US" dirty="0" err="1"/>
              <a:t>izing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0054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79763-890B-46FC-B4DF-BE87742EDDAE}" type="slidenum">
              <a:rPr lang="en-US"/>
              <a:pPr/>
              <a:t>97</a:t>
            </a:fld>
            <a:endParaRPr lang="en-US"/>
          </a:p>
        </p:txBody>
      </p:sp>
      <p:sp>
        <p:nvSpPr>
          <p:cNvPr id="215043" name="Rectangle 3"/>
          <p:cNvSpPr>
            <a:spLocks noChangeArrowheads="1"/>
          </p:cNvSpPr>
          <p:nvPr/>
        </p:nvSpPr>
        <p:spPr bwMode="auto">
          <a:xfrm>
            <a:off x="838200" y="1688069"/>
            <a:ext cx="5577168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>
                <a:shade val="50000"/>
              </a:schemeClr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Product(name, price, company)</a:t>
            </a:r>
          </a:p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Company(name, city)</a:t>
            </a:r>
          </a:p>
        </p:txBody>
      </p:sp>
      <p:sp>
        <p:nvSpPr>
          <p:cNvPr id="215044" name="Text Box 4"/>
          <p:cNvSpPr txBox="1">
            <a:spLocks noChangeArrowheads="1"/>
          </p:cNvSpPr>
          <p:nvPr/>
        </p:nvSpPr>
        <p:spPr bwMode="auto">
          <a:xfrm>
            <a:off x="8610026" y="3054200"/>
            <a:ext cx="2743774" cy="1575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Find all companies that make </a:t>
            </a:r>
            <a:r>
              <a:rPr lang="en-US" sz="2400" u="sng" dirty="0">
                <a:latin typeface="+mj-lt"/>
              </a:rPr>
              <a:t>some</a:t>
            </a:r>
            <a:r>
              <a:rPr lang="en-US" sz="2400" dirty="0">
                <a:latin typeface="+mj-lt"/>
              </a:rPr>
              <a:t> products with price &lt; 100</a:t>
            </a:r>
          </a:p>
        </p:txBody>
      </p:sp>
      <p:sp>
        <p:nvSpPr>
          <p:cNvPr id="215045" name="Rectangle 5"/>
          <p:cNvSpPr>
            <a:spLocks noChangeArrowheads="1"/>
          </p:cNvSpPr>
          <p:nvPr/>
        </p:nvSpPr>
        <p:spPr bwMode="auto">
          <a:xfrm>
            <a:off x="838200" y="3131046"/>
            <a:ext cx="7149985" cy="14219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DISTINCT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Company.name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Company, Product</a:t>
            </a:r>
          </a:p>
          <a:p>
            <a:pPr eaLnBrk="0" hangingPunct="0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Company.name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Product.company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>
              <a:lnSpc>
                <a:spcPct val="90000"/>
              </a:lnSpc>
            </a:pP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AND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Product.price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&lt; 100</a:t>
            </a:r>
          </a:p>
        </p:txBody>
      </p:sp>
      <p:sp>
        <p:nvSpPr>
          <p:cNvPr id="215046" name="Text Box 6"/>
          <p:cNvSpPr txBox="1">
            <a:spLocks noChangeArrowheads="1"/>
          </p:cNvSpPr>
          <p:nvPr/>
        </p:nvSpPr>
        <p:spPr bwMode="auto">
          <a:xfrm>
            <a:off x="6511926" y="5419985"/>
            <a:ext cx="274741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5050"/>
                </a:solidFill>
              </a:rPr>
              <a:t>Existential: easy  ! </a:t>
            </a:r>
            <a:r>
              <a:rPr lang="en-US" sz="2400" dirty="0">
                <a:solidFill>
                  <a:srgbClr val="FF5050"/>
                </a:solidFill>
                <a:sym typeface="Wingdings" charset="2"/>
              </a:rPr>
              <a:t></a:t>
            </a:r>
            <a:endParaRPr lang="en-US" sz="2400" dirty="0">
              <a:solidFill>
                <a:srgbClr val="FF505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8200" y="5050654"/>
            <a:ext cx="36957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An </a:t>
            </a:r>
            <a:r>
              <a:rPr lang="en-US" sz="2400" b="1" u="sng" dirty="0">
                <a:latin typeface="+mj-lt"/>
              </a:rPr>
              <a:t>existential quantifier</a:t>
            </a:r>
            <a:r>
              <a:rPr lang="en-US" sz="2400" dirty="0">
                <a:latin typeface="+mj-lt"/>
              </a:rPr>
              <a:t> is a logical quantifier (roughly) of the form “there exists”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4" grpId="0"/>
      <p:bldP spid="215045" grpId="0" animBg="1"/>
      <p:bldP spid="215046" grpId="0"/>
      <p:bldP spid="2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79763-890B-46FC-B4DF-BE87742EDDAE}" type="slidenum">
              <a:rPr lang="en-US"/>
              <a:pPr/>
              <a:t>98</a:t>
            </a:fld>
            <a:endParaRPr lang="en-US" dirty="0"/>
          </a:p>
        </p:txBody>
      </p:sp>
      <p:sp>
        <p:nvSpPr>
          <p:cNvPr id="215043" name="Rectangle 3"/>
          <p:cNvSpPr>
            <a:spLocks noChangeArrowheads="1"/>
          </p:cNvSpPr>
          <p:nvPr/>
        </p:nvSpPr>
        <p:spPr bwMode="auto">
          <a:xfrm>
            <a:off x="838200" y="1688069"/>
            <a:ext cx="5577168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>
                <a:shade val="50000"/>
              </a:schemeClr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Product(name, price, company)</a:t>
            </a:r>
          </a:p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Company(name, city)</a:t>
            </a:r>
          </a:p>
        </p:txBody>
      </p:sp>
      <p:sp>
        <p:nvSpPr>
          <p:cNvPr id="215044" name="Text Box 4"/>
          <p:cNvSpPr txBox="1">
            <a:spLocks noChangeArrowheads="1"/>
          </p:cNvSpPr>
          <p:nvPr/>
        </p:nvSpPr>
        <p:spPr bwMode="auto">
          <a:xfrm>
            <a:off x="8610026" y="1454717"/>
            <a:ext cx="274377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Find all companies with products </a:t>
            </a:r>
            <a:r>
              <a:rPr lang="en-US" sz="2400" u="sng" dirty="0">
                <a:latin typeface="+mj-lt"/>
              </a:rPr>
              <a:t>all</a:t>
            </a:r>
            <a:r>
              <a:rPr lang="en-US" sz="2400" dirty="0">
                <a:latin typeface="+mj-lt"/>
              </a:rPr>
              <a:t> having price &lt; 100</a:t>
            </a:r>
          </a:p>
        </p:txBody>
      </p:sp>
      <p:sp>
        <p:nvSpPr>
          <p:cNvPr id="215045" name="Rectangle 5"/>
          <p:cNvSpPr>
            <a:spLocks noChangeArrowheads="1"/>
          </p:cNvSpPr>
          <p:nvPr/>
        </p:nvSpPr>
        <p:spPr bwMode="auto">
          <a:xfrm>
            <a:off x="838200" y="3155025"/>
            <a:ext cx="7149985" cy="175432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DISTINCT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Company.cname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Company</a:t>
            </a:r>
          </a:p>
          <a:p>
            <a:pPr eaLnBrk="0" hangingPunct="0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Company.name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NOT IN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pPr eaLnBrk="0" hangingPunct="0">
              <a:lnSpc>
                <a:spcPct val="90000"/>
              </a:lnSpc>
            </a:pP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SELECT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Product.company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>
              <a:lnSpc>
                <a:spcPct val="90000"/>
              </a:lnSpc>
            </a:pP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FROM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Product.price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&gt;= 100)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8200" y="5309307"/>
            <a:ext cx="369570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A </a:t>
            </a:r>
            <a:r>
              <a:rPr lang="en-US" sz="2400" b="1" u="sng" dirty="0">
                <a:latin typeface="+mj-lt"/>
              </a:rPr>
              <a:t>universal quantifier</a:t>
            </a:r>
            <a:r>
              <a:rPr lang="en-US" sz="2400" dirty="0">
                <a:latin typeface="+mj-lt"/>
              </a:rPr>
              <a:t> is of the form “for all”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6339053" y="5652838"/>
            <a:ext cx="26509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5050"/>
                </a:solidFill>
              </a:rPr>
              <a:t>Universal: hard !  </a:t>
            </a:r>
            <a:r>
              <a:rPr lang="en-US" sz="2400" dirty="0">
                <a:solidFill>
                  <a:srgbClr val="FF5050"/>
                </a:solidFill>
                <a:sym typeface="Wingdings" charset="2"/>
              </a:rPr>
              <a:t></a:t>
            </a:r>
            <a:endParaRPr lang="en-US" sz="2400" dirty="0">
              <a:solidFill>
                <a:srgbClr val="FF5050"/>
              </a:solidFill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8610026" y="3669194"/>
            <a:ext cx="2743774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Find all companies that make </a:t>
            </a:r>
            <a:r>
              <a:rPr lang="en-US" sz="2400" u="sng" dirty="0">
                <a:latin typeface="+mj-lt"/>
              </a:rPr>
              <a:t>only </a:t>
            </a:r>
            <a:r>
              <a:rPr lang="en-US" sz="2400" dirty="0">
                <a:latin typeface="+mj-lt"/>
              </a:rPr>
              <a:t>products with price &lt; 100</a:t>
            </a:r>
          </a:p>
        </p:txBody>
      </p:sp>
      <p:sp>
        <p:nvSpPr>
          <p:cNvPr id="3" name="Down Arrow 2"/>
          <p:cNvSpPr/>
          <p:nvPr/>
        </p:nvSpPr>
        <p:spPr>
          <a:xfrm>
            <a:off x="9823019" y="3024377"/>
            <a:ext cx="317787" cy="468815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210010" y="3056015"/>
            <a:ext cx="1166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Equivalent</a:t>
            </a:r>
          </a:p>
        </p:txBody>
      </p:sp>
    </p:spTree>
    <p:extLst>
      <p:ext uri="{BB962C8B-B14F-4D97-AF65-F5344CB8AC3E}">
        <p14:creationId xmlns:p14="http://schemas.microsoft.com/office/powerpoint/2010/main" val="925943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1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4" grpId="0"/>
      <p:bldP spid="215045" grpId="0" animBg="1" autoUpdateAnimBg="0"/>
      <p:bldP spid="2" grpId="0" animBg="1"/>
      <p:bldP spid="12" grpId="0"/>
      <p:bldP spid="13" grpId="0"/>
      <p:bldP spid="3" grpId="0" animBg="1"/>
      <p:bldP spid="4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NULLS in SQL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10515600" cy="5003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Whenever we don’t have a value, we can put a NULL</a:t>
            </a:r>
          </a:p>
          <a:p>
            <a:endParaRPr lang="en-US" dirty="0"/>
          </a:p>
          <a:p>
            <a:r>
              <a:rPr lang="en-US" dirty="0"/>
              <a:t>Can mean many things:</a:t>
            </a:r>
          </a:p>
          <a:p>
            <a:pPr lvl="1"/>
            <a:r>
              <a:rPr lang="en-US" sz="2600" dirty="0"/>
              <a:t>Value does not exists</a:t>
            </a:r>
          </a:p>
          <a:p>
            <a:pPr lvl="1"/>
            <a:r>
              <a:rPr lang="en-US" sz="2600" dirty="0"/>
              <a:t>Value exists but is unknown</a:t>
            </a:r>
          </a:p>
          <a:p>
            <a:pPr lvl="1"/>
            <a:r>
              <a:rPr lang="en-US" sz="2600" dirty="0"/>
              <a:t>Value not applicable</a:t>
            </a:r>
          </a:p>
          <a:p>
            <a:pPr lvl="1"/>
            <a:r>
              <a:rPr lang="en-US" sz="2600" dirty="0"/>
              <a:t>Etc.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schema specifies for each attribute if can be null (</a:t>
            </a:r>
            <a:r>
              <a:rPr lang="en-US" i="1" dirty="0" err="1"/>
              <a:t>nullable</a:t>
            </a:r>
            <a:r>
              <a:rPr lang="en-US" i="1" dirty="0"/>
              <a:t> </a:t>
            </a:r>
            <a:r>
              <a:rPr lang="en-US" dirty="0"/>
              <a:t>attribute) or not</a:t>
            </a:r>
          </a:p>
          <a:p>
            <a:endParaRPr lang="en-US" dirty="0"/>
          </a:p>
          <a:p>
            <a:r>
              <a:rPr lang="en-US" dirty="0"/>
              <a:t>How does SQL cope with tables that have NULLs?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F7A8-BC20-4EFA-AF7D-2BE46B5803AB}" type="slidenum">
              <a:rPr lang="en-US"/>
              <a:pPr/>
              <a:t>99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Null Values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For numerical operations, </a:t>
            </a:r>
            <a:r>
              <a:rPr lang="en-US" dirty="0"/>
              <a:t>NULL -&gt; NULL:</a:t>
            </a:r>
          </a:p>
          <a:p>
            <a:pPr lvl="1"/>
            <a:r>
              <a:rPr lang="en-US" dirty="0"/>
              <a:t>If x = NULL then 4*(3-x)/7 is still NULL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i="1" dirty="0"/>
              <a:t>For </a:t>
            </a:r>
            <a:r>
              <a:rPr lang="en-US" i="1" dirty="0" err="1"/>
              <a:t>boolean</a:t>
            </a:r>
            <a:r>
              <a:rPr lang="en-US" i="1" dirty="0"/>
              <a:t> operations, </a:t>
            </a:r>
            <a:r>
              <a:rPr lang="en-US" dirty="0"/>
              <a:t>in SQL there are three values:</a:t>
            </a:r>
          </a:p>
          <a:p>
            <a:pPr lvl="1">
              <a:buFontTx/>
              <a:buNone/>
            </a:pPr>
            <a:endParaRPr lang="en-US" b="1" dirty="0"/>
          </a:p>
          <a:p>
            <a:pPr lvl="1">
              <a:buFontTx/>
              <a:buNone/>
            </a:pPr>
            <a:r>
              <a:rPr lang="en-US" b="1" dirty="0"/>
              <a:t>FALSE             = 	0</a:t>
            </a:r>
          </a:p>
          <a:p>
            <a:pPr lvl="1">
              <a:buFontTx/>
              <a:buNone/>
            </a:pPr>
            <a:r>
              <a:rPr lang="en-US" b="1" dirty="0"/>
              <a:t>UNKNOWN    = 	0.5</a:t>
            </a:r>
          </a:p>
          <a:p>
            <a:pPr lvl="1">
              <a:buFontTx/>
              <a:buNone/>
            </a:pPr>
            <a:r>
              <a:rPr lang="en-US" b="1" dirty="0"/>
              <a:t>TRUE               = 	1</a:t>
            </a:r>
          </a:p>
          <a:p>
            <a:pPr lvl="1">
              <a:buFontTx/>
              <a:buNone/>
            </a:pPr>
            <a:endParaRPr lang="en-US" b="1" dirty="0"/>
          </a:p>
          <a:p>
            <a:pPr lvl="1"/>
            <a:r>
              <a:rPr lang="en-US" dirty="0"/>
              <a:t>If x= NULL then x=“Joe” is UNKNOWN</a:t>
            </a:r>
          </a:p>
          <a:p>
            <a:pPr lvl="1">
              <a:buFontTx/>
              <a:buNone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B3F50-4467-4A37-BA73-98C64D7E28FF}" type="slidenum">
              <a:rPr lang="en-US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910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1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Null Values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793054"/>
            <a:ext cx="7772400" cy="3327400"/>
          </a:xfrm>
        </p:spPr>
        <p:txBody>
          <a:bodyPr/>
          <a:lstStyle/>
          <a:p>
            <a:r>
              <a:rPr lang="en-US" dirty="0"/>
              <a:t>C1 AND C2   =  min(C1, C2)</a:t>
            </a:r>
          </a:p>
          <a:p>
            <a:r>
              <a:rPr lang="en-US" dirty="0"/>
              <a:t>C1  OR   C2   =  max(C1, C2)</a:t>
            </a:r>
          </a:p>
          <a:p>
            <a:r>
              <a:rPr lang="en-US" dirty="0"/>
              <a:t>NOT C1         =  1 – C1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33BD-9F88-4F66-8FF8-5370184D3722}" type="slidenum">
              <a:rPr lang="en-US"/>
              <a:pPr/>
              <a:t>101</a:t>
            </a:fld>
            <a:endParaRPr lang="en-US" dirty="0"/>
          </a:p>
        </p:txBody>
      </p:sp>
      <p:sp>
        <p:nvSpPr>
          <p:cNvPr id="182276" name="Rectangle 4"/>
          <p:cNvSpPr>
            <a:spLocks noChangeArrowheads="1"/>
          </p:cNvSpPr>
          <p:nvPr/>
        </p:nvSpPr>
        <p:spPr bwMode="auto">
          <a:xfrm>
            <a:off x="2286000" y="3581401"/>
            <a:ext cx="6692858" cy="14219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*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Person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(age &lt; 25) 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AND (height &gt; 6 AND weight &gt; 190)</a:t>
            </a:r>
          </a:p>
        </p:txBody>
      </p:sp>
      <p:sp>
        <p:nvSpPr>
          <p:cNvPr id="182277" name="Text Box 5"/>
          <p:cNvSpPr txBox="1">
            <a:spLocks noChangeArrowheads="1"/>
          </p:cNvSpPr>
          <p:nvPr/>
        </p:nvSpPr>
        <p:spPr bwMode="auto">
          <a:xfrm>
            <a:off x="9299538" y="3679890"/>
            <a:ext cx="1975477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Won’t return e.g.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(age=20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height=NULL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weight=200)!</a:t>
            </a:r>
          </a:p>
        </p:txBody>
      </p:sp>
      <p:sp>
        <p:nvSpPr>
          <p:cNvPr id="2" name="Rectangle 1"/>
          <p:cNvSpPr/>
          <p:nvPr/>
        </p:nvSpPr>
        <p:spPr>
          <a:xfrm>
            <a:off x="2544660" y="5708134"/>
            <a:ext cx="6625981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sz="2400" dirty="0">
                <a:latin typeface="+mj-lt"/>
              </a:rPr>
              <a:t>Rule in SQL: include only tuples that yield TRUE (1.0)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5" grpId="0" build="p"/>
      <p:bldP spid="182276" grpId="0" animBg="1"/>
      <p:bldP spid="182277" grpId="0" animBg="1"/>
      <p:bldP spid="2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Null Values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793054"/>
            <a:ext cx="7772400" cy="246380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Unexpected behavior: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2907-1C6D-41FA-AAF1-1B0777B84EE1}" type="slidenum">
              <a:rPr lang="en-US"/>
              <a:pPr/>
              <a:t>102</a:t>
            </a:fld>
            <a:endParaRPr lang="en-US"/>
          </a:p>
        </p:txBody>
      </p:sp>
      <p:sp>
        <p:nvSpPr>
          <p:cNvPr id="183300" name="Rectangle 4"/>
          <p:cNvSpPr>
            <a:spLocks noChangeArrowheads="1"/>
          </p:cNvSpPr>
          <p:nvPr/>
        </p:nvSpPr>
        <p:spPr bwMode="auto">
          <a:xfrm>
            <a:off x="2209800" y="2823189"/>
            <a:ext cx="5391219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*</a:t>
            </a:r>
          </a:p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Person</a:t>
            </a:r>
          </a:p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age &lt; 25 OR age &gt;= 25</a:t>
            </a:r>
          </a:p>
        </p:txBody>
      </p:sp>
      <p:sp>
        <p:nvSpPr>
          <p:cNvPr id="2" name="Rectangle 1"/>
          <p:cNvSpPr/>
          <p:nvPr/>
        </p:nvSpPr>
        <p:spPr>
          <a:xfrm>
            <a:off x="2822434" y="4591988"/>
            <a:ext cx="4165949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sz="2400" dirty="0">
                <a:latin typeface="+mj-lt"/>
              </a:rPr>
              <a:t>Some Persons are not included 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9" grpId="0" build="p"/>
      <p:bldP spid="183300" grpId="0" animBg="1"/>
      <p:bldP spid="2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Null Values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793054"/>
            <a:ext cx="8229600" cy="257574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Can test for NULL explicitly: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x IS NULL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x IS NOT NULL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dirty="0"/>
          </a:p>
          <a:p>
            <a:pPr>
              <a:lnSpc>
                <a:spcPct val="90000"/>
              </a:lnSpc>
              <a:buFontTx/>
              <a:buNone/>
            </a:pPr>
            <a:endParaRPr lang="en-US" dirty="0"/>
          </a:p>
          <a:p>
            <a:pPr>
              <a:lnSpc>
                <a:spcPct val="90000"/>
              </a:lnSpc>
              <a:buFontTx/>
              <a:buNone/>
            </a:pPr>
            <a:endParaRPr lang="en-US" dirty="0"/>
          </a:p>
          <a:p>
            <a:pPr>
              <a:lnSpc>
                <a:spcPct val="90000"/>
              </a:lnSpc>
              <a:buFontTx/>
              <a:buNone/>
            </a:pPr>
            <a:endParaRPr lang="en-US" dirty="0"/>
          </a:p>
          <a:p>
            <a:pPr>
              <a:lnSpc>
                <a:spcPct val="90000"/>
              </a:lnSpc>
              <a:buFontTx/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9F5DF-F5ED-4687-AAE7-F03980B72BA6}" type="slidenum">
              <a:rPr lang="en-US"/>
              <a:pPr/>
              <a:t>103</a:t>
            </a:fld>
            <a:endParaRPr lang="en-US"/>
          </a:p>
        </p:txBody>
      </p:sp>
      <p:sp>
        <p:nvSpPr>
          <p:cNvPr id="184324" name="Rectangle 4"/>
          <p:cNvSpPr>
            <a:spLocks noChangeArrowheads="1"/>
          </p:cNvSpPr>
          <p:nvPr/>
        </p:nvSpPr>
        <p:spPr bwMode="auto">
          <a:xfrm>
            <a:off x="2133600" y="3505201"/>
            <a:ext cx="5577168" cy="14219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*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Person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age &lt; 25 OR age &gt;= 25 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OR age </a:t>
            </a:r>
            <a:r>
              <a:rPr lang="en-US" sz="2400" dirty="0">
                <a:solidFill>
                  <a:srgbClr val="FF5050"/>
                </a:solidFill>
                <a:latin typeface="Menlo" charset="0"/>
                <a:ea typeface="Menlo" charset="0"/>
                <a:cs typeface="Menlo" charset="0"/>
              </a:rPr>
              <a:t>IS NULL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43043" y="5656215"/>
            <a:ext cx="3558282" cy="4247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latin typeface="+mj-lt"/>
              </a:rPr>
              <a:t>Now it includes all Persons!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3" grpId="0" build="p"/>
      <p:bldP spid="184324" grpId="0" animBg="1"/>
      <p:bldP spid="2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Inner Joins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66876"/>
            <a:ext cx="8686800" cy="4114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By</a:t>
            </a:r>
            <a:r>
              <a:rPr lang="en-US" sz="2400" i="1" dirty="0"/>
              <a:t> </a:t>
            </a:r>
            <a:r>
              <a:rPr lang="en-US" sz="2400" dirty="0"/>
              <a:t>default, joins in SQL are </a:t>
            </a:r>
            <a:r>
              <a:rPr lang="en-US" sz="2400" b="1" dirty="0"/>
              <a:t>“inner joins”: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chemeClr val="accent2"/>
                </a:solidFill>
              </a:rPr>
              <a:t>	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chemeClr val="accent2"/>
                </a:solidFill>
              </a:rPr>
              <a:t>     </a:t>
            </a:r>
            <a:endParaRPr lang="en-US" sz="240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0800-3CE4-4806-8E29-034BECC3698A}" type="slidenum">
              <a:rPr lang="en-US"/>
              <a:pPr/>
              <a:t>104</a:t>
            </a:fld>
            <a:endParaRPr lang="en-US"/>
          </a:p>
        </p:txBody>
      </p:sp>
      <p:sp>
        <p:nvSpPr>
          <p:cNvPr id="237572" name="Rectangle 4"/>
          <p:cNvSpPr>
            <a:spLocks noChangeArrowheads="1"/>
          </p:cNvSpPr>
          <p:nvPr/>
        </p:nvSpPr>
        <p:spPr bwMode="auto">
          <a:xfrm>
            <a:off x="838200" y="3166591"/>
            <a:ext cx="8032968" cy="104644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Product.name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Purchase.store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Product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JOIN 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Purchase </a:t>
            </a:r>
            <a:r>
              <a:rPr lang="en-US" sz="20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ON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Product.name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Purchase.prodName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237573" name="Rectangle 5"/>
          <p:cNvSpPr>
            <a:spLocks noChangeArrowheads="1"/>
          </p:cNvSpPr>
          <p:nvPr/>
        </p:nvSpPr>
        <p:spPr bwMode="auto">
          <a:xfrm>
            <a:off x="838200" y="4539602"/>
            <a:ext cx="6186309" cy="104644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Product.name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Purchase.store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Product, Purchase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Product.name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Purchase.prodName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8200" y="2245855"/>
            <a:ext cx="407329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Product(name, category)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Purchase(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prodName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store)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3" name="Right Brace 2"/>
          <p:cNvSpPr/>
          <p:nvPr/>
        </p:nvSpPr>
        <p:spPr>
          <a:xfrm>
            <a:off x="9156700" y="3049350"/>
            <a:ext cx="368300" cy="273232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726791" y="4237484"/>
            <a:ext cx="1943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Both equivalent:</a:t>
            </a:r>
          </a:p>
          <a:p>
            <a:r>
              <a:rPr lang="en-US" dirty="0">
                <a:latin typeface="+mj-lt"/>
              </a:rPr>
              <a:t>Both INNER JOINS!</a:t>
            </a:r>
          </a:p>
        </p:txBody>
      </p:sp>
    </p:spTree>
    <p:extLst>
      <p:ext uri="{BB962C8B-B14F-4D97-AF65-F5344CB8AC3E}">
        <p14:creationId xmlns:p14="http://schemas.microsoft.com/office/powerpoint/2010/main" val="45020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2" grpId="0" animBg="1"/>
      <p:bldP spid="237573" grpId="0" animBg="1"/>
      <p:bldP spid="2" grpId="0" animBg="1"/>
      <p:bldP spid="3" grpId="0" animBg="1"/>
      <p:bldP spid="4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Joins + NULLS = Lost data?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66876"/>
            <a:ext cx="8686800" cy="4114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By</a:t>
            </a:r>
            <a:r>
              <a:rPr lang="en-US" sz="2400" i="1" dirty="0"/>
              <a:t> </a:t>
            </a:r>
            <a:r>
              <a:rPr lang="en-US" sz="2400" dirty="0"/>
              <a:t>default, joins in SQL are </a:t>
            </a:r>
            <a:r>
              <a:rPr lang="en-US" sz="2400" b="1" dirty="0"/>
              <a:t>“inner joins”: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chemeClr val="accent2"/>
                </a:solidFill>
              </a:rPr>
              <a:t>	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chemeClr val="accent2"/>
                </a:solidFill>
              </a:rPr>
              <a:t>     </a:t>
            </a:r>
            <a:endParaRPr lang="en-US" sz="240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0800-3CE4-4806-8E29-034BECC3698A}" type="slidenum">
              <a:rPr lang="en-US"/>
              <a:pPr/>
              <a:t>105</a:t>
            </a:fld>
            <a:endParaRPr lang="en-US"/>
          </a:p>
        </p:txBody>
      </p:sp>
      <p:sp>
        <p:nvSpPr>
          <p:cNvPr id="237575" name="Rectangle 7"/>
          <p:cNvSpPr>
            <a:spLocks noChangeArrowheads="1"/>
          </p:cNvSpPr>
          <p:nvPr/>
        </p:nvSpPr>
        <p:spPr bwMode="auto">
          <a:xfrm>
            <a:off x="1527794" y="5910103"/>
            <a:ext cx="9024225" cy="430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latin typeface="+mj-lt"/>
              </a:rPr>
              <a:t>However: Products that never sold (with no Purchase tuple) will be lost!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838200" y="3166591"/>
            <a:ext cx="8032968" cy="104644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Product.name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Purchase.store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Product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JOIN 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Purchase </a:t>
            </a:r>
            <a:r>
              <a:rPr lang="en-US" sz="20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ON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Product.name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Purchase.prodName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838200" y="4539602"/>
            <a:ext cx="6186309" cy="104644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Product.name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Purchase.store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Product, Purchase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Product.name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Purchase.prodName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38200" y="2245855"/>
            <a:ext cx="407329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Product(name, category)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Purchase(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prodName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store)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794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7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7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5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Outer Joins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8800"/>
            <a:ext cx="9601200" cy="4114800"/>
          </a:xfrm>
        </p:spPr>
        <p:txBody>
          <a:bodyPr/>
          <a:lstStyle/>
          <a:p>
            <a:r>
              <a:rPr lang="en-US" sz="2400" dirty="0"/>
              <a:t>An </a:t>
            </a:r>
            <a:r>
              <a:rPr lang="en-US" sz="2400" b="1" dirty="0"/>
              <a:t>outer join</a:t>
            </a:r>
            <a:r>
              <a:rPr lang="en-US" sz="2400" dirty="0"/>
              <a:t> returns tuples from the joined relations that don’t have a corresponding tuple in the other relations</a:t>
            </a:r>
          </a:p>
          <a:p>
            <a:pPr lvl="1"/>
            <a:r>
              <a:rPr lang="en-US" sz="2000" dirty="0"/>
              <a:t>I.e. If we join relations A and B on </a:t>
            </a:r>
            <a:r>
              <a:rPr lang="en-US" sz="2000" dirty="0" err="1"/>
              <a:t>a.X</a:t>
            </a:r>
            <a:r>
              <a:rPr lang="en-US" sz="2000" dirty="0"/>
              <a:t> = </a:t>
            </a:r>
            <a:r>
              <a:rPr lang="en-US" sz="2000" dirty="0" err="1"/>
              <a:t>b.X</a:t>
            </a:r>
            <a:r>
              <a:rPr lang="en-US" sz="2000" dirty="0"/>
              <a:t>, and there is an entry in A with X=5, but none in B with X=5…</a:t>
            </a:r>
          </a:p>
          <a:p>
            <a:pPr lvl="2"/>
            <a:r>
              <a:rPr lang="en-US" sz="1600" dirty="0"/>
              <a:t>A LEFT OUTER JOIN will return a tuple (a, NULL)!</a:t>
            </a:r>
          </a:p>
          <a:p>
            <a:endParaRPr lang="en-US" sz="2400" dirty="0"/>
          </a:p>
          <a:p>
            <a:r>
              <a:rPr lang="en-US" sz="2400" dirty="0"/>
              <a:t>Left outer joins in SQL:</a:t>
            </a:r>
            <a:r>
              <a:rPr lang="en-US" sz="2400" dirty="0">
                <a:solidFill>
                  <a:schemeClr val="accent2"/>
                </a:solidFill>
              </a:rPr>
              <a:t>	</a:t>
            </a:r>
            <a:endParaRPr lang="en-US" sz="2400" dirty="0"/>
          </a:p>
          <a:p>
            <a:pPr>
              <a:buFontTx/>
              <a:buNone/>
            </a:pP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94F4A-C74E-4167-A38B-CC16B6F5BB20}" type="slidenum">
              <a:rPr lang="en-US"/>
              <a:pPr/>
              <a:t>106</a:t>
            </a:fld>
            <a:endParaRPr 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4851400" y="4072483"/>
            <a:ext cx="6032421" cy="138499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Product.name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Purchase.store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Product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LEFT OUTER JOIN 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Purchase </a:t>
            </a:r>
            <a:r>
              <a:rPr lang="en-US" sz="20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ON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Product.name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Purchase.prodName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3210017" y="5937609"/>
            <a:ext cx="5771965" cy="4247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latin typeface="+mj-lt"/>
              </a:rPr>
              <a:t>Now we’ll get products even if they didn’t sell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4C77FB7-D433-7754-991B-3887347C7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4928" y="597040"/>
            <a:ext cx="6792244" cy="4247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latin typeface="+mj-lt"/>
              </a:rPr>
              <a:t>https://</a:t>
            </a:r>
            <a:r>
              <a:rPr lang="en-US" sz="2400" dirty="0" err="1">
                <a:latin typeface="+mj-lt"/>
              </a:rPr>
              <a:t>teachingow.github.io</a:t>
            </a:r>
            <a:r>
              <a:rPr lang="en-US" sz="2400" dirty="0">
                <a:latin typeface="+mj-lt"/>
              </a:rPr>
              <a:t>/DBMS-SQL-Labs/Lab2_4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5" grpId="0" build="p"/>
      <p:bldP spid="10" grpId="0" animBg="1"/>
      <p:bldP spid="11" grpId="0" animBg="1"/>
      <p:bldP spid="4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58687"/>
            <a:ext cx="8229600" cy="1143000"/>
          </a:xfrm>
        </p:spPr>
        <p:txBody>
          <a:bodyPr/>
          <a:lstStyle/>
          <a:p>
            <a:r>
              <a:rPr lang="en-US" dirty="0"/>
              <a:t>INNER JOIN:</a:t>
            </a:r>
          </a:p>
        </p:txBody>
      </p:sp>
      <p:sp>
        <p:nvSpPr>
          <p:cNvPr id="5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37351-EFAE-48B2-8CF8-756A43F9162D}" type="slidenum">
              <a:rPr lang="en-US"/>
              <a:pPr/>
              <a:t>107</a:t>
            </a:fld>
            <a:endParaRPr lang="en-US"/>
          </a:p>
        </p:txBody>
      </p:sp>
      <p:graphicFrame>
        <p:nvGraphicFramePr>
          <p:cNvPr id="239618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776922"/>
              </p:ext>
            </p:extLst>
          </p:nvPr>
        </p:nvGraphicFramePr>
        <p:xfrm>
          <a:off x="1981200" y="1828800"/>
          <a:ext cx="3048000" cy="2032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name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category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Photo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OneClick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Photo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9635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66125"/>
              </p:ext>
            </p:extLst>
          </p:nvPr>
        </p:nvGraphicFramePr>
        <p:xfrm>
          <a:off x="6553200" y="1828800"/>
          <a:ext cx="3048000" cy="2032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prodName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store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Wiz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Ritz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Wiz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9652" name="Group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293347"/>
              </p:ext>
            </p:extLst>
          </p:nvPr>
        </p:nvGraphicFramePr>
        <p:xfrm>
          <a:off x="7620000" y="4181475"/>
          <a:ext cx="3048000" cy="2032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name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store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Wiz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Ritz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Wiz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9672" name="Rectangle 56"/>
          <p:cNvSpPr>
            <a:spLocks noChangeArrowheads="1"/>
          </p:cNvSpPr>
          <p:nvPr/>
        </p:nvSpPr>
        <p:spPr bwMode="auto">
          <a:xfrm>
            <a:off x="1981201" y="1295401"/>
            <a:ext cx="11639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accent2"/>
                </a:solidFill>
              </a:rPr>
              <a:t>Product</a:t>
            </a:r>
          </a:p>
        </p:txBody>
      </p:sp>
      <p:sp>
        <p:nvSpPr>
          <p:cNvPr id="239673" name="Rectangle 57"/>
          <p:cNvSpPr>
            <a:spLocks noChangeArrowheads="1"/>
          </p:cNvSpPr>
          <p:nvPr/>
        </p:nvSpPr>
        <p:spPr bwMode="auto">
          <a:xfrm>
            <a:off x="6553200" y="1295401"/>
            <a:ext cx="13217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accent2"/>
                </a:solidFill>
              </a:rPr>
              <a:t>Purchase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564060" y="4478277"/>
            <a:ext cx="5989140" cy="12557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Product.name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Purchase.store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Product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INNER JOIN 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Purchase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	ON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Product.name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Purchase.prodName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4060" y="5929458"/>
            <a:ext cx="4122240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/>
              <a:t>Note: another equivalent way to write an INNER JOIN!</a:t>
            </a:r>
          </a:p>
        </p:txBody>
      </p:sp>
      <p:sp>
        <p:nvSpPr>
          <p:cNvPr id="3" name="Right Arrow 2"/>
          <p:cNvSpPr/>
          <p:nvPr/>
        </p:nvSpPr>
        <p:spPr>
          <a:xfrm>
            <a:off x="6807200" y="5051912"/>
            <a:ext cx="584200" cy="27940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 animBg="1"/>
      <p:bldP spid="3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58687"/>
            <a:ext cx="8229600" cy="1143000"/>
          </a:xfrm>
        </p:spPr>
        <p:txBody>
          <a:bodyPr/>
          <a:lstStyle/>
          <a:p>
            <a:r>
              <a:rPr lang="en-US" dirty="0"/>
              <a:t>LEFT OUTER JOIN:</a:t>
            </a:r>
          </a:p>
        </p:txBody>
      </p:sp>
      <p:sp>
        <p:nvSpPr>
          <p:cNvPr id="5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37351-EFAE-48B2-8CF8-756A43F9162D}" type="slidenum">
              <a:rPr lang="en-US"/>
              <a:pPr/>
              <a:t>108</a:t>
            </a:fld>
            <a:endParaRPr lang="en-US"/>
          </a:p>
        </p:txBody>
      </p:sp>
      <p:graphicFrame>
        <p:nvGraphicFramePr>
          <p:cNvPr id="239618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625826"/>
              </p:ext>
            </p:extLst>
          </p:nvPr>
        </p:nvGraphicFramePr>
        <p:xfrm>
          <a:off x="1981200" y="1828800"/>
          <a:ext cx="3048000" cy="2032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name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category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Photo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OneClick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Photo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9635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668794"/>
              </p:ext>
            </p:extLst>
          </p:nvPr>
        </p:nvGraphicFramePr>
        <p:xfrm>
          <a:off x="6553200" y="1828800"/>
          <a:ext cx="3048000" cy="2032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prodName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store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Wiz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Ritz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Wiz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9652" name="Group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57850"/>
              </p:ext>
            </p:extLst>
          </p:nvPr>
        </p:nvGraphicFramePr>
        <p:xfrm>
          <a:off x="7620000" y="4181475"/>
          <a:ext cx="3048000" cy="2540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name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store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Wiz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Ritz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Wiz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OneClick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5050"/>
                          </a:solidFill>
                          <a:effectLst/>
                          <a:latin typeface="Times New Roman" charset="0"/>
                        </a:rPr>
                        <a:t>NULL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9672" name="Rectangle 56"/>
          <p:cNvSpPr>
            <a:spLocks noChangeArrowheads="1"/>
          </p:cNvSpPr>
          <p:nvPr/>
        </p:nvSpPr>
        <p:spPr bwMode="auto">
          <a:xfrm>
            <a:off x="1981201" y="1295401"/>
            <a:ext cx="11639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accent2"/>
                </a:solidFill>
              </a:rPr>
              <a:t>Product</a:t>
            </a:r>
          </a:p>
        </p:txBody>
      </p:sp>
      <p:sp>
        <p:nvSpPr>
          <p:cNvPr id="239673" name="Rectangle 57"/>
          <p:cNvSpPr>
            <a:spLocks noChangeArrowheads="1"/>
          </p:cNvSpPr>
          <p:nvPr/>
        </p:nvSpPr>
        <p:spPr bwMode="auto">
          <a:xfrm>
            <a:off x="6553200" y="1295401"/>
            <a:ext cx="13217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accent2"/>
                </a:solidFill>
              </a:rPr>
              <a:t>Purchase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564060" y="4798977"/>
            <a:ext cx="5989140" cy="12557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Product.name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Purchase.store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Product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LEFT OUTER JOIN 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Purchase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	ON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Product.name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Purchase.prodName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6807200" y="5321300"/>
            <a:ext cx="584200" cy="27940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68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Outer Joins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Left outer join: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Include the left tuple even if there’s no match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Right outer join: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Include the right tuple even if there’s no match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Full outer join: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Include the both left and right tuples even if there’s no match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03A44-8036-4F30-B425-DDD86CBC5C88}" type="slidenum">
              <a:rPr lang="en-US"/>
              <a:pPr/>
              <a:t>109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1" grpId="0" build="p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1724E-0D9F-51D8-77FB-049AEBCD5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303E3-6A4F-69DD-E7AE-4D03839C2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109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Unintuitive Query</a:t>
            </a: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70F99-EC99-4BD2-8CAB-F39AB38ADAE8}" type="slidenum">
              <a:rPr lang="en-US"/>
              <a:pPr/>
              <a:t>111</a:t>
            </a:fld>
            <a:endParaRPr lang="en-US"/>
          </a:p>
        </p:txBody>
      </p:sp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3606432" y="1935869"/>
            <a:ext cx="4833374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DISTINCT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R.A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R, S, T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R.A=S.A OR R.A=T.A</a:t>
            </a:r>
          </a:p>
        </p:txBody>
      </p:sp>
      <p:sp>
        <p:nvSpPr>
          <p:cNvPr id="124938" name="Rectangle 10"/>
          <p:cNvSpPr>
            <a:spLocks noChangeArrowheads="1"/>
          </p:cNvSpPr>
          <p:nvPr/>
        </p:nvSpPr>
        <p:spPr bwMode="auto">
          <a:xfrm>
            <a:off x="4437063" y="3655425"/>
            <a:ext cx="31721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What does </a:t>
            </a:r>
            <a:r>
              <a:rPr lang="en-US" sz="2400">
                <a:latin typeface="+mj-lt"/>
              </a:rPr>
              <a:t>it compute?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72055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8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Unintuitive Query</a:t>
            </a: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70F99-EC99-4BD2-8CAB-F39AB38ADAE8}" type="slidenum">
              <a:rPr lang="en-US"/>
              <a:pPr/>
              <a:t>112</a:t>
            </a:fld>
            <a:endParaRPr lang="en-US"/>
          </a:p>
        </p:txBody>
      </p:sp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3606432" y="1935869"/>
            <a:ext cx="4833374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DISTINCT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R.A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R, S, T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R.A=S.A OR R.A=T.A</a:t>
            </a:r>
          </a:p>
        </p:txBody>
      </p:sp>
      <p:sp>
        <p:nvSpPr>
          <p:cNvPr id="124935" name="Rectangle 7"/>
          <p:cNvSpPr>
            <a:spLocks noChangeArrowheads="1"/>
          </p:cNvSpPr>
          <p:nvPr/>
        </p:nvSpPr>
        <p:spPr bwMode="auto">
          <a:xfrm>
            <a:off x="1841362" y="5517826"/>
            <a:ext cx="302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/>
              <a:t>Computes R </a:t>
            </a:r>
            <a:r>
              <a:rPr lang="en-US" sz="2400" dirty="0">
                <a:latin typeface="Symbol" charset="2"/>
              </a:rPr>
              <a:t>Ç</a:t>
            </a:r>
            <a:r>
              <a:rPr lang="en-US" sz="2400" dirty="0"/>
              <a:t> (S </a:t>
            </a:r>
            <a:r>
              <a:rPr lang="en-US" sz="2400" dirty="0">
                <a:latin typeface="Symbol" charset="2"/>
              </a:rPr>
              <a:t>È</a:t>
            </a:r>
            <a:r>
              <a:rPr lang="en-US" sz="2400" dirty="0"/>
              <a:t> T)</a:t>
            </a:r>
          </a:p>
        </p:txBody>
      </p:sp>
      <p:sp>
        <p:nvSpPr>
          <p:cNvPr id="124936" name="Rectangle 8"/>
          <p:cNvSpPr>
            <a:spLocks noChangeArrowheads="1"/>
          </p:cNvSpPr>
          <p:nvPr/>
        </p:nvSpPr>
        <p:spPr bwMode="auto">
          <a:xfrm>
            <a:off x="7629402" y="4729648"/>
            <a:ext cx="235924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2400" dirty="0"/>
              <a:t>But what if S = </a:t>
            </a:r>
            <a:r>
              <a:rPr lang="en-US" sz="2400" dirty="0">
                <a:latin typeface="Symbol" charset="2"/>
              </a:rPr>
              <a:t>f</a:t>
            </a:r>
            <a:r>
              <a:rPr lang="en-US" sz="2400" dirty="0"/>
              <a:t>?</a:t>
            </a:r>
          </a:p>
        </p:txBody>
      </p:sp>
      <p:sp>
        <p:nvSpPr>
          <p:cNvPr id="14" name="Oval 13"/>
          <p:cNvSpPr/>
          <p:nvPr/>
        </p:nvSpPr>
        <p:spPr>
          <a:xfrm>
            <a:off x="4870312" y="3636168"/>
            <a:ext cx="1381688" cy="1381688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endParaRPr lang="en-US" baseline="-25000" dirty="0"/>
          </a:p>
        </p:txBody>
      </p:sp>
      <p:sp>
        <p:nvSpPr>
          <p:cNvPr id="15" name="Oval 14"/>
          <p:cNvSpPr/>
          <p:nvPr/>
        </p:nvSpPr>
        <p:spPr>
          <a:xfrm>
            <a:off x="5794238" y="3636168"/>
            <a:ext cx="1381688" cy="1381688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endParaRPr lang="en-US" baseline="-25000" dirty="0"/>
          </a:p>
        </p:txBody>
      </p:sp>
      <p:sp>
        <p:nvSpPr>
          <p:cNvPr id="17" name="Oval 16"/>
          <p:cNvSpPr/>
          <p:nvPr/>
        </p:nvSpPr>
        <p:spPr>
          <a:xfrm>
            <a:off x="5332275" y="4382617"/>
            <a:ext cx="1381688" cy="1381688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  <a:endParaRPr lang="en-US" baseline="-25000" dirty="0"/>
          </a:p>
        </p:txBody>
      </p:sp>
      <p:cxnSp>
        <p:nvCxnSpPr>
          <p:cNvPr id="4" name="Straight Arrow Connector 3"/>
          <p:cNvCxnSpPr>
            <a:stCxn id="124935" idx="0"/>
          </p:cNvCxnSpPr>
          <p:nvPr/>
        </p:nvCxnSpPr>
        <p:spPr>
          <a:xfrm flipV="1">
            <a:off x="3355837" y="5017856"/>
            <a:ext cx="1967951" cy="4999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29402" y="5517826"/>
            <a:ext cx="2858668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+mj-lt"/>
              </a:rPr>
              <a:t>Go back to the semantics!</a:t>
            </a:r>
          </a:p>
        </p:txBody>
      </p:sp>
      <p:sp>
        <p:nvSpPr>
          <p:cNvPr id="3" name="Freeform 2"/>
          <p:cNvSpPr/>
          <p:nvPr/>
        </p:nvSpPr>
        <p:spPr>
          <a:xfrm>
            <a:off x="5333847" y="4385342"/>
            <a:ext cx="1373561" cy="637476"/>
          </a:xfrm>
          <a:custGeom>
            <a:avLst/>
            <a:gdLst>
              <a:gd name="connsiteX0" fmla="*/ 3008 w 1373561"/>
              <a:gd name="connsiteY0" fmla="*/ 589795 h 637476"/>
              <a:gd name="connsiteX1" fmla="*/ 230955 w 1373561"/>
              <a:gd name="connsiteY1" fmla="*/ 166456 h 637476"/>
              <a:gd name="connsiteX2" fmla="*/ 719413 w 1373561"/>
              <a:gd name="connsiteY2" fmla="*/ 15 h 637476"/>
              <a:gd name="connsiteX3" fmla="*/ 1146361 w 1373561"/>
              <a:gd name="connsiteY3" fmla="*/ 173692 h 637476"/>
              <a:gd name="connsiteX4" fmla="*/ 1367072 w 1373561"/>
              <a:gd name="connsiteY4" fmla="*/ 535521 h 637476"/>
              <a:gd name="connsiteX5" fmla="*/ 1294708 w 1373561"/>
              <a:gd name="connsiteY5" fmla="*/ 611505 h 637476"/>
              <a:gd name="connsiteX6" fmla="*/ 1088470 w 1373561"/>
              <a:gd name="connsiteY6" fmla="*/ 636833 h 637476"/>
              <a:gd name="connsiteX7" fmla="*/ 932887 w 1373561"/>
              <a:gd name="connsiteY7" fmla="*/ 589795 h 637476"/>
              <a:gd name="connsiteX8" fmla="*/ 726649 w 1373561"/>
              <a:gd name="connsiteY8" fmla="*/ 484865 h 637476"/>
              <a:gd name="connsiteX9" fmla="*/ 690467 w 1373561"/>
              <a:gd name="connsiteY9" fmla="*/ 445064 h 637476"/>
              <a:gd name="connsiteX10" fmla="*/ 679613 w 1373561"/>
              <a:gd name="connsiteY10" fmla="*/ 445064 h 637476"/>
              <a:gd name="connsiteX11" fmla="*/ 661522 w 1373561"/>
              <a:gd name="connsiteY11" fmla="*/ 463155 h 637476"/>
              <a:gd name="connsiteX12" fmla="*/ 520412 w 1373561"/>
              <a:gd name="connsiteY12" fmla="*/ 564467 h 637476"/>
              <a:gd name="connsiteX13" fmla="*/ 317792 w 1373561"/>
              <a:gd name="connsiteY13" fmla="*/ 622359 h 637476"/>
              <a:gd name="connsiteX14" fmla="*/ 115172 w 1373561"/>
              <a:gd name="connsiteY14" fmla="*/ 622359 h 637476"/>
              <a:gd name="connsiteX15" fmla="*/ 3008 w 1373561"/>
              <a:gd name="connsiteY15" fmla="*/ 589795 h 637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373561" h="637476">
                <a:moveTo>
                  <a:pt x="3008" y="589795"/>
                </a:moveTo>
                <a:cubicBezTo>
                  <a:pt x="22305" y="513811"/>
                  <a:pt x="111554" y="264753"/>
                  <a:pt x="230955" y="166456"/>
                </a:cubicBezTo>
                <a:cubicBezTo>
                  <a:pt x="350356" y="68159"/>
                  <a:pt x="566845" y="-1191"/>
                  <a:pt x="719413" y="15"/>
                </a:cubicBezTo>
                <a:cubicBezTo>
                  <a:pt x="871981" y="1221"/>
                  <a:pt x="1038418" y="84441"/>
                  <a:pt x="1146361" y="173692"/>
                </a:cubicBezTo>
                <a:cubicBezTo>
                  <a:pt x="1254304" y="262943"/>
                  <a:pt x="1342348" y="462552"/>
                  <a:pt x="1367072" y="535521"/>
                </a:cubicBezTo>
                <a:cubicBezTo>
                  <a:pt x="1391797" y="608490"/>
                  <a:pt x="1341142" y="594620"/>
                  <a:pt x="1294708" y="611505"/>
                </a:cubicBezTo>
                <a:cubicBezTo>
                  <a:pt x="1248274" y="628390"/>
                  <a:pt x="1148773" y="640451"/>
                  <a:pt x="1088470" y="636833"/>
                </a:cubicBezTo>
                <a:cubicBezTo>
                  <a:pt x="1028167" y="633215"/>
                  <a:pt x="993190" y="615123"/>
                  <a:pt x="932887" y="589795"/>
                </a:cubicBezTo>
                <a:cubicBezTo>
                  <a:pt x="872584" y="564467"/>
                  <a:pt x="767052" y="508987"/>
                  <a:pt x="726649" y="484865"/>
                </a:cubicBezTo>
                <a:cubicBezTo>
                  <a:pt x="686246" y="460743"/>
                  <a:pt x="698306" y="451697"/>
                  <a:pt x="690467" y="445064"/>
                </a:cubicBezTo>
                <a:cubicBezTo>
                  <a:pt x="682628" y="438431"/>
                  <a:pt x="684437" y="442049"/>
                  <a:pt x="679613" y="445064"/>
                </a:cubicBezTo>
                <a:cubicBezTo>
                  <a:pt x="674789" y="448079"/>
                  <a:pt x="688056" y="443254"/>
                  <a:pt x="661522" y="463155"/>
                </a:cubicBezTo>
                <a:cubicBezTo>
                  <a:pt x="634989" y="483055"/>
                  <a:pt x="577700" y="537933"/>
                  <a:pt x="520412" y="564467"/>
                </a:cubicBezTo>
                <a:cubicBezTo>
                  <a:pt x="463124" y="591001"/>
                  <a:pt x="385332" y="612710"/>
                  <a:pt x="317792" y="622359"/>
                </a:cubicBezTo>
                <a:cubicBezTo>
                  <a:pt x="250252" y="632008"/>
                  <a:pt x="168842" y="627183"/>
                  <a:pt x="115172" y="622359"/>
                </a:cubicBezTo>
                <a:cubicBezTo>
                  <a:pt x="61502" y="617535"/>
                  <a:pt x="-16289" y="665779"/>
                  <a:pt x="3008" y="58979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  <a:alpha val="60000"/>
            </a:schemeClr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391AAC-93C4-0CF3-8BD0-0E74F97CFFC7}"/>
              </a:ext>
            </a:extLst>
          </p:cNvPr>
          <p:cNvSpPr txBox="1"/>
          <p:nvPr/>
        </p:nvSpPr>
        <p:spPr>
          <a:xfrm>
            <a:off x="3248526" y="301063"/>
            <a:ext cx="6311280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dirty="0"/>
              <a:t>https://</a:t>
            </a:r>
            <a:r>
              <a:rPr lang="en-US" sz="2000" dirty="0" err="1"/>
              <a:t>teachingow.github.io</a:t>
            </a:r>
            <a:r>
              <a:rPr lang="en-US" sz="2000" dirty="0"/>
              <a:t>/DBMS-SQL-Labs/</a:t>
            </a:r>
            <a:r>
              <a:rPr lang="en-US" sz="2000" dirty="0" err="1"/>
              <a:t>inclass</a:t>
            </a:r>
            <a:r>
              <a:rPr lang="en-US" sz="2000" dirty="0"/>
              <a:t>/Lab2</a:t>
            </a:r>
          </a:p>
        </p:txBody>
      </p:sp>
    </p:spTree>
    <p:extLst>
      <p:ext uri="{BB962C8B-B14F-4D97-AF65-F5344CB8AC3E}">
        <p14:creationId xmlns:p14="http://schemas.microsoft.com/office/powerpoint/2010/main" val="439329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6" grpId="0" animBg="1"/>
      <p:bldP spid="19" grpId="0" animBg="1"/>
      <p:bldP spid="8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Unintuitive Query</a:t>
            </a: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70F99-EC99-4BD2-8CAB-F39AB38ADAE8}" type="slidenum">
              <a:rPr lang="en-US"/>
              <a:pPr/>
              <a:t>113</a:t>
            </a:fld>
            <a:endParaRPr lang="en-US"/>
          </a:p>
        </p:txBody>
      </p:sp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3606432" y="1935869"/>
            <a:ext cx="4833374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DISTINCT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R.A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R, S, T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R.A=S.A OR R.A=T.A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838200" y="3381379"/>
            <a:ext cx="10782300" cy="2079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Recall the semantics</a:t>
            </a:r>
            <a:r>
              <a:rPr lang="en-US" b="1" dirty="0"/>
              <a:t>!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Take </a:t>
            </a:r>
            <a:r>
              <a:rPr lang="en-US" sz="2000" u="sng" dirty="0"/>
              <a:t>cross-product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Apply </a:t>
            </a:r>
            <a:r>
              <a:rPr lang="en-US" sz="2000" u="sng" dirty="0"/>
              <a:t>selections</a:t>
            </a:r>
            <a:r>
              <a:rPr lang="en-US" sz="2000" dirty="0"/>
              <a:t> / </a:t>
            </a:r>
            <a:r>
              <a:rPr lang="en-US" sz="2000" u="sng" dirty="0"/>
              <a:t>conditions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Apply </a:t>
            </a:r>
            <a:r>
              <a:rPr lang="en-US" sz="2000" u="sng" dirty="0"/>
              <a:t>projection</a:t>
            </a:r>
            <a:endParaRPr lang="en-US" u="sng" dirty="0"/>
          </a:p>
          <a:p>
            <a:r>
              <a:rPr lang="en-US" dirty="0"/>
              <a:t>If S = {}, then the cross product of R, S, T = {}, and the query result = {}!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181779" y="5758715"/>
            <a:ext cx="7682680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Must consider semantics here.  </a:t>
            </a:r>
          </a:p>
          <a:p>
            <a:pPr algn="ctr"/>
            <a:r>
              <a:rPr lang="en-US" sz="2400" dirty="0">
                <a:latin typeface="+mj-lt"/>
              </a:rPr>
              <a:t>Are there more explicit way to do set operations like this?</a:t>
            </a:r>
          </a:p>
        </p:txBody>
      </p:sp>
    </p:spTree>
    <p:extLst>
      <p:ext uri="{BB962C8B-B14F-4D97-AF65-F5344CB8AC3E}">
        <p14:creationId xmlns:p14="http://schemas.microsoft.com/office/powerpoint/2010/main" val="50067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look like in Python?</a:t>
            </a: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70F99-EC99-4BD2-8CAB-F39AB38ADAE8}" type="slidenum">
              <a:rPr lang="en-US"/>
              <a:pPr/>
              <a:t>114</a:t>
            </a:fld>
            <a:endParaRPr lang="en-US"/>
          </a:p>
        </p:txBody>
      </p:sp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760732" y="1883335"/>
            <a:ext cx="4833374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DISTINCT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R.A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R, S, T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R.A=S.A OR R.A=T.A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838200" y="3381379"/>
            <a:ext cx="5408364" cy="31956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Semantics:</a:t>
            </a:r>
            <a:endParaRPr lang="en-US" b="1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Take </a:t>
            </a:r>
            <a:r>
              <a:rPr lang="en-US" u="sng" dirty="0"/>
              <a:t>cross-product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Apply </a:t>
            </a:r>
            <a:r>
              <a:rPr lang="en-US" u="sng" dirty="0"/>
              <a:t>selections</a:t>
            </a:r>
            <a:r>
              <a:rPr lang="en-US" dirty="0"/>
              <a:t> / </a:t>
            </a:r>
            <a:r>
              <a:rPr lang="en-US" u="sng" dirty="0"/>
              <a:t>conditions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Apply </a:t>
            </a:r>
            <a:r>
              <a:rPr lang="en-US" u="sng" dirty="0"/>
              <a:t>projection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023119" y="3608020"/>
            <a:ext cx="5597381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i="1" dirty="0">
                <a:latin typeface="+mj-lt"/>
              </a:rPr>
              <a:t>Joins / cross-products</a:t>
            </a:r>
            <a:r>
              <a:rPr lang="en-US" sz="2400" dirty="0">
                <a:latin typeface="+mj-lt"/>
              </a:rPr>
              <a:t> are just </a:t>
            </a:r>
            <a:r>
              <a:rPr lang="en-US" sz="2400" b="1" dirty="0">
                <a:latin typeface="+mj-lt"/>
              </a:rPr>
              <a:t>nested for loops</a:t>
            </a:r>
            <a:r>
              <a:rPr lang="en-US" sz="2400" dirty="0">
                <a:latin typeface="+mj-lt"/>
              </a:rPr>
              <a:t> (in simplest implementation)!</a:t>
            </a:r>
            <a:endParaRPr lang="en-US" sz="2400" i="1" dirty="0"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23119" y="4982316"/>
            <a:ext cx="2587481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i="1">
                <a:latin typeface="+mj-lt"/>
              </a:rPr>
              <a:t>If-then statements!</a:t>
            </a:r>
            <a:endParaRPr lang="en-US" sz="2400" i="1" dirty="0">
              <a:latin typeface="+mj-lt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7447783" y="1023698"/>
            <a:ext cx="4172717" cy="2128137"/>
            <a:chOff x="3003209" y="3636168"/>
            <a:chExt cx="4172717" cy="2128137"/>
          </a:xfrm>
        </p:grpSpPr>
        <p:sp>
          <p:nvSpPr>
            <p:cNvPr id="15" name="Rectangle 7"/>
            <p:cNvSpPr>
              <a:spLocks noChangeArrowheads="1"/>
            </p:cNvSpPr>
            <p:nvPr/>
          </p:nvSpPr>
          <p:spPr bwMode="auto">
            <a:xfrm>
              <a:off x="3003209" y="5034039"/>
              <a:ext cx="157607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/>
                <a:t>R </a:t>
              </a:r>
              <a:r>
                <a:rPr lang="en-US" sz="2400" dirty="0">
                  <a:latin typeface="Symbol" charset="2"/>
                </a:rPr>
                <a:t>Ç</a:t>
              </a:r>
              <a:r>
                <a:rPr lang="en-US" sz="2400" dirty="0"/>
                <a:t> (S </a:t>
              </a:r>
              <a:r>
                <a:rPr lang="en-US" sz="2400" dirty="0">
                  <a:latin typeface="Symbol" charset="2"/>
                </a:rPr>
                <a:t>È</a:t>
              </a:r>
              <a:r>
                <a:rPr lang="en-US" sz="2400" dirty="0"/>
                <a:t> T)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4870312" y="3636168"/>
              <a:ext cx="1381688" cy="138168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  <a:endParaRPr lang="en-US" baseline="-25000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5794238" y="3636168"/>
              <a:ext cx="1381688" cy="138168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</a:t>
              </a:r>
              <a:endParaRPr lang="en-US" baseline="-25000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5332275" y="4382617"/>
              <a:ext cx="1381688" cy="138168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</a:t>
              </a:r>
              <a:endParaRPr lang="en-US" baseline="-25000" dirty="0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V="1">
              <a:off x="4579281" y="5017856"/>
              <a:ext cx="744507" cy="20619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Freeform 20"/>
            <p:cNvSpPr/>
            <p:nvPr/>
          </p:nvSpPr>
          <p:spPr>
            <a:xfrm>
              <a:off x="5333847" y="4385342"/>
              <a:ext cx="1373561" cy="637476"/>
            </a:xfrm>
            <a:custGeom>
              <a:avLst/>
              <a:gdLst>
                <a:gd name="connsiteX0" fmla="*/ 3008 w 1373561"/>
                <a:gd name="connsiteY0" fmla="*/ 589795 h 637476"/>
                <a:gd name="connsiteX1" fmla="*/ 230955 w 1373561"/>
                <a:gd name="connsiteY1" fmla="*/ 166456 h 637476"/>
                <a:gd name="connsiteX2" fmla="*/ 719413 w 1373561"/>
                <a:gd name="connsiteY2" fmla="*/ 15 h 637476"/>
                <a:gd name="connsiteX3" fmla="*/ 1146361 w 1373561"/>
                <a:gd name="connsiteY3" fmla="*/ 173692 h 637476"/>
                <a:gd name="connsiteX4" fmla="*/ 1367072 w 1373561"/>
                <a:gd name="connsiteY4" fmla="*/ 535521 h 637476"/>
                <a:gd name="connsiteX5" fmla="*/ 1294708 w 1373561"/>
                <a:gd name="connsiteY5" fmla="*/ 611505 h 637476"/>
                <a:gd name="connsiteX6" fmla="*/ 1088470 w 1373561"/>
                <a:gd name="connsiteY6" fmla="*/ 636833 h 637476"/>
                <a:gd name="connsiteX7" fmla="*/ 932887 w 1373561"/>
                <a:gd name="connsiteY7" fmla="*/ 589795 h 637476"/>
                <a:gd name="connsiteX8" fmla="*/ 726649 w 1373561"/>
                <a:gd name="connsiteY8" fmla="*/ 484865 h 637476"/>
                <a:gd name="connsiteX9" fmla="*/ 690467 w 1373561"/>
                <a:gd name="connsiteY9" fmla="*/ 445064 h 637476"/>
                <a:gd name="connsiteX10" fmla="*/ 679613 w 1373561"/>
                <a:gd name="connsiteY10" fmla="*/ 445064 h 637476"/>
                <a:gd name="connsiteX11" fmla="*/ 661522 w 1373561"/>
                <a:gd name="connsiteY11" fmla="*/ 463155 h 637476"/>
                <a:gd name="connsiteX12" fmla="*/ 520412 w 1373561"/>
                <a:gd name="connsiteY12" fmla="*/ 564467 h 637476"/>
                <a:gd name="connsiteX13" fmla="*/ 317792 w 1373561"/>
                <a:gd name="connsiteY13" fmla="*/ 622359 h 637476"/>
                <a:gd name="connsiteX14" fmla="*/ 115172 w 1373561"/>
                <a:gd name="connsiteY14" fmla="*/ 622359 h 637476"/>
                <a:gd name="connsiteX15" fmla="*/ 3008 w 1373561"/>
                <a:gd name="connsiteY15" fmla="*/ 589795 h 637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3561" h="637476">
                  <a:moveTo>
                    <a:pt x="3008" y="589795"/>
                  </a:moveTo>
                  <a:cubicBezTo>
                    <a:pt x="22305" y="513811"/>
                    <a:pt x="111554" y="264753"/>
                    <a:pt x="230955" y="166456"/>
                  </a:cubicBezTo>
                  <a:cubicBezTo>
                    <a:pt x="350356" y="68159"/>
                    <a:pt x="566845" y="-1191"/>
                    <a:pt x="719413" y="15"/>
                  </a:cubicBezTo>
                  <a:cubicBezTo>
                    <a:pt x="871981" y="1221"/>
                    <a:pt x="1038418" y="84441"/>
                    <a:pt x="1146361" y="173692"/>
                  </a:cubicBezTo>
                  <a:cubicBezTo>
                    <a:pt x="1254304" y="262943"/>
                    <a:pt x="1342348" y="462552"/>
                    <a:pt x="1367072" y="535521"/>
                  </a:cubicBezTo>
                  <a:cubicBezTo>
                    <a:pt x="1391797" y="608490"/>
                    <a:pt x="1341142" y="594620"/>
                    <a:pt x="1294708" y="611505"/>
                  </a:cubicBezTo>
                  <a:cubicBezTo>
                    <a:pt x="1248274" y="628390"/>
                    <a:pt x="1148773" y="640451"/>
                    <a:pt x="1088470" y="636833"/>
                  </a:cubicBezTo>
                  <a:cubicBezTo>
                    <a:pt x="1028167" y="633215"/>
                    <a:pt x="993190" y="615123"/>
                    <a:pt x="932887" y="589795"/>
                  </a:cubicBezTo>
                  <a:cubicBezTo>
                    <a:pt x="872584" y="564467"/>
                    <a:pt x="767052" y="508987"/>
                    <a:pt x="726649" y="484865"/>
                  </a:cubicBezTo>
                  <a:cubicBezTo>
                    <a:pt x="686246" y="460743"/>
                    <a:pt x="698306" y="451697"/>
                    <a:pt x="690467" y="445064"/>
                  </a:cubicBezTo>
                  <a:cubicBezTo>
                    <a:pt x="682628" y="438431"/>
                    <a:pt x="684437" y="442049"/>
                    <a:pt x="679613" y="445064"/>
                  </a:cubicBezTo>
                  <a:cubicBezTo>
                    <a:pt x="674789" y="448079"/>
                    <a:pt x="688056" y="443254"/>
                    <a:pt x="661522" y="463155"/>
                  </a:cubicBezTo>
                  <a:cubicBezTo>
                    <a:pt x="634989" y="483055"/>
                    <a:pt x="577700" y="537933"/>
                    <a:pt x="520412" y="564467"/>
                  </a:cubicBezTo>
                  <a:cubicBezTo>
                    <a:pt x="463124" y="591001"/>
                    <a:pt x="385332" y="612710"/>
                    <a:pt x="317792" y="622359"/>
                  </a:cubicBezTo>
                  <a:cubicBezTo>
                    <a:pt x="250252" y="632008"/>
                    <a:pt x="168842" y="627183"/>
                    <a:pt x="115172" y="622359"/>
                  </a:cubicBezTo>
                  <a:cubicBezTo>
                    <a:pt x="61502" y="617535"/>
                    <a:pt x="-16289" y="665779"/>
                    <a:pt x="3008" y="589795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  <a:alpha val="60000"/>
              </a:schemeClr>
            </a:solidFill>
            <a:ln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86055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look like in Python?</a:t>
            </a: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70F99-EC99-4BD2-8CAB-F39AB38ADAE8}" type="slidenum">
              <a:rPr lang="en-US"/>
              <a:pPr/>
              <a:t>115</a:t>
            </a:fld>
            <a:endParaRPr lang="en-US"/>
          </a:p>
        </p:txBody>
      </p:sp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760732" y="1883335"/>
            <a:ext cx="4833374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DISTINCT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R.A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R, S, T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R.A=S.A OR R.A=T.A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447783" y="1023698"/>
            <a:ext cx="4172717" cy="2128137"/>
            <a:chOff x="3003209" y="3636168"/>
            <a:chExt cx="4172717" cy="2128137"/>
          </a:xfrm>
        </p:grpSpPr>
        <p:sp>
          <p:nvSpPr>
            <p:cNvPr id="15" name="Rectangle 7"/>
            <p:cNvSpPr>
              <a:spLocks noChangeArrowheads="1"/>
            </p:cNvSpPr>
            <p:nvPr/>
          </p:nvSpPr>
          <p:spPr bwMode="auto">
            <a:xfrm>
              <a:off x="3003209" y="5034039"/>
              <a:ext cx="157607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/>
                <a:t>R </a:t>
              </a:r>
              <a:r>
                <a:rPr lang="en-US" sz="2400" dirty="0">
                  <a:latin typeface="Symbol" charset="2"/>
                </a:rPr>
                <a:t>Ç</a:t>
              </a:r>
              <a:r>
                <a:rPr lang="en-US" sz="2400" dirty="0"/>
                <a:t> (S </a:t>
              </a:r>
              <a:r>
                <a:rPr lang="en-US" sz="2400" dirty="0">
                  <a:latin typeface="Symbol" charset="2"/>
                </a:rPr>
                <a:t>È</a:t>
              </a:r>
              <a:r>
                <a:rPr lang="en-US" sz="2400" dirty="0"/>
                <a:t> T)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4870312" y="3636168"/>
              <a:ext cx="1381688" cy="138168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  <a:endParaRPr lang="en-US" baseline="-25000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5794238" y="3636168"/>
              <a:ext cx="1381688" cy="138168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</a:t>
              </a:r>
              <a:endParaRPr lang="en-US" baseline="-25000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5332275" y="4382617"/>
              <a:ext cx="1381688" cy="138168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</a:t>
              </a:r>
              <a:endParaRPr lang="en-US" baseline="-25000" dirty="0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V="1">
              <a:off x="4579281" y="5017856"/>
              <a:ext cx="744507" cy="20619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Freeform 20"/>
            <p:cNvSpPr/>
            <p:nvPr/>
          </p:nvSpPr>
          <p:spPr>
            <a:xfrm>
              <a:off x="5333847" y="4385342"/>
              <a:ext cx="1373561" cy="637476"/>
            </a:xfrm>
            <a:custGeom>
              <a:avLst/>
              <a:gdLst>
                <a:gd name="connsiteX0" fmla="*/ 3008 w 1373561"/>
                <a:gd name="connsiteY0" fmla="*/ 589795 h 637476"/>
                <a:gd name="connsiteX1" fmla="*/ 230955 w 1373561"/>
                <a:gd name="connsiteY1" fmla="*/ 166456 h 637476"/>
                <a:gd name="connsiteX2" fmla="*/ 719413 w 1373561"/>
                <a:gd name="connsiteY2" fmla="*/ 15 h 637476"/>
                <a:gd name="connsiteX3" fmla="*/ 1146361 w 1373561"/>
                <a:gd name="connsiteY3" fmla="*/ 173692 h 637476"/>
                <a:gd name="connsiteX4" fmla="*/ 1367072 w 1373561"/>
                <a:gd name="connsiteY4" fmla="*/ 535521 h 637476"/>
                <a:gd name="connsiteX5" fmla="*/ 1294708 w 1373561"/>
                <a:gd name="connsiteY5" fmla="*/ 611505 h 637476"/>
                <a:gd name="connsiteX6" fmla="*/ 1088470 w 1373561"/>
                <a:gd name="connsiteY6" fmla="*/ 636833 h 637476"/>
                <a:gd name="connsiteX7" fmla="*/ 932887 w 1373561"/>
                <a:gd name="connsiteY7" fmla="*/ 589795 h 637476"/>
                <a:gd name="connsiteX8" fmla="*/ 726649 w 1373561"/>
                <a:gd name="connsiteY8" fmla="*/ 484865 h 637476"/>
                <a:gd name="connsiteX9" fmla="*/ 690467 w 1373561"/>
                <a:gd name="connsiteY9" fmla="*/ 445064 h 637476"/>
                <a:gd name="connsiteX10" fmla="*/ 679613 w 1373561"/>
                <a:gd name="connsiteY10" fmla="*/ 445064 h 637476"/>
                <a:gd name="connsiteX11" fmla="*/ 661522 w 1373561"/>
                <a:gd name="connsiteY11" fmla="*/ 463155 h 637476"/>
                <a:gd name="connsiteX12" fmla="*/ 520412 w 1373561"/>
                <a:gd name="connsiteY12" fmla="*/ 564467 h 637476"/>
                <a:gd name="connsiteX13" fmla="*/ 317792 w 1373561"/>
                <a:gd name="connsiteY13" fmla="*/ 622359 h 637476"/>
                <a:gd name="connsiteX14" fmla="*/ 115172 w 1373561"/>
                <a:gd name="connsiteY14" fmla="*/ 622359 h 637476"/>
                <a:gd name="connsiteX15" fmla="*/ 3008 w 1373561"/>
                <a:gd name="connsiteY15" fmla="*/ 589795 h 637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3561" h="637476">
                  <a:moveTo>
                    <a:pt x="3008" y="589795"/>
                  </a:moveTo>
                  <a:cubicBezTo>
                    <a:pt x="22305" y="513811"/>
                    <a:pt x="111554" y="264753"/>
                    <a:pt x="230955" y="166456"/>
                  </a:cubicBezTo>
                  <a:cubicBezTo>
                    <a:pt x="350356" y="68159"/>
                    <a:pt x="566845" y="-1191"/>
                    <a:pt x="719413" y="15"/>
                  </a:cubicBezTo>
                  <a:cubicBezTo>
                    <a:pt x="871981" y="1221"/>
                    <a:pt x="1038418" y="84441"/>
                    <a:pt x="1146361" y="173692"/>
                  </a:cubicBezTo>
                  <a:cubicBezTo>
                    <a:pt x="1254304" y="262943"/>
                    <a:pt x="1342348" y="462552"/>
                    <a:pt x="1367072" y="535521"/>
                  </a:cubicBezTo>
                  <a:cubicBezTo>
                    <a:pt x="1391797" y="608490"/>
                    <a:pt x="1341142" y="594620"/>
                    <a:pt x="1294708" y="611505"/>
                  </a:cubicBezTo>
                  <a:cubicBezTo>
                    <a:pt x="1248274" y="628390"/>
                    <a:pt x="1148773" y="640451"/>
                    <a:pt x="1088470" y="636833"/>
                  </a:cubicBezTo>
                  <a:cubicBezTo>
                    <a:pt x="1028167" y="633215"/>
                    <a:pt x="993190" y="615123"/>
                    <a:pt x="932887" y="589795"/>
                  </a:cubicBezTo>
                  <a:cubicBezTo>
                    <a:pt x="872584" y="564467"/>
                    <a:pt x="767052" y="508987"/>
                    <a:pt x="726649" y="484865"/>
                  </a:cubicBezTo>
                  <a:cubicBezTo>
                    <a:pt x="686246" y="460743"/>
                    <a:pt x="698306" y="451697"/>
                    <a:pt x="690467" y="445064"/>
                  </a:cubicBezTo>
                  <a:cubicBezTo>
                    <a:pt x="682628" y="438431"/>
                    <a:pt x="684437" y="442049"/>
                    <a:pt x="679613" y="445064"/>
                  </a:cubicBezTo>
                  <a:cubicBezTo>
                    <a:pt x="674789" y="448079"/>
                    <a:pt x="688056" y="443254"/>
                    <a:pt x="661522" y="463155"/>
                  </a:cubicBezTo>
                  <a:cubicBezTo>
                    <a:pt x="634989" y="483055"/>
                    <a:pt x="577700" y="537933"/>
                    <a:pt x="520412" y="564467"/>
                  </a:cubicBezTo>
                  <a:cubicBezTo>
                    <a:pt x="463124" y="591001"/>
                    <a:pt x="385332" y="612710"/>
                    <a:pt x="317792" y="622359"/>
                  </a:cubicBezTo>
                  <a:cubicBezTo>
                    <a:pt x="250252" y="632008"/>
                    <a:pt x="168842" y="627183"/>
                    <a:pt x="115172" y="622359"/>
                  </a:cubicBezTo>
                  <a:cubicBezTo>
                    <a:pt x="61502" y="617535"/>
                    <a:pt x="-16289" y="665779"/>
                    <a:pt x="3008" y="589795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  <a:alpha val="60000"/>
              </a:schemeClr>
            </a:solidFill>
            <a:ln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/>
          <p:cNvSpPr/>
          <p:nvPr/>
        </p:nvSpPr>
        <p:spPr>
          <a:xfrm>
            <a:off x="838200" y="3404459"/>
            <a:ext cx="10782300" cy="25545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</a:rPr>
              <a:t>output = {}</a:t>
            </a:r>
          </a:p>
          <a:p>
            <a:endParaRPr lang="en-US" sz="2000" dirty="0">
              <a:solidFill>
                <a:schemeClr val="bg1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</a:rPr>
              <a:t>for r in R:</a:t>
            </a:r>
          </a:p>
          <a:p>
            <a:r>
              <a:rPr lang="en-US" sz="2000" dirty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</a:rPr>
              <a:t>   for s in S:</a:t>
            </a:r>
          </a:p>
          <a:p>
            <a:r>
              <a:rPr lang="en-US" sz="2000" dirty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</a:rPr>
              <a:t>      for t in T:</a:t>
            </a:r>
          </a:p>
          <a:p>
            <a:r>
              <a:rPr lang="en-US" sz="2000" dirty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</a:rPr>
              <a:t>         if r[‘A’] == s[‘A’] or r[‘A’] == t[‘A’]:</a:t>
            </a:r>
          </a:p>
          <a:p>
            <a:r>
              <a:rPr lang="en-US" sz="2000" dirty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</a:rPr>
              <a:t>            </a:t>
            </a:r>
            <a:r>
              <a:rPr lang="en-US" sz="2000" dirty="0" err="1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</a:rPr>
              <a:t>output.add</a:t>
            </a:r>
            <a:r>
              <a:rPr lang="en-US" sz="2000" dirty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</a:rPr>
              <a:t>(r[‘A’])</a:t>
            </a:r>
          </a:p>
          <a:p>
            <a:r>
              <a:rPr lang="en-US" sz="2000" dirty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</a:rPr>
              <a:t>return list(output)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683099" y="6279799"/>
            <a:ext cx="5198218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400" dirty="0"/>
              <a:t>Can you </a:t>
            </a:r>
            <a:r>
              <a:rPr lang="en-US" sz="2400"/>
              <a:t>see now what happens if S = []?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1557" y="6279799"/>
            <a:ext cx="299774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See bonus activity on website!</a:t>
            </a:r>
          </a:p>
        </p:txBody>
      </p:sp>
    </p:spTree>
    <p:extLst>
      <p:ext uri="{BB962C8B-B14F-4D97-AF65-F5344CB8AC3E}">
        <p14:creationId xmlns:p14="http://schemas.microsoft.com/office/powerpoint/2010/main" val="140801641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3191070"/>
            <a:ext cx="8229600" cy="1436915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4700" dirty="0"/>
              <a:t>SQL is a rich programming language that handles the way data is processed </a:t>
            </a:r>
            <a:r>
              <a:rPr lang="en-US" sz="4700" i="1" u="sng" dirty="0"/>
              <a:t>declaratively</a:t>
            </a:r>
            <a:endParaRPr lang="en-US" sz="4700" dirty="0"/>
          </a:p>
          <a:p>
            <a:pPr marL="0" indent="0">
              <a:buNone/>
            </a:pPr>
            <a:endParaRPr lang="en-US" i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9F4F-503A-4A35-BDFA-CB903A9A9F13}" type="slidenum">
              <a:rPr lang="en-US" smtClean="0"/>
              <a:pPr/>
              <a:t>116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114752CFC3094F980FAD7CDAC4FA66" ma:contentTypeVersion="18" ma:contentTypeDescription="Create a new document." ma:contentTypeScope="" ma:versionID="32dfdce3e40c9d5c8163c3e36a9b21ca">
  <xsd:schema xmlns:xsd="http://www.w3.org/2001/XMLSchema" xmlns:xs="http://www.w3.org/2001/XMLSchema" xmlns:p="http://schemas.microsoft.com/office/2006/metadata/properties" xmlns:ns3="eba54558-70c8-458e-84bd-8e3810559bd2" xmlns:ns4="fd28b98c-9d4a-4855-a326-788d407ff55a" targetNamespace="http://schemas.microsoft.com/office/2006/metadata/properties" ma:root="true" ma:fieldsID="c08f2c9dfa94df1fd38324790de5c238" ns3:_="" ns4:_="">
    <xsd:import namespace="eba54558-70c8-458e-84bd-8e3810559bd2"/>
    <xsd:import namespace="fd28b98c-9d4a-4855-a326-788d407ff55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a54558-70c8-458e-84bd-8e3810559b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description="" ma:indexed="true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28b98c-9d4a-4855-a326-788d407ff55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ba54558-70c8-458e-84bd-8e3810559bd2" xsi:nil="true"/>
  </documentManagement>
</p:properties>
</file>

<file path=customXml/itemProps1.xml><?xml version="1.0" encoding="utf-8"?>
<ds:datastoreItem xmlns:ds="http://schemas.openxmlformats.org/officeDocument/2006/customXml" ds:itemID="{0CE113F4-7EC8-47E3-8186-352352C50B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a54558-70c8-458e-84bd-8e3810559bd2"/>
    <ds:schemaRef ds:uri="fd28b98c-9d4a-4855-a326-788d407ff5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1E5F4C-B79E-4FA0-A4DF-4E28D260CE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EBDA6D7-A9F0-4FF2-9CAE-A1696124E988}">
  <ds:schemaRefs>
    <ds:schemaRef ds:uri="http://www.w3.org/XML/1998/namespace"/>
    <ds:schemaRef ds:uri="http://purl.org/dc/elements/1.1/"/>
    <ds:schemaRef ds:uri="http://schemas.microsoft.com/office/2006/documentManagement/types"/>
    <ds:schemaRef ds:uri="http://purl.org/dc/dcmitype/"/>
    <ds:schemaRef ds:uri="fd28b98c-9d4a-4855-a326-788d407ff55a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openxmlformats.org/package/2006/metadata/core-properties"/>
    <ds:schemaRef ds:uri="eba54558-70c8-458e-84bd-8e3810559bd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5019</TotalTime>
  <Words>7276</Words>
  <Application>Microsoft Office PowerPoint</Application>
  <PresentationFormat>Widescreen</PresentationFormat>
  <Paragraphs>1740</Paragraphs>
  <Slides>116</Slides>
  <Notes>84</Notes>
  <HiddenSlides>4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116</vt:i4>
      </vt:variant>
    </vt:vector>
  </HeadingPairs>
  <TitlesOfParts>
    <vt:vector size="117" baseType="lpstr">
      <vt:lpstr>1_Office Theme</vt:lpstr>
      <vt:lpstr> Introduction to SQL</vt:lpstr>
      <vt:lpstr>SQL Part I</vt:lpstr>
      <vt:lpstr>1. SQL Introduction &amp; Definitions</vt:lpstr>
      <vt:lpstr>Basic SQL</vt:lpstr>
      <vt:lpstr>SQL Introduction</vt:lpstr>
      <vt:lpstr>SQL is a…</vt:lpstr>
      <vt:lpstr>Tables in SQL</vt:lpstr>
      <vt:lpstr>Tables in SQL</vt:lpstr>
      <vt:lpstr>Tables in SQL</vt:lpstr>
      <vt:lpstr>Tables in SQL</vt:lpstr>
      <vt:lpstr>Tables in SQL</vt:lpstr>
      <vt:lpstr>Data Types in SQL</vt:lpstr>
      <vt:lpstr>Table Schemas</vt:lpstr>
      <vt:lpstr>Key constraints</vt:lpstr>
      <vt:lpstr>NULL and NOT NULL</vt:lpstr>
      <vt:lpstr>General Constraints</vt:lpstr>
      <vt:lpstr>Summary of Schema Information</vt:lpstr>
      <vt:lpstr>2. Single-table queries</vt:lpstr>
      <vt:lpstr>What you will learn about in this section</vt:lpstr>
      <vt:lpstr>SQL Query</vt:lpstr>
      <vt:lpstr>Simple SQL Query: Selection</vt:lpstr>
      <vt:lpstr>Simple SQL Query: Projection</vt:lpstr>
      <vt:lpstr>Notation</vt:lpstr>
      <vt:lpstr>A Few Details</vt:lpstr>
      <vt:lpstr>LIKE: Simple String Pattern Matching</vt:lpstr>
      <vt:lpstr>DISTINCT: Eliminating Duplicates</vt:lpstr>
      <vt:lpstr>ORDER BY: Sorting the Results</vt:lpstr>
      <vt:lpstr>3. Multi-table queries</vt:lpstr>
      <vt:lpstr>What you will learn about in this section</vt:lpstr>
      <vt:lpstr>Foreign Key constraints</vt:lpstr>
      <vt:lpstr>Declaring Foreign Keys</vt:lpstr>
      <vt:lpstr>Foreign Keys and update operations</vt:lpstr>
      <vt:lpstr>Keys and Foreign Keys</vt:lpstr>
      <vt:lpstr>Joins</vt:lpstr>
      <vt:lpstr>Joins</vt:lpstr>
      <vt:lpstr>Joins</vt:lpstr>
      <vt:lpstr>Joins</vt:lpstr>
      <vt:lpstr>Tuple Variable Ambiguity in Multi-Table</vt:lpstr>
      <vt:lpstr>Tuple Variable Ambiguity in Multi-Table</vt:lpstr>
      <vt:lpstr>Meaning (Semantics) of SQL Queries</vt:lpstr>
      <vt:lpstr>An example of SQL semantics</vt:lpstr>
      <vt:lpstr>Note the semantics of a join</vt:lpstr>
      <vt:lpstr>Note: we say “semantics” not “execution order”</vt:lpstr>
      <vt:lpstr>A Subtlety about Joins</vt:lpstr>
      <vt:lpstr>A subtlety about Joins</vt:lpstr>
      <vt:lpstr>Lecture 3: SQL Part II</vt:lpstr>
      <vt:lpstr>1. Set Operators &amp; Nested Queries</vt:lpstr>
      <vt:lpstr>What you will learn about in this section</vt:lpstr>
      <vt:lpstr>Multiset Operations</vt:lpstr>
      <vt:lpstr>Recall Multisets</vt:lpstr>
      <vt:lpstr>Generalizing Set Operations to Multiset Operations</vt:lpstr>
      <vt:lpstr>Generalizing Set Operations to Multiset Operations</vt:lpstr>
      <vt:lpstr>Multiset Operations in SQL</vt:lpstr>
      <vt:lpstr>Explicit Set Operators: INTERSECT</vt:lpstr>
      <vt:lpstr>UNION</vt:lpstr>
      <vt:lpstr>UNION ALL</vt:lpstr>
      <vt:lpstr>EXCEPT</vt:lpstr>
      <vt:lpstr>INTERSECT: Still some subtle problems…</vt:lpstr>
      <vt:lpstr>INTERSECT: Remember the semantics!</vt:lpstr>
      <vt:lpstr>INTERSECT: Remember the semantics!</vt:lpstr>
      <vt:lpstr>One Solution: Nested Queries</vt:lpstr>
      <vt:lpstr>High-level note on nested queries</vt:lpstr>
      <vt:lpstr>Nested queries: Sub-queries Return Relations</vt:lpstr>
      <vt:lpstr>Nested Queries</vt:lpstr>
      <vt:lpstr>PowerPoint Presentation</vt:lpstr>
      <vt:lpstr>Nested Queries</vt:lpstr>
      <vt:lpstr>Subqueries Return Relations</vt:lpstr>
      <vt:lpstr>Subqueries Returning Relations</vt:lpstr>
      <vt:lpstr>Nested queries as alternatives to INTERSECT and EXCEPT</vt:lpstr>
      <vt:lpstr>Nested queries as alternatives to INTERSECT and EXCEPT</vt:lpstr>
      <vt:lpstr>Correlated Queries Using External Vars in Internal Subquery</vt:lpstr>
      <vt:lpstr>PowerPoint Presentation</vt:lpstr>
      <vt:lpstr>Complex Correlated Query</vt:lpstr>
      <vt:lpstr>Basic SQL Summary</vt:lpstr>
      <vt:lpstr>Leet Code Problem</vt:lpstr>
      <vt:lpstr>2. Aggregation &amp; GROUP BY</vt:lpstr>
      <vt:lpstr>What you will learn about in this section</vt:lpstr>
      <vt:lpstr>Aggregation</vt:lpstr>
      <vt:lpstr>Aggregation: COUNT</vt:lpstr>
      <vt:lpstr>More Examples</vt:lpstr>
      <vt:lpstr>Simple Aggregations</vt:lpstr>
      <vt:lpstr>Grouping and Aggregation</vt:lpstr>
      <vt:lpstr>Grouping and Aggregation</vt:lpstr>
      <vt:lpstr>1. Compute the FROM and WHERE clauses</vt:lpstr>
      <vt:lpstr>2. Group by the attributes in the GROUP BY</vt:lpstr>
      <vt:lpstr>3. Compute the SELECT clause: grouped attributes and aggregates</vt:lpstr>
      <vt:lpstr>GROUP BY v.s. Nested Quereis</vt:lpstr>
      <vt:lpstr>HAVING Clause</vt:lpstr>
      <vt:lpstr>PowerPoint Presentation</vt:lpstr>
      <vt:lpstr>General form of Grouping and Aggregation</vt:lpstr>
      <vt:lpstr>General form of Grouping and Aggregation</vt:lpstr>
      <vt:lpstr>Group-by v.s. Nested Query</vt:lpstr>
      <vt:lpstr>Group-by v.s. Nested Query</vt:lpstr>
      <vt:lpstr>Group-by v.s. Nested Query</vt:lpstr>
      <vt:lpstr>Group-by vs. Nested Query</vt:lpstr>
      <vt:lpstr>3. Advanced SQL-izing</vt:lpstr>
      <vt:lpstr>Quantifiers</vt:lpstr>
      <vt:lpstr>Quantifiers</vt:lpstr>
      <vt:lpstr>NULLS in SQL</vt:lpstr>
      <vt:lpstr>Null Values</vt:lpstr>
      <vt:lpstr>Null Values</vt:lpstr>
      <vt:lpstr>Null Values</vt:lpstr>
      <vt:lpstr>Null Values</vt:lpstr>
      <vt:lpstr>RECAP: Inner Joins</vt:lpstr>
      <vt:lpstr>Inner Joins + NULLS = Lost data?</vt:lpstr>
      <vt:lpstr>Outer Joins</vt:lpstr>
      <vt:lpstr>INNER JOIN:</vt:lpstr>
      <vt:lpstr>LEFT OUTER JOIN:</vt:lpstr>
      <vt:lpstr>Other Outer Joins</vt:lpstr>
      <vt:lpstr>PowerPoint Presentation</vt:lpstr>
      <vt:lpstr>An Unintuitive Query</vt:lpstr>
      <vt:lpstr>An Unintuitive Query</vt:lpstr>
      <vt:lpstr>An Unintuitive Query</vt:lpstr>
      <vt:lpstr>What does this look like in Python?</vt:lpstr>
      <vt:lpstr>What does this look like in Python?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Lectures 2&amp;3: Introduction to SQL</dc:title>
  <dc:creator>Alex Ratner</dc:creator>
  <cp:lastModifiedBy>Mohamed khalefa</cp:lastModifiedBy>
  <cp:revision>388</cp:revision>
  <dcterms:created xsi:type="dcterms:W3CDTF">2015-09-12T15:05:51Z</dcterms:created>
  <dcterms:modified xsi:type="dcterms:W3CDTF">2026-10-13T04:26:33Z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0x01010011114752CFC3094F980FAD7CDAC4FA66</vt:lpwstr>
  </property>
</Properties>
</file>