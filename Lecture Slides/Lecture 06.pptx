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17"/>
  </p:notesMasterIdLst>
  <p:sldIdLst>
    <p:sldId id="319" r:id="rId5"/>
    <p:sldId id="320" r:id="rId6"/>
    <p:sldId id="413" r:id="rId7"/>
    <p:sldId id="415" r:id="rId8"/>
    <p:sldId id="416" r:id="rId9"/>
    <p:sldId id="470" r:id="rId10"/>
    <p:sldId id="469" r:id="rId11"/>
    <p:sldId id="468" r:id="rId12"/>
    <p:sldId id="471" r:id="rId13"/>
    <p:sldId id="321" r:id="rId14"/>
    <p:sldId id="418" r:id="rId15"/>
    <p:sldId id="324" r:id="rId16"/>
    <p:sldId id="325" r:id="rId17"/>
    <p:sldId id="326" r:id="rId18"/>
    <p:sldId id="327" r:id="rId19"/>
    <p:sldId id="328" r:id="rId20"/>
    <p:sldId id="419" r:id="rId21"/>
    <p:sldId id="329" r:id="rId22"/>
    <p:sldId id="331" r:id="rId23"/>
    <p:sldId id="421" r:id="rId24"/>
    <p:sldId id="422" r:id="rId25"/>
    <p:sldId id="423" r:id="rId26"/>
    <p:sldId id="336" r:id="rId27"/>
    <p:sldId id="337" r:id="rId28"/>
    <p:sldId id="339" r:id="rId29"/>
    <p:sldId id="340" r:id="rId30"/>
    <p:sldId id="341" r:id="rId31"/>
    <p:sldId id="342" r:id="rId32"/>
    <p:sldId id="473" r:id="rId33"/>
    <p:sldId id="464" r:id="rId34"/>
    <p:sldId id="465" r:id="rId35"/>
    <p:sldId id="466" r:id="rId36"/>
    <p:sldId id="467" r:id="rId37"/>
    <p:sldId id="424" r:id="rId38"/>
    <p:sldId id="461" r:id="rId39"/>
    <p:sldId id="350" r:id="rId40"/>
    <p:sldId id="351" r:id="rId41"/>
    <p:sldId id="352" r:id="rId42"/>
    <p:sldId id="520" r:id="rId43"/>
    <p:sldId id="357" r:id="rId44"/>
    <p:sldId id="358" r:id="rId45"/>
    <p:sldId id="359" r:id="rId46"/>
    <p:sldId id="479" r:id="rId47"/>
    <p:sldId id="361" r:id="rId48"/>
    <p:sldId id="480" r:id="rId49"/>
    <p:sldId id="481" r:id="rId50"/>
    <p:sldId id="366" r:id="rId51"/>
    <p:sldId id="367" r:id="rId52"/>
    <p:sldId id="414" r:id="rId53"/>
    <p:sldId id="428" r:id="rId54"/>
    <p:sldId id="432" r:id="rId55"/>
    <p:sldId id="433" r:id="rId56"/>
    <p:sldId id="434" r:id="rId57"/>
    <p:sldId id="435" r:id="rId58"/>
    <p:sldId id="436" r:id="rId59"/>
    <p:sldId id="437" r:id="rId60"/>
    <p:sldId id="441" r:id="rId61"/>
    <p:sldId id="484" r:id="rId62"/>
    <p:sldId id="438" r:id="rId63"/>
    <p:sldId id="443" r:id="rId64"/>
    <p:sldId id="442" r:id="rId65"/>
    <p:sldId id="474" r:id="rId66"/>
    <p:sldId id="485" r:id="rId67"/>
    <p:sldId id="486" r:id="rId68"/>
    <p:sldId id="374" r:id="rId69"/>
    <p:sldId id="445" r:id="rId70"/>
    <p:sldId id="447" r:id="rId71"/>
    <p:sldId id="448" r:id="rId72"/>
    <p:sldId id="444" r:id="rId73"/>
    <p:sldId id="379" r:id="rId74"/>
    <p:sldId id="449" r:id="rId75"/>
    <p:sldId id="450" r:id="rId76"/>
    <p:sldId id="451" r:id="rId77"/>
    <p:sldId id="453" r:id="rId78"/>
    <p:sldId id="487" r:id="rId79"/>
    <p:sldId id="489" r:id="rId80"/>
    <p:sldId id="492" r:id="rId81"/>
    <p:sldId id="493" r:id="rId82"/>
    <p:sldId id="521" r:id="rId83"/>
    <p:sldId id="494" r:id="rId84"/>
    <p:sldId id="495" r:id="rId85"/>
    <p:sldId id="496" r:id="rId86"/>
    <p:sldId id="497" r:id="rId87"/>
    <p:sldId id="498" r:id="rId88"/>
    <p:sldId id="499" r:id="rId89"/>
    <p:sldId id="523" r:id="rId90"/>
    <p:sldId id="500" r:id="rId91"/>
    <p:sldId id="522" r:id="rId92"/>
    <p:sldId id="501" r:id="rId93"/>
    <p:sldId id="527" r:id="rId94"/>
    <p:sldId id="502" r:id="rId95"/>
    <p:sldId id="503" r:id="rId96"/>
    <p:sldId id="504" r:id="rId97"/>
    <p:sldId id="505" r:id="rId98"/>
    <p:sldId id="506" r:id="rId99"/>
    <p:sldId id="524" r:id="rId100"/>
    <p:sldId id="507" r:id="rId101"/>
    <p:sldId id="508" r:id="rId102"/>
    <p:sldId id="509" r:id="rId103"/>
    <p:sldId id="510" r:id="rId104"/>
    <p:sldId id="511" r:id="rId105"/>
    <p:sldId id="525" r:id="rId106"/>
    <p:sldId id="512" r:id="rId107"/>
    <p:sldId id="513" r:id="rId108"/>
    <p:sldId id="514" r:id="rId109"/>
    <p:sldId id="515" r:id="rId110"/>
    <p:sldId id="516" r:id="rId111"/>
    <p:sldId id="517" r:id="rId112"/>
    <p:sldId id="518" r:id="rId113"/>
    <p:sldId id="519" r:id="rId114"/>
    <p:sldId id="526" r:id="rId115"/>
    <p:sldId id="528" r:id="rId1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6777F86-1AD3-E745-8504-58BCD5495FDB}">
          <p14:sldIdLst>
            <p14:sldId id="319"/>
            <p14:sldId id="320"/>
            <p14:sldId id="413"/>
            <p14:sldId id="415"/>
            <p14:sldId id="416"/>
            <p14:sldId id="470"/>
            <p14:sldId id="469"/>
            <p14:sldId id="468"/>
            <p14:sldId id="471"/>
            <p14:sldId id="321"/>
            <p14:sldId id="418"/>
            <p14:sldId id="324"/>
            <p14:sldId id="325"/>
            <p14:sldId id="326"/>
            <p14:sldId id="327"/>
            <p14:sldId id="328"/>
            <p14:sldId id="419"/>
            <p14:sldId id="329"/>
            <p14:sldId id="331"/>
            <p14:sldId id="421"/>
            <p14:sldId id="422"/>
            <p14:sldId id="423"/>
            <p14:sldId id="336"/>
            <p14:sldId id="337"/>
            <p14:sldId id="339"/>
            <p14:sldId id="340"/>
            <p14:sldId id="341"/>
            <p14:sldId id="342"/>
            <p14:sldId id="473"/>
            <p14:sldId id="464"/>
            <p14:sldId id="465"/>
            <p14:sldId id="466"/>
            <p14:sldId id="467"/>
            <p14:sldId id="424"/>
            <p14:sldId id="461"/>
            <p14:sldId id="350"/>
            <p14:sldId id="351"/>
            <p14:sldId id="352"/>
            <p14:sldId id="520"/>
            <p14:sldId id="357"/>
            <p14:sldId id="358"/>
            <p14:sldId id="359"/>
            <p14:sldId id="479"/>
            <p14:sldId id="361"/>
            <p14:sldId id="480"/>
            <p14:sldId id="481"/>
            <p14:sldId id="366"/>
            <p14:sldId id="367"/>
            <p14:sldId id="414"/>
            <p14:sldId id="428"/>
            <p14:sldId id="432"/>
            <p14:sldId id="433"/>
            <p14:sldId id="434"/>
            <p14:sldId id="435"/>
            <p14:sldId id="436"/>
            <p14:sldId id="437"/>
            <p14:sldId id="441"/>
            <p14:sldId id="484"/>
            <p14:sldId id="438"/>
            <p14:sldId id="443"/>
            <p14:sldId id="442"/>
            <p14:sldId id="474"/>
            <p14:sldId id="485"/>
            <p14:sldId id="486"/>
            <p14:sldId id="374"/>
            <p14:sldId id="445"/>
            <p14:sldId id="447"/>
            <p14:sldId id="448"/>
            <p14:sldId id="444"/>
            <p14:sldId id="379"/>
            <p14:sldId id="449"/>
            <p14:sldId id="450"/>
            <p14:sldId id="451"/>
            <p14:sldId id="453"/>
            <p14:sldId id="487"/>
            <p14:sldId id="489"/>
            <p14:sldId id="492"/>
            <p14:sldId id="493"/>
            <p14:sldId id="521"/>
            <p14:sldId id="494"/>
            <p14:sldId id="495"/>
            <p14:sldId id="496"/>
            <p14:sldId id="497"/>
            <p14:sldId id="498"/>
            <p14:sldId id="499"/>
            <p14:sldId id="523"/>
            <p14:sldId id="500"/>
            <p14:sldId id="522"/>
            <p14:sldId id="501"/>
            <p14:sldId id="527"/>
            <p14:sldId id="502"/>
            <p14:sldId id="503"/>
            <p14:sldId id="504"/>
            <p14:sldId id="505"/>
            <p14:sldId id="506"/>
            <p14:sldId id="524"/>
            <p14:sldId id="507"/>
            <p14:sldId id="508"/>
            <p14:sldId id="509"/>
            <p14:sldId id="510"/>
            <p14:sldId id="511"/>
            <p14:sldId id="525"/>
            <p14:sldId id="512"/>
            <p14:sldId id="513"/>
            <p14:sldId id="514"/>
            <p14:sldId id="515"/>
            <p14:sldId id="516"/>
            <p14:sldId id="517"/>
            <p14:sldId id="518"/>
            <p14:sldId id="519"/>
            <p14:sldId id="526"/>
            <p14:sldId id="5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EC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1918A9-83A2-6EDB-F204-76D1D3BF4B24}" v="12" dt="2026-10-08T21:30:05.1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83"/>
    <p:restoredTop sz="93878"/>
  </p:normalViewPr>
  <p:slideViewPr>
    <p:cSldViewPr snapToGrid="0" snapToObjects="1">
      <p:cViewPr varScale="1">
        <p:scale>
          <a:sx n="104" d="100"/>
          <a:sy n="104" d="100"/>
        </p:scale>
        <p:origin x="900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presProps" Target="presProps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viewProps" Target="viewProps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tableStyles" Target="tableStyles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15266 3731 16383 0 0,'10'10'0'0'0,"9"13"0"0"0,10 8 0 0 0,6 13 0 0 0,12 5 0 0 0,2 4 0 0 0,-1-3 0 0 0,1-4 0 0 0,-4-5 0 0 0,-3-5 0 0 0,-5-3 0 0 0,-3-2 0 0 0,3-2 0 0 0,-1 0 0 0 0,0-6 0 0 0,-3-1 0 0 0,0 0 0 0 0,-2-3 0 0 0,-1-5 0 0 0,-6 0 0 0 0,-1-3 0 0 0,-1-2 0 0 0,-3-3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15997 4101 16383 0 0,'5'0'0'0'0,"7"0"0"0"0,1 5 0 0 0,-2 7 0 0 0,-2 6 0 0 0,-3 5 0 0 0,-3 3 0 0 0,-1 3 0 0 0,-1 2 0 0 0,-2-1 0 0 0,-4-4 0 0 0,-2-2 0 0 0,-10-5 0 0 0,-7-1 0 0 0,-4 7 0 0 0,-8-2 0 0 0,-2-3 0 0 0,0-2 0 0 0,6-2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17039 5080 16383 0 0,'10'0'0'0'0,"23"10"0"0"0,17 13 0 0 0,9 13 0 0 0,14 15 0 0 0,11 15 0 0 0,5 5 0 0 0,3 0 0 0 0,1-6 0 0 0,-6-9 0 0 0,-12-10 0 0 0,-15-12 0 0 0,-11-12 0 0 0,-10-9 0 0 0,-12-3 0 0 0,-4-3 0 0 0,3-2 0 0 0,22 3 0 0 0,38 10 0 0 0,39 12 0 0 0,39 15 0 0 0,36 11 0 0 0,15 1 0 0 0,9 0 0 0 0,-7 1 0 0 0,-16-5 0 0 0,-22-6 0 0 0,-31-6 0 0 0,-37-10 0 0 0,-36-11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18336 5371 16383 0 0,'5'0'0'0'0,"6"0"0"0"0,2 5 0 0 0,9 2 0 0 0,0 4 0 0 0,1 6 0 0 0,-2 4 0 0 0,-1 5 0 0 0,2 2 0 0 0,7 6 0 0 0,3 3 0 0 0,2 0 0 0 0,-1-2 0 0 0,-5-1 0 0 0,-8-2 0 0 0,-11 4 0 0 0,-19 1 0 0 0,-12-1 0 0 0,-7-7 0 0 0,-13 2 0 0 0,-6-4 0 0 0,2-2 0 0 0,2 0 0 0 0,5-5 0 0 0,3 5 0 0 0,9-2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22675 6292 16383 0 0,'20'-30'0'0'0,"26"-30"0"0"0,26-19 0 0 0,16-12 0 0 0,17-5 0 0 0,16-7 0 0 0,3 5 0 0 0,5 4 0 0 0,-5 2 0 0 0,-3 8 0 0 0,-12 8 0 0 0,-20 11 0 0 0,-9 7 0 0 0,-10 9 0 0 0,0-3 0 0 0,2-2 0 0 0,4-7 0 0 0,-1 2 0 0 0,-3 0 0 0 0,-4 11 0 0 0,-8 4 0 0 0,0 4 0 0 0,-5 3 0 0 0,-7 4 0 0 0,-1-3 0 0 0,-4 0 0 0 0,-4 6 0 0 0,-9 3 0 0 0,-4 6 0 0 0,-7 2 0 0 0,-2 4 0 0 0,-3-1 0 0 0,0 3 0 0 0,4-2 0 0 0,-2 2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24368 4313 16383 0 0,'10'0'0'0'0,"13"0"0"0"0,8 0 0 0 0,4 0 0 0 0,0 0 0 0 0,0 0 0 0 0,-1 0 0 0 0,-2 0 0 0 0,-1 0 0 0 0,-5 5 0 0 0,-8 6 0 0 0,-7 7 0 0 0,-5 5 0 0 0,-3 4 0 0 0,-3 2 0 0 0,-1 1 0 0 0,-1 6 0 0 0,1 6 0 0 0,-10 2 0 0 0,-3-3 0 0 0,-4 3 0 0 0,-4-2 0 0 0,1-2 0 0 0,0 1 0 0 0,-2-1 0 0 0,4-2 0 0 0,-1-3 0 0 0,3-2 0 0 0,5-2 0 0 0,-6-1 0 0 0,-9 4 0 0 0,-11 2 0 0 0,1-6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28681 2937 16383 0 0,'0'30'0'0'0,"0"35"0"0"0,0 26 0 0 0,0 13 0 0 0,0 9 0 0 0,0-1 0 0 0,0 2 0 0 0,0-4 0 0 0,5-11 0 0 0,1-17 0 0 0,1-12 0 0 0,-2-14 0 0 0,-1-16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27490 2626 16383 0 0,'10'-5'0'0'0,"28"-7"0"0"0,28-1 0 0 0,23 1 0 0 0,16 4 0 0 0,10 2 0 0 0,5 2 0 0 0,3 3 0 0 0,5 0 0 0 0,-9 1 0 0 0,-14 1 0 0 0,-21-1 0 0 0,-20 1 0 0 0,-10-1 0 0 0,-9 1 0 0 0,-8-1 0 0 0,-5 0 0 0 0,7 0 0 0 0,7 0 0 0 0,6 0 0 0 0,-1 0 0 0 0,-5 0 0 0 0,1 0 0 0 0,-9 0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29337 3863 16383 0 0,'-5'10'0'0'0,"-12"18"0"0"0,-8 15 0 0 0,-4 4 0 0 0,-3 5 0 0 0,0 4 0 0 0,4 1 0 0 0,8 2 0 0 0,7 6 0 0 0,5 6 0 0 0,10-3 0 0 0,9-4 0 0 0,8-12 0 0 0,10-11 0 0 0,6-11 0 0 0,7-12 0 0 0,5-8 0 0 0,11-11 0 0 0,5-11 0 0 0,7-13 0 0 0,2-12 0 0 0,8-10 0 0 0,0-7 0 0 0,-7 1 0 0 0,-12-1 0 0 0,-12-1 0 0 0,-13 4 0 0 0,-13 6 0 0 0,-11 5 0 0 0,-7 4 0 0 0,-9 4 0 0 0,-10 2 0 0 0,-6 6 0 0 0,-6 7 0 0 0,-3 7 0 0 0,-2 5 0 0 0,-5 3 0 0 0,3 2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29342 6482 16383 0 0,'5'10'0'0'0,"7"34"0"0"0,6 23 0 0 0,0 21 0 0 0,2 26 0 0 0,-2 23 0 0 0,-5 18 0 0 0,1 3 0 0 0,-2-5 0 0 0,2-15 0 0 0,-1-24 0 0 0,-4-33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29051 6446 16383 0 0,'10'-5'0'0'0,"19"-2"0"0"0,13-4 0 0 0,21-6 0 0 0,14-4 0 0 0,8 0 0 0 0,1 0 0 0 0,-9 3 0 0 0,-14-1 0 0 0,-12 4 0 0 0,-14 4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29898 6773 16383 0 0,'0'5'0'0'0,"5"2"0"0"0,2 4 0 0 0,-1 6 0 0 0,4 10 0 0 0,5 10 0 0 0,6 9 0 0 0,3 1 0 0 0,3 3 0 0 0,-3-1 0 0 0,-6-6 0 0 0,0-3 0 0 0,1-5 0 0 0,-3-3 0 0 0,2-6 0 0 0,-3-4 0 0 0,-4-5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33655 5980 16383 0 0,'5'25'0'0'0,"12"23"0"0"0,12 18 0 0 0,7 14 0 0 0,3 12 0 0 0,-2 2 0 0 0,-1-2 0 0 0,-2-10 0 0 0,-1-10 0 0 0,-2-6 0 0 0,-6-11 0 0 0,-7-8 0 0 0,-2-13 0 0 0,-4-8 0 0 0,-3-7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33311 5985 16383 0 0,'25'-15'0'0'0,"28"-15"0"0"0,31-7 0 0 0,25-3 0 0 0,9 1 0 0 0,10 2 0 0 0,-2 2 0 0 0,-7 7 0 0 0,-19 9 0 0 0,-22 6 0 0 0,-14 7 0 0 0,-17-1 0 0 0,-13 0 0 0 0,-11 2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34316 6485 16383 0 0,'5'0'0'0'0,"27"0"0"0"0,23-5 0 0 0,21-2 0 0 0,19 1 0 0 0,13 1 0 0 0,8 1 0 0 0,9 7 0 0 0,3 7 0 0 0,-14 3 0 0 0,-18-2 0 0 0,-24 3 0 0 0,-25 9 0 0 0,-20 16 0 0 0,-20 10 0 0 0,-16 8 0 0 0,-16 4 0 0 0,-10 1 0 0 0,-3 1 0 0 0,-5-6 0 0 0,4-3 0 0 0,-1-5 0 0 0,7-6 0 0 0,8-5 0 0 0,14-10 0 0 0,14-8 0 0 0,11-9 0 0 0,8-6 0 0 0,1-3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28628 4419 16383 0 0,'5'25'0'0'0,"2"23"0"0"0,4 13 0 0 0,1 12 0 0 0,3 8 0 0 0,-1 6 0 0 0,-3 2 0 0 0,-3 2 0 0 0,2-5 0 0 0,-1-7 0 0 0,-2-8 0 0 0,-2-4 0 0 0,-2-5 0 0 0,4-8 0 0 0,0-7 0 0 0,-1-8 0 0 0,-1-4 0 0 0,-2-4 0 0 0,-1 3 0 0 0,-1 0 0 0 0,-1 0 0 0 0,0-1 0 0 0,0-1 0 0 0,0-1 0 0 0,-1-1 0 0 0,1-5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28469 5634 16383 0 0,'0'-5'0'0'0,"0"3"0"0"0,5 8 0 0 0,7 6 0 0 0,6 13 0 0 0,5 1 0 0 0,4 1 0 0 0,2-3 0 0 0,-4-2 0 0 0,-1-3 0 0 0,0-6 0 0 0,2-10 0 0 0,0-11 0 0 0,2-8 0 0 0,5-7 0 0 0,3-9 0 0 0,5-10 0 0 0,0-2 0 0 0,4-4 0 0 0,-2 1 0 0 0,-2 4 0 0 0,-9 4 0 0 0,-4 9 0 0 0,-7 4 0 0 0,-8 7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30692 6221 16383 0 0,'-5'0'0'0'0,"4"-15"0"0"0,16-20 0 0 0,26-24 0 0 0,21-12 0 0 0,25-14 0 0 0,23-7 0 0 0,12-3 0 0 0,16 4 0 0 0,14 8 0 0 0,2 18 0 0 0,-6 15 0 0 0,-13 16 0 0 0,-10 14 0 0 0,-10 5 0 0 0,-10 5 0 0 0,-9 5 0 0 0,-4 3 0 0 0,-9 1 0 0 0,-13 7 0 0 0,-9 6 0 0 0,-4 7 0 0 0,-7 5 0 0 0,-3 4 0 0 0,2 6 0 0 0,2 8 0 0 0,2 7 0 0 0,8 5 0 0 0,-3-2 0 0 0,-5-4 0 0 0,-7-6 0 0 0,-6-10 0 0 0,-10-5 0 0 0,-5-8 0 0 0,-2-1 0 0 0,-5-5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33010 5398 16383 0 0,'0'4'0'0'0,"0"13"0"0"0,0 8 0 0 0,0 9 0 0 0,5 10 0 0 0,1 6 0 0 0,1 6 0 0 0,-2-3 0 0 0,-2-4 0 0 0,0-6 0 0 0,-2-6 0 0 0,-1-3 0 0 0,-5-8 0 0 0,-2-4 0 0 0,-4-5 0 0 0,-6-5 0 0 0,-5-5 0 0 0,1 1 0 0 0,0-1 0 0 0,-2 4 0 0 0,-2 0 0 0 0,3 3 0 0 0,5-1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33632 6562 16383 0 0,'-5'10'0'0'0,"-7"13"0"0"0,-11 13 0 0 0,-11 5 0 0 0,-6 6 0 0 0,-6 0 0 0 0,-9 1 0 0 0,-6-1 0 0 0,2-5 0 0 0,2-4 0 0 0,-10-3 0 0 0,-4-4 0 0 0,1 0 0 0 0,2-7 0 0 0,3-7 0 0 0,2-7 0 0 0,7-4 0 0 0,3-4 0 0 0,0-2 0 0 0,-10-1 0 0 0,-25 0 0 0 0,-23-1 0 0 0,-21 1 0 0 0,-15 0 0 0 0,-11-4 0 0 0,1-7 0 0 0,7-1 0 0 0,14-4 0 0 0,10-3 0 0 0,12-4 0 0 0,15 3 0 0 0,14-6 0 0 0,12-3 0 0 0,3 4 0 0 0,4 1 0 0 0,7 5 0 0 0,10 1 0 0 0,8 3 0 0 0,5 5 0 0 0,10 4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30823 6482 16383 0 0,'-5'5'0'0'0,"-21"12"0"0"0,-12 8 0 0 0,-4 4 0 0 0,0 3 0 0 0,2-5 0 0 0,3-1 0 0 0,12 5 0 0 0,22 6 0 0 0,20 3 0 0 0,32 9 0 0 0,24 2 0 0 0,18 1 0 0 0,20 3 0 0 0,5-4 0 0 0,-7-10 0 0 0,-11-12 0 0 0,-24-6 0 0 0,-23-7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34925 7019 16383 0 0,'5'0'0'0'0,"12"0"0"0"0,12 0 0 0 0,12 0 0 0 0,14 0 0 0 0,13 0 0 0 0,9 0 0 0 0,12 0 0 0 0,5 0 0 0 0,8-5 0 0 0,0-1 0 0 0,-1-1 0 0 0,-8 2 0 0 0,-10 1 0 0 0,-9-3 0 0 0,-13-1 0 0 0,-10 2 0 0 0,-5-5 0 0 0,-5 1 0 0 0,-10 2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10001 6720 16383 0 0,'0'0'0'0'0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23:14:51.0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15997 4101 16383 0 0,'5'0'0'0'0,"7"0"0"0"0,1 5 0 0 0,-2 7 0 0 0,-2 6 0 0 0,-3 5 0 0 0,-3 3 0 0 0,-1 3 0 0 0,-1 2 0 0 0,-2-1 0 0 0,-4-4 0 0 0,-2-2 0 0 0,-10-5 0 0 0,-7-1 0 0 0,-4 7 0 0 0,-8-2 0 0 0,-2-3 0 0 0,0-2 0 0 0,6-2 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23:14:51.2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10001 6720 16383 0 0,'0'0'0'0'0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24327 9551 16383 0 0,'0'10'0'0'0,"0"19"0"0"0,0 8 0 0 0,-5 9 0 0 0,-7 6 0 0 0,-1 5 0 0 0,-3 7 0 0 0,1 13 0 0 0,-3 8 0 0 0,-2 5 0 0 0,-3 2 0 0 0,2 0 0 0 0,0 0 0 0 0,3-1 0 0 0,0-1 0 0 0,-2-5 0 0 0,3-8 0 0 0,3-7 0 0 0,5-5 0 0 0,-1-4 0 0 0,1-2 0 0 0,2 4 0 0 0,-3-4 0 0 0,0-2 0 0 0,3-5 0 0 0,-4 3 0 0 0,1 2 0 0 0,2 2 0 0 0,2 5 0 0 0,2 7 0 0 0,2 12 0 0 0,1 6 0 0 0,1-6 0 0 0,-4-8 0 0 0,-3-7 0 0 0,1-4 0 0 0,2-9 0 0 0,0-8 0 0 0,2-3 0 0 0,1-3 0 0 0,1-4 0 0 0,0 2 0 0 0,0-1 0 0 0,0-1 0 0 0,0-3 0 0 0,1-2 0 0 0,-1-1 0 0 0,0-1 0 0 0,5-1 0 0 0,2 0 0 0 0,-1 5 0 0 0,4 2 0 0 0,5 5 0 0 0,1 4 0 0 0,1 6 0 0 0,4 4 0 0 0,3 2 0 0 0,-3-3 0 0 0,-4 4 0 0 0,-1 2 0 0 0,-3 1 0 0 0,2 0 0 0 0,-2 5 0 0 0,1 21 0 0 0,5 16 0 0 0,-3 10 0 0 0,3 1 0 0 0,1-4 0 0 0,-1-6 0 0 0,0-5 0 0 0,-2-4 0 0 0,-5-4 0 0 0,-4 2 0 0 0,-4 7 0 0 0,-1-5 0 0 0,-3-8 0 0 0,4-9 0 0 0,2-8 0 0 0,0-11 0 0 0,-2-10 0 0 0,-1-3 0 0 0,-1-6 0 0 0,-1-3 0 0 0,0 1 0 0 0,-1 10 0 0 0,-1 16 0 0 0,1 28 0 0 0,5 22 0 0 0,1 8 0 0 0,1 3 0 0 0,-2-11 0 0 0,3-13 0 0 0,1-20 0 0 0,-1-18 0 0 0,-3-11 0 0 0,-1-8 0 0 0,-2-7 0 0 0,4-5 0 0 0,1-2 0 0 0,-1-2 0 0 0,-1-6 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24236 16245 16383 0 0,'0'15'0'0'0,"0"20"0"0"0,0 19 0 0 0,0 11 0 0 0,0 8 0 0 0,0 8 0 0 0,0-1 0 0 0,0 2 0 0 0,0-9 0 0 0,0-11 0 0 0,0-11 0 0 0,0-15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23839 16039 16383 0 0,'5'0'0'0'0,"7"0"0"0"0,6 0 0 0 0,20 0 0 0 0,18 0 0 0 0,16 0 0 0 0,14 0 0 0 0,4 0 0 0 0,0 0 0 0 0,-4 0 0 0 0,-12-5 0 0 0,-9-2 0 0 0,-10-4 0 0 0,-10-1 0 0 0,-7 2 0 0 0,-10 3 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24539 16536 16383 0 0,'0'5'0'0'0,"0"12"0"0"0,-10 18 0 0 0,-8 7 0 0 0,-2 8 0 0 0,4 9 0 0 0,-2 6 0 0 0,4-4 0 0 0,3-8 0 0 0,3-2 0 0 0,4 0 0 0 0,2 2 0 0 0,2-4 0 0 0,0-5 0 0 0,1-5 0 0 0,0-4 0 0 0,4-8 0 0 0,8-9 0 0 0,10-12 0 0 0,7-17 0 0 0,8-17 0 0 0,3-18 0 0 0,4-12 0 0 0,0-6 0 0 0,-4 3 0 0 0,-7 2 0 0 0,-6 11 0 0 0,-7 9 0 0 0,-7 5 0 0 0,-6 4 0 0 0,-10 8 0 0 0,-8 1 0 0 0,-9 5 0 0 0,-1 5 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24636 16685 16383 0 0,'0'-5'0'0'0,"0"-7"0"0"0,0-6 0 0 0,0-5 0 0 0,-5-4 0 0 0,-1-2 0 0 0,-6 4 0 0 0,0 6 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26062 16325 16383 0 0,'-15'10'0'0'0,"-10"18"0"0"0,-5 10 0 0 0,-4 3 0 0 0,-5 4 0 0 0,4 0 0 0 0,3 3 0 0 0,6 2 0 0 0,9 3 0 0 0,6 3 0 0 0,6 1 0 0 0,3-3 0 0 0,2-7 0 0 0,1-5 0 0 0,1-6 0 0 0,4-9 0 0 0,12-13 0 0 0,17-20 0 0 0,14-13 0 0 0,-3-4 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26179 16669 16383 0 0,'0'10'0'0'0,"-5"13"0"0"0,-6 13 0 0 0,-7 5 0 0 0,-5 1 0 0 0,1 3 0 0 0,5-1 0 0 0,4-3 0 0 0,6-4 0 0 0,3 3 0 0 0,2-2 0 0 0,7-6 0 0 0,8-9 0 0 0,6-9 0 0 0,5-6 0 0 0,8-9 0 0 0,5-11 0 0 0,4-7 0 0 0,2-16 0 0 0,-2-6 0 0 0,-8-2 0 0 0,-5-9 0 0 0,-7 0 0 0 0,-7 4 0 0 0,-6 10 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26538 16744 16383 0 0,'0'15'0'0'0,"0"20"0"0"0,0 13 0 0 0,0 15 0 0 0,0 11 0 0 0,0-2 0 0 0,0-8 0 0 0,0-11 0 0 0,0-33 0 0 0,10-36 0 0 0,3-30 0 0 0,10-32 0 0 0,15-22 0 0 0,7-5 0 0 0,0 5 0 0 0,3 16 0 0 0,-6 16 0 0 0,-7 20 0 0 0,-8 33 0 0 0,-9 34 0 0 0,-8 24 0 0 0,-5 15 0 0 0,2 12 0 0 0,-2-1 0 0 0,5-6 0 0 0,0-10 0 0 0,4-14 0 0 0,3-28 0 0 0,15-36 0 0 0,7-34 0 0 0,11-17 0 0 0,3 0 0 0 0,-3 7 0 0 0,-10 11 0 0 0,-7 15 0 0 0,-8 20 0 0 0,-10 24 0 0 0,-6 22 0 0 0,-6 11 0 0 0,-2 11 0 0 0,-2 7 0 0 0,4 5 0 0 0,2 3 0 0 0,0-4 0 0 0,-1-7 0 0 0,-1-11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27470 16672 16383 0 0,'5'0'0'0'0,"2"10"0"0"0,-1 13 0 0 0,0 13 0 0 0,-3 15 0 0 0,-1 9 0 0 0,-10 5 0 0 0,-5-5 0 0 0,0-2 0 0 0,-2 0 0 0 0,0-6 0 0 0,-1-7 0 0 0,2-15 0 0 0,13-34 0 0 0,12-30 0 0 0,9-25 0 0 0,11-22 0 0 0,5-13 0 0 0,2 1 0 0 0,4 10 0 0 0,-5 9 0 0 0,-4 13 0 0 0,-7 21 0 0 0,-9 23 0 0 0,-6 19 0 0 0,-6 24 0 0 0,-3 13 0 0 0,-3 5 0 0 0,5-6 0 0 0,16-28 0 0 0,10-32 0 0 0,10-31 0 0 0,2-13 0 0 0,0-4 0 0 0,-2 4 0 0 0,-3 14 0 0 0,-8 21 0 0 0,-9 30 0 0 0,-3 30 0 0 0,6 31 0 0 0,9 20 0 0 0,4 6 0 0 0,1-2 0 0 0,-1 1 0 0 0,-2-10 0 0 0,-1-7 0 0 0,-7-6 0 0 0,-7-8 0 0 0,-2-8 0 0 0,-4-7 0 0 0,0-10 0 0 0,-1-20 0 0 0,-3-12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29443 16589 16383 0 0,'-10'15'0'0'0,"-13"15"0"0"0,-8 13 0 0 0,-9 13 0 0 0,3 8 0 0 0,-2 2 0 0 0,0 6 0 0 0,6 0 0 0 0,0-2 0 0 0,0-3 0 0 0,6-8 0 0 0,2-9 0 0 0,0-7 0 0 0,5-8 0 0 0,1-3 0 0 0,3-2 0 0 0,0-7 0 0 0,2-7 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28817 16669 16383 0 0,'-5'5'0'0'0,"-7"16"0"0"0,-11 16 0 0 0,-2 10 0 0 0,-6 8 0 0 0,-4 4 0 0 0,5 3 0 0 0,-2-5 0 0 0,3-2 0 0 0,7-5 0 0 0,3-11 0 0 0,-1-18 0 0 0,3-12 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28760 16299 16383 0 0,'0'-4'0'0'0,"0"-3"0"0"0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29025 16670 16383 0 0,'5'0'0'0'0,"6"0"0"0"0,7 5 0 0 0,11 2 0 0 0,9-1 0 0 0,14 0 0 0 0,13-3 0 0 0,5-1 0 0 0,-4 0 0 0 0,-3-7 0 0 0,-8-1 0 0 0,-7-1 0 0 0,-13-3 0 0 0,-7-1 0 0 0,-8 2 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31488 8070 16383 0 0,'0'40'0'0'0,"0"33"0"0"0,0 24 0 0 0,0 11 0 0 0,0-3 0 0 0,0-10 0 0 0,0-5 0 0 0,0-9 0 0 0,0-2 0 0 0,0-6 0 0 0,0-4 0 0 0,0 0 0 0 0,0 5 0 0 0,0 3 0 0 0,0 5 0 0 0,0-3 0 0 0,0 1 0 0 0,0 2 0 0 0,0 2 0 0 0,0 1 0 0 0,0-3 0 0 0,0 4 0 0 0,0 2 0 0 0,0 7 0 0 0,0 2 0 0 0,0 4 0 0 0,0 0 0 0 0,0-1 0 0 0,0-4 0 0 0,0 2 0 0 0,0 0 0 0 0,0 7 0 0 0,0 7 0 0 0,-5 19 0 0 0,-1 12 0 0 0,-1 2 0 0 0,2 6 0 0 0,2 3 0 0 0,0-6 0 0 0,2-2 0 0 0,1-6 0 0 0,0-7 0 0 0,0-6 0 0 0,0 0 0 0 0,1 9 0 0 0,-1 21 0 0 0,0 14 0 0 0,0 22 0 0 0,0 20 0 0 0,0 2 0 0 0,0 5 0 0 0,0 1 0 0 0,0 1 0 0 0,0 5 0 0 0,0-8 0 0 0,0-10 0 0 0,5-16 0 0 0,2-21 0 0 0,4-20 0 0 0,6 0 0 0 0,4 9 0 0 0,0 6 0 0 0,-5 1 0 0 0,1-9 0 0 0,-4-16 0 0 0,-3-23 0 0 0,2-16 0 0 0,-2-16 0 0 0,-2-8 0 0 0,2-8 0 0 0,0-1 0 0 0,3 3 0 0 0,-1 3 0 0 0,-2-6 0 0 0,-3-5 0 0 0,-2-9 0 0 0,-3-10 0 0 0,4-11 0 0 0,0-9 0 0 0,0-2 0 0 0,-1 4 0 0 0,-2 1 0 0 0,4 2 0 0 0,0 0 0 0 0,0 4 0 0 0,-2 2 0 0 0,-2 3 0 0 0,-1 6 0 0 0,-11 9 0 0 0,-4-4 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31697 17277 16383 0 0,'0'10'0'0'0,"5"24"0"0"0,2 20 0 0 0,-1 21 0 0 0,-1 14 0 0 0,-1 5 0 0 0,-2 3 0 0 0,-1-6 0 0 0,0-12 0 0 0,-1-16 0 0 0,0-18 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30242 16722 16383 0 0,'35'0'0'0'0,"41"0"0"0"0,49 0 0 0 0,42 0 0 0 0,33 0 0 0 0,22 0 0 0 0,14 5 0 0 0,1 6 0 0 0,-4 7 0 0 0,-22 5 0 0 0,-27-1 0 0 0,-24 0 0 0 0,-35-3 0 0 0,-29-5 0 0 0,-25-5 0 0 0,-25-4 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31327 17595 16383 0 0,'5'5'0'0'0,"11"6"0"0"0,9 17 0 0 0,4 24 0 0 0,3 17 0 0 0,1 3 0 0 0,-6-2 0 0 0,-6-7 0 0 0,-8-9 0 0 0,-1-15 0 0 0,-2-8 0 0 0,-3-4 0 0 0,-3-8 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32390 17859 16383 0 0,'0'5'0'0'0,"0"17"0"0"0,0 19 0 0 0,0 18 0 0 0,0 14 0 0 0,-5 10 0 0 0,-2 0 0 0 0,1-4 0 0 0,-4-15 0 0 0,-1-13 0 0 0,3-16 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29131 13653 16383 0 0,'0'0'0'0'0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29660 13653 16383 0 0,'0'0'0'0'0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21:09:50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29660 13441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B8A9A7-2F8A-8542-A5B3-1DCBE9DCB46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21345F-47DA-8D41-A25D-7C1673F27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86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A182C9-36C4-4043-8412-E8D68754989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917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A182C9-36C4-4043-8412-E8D68754989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447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707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21345F-47DA-8D41-A25D-7C1673F2722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34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3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663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03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28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310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3886992" y="0"/>
            <a:ext cx="2971009" cy="457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166" tIns="45583" rIns="91166" bIns="45583" anchor="ctr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3886992" y="8686404"/>
            <a:ext cx="2971009" cy="457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993" tIns="0" rIns="18993" bIns="0" anchor="b">
            <a:prstTxWarp prst="textNoShape">
              <a:avLst/>
            </a:prstTxWarp>
          </a:bodyPr>
          <a:lstStyle/>
          <a:p>
            <a:pPr algn="r" defTabSz="914822"/>
            <a:r>
              <a:rPr lang="en-US" sz="1000" i="1" dirty="0">
                <a:solidFill>
                  <a:prstClr val="black"/>
                </a:solidFill>
                <a:latin typeface="Book Antiqua" charset="0"/>
              </a:rPr>
              <a:t>7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1" y="8686404"/>
            <a:ext cx="2972591" cy="457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166" tIns="45583" rIns="91166" bIns="45583" anchor="ctr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1" y="0"/>
            <a:ext cx="2972591" cy="457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166" tIns="45583" rIns="91166" bIns="45583" anchor="ctr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39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6391" name="Rectangle 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22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3886992" y="0"/>
            <a:ext cx="2971009" cy="457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166" tIns="45583" rIns="91166" bIns="45583" anchor="ctr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3886992" y="8686404"/>
            <a:ext cx="2971009" cy="457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993" tIns="0" rIns="18993" bIns="0" anchor="b">
            <a:prstTxWarp prst="textNoShape">
              <a:avLst/>
            </a:prstTxWarp>
          </a:bodyPr>
          <a:lstStyle/>
          <a:p>
            <a:pPr algn="r" defTabSz="914822"/>
            <a:r>
              <a:rPr lang="en-US" sz="1000" i="1" dirty="0">
                <a:solidFill>
                  <a:prstClr val="black"/>
                </a:solidFill>
                <a:latin typeface="Book Antiqua" charset="0"/>
              </a:rPr>
              <a:t>7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1" y="8686404"/>
            <a:ext cx="2972591" cy="457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166" tIns="45583" rIns="91166" bIns="45583" anchor="ctr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1" y="0"/>
            <a:ext cx="2972591" cy="457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166" tIns="45583" rIns="91166" bIns="45583" anchor="ctr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39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6391" name="Rectangle 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638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686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13057746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843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20103733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A182C9-36C4-4043-8412-E8D68754989F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6346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638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1870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6043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564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670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183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1713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9115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619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292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7727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055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765DF5-22DB-424C-88C6-5DE7B0A5BAAF}" type="slidenum">
              <a:rPr lang="en-US"/>
              <a:pPr/>
              <a:t>82</a:t>
            </a:fld>
            <a:endParaRPr lang="en-US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0353" rIns="90353"/>
          <a:lstStyle/>
          <a:p>
            <a:pPr defTabSz="89730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4256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0728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7C84C5-F5FD-3544-8E8D-7E5A1F599A31}" type="slidenum">
              <a:rPr lang="en-US"/>
              <a:pPr/>
              <a:t>100</a:t>
            </a:fld>
            <a:endParaRPr lang="en-US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0353" rIns="90353"/>
          <a:lstStyle/>
          <a:p>
            <a:pPr defTabSz="89730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7443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A4AE58-52BE-A945-B375-FFE6610ACD02}" type="slidenum">
              <a:rPr lang="en-US"/>
              <a:pPr/>
              <a:t>103</a:t>
            </a:fld>
            <a:endParaRPr lang="en-US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0353" rIns="90353"/>
          <a:lstStyle/>
          <a:p>
            <a:pPr defTabSz="89730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3094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A4AE58-52BE-A945-B375-FFE6610ACD02}" type="slidenum">
              <a:rPr lang="en-US"/>
              <a:pPr/>
              <a:t>104</a:t>
            </a:fld>
            <a:endParaRPr lang="en-US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0353" rIns="90353"/>
          <a:lstStyle/>
          <a:p>
            <a:pPr defTabSz="89730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9162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A4AE58-52BE-A945-B375-FFE6610ACD02}" type="slidenum">
              <a:rPr lang="en-US"/>
              <a:pPr/>
              <a:t>105</a:t>
            </a:fld>
            <a:endParaRPr lang="en-US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0353" rIns="90353"/>
          <a:lstStyle/>
          <a:p>
            <a:pPr defTabSz="89730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1881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A4AE58-52BE-A945-B375-FFE6610ACD02}" type="slidenum">
              <a:rPr lang="en-US"/>
              <a:pPr/>
              <a:t>106</a:t>
            </a:fld>
            <a:endParaRPr lang="en-US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0353" rIns="90353"/>
          <a:lstStyle/>
          <a:p>
            <a:pPr defTabSz="89730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8194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elioxman.blogspot.com</a:t>
            </a:r>
            <a:r>
              <a:rPr lang="en-US" dirty="0"/>
              <a:t>/2013/02/</a:t>
            </a:r>
            <a:r>
              <a:rPr lang="en-US" dirty="0" err="1"/>
              <a:t>postgres-deadlock.html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99D1CC-2DD0-9340-8C33-E66EE752760E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328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B062BF-8938-6540-89F8-D1AD1892A69D}" type="slidenum">
              <a:rPr lang="en-US"/>
              <a:pPr/>
              <a:t>108</a:t>
            </a:fld>
            <a:endParaRPr lang="en-US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0353" rIns="90353"/>
          <a:lstStyle/>
          <a:p>
            <a:pPr defTabSz="89730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9123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6C3445-4911-6741-B235-1793BEBFC7C1}" type="slidenum">
              <a:rPr lang="en-US"/>
              <a:pPr/>
              <a:t>109</a:t>
            </a:fld>
            <a:endParaRPr lang="en-US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0353" rIns="90353"/>
          <a:lstStyle/>
          <a:p>
            <a:pPr defTabSz="89730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490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007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496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146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41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794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95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895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049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70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330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808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D90B07-AD28-5747-9B73-288F5357B022}"/>
              </a:ext>
            </a:extLst>
          </p:cNvPr>
          <p:cNvSpPr/>
          <p:nvPr userDrawn="1"/>
        </p:nvSpPr>
        <p:spPr>
          <a:xfrm>
            <a:off x="0" y="-49167"/>
            <a:ext cx="12192000" cy="26275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 Fall 2024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FE4DAA-039B-ED4A-AA72-44818C475C0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11900"/>
            <a:ext cx="866825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418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6.png"/><Relationship Id="rId42" Type="http://schemas.openxmlformats.org/officeDocument/2006/relationships/customXml" Target="../ink/ink21.xml"/><Relationship Id="rId47" Type="http://schemas.openxmlformats.org/officeDocument/2006/relationships/image" Target="../media/image29.png"/><Relationship Id="rId63" Type="http://schemas.openxmlformats.org/officeDocument/2006/relationships/customXml" Target="../ink/ink32.xml"/><Relationship Id="rId68" Type="http://schemas.openxmlformats.org/officeDocument/2006/relationships/image" Target="../media/image39.png"/><Relationship Id="rId84" Type="http://schemas.openxmlformats.org/officeDocument/2006/relationships/image" Target="../media/image47.png"/><Relationship Id="rId89" Type="http://schemas.openxmlformats.org/officeDocument/2006/relationships/customXml" Target="../ink/ink45.xml"/><Relationship Id="rId16" Type="http://schemas.openxmlformats.org/officeDocument/2006/relationships/customXml" Target="../ink/ink8.xml"/><Relationship Id="rId11" Type="http://schemas.openxmlformats.org/officeDocument/2006/relationships/image" Target="../media/image11.png"/><Relationship Id="rId32" Type="http://schemas.openxmlformats.org/officeDocument/2006/relationships/customXml" Target="../ink/ink16.xml"/><Relationship Id="rId37" Type="http://schemas.openxmlformats.org/officeDocument/2006/relationships/image" Target="../media/image24.png"/><Relationship Id="rId53" Type="http://schemas.openxmlformats.org/officeDocument/2006/relationships/customXml" Target="../ink/ink27.xml"/><Relationship Id="rId58" Type="http://schemas.openxmlformats.org/officeDocument/2006/relationships/image" Target="../media/image34.png"/><Relationship Id="rId74" Type="http://schemas.openxmlformats.org/officeDocument/2006/relationships/image" Target="../media/image42.png"/><Relationship Id="rId79" Type="http://schemas.openxmlformats.org/officeDocument/2006/relationships/customXml" Target="../ink/ink40.xml"/><Relationship Id="rId5" Type="http://schemas.openxmlformats.org/officeDocument/2006/relationships/image" Target="../media/image7.png"/><Relationship Id="rId90" Type="http://schemas.openxmlformats.org/officeDocument/2006/relationships/customXml" Target="../ink/ink46.xml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9.png"/><Relationship Id="rId30" Type="http://schemas.openxmlformats.org/officeDocument/2006/relationships/customXml" Target="../ink/ink15.xml"/><Relationship Id="rId35" Type="http://schemas.openxmlformats.org/officeDocument/2006/relationships/image" Target="../media/image23.png"/><Relationship Id="rId43" Type="http://schemas.openxmlformats.org/officeDocument/2006/relationships/image" Target="../media/image27.png"/><Relationship Id="rId48" Type="http://schemas.openxmlformats.org/officeDocument/2006/relationships/customXml" Target="../ink/ink24.xml"/><Relationship Id="rId56" Type="http://schemas.openxmlformats.org/officeDocument/2006/relationships/image" Target="../media/image33.png"/><Relationship Id="rId64" Type="http://schemas.openxmlformats.org/officeDocument/2006/relationships/image" Target="../media/image37.png"/><Relationship Id="rId69" Type="http://schemas.openxmlformats.org/officeDocument/2006/relationships/customXml" Target="../ink/ink35.xml"/><Relationship Id="rId77" Type="http://schemas.openxmlformats.org/officeDocument/2006/relationships/customXml" Target="../ink/ink39.xml"/><Relationship Id="rId8" Type="http://schemas.openxmlformats.org/officeDocument/2006/relationships/customXml" Target="../ink/ink4.xml"/><Relationship Id="rId51" Type="http://schemas.openxmlformats.org/officeDocument/2006/relationships/customXml" Target="../ink/ink26.xml"/><Relationship Id="rId72" Type="http://schemas.openxmlformats.org/officeDocument/2006/relationships/image" Target="../media/image41.png"/><Relationship Id="rId80" Type="http://schemas.openxmlformats.org/officeDocument/2006/relationships/image" Target="../media/image45.png"/><Relationship Id="rId85" Type="http://schemas.openxmlformats.org/officeDocument/2006/relationships/customXml" Target="../ink/ink43.xml"/><Relationship Id="rId3" Type="http://schemas.openxmlformats.org/officeDocument/2006/relationships/image" Target="../media/image6.png"/><Relationship Id="rId12" Type="http://schemas.openxmlformats.org/officeDocument/2006/relationships/customXml" Target="../ink/ink6.xml"/><Relationship Id="rId17" Type="http://schemas.openxmlformats.org/officeDocument/2006/relationships/image" Target="../media/image14.png"/><Relationship Id="rId25" Type="http://schemas.openxmlformats.org/officeDocument/2006/relationships/image" Target="../media/image18.png"/><Relationship Id="rId33" Type="http://schemas.openxmlformats.org/officeDocument/2006/relationships/image" Target="../media/image22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customXml" Target="../ink/ink30.xml"/><Relationship Id="rId67" Type="http://schemas.openxmlformats.org/officeDocument/2006/relationships/customXml" Target="../ink/ink34.xml"/><Relationship Id="rId20" Type="http://schemas.openxmlformats.org/officeDocument/2006/relationships/customXml" Target="../ink/ink10.xml"/><Relationship Id="rId41" Type="http://schemas.openxmlformats.org/officeDocument/2006/relationships/image" Target="../media/image26.png"/><Relationship Id="rId54" Type="http://schemas.openxmlformats.org/officeDocument/2006/relationships/image" Target="../media/image32.png"/><Relationship Id="rId62" Type="http://schemas.openxmlformats.org/officeDocument/2006/relationships/image" Target="../media/image36.png"/><Relationship Id="rId70" Type="http://schemas.openxmlformats.org/officeDocument/2006/relationships/image" Target="../media/image40.png"/><Relationship Id="rId75" Type="http://schemas.openxmlformats.org/officeDocument/2006/relationships/customXml" Target="../ink/ink38.xml"/><Relationship Id="rId83" Type="http://schemas.openxmlformats.org/officeDocument/2006/relationships/customXml" Target="../ink/ink42.xml"/><Relationship Id="rId88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13.png"/><Relationship Id="rId23" Type="http://schemas.openxmlformats.org/officeDocument/2006/relationships/image" Target="../media/image17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30.png"/><Relationship Id="rId57" Type="http://schemas.openxmlformats.org/officeDocument/2006/relationships/customXml" Target="../ink/ink29.xml"/><Relationship Id="rId10" Type="http://schemas.openxmlformats.org/officeDocument/2006/relationships/customXml" Target="../ink/ink5.xml"/><Relationship Id="rId31" Type="http://schemas.openxmlformats.org/officeDocument/2006/relationships/image" Target="../media/image21.png"/><Relationship Id="rId44" Type="http://schemas.openxmlformats.org/officeDocument/2006/relationships/customXml" Target="../ink/ink22.xml"/><Relationship Id="rId52" Type="http://schemas.openxmlformats.org/officeDocument/2006/relationships/image" Target="../media/image31.png"/><Relationship Id="rId60" Type="http://schemas.openxmlformats.org/officeDocument/2006/relationships/image" Target="../media/image35.png"/><Relationship Id="rId65" Type="http://schemas.openxmlformats.org/officeDocument/2006/relationships/customXml" Target="../ink/ink33.xml"/><Relationship Id="rId73" Type="http://schemas.openxmlformats.org/officeDocument/2006/relationships/customXml" Target="../ink/ink37.xml"/><Relationship Id="rId78" Type="http://schemas.openxmlformats.org/officeDocument/2006/relationships/image" Target="../media/image44.png"/><Relationship Id="rId81" Type="http://schemas.openxmlformats.org/officeDocument/2006/relationships/customXml" Target="../ink/ink41.xml"/><Relationship Id="rId86" Type="http://schemas.openxmlformats.org/officeDocument/2006/relationships/image" Target="../media/image48.png"/><Relationship Id="rId4" Type="http://schemas.openxmlformats.org/officeDocument/2006/relationships/customXml" Target="../ink/ink2.xml"/><Relationship Id="rId9" Type="http://schemas.openxmlformats.org/officeDocument/2006/relationships/image" Target="../media/image9.png"/><Relationship Id="rId13" Type="http://schemas.openxmlformats.org/officeDocument/2006/relationships/image" Target="../media/image12.png"/><Relationship Id="rId18" Type="http://schemas.openxmlformats.org/officeDocument/2006/relationships/customXml" Target="../ink/ink9.xml"/><Relationship Id="rId39" Type="http://schemas.openxmlformats.org/officeDocument/2006/relationships/image" Target="../media/image25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customXml" Target="../ink/ink28.xml"/><Relationship Id="rId76" Type="http://schemas.openxmlformats.org/officeDocument/2006/relationships/image" Target="../media/image43.png"/><Relationship Id="rId7" Type="http://schemas.openxmlformats.org/officeDocument/2006/relationships/image" Target="../media/image8.png"/><Relationship Id="rId71" Type="http://schemas.openxmlformats.org/officeDocument/2006/relationships/customXml" Target="../ink/ink36.xml"/><Relationship Id="rId2" Type="http://schemas.openxmlformats.org/officeDocument/2006/relationships/customXml" Target="../ink/ink1.xml"/><Relationship Id="rId29" Type="http://schemas.openxmlformats.org/officeDocument/2006/relationships/image" Target="../media/image20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8.png"/><Relationship Id="rId66" Type="http://schemas.openxmlformats.org/officeDocument/2006/relationships/image" Target="../media/image38.png"/><Relationship Id="rId87" Type="http://schemas.openxmlformats.org/officeDocument/2006/relationships/customXml" Target="../ink/ink44.xml"/><Relationship Id="rId61" Type="http://schemas.openxmlformats.org/officeDocument/2006/relationships/customXml" Target="../ink/ink31.xml"/><Relationship Id="rId82" Type="http://schemas.openxmlformats.org/officeDocument/2006/relationships/image" Target="../media/image46.png"/><Relationship Id="rId1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865438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/>
              <a:t>Transactions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24AAC-6001-C812-06A7-9AAAF0B18A2A}"/>
              </a:ext>
            </a:extLst>
          </p:cNvPr>
          <p:cNvSpPr txBox="1"/>
          <p:nvPr/>
        </p:nvSpPr>
        <p:spPr>
          <a:xfrm>
            <a:off x="2474026" y="6100948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https://gist.github.com/oldwestbury/01dd0dd8d7a148872cdd506cc9e4026a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57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for this pair of lectures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30259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Transactions</a:t>
            </a:r>
            <a:r>
              <a:rPr lang="en-US" dirty="0"/>
              <a:t> are a programming abstraction that enables the DBMS to handle </a:t>
            </a:r>
            <a:r>
              <a:rPr lang="en-US" i="1" dirty="0"/>
              <a:t>recovery</a:t>
            </a:r>
            <a:r>
              <a:rPr lang="en-US" dirty="0"/>
              <a:t> and </a:t>
            </a:r>
            <a:r>
              <a:rPr lang="en-US" i="1" dirty="0"/>
              <a:t>concurrency</a:t>
            </a:r>
            <a:r>
              <a:rPr lang="en-US" dirty="0"/>
              <a:t> for users.</a:t>
            </a:r>
          </a:p>
          <a:p>
            <a:endParaRPr lang="en-US" dirty="0"/>
          </a:p>
          <a:p>
            <a:r>
              <a:rPr lang="en-US" b="1" dirty="0"/>
              <a:t>Application: </a:t>
            </a:r>
            <a:r>
              <a:rPr lang="en-US" dirty="0"/>
              <a:t>Transactions are critical for users</a:t>
            </a:r>
          </a:p>
          <a:p>
            <a:pPr lvl="1"/>
            <a:r>
              <a:rPr lang="en-US" dirty="0"/>
              <a:t>Even casual users of data processing systems!</a:t>
            </a:r>
          </a:p>
          <a:p>
            <a:pPr marL="457200" lvl="1" indent="0">
              <a:buNone/>
            </a:pPr>
            <a:endParaRPr lang="en-US" b="1" dirty="0"/>
          </a:p>
          <a:p>
            <a:r>
              <a:rPr lang="en-US" b="1" dirty="0"/>
              <a:t>Fundamentals: </a:t>
            </a:r>
            <a:r>
              <a:rPr lang="en-US" dirty="0"/>
              <a:t>The basics of </a:t>
            </a:r>
            <a:r>
              <a:rPr lang="en-US" b="1" dirty="0"/>
              <a:t>how</a:t>
            </a:r>
            <a:r>
              <a:rPr lang="en-US" dirty="0"/>
              <a:t> TXNs work</a:t>
            </a:r>
          </a:p>
          <a:p>
            <a:pPr lvl="1"/>
            <a:r>
              <a:rPr lang="en-US" dirty="0"/>
              <a:t>Transaction processing is part of the debate around new data processing systems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Give you enough information to understand how TXNs work, and the main concerns with using them</a:t>
            </a:r>
          </a:p>
        </p:txBody>
      </p:sp>
    </p:spTree>
    <p:extLst>
      <p:ext uri="{BB962C8B-B14F-4D97-AF65-F5344CB8AC3E}">
        <p14:creationId xmlns:p14="http://schemas.microsoft.com/office/powerpoint/2010/main" val="2385313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865438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Intro to Transactions &amp; Logging</a:t>
            </a:r>
          </a:p>
        </p:txBody>
      </p:sp>
    </p:spTree>
    <p:extLst>
      <p:ext uri="{BB962C8B-B14F-4D97-AF65-F5344CB8AC3E}">
        <p14:creationId xmlns:p14="http://schemas.microsoft.com/office/powerpoint/2010/main" val="1202294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Transactions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053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will learn about in this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7578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latin typeface="+mj-lt"/>
              </a:rPr>
              <a:t>Our “model” of the DBMS / computer</a:t>
            </a:r>
          </a:p>
          <a:p>
            <a:pPr marL="514350" indent="-514350">
              <a:buAutoNum type="arabicPeriod"/>
            </a:pPr>
            <a:endParaRPr lang="en-US" dirty="0">
              <a:latin typeface="+mj-lt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+mj-lt"/>
              </a:rPr>
              <a:t>Transactions basics</a:t>
            </a:r>
          </a:p>
          <a:p>
            <a:pPr marL="514350" indent="-514350">
              <a:buAutoNum type="arabicPeriod"/>
            </a:pPr>
            <a:endParaRPr lang="en-US" dirty="0">
              <a:latin typeface="+mj-lt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+mj-lt"/>
              </a:rPr>
              <a:t>Motivation: Recovery &amp; Durability</a:t>
            </a:r>
          </a:p>
          <a:p>
            <a:pPr marL="514350" indent="-514350">
              <a:buAutoNum type="arabicPeriod"/>
            </a:pPr>
            <a:endParaRPr lang="en-US" dirty="0">
              <a:latin typeface="+mj-lt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+mj-lt"/>
              </a:rPr>
              <a:t>Motivation: Concurrency </a:t>
            </a:r>
            <a:r>
              <a:rPr lang="en-US" i="1" dirty="0">
                <a:latin typeface="+mj-lt"/>
              </a:rPr>
              <a:t>[next lecture]</a:t>
            </a:r>
            <a:endParaRPr lang="en-US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8780" y="-22510"/>
              <a:ext cx="17524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Lecture 7  &gt;  Section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9961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High-level: Disk vs. Main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Disk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endParaRPr lang="en-US" i="1" dirty="0"/>
          </a:p>
          <a:p>
            <a:pPr lvl="1"/>
            <a:r>
              <a:rPr lang="en-US" i="1" dirty="0"/>
              <a:t>Slow</a:t>
            </a:r>
            <a:endParaRPr lang="en-US" u="sng" dirty="0"/>
          </a:p>
          <a:p>
            <a:pPr lvl="2"/>
            <a:r>
              <a:rPr lang="en-US" dirty="0"/>
              <a:t>Sequential access</a:t>
            </a:r>
          </a:p>
          <a:p>
            <a:pPr lvl="3"/>
            <a:r>
              <a:rPr lang="en-US" dirty="0"/>
              <a:t>(although fast sequential reads)</a:t>
            </a:r>
          </a:p>
          <a:p>
            <a:pPr lvl="2"/>
            <a:endParaRPr lang="en-US" u="sng" dirty="0"/>
          </a:p>
          <a:p>
            <a:pPr lvl="1"/>
            <a:r>
              <a:rPr lang="en-US" i="1" dirty="0"/>
              <a:t>Durable</a:t>
            </a:r>
          </a:p>
          <a:p>
            <a:pPr lvl="2"/>
            <a:r>
              <a:rPr lang="en-US" dirty="0"/>
              <a:t>We will assume that once on disk, data is safe!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Cheap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6</a:t>
            </a:fld>
            <a:endParaRPr lang="en-US"/>
          </a:p>
        </p:txBody>
      </p:sp>
      <p:grpSp>
        <p:nvGrpSpPr>
          <p:cNvPr id="64" name="Group 63"/>
          <p:cNvGrpSpPr/>
          <p:nvPr/>
        </p:nvGrpSpPr>
        <p:grpSpPr>
          <a:xfrm>
            <a:off x="7183707" y="1970453"/>
            <a:ext cx="4580346" cy="4206510"/>
            <a:chOff x="5257801" y="1676400"/>
            <a:chExt cx="5417379" cy="4975226"/>
          </a:xfrm>
        </p:grpSpPr>
        <p:grpSp>
          <p:nvGrpSpPr>
            <p:cNvPr id="9" name="Group 5"/>
            <p:cNvGrpSpPr>
              <a:grpSpLocks/>
            </p:cNvGrpSpPr>
            <p:nvPr/>
          </p:nvGrpSpPr>
          <p:grpSpPr bwMode="auto">
            <a:xfrm>
              <a:off x="6732588" y="2787651"/>
              <a:ext cx="3149600" cy="1801813"/>
              <a:chOff x="2998" y="1129"/>
              <a:chExt cx="1984" cy="1135"/>
            </a:xfrm>
          </p:grpSpPr>
          <p:sp>
            <p:nvSpPr>
              <p:cNvPr id="10" name="Freeform 6"/>
              <p:cNvSpPr>
                <a:spLocks/>
              </p:cNvSpPr>
              <p:nvPr/>
            </p:nvSpPr>
            <p:spPr bwMode="auto">
              <a:xfrm>
                <a:off x="2998" y="1499"/>
                <a:ext cx="1984" cy="765"/>
              </a:xfrm>
              <a:custGeom>
                <a:avLst/>
                <a:gdLst/>
                <a:ahLst/>
                <a:cxnLst>
                  <a:cxn ang="0">
                    <a:pos x="0" y="386"/>
                  </a:cxn>
                  <a:cxn ang="0">
                    <a:pos x="16" y="320"/>
                  </a:cxn>
                  <a:cxn ang="0">
                    <a:pos x="57" y="255"/>
                  </a:cxn>
                  <a:cxn ang="0">
                    <a:pos x="131" y="197"/>
                  </a:cxn>
                  <a:cxn ang="0">
                    <a:pos x="230" y="140"/>
                  </a:cxn>
                  <a:cxn ang="0">
                    <a:pos x="353" y="90"/>
                  </a:cxn>
                  <a:cxn ang="0">
                    <a:pos x="493" y="58"/>
                  </a:cxn>
                  <a:cxn ang="0">
                    <a:pos x="650" y="25"/>
                  </a:cxn>
                  <a:cxn ang="0">
                    <a:pos x="814" y="8"/>
                  </a:cxn>
                  <a:cxn ang="0">
                    <a:pos x="987" y="0"/>
                  </a:cxn>
                  <a:cxn ang="0">
                    <a:pos x="1160" y="8"/>
                  </a:cxn>
                  <a:cxn ang="0">
                    <a:pos x="1333" y="25"/>
                  </a:cxn>
                  <a:cxn ang="0">
                    <a:pos x="1489" y="58"/>
                  </a:cxn>
                  <a:cxn ang="0">
                    <a:pos x="1629" y="90"/>
                  </a:cxn>
                  <a:cxn ang="0">
                    <a:pos x="1753" y="140"/>
                  </a:cxn>
                  <a:cxn ang="0">
                    <a:pos x="1852" y="197"/>
                  </a:cxn>
                  <a:cxn ang="0">
                    <a:pos x="1926" y="255"/>
                  </a:cxn>
                  <a:cxn ang="0">
                    <a:pos x="1967" y="320"/>
                  </a:cxn>
                  <a:cxn ang="0">
                    <a:pos x="1983" y="386"/>
                  </a:cxn>
                  <a:cxn ang="0">
                    <a:pos x="1967" y="452"/>
                  </a:cxn>
                  <a:cxn ang="0">
                    <a:pos x="1926" y="518"/>
                  </a:cxn>
                  <a:cxn ang="0">
                    <a:pos x="1852" y="575"/>
                  </a:cxn>
                  <a:cxn ang="0">
                    <a:pos x="1753" y="633"/>
                  </a:cxn>
                  <a:cxn ang="0">
                    <a:pos x="1629" y="674"/>
                  </a:cxn>
                  <a:cxn ang="0">
                    <a:pos x="1489" y="715"/>
                  </a:cxn>
                  <a:cxn ang="0">
                    <a:pos x="1333" y="740"/>
                  </a:cxn>
                  <a:cxn ang="0">
                    <a:pos x="1160" y="764"/>
                  </a:cxn>
                  <a:cxn ang="0">
                    <a:pos x="987" y="764"/>
                  </a:cxn>
                  <a:cxn ang="0">
                    <a:pos x="814" y="764"/>
                  </a:cxn>
                  <a:cxn ang="0">
                    <a:pos x="650" y="740"/>
                  </a:cxn>
                  <a:cxn ang="0">
                    <a:pos x="493" y="715"/>
                  </a:cxn>
                  <a:cxn ang="0">
                    <a:pos x="353" y="674"/>
                  </a:cxn>
                  <a:cxn ang="0">
                    <a:pos x="230" y="633"/>
                  </a:cxn>
                  <a:cxn ang="0">
                    <a:pos x="131" y="575"/>
                  </a:cxn>
                  <a:cxn ang="0">
                    <a:pos x="57" y="518"/>
                  </a:cxn>
                  <a:cxn ang="0">
                    <a:pos x="16" y="452"/>
                  </a:cxn>
                  <a:cxn ang="0">
                    <a:pos x="0" y="386"/>
                  </a:cxn>
                </a:cxnLst>
                <a:rect l="0" t="0" r="r" b="b"/>
                <a:pathLst>
                  <a:path w="1984" h="765">
                    <a:moveTo>
                      <a:pt x="0" y="386"/>
                    </a:moveTo>
                    <a:lnTo>
                      <a:pt x="16" y="320"/>
                    </a:lnTo>
                    <a:lnTo>
                      <a:pt x="57" y="255"/>
                    </a:lnTo>
                    <a:lnTo>
                      <a:pt x="131" y="197"/>
                    </a:lnTo>
                    <a:lnTo>
                      <a:pt x="230" y="140"/>
                    </a:lnTo>
                    <a:lnTo>
                      <a:pt x="353" y="90"/>
                    </a:lnTo>
                    <a:lnTo>
                      <a:pt x="493" y="58"/>
                    </a:lnTo>
                    <a:lnTo>
                      <a:pt x="650" y="25"/>
                    </a:lnTo>
                    <a:lnTo>
                      <a:pt x="814" y="8"/>
                    </a:lnTo>
                    <a:lnTo>
                      <a:pt x="987" y="0"/>
                    </a:lnTo>
                    <a:lnTo>
                      <a:pt x="1160" y="8"/>
                    </a:lnTo>
                    <a:lnTo>
                      <a:pt x="1333" y="25"/>
                    </a:lnTo>
                    <a:lnTo>
                      <a:pt x="1489" y="58"/>
                    </a:lnTo>
                    <a:lnTo>
                      <a:pt x="1629" y="90"/>
                    </a:lnTo>
                    <a:lnTo>
                      <a:pt x="1753" y="140"/>
                    </a:lnTo>
                    <a:lnTo>
                      <a:pt x="1852" y="197"/>
                    </a:lnTo>
                    <a:lnTo>
                      <a:pt x="1926" y="255"/>
                    </a:lnTo>
                    <a:lnTo>
                      <a:pt x="1967" y="320"/>
                    </a:lnTo>
                    <a:lnTo>
                      <a:pt x="1983" y="386"/>
                    </a:lnTo>
                    <a:lnTo>
                      <a:pt x="1967" y="452"/>
                    </a:lnTo>
                    <a:lnTo>
                      <a:pt x="1926" y="518"/>
                    </a:lnTo>
                    <a:lnTo>
                      <a:pt x="1852" y="575"/>
                    </a:lnTo>
                    <a:lnTo>
                      <a:pt x="1753" y="633"/>
                    </a:lnTo>
                    <a:lnTo>
                      <a:pt x="1629" y="674"/>
                    </a:lnTo>
                    <a:lnTo>
                      <a:pt x="1489" y="715"/>
                    </a:lnTo>
                    <a:lnTo>
                      <a:pt x="1333" y="740"/>
                    </a:lnTo>
                    <a:lnTo>
                      <a:pt x="1160" y="764"/>
                    </a:lnTo>
                    <a:lnTo>
                      <a:pt x="987" y="764"/>
                    </a:lnTo>
                    <a:lnTo>
                      <a:pt x="814" y="764"/>
                    </a:lnTo>
                    <a:lnTo>
                      <a:pt x="650" y="740"/>
                    </a:lnTo>
                    <a:lnTo>
                      <a:pt x="493" y="715"/>
                    </a:lnTo>
                    <a:lnTo>
                      <a:pt x="353" y="674"/>
                    </a:lnTo>
                    <a:lnTo>
                      <a:pt x="230" y="633"/>
                    </a:lnTo>
                    <a:lnTo>
                      <a:pt x="131" y="575"/>
                    </a:lnTo>
                    <a:lnTo>
                      <a:pt x="57" y="518"/>
                    </a:lnTo>
                    <a:lnTo>
                      <a:pt x="16" y="452"/>
                    </a:lnTo>
                    <a:lnTo>
                      <a:pt x="0" y="386"/>
                    </a:lnTo>
                  </a:path>
                </a:pathLst>
              </a:custGeom>
              <a:solidFill>
                <a:srgbClr val="000000"/>
              </a:solidFill>
              <a:ln w="508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defTabSz="457200"/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1" name="Freeform 7"/>
              <p:cNvSpPr>
                <a:spLocks/>
              </p:cNvSpPr>
              <p:nvPr/>
            </p:nvSpPr>
            <p:spPr bwMode="auto">
              <a:xfrm>
                <a:off x="2998" y="1129"/>
                <a:ext cx="1984" cy="765"/>
              </a:xfrm>
              <a:custGeom>
                <a:avLst/>
                <a:gdLst/>
                <a:ahLst/>
                <a:cxnLst>
                  <a:cxn ang="0">
                    <a:pos x="0" y="386"/>
                  </a:cxn>
                  <a:cxn ang="0">
                    <a:pos x="16" y="321"/>
                  </a:cxn>
                  <a:cxn ang="0">
                    <a:pos x="57" y="255"/>
                  </a:cxn>
                  <a:cxn ang="0">
                    <a:pos x="131" y="197"/>
                  </a:cxn>
                  <a:cxn ang="0">
                    <a:pos x="230" y="140"/>
                  </a:cxn>
                  <a:cxn ang="0">
                    <a:pos x="353" y="91"/>
                  </a:cxn>
                  <a:cxn ang="0">
                    <a:pos x="493" y="58"/>
                  </a:cxn>
                  <a:cxn ang="0">
                    <a:pos x="650" y="25"/>
                  </a:cxn>
                  <a:cxn ang="0">
                    <a:pos x="814" y="8"/>
                  </a:cxn>
                  <a:cxn ang="0">
                    <a:pos x="987" y="0"/>
                  </a:cxn>
                  <a:cxn ang="0">
                    <a:pos x="1160" y="8"/>
                  </a:cxn>
                  <a:cxn ang="0">
                    <a:pos x="1333" y="25"/>
                  </a:cxn>
                  <a:cxn ang="0">
                    <a:pos x="1489" y="58"/>
                  </a:cxn>
                  <a:cxn ang="0">
                    <a:pos x="1629" y="91"/>
                  </a:cxn>
                  <a:cxn ang="0">
                    <a:pos x="1753" y="140"/>
                  </a:cxn>
                  <a:cxn ang="0">
                    <a:pos x="1852" y="197"/>
                  </a:cxn>
                  <a:cxn ang="0">
                    <a:pos x="1926" y="255"/>
                  </a:cxn>
                  <a:cxn ang="0">
                    <a:pos x="1967" y="321"/>
                  </a:cxn>
                  <a:cxn ang="0">
                    <a:pos x="1983" y="386"/>
                  </a:cxn>
                  <a:cxn ang="0">
                    <a:pos x="1967" y="452"/>
                  </a:cxn>
                  <a:cxn ang="0">
                    <a:pos x="1926" y="518"/>
                  </a:cxn>
                  <a:cxn ang="0">
                    <a:pos x="1852" y="575"/>
                  </a:cxn>
                  <a:cxn ang="0">
                    <a:pos x="1753" y="633"/>
                  </a:cxn>
                  <a:cxn ang="0">
                    <a:pos x="1629" y="674"/>
                  </a:cxn>
                  <a:cxn ang="0">
                    <a:pos x="1489" y="715"/>
                  </a:cxn>
                  <a:cxn ang="0">
                    <a:pos x="1333" y="740"/>
                  </a:cxn>
                  <a:cxn ang="0">
                    <a:pos x="1160" y="764"/>
                  </a:cxn>
                  <a:cxn ang="0">
                    <a:pos x="987" y="764"/>
                  </a:cxn>
                  <a:cxn ang="0">
                    <a:pos x="814" y="764"/>
                  </a:cxn>
                  <a:cxn ang="0">
                    <a:pos x="650" y="740"/>
                  </a:cxn>
                  <a:cxn ang="0">
                    <a:pos x="493" y="715"/>
                  </a:cxn>
                  <a:cxn ang="0">
                    <a:pos x="353" y="674"/>
                  </a:cxn>
                  <a:cxn ang="0">
                    <a:pos x="230" y="633"/>
                  </a:cxn>
                  <a:cxn ang="0">
                    <a:pos x="131" y="575"/>
                  </a:cxn>
                  <a:cxn ang="0">
                    <a:pos x="57" y="518"/>
                  </a:cxn>
                  <a:cxn ang="0">
                    <a:pos x="16" y="452"/>
                  </a:cxn>
                  <a:cxn ang="0">
                    <a:pos x="0" y="386"/>
                  </a:cxn>
                </a:cxnLst>
                <a:rect l="0" t="0" r="r" b="b"/>
                <a:pathLst>
                  <a:path w="1984" h="765">
                    <a:moveTo>
                      <a:pt x="0" y="386"/>
                    </a:moveTo>
                    <a:lnTo>
                      <a:pt x="16" y="321"/>
                    </a:lnTo>
                    <a:lnTo>
                      <a:pt x="57" y="255"/>
                    </a:lnTo>
                    <a:lnTo>
                      <a:pt x="131" y="197"/>
                    </a:lnTo>
                    <a:lnTo>
                      <a:pt x="230" y="140"/>
                    </a:lnTo>
                    <a:lnTo>
                      <a:pt x="353" y="91"/>
                    </a:lnTo>
                    <a:lnTo>
                      <a:pt x="493" y="58"/>
                    </a:lnTo>
                    <a:lnTo>
                      <a:pt x="650" y="25"/>
                    </a:lnTo>
                    <a:lnTo>
                      <a:pt x="814" y="8"/>
                    </a:lnTo>
                    <a:lnTo>
                      <a:pt x="987" y="0"/>
                    </a:lnTo>
                    <a:lnTo>
                      <a:pt x="1160" y="8"/>
                    </a:lnTo>
                    <a:lnTo>
                      <a:pt x="1333" y="25"/>
                    </a:lnTo>
                    <a:lnTo>
                      <a:pt x="1489" y="58"/>
                    </a:lnTo>
                    <a:lnTo>
                      <a:pt x="1629" y="91"/>
                    </a:lnTo>
                    <a:lnTo>
                      <a:pt x="1753" y="140"/>
                    </a:lnTo>
                    <a:lnTo>
                      <a:pt x="1852" y="197"/>
                    </a:lnTo>
                    <a:lnTo>
                      <a:pt x="1926" y="255"/>
                    </a:lnTo>
                    <a:lnTo>
                      <a:pt x="1967" y="321"/>
                    </a:lnTo>
                    <a:lnTo>
                      <a:pt x="1983" y="386"/>
                    </a:lnTo>
                    <a:lnTo>
                      <a:pt x="1967" y="452"/>
                    </a:lnTo>
                    <a:lnTo>
                      <a:pt x="1926" y="518"/>
                    </a:lnTo>
                    <a:lnTo>
                      <a:pt x="1852" y="575"/>
                    </a:lnTo>
                    <a:lnTo>
                      <a:pt x="1753" y="633"/>
                    </a:lnTo>
                    <a:lnTo>
                      <a:pt x="1629" y="674"/>
                    </a:lnTo>
                    <a:lnTo>
                      <a:pt x="1489" y="715"/>
                    </a:lnTo>
                    <a:lnTo>
                      <a:pt x="1333" y="740"/>
                    </a:lnTo>
                    <a:lnTo>
                      <a:pt x="1160" y="764"/>
                    </a:lnTo>
                    <a:lnTo>
                      <a:pt x="987" y="764"/>
                    </a:lnTo>
                    <a:lnTo>
                      <a:pt x="814" y="764"/>
                    </a:lnTo>
                    <a:lnTo>
                      <a:pt x="650" y="740"/>
                    </a:lnTo>
                    <a:lnTo>
                      <a:pt x="493" y="715"/>
                    </a:lnTo>
                    <a:lnTo>
                      <a:pt x="353" y="674"/>
                    </a:lnTo>
                    <a:lnTo>
                      <a:pt x="230" y="633"/>
                    </a:lnTo>
                    <a:lnTo>
                      <a:pt x="131" y="575"/>
                    </a:lnTo>
                    <a:lnTo>
                      <a:pt x="57" y="518"/>
                    </a:lnTo>
                    <a:lnTo>
                      <a:pt x="16" y="452"/>
                    </a:lnTo>
                    <a:lnTo>
                      <a:pt x="0" y="386"/>
                    </a:lnTo>
                  </a:path>
                </a:pathLst>
              </a:custGeom>
              <a:solidFill>
                <a:srgbClr val="000000"/>
              </a:solidFill>
              <a:ln w="508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defTabSz="457200"/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2" name="Group 8"/>
            <p:cNvGrpSpPr>
              <a:grpSpLocks/>
            </p:cNvGrpSpPr>
            <p:nvPr/>
          </p:nvGrpSpPr>
          <p:grpSpPr bwMode="auto">
            <a:xfrm>
              <a:off x="6705600" y="2057401"/>
              <a:ext cx="3176588" cy="4594225"/>
              <a:chOff x="2981" y="669"/>
              <a:chExt cx="2001" cy="2894"/>
            </a:xfrm>
          </p:grpSpPr>
          <p:grpSp>
            <p:nvGrpSpPr>
              <p:cNvPr id="13" name="Group 9"/>
              <p:cNvGrpSpPr>
                <a:grpSpLocks/>
              </p:cNvGrpSpPr>
              <p:nvPr/>
            </p:nvGrpSpPr>
            <p:grpSpPr bwMode="auto">
              <a:xfrm>
                <a:off x="2981" y="1096"/>
                <a:ext cx="2001" cy="2467"/>
                <a:chOff x="2981" y="1096"/>
                <a:chExt cx="2001" cy="2467"/>
              </a:xfrm>
            </p:grpSpPr>
            <p:grpSp>
              <p:nvGrpSpPr>
                <p:cNvPr id="23" name="Group 10"/>
                <p:cNvGrpSpPr>
                  <a:grpSpLocks/>
                </p:cNvGrpSpPr>
                <p:nvPr/>
              </p:nvGrpSpPr>
              <p:grpSpPr bwMode="auto">
                <a:xfrm>
                  <a:off x="2998" y="1466"/>
                  <a:ext cx="1984" cy="765"/>
                  <a:chOff x="2998" y="1466"/>
                  <a:chExt cx="1984" cy="765"/>
                </a:xfrm>
              </p:grpSpPr>
              <p:sp>
                <p:nvSpPr>
                  <p:cNvPr id="29" name="Freeform 11"/>
                  <p:cNvSpPr>
                    <a:spLocks/>
                  </p:cNvSpPr>
                  <p:nvPr/>
                </p:nvSpPr>
                <p:spPr bwMode="auto">
                  <a:xfrm>
                    <a:off x="2998" y="1466"/>
                    <a:ext cx="1984" cy="765"/>
                  </a:xfrm>
                  <a:custGeom>
                    <a:avLst/>
                    <a:gdLst/>
                    <a:ahLst/>
                    <a:cxnLst>
                      <a:cxn ang="0">
                        <a:pos x="0" y="378"/>
                      </a:cxn>
                      <a:cxn ang="0">
                        <a:pos x="16" y="312"/>
                      </a:cxn>
                      <a:cxn ang="0">
                        <a:pos x="57" y="247"/>
                      </a:cxn>
                      <a:cxn ang="0">
                        <a:pos x="131" y="189"/>
                      </a:cxn>
                      <a:cxn ang="0">
                        <a:pos x="230" y="132"/>
                      </a:cxn>
                      <a:cxn ang="0">
                        <a:pos x="353" y="91"/>
                      </a:cxn>
                      <a:cxn ang="0">
                        <a:pos x="493" y="49"/>
                      </a:cxn>
                      <a:cxn ang="0">
                        <a:pos x="650" y="25"/>
                      </a:cxn>
                      <a:cxn ang="0">
                        <a:pos x="814" y="0"/>
                      </a:cxn>
                      <a:cxn ang="0">
                        <a:pos x="987" y="0"/>
                      </a:cxn>
                      <a:cxn ang="0">
                        <a:pos x="1160" y="0"/>
                      </a:cxn>
                      <a:cxn ang="0">
                        <a:pos x="1333" y="25"/>
                      </a:cxn>
                      <a:cxn ang="0">
                        <a:pos x="1489" y="49"/>
                      </a:cxn>
                      <a:cxn ang="0">
                        <a:pos x="1629" y="91"/>
                      </a:cxn>
                      <a:cxn ang="0">
                        <a:pos x="1753" y="132"/>
                      </a:cxn>
                      <a:cxn ang="0">
                        <a:pos x="1852" y="189"/>
                      </a:cxn>
                      <a:cxn ang="0">
                        <a:pos x="1926" y="247"/>
                      </a:cxn>
                      <a:cxn ang="0">
                        <a:pos x="1967" y="312"/>
                      </a:cxn>
                      <a:cxn ang="0">
                        <a:pos x="1983" y="378"/>
                      </a:cxn>
                      <a:cxn ang="0">
                        <a:pos x="1967" y="444"/>
                      </a:cxn>
                      <a:cxn ang="0">
                        <a:pos x="1926" y="510"/>
                      </a:cxn>
                      <a:cxn ang="0">
                        <a:pos x="1852" y="567"/>
                      </a:cxn>
                      <a:cxn ang="0">
                        <a:pos x="1753" y="625"/>
                      </a:cxn>
                      <a:cxn ang="0">
                        <a:pos x="1629" y="674"/>
                      </a:cxn>
                      <a:cxn ang="0">
                        <a:pos x="1489" y="707"/>
                      </a:cxn>
                      <a:cxn ang="0">
                        <a:pos x="1333" y="740"/>
                      </a:cxn>
                      <a:cxn ang="0">
                        <a:pos x="1160" y="756"/>
                      </a:cxn>
                      <a:cxn ang="0">
                        <a:pos x="987" y="764"/>
                      </a:cxn>
                      <a:cxn ang="0">
                        <a:pos x="814" y="756"/>
                      </a:cxn>
                      <a:cxn ang="0">
                        <a:pos x="650" y="740"/>
                      </a:cxn>
                      <a:cxn ang="0">
                        <a:pos x="493" y="707"/>
                      </a:cxn>
                      <a:cxn ang="0">
                        <a:pos x="353" y="674"/>
                      </a:cxn>
                      <a:cxn ang="0">
                        <a:pos x="230" y="625"/>
                      </a:cxn>
                      <a:cxn ang="0">
                        <a:pos x="131" y="567"/>
                      </a:cxn>
                      <a:cxn ang="0">
                        <a:pos x="57" y="510"/>
                      </a:cxn>
                      <a:cxn ang="0">
                        <a:pos x="16" y="444"/>
                      </a:cxn>
                      <a:cxn ang="0">
                        <a:pos x="0" y="378"/>
                      </a:cxn>
                    </a:cxnLst>
                    <a:rect l="0" t="0" r="r" b="b"/>
                    <a:pathLst>
                      <a:path w="1984" h="765">
                        <a:moveTo>
                          <a:pt x="0" y="378"/>
                        </a:moveTo>
                        <a:lnTo>
                          <a:pt x="16" y="312"/>
                        </a:lnTo>
                        <a:lnTo>
                          <a:pt x="57" y="247"/>
                        </a:lnTo>
                        <a:lnTo>
                          <a:pt x="131" y="189"/>
                        </a:lnTo>
                        <a:lnTo>
                          <a:pt x="230" y="132"/>
                        </a:lnTo>
                        <a:lnTo>
                          <a:pt x="353" y="91"/>
                        </a:lnTo>
                        <a:lnTo>
                          <a:pt x="493" y="49"/>
                        </a:lnTo>
                        <a:lnTo>
                          <a:pt x="650" y="25"/>
                        </a:lnTo>
                        <a:lnTo>
                          <a:pt x="814" y="0"/>
                        </a:lnTo>
                        <a:lnTo>
                          <a:pt x="987" y="0"/>
                        </a:lnTo>
                        <a:lnTo>
                          <a:pt x="1160" y="0"/>
                        </a:lnTo>
                        <a:lnTo>
                          <a:pt x="1333" y="25"/>
                        </a:lnTo>
                        <a:lnTo>
                          <a:pt x="1489" y="49"/>
                        </a:lnTo>
                        <a:lnTo>
                          <a:pt x="1629" y="91"/>
                        </a:lnTo>
                        <a:lnTo>
                          <a:pt x="1753" y="132"/>
                        </a:lnTo>
                        <a:lnTo>
                          <a:pt x="1852" y="189"/>
                        </a:lnTo>
                        <a:lnTo>
                          <a:pt x="1926" y="247"/>
                        </a:lnTo>
                        <a:lnTo>
                          <a:pt x="1967" y="312"/>
                        </a:lnTo>
                        <a:lnTo>
                          <a:pt x="1983" y="378"/>
                        </a:lnTo>
                        <a:lnTo>
                          <a:pt x="1967" y="444"/>
                        </a:lnTo>
                        <a:lnTo>
                          <a:pt x="1926" y="510"/>
                        </a:lnTo>
                        <a:lnTo>
                          <a:pt x="1852" y="567"/>
                        </a:lnTo>
                        <a:lnTo>
                          <a:pt x="1753" y="625"/>
                        </a:lnTo>
                        <a:lnTo>
                          <a:pt x="1629" y="674"/>
                        </a:lnTo>
                        <a:lnTo>
                          <a:pt x="1489" y="707"/>
                        </a:lnTo>
                        <a:lnTo>
                          <a:pt x="1333" y="740"/>
                        </a:lnTo>
                        <a:lnTo>
                          <a:pt x="1160" y="756"/>
                        </a:lnTo>
                        <a:lnTo>
                          <a:pt x="987" y="764"/>
                        </a:lnTo>
                        <a:lnTo>
                          <a:pt x="814" y="756"/>
                        </a:lnTo>
                        <a:lnTo>
                          <a:pt x="650" y="740"/>
                        </a:lnTo>
                        <a:lnTo>
                          <a:pt x="493" y="707"/>
                        </a:lnTo>
                        <a:lnTo>
                          <a:pt x="353" y="674"/>
                        </a:lnTo>
                        <a:lnTo>
                          <a:pt x="230" y="625"/>
                        </a:lnTo>
                        <a:lnTo>
                          <a:pt x="131" y="567"/>
                        </a:lnTo>
                        <a:lnTo>
                          <a:pt x="57" y="510"/>
                        </a:lnTo>
                        <a:lnTo>
                          <a:pt x="16" y="444"/>
                        </a:lnTo>
                        <a:lnTo>
                          <a:pt x="0" y="378"/>
                        </a:lnTo>
                      </a:path>
                    </a:pathLst>
                  </a:custGeom>
                  <a:solidFill>
                    <a:srgbClr val="FFFFFF"/>
                  </a:solidFill>
                  <a:ln w="12700" cap="rnd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defTabSz="457200"/>
                    <a:endParaRPr 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0" name="Freeform 12"/>
                  <p:cNvSpPr>
                    <a:spLocks/>
                  </p:cNvSpPr>
                  <p:nvPr/>
                </p:nvSpPr>
                <p:spPr bwMode="auto">
                  <a:xfrm>
                    <a:off x="3055" y="1524"/>
                    <a:ext cx="1853" cy="650"/>
                  </a:xfrm>
                  <a:custGeom>
                    <a:avLst/>
                    <a:gdLst/>
                    <a:ahLst/>
                    <a:cxnLst>
                      <a:cxn ang="0">
                        <a:pos x="0" y="328"/>
                      </a:cxn>
                      <a:cxn ang="0">
                        <a:pos x="17" y="263"/>
                      </a:cxn>
                      <a:cxn ang="0">
                        <a:pos x="66" y="205"/>
                      </a:cxn>
                      <a:cxn ang="0">
                        <a:pos x="140" y="156"/>
                      </a:cxn>
                      <a:cxn ang="0">
                        <a:pos x="247" y="106"/>
                      </a:cxn>
                      <a:cxn ang="0">
                        <a:pos x="371" y="65"/>
                      </a:cxn>
                      <a:cxn ang="0">
                        <a:pos x="519" y="33"/>
                      </a:cxn>
                      <a:cxn ang="0">
                        <a:pos x="675" y="16"/>
                      </a:cxn>
                      <a:cxn ang="0">
                        <a:pos x="840" y="0"/>
                      </a:cxn>
                      <a:cxn ang="0">
                        <a:pos x="1013" y="0"/>
                      </a:cxn>
                      <a:cxn ang="0">
                        <a:pos x="1177" y="16"/>
                      </a:cxn>
                      <a:cxn ang="0">
                        <a:pos x="1342" y="33"/>
                      </a:cxn>
                      <a:cxn ang="0">
                        <a:pos x="1482" y="65"/>
                      </a:cxn>
                      <a:cxn ang="0">
                        <a:pos x="1613" y="106"/>
                      </a:cxn>
                      <a:cxn ang="0">
                        <a:pos x="1712" y="156"/>
                      </a:cxn>
                      <a:cxn ang="0">
                        <a:pos x="1795" y="205"/>
                      </a:cxn>
                      <a:cxn ang="0">
                        <a:pos x="1836" y="263"/>
                      </a:cxn>
                      <a:cxn ang="0">
                        <a:pos x="1852" y="328"/>
                      </a:cxn>
                      <a:cxn ang="0">
                        <a:pos x="1836" y="386"/>
                      </a:cxn>
                      <a:cxn ang="0">
                        <a:pos x="1795" y="443"/>
                      </a:cxn>
                      <a:cxn ang="0">
                        <a:pos x="1712" y="493"/>
                      </a:cxn>
                      <a:cxn ang="0">
                        <a:pos x="1613" y="542"/>
                      </a:cxn>
                      <a:cxn ang="0">
                        <a:pos x="1482" y="583"/>
                      </a:cxn>
                      <a:cxn ang="0">
                        <a:pos x="1342" y="616"/>
                      </a:cxn>
                      <a:cxn ang="0">
                        <a:pos x="1177" y="641"/>
                      </a:cxn>
                      <a:cxn ang="0">
                        <a:pos x="1013" y="649"/>
                      </a:cxn>
                      <a:cxn ang="0">
                        <a:pos x="840" y="649"/>
                      </a:cxn>
                      <a:cxn ang="0">
                        <a:pos x="675" y="641"/>
                      </a:cxn>
                      <a:cxn ang="0">
                        <a:pos x="519" y="616"/>
                      </a:cxn>
                      <a:cxn ang="0">
                        <a:pos x="371" y="583"/>
                      </a:cxn>
                      <a:cxn ang="0">
                        <a:pos x="247" y="542"/>
                      </a:cxn>
                      <a:cxn ang="0">
                        <a:pos x="140" y="493"/>
                      </a:cxn>
                      <a:cxn ang="0">
                        <a:pos x="66" y="443"/>
                      </a:cxn>
                      <a:cxn ang="0">
                        <a:pos x="17" y="386"/>
                      </a:cxn>
                      <a:cxn ang="0">
                        <a:pos x="0" y="328"/>
                      </a:cxn>
                    </a:cxnLst>
                    <a:rect l="0" t="0" r="r" b="b"/>
                    <a:pathLst>
                      <a:path w="1853" h="650">
                        <a:moveTo>
                          <a:pt x="0" y="328"/>
                        </a:moveTo>
                        <a:lnTo>
                          <a:pt x="17" y="263"/>
                        </a:lnTo>
                        <a:lnTo>
                          <a:pt x="66" y="205"/>
                        </a:lnTo>
                        <a:lnTo>
                          <a:pt x="140" y="156"/>
                        </a:lnTo>
                        <a:lnTo>
                          <a:pt x="247" y="106"/>
                        </a:lnTo>
                        <a:lnTo>
                          <a:pt x="371" y="65"/>
                        </a:lnTo>
                        <a:lnTo>
                          <a:pt x="519" y="33"/>
                        </a:lnTo>
                        <a:lnTo>
                          <a:pt x="675" y="16"/>
                        </a:lnTo>
                        <a:lnTo>
                          <a:pt x="840" y="0"/>
                        </a:lnTo>
                        <a:lnTo>
                          <a:pt x="1013" y="0"/>
                        </a:lnTo>
                        <a:lnTo>
                          <a:pt x="1177" y="16"/>
                        </a:lnTo>
                        <a:lnTo>
                          <a:pt x="1342" y="33"/>
                        </a:lnTo>
                        <a:lnTo>
                          <a:pt x="1482" y="65"/>
                        </a:lnTo>
                        <a:lnTo>
                          <a:pt x="1613" y="106"/>
                        </a:lnTo>
                        <a:lnTo>
                          <a:pt x="1712" y="156"/>
                        </a:lnTo>
                        <a:lnTo>
                          <a:pt x="1795" y="205"/>
                        </a:lnTo>
                        <a:lnTo>
                          <a:pt x="1836" y="263"/>
                        </a:lnTo>
                        <a:lnTo>
                          <a:pt x="1852" y="328"/>
                        </a:lnTo>
                        <a:lnTo>
                          <a:pt x="1836" y="386"/>
                        </a:lnTo>
                        <a:lnTo>
                          <a:pt x="1795" y="443"/>
                        </a:lnTo>
                        <a:lnTo>
                          <a:pt x="1712" y="493"/>
                        </a:lnTo>
                        <a:lnTo>
                          <a:pt x="1613" y="542"/>
                        </a:lnTo>
                        <a:lnTo>
                          <a:pt x="1482" y="583"/>
                        </a:lnTo>
                        <a:lnTo>
                          <a:pt x="1342" y="616"/>
                        </a:lnTo>
                        <a:lnTo>
                          <a:pt x="1177" y="641"/>
                        </a:lnTo>
                        <a:lnTo>
                          <a:pt x="1013" y="649"/>
                        </a:lnTo>
                        <a:lnTo>
                          <a:pt x="840" y="649"/>
                        </a:lnTo>
                        <a:lnTo>
                          <a:pt x="675" y="641"/>
                        </a:lnTo>
                        <a:lnTo>
                          <a:pt x="519" y="616"/>
                        </a:lnTo>
                        <a:lnTo>
                          <a:pt x="371" y="583"/>
                        </a:lnTo>
                        <a:lnTo>
                          <a:pt x="247" y="542"/>
                        </a:lnTo>
                        <a:lnTo>
                          <a:pt x="140" y="493"/>
                        </a:lnTo>
                        <a:lnTo>
                          <a:pt x="66" y="443"/>
                        </a:lnTo>
                        <a:lnTo>
                          <a:pt x="17" y="386"/>
                        </a:lnTo>
                        <a:lnTo>
                          <a:pt x="0" y="328"/>
                        </a:lnTo>
                      </a:path>
                    </a:pathLst>
                  </a:custGeom>
                  <a:solidFill>
                    <a:srgbClr val="FFFFFF"/>
                  </a:solidFill>
                  <a:ln w="12700" cap="rnd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defTabSz="457200"/>
                    <a:endParaRPr 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1" name="Freeform 13"/>
                  <p:cNvSpPr>
                    <a:spLocks/>
                  </p:cNvSpPr>
                  <p:nvPr/>
                </p:nvSpPr>
                <p:spPr bwMode="auto">
                  <a:xfrm>
                    <a:off x="3146" y="1589"/>
                    <a:ext cx="1672" cy="494"/>
                  </a:xfrm>
                  <a:custGeom>
                    <a:avLst/>
                    <a:gdLst/>
                    <a:ahLst/>
                    <a:cxnLst>
                      <a:cxn ang="0">
                        <a:pos x="0" y="247"/>
                      </a:cxn>
                      <a:cxn ang="0">
                        <a:pos x="16" y="198"/>
                      </a:cxn>
                      <a:cxn ang="0">
                        <a:pos x="66" y="148"/>
                      </a:cxn>
                      <a:cxn ang="0">
                        <a:pos x="148" y="107"/>
                      </a:cxn>
                      <a:cxn ang="0">
                        <a:pos x="247" y="74"/>
                      </a:cxn>
                      <a:cxn ang="0">
                        <a:pos x="370" y="41"/>
                      </a:cxn>
                      <a:cxn ang="0">
                        <a:pos x="518" y="17"/>
                      </a:cxn>
                      <a:cxn ang="0">
                        <a:pos x="675" y="0"/>
                      </a:cxn>
                      <a:cxn ang="0">
                        <a:pos x="839" y="0"/>
                      </a:cxn>
                      <a:cxn ang="0">
                        <a:pos x="996" y="0"/>
                      </a:cxn>
                      <a:cxn ang="0">
                        <a:pos x="1152" y="17"/>
                      </a:cxn>
                      <a:cxn ang="0">
                        <a:pos x="1300" y="41"/>
                      </a:cxn>
                      <a:cxn ang="0">
                        <a:pos x="1424" y="74"/>
                      </a:cxn>
                      <a:cxn ang="0">
                        <a:pos x="1531" y="107"/>
                      </a:cxn>
                      <a:cxn ang="0">
                        <a:pos x="1605" y="148"/>
                      </a:cxn>
                      <a:cxn ang="0">
                        <a:pos x="1654" y="198"/>
                      </a:cxn>
                      <a:cxn ang="0">
                        <a:pos x="1671" y="247"/>
                      </a:cxn>
                      <a:cxn ang="0">
                        <a:pos x="1654" y="296"/>
                      </a:cxn>
                      <a:cxn ang="0">
                        <a:pos x="1605" y="337"/>
                      </a:cxn>
                      <a:cxn ang="0">
                        <a:pos x="1531" y="378"/>
                      </a:cxn>
                      <a:cxn ang="0">
                        <a:pos x="1424" y="419"/>
                      </a:cxn>
                      <a:cxn ang="0">
                        <a:pos x="1300" y="452"/>
                      </a:cxn>
                      <a:cxn ang="0">
                        <a:pos x="1152" y="477"/>
                      </a:cxn>
                      <a:cxn ang="0">
                        <a:pos x="996" y="485"/>
                      </a:cxn>
                      <a:cxn ang="0">
                        <a:pos x="839" y="493"/>
                      </a:cxn>
                      <a:cxn ang="0">
                        <a:pos x="675" y="485"/>
                      </a:cxn>
                      <a:cxn ang="0">
                        <a:pos x="518" y="477"/>
                      </a:cxn>
                      <a:cxn ang="0">
                        <a:pos x="370" y="452"/>
                      </a:cxn>
                      <a:cxn ang="0">
                        <a:pos x="247" y="419"/>
                      </a:cxn>
                      <a:cxn ang="0">
                        <a:pos x="148" y="378"/>
                      </a:cxn>
                      <a:cxn ang="0">
                        <a:pos x="66" y="337"/>
                      </a:cxn>
                      <a:cxn ang="0">
                        <a:pos x="16" y="296"/>
                      </a:cxn>
                      <a:cxn ang="0">
                        <a:pos x="0" y="247"/>
                      </a:cxn>
                    </a:cxnLst>
                    <a:rect l="0" t="0" r="r" b="b"/>
                    <a:pathLst>
                      <a:path w="1672" h="494">
                        <a:moveTo>
                          <a:pt x="0" y="247"/>
                        </a:moveTo>
                        <a:lnTo>
                          <a:pt x="16" y="198"/>
                        </a:lnTo>
                        <a:lnTo>
                          <a:pt x="66" y="148"/>
                        </a:lnTo>
                        <a:lnTo>
                          <a:pt x="148" y="107"/>
                        </a:lnTo>
                        <a:lnTo>
                          <a:pt x="247" y="74"/>
                        </a:lnTo>
                        <a:lnTo>
                          <a:pt x="370" y="41"/>
                        </a:lnTo>
                        <a:lnTo>
                          <a:pt x="518" y="17"/>
                        </a:lnTo>
                        <a:lnTo>
                          <a:pt x="675" y="0"/>
                        </a:lnTo>
                        <a:lnTo>
                          <a:pt x="839" y="0"/>
                        </a:lnTo>
                        <a:lnTo>
                          <a:pt x="996" y="0"/>
                        </a:lnTo>
                        <a:lnTo>
                          <a:pt x="1152" y="17"/>
                        </a:lnTo>
                        <a:lnTo>
                          <a:pt x="1300" y="41"/>
                        </a:lnTo>
                        <a:lnTo>
                          <a:pt x="1424" y="74"/>
                        </a:lnTo>
                        <a:lnTo>
                          <a:pt x="1531" y="107"/>
                        </a:lnTo>
                        <a:lnTo>
                          <a:pt x="1605" y="148"/>
                        </a:lnTo>
                        <a:lnTo>
                          <a:pt x="1654" y="198"/>
                        </a:lnTo>
                        <a:lnTo>
                          <a:pt x="1671" y="247"/>
                        </a:lnTo>
                        <a:lnTo>
                          <a:pt x="1654" y="296"/>
                        </a:lnTo>
                        <a:lnTo>
                          <a:pt x="1605" y="337"/>
                        </a:lnTo>
                        <a:lnTo>
                          <a:pt x="1531" y="378"/>
                        </a:lnTo>
                        <a:lnTo>
                          <a:pt x="1424" y="419"/>
                        </a:lnTo>
                        <a:lnTo>
                          <a:pt x="1300" y="452"/>
                        </a:lnTo>
                        <a:lnTo>
                          <a:pt x="1152" y="477"/>
                        </a:lnTo>
                        <a:lnTo>
                          <a:pt x="996" y="485"/>
                        </a:lnTo>
                        <a:lnTo>
                          <a:pt x="839" y="493"/>
                        </a:lnTo>
                        <a:lnTo>
                          <a:pt x="675" y="485"/>
                        </a:lnTo>
                        <a:lnTo>
                          <a:pt x="518" y="477"/>
                        </a:lnTo>
                        <a:lnTo>
                          <a:pt x="370" y="452"/>
                        </a:lnTo>
                        <a:lnTo>
                          <a:pt x="247" y="419"/>
                        </a:lnTo>
                        <a:lnTo>
                          <a:pt x="148" y="378"/>
                        </a:lnTo>
                        <a:lnTo>
                          <a:pt x="66" y="337"/>
                        </a:lnTo>
                        <a:lnTo>
                          <a:pt x="16" y="296"/>
                        </a:lnTo>
                        <a:lnTo>
                          <a:pt x="0" y="247"/>
                        </a:lnTo>
                      </a:path>
                    </a:pathLst>
                  </a:custGeom>
                  <a:solidFill>
                    <a:srgbClr val="FFFFFF"/>
                  </a:solidFill>
                  <a:ln w="12700" cap="rnd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defTabSz="457200"/>
                    <a:endParaRPr lang="en-US">
                      <a:solidFill>
                        <a:prstClr val="black"/>
                      </a:solidFill>
                    </a:endParaRPr>
                  </a:p>
                </p:txBody>
              </p:sp>
            </p:grpSp>
            <p:grpSp>
              <p:nvGrpSpPr>
                <p:cNvPr id="24" name="Group 14"/>
                <p:cNvGrpSpPr>
                  <a:grpSpLocks/>
                </p:cNvGrpSpPr>
                <p:nvPr/>
              </p:nvGrpSpPr>
              <p:grpSpPr bwMode="auto">
                <a:xfrm>
                  <a:off x="2998" y="1096"/>
                  <a:ext cx="1984" cy="766"/>
                  <a:chOff x="2998" y="1096"/>
                  <a:chExt cx="1984" cy="766"/>
                </a:xfrm>
              </p:grpSpPr>
              <p:sp>
                <p:nvSpPr>
                  <p:cNvPr id="26" name="Freeform 15"/>
                  <p:cNvSpPr>
                    <a:spLocks/>
                  </p:cNvSpPr>
                  <p:nvPr/>
                </p:nvSpPr>
                <p:spPr bwMode="auto">
                  <a:xfrm>
                    <a:off x="2998" y="1096"/>
                    <a:ext cx="1984" cy="766"/>
                  </a:xfrm>
                  <a:custGeom>
                    <a:avLst/>
                    <a:gdLst/>
                    <a:ahLst/>
                    <a:cxnLst>
                      <a:cxn ang="0">
                        <a:pos x="0" y="378"/>
                      </a:cxn>
                      <a:cxn ang="0">
                        <a:pos x="16" y="313"/>
                      </a:cxn>
                      <a:cxn ang="0">
                        <a:pos x="57" y="247"/>
                      </a:cxn>
                      <a:cxn ang="0">
                        <a:pos x="131" y="189"/>
                      </a:cxn>
                      <a:cxn ang="0">
                        <a:pos x="230" y="132"/>
                      </a:cxn>
                      <a:cxn ang="0">
                        <a:pos x="353" y="91"/>
                      </a:cxn>
                      <a:cxn ang="0">
                        <a:pos x="493" y="50"/>
                      </a:cxn>
                      <a:cxn ang="0">
                        <a:pos x="650" y="25"/>
                      </a:cxn>
                      <a:cxn ang="0">
                        <a:pos x="814" y="0"/>
                      </a:cxn>
                      <a:cxn ang="0">
                        <a:pos x="987" y="0"/>
                      </a:cxn>
                      <a:cxn ang="0">
                        <a:pos x="1160" y="0"/>
                      </a:cxn>
                      <a:cxn ang="0">
                        <a:pos x="1333" y="25"/>
                      </a:cxn>
                      <a:cxn ang="0">
                        <a:pos x="1489" y="50"/>
                      </a:cxn>
                      <a:cxn ang="0">
                        <a:pos x="1629" y="91"/>
                      </a:cxn>
                      <a:cxn ang="0">
                        <a:pos x="1753" y="132"/>
                      </a:cxn>
                      <a:cxn ang="0">
                        <a:pos x="1852" y="189"/>
                      </a:cxn>
                      <a:cxn ang="0">
                        <a:pos x="1926" y="247"/>
                      </a:cxn>
                      <a:cxn ang="0">
                        <a:pos x="1967" y="313"/>
                      </a:cxn>
                      <a:cxn ang="0">
                        <a:pos x="1983" y="378"/>
                      </a:cxn>
                      <a:cxn ang="0">
                        <a:pos x="1967" y="444"/>
                      </a:cxn>
                      <a:cxn ang="0">
                        <a:pos x="1926" y="510"/>
                      </a:cxn>
                      <a:cxn ang="0">
                        <a:pos x="1852" y="567"/>
                      </a:cxn>
                      <a:cxn ang="0">
                        <a:pos x="1753" y="625"/>
                      </a:cxn>
                      <a:cxn ang="0">
                        <a:pos x="1629" y="674"/>
                      </a:cxn>
                      <a:cxn ang="0">
                        <a:pos x="1489" y="707"/>
                      </a:cxn>
                      <a:cxn ang="0">
                        <a:pos x="1333" y="740"/>
                      </a:cxn>
                      <a:cxn ang="0">
                        <a:pos x="1160" y="756"/>
                      </a:cxn>
                      <a:cxn ang="0">
                        <a:pos x="987" y="765"/>
                      </a:cxn>
                      <a:cxn ang="0">
                        <a:pos x="814" y="756"/>
                      </a:cxn>
                      <a:cxn ang="0">
                        <a:pos x="650" y="740"/>
                      </a:cxn>
                      <a:cxn ang="0">
                        <a:pos x="493" y="707"/>
                      </a:cxn>
                      <a:cxn ang="0">
                        <a:pos x="353" y="674"/>
                      </a:cxn>
                      <a:cxn ang="0">
                        <a:pos x="230" y="625"/>
                      </a:cxn>
                      <a:cxn ang="0">
                        <a:pos x="131" y="567"/>
                      </a:cxn>
                      <a:cxn ang="0">
                        <a:pos x="57" y="510"/>
                      </a:cxn>
                      <a:cxn ang="0">
                        <a:pos x="16" y="444"/>
                      </a:cxn>
                      <a:cxn ang="0">
                        <a:pos x="0" y="378"/>
                      </a:cxn>
                    </a:cxnLst>
                    <a:rect l="0" t="0" r="r" b="b"/>
                    <a:pathLst>
                      <a:path w="1984" h="766">
                        <a:moveTo>
                          <a:pt x="0" y="378"/>
                        </a:moveTo>
                        <a:lnTo>
                          <a:pt x="16" y="313"/>
                        </a:lnTo>
                        <a:lnTo>
                          <a:pt x="57" y="247"/>
                        </a:lnTo>
                        <a:lnTo>
                          <a:pt x="131" y="189"/>
                        </a:lnTo>
                        <a:lnTo>
                          <a:pt x="230" y="132"/>
                        </a:lnTo>
                        <a:lnTo>
                          <a:pt x="353" y="91"/>
                        </a:lnTo>
                        <a:lnTo>
                          <a:pt x="493" y="50"/>
                        </a:lnTo>
                        <a:lnTo>
                          <a:pt x="650" y="25"/>
                        </a:lnTo>
                        <a:lnTo>
                          <a:pt x="814" y="0"/>
                        </a:lnTo>
                        <a:lnTo>
                          <a:pt x="987" y="0"/>
                        </a:lnTo>
                        <a:lnTo>
                          <a:pt x="1160" y="0"/>
                        </a:lnTo>
                        <a:lnTo>
                          <a:pt x="1333" y="25"/>
                        </a:lnTo>
                        <a:lnTo>
                          <a:pt x="1489" y="50"/>
                        </a:lnTo>
                        <a:lnTo>
                          <a:pt x="1629" y="91"/>
                        </a:lnTo>
                        <a:lnTo>
                          <a:pt x="1753" y="132"/>
                        </a:lnTo>
                        <a:lnTo>
                          <a:pt x="1852" y="189"/>
                        </a:lnTo>
                        <a:lnTo>
                          <a:pt x="1926" y="247"/>
                        </a:lnTo>
                        <a:lnTo>
                          <a:pt x="1967" y="313"/>
                        </a:lnTo>
                        <a:lnTo>
                          <a:pt x="1983" y="378"/>
                        </a:lnTo>
                        <a:lnTo>
                          <a:pt x="1967" y="444"/>
                        </a:lnTo>
                        <a:lnTo>
                          <a:pt x="1926" y="510"/>
                        </a:lnTo>
                        <a:lnTo>
                          <a:pt x="1852" y="567"/>
                        </a:lnTo>
                        <a:lnTo>
                          <a:pt x="1753" y="625"/>
                        </a:lnTo>
                        <a:lnTo>
                          <a:pt x="1629" y="674"/>
                        </a:lnTo>
                        <a:lnTo>
                          <a:pt x="1489" y="707"/>
                        </a:lnTo>
                        <a:lnTo>
                          <a:pt x="1333" y="740"/>
                        </a:lnTo>
                        <a:lnTo>
                          <a:pt x="1160" y="756"/>
                        </a:lnTo>
                        <a:lnTo>
                          <a:pt x="987" y="765"/>
                        </a:lnTo>
                        <a:lnTo>
                          <a:pt x="814" y="756"/>
                        </a:lnTo>
                        <a:lnTo>
                          <a:pt x="650" y="740"/>
                        </a:lnTo>
                        <a:lnTo>
                          <a:pt x="493" y="707"/>
                        </a:lnTo>
                        <a:lnTo>
                          <a:pt x="353" y="674"/>
                        </a:lnTo>
                        <a:lnTo>
                          <a:pt x="230" y="625"/>
                        </a:lnTo>
                        <a:lnTo>
                          <a:pt x="131" y="567"/>
                        </a:lnTo>
                        <a:lnTo>
                          <a:pt x="57" y="510"/>
                        </a:lnTo>
                        <a:lnTo>
                          <a:pt x="16" y="444"/>
                        </a:lnTo>
                        <a:lnTo>
                          <a:pt x="0" y="378"/>
                        </a:lnTo>
                      </a:path>
                    </a:pathLst>
                  </a:custGeom>
                  <a:solidFill>
                    <a:srgbClr val="FFFFFF"/>
                  </a:solidFill>
                  <a:ln w="12700" cap="rnd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defTabSz="457200"/>
                    <a:endParaRPr 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7" name="Freeform 16"/>
                  <p:cNvSpPr>
                    <a:spLocks/>
                  </p:cNvSpPr>
                  <p:nvPr/>
                </p:nvSpPr>
                <p:spPr bwMode="auto">
                  <a:xfrm>
                    <a:off x="3055" y="1154"/>
                    <a:ext cx="1853" cy="650"/>
                  </a:xfrm>
                  <a:custGeom>
                    <a:avLst/>
                    <a:gdLst/>
                    <a:ahLst/>
                    <a:cxnLst>
                      <a:cxn ang="0">
                        <a:pos x="0" y="329"/>
                      </a:cxn>
                      <a:cxn ang="0">
                        <a:pos x="17" y="263"/>
                      </a:cxn>
                      <a:cxn ang="0">
                        <a:pos x="66" y="205"/>
                      </a:cxn>
                      <a:cxn ang="0">
                        <a:pos x="140" y="156"/>
                      </a:cxn>
                      <a:cxn ang="0">
                        <a:pos x="247" y="107"/>
                      </a:cxn>
                      <a:cxn ang="0">
                        <a:pos x="371" y="66"/>
                      </a:cxn>
                      <a:cxn ang="0">
                        <a:pos x="519" y="33"/>
                      </a:cxn>
                      <a:cxn ang="0">
                        <a:pos x="675" y="16"/>
                      </a:cxn>
                      <a:cxn ang="0">
                        <a:pos x="840" y="0"/>
                      </a:cxn>
                      <a:cxn ang="0">
                        <a:pos x="1013" y="0"/>
                      </a:cxn>
                      <a:cxn ang="0">
                        <a:pos x="1177" y="16"/>
                      </a:cxn>
                      <a:cxn ang="0">
                        <a:pos x="1342" y="33"/>
                      </a:cxn>
                      <a:cxn ang="0">
                        <a:pos x="1482" y="66"/>
                      </a:cxn>
                      <a:cxn ang="0">
                        <a:pos x="1613" y="107"/>
                      </a:cxn>
                      <a:cxn ang="0">
                        <a:pos x="1712" y="156"/>
                      </a:cxn>
                      <a:cxn ang="0">
                        <a:pos x="1795" y="205"/>
                      </a:cxn>
                      <a:cxn ang="0">
                        <a:pos x="1836" y="263"/>
                      </a:cxn>
                      <a:cxn ang="0">
                        <a:pos x="1852" y="329"/>
                      </a:cxn>
                      <a:cxn ang="0">
                        <a:pos x="1836" y="386"/>
                      </a:cxn>
                      <a:cxn ang="0">
                        <a:pos x="1795" y="444"/>
                      </a:cxn>
                      <a:cxn ang="0">
                        <a:pos x="1712" y="493"/>
                      </a:cxn>
                      <a:cxn ang="0">
                        <a:pos x="1613" y="542"/>
                      </a:cxn>
                      <a:cxn ang="0">
                        <a:pos x="1482" y="583"/>
                      </a:cxn>
                      <a:cxn ang="0">
                        <a:pos x="1342" y="616"/>
                      </a:cxn>
                      <a:cxn ang="0">
                        <a:pos x="1177" y="641"/>
                      </a:cxn>
                      <a:cxn ang="0">
                        <a:pos x="1013" y="649"/>
                      </a:cxn>
                      <a:cxn ang="0">
                        <a:pos x="840" y="649"/>
                      </a:cxn>
                      <a:cxn ang="0">
                        <a:pos x="675" y="641"/>
                      </a:cxn>
                      <a:cxn ang="0">
                        <a:pos x="519" y="616"/>
                      </a:cxn>
                      <a:cxn ang="0">
                        <a:pos x="371" y="583"/>
                      </a:cxn>
                      <a:cxn ang="0">
                        <a:pos x="247" y="542"/>
                      </a:cxn>
                      <a:cxn ang="0">
                        <a:pos x="140" y="493"/>
                      </a:cxn>
                      <a:cxn ang="0">
                        <a:pos x="66" y="444"/>
                      </a:cxn>
                      <a:cxn ang="0">
                        <a:pos x="17" y="386"/>
                      </a:cxn>
                      <a:cxn ang="0">
                        <a:pos x="0" y="329"/>
                      </a:cxn>
                    </a:cxnLst>
                    <a:rect l="0" t="0" r="r" b="b"/>
                    <a:pathLst>
                      <a:path w="1853" h="650">
                        <a:moveTo>
                          <a:pt x="0" y="329"/>
                        </a:moveTo>
                        <a:lnTo>
                          <a:pt x="17" y="263"/>
                        </a:lnTo>
                        <a:lnTo>
                          <a:pt x="66" y="205"/>
                        </a:lnTo>
                        <a:lnTo>
                          <a:pt x="140" y="156"/>
                        </a:lnTo>
                        <a:lnTo>
                          <a:pt x="247" y="107"/>
                        </a:lnTo>
                        <a:lnTo>
                          <a:pt x="371" y="66"/>
                        </a:lnTo>
                        <a:lnTo>
                          <a:pt x="519" y="33"/>
                        </a:lnTo>
                        <a:lnTo>
                          <a:pt x="675" y="16"/>
                        </a:lnTo>
                        <a:lnTo>
                          <a:pt x="840" y="0"/>
                        </a:lnTo>
                        <a:lnTo>
                          <a:pt x="1013" y="0"/>
                        </a:lnTo>
                        <a:lnTo>
                          <a:pt x="1177" y="16"/>
                        </a:lnTo>
                        <a:lnTo>
                          <a:pt x="1342" y="33"/>
                        </a:lnTo>
                        <a:lnTo>
                          <a:pt x="1482" y="66"/>
                        </a:lnTo>
                        <a:lnTo>
                          <a:pt x="1613" y="107"/>
                        </a:lnTo>
                        <a:lnTo>
                          <a:pt x="1712" y="156"/>
                        </a:lnTo>
                        <a:lnTo>
                          <a:pt x="1795" y="205"/>
                        </a:lnTo>
                        <a:lnTo>
                          <a:pt x="1836" y="263"/>
                        </a:lnTo>
                        <a:lnTo>
                          <a:pt x="1852" y="329"/>
                        </a:lnTo>
                        <a:lnTo>
                          <a:pt x="1836" y="386"/>
                        </a:lnTo>
                        <a:lnTo>
                          <a:pt x="1795" y="444"/>
                        </a:lnTo>
                        <a:lnTo>
                          <a:pt x="1712" y="493"/>
                        </a:lnTo>
                        <a:lnTo>
                          <a:pt x="1613" y="542"/>
                        </a:lnTo>
                        <a:lnTo>
                          <a:pt x="1482" y="583"/>
                        </a:lnTo>
                        <a:lnTo>
                          <a:pt x="1342" y="616"/>
                        </a:lnTo>
                        <a:lnTo>
                          <a:pt x="1177" y="641"/>
                        </a:lnTo>
                        <a:lnTo>
                          <a:pt x="1013" y="649"/>
                        </a:lnTo>
                        <a:lnTo>
                          <a:pt x="840" y="649"/>
                        </a:lnTo>
                        <a:lnTo>
                          <a:pt x="675" y="641"/>
                        </a:lnTo>
                        <a:lnTo>
                          <a:pt x="519" y="616"/>
                        </a:lnTo>
                        <a:lnTo>
                          <a:pt x="371" y="583"/>
                        </a:lnTo>
                        <a:lnTo>
                          <a:pt x="247" y="542"/>
                        </a:lnTo>
                        <a:lnTo>
                          <a:pt x="140" y="493"/>
                        </a:lnTo>
                        <a:lnTo>
                          <a:pt x="66" y="444"/>
                        </a:lnTo>
                        <a:lnTo>
                          <a:pt x="17" y="386"/>
                        </a:lnTo>
                        <a:lnTo>
                          <a:pt x="0" y="329"/>
                        </a:lnTo>
                      </a:path>
                    </a:pathLst>
                  </a:custGeom>
                  <a:solidFill>
                    <a:srgbClr val="FFFFFF"/>
                  </a:solidFill>
                  <a:ln w="12700" cap="rnd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defTabSz="457200"/>
                    <a:endParaRPr 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8" name="Freeform 17"/>
                  <p:cNvSpPr>
                    <a:spLocks/>
                  </p:cNvSpPr>
                  <p:nvPr/>
                </p:nvSpPr>
                <p:spPr bwMode="auto">
                  <a:xfrm>
                    <a:off x="3146" y="1220"/>
                    <a:ext cx="1672" cy="494"/>
                  </a:xfrm>
                  <a:custGeom>
                    <a:avLst/>
                    <a:gdLst/>
                    <a:ahLst/>
                    <a:cxnLst>
                      <a:cxn ang="0">
                        <a:pos x="0" y="246"/>
                      </a:cxn>
                      <a:cxn ang="0">
                        <a:pos x="16" y="197"/>
                      </a:cxn>
                      <a:cxn ang="0">
                        <a:pos x="66" y="147"/>
                      </a:cxn>
                      <a:cxn ang="0">
                        <a:pos x="148" y="106"/>
                      </a:cxn>
                      <a:cxn ang="0">
                        <a:pos x="247" y="74"/>
                      </a:cxn>
                      <a:cxn ang="0">
                        <a:pos x="370" y="41"/>
                      </a:cxn>
                      <a:cxn ang="0">
                        <a:pos x="518" y="16"/>
                      </a:cxn>
                      <a:cxn ang="0">
                        <a:pos x="675" y="0"/>
                      </a:cxn>
                      <a:cxn ang="0">
                        <a:pos x="839" y="0"/>
                      </a:cxn>
                      <a:cxn ang="0">
                        <a:pos x="996" y="0"/>
                      </a:cxn>
                      <a:cxn ang="0">
                        <a:pos x="1152" y="16"/>
                      </a:cxn>
                      <a:cxn ang="0">
                        <a:pos x="1300" y="41"/>
                      </a:cxn>
                      <a:cxn ang="0">
                        <a:pos x="1424" y="74"/>
                      </a:cxn>
                      <a:cxn ang="0">
                        <a:pos x="1531" y="106"/>
                      </a:cxn>
                      <a:cxn ang="0">
                        <a:pos x="1605" y="147"/>
                      </a:cxn>
                      <a:cxn ang="0">
                        <a:pos x="1654" y="197"/>
                      </a:cxn>
                      <a:cxn ang="0">
                        <a:pos x="1671" y="246"/>
                      </a:cxn>
                      <a:cxn ang="0">
                        <a:pos x="1654" y="295"/>
                      </a:cxn>
                      <a:cxn ang="0">
                        <a:pos x="1605" y="337"/>
                      </a:cxn>
                      <a:cxn ang="0">
                        <a:pos x="1531" y="378"/>
                      </a:cxn>
                      <a:cxn ang="0">
                        <a:pos x="1424" y="419"/>
                      </a:cxn>
                      <a:cxn ang="0">
                        <a:pos x="1300" y="452"/>
                      </a:cxn>
                      <a:cxn ang="0">
                        <a:pos x="1152" y="476"/>
                      </a:cxn>
                      <a:cxn ang="0">
                        <a:pos x="996" y="484"/>
                      </a:cxn>
                      <a:cxn ang="0">
                        <a:pos x="839" y="493"/>
                      </a:cxn>
                      <a:cxn ang="0">
                        <a:pos x="675" y="484"/>
                      </a:cxn>
                      <a:cxn ang="0">
                        <a:pos x="518" y="476"/>
                      </a:cxn>
                      <a:cxn ang="0">
                        <a:pos x="370" y="452"/>
                      </a:cxn>
                      <a:cxn ang="0">
                        <a:pos x="247" y="419"/>
                      </a:cxn>
                      <a:cxn ang="0">
                        <a:pos x="148" y="378"/>
                      </a:cxn>
                      <a:cxn ang="0">
                        <a:pos x="66" y="337"/>
                      </a:cxn>
                      <a:cxn ang="0">
                        <a:pos x="16" y="295"/>
                      </a:cxn>
                      <a:cxn ang="0">
                        <a:pos x="0" y="246"/>
                      </a:cxn>
                    </a:cxnLst>
                    <a:rect l="0" t="0" r="r" b="b"/>
                    <a:pathLst>
                      <a:path w="1672" h="494">
                        <a:moveTo>
                          <a:pt x="0" y="246"/>
                        </a:moveTo>
                        <a:lnTo>
                          <a:pt x="16" y="197"/>
                        </a:lnTo>
                        <a:lnTo>
                          <a:pt x="66" y="147"/>
                        </a:lnTo>
                        <a:lnTo>
                          <a:pt x="148" y="106"/>
                        </a:lnTo>
                        <a:lnTo>
                          <a:pt x="247" y="74"/>
                        </a:lnTo>
                        <a:lnTo>
                          <a:pt x="370" y="41"/>
                        </a:lnTo>
                        <a:lnTo>
                          <a:pt x="518" y="16"/>
                        </a:lnTo>
                        <a:lnTo>
                          <a:pt x="675" y="0"/>
                        </a:lnTo>
                        <a:lnTo>
                          <a:pt x="839" y="0"/>
                        </a:lnTo>
                        <a:lnTo>
                          <a:pt x="996" y="0"/>
                        </a:lnTo>
                        <a:lnTo>
                          <a:pt x="1152" y="16"/>
                        </a:lnTo>
                        <a:lnTo>
                          <a:pt x="1300" y="41"/>
                        </a:lnTo>
                        <a:lnTo>
                          <a:pt x="1424" y="74"/>
                        </a:lnTo>
                        <a:lnTo>
                          <a:pt x="1531" y="106"/>
                        </a:lnTo>
                        <a:lnTo>
                          <a:pt x="1605" y="147"/>
                        </a:lnTo>
                        <a:lnTo>
                          <a:pt x="1654" y="197"/>
                        </a:lnTo>
                        <a:lnTo>
                          <a:pt x="1671" y="246"/>
                        </a:lnTo>
                        <a:lnTo>
                          <a:pt x="1654" y="295"/>
                        </a:lnTo>
                        <a:lnTo>
                          <a:pt x="1605" y="337"/>
                        </a:lnTo>
                        <a:lnTo>
                          <a:pt x="1531" y="378"/>
                        </a:lnTo>
                        <a:lnTo>
                          <a:pt x="1424" y="419"/>
                        </a:lnTo>
                        <a:lnTo>
                          <a:pt x="1300" y="452"/>
                        </a:lnTo>
                        <a:lnTo>
                          <a:pt x="1152" y="476"/>
                        </a:lnTo>
                        <a:lnTo>
                          <a:pt x="996" y="484"/>
                        </a:lnTo>
                        <a:lnTo>
                          <a:pt x="839" y="493"/>
                        </a:lnTo>
                        <a:lnTo>
                          <a:pt x="675" y="484"/>
                        </a:lnTo>
                        <a:lnTo>
                          <a:pt x="518" y="476"/>
                        </a:lnTo>
                        <a:lnTo>
                          <a:pt x="370" y="452"/>
                        </a:lnTo>
                        <a:lnTo>
                          <a:pt x="247" y="419"/>
                        </a:lnTo>
                        <a:lnTo>
                          <a:pt x="148" y="378"/>
                        </a:lnTo>
                        <a:lnTo>
                          <a:pt x="66" y="337"/>
                        </a:lnTo>
                        <a:lnTo>
                          <a:pt x="16" y="295"/>
                        </a:lnTo>
                        <a:lnTo>
                          <a:pt x="0" y="246"/>
                        </a:lnTo>
                      </a:path>
                    </a:pathLst>
                  </a:custGeom>
                  <a:solidFill>
                    <a:srgbClr val="FFFFFF"/>
                  </a:solidFill>
                  <a:ln w="12700" cap="rnd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defTabSz="457200"/>
                    <a:endParaRPr lang="en-US">
                      <a:solidFill>
                        <a:prstClr val="black"/>
                      </a:solidFill>
                    </a:endParaRPr>
                  </a:p>
                </p:txBody>
              </p:sp>
            </p:grpSp>
            <p:sp>
              <p:nvSpPr>
                <p:cNvPr id="25" name="Freeform 18"/>
                <p:cNvSpPr>
                  <a:spLocks/>
                </p:cNvSpPr>
                <p:nvPr/>
              </p:nvSpPr>
              <p:spPr bwMode="auto">
                <a:xfrm>
                  <a:off x="2981" y="2797"/>
                  <a:ext cx="1993" cy="766"/>
                </a:xfrm>
                <a:custGeom>
                  <a:avLst/>
                  <a:gdLst/>
                  <a:ahLst/>
                  <a:cxnLst>
                    <a:cxn ang="0">
                      <a:pos x="0" y="378"/>
                    </a:cxn>
                    <a:cxn ang="0">
                      <a:pos x="17" y="313"/>
                    </a:cxn>
                    <a:cxn ang="0">
                      <a:pos x="66" y="247"/>
                    </a:cxn>
                    <a:cxn ang="0">
                      <a:pos x="132" y="189"/>
                    </a:cxn>
                    <a:cxn ang="0">
                      <a:pos x="239" y="140"/>
                    </a:cxn>
                    <a:cxn ang="0">
                      <a:pos x="354" y="91"/>
                    </a:cxn>
                    <a:cxn ang="0">
                      <a:pos x="502" y="50"/>
                    </a:cxn>
                    <a:cxn ang="0">
                      <a:pos x="659" y="25"/>
                    </a:cxn>
                    <a:cxn ang="0">
                      <a:pos x="823" y="9"/>
                    </a:cxn>
                    <a:cxn ang="0">
                      <a:pos x="996" y="0"/>
                    </a:cxn>
                    <a:cxn ang="0">
                      <a:pos x="1169" y="9"/>
                    </a:cxn>
                    <a:cxn ang="0">
                      <a:pos x="1334" y="25"/>
                    </a:cxn>
                    <a:cxn ang="0">
                      <a:pos x="1490" y="50"/>
                    </a:cxn>
                    <a:cxn ang="0">
                      <a:pos x="1638" y="91"/>
                    </a:cxn>
                    <a:cxn ang="0">
                      <a:pos x="1753" y="140"/>
                    </a:cxn>
                    <a:cxn ang="0">
                      <a:pos x="1860" y="189"/>
                    </a:cxn>
                    <a:cxn ang="0">
                      <a:pos x="1926" y="247"/>
                    </a:cxn>
                    <a:cxn ang="0">
                      <a:pos x="1976" y="313"/>
                    </a:cxn>
                    <a:cxn ang="0">
                      <a:pos x="1992" y="378"/>
                    </a:cxn>
                    <a:cxn ang="0">
                      <a:pos x="1976" y="444"/>
                    </a:cxn>
                    <a:cxn ang="0">
                      <a:pos x="1926" y="510"/>
                    </a:cxn>
                    <a:cxn ang="0">
                      <a:pos x="1860" y="576"/>
                    </a:cxn>
                    <a:cxn ang="0">
                      <a:pos x="1753" y="625"/>
                    </a:cxn>
                    <a:cxn ang="0">
                      <a:pos x="1638" y="674"/>
                    </a:cxn>
                    <a:cxn ang="0">
                      <a:pos x="1490" y="715"/>
                    </a:cxn>
                    <a:cxn ang="0">
                      <a:pos x="1334" y="740"/>
                    </a:cxn>
                    <a:cxn ang="0">
                      <a:pos x="1169" y="756"/>
                    </a:cxn>
                    <a:cxn ang="0">
                      <a:pos x="996" y="765"/>
                    </a:cxn>
                    <a:cxn ang="0">
                      <a:pos x="823" y="756"/>
                    </a:cxn>
                    <a:cxn ang="0">
                      <a:pos x="659" y="740"/>
                    </a:cxn>
                    <a:cxn ang="0">
                      <a:pos x="502" y="715"/>
                    </a:cxn>
                    <a:cxn ang="0">
                      <a:pos x="354" y="674"/>
                    </a:cxn>
                    <a:cxn ang="0">
                      <a:pos x="239" y="625"/>
                    </a:cxn>
                    <a:cxn ang="0">
                      <a:pos x="132" y="576"/>
                    </a:cxn>
                    <a:cxn ang="0">
                      <a:pos x="66" y="510"/>
                    </a:cxn>
                    <a:cxn ang="0">
                      <a:pos x="17" y="444"/>
                    </a:cxn>
                    <a:cxn ang="0">
                      <a:pos x="0" y="378"/>
                    </a:cxn>
                  </a:cxnLst>
                  <a:rect l="0" t="0" r="r" b="b"/>
                  <a:pathLst>
                    <a:path w="1993" h="766">
                      <a:moveTo>
                        <a:pt x="0" y="378"/>
                      </a:moveTo>
                      <a:lnTo>
                        <a:pt x="17" y="313"/>
                      </a:lnTo>
                      <a:lnTo>
                        <a:pt x="66" y="247"/>
                      </a:lnTo>
                      <a:lnTo>
                        <a:pt x="132" y="189"/>
                      </a:lnTo>
                      <a:lnTo>
                        <a:pt x="239" y="140"/>
                      </a:lnTo>
                      <a:lnTo>
                        <a:pt x="354" y="91"/>
                      </a:lnTo>
                      <a:lnTo>
                        <a:pt x="502" y="50"/>
                      </a:lnTo>
                      <a:lnTo>
                        <a:pt x="659" y="25"/>
                      </a:lnTo>
                      <a:lnTo>
                        <a:pt x="823" y="9"/>
                      </a:lnTo>
                      <a:lnTo>
                        <a:pt x="996" y="0"/>
                      </a:lnTo>
                      <a:lnTo>
                        <a:pt x="1169" y="9"/>
                      </a:lnTo>
                      <a:lnTo>
                        <a:pt x="1334" y="25"/>
                      </a:lnTo>
                      <a:lnTo>
                        <a:pt x="1490" y="50"/>
                      </a:lnTo>
                      <a:lnTo>
                        <a:pt x="1638" y="91"/>
                      </a:lnTo>
                      <a:lnTo>
                        <a:pt x="1753" y="140"/>
                      </a:lnTo>
                      <a:lnTo>
                        <a:pt x="1860" y="189"/>
                      </a:lnTo>
                      <a:lnTo>
                        <a:pt x="1926" y="247"/>
                      </a:lnTo>
                      <a:lnTo>
                        <a:pt x="1976" y="313"/>
                      </a:lnTo>
                      <a:lnTo>
                        <a:pt x="1992" y="378"/>
                      </a:lnTo>
                      <a:lnTo>
                        <a:pt x="1976" y="444"/>
                      </a:lnTo>
                      <a:lnTo>
                        <a:pt x="1926" y="510"/>
                      </a:lnTo>
                      <a:lnTo>
                        <a:pt x="1860" y="576"/>
                      </a:lnTo>
                      <a:lnTo>
                        <a:pt x="1753" y="625"/>
                      </a:lnTo>
                      <a:lnTo>
                        <a:pt x="1638" y="674"/>
                      </a:lnTo>
                      <a:lnTo>
                        <a:pt x="1490" y="715"/>
                      </a:lnTo>
                      <a:lnTo>
                        <a:pt x="1334" y="740"/>
                      </a:lnTo>
                      <a:lnTo>
                        <a:pt x="1169" y="756"/>
                      </a:lnTo>
                      <a:lnTo>
                        <a:pt x="996" y="765"/>
                      </a:lnTo>
                      <a:lnTo>
                        <a:pt x="823" y="756"/>
                      </a:lnTo>
                      <a:lnTo>
                        <a:pt x="659" y="740"/>
                      </a:lnTo>
                      <a:lnTo>
                        <a:pt x="502" y="715"/>
                      </a:lnTo>
                      <a:lnTo>
                        <a:pt x="354" y="674"/>
                      </a:lnTo>
                      <a:lnTo>
                        <a:pt x="239" y="625"/>
                      </a:lnTo>
                      <a:lnTo>
                        <a:pt x="132" y="576"/>
                      </a:lnTo>
                      <a:lnTo>
                        <a:pt x="66" y="510"/>
                      </a:lnTo>
                      <a:lnTo>
                        <a:pt x="17" y="444"/>
                      </a:lnTo>
                      <a:lnTo>
                        <a:pt x="0" y="378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defTabSz="457200"/>
                  <a:endParaRPr lang="en-US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14" name="Group 19"/>
              <p:cNvGrpSpPr>
                <a:grpSpLocks/>
              </p:cNvGrpSpPr>
              <p:nvPr/>
            </p:nvGrpSpPr>
            <p:grpSpPr bwMode="auto">
              <a:xfrm>
                <a:off x="2981" y="2756"/>
                <a:ext cx="1993" cy="766"/>
                <a:chOff x="2981" y="2756"/>
                <a:chExt cx="1993" cy="766"/>
              </a:xfrm>
            </p:grpSpPr>
            <p:sp>
              <p:nvSpPr>
                <p:cNvPr id="20" name="Freeform 20"/>
                <p:cNvSpPr>
                  <a:spLocks/>
                </p:cNvSpPr>
                <p:nvPr/>
              </p:nvSpPr>
              <p:spPr bwMode="auto">
                <a:xfrm>
                  <a:off x="2981" y="2756"/>
                  <a:ext cx="1993" cy="766"/>
                </a:xfrm>
                <a:custGeom>
                  <a:avLst/>
                  <a:gdLst/>
                  <a:ahLst/>
                  <a:cxnLst>
                    <a:cxn ang="0">
                      <a:pos x="0" y="387"/>
                    </a:cxn>
                    <a:cxn ang="0">
                      <a:pos x="17" y="321"/>
                    </a:cxn>
                    <a:cxn ang="0">
                      <a:pos x="66" y="255"/>
                    </a:cxn>
                    <a:cxn ang="0">
                      <a:pos x="132" y="198"/>
                    </a:cxn>
                    <a:cxn ang="0">
                      <a:pos x="239" y="140"/>
                    </a:cxn>
                    <a:cxn ang="0">
                      <a:pos x="354" y="91"/>
                    </a:cxn>
                    <a:cxn ang="0">
                      <a:pos x="502" y="58"/>
                    </a:cxn>
                    <a:cxn ang="0">
                      <a:pos x="659" y="25"/>
                    </a:cxn>
                    <a:cxn ang="0">
                      <a:pos x="823" y="9"/>
                    </a:cxn>
                    <a:cxn ang="0">
                      <a:pos x="996" y="0"/>
                    </a:cxn>
                    <a:cxn ang="0">
                      <a:pos x="1169" y="9"/>
                    </a:cxn>
                    <a:cxn ang="0">
                      <a:pos x="1334" y="25"/>
                    </a:cxn>
                    <a:cxn ang="0">
                      <a:pos x="1490" y="58"/>
                    </a:cxn>
                    <a:cxn ang="0">
                      <a:pos x="1638" y="91"/>
                    </a:cxn>
                    <a:cxn ang="0">
                      <a:pos x="1753" y="140"/>
                    </a:cxn>
                    <a:cxn ang="0">
                      <a:pos x="1860" y="198"/>
                    </a:cxn>
                    <a:cxn ang="0">
                      <a:pos x="1926" y="255"/>
                    </a:cxn>
                    <a:cxn ang="0">
                      <a:pos x="1976" y="321"/>
                    </a:cxn>
                    <a:cxn ang="0">
                      <a:pos x="1992" y="387"/>
                    </a:cxn>
                    <a:cxn ang="0">
                      <a:pos x="1976" y="452"/>
                    </a:cxn>
                    <a:cxn ang="0">
                      <a:pos x="1926" y="518"/>
                    </a:cxn>
                    <a:cxn ang="0">
                      <a:pos x="1860" y="576"/>
                    </a:cxn>
                    <a:cxn ang="0">
                      <a:pos x="1753" y="633"/>
                    </a:cxn>
                    <a:cxn ang="0">
                      <a:pos x="1638" y="674"/>
                    </a:cxn>
                    <a:cxn ang="0">
                      <a:pos x="1490" y="715"/>
                    </a:cxn>
                    <a:cxn ang="0">
                      <a:pos x="1334" y="740"/>
                    </a:cxn>
                    <a:cxn ang="0">
                      <a:pos x="1169" y="756"/>
                    </a:cxn>
                    <a:cxn ang="0">
                      <a:pos x="996" y="765"/>
                    </a:cxn>
                    <a:cxn ang="0">
                      <a:pos x="823" y="756"/>
                    </a:cxn>
                    <a:cxn ang="0">
                      <a:pos x="659" y="740"/>
                    </a:cxn>
                    <a:cxn ang="0">
                      <a:pos x="502" y="715"/>
                    </a:cxn>
                    <a:cxn ang="0">
                      <a:pos x="354" y="674"/>
                    </a:cxn>
                    <a:cxn ang="0">
                      <a:pos x="239" y="633"/>
                    </a:cxn>
                    <a:cxn ang="0">
                      <a:pos x="132" y="576"/>
                    </a:cxn>
                    <a:cxn ang="0">
                      <a:pos x="66" y="518"/>
                    </a:cxn>
                    <a:cxn ang="0">
                      <a:pos x="17" y="452"/>
                    </a:cxn>
                    <a:cxn ang="0">
                      <a:pos x="0" y="387"/>
                    </a:cxn>
                  </a:cxnLst>
                  <a:rect l="0" t="0" r="r" b="b"/>
                  <a:pathLst>
                    <a:path w="1993" h="766">
                      <a:moveTo>
                        <a:pt x="0" y="387"/>
                      </a:moveTo>
                      <a:lnTo>
                        <a:pt x="17" y="321"/>
                      </a:lnTo>
                      <a:lnTo>
                        <a:pt x="66" y="255"/>
                      </a:lnTo>
                      <a:lnTo>
                        <a:pt x="132" y="198"/>
                      </a:lnTo>
                      <a:lnTo>
                        <a:pt x="239" y="140"/>
                      </a:lnTo>
                      <a:lnTo>
                        <a:pt x="354" y="91"/>
                      </a:lnTo>
                      <a:lnTo>
                        <a:pt x="502" y="58"/>
                      </a:lnTo>
                      <a:lnTo>
                        <a:pt x="659" y="25"/>
                      </a:lnTo>
                      <a:lnTo>
                        <a:pt x="823" y="9"/>
                      </a:lnTo>
                      <a:lnTo>
                        <a:pt x="996" y="0"/>
                      </a:lnTo>
                      <a:lnTo>
                        <a:pt x="1169" y="9"/>
                      </a:lnTo>
                      <a:lnTo>
                        <a:pt x="1334" y="25"/>
                      </a:lnTo>
                      <a:lnTo>
                        <a:pt x="1490" y="58"/>
                      </a:lnTo>
                      <a:lnTo>
                        <a:pt x="1638" y="91"/>
                      </a:lnTo>
                      <a:lnTo>
                        <a:pt x="1753" y="140"/>
                      </a:lnTo>
                      <a:lnTo>
                        <a:pt x="1860" y="198"/>
                      </a:lnTo>
                      <a:lnTo>
                        <a:pt x="1926" y="255"/>
                      </a:lnTo>
                      <a:lnTo>
                        <a:pt x="1976" y="321"/>
                      </a:lnTo>
                      <a:lnTo>
                        <a:pt x="1992" y="387"/>
                      </a:lnTo>
                      <a:lnTo>
                        <a:pt x="1976" y="452"/>
                      </a:lnTo>
                      <a:lnTo>
                        <a:pt x="1926" y="518"/>
                      </a:lnTo>
                      <a:lnTo>
                        <a:pt x="1860" y="576"/>
                      </a:lnTo>
                      <a:lnTo>
                        <a:pt x="1753" y="633"/>
                      </a:lnTo>
                      <a:lnTo>
                        <a:pt x="1638" y="674"/>
                      </a:lnTo>
                      <a:lnTo>
                        <a:pt x="1490" y="715"/>
                      </a:lnTo>
                      <a:lnTo>
                        <a:pt x="1334" y="740"/>
                      </a:lnTo>
                      <a:lnTo>
                        <a:pt x="1169" y="756"/>
                      </a:lnTo>
                      <a:lnTo>
                        <a:pt x="996" y="765"/>
                      </a:lnTo>
                      <a:lnTo>
                        <a:pt x="823" y="756"/>
                      </a:lnTo>
                      <a:lnTo>
                        <a:pt x="659" y="740"/>
                      </a:lnTo>
                      <a:lnTo>
                        <a:pt x="502" y="715"/>
                      </a:lnTo>
                      <a:lnTo>
                        <a:pt x="354" y="674"/>
                      </a:lnTo>
                      <a:lnTo>
                        <a:pt x="239" y="633"/>
                      </a:lnTo>
                      <a:lnTo>
                        <a:pt x="132" y="576"/>
                      </a:lnTo>
                      <a:lnTo>
                        <a:pt x="66" y="518"/>
                      </a:lnTo>
                      <a:lnTo>
                        <a:pt x="17" y="452"/>
                      </a:lnTo>
                      <a:lnTo>
                        <a:pt x="0" y="387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defTabSz="457200"/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1" name="Freeform 21"/>
                <p:cNvSpPr>
                  <a:spLocks/>
                </p:cNvSpPr>
                <p:nvPr/>
              </p:nvSpPr>
              <p:spPr bwMode="auto">
                <a:xfrm>
                  <a:off x="3047" y="2822"/>
                  <a:ext cx="1853" cy="642"/>
                </a:xfrm>
                <a:custGeom>
                  <a:avLst/>
                  <a:gdLst/>
                  <a:ahLst/>
                  <a:cxnLst>
                    <a:cxn ang="0">
                      <a:pos x="0" y="321"/>
                    </a:cxn>
                    <a:cxn ang="0">
                      <a:pos x="16" y="263"/>
                    </a:cxn>
                    <a:cxn ang="0">
                      <a:pos x="58" y="206"/>
                    </a:cxn>
                    <a:cxn ang="0">
                      <a:pos x="140" y="148"/>
                    </a:cxn>
                    <a:cxn ang="0">
                      <a:pos x="239" y="107"/>
                    </a:cxn>
                    <a:cxn ang="0">
                      <a:pos x="362" y="66"/>
                    </a:cxn>
                    <a:cxn ang="0">
                      <a:pos x="510" y="33"/>
                    </a:cxn>
                    <a:cxn ang="0">
                      <a:pos x="667" y="8"/>
                    </a:cxn>
                    <a:cxn ang="0">
                      <a:pos x="840" y="0"/>
                    </a:cxn>
                    <a:cxn ang="0">
                      <a:pos x="1012" y="0"/>
                    </a:cxn>
                    <a:cxn ang="0">
                      <a:pos x="1177" y="8"/>
                    </a:cxn>
                    <a:cxn ang="0">
                      <a:pos x="1333" y="33"/>
                    </a:cxn>
                    <a:cxn ang="0">
                      <a:pos x="1482" y="66"/>
                    </a:cxn>
                    <a:cxn ang="0">
                      <a:pos x="1605" y="107"/>
                    </a:cxn>
                    <a:cxn ang="0">
                      <a:pos x="1712" y="148"/>
                    </a:cxn>
                    <a:cxn ang="0">
                      <a:pos x="1786" y="206"/>
                    </a:cxn>
                    <a:cxn ang="0">
                      <a:pos x="1835" y="263"/>
                    </a:cxn>
                    <a:cxn ang="0">
                      <a:pos x="1852" y="321"/>
                    </a:cxn>
                    <a:cxn ang="0">
                      <a:pos x="1835" y="378"/>
                    </a:cxn>
                    <a:cxn ang="0">
                      <a:pos x="1786" y="436"/>
                    </a:cxn>
                    <a:cxn ang="0">
                      <a:pos x="1712" y="493"/>
                    </a:cxn>
                    <a:cxn ang="0">
                      <a:pos x="1605" y="542"/>
                    </a:cxn>
                    <a:cxn ang="0">
                      <a:pos x="1482" y="584"/>
                    </a:cxn>
                    <a:cxn ang="0">
                      <a:pos x="1333" y="608"/>
                    </a:cxn>
                    <a:cxn ang="0">
                      <a:pos x="1177" y="633"/>
                    </a:cxn>
                    <a:cxn ang="0">
                      <a:pos x="1012" y="641"/>
                    </a:cxn>
                    <a:cxn ang="0">
                      <a:pos x="840" y="641"/>
                    </a:cxn>
                    <a:cxn ang="0">
                      <a:pos x="667" y="633"/>
                    </a:cxn>
                    <a:cxn ang="0">
                      <a:pos x="510" y="608"/>
                    </a:cxn>
                    <a:cxn ang="0">
                      <a:pos x="362" y="584"/>
                    </a:cxn>
                    <a:cxn ang="0">
                      <a:pos x="239" y="542"/>
                    </a:cxn>
                    <a:cxn ang="0">
                      <a:pos x="140" y="493"/>
                    </a:cxn>
                    <a:cxn ang="0">
                      <a:pos x="58" y="436"/>
                    </a:cxn>
                    <a:cxn ang="0">
                      <a:pos x="16" y="378"/>
                    </a:cxn>
                    <a:cxn ang="0">
                      <a:pos x="0" y="321"/>
                    </a:cxn>
                  </a:cxnLst>
                  <a:rect l="0" t="0" r="r" b="b"/>
                  <a:pathLst>
                    <a:path w="1853" h="642">
                      <a:moveTo>
                        <a:pt x="0" y="321"/>
                      </a:moveTo>
                      <a:lnTo>
                        <a:pt x="16" y="263"/>
                      </a:lnTo>
                      <a:lnTo>
                        <a:pt x="58" y="206"/>
                      </a:lnTo>
                      <a:lnTo>
                        <a:pt x="140" y="148"/>
                      </a:lnTo>
                      <a:lnTo>
                        <a:pt x="239" y="107"/>
                      </a:lnTo>
                      <a:lnTo>
                        <a:pt x="362" y="66"/>
                      </a:lnTo>
                      <a:lnTo>
                        <a:pt x="510" y="33"/>
                      </a:lnTo>
                      <a:lnTo>
                        <a:pt x="667" y="8"/>
                      </a:lnTo>
                      <a:lnTo>
                        <a:pt x="840" y="0"/>
                      </a:lnTo>
                      <a:lnTo>
                        <a:pt x="1012" y="0"/>
                      </a:lnTo>
                      <a:lnTo>
                        <a:pt x="1177" y="8"/>
                      </a:lnTo>
                      <a:lnTo>
                        <a:pt x="1333" y="33"/>
                      </a:lnTo>
                      <a:lnTo>
                        <a:pt x="1482" y="66"/>
                      </a:lnTo>
                      <a:lnTo>
                        <a:pt x="1605" y="107"/>
                      </a:lnTo>
                      <a:lnTo>
                        <a:pt x="1712" y="148"/>
                      </a:lnTo>
                      <a:lnTo>
                        <a:pt x="1786" y="206"/>
                      </a:lnTo>
                      <a:lnTo>
                        <a:pt x="1835" y="263"/>
                      </a:lnTo>
                      <a:lnTo>
                        <a:pt x="1852" y="321"/>
                      </a:lnTo>
                      <a:lnTo>
                        <a:pt x="1835" y="378"/>
                      </a:lnTo>
                      <a:lnTo>
                        <a:pt x="1786" y="436"/>
                      </a:lnTo>
                      <a:lnTo>
                        <a:pt x="1712" y="493"/>
                      </a:lnTo>
                      <a:lnTo>
                        <a:pt x="1605" y="542"/>
                      </a:lnTo>
                      <a:lnTo>
                        <a:pt x="1482" y="584"/>
                      </a:lnTo>
                      <a:lnTo>
                        <a:pt x="1333" y="608"/>
                      </a:lnTo>
                      <a:lnTo>
                        <a:pt x="1177" y="633"/>
                      </a:lnTo>
                      <a:lnTo>
                        <a:pt x="1012" y="641"/>
                      </a:lnTo>
                      <a:lnTo>
                        <a:pt x="840" y="641"/>
                      </a:lnTo>
                      <a:lnTo>
                        <a:pt x="667" y="633"/>
                      </a:lnTo>
                      <a:lnTo>
                        <a:pt x="510" y="608"/>
                      </a:lnTo>
                      <a:lnTo>
                        <a:pt x="362" y="584"/>
                      </a:lnTo>
                      <a:lnTo>
                        <a:pt x="239" y="542"/>
                      </a:lnTo>
                      <a:lnTo>
                        <a:pt x="140" y="493"/>
                      </a:lnTo>
                      <a:lnTo>
                        <a:pt x="58" y="436"/>
                      </a:lnTo>
                      <a:lnTo>
                        <a:pt x="16" y="378"/>
                      </a:lnTo>
                      <a:lnTo>
                        <a:pt x="0" y="321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defTabSz="457200"/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2" name="Freeform 22"/>
                <p:cNvSpPr>
                  <a:spLocks/>
                </p:cNvSpPr>
                <p:nvPr/>
              </p:nvSpPr>
              <p:spPr bwMode="auto">
                <a:xfrm>
                  <a:off x="3137" y="2880"/>
                  <a:ext cx="1672" cy="494"/>
                </a:xfrm>
                <a:custGeom>
                  <a:avLst/>
                  <a:gdLst/>
                  <a:ahLst/>
                  <a:cxnLst>
                    <a:cxn ang="0">
                      <a:pos x="0" y="246"/>
                    </a:cxn>
                    <a:cxn ang="0">
                      <a:pos x="17" y="197"/>
                    </a:cxn>
                    <a:cxn ang="0">
                      <a:pos x="66" y="156"/>
                    </a:cxn>
                    <a:cxn ang="0">
                      <a:pos x="140" y="115"/>
                    </a:cxn>
                    <a:cxn ang="0">
                      <a:pos x="247" y="74"/>
                    </a:cxn>
                    <a:cxn ang="0">
                      <a:pos x="371" y="41"/>
                    </a:cxn>
                    <a:cxn ang="0">
                      <a:pos x="519" y="24"/>
                    </a:cxn>
                    <a:cxn ang="0">
                      <a:pos x="675" y="8"/>
                    </a:cxn>
                    <a:cxn ang="0">
                      <a:pos x="832" y="0"/>
                    </a:cxn>
                    <a:cxn ang="0">
                      <a:pos x="996" y="8"/>
                    </a:cxn>
                    <a:cxn ang="0">
                      <a:pos x="1153" y="24"/>
                    </a:cxn>
                    <a:cxn ang="0">
                      <a:pos x="1301" y="41"/>
                    </a:cxn>
                    <a:cxn ang="0">
                      <a:pos x="1424" y="74"/>
                    </a:cxn>
                    <a:cxn ang="0">
                      <a:pos x="1523" y="115"/>
                    </a:cxn>
                    <a:cxn ang="0">
                      <a:pos x="1606" y="156"/>
                    </a:cxn>
                    <a:cxn ang="0">
                      <a:pos x="1655" y="197"/>
                    </a:cxn>
                    <a:cxn ang="0">
                      <a:pos x="1671" y="246"/>
                    </a:cxn>
                    <a:cxn ang="0">
                      <a:pos x="1655" y="295"/>
                    </a:cxn>
                    <a:cxn ang="0">
                      <a:pos x="1606" y="345"/>
                    </a:cxn>
                    <a:cxn ang="0">
                      <a:pos x="1523" y="386"/>
                    </a:cxn>
                    <a:cxn ang="0">
                      <a:pos x="1424" y="427"/>
                    </a:cxn>
                    <a:cxn ang="0">
                      <a:pos x="1301" y="452"/>
                    </a:cxn>
                    <a:cxn ang="0">
                      <a:pos x="1153" y="476"/>
                    </a:cxn>
                    <a:cxn ang="0">
                      <a:pos x="996" y="493"/>
                    </a:cxn>
                    <a:cxn ang="0">
                      <a:pos x="832" y="493"/>
                    </a:cxn>
                    <a:cxn ang="0">
                      <a:pos x="675" y="493"/>
                    </a:cxn>
                    <a:cxn ang="0">
                      <a:pos x="519" y="476"/>
                    </a:cxn>
                    <a:cxn ang="0">
                      <a:pos x="371" y="452"/>
                    </a:cxn>
                    <a:cxn ang="0">
                      <a:pos x="247" y="427"/>
                    </a:cxn>
                    <a:cxn ang="0">
                      <a:pos x="140" y="386"/>
                    </a:cxn>
                    <a:cxn ang="0">
                      <a:pos x="66" y="345"/>
                    </a:cxn>
                    <a:cxn ang="0">
                      <a:pos x="17" y="295"/>
                    </a:cxn>
                    <a:cxn ang="0">
                      <a:pos x="0" y="246"/>
                    </a:cxn>
                  </a:cxnLst>
                  <a:rect l="0" t="0" r="r" b="b"/>
                  <a:pathLst>
                    <a:path w="1672" h="494">
                      <a:moveTo>
                        <a:pt x="0" y="246"/>
                      </a:moveTo>
                      <a:lnTo>
                        <a:pt x="17" y="197"/>
                      </a:lnTo>
                      <a:lnTo>
                        <a:pt x="66" y="156"/>
                      </a:lnTo>
                      <a:lnTo>
                        <a:pt x="140" y="115"/>
                      </a:lnTo>
                      <a:lnTo>
                        <a:pt x="247" y="74"/>
                      </a:lnTo>
                      <a:lnTo>
                        <a:pt x="371" y="41"/>
                      </a:lnTo>
                      <a:lnTo>
                        <a:pt x="519" y="24"/>
                      </a:lnTo>
                      <a:lnTo>
                        <a:pt x="675" y="8"/>
                      </a:lnTo>
                      <a:lnTo>
                        <a:pt x="832" y="0"/>
                      </a:lnTo>
                      <a:lnTo>
                        <a:pt x="996" y="8"/>
                      </a:lnTo>
                      <a:lnTo>
                        <a:pt x="1153" y="24"/>
                      </a:lnTo>
                      <a:lnTo>
                        <a:pt x="1301" y="41"/>
                      </a:lnTo>
                      <a:lnTo>
                        <a:pt x="1424" y="74"/>
                      </a:lnTo>
                      <a:lnTo>
                        <a:pt x="1523" y="115"/>
                      </a:lnTo>
                      <a:lnTo>
                        <a:pt x="1606" y="156"/>
                      </a:lnTo>
                      <a:lnTo>
                        <a:pt x="1655" y="197"/>
                      </a:lnTo>
                      <a:lnTo>
                        <a:pt x="1671" y="246"/>
                      </a:lnTo>
                      <a:lnTo>
                        <a:pt x="1655" y="295"/>
                      </a:lnTo>
                      <a:lnTo>
                        <a:pt x="1606" y="345"/>
                      </a:lnTo>
                      <a:lnTo>
                        <a:pt x="1523" y="386"/>
                      </a:lnTo>
                      <a:lnTo>
                        <a:pt x="1424" y="427"/>
                      </a:lnTo>
                      <a:lnTo>
                        <a:pt x="1301" y="452"/>
                      </a:lnTo>
                      <a:lnTo>
                        <a:pt x="1153" y="476"/>
                      </a:lnTo>
                      <a:lnTo>
                        <a:pt x="996" y="493"/>
                      </a:lnTo>
                      <a:lnTo>
                        <a:pt x="832" y="493"/>
                      </a:lnTo>
                      <a:lnTo>
                        <a:pt x="675" y="493"/>
                      </a:lnTo>
                      <a:lnTo>
                        <a:pt x="519" y="476"/>
                      </a:lnTo>
                      <a:lnTo>
                        <a:pt x="371" y="452"/>
                      </a:lnTo>
                      <a:lnTo>
                        <a:pt x="247" y="427"/>
                      </a:lnTo>
                      <a:lnTo>
                        <a:pt x="140" y="386"/>
                      </a:lnTo>
                      <a:lnTo>
                        <a:pt x="66" y="345"/>
                      </a:lnTo>
                      <a:lnTo>
                        <a:pt x="17" y="295"/>
                      </a:lnTo>
                      <a:lnTo>
                        <a:pt x="0" y="246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defTabSz="457200"/>
                  <a:endParaRPr lang="en-US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15" name="Group 23"/>
              <p:cNvGrpSpPr>
                <a:grpSpLocks/>
              </p:cNvGrpSpPr>
              <p:nvPr/>
            </p:nvGrpSpPr>
            <p:grpSpPr bwMode="auto">
              <a:xfrm>
                <a:off x="3788" y="669"/>
                <a:ext cx="429" cy="2516"/>
                <a:chOff x="3788" y="669"/>
                <a:chExt cx="429" cy="2516"/>
              </a:xfrm>
            </p:grpSpPr>
            <p:sp>
              <p:nvSpPr>
                <p:cNvPr id="16" name="Freeform 24"/>
                <p:cNvSpPr>
                  <a:spLocks/>
                </p:cNvSpPr>
                <p:nvPr/>
              </p:nvSpPr>
              <p:spPr bwMode="auto">
                <a:xfrm>
                  <a:off x="3845" y="784"/>
                  <a:ext cx="248" cy="741"/>
                </a:xfrm>
                <a:custGeom>
                  <a:avLst/>
                  <a:gdLst/>
                  <a:ahLst/>
                  <a:cxnLst>
                    <a:cxn ang="0">
                      <a:pos x="247" y="649"/>
                    </a:cxn>
                    <a:cxn ang="0">
                      <a:pos x="247" y="0"/>
                    </a:cxn>
                    <a:cxn ang="0">
                      <a:pos x="0" y="0"/>
                    </a:cxn>
                    <a:cxn ang="0">
                      <a:pos x="0" y="649"/>
                    </a:cxn>
                    <a:cxn ang="0">
                      <a:pos x="0" y="657"/>
                    </a:cxn>
                    <a:cxn ang="0">
                      <a:pos x="17" y="699"/>
                    </a:cxn>
                    <a:cxn ang="0">
                      <a:pos x="50" y="723"/>
                    </a:cxn>
                    <a:cxn ang="0">
                      <a:pos x="99" y="740"/>
                    </a:cxn>
                    <a:cxn ang="0">
                      <a:pos x="157" y="740"/>
                    </a:cxn>
                    <a:cxn ang="0">
                      <a:pos x="206" y="723"/>
                    </a:cxn>
                    <a:cxn ang="0">
                      <a:pos x="239" y="699"/>
                    </a:cxn>
                    <a:cxn ang="0">
                      <a:pos x="247" y="657"/>
                    </a:cxn>
                    <a:cxn ang="0">
                      <a:pos x="247" y="649"/>
                    </a:cxn>
                  </a:cxnLst>
                  <a:rect l="0" t="0" r="r" b="b"/>
                  <a:pathLst>
                    <a:path w="248" h="741">
                      <a:moveTo>
                        <a:pt x="247" y="649"/>
                      </a:moveTo>
                      <a:lnTo>
                        <a:pt x="247" y="0"/>
                      </a:lnTo>
                      <a:lnTo>
                        <a:pt x="0" y="0"/>
                      </a:lnTo>
                      <a:lnTo>
                        <a:pt x="0" y="649"/>
                      </a:lnTo>
                      <a:lnTo>
                        <a:pt x="0" y="657"/>
                      </a:lnTo>
                      <a:lnTo>
                        <a:pt x="17" y="699"/>
                      </a:lnTo>
                      <a:lnTo>
                        <a:pt x="50" y="723"/>
                      </a:lnTo>
                      <a:lnTo>
                        <a:pt x="99" y="740"/>
                      </a:lnTo>
                      <a:lnTo>
                        <a:pt x="157" y="740"/>
                      </a:lnTo>
                      <a:lnTo>
                        <a:pt x="206" y="723"/>
                      </a:lnTo>
                      <a:lnTo>
                        <a:pt x="239" y="699"/>
                      </a:lnTo>
                      <a:lnTo>
                        <a:pt x="247" y="657"/>
                      </a:lnTo>
                      <a:lnTo>
                        <a:pt x="247" y="649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defTabSz="457200"/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7" name="Freeform 25"/>
                <p:cNvSpPr>
                  <a:spLocks/>
                </p:cNvSpPr>
                <p:nvPr/>
              </p:nvSpPr>
              <p:spPr bwMode="auto">
                <a:xfrm>
                  <a:off x="3845" y="669"/>
                  <a:ext cx="248" cy="157"/>
                </a:xfrm>
                <a:custGeom>
                  <a:avLst/>
                  <a:gdLst/>
                  <a:ahLst/>
                  <a:cxnLst>
                    <a:cxn ang="0">
                      <a:pos x="0" y="74"/>
                    </a:cxn>
                    <a:cxn ang="0">
                      <a:pos x="17" y="41"/>
                    </a:cxn>
                    <a:cxn ang="0">
                      <a:pos x="50" y="8"/>
                    </a:cxn>
                    <a:cxn ang="0">
                      <a:pos x="99" y="0"/>
                    </a:cxn>
                    <a:cxn ang="0">
                      <a:pos x="157" y="0"/>
                    </a:cxn>
                    <a:cxn ang="0">
                      <a:pos x="206" y="8"/>
                    </a:cxn>
                    <a:cxn ang="0">
                      <a:pos x="239" y="41"/>
                    </a:cxn>
                    <a:cxn ang="0">
                      <a:pos x="247" y="74"/>
                    </a:cxn>
                    <a:cxn ang="0">
                      <a:pos x="239" y="115"/>
                    </a:cxn>
                    <a:cxn ang="0">
                      <a:pos x="206" y="140"/>
                    </a:cxn>
                    <a:cxn ang="0">
                      <a:pos x="157" y="156"/>
                    </a:cxn>
                    <a:cxn ang="0">
                      <a:pos x="99" y="156"/>
                    </a:cxn>
                    <a:cxn ang="0">
                      <a:pos x="50" y="140"/>
                    </a:cxn>
                    <a:cxn ang="0">
                      <a:pos x="17" y="115"/>
                    </a:cxn>
                    <a:cxn ang="0">
                      <a:pos x="0" y="74"/>
                    </a:cxn>
                  </a:cxnLst>
                  <a:rect l="0" t="0" r="r" b="b"/>
                  <a:pathLst>
                    <a:path w="248" h="157">
                      <a:moveTo>
                        <a:pt x="0" y="74"/>
                      </a:moveTo>
                      <a:lnTo>
                        <a:pt x="17" y="41"/>
                      </a:lnTo>
                      <a:lnTo>
                        <a:pt x="50" y="8"/>
                      </a:lnTo>
                      <a:lnTo>
                        <a:pt x="99" y="0"/>
                      </a:lnTo>
                      <a:lnTo>
                        <a:pt x="157" y="0"/>
                      </a:lnTo>
                      <a:lnTo>
                        <a:pt x="206" y="8"/>
                      </a:lnTo>
                      <a:lnTo>
                        <a:pt x="239" y="41"/>
                      </a:lnTo>
                      <a:lnTo>
                        <a:pt x="247" y="74"/>
                      </a:lnTo>
                      <a:lnTo>
                        <a:pt x="239" y="115"/>
                      </a:lnTo>
                      <a:lnTo>
                        <a:pt x="206" y="140"/>
                      </a:lnTo>
                      <a:lnTo>
                        <a:pt x="157" y="156"/>
                      </a:lnTo>
                      <a:lnTo>
                        <a:pt x="99" y="156"/>
                      </a:lnTo>
                      <a:lnTo>
                        <a:pt x="50" y="140"/>
                      </a:lnTo>
                      <a:lnTo>
                        <a:pt x="17" y="115"/>
                      </a:lnTo>
                      <a:lnTo>
                        <a:pt x="0" y="74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defTabSz="457200"/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8" name="Freeform 26"/>
                <p:cNvSpPr>
                  <a:spLocks/>
                </p:cNvSpPr>
                <p:nvPr/>
              </p:nvSpPr>
              <p:spPr bwMode="auto">
                <a:xfrm>
                  <a:off x="3845" y="2263"/>
                  <a:ext cx="248" cy="922"/>
                </a:xfrm>
                <a:custGeom>
                  <a:avLst/>
                  <a:gdLst/>
                  <a:ahLst/>
                  <a:cxnLst>
                    <a:cxn ang="0">
                      <a:pos x="247" y="814"/>
                    </a:cxn>
                    <a:cxn ang="0">
                      <a:pos x="247" y="0"/>
                    </a:cxn>
                    <a:cxn ang="0">
                      <a:pos x="0" y="0"/>
                    </a:cxn>
                    <a:cxn ang="0">
                      <a:pos x="0" y="814"/>
                    </a:cxn>
                    <a:cxn ang="0">
                      <a:pos x="0" y="822"/>
                    </a:cxn>
                    <a:cxn ang="0">
                      <a:pos x="17" y="871"/>
                    </a:cxn>
                    <a:cxn ang="0">
                      <a:pos x="50" y="904"/>
                    </a:cxn>
                    <a:cxn ang="0">
                      <a:pos x="99" y="921"/>
                    </a:cxn>
                    <a:cxn ang="0">
                      <a:pos x="157" y="921"/>
                    </a:cxn>
                    <a:cxn ang="0">
                      <a:pos x="206" y="904"/>
                    </a:cxn>
                    <a:cxn ang="0">
                      <a:pos x="239" y="871"/>
                    </a:cxn>
                    <a:cxn ang="0">
                      <a:pos x="247" y="822"/>
                    </a:cxn>
                    <a:cxn ang="0">
                      <a:pos x="247" y="814"/>
                    </a:cxn>
                  </a:cxnLst>
                  <a:rect l="0" t="0" r="r" b="b"/>
                  <a:pathLst>
                    <a:path w="248" h="922">
                      <a:moveTo>
                        <a:pt x="247" y="814"/>
                      </a:moveTo>
                      <a:lnTo>
                        <a:pt x="247" y="0"/>
                      </a:lnTo>
                      <a:lnTo>
                        <a:pt x="0" y="0"/>
                      </a:lnTo>
                      <a:lnTo>
                        <a:pt x="0" y="814"/>
                      </a:lnTo>
                      <a:lnTo>
                        <a:pt x="0" y="822"/>
                      </a:lnTo>
                      <a:lnTo>
                        <a:pt x="17" y="871"/>
                      </a:lnTo>
                      <a:lnTo>
                        <a:pt x="50" y="904"/>
                      </a:lnTo>
                      <a:lnTo>
                        <a:pt x="99" y="921"/>
                      </a:lnTo>
                      <a:lnTo>
                        <a:pt x="157" y="921"/>
                      </a:lnTo>
                      <a:lnTo>
                        <a:pt x="206" y="904"/>
                      </a:lnTo>
                      <a:lnTo>
                        <a:pt x="239" y="871"/>
                      </a:lnTo>
                      <a:lnTo>
                        <a:pt x="247" y="822"/>
                      </a:lnTo>
                      <a:lnTo>
                        <a:pt x="247" y="814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defTabSz="457200"/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9" name="Freeform 27"/>
                <p:cNvSpPr>
                  <a:spLocks/>
                </p:cNvSpPr>
                <p:nvPr/>
              </p:nvSpPr>
              <p:spPr bwMode="auto">
                <a:xfrm>
                  <a:off x="3788" y="850"/>
                  <a:ext cx="429" cy="247"/>
                </a:xfrm>
                <a:custGeom>
                  <a:avLst/>
                  <a:gdLst/>
                  <a:ahLst/>
                  <a:cxnLst>
                    <a:cxn ang="0">
                      <a:pos x="57" y="0"/>
                    </a:cxn>
                    <a:cxn ang="0">
                      <a:pos x="16" y="49"/>
                    </a:cxn>
                    <a:cxn ang="0">
                      <a:pos x="0" y="98"/>
                    </a:cxn>
                    <a:cxn ang="0">
                      <a:pos x="16" y="156"/>
                    </a:cxn>
                    <a:cxn ang="0">
                      <a:pos x="66" y="205"/>
                    </a:cxn>
                    <a:cxn ang="0">
                      <a:pos x="131" y="230"/>
                    </a:cxn>
                    <a:cxn ang="0">
                      <a:pos x="214" y="246"/>
                    </a:cxn>
                    <a:cxn ang="0">
                      <a:pos x="296" y="230"/>
                    </a:cxn>
                    <a:cxn ang="0">
                      <a:pos x="362" y="205"/>
                    </a:cxn>
                    <a:cxn ang="0">
                      <a:pos x="411" y="156"/>
                    </a:cxn>
                    <a:cxn ang="0">
                      <a:pos x="428" y="98"/>
                    </a:cxn>
                    <a:cxn ang="0">
                      <a:pos x="411" y="49"/>
                    </a:cxn>
                  </a:cxnLst>
                  <a:rect l="0" t="0" r="r" b="b"/>
                  <a:pathLst>
                    <a:path w="429" h="247">
                      <a:moveTo>
                        <a:pt x="57" y="0"/>
                      </a:moveTo>
                      <a:lnTo>
                        <a:pt x="16" y="49"/>
                      </a:lnTo>
                      <a:lnTo>
                        <a:pt x="0" y="98"/>
                      </a:lnTo>
                      <a:lnTo>
                        <a:pt x="16" y="156"/>
                      </a:lnTo>
                      <a:lnTo>
                        <a:pt x="66" y="205"/>
                      </a:lnTo>
                      <a:lnTo>
                        <a:pt x="131" y="230"/>
                      </a:lnTo>
                      <a:lnTo>
                        <a:pt x="214" y="246"/>
                      </a:lnTo>
                      <a:lnTo>
                        <a:pt x="296" y="230"/>
                      </a:lnTo>
                      <a:lnTo>
                        <a:pt x="362" y="205"/>
                      </a:lnTo>
                      <a:lnTo>
                        <a:pt x="411" y="156"/>
                      </a:lnTo>
                      <a:lnTo>
                        <a:pt x="428" y="98"/>
                      </a:lnTo>
                      <a:lnTo>
                        <a:pt x="411" y="49"/>
                      </a:lnTo>
                    </a:path>
                  </a:pathLst>
                </a:custGeom>
                <a:noFill/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defTabSz="457200"/>
                  <a:endParaRPr lang="en-US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32" name="Freeform 28"/>
            <p:cNvSpPr>
              <a:spLocks/>
            </p:cNvSpPr>
            <p:nvPr/>
          </p:nvSpPr>
          <p:spPr bwMode="auto">
            <a:xfrm>
              <a:off x="8574088" y="2344738"/>
              <a:ext cx="171450" cy="171450"/>
            </a:xfrm>
            <a:custGeom>
              <a:avLst/>
              <a:gdLst/>
              <a:ahLst/>
              <a:cxnLst>
                <a:cxn ang="0">
                  <a:pos x="25" y="107"/>
                </a:cxn>
                <a:cxn ang="0">
                  <a:pos x="0" y="0"/>
                </a:cxn>
                <a:cxn ang="0">
                  <a:pos x="107" y="41"/>
                </a:cxn>
                <a:cxn ang="0">
                  <a:pos x="25" y="107"/>
                </a:cxn>
              </a:cxnLst>
              <a:rect l="0" t="0" r="r" b="b"/>
              <a:pathLst>
                <a:path w="108" h="108">
                  <a:moveTo>
                    <a:pt x="25" y="107"/>
                  </a:moveTo>
                  <a:lnTo>
                    <a:pt x="0" y="0"/>
                  </a:lnTo>
                  <a:lnTo>
                    <a:pt x="107" y="41"/>
                  </a:lnTo>
                  <a:lnTo>
                    <a:pt x="25" y="107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3" name="Line 29"/>
            <p:cNvSpPr>
              <a:spLocks noChangeShapeType="1"/>
            </p:cNvSpPr>
            <p:nvPr/>
          </p:nvSpPr>
          <p:spPr bwMode="auto">
            <a:xfrm>
              <a:off x="6118226" y="3322638"/>
              <a:ext cx="784225" cy="0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4" name="Line 30"/>
            <p:cNvSpPr>
              <a:spLocks noChangeShapeType="1"/>
            </p:cNvSpPr>
            <p:nvPr/>
          </p:nvSpPr>
          <p:spPr bwMode="auto">
            <a:xfrm>
              <a:off x="6118226" y="3935413"/>
              <a:ext cx="784225" cy="0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5" name="Line 31"/>
            <p:cNvSpPr>
              <a:spLocks noChangeShapeType="1"/>
            </p:cNvSpPr>
            <p:nvPr/>
          </p:nvSpPr>
          <p:spPr bwMode="auto">
            <a:xfrm>
              <a:off x="6118226" y="6022975"/>
              <a:ext cx="784225" cy="0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6" name="Line 32"/>
            <p:cNvSpPr>
              <a:spLocks noChangeShapeType="1"/>
            </p:cNvSpPr>
            <p:nvPr/>
          </p:nvSpPr>
          <p:spPr bwMode="auto">
            <a:xfrm>
              <a:off x="6118225" y="4497389"/>
              <a:ext cx="0" cy="1565275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7" name="Line 33"/>
            <p:cNvSpPr>
              <a:spLocks noChangeShapeType="1"/>
            </p:cNvSpPr>
            <p:nvPr/>
          </p:nvSpPr>
          <p:spPr bwMode="auto">
            <a:xfrm flipV="1">
              <a:off x="6118225" y="3322638"/>
              <a:ext cx="0" cy="1174750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8" name="Freeform 34" descr="Light vertical"/>
            <p:cNvSpPr>
              <a:spLocks/>
            </p:cNvSpPr>
            <p:nvPr/>
          </p:nvSpPr>
          <p:spPr bwMode="auto">
            <a:xfrm>
              <a:off x="6902451" y="5984876"/>
              <a:ext cx="157163" cy="79375"/>
            </a:xfrm>
            <a:custGeom>
              <a:avLst/>
              <a:gdLst/>
              <a:ahLst/>
              <a:cxnLst>
                <a:cxn ang="0">
                  <a:pos x="0" y="49"/>
                </a:cxn>
                <a:cxn ang="0">
                  <a:pos x="98" y="49"/>
                </a:cxn>
                <a:cxn ang="0">
                  <a:pos x="98" y="0"/>
                </a:cxn>
                <a:cxn ang="0">
                  <a:pos x="0" y="0"/>
                </a:cxn>
                <a:cxn ang="0">
                  <a:pos x="0" y="49"/>
                </a:cxn>
              </a:cxnLst>
              <a:rect l="0" t="0" r="r" b="b"/>
              <a:pathLst>
                <a:path w="99" h="50">
                  <a:moveTo>
                    <a:pt x="0" y="49"/>
                  </a:moveTo>
                  <a:lnTo>
                    <a:pt x="98" y="49"/>
                  </a:lnTo>
                  <a:lnTo>
                    <a:pt x="98" y="0"/>
                  </a:lnTo>
                  <a:lnTo>
                    <a:pt x="0" y="0"/>
                  </a:lnTo>
                  <a:lnTo>
                    <a:pt x="0" y="49"/>
                  </a:lnTo>
                </a:path>
              </a:pathLst>
            </a:custGeom>
            <a:pattFill prst="ltVert">
              <a:fgClr>
                <a:srgbClr val="FFFFFF"/>
              </a:fgClr>
              <a:bgClr>
                <a:srgbClr val="000000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9" name="Freeform 35" descr="Light vertical"/>
            <p:cNvSpPr>
              <a:spLocks/>
            </p:cNvSpPr>
            <p:nvPr/>
          </p:nvSpPr>
          <p:spPr bwMode="auto">
            <a:xfrm>
              <a:off x="6902451" y="3282951"/>
              <a:ext cx="157163" cy="68263"/>
            </a:xfrm>
            <a:custGeom>
              <a:avLst/>
              <a:gdLst/>
              <a:ahLst/>
              <a:cxnLst>
                <a:cxn ang="0">
                  <a:pos x="0" y="42"/>
                </a:cxn>
                <a:cxn ang="0">
                  <a:pos x="98" y="42"/>
                </a:cxn>
                <a:cxn ang="0">
                  <a:pos x="98" y="0"/>
                </a:cxn>
                <a:cxn ang="0">
                  <a:pos x="0" y="0"/>
                </a:cxn>
                <a:cxn ang="0">
                  <a:pos x="0" y="42"/>
                </a:cxn>
              </a:cxnLst>
              <a:rect l="0" t="0" r="r" b="b"/>
              <a:pathLst>
                <a:path w="99" h="43">
                  <a:moveTo>
                    <a:pt x="0" y="42"/>
                  </a:moveTo>
                  <a:lnTo>
                    <a:pt x="98" y="42"/>
                  </a:lnTo>
                  <a:lnTo>
                    <a:pt x="98" y="0"/>
                  </a:lnTo>
                  <a:lnTo>
                    <a:pt x="0" y="0"/>
                  </a:lnTo>
                  <a:lnTo>
                    <a:pt x="0" y="42"/>
                  </a:lnTo>
                </a:path>
              </a:pathLst>
            </a:custGeom>
            <a:pattFill prst="ltVert">
              <a:fgClr>
                <a:srgbClr val="FFFFFF"/>
              </a:fgClr>
              <a:bgClr>
                <a:srgbClr val="000000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" name="Freeform 36" descr="Light vertical"/>
            <p:cNvSpPr>
              <a:spLocks/>
            </p:cNvSpPr>
            <p:nvPr/>
          </p:nvSpPr>
          <p:spPr bwMode="auto">
            <a:xfrm>
              <a:off x="6902451" y="3910014"/>
              <a:ext cx="157163" cy="66675"/>
            </a:xfrm>
            <a:custGeom>
              <a:avLst/>
              <a:gdLst/>
              <a:ahLst/>
              <a:cxnLst>
                <a:cxn ang="0">
                  <a:pos x="0" y="41"/>
                </a:cxn>
                <a:cxn ang="0">
                  <a:pos x="98" y="41"/>
                </a:cxn>
                <a:cxn ang="0">
                  <a:pos x="98" y="0"/>
                </a:cxn>
                <a:cxn ang="0">
                  <a:pos x="0" y="0"/>
                </a:cxn>
                <a:cxn ang="0">
                  <a:pos x="0" y="41"/>
                </a:cxn>
              </a:cxnLst>
              <a:rect l="0" t="0" r="r" b="b"/>
              <a:pathLst>
                <a:path w="99" h="42">
                  <a:moveTo>
                    <a:pt x="0" y="41"/>
                  </a:moveTo>
                  <a:lnTo>
                    <a:pt x="98" y="41"/>
                  </a:lnTo>
                  <a:lnTo>
                    <a:pt x="98" y="0"/>
                  </a:lnTo>
                  <a:lnTo>
                    <a:pt x="0" y="0"/>
                  </a:lnTo>
                  <a:lnTo>
                    <a:pt x="0" y="41"/>
                  </a:lnTo>
                </a:path>
              </a:pathLst>
            </a:custGeom>
            <a:pattFill prst="ltVert">
              <a:fgClr>
                <a:srgbClr val="FFFFFF"/>
              </a:fgClr>
              <a:bgClr>
                <a:srgbClr val="000000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1" name="Rectangle 37"/>
            <p:cNvSpPr>
              <a:spLocks noChangeArrowheads="1"/>
            </p:cNvSpPr>
            <p:nvPr/>
          </p:nvSpPr>
          <p:spPr bwMode="auto">
            <a:xfrm>
              <a:off x="9764714" y="4776788"/>
              <a:ext cx="838371" cy="3238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457200" eaLnBrk="0" hangingPunct="0"/>
              <a:r>
                <a:rPr lang="en-US" sz="1500">
                  <a:solidFill>
                    <a:srgbClr val="000000"/>
                  </a:solidFill>
                  <a:latin typeface="Arial" charset="0"/>
                </a:rPr>
                <a:t>Platters</a:t>
              </a:r>
            </a:p>
          </p:txBody>
        </p:sp>
        <p:sp>
          <p:nvSpPr>
            <p:cNvPr id="42" name="Line 38"/>
            <p:cNvSpPr>
              <a:spLocks noChangeShapeType="1"/>
            </p:cNvSpPr>
            <p:nvPr/>
          </p:nvSpPr>
          <p:spPr bwMode="auto">
            <a:xfrm>
              <a:off x="9645651" y="4300539"/>
              <a:ext cx="392113" cy="4841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3" name="Line 39"/>
            <p:cNvSpPr>
              <a:spLocks noChangeShapeType="1"/>
            </p:cNvSpPr>
            <p:nvPr/>
          </p:nvSpPr>
          <p:spPr bwMode="auto">
            <a:xfrm flipV="1">
              <a:off x="9645651" y="5084764"/>
              <a:ext cx="392113" cy="5857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4" name="Rectangle 40"/>
            <p:cNvSpPr>
              <a:spLocks noChangeArrowheads="1"/>
            </p:cNvSpPr>
            <p:nvPr/>
          </p:nvSpPr>
          <p:spPr bwMode="auto">
            <a:xfrm>
              <a:off x="9104313" y="2049463"/>
              <a:ext cx="830356" cy="3238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457200" eaLnBrk="0" hangingPunct="0"/>
              <a:r>
                <a:rPr lang="en-US" sz="1500">
                  <a:solidFill>
                    <a:srgbClr val="000000"/>
                  </a:solidFill>
                  <a:latin typeface="Arial" charset="0"/>
                </a:rPr>
                <a:t>Spindle</a:t>
              </a:r>
            </a:p>
          </p:txBody>
        </p:sp>
        <p:sp>
          <p:nvSpPr>
            <p:cNvPr id="45" name="Freeform 41"/>
            <p:cNvSpPr>
              <a:spLocks/>
            </p:cNvSpPr>
            <p:nvPr/>
          </p:nvSpPr>
          <p:spPr bwMode="auto">
            <a:xfrm>
              <a:off x="8470901" y="2184401"/>
              <a:ext cx="695325" cy="117475"/>
            </a:xfrm>
            <a:custGeom>
              <a:avLst/>
              <a:gdLst/>
              <a:ahLst/>
              <a:cxnLst>
                <a:cxn ang="0">
                  <a:pos x="437" y="8"/>
                </a:cxn>
                <a:cxn ang="0">
                  <a:pos x="288" y="0"/>
                </a:cxn>
                <a:cxn ang="0">
                  <a:pos x="140" y="24"/>
                </a:cxn>
                <a:cxn ang="0">
                  <a:pos x="0" y="73"/>
                </a:cxn>
              </a:cxnLst>
              <a:rect l="0" t="0" r="r" b="b"/>
              <a:pathLst>
                <a:path w="438" h="74">
                  <a:moveTo>
                    <a:pt x="437" y="8"/>
                  </a:moveTo>
                  <a:lnTo>
                    <a:pt x="288" y="0"/>
                  </a:lnTo>
                  <a:lnTo>
                    <a:pt x="140" y="24"/>
                  </a:lnTo>
                  <a:lnTo>
                    <a:pt x="0" y="73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6" name="Rectangle 42"/>
            <p:cNvSpPr>
              <a:spLocks noChangeArrowheads="1"/>
            </p:cNvSpPr>
            <p:nvPr/>
          </p:nvSpPr>
          <p:spPr bwMode="auto">
            <a:xfrm>
              <a:off x="6092826" y="2365375"/>
              <a:ext cx="1043555" cy="3238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457200" eaLnBrk="0" hangingPunct="0"/>
              <a:r>
                <a:rPr lang="en-US" sz="1500">
                  <a:solidFill>
                    <a:srgbClr val="000000"/>
                  </a:solidFill>
                  <a:latin typeface="Arial" charset="0"/>
                </a:rPr>
                <a:t>Disk head</a:t>
              </a:r>
            </a:p>
          </p:txBody>
        </p:sp>
        <p:grpSp>
          <p:nvGrpSpPr>
            <p:cNvPr id="47" name="Group 43"/>
            <p:cNvGrpSpPr>
              <a:grpSpLocks/>
            </p:cNvGrpSpPr>
            <p:nvPr/>
          </p:nvGrpSpPr>
          <p:grpSpPr bwMode="auto">
            <a:xfrm>
              <a:off x="6415090" y="4708525"/>
              <a:ext cx="1490663" cy="522288"/>
              <a:chOff x="2798" y="2339"/>
              <a:chExt cx="939" cy="329"/>
            </a:xfrm>
          </p:grpSpPr>
          <p:sp>
            <p:nvSpPr>
              <p:cNvPr id="48" name="Freeform 44"/>
              <p:cNvSpPr>
                <a:spLocks/>
              </p:cNvSpPr>
              <p:nvPr/>
            </p:nvSpPr>
            <p:spPr bwMode="auto">
              <a:xfrm>
                <a:off x="2831" y="2339"/>
                <a:ext cx="865" cy="124"/>
              </a:xfrm>
              <a:custGeom>
                <a:avLst/>
                <a:gdLst/>
                <a:ahLst/>
                <a:cxnLst>
                  <a:cxn ang="0">
                    <a:pos x="0" y="65"/>
                  </a:cxn>
                  <a:cxn ang="0">
                    <a:pos x="41" y="0"/>
                  </a:cxn>
                  <a:cxn ang="0">
                    <a:pos x="41" y="41"/>
                  </a:cxn>
                  <a:cxn ang="0">
                    <a:pos x="831" y="41"/>
                  </a:cxn>
                  <a:cxn ang="0">
                    <a:pos x="831" y="0"/>
                  </a:cxn>
                  <a:cxn ang="0">
                    <a:pos x="864" y="65"/>
                  </a:cxn>
                  <a:cxn ang="0">
                    <a:pos x="831" y="123"/>
                  </a:cxn>
                  <a:cxn ang="0">
                    <a:pos x="831" y="82"/>
                  </a:cxn>
                  <a:cxn ang="0">
                    <a:pos x="41" y="82"/>
                  </a:cxn>
                  <a:cxn ang="0">
                    <a:pos x="41" y="123"/>
                  </a:cxn>
                  <a:cxn ang="0">
                    <a:pos x="0" y="65"/>
                  </a:cxn>
                </a:cxnLst>
                <a:rect l="0" t="0" r="r" b="b"/>
                <a:pathLst>
                  <a:path w="865" h="124">
                    <a:moveTo>
                      <a:pt x="0" y="65"/>
                    </a:moveTo>
                    <a:lnTo>
                      <a:pt x="41" y="0"/>
                    </a:lnTo>
                    <a:lnTo>
                      <a:pt x="41" y="41"/>
                    </a:lnTo>
                    <a:lnTo>
                      <a:pt x="831" y="41"/>
                    </a:lnTo>
                    <a:lnTo>
                      <a:pt x="831" y="0"/>
                    </a:lnTo>
                    <a:lnTo>
                      <a:pt x="864" y="65"/>
                    </a:lnTo>
                    <a:lnTo>
                      <a:pt x="831" y="123"/>
                    </a:lnTo>
                    <a:lnTo>
                      <a:pt x="831" y="82"/>
                    </a:lnTo>
                    <a:lnTo>
                      <a:pt x="41" y="82"/>
                    </a:lnTo>
                    <a:lnTo>
                      <a:pt x="41" y="123"/>
                    </a:lnTo>
                    <a:lnTo>
                      <a:pt x="0" y="65"/>
                    </a:lnTo>
                  </a:path>
                </a:pathLst>
              </a:custGeom>
              <a:solidFill>
                <a:srgbClr val="FFF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defTabSz="457200"/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9" name="Rectangle 45"/>
              <p:cNvSpPr>
                <a:spLocks noChangeArrowheads="1"/>
              </p:cNvSpPr>
              <p:nvPr/>
            </p:nvSpPr>
            <p:spPr bwMode="auto">
              <a:xfrm>
                <a:off x="2798" y="2464"/>
                <a:ext cx="939" cy="2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defTabSz="457200" eaLnBrk="0" hangingPunct="0"/>
                <a:r>
                  <a:rPr lang="en-US" sz="1500">
                    <a:solidFill>
                      <a:srgbClr val="000000"/>
                    </a:solidFill>
                    <a:latin typeface="Arial" charset="0"/>
                  </a:rPr>
                  <a:t>Arm movement</a:t>
                </a:r>
              </a:p>
            </p:txBody>
          </p:sp>
        </p:grpSp>
        <p:grpSp>
          <p:nvGrpSpPr>
            <p:cNvPr id="50" name="Group 46"/>
            <p:cNvGrpSpPr>
              <a:grpSpLocks/>
            </p:cNvGrpSpPr>
            <p:nvPr/>
          </p:nvGrpSpPr>
          <p:grpSpPr bwMode="auto">
            <a:xfrm>
              <a:off x="5257801" y="5670550"/>
              <a:ext cx="1406525" cy="801688"/>
              <a:chOff x="2069" y="2945"/>
              <a:chExt cx="886" cy="505"/>
            </a:xfrm>
          </p:grpSpPr>
          <p:sp>
            <p:nvSpPr>
              <p:cNvPr id="51" name="Rectangle 47"/>
              <p:cNvSpPr>
                <a:spLocks noChangeArrowheads="1"/>
              </p:cNvSpPr>
              <p:nvPr/>
            </p:nvSpPr>
            <p:spPr bwMode="auto">
              <a:xfrm>
                <a:off x="2069" y="3246"/>
                <a:ext cx="886" cy="2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defTabSz="457200" eaLnBrk="0" hangingPunct="0"/>
                <a:r>
                  <a:rPr lang="en-US" sz="1500">
                    <a:solidFill>
                      <a:srgbClr val="000000"/>
                    </a:solidFill>
                    <a:latin typeface="Arial" charset="0"/>
                  </a:rPr>
                  <a:t>Arm assembly</a:t>
                </a:r>
              </a:p>
            </p:txBody>
          </p:sp>
          <p:sp>
            <p:nvSpPr>
              <p:cNvPr id="52" name="Freeform 48"/>
              <p:cNvSpPr>
                <a:spLocks/>
              </p:cNvSpPr>
              <p:nvPr/>
            </p:nvSpPr>
            <p:spPr bwMode="auto">
              <a:xfrm>
                <a:off x="2357" y="2945"/>
                <a:ext cx="256" cy="305"/>
              </a:xfrm>
              <a:custGeom>
                <a:avLst/>
                <a:gdLst/>
                <a:ahLst/>
                <a:cxnLst>
                  <a:cxn ang="0">
                    <a:pos x="8" y="304"/>
                  </a:cxn>
                  <a:cxn ang="0">
                    <a:pos x="0" y="230"/>
                  </a:cxn>
                  <a:cxn ang="0">
                    <a:pos x="16" y="156"/>
                  </a:cxn>
                  <a:cxn ang="0">
                    <a:pos x="57" y="91"/>
                  </a:cxn>
                  <a:cxn ang="0">
                    <a:pos x="115" y="41"/>
                  </a:cxn>
                  <a:cxn ang="0">
                    <a:pos x="181" y="9"/>
                  </a:cxn>
                  <a:cxn ang="0">
                    <a:pos x="255" y="0"/>
                  </a:cxn>
                </a:cxnLst>
                <a:rect l="0" t="0" r="r" b="b"/>
                <a:pathLst>
                  <a:path w="256" h="305">
                    <a:moveTo>
                      <a:pt x="8" y="304"/>
                    </a:moveTo>
                    <a:lnTo>
                      <a:pt x="0" y="230"/>
                    </a:lnTo>
                    <a:lnTo>
                      <a:pt x="16" y="156"/>
                    </a:lnTo>
                    <a:lnTo>
                      <a:pt x="57" y="91"/>
                    </a:lnTo>
                    <a:lnTo>
                      <a:pt x="115" y="41"/>
                    </a:lnTo>
                    <a:lnTo>
                      <a:pt x="181" y="9"/>
                    </a:lnTo>
                    <a:lnTo>
                      <a:pt x="255" y="0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defTabSz="457200"/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53" name="Freeform 49"/>
            <p:cNvSpPr>
              <a:spLocks/>
            </p:cNvSpPr>
            <p:nvPr/>
          </p:nvSpPr>
          <p:spPr bwMode="auto">
            <a:xfrm>
              <a:off x="6707189" y="2592389"/>
              <a:ext cx="288925" cy="73183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2" y="66"/>
                </a:cxn>
                <a:cxn ang="0">
                  <a:pos x="140" y="156"/>
                </a:cxn>
                <a:cxn ang="0">
                  <a:pos x="173" y="255"/>
                </a:cxn>
                <a:cxn ang="0">
                  <a:pos x="181" y="353"/>
                </a:cxn>
                <a:cxn ang="0">
                  <a:pos x="165" y="460"/>
                </a:cxn>
              </a:cxnLst>
              <a:rect l="0" t="0" r="r" b="b"/>
              <a:pathLst>
                <a:path w="182" h="461">
                  <a:moveTo>
                    <a:pt x="0" y="0"/>
                  </a:moveTo>
                  <a:lnTo>
                    <a:pt x="82" y="66"/>
                  </a:lnTo>
                  <a:lnTo>
                    <a:pt x="140" y="156"/>
                  </a:lnTo>
                  <a:lnTo>
                    <a:pt x="173" y="255"/>
                  </a:lnTo>
                  <a:lnTo>
                    <a:pt x="181" y="353"/>
                  </a:lnTo>
                  <a:lnTo>
                    <a:pt x="165" y="46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54" name="Group 50"/>
            <p:cNvGrpSpPr>
              <a:grpSpLocks/>
            </p:cNvGrpSpPr>
            <p:nvPr/>
          </p:nvGrpSpPr>
          <p:grpSpPr bwMode="auto">
            <a:xfrm>
              <a:off x="9199563" y="2255838"/>
              <a:ext cx="1289050" cy="792162"/>
              <a:chOff x="4552" y="794"/>
              <a:chExt cx="812" cy="499"/>
            </a:xfrm>
          </p:grpSpPr>
          <p:sp>
            <p:nvSpPr>
              <p:cNvPr id="55" name="Freeform 51"/>
              <p:cNvSpPr>
                <a:spLocks/>
              </p:cNvSpPr>
              <p:nvPr/>
            </p:nvSpPr>
            <p:spPr bwMode="auto">
              <a:xfrm>
                <a:off x="4609" y="988"/>
                <a:ext cx="372" cy="305"/>
              </a:xfrm>
              <a:custGeom>
                <a:avLst/>
                <a:gdLst/>
                <a:ahLst/>
                <a:cxnLst>
                  <a:cxn ang="0">
                    <a:pos x="371" y="0"/>
                  </a:cxn>
                  <a:cxn ang="0">
                    <a:pos x="255" y="33"/>
                  </a:cxn>
                  <a:cxn ang="0">
                    <a:pos x="148" y="107"/>
                  </a:cxn>
                  <a:cxn ang="0">
                    <a:pos x="58" y="197"/>
                  </a:cxn>
                  <a:cxn ang="0">
                    <a:pos x="0" y="304"/>
                  </a:cxn>
                </a:cxnLst>
                <a:rect l="0" t="0" r="r" b="b"/>
                <a:pathLst>
                  <a:path w="372" h="305">
                    <a:moveTo>
                      <a:pt x="371" y="0"/>
                    </a:moveTo>
                    <a:lnTo>
                      <a:pt x="255" y="33"/>
                    </a:lnTo>
                    <a:lnTo>
                      <a:pt x="148" y="107"/>
                    </a:lnTo>
                    <a:lnTo>
                      <a:pt x="58" y="197"/>
                    </a:lnTo>
                    <a:lnTo>
                      <a:pt x="0" y="304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defTabSz="457200"/>
                <a:endParaRPr lang="en-US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56" name="Group 52"/>
              <p:cNvGrpSpPr>
                <a:grpSpLocks/>
              </p:cNvGrpSpPr>
              <p:nvPr/>
            </p:nvGrpSpPr>
            <p:grpSpPr bwMode="auto">
              <a:xfrm>
                <a:off x="4552" y="794"/>
                <a:ext cx="812" cy="442"/>
                <a:chOff x="4552" y="794"/>
                <a:chExt cx="812" cy="442"/>
              </a:xfrm>
            </p:grpSpPr>
            <p:sp>
              <p:nvSpPr>
                <p:cNvPr id="57" name="Rectangle 53"/>
                <p:cNvSpPr>
                  <a:spLocks noChangeArrowheads="1"/>
                </p:cNvSpPr>
                <p:nvPr/>
              </p:nvSpPr>
              <p:spPr bwMode="auto">
                <a:xfrm>
                  <a:off x="4888" y="794"/>
                  <a:ext cx="476" cy="20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>
                  <a:spAutoFit/>
                </a:bodyPr>
                <a:lstStyle/>
                <a:p>
                  <a:pPr defTabSz="457200" eaLnBrk="0" hangingPunct="0"/>
                  <a:r>
                    <a:rPr lang="en-US" sz="1500">
                      <a:solidFill>
                        <a:srgbClr val="000000"/>
                      </a:solidFill>
                      <a:latin typeface="Arial" charset="0"/>
                    </a:rPr>
                    <a:t>Tracks</a:t>
                  </a:r>
                </a:p>
              </p:txBody>
            </p:sp>
            <p:sp>
              <p:nvSpPr>
                <p:cNvPr id="58" name="Freeform 54"/>
                <p:cNvSpPr>
                  <a:spLocks/>
                </p:cNvSpPr>
                <p:nvPr/>
              </p:nvSpPr>
              <p:spPr bwMode="auto">
                <a:xfrm>
                  <a:off x="4552" y="988"/>
                  <a:ext cx="305" cy="248"/>
                </a:xfrm>
                <a:custGeom>
                  <a:avLst/>
                  <a:gdLst/>
                  <a:ahLst/>
                  <a:cxnLst>
                    <a:cxn ang="0">
                      <a:pos x="304" y="0"/>
                    </a:cxn>
                    <a:cxn ang="0">
                      <a:pos x="222" y="0"/>
                    </a:cxn>
                    <a:cxn ang="0">
                      <a:pos x="139" y="33"/>
                    </a:cxn>
                    <a:cxn ang="0">
                      <a:pos x="74" y="90"/>
                    </a:cxn>
                    <a:cxn ang="0">
                      <a:pos x="24" y="164"/>
                    </a:cxn>
                    <a:cxn ang="0">
                      <a:pos x="0" y="247"/>
                    </a:cxn>
                  </a:cxnLst>
                  <a:rect l="0" t="0" r="r" b="b"/>
                  <a:pathLst>
                    <a:path w="305" h="248">
                      <a:moveTo>
                        <a:pt x="304" y="0"/>
                      </a:moveTo>
                      <a:lnTo>
                        <a:pt x="222" y="0"/>
                      </a:lnTo>
                      <a:lnTo>
                        <a:pt x="139" y="33"/>
                      </a:lnTo>
                      <a:lnTo>
                        <a:pt x="74" y="90"/>
                      </a:lnTo>
                      <a:lnTo>
                        <a:pt x="24" y="164"/>
                      </a:lnTo>
                      <a:lnTo>
                        <a:pt x="0" y="247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defTabSz="457200"/>
                  <a:endParaRPr lang="en-US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59" name="Freeform 55"/>
            <p:cNvSpPr>
              <a:spLocks/>
            </p:cNvSpPr>
            <p:nvPr/>
          </p:nvSpPr>
          <p:spPr bwMode="auto">
            <a:xfrm>
              <a:off x="9723439" y="3127375"/>
              <a:ext cx="174625" cy="444500"/>
            </a:xfrm>
            <a:custGeom>
              <a:avLst/>
              <a:gdLst/>
              <a:ahLst/>
              <a:cxnLst>
                <a:cxn ang="0">
                  <a:pos x="0" y="279"/>
                </a:cxn>
                <a:cxn ang="0">
                  <a:pos x="64" y="238"/>
                </a:cxn>
                <a:cxn ang="0">
                  <a:pos x="100" y="181"/>
                </a:cxn>
                <a:cxn ang="0">
                  <a:pos x="109" y="115"/>
                </a:cxn>
                <a:cxn ang="0">
                  <a:pos x="81" y="49"/>
                </a:cxn>
                <a:cxn ang="0">
                  <a:pos x="28" y="0"/>
                </a:cxn>
                <a:cxn ang="0">
                  <a:pos x="55" y="33"/>
                </a:cxn>
              </a:cxnLst>
              <a:rect l="0" t="0" r="r" b="b"/>
              <a:pathLst>
                <a:path w="110" h="280">
                  <a:moveTo>
                    <a:pt x="0" y="279"/>
                  </a:moveTo>
                  <a:lnTo>
                    <a:pt x="64" y="238"/>
                  </a:lnTo>
                  <a:lnTo>
                    <a:pt x="100" y="181"/>
                  </a:lnTo>
                  <a:lnTo>
                    <a:pt x="109" y="115"/>
                  </a:lnTo>
                  <a:lnTo>
                    <a:pt x="81" y="49"/>
                  </a:lnTo>
                  <a:lnTo>
                    <a:pt x="28" y="0"/>
                  </a:lnTo>
                  <a:lnTo>
                    <a:pt x="55" y="33"/>
                  </a:lnTo>
                </a:path>
              </a:pathLst>
            </a:custGeom>
            <a:noFill/>
            <a:ln w="50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0" name="Rectangle 56"/>
            <p:cNvSpPr>
              <a:spLocks noChangeArrowheads="1"/>
            </p:cNvSpPr>
            <p:nvPr/>
          </p:nvSpPr>
          <p:spPr bwMode="auto">
            <a:xfrm>
              <a:off x="9932989" y="3200400"/>
              <a:ext cx="742191" cy="3238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457200" eaLnBrk="0" hangingPunct="0"/>
              <a:r>
                <a:rPr lang="en-US" sz="1500">
                  <a:solidFill>
                    <a:srgbClr val="000000"/>
                  </a:solidFill>
                  <a:latin typeface="Arial" charset="0"/>
                </a:rPr>
                <a:t>Sector</a:t>
              </a:r>
            </a:p>
          </p:txBody>
        </p:sp>
        <p:sp>
          <p:nvSpPr>
            <p:cNvPr id="61" name="Freeform 58"/>
            <p:cNvSpPr>
              <a:spLocks/>
            </p:cNvSpPr>
            <p:nvPr/>
          </p:nvSpPr>
          <p:spPr bwMode="auto">
            <a:xfrm>
              <a:off x="9896475" y="3074989"/>
              <a:ext cx="520700" cy="276225"/>
            </a:xfrm>
            <a:custGeom>
              <a:avLst/>
              <a:gdLst/>
              <a:ahLst/>
              <a:cxnLst>
                <a:cxn ang="0">
                  <a:pos x="327" y="33"/>
                </a:cxn>
                <a:cxn ang="0">
                  <a:pos x="264" y="0"/>
                </a:cxn>
                <a:cxn ang="0">
                  <a:pos x="191" y="0"/>
                </a:cxn>
                <a:cxn ang="0">
                  <a:pos x="118" y="16"/>
                </a:cxn>
                <a:cxn ang="0">
                  <a:pos x="64" y="49"/>
                </a:cxn>
                <a:cxn ang="0">
                  <a:pos x="19" y="107"/>
                </a:cxn>
                <a:cxn ang="0">
                  <a:pos x="0" y="173"/>
                </a:cxn>
              </a:cxnLst>
              <a:rect l="0" t="0" r="r" b="b"/>
              <a:pathLst>
                <a:path w="328" h="174">
                  <a:moveTo>
                    <a:pt x="327" y="33"/>
                  </a:moveTo>
                  <a:lnTo>
                    <a:pt x="264" y="0"/>
                  </a:lnTo>
                  <a:lnTo>
                    <a:pt x="191" y="0"/>
                  </a:lnTo>
                  <a:lnTo>
                    <a:pt x="118" y="16"/>
                  </a:lnTo>
                  <a:lnTo>
                    <a:pt x="64" y="49"/>
                  </a:lnTo>
                  <a:lnTo>
                    <a:pt x="19" y="107"/>
                  </a:lnTo>
                  <a:lnTo>
                    <a:pt x="0" y="173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2" name="Rectangle 59"/>
            <p:cNvSpPr>
              <a:spLocks noChangeArrowheads="1"/>
            </p:cNvSpPr>
            <p:nvPr/>
          </p:nvSpPr>
          <p:spPr bwMode="auto">
            <a:xfrm>
              <a:off x="6934200" y="1676400"/>
              <a:ext cx="894476" cy="3238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457200" eaLnBrk="0" hangingPunct="0"/>
              <a:r>
                <a:rPr lang="en-US" sz="1500">
                  <a:solidFill>
                    <a:srgbClr val="000000"/>
                  </a:solidFill>
                  <a:latin typeface="Arial" charset="0"/>
                </a:rPr>
                <a:t>Cylinder</a:t>
              </a:r>
            </a:p>
          </p:txBody>
        </p:sp>
        <p:sp>
          <p:nvSpPr>
            <p:cNvPr id="63" name="Line 60"/>
            <p:cNvSpPr>
              <a:spLocks noChangeShapeType="1"/>
            </p:cNvSpPr>
            <p:nvPr/>
          </p:nvSpPr>
          <p:spPr bwMode="auto">
            <a:xfrm>
              <a:off x="7467600" y="2057400"/>
              <a:ext cx="76200" cy="3505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D173D2A-9EED-49B6-08E9-469C70F694CD}"/>
              </a:ext>
            </a:extLst>
          </p:cNvPr>
          <p:cNvSpPr txBox="1"/>
          <p:nvPr/>
        </p:nvSpPr>
        <p:spPr>
          <a:xfrm>
            <a:off x="1229360" y="6080760"/>
            <a:ext cx="874776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https://www.ted.com/talks/kanawat_senanan_how_do_hard_drives_work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4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Random Access Memory (RAM) or </a:t>
            </a:r>
            <a:r>
              <a:rPr lang="en-US" b="1" dirty="0"/>
              <a:t>Main Memory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endParaRPr lang="en-US" i="1" dirty="0"/>
          </a:p>
          <a:p>
            <a:pPr lvl="1"/>
            <a:r>
              <a:rPr lang="en-US" i="1" dirty="0"/>
              <a:t>Fast</a:t>
            </a:r>
          </a:p>
          <a:p>
            <a:pPr lvl="2"/>
            <a:r>
              <a:rPr lang="en-US" dirty="0"/>
              <a:t>Random access, byte addressable</a:t>
            </a:r>
          </a:p>
          <a:p>
            <a:pPr lvl="3"/>
            <a:r>
              <a:rPr lang="en-US" dirty="0"/>
              <a:t>~10x faster for </a:t>
            </a:r>
            <a:r>
              <a:rPr lang="en-US" u="sng" dirty="0"/>
              <a:t>sequential access</a:t>
            </a:r>
          </a:p>
          <a:p>
            <a:pPr lvl="3"/>
            <a:r>
              <a:rPr lang="en-US" dirty="0"/>
              <a:t>~100,000x faster for </a:t>
            </a:r>
            <a:r>
              <a:rPr lang="en-US" u="sng" dirty="0"/>
              <a:t>random access!</a:t>
            </a:r>
          </a:p>
          <a:p>
            <a:pPr lvl="2"/>
            <a:endParaRPr lang="en-US" u="sng" dirty="0"/>
          </a:p>
          <a:p>
            <a:pPr lvl="1"/>
            <a:r>
              <a:rPr lang="en-US" i="1" dirty="0"/>
              <a:t>Volatile</a:t>
            </a:r>
          </a:p>
          <a:p>
            <a:pPr lvl="2"/>
            <a:r>
              <a:rPr lang="en-US" dirty="0"/>
              <a:t>Data can be lost if e.g. crash occurs, power goes out, </a:t>
            </a:r>
            <a:r>
              <a:rPr lang="en-US" dirty="0" err="1"/>
              <a:t>etc</a:t>
            </a:r>
            <a:r>
              <a:rPr lang="en-US" dirty="0"/>
              <a:t>!</a:t>
            </a:r>
          </a:p>
          <a:p>
            <a:pPr lvl="2"/>
            <a:endParaRPr lang="en-US" u="sng" dirty="0"/>
          </a:p>
          <a:p>
            <a:pPr lvl="1"/>
            <a:r>
              <a:rPr lang="en-US" dirty="0"/>
              <a:t>Expensive</a:t>
            </a:r>
          </a:p>
          <a:p>
            <a:pPr lvl="2"/>
            <a:r>
              <a:rPr lang="en-US" dirty="0"/>
              <a:t>For $100, get 16GB of RAM vs. 2TB of disk!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3448" y="2426486"/>
            <a:ext cx="3297504" cy="219833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838200" y="3727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High-level: Disk vs. </a:t>
            </a:r>
            <a:r>
              <a:rPr lang="en-US" dirty="0"/>
              <a:t>Main Memory</a:t>
            </a:r>
          </a:p>
        </p:txBody>
      </p:sp>
    </p:spTree>
    <p:extLst>
      <p:ext uri="{BB962C8B-B14F-4D97-AF65-F5344CB8AC3E}">
        <p14:creationId xmlns:p14="http://schemas.microsoft.com/office/powerpoint/2010/main" val="76031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2257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Our model: Three Types of Regions of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7656443" cy="5032375"/>
          </a:xfrm>
        </p:spPr>
        <p:txBody>
          <a:bodyPr>
            <a:normAutofit fontScale="92500" lnSpcReduction="10000"/>
          </a:bodyPr>
          <a:lstStyle/>
          <a:p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Local: </a:t>
            </a:r>
            <a:r>
              <a:rPr lang="en-US" dirty="0"/>
              <a:t> In our model each process in a DBMS has its own local memory, where it stores values that only it “sees”</a:t>
            </a:r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Global:  </a:t>
            </a:r>
            <a:r>
              <a:rPr lang="en-US" dirty="0"/>
              <a:t>Each process can read from / write to shared data in main memory</a:t>
            </a:r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Disk:  </a:t>
            </a:r>
            <a:r>
              <a:rPr lang="en-US" dirty="0"/>
              <a:t>Global memory can read from / flush to disk</a:t>
            </a:r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i="1" dirty="0"/>
              <a:t>Log: </a:t>
            </a:r>
            <a:r>
              <a:rPr lang="en-US" i="1" dirty="0"/>
              <a:t>Assume on stable disk storage- spans both main memory and disk…</a:t>
            </a:r>
            <a:endParaRPr lang="en-US" b="1" i="1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991122"/>
              </p:ext>
            </p:extLst>
          </p:nvPr>
        </p:nvGraphicFramePr>
        <p:xfrm>
          <a:off x="8587408" y="1027905"/>
          <a:ext cx="3233531" cy="246510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041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2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715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Local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Global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5256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Main</a:t>
                      </a:r>
                      <a:r>
                        <a:rPr lang="en-US" baseline="0" dirty="0"/>
                        <a:t> Memory (RAM)</a:t>
                      </a:r>
                      <a:endParaRPr 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3544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Disk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726368" y="4982207"/>
            <a:ext cx="3114261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+mj-lt"/>
              </a:rPr>
              <a:t>“Flushing</a:t>
            </a:r>
            <a:r>
              <a:rPr lang="en-US" sz="2400" dirty="0">
                <a:latin typeface="+mj-lt"/>
              </a:rPr>
              <a:t> to disk” = writing to disk from main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5053" y="1821376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latin typeface="+mj-l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31493" y="1821376"/>
            <a:ext cx="375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+mj-l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31493" y="2751234"/>
            <a:ext cx="515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+mj-lt"/>
              </a:rPr>
              <a:t>3</a:t>
            </a:r>
            <a:endParaRPr lang="en-US" sz="2800" b="1"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842987" y="3899646"/>
            <a:ext cx="2977952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Log </a:t>
            </a:r>
            <a:r>
              <a:rPr lang="en-US" sz="2400" dirty="0">
                <a:latin typeface="+mj-lt"/>
              </a:rPr>
              <a:t>is a </a:t>
            </a:r>
            <a:r>
              <a:rPr lang="en-US" sz="2400" i="1" dirty="0">
                <a:latin typeface="+mj-lt"/>
              </a:rPr>
              <a:t>sequence</a:t>
            </a:r>
            <a:r>
              <a:rPr lang="en-US" sz="2400" dirty="0">
                <a:latin typeface="+mj-lt"/>
              </a:rPr>
              <a:t> from main memory -&gt; disk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1265127" y="1821376"/>
            <a:ext cx="466875" cy="1342917"/>
            <a:chOff x="11265127" y="1821376"/>
            <a:chExt cx="466875" cy="1342917"/>
          </a:xfrm>
        </p:grpSpPr>
        <p:sp>
          <p:nvSpPr>
            <p:cNvPr id="16" name="TextBox 15"/>
            <p:cNvSpPr txBox="1"/>
            <p:nvPr/>
          </p:nvSpPr>
          <p:spPr>
            <a:xfrm>
              <a:off x="11265127" y="1821376"/>
              <a:ext cx="466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i="1" dirty="0">
                  <a:latin typeface="+mj-lt"/>
                </a:rPr>
                <a:t>4</a:t>
              </a:r>
            </a:p>
          </p:txBody>
        </p:sp>
        <p:sp>
          <p:nvSpPr>
            <p:cNvPr id="5" name="Down Arrow 4"/>
            <p:cNvSpPr/>
            <p:nvPr/>
          </p:nvSpPr>
          <p:spPr>
            <a:xfrm>
              <a:off x="11306289" y="2338175"/>
              <a:ext cx="298204" cy="826118"/>
            </a:xfrm>
            <a:prstGeom prst="down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91502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  <p:bldP spid="10" grpId="0"/>
      <p:bldP spid="11" grpId="0"/>
      <p:bldP spid="12" grpId="0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8336" cy="4351338"/>
          </a:xfrm>
        </p:spPr>
        <p:txBody>
          <a:bodyPr>
            <a:normAutofit/>
          </a:bodyPr>
          <a:lstStyle/>
          <a:p>
            <a:r>
              <a:rPr lang="en-US" dirty="0"/>
              <a:t>Keep in mind the tradeoffs here as motivation for the mechanisms we introduce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Main memory: fast but limited capacity, volatile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Vs. Disk: slow but large capacity, durable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9</a:t>
            </a:fld>
            <a:endParaRPr lang="en-US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838200" y="3727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High-level: Disk vs. Main Memory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58636" y="5230368"/>
            <a:ext cx="10474727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How do we effectively utilize </a:t>
            </a:r>
            <a:r>
              <a:rPr lang="en-US" sz="2800" b="1" i="1" dirty="0">
                <a:latin typeface="+mj-lt"/>
              </a:rPr>
              <a:t>both</a:t>
            </a:r>
            <a:r>
              <a:rPr lang="en-US" sz="2800" b="1" dirty="0">
                <a:latin typeface="+mj-lt"/>
              </a:rPr>
              <a:t> </a:t>
            </a:r>
            <a:r>
              <a:rPr lang="en-US" sz="2800" dirty="0">
                <a:latin typeface="+mj-lt"/>
              </a:rPr>
              <a:t>ensuring certain critical guarantees?</a:t>
            </a:r>
          </a:p>
        </p:txBody>
      </p:sp>
    </p:spTree>
    <p:extLst>
      <p:ext uri="{BB962C8B-B14F-4D97-AF65-F5344CB8AC3E}">
        <p14:creationId xmlns:p14="http://schemas.microsoft.com/office/powerpoint/2010/main" val="151958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Transactions: Basic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1710163"/>
            <a:ext cx="7020339" cy="23582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3600" dirty="0">
                <a:latin typeface="+mj-lt"/>
              </a:rPr>
              <a:t>A </a:t>
            </a:r>
            <a:r>
              <a:rPr lang="en-US" sz="3600" b="1" u="sng" dirty="0">
                <a:latin typeface="+mj-lt"/>
              </a:rPr>
              <a:t>transaction (“TXN”) </a:t>
            </a:r>
            <a:r>
              <a:rPr lang="en-US" sz="3600" dirty="0">
                <a:latin typeface="+mj-lt"/>
              </a:rPr>
              <a:t>is a sequence of one or more </a:t>
            </a:r>
            <a:r>
              <a:rPr lang="en-US" sz="3600" b="1" i="1" dirty="0">
                <a:latin typeface="+mj-lt"/>
              </a:rPr>
              <a:t>operations</a:t>
            </a:r>
            <a:r>
              <a:rPr lang="en-US" sz="3600" dirty="0">
                <a:latin typeface="+mj-lt"/>
              </a:rPr>
              <a:t> (reads or writes) which reflects </a:t>
            </a:r>
            <a:r>
              <a:rPr lang="en-US" sz="3600" b="1" i="1" dirty="0">
                <a:latin typeface="+mj-lt"/>
              </a:rPr>
              <a:t>a single real-world transition</a:t>
            </a:r>
            <a:r>
              <a:rPr lang="en-US" sz="3600" dirty="0">
                <a:latin typeface="+mj-lt"/>
              </a:rPr>
              <a:t>.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310622" y="4416642"/>
            <a:ext cx="3725700" cy="193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 anchor="t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START TRANSACTION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latin typeface="Menlo"/>
                <a:ea typeface="Menlo" charset="0"/>
                <a:cs typeface="Menlo" charset="0"/>
              </a:rPr>
              <a:t>	</a:t>
            </a:r>
            <a:r>
              <a:rPr lang="en-US" sz="2400" dirty="0">
                <a:solidFill>
                  <a:schemeClr val="accent2"/>
                </a:solidFill>
                <a:latin typeface="Menlo"/>
                <a:ea typeface="Menlo" charset="0"/>
                <a:cs typeface="Menlo" charset="0"/>
              </a:rPr>
              <a:t>UPDATE</a:t>
            </a:r>
            <a:r>
              <a:rPr lang="en-US" sz="2400" dirty="0">
                <a:latin typeface="Menlo"/>
                <a:ea typeface="Menlo" charset="0"/>
                <a:cs typeface="Menlo" charset="0"/>
              </a:rPr>
              <a:t> Product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/>
                <a:ea typeface="Menlo" charset="0"/>
                <a:cs typeface="Menlo" charset="0"/>
              </a:rPr>
              <a:t>	</a:t>
            </a:r>
            <a:r>
              <a:rPr lang="en-US" sz="2400" dirty="0">
                <a:solidFill>
                  <a:schemeClr val="accent2"/>
                </a:solidFill>
                <a:latin typeface="Menlo"/>
                <a:ea typeface="Menlo" charset="0"/>
                <a:cs typeface="Menlo" charset="0"/>
              </a:rPr>
              <a:t>SET</a:t>
            </a:r>
            <a:r>
              <a:rPr lang="en-US" sz="2400">
                <a:latin typeface="Menlo"/>
                <a:ea typeface="Menlo" charset="0"/>
                <a:cs typeface="Menlo" charset="0"/>
              </a:rPr>
              <a:t> Price = Price – 1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/>
                <a:ea typeface="Menlo" charset="0"/>
                <a:cs typeface="Menlo" charset="0"/>
              </a:rPr>
              <a:t>	</a:t>
            </a:r>
            <a:r>
              <a:rPr lang="en-US" sz="2400">
                <a:solidFill>
                  <a:schemeClr val="accent2"/>
                </a:solidFill>
                <a:latin typeface="Menlo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/>
                <a:ea typeface="Menlo" charset="0"/>
                <a:cs typeface="Menlo" charset="0"/>
              </a:rPr>
              <a:t> price &gt; 10.00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COMMIT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15177" y="1710163"/>
            <a:ext cx="3302597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In the real world, a TXN either happened completely or not at all</a:t>
            </a:r>
          </a:p>
        </p:txBody>
      </p:sp>
    </p:spTree>
    <p:extLst>
      <p:ext uri="{BB962C8B-B14F-4D97-AF65-F5344CB8AC3E}">
        <p14:creationId xmlns:p14="http://schemas.microsoft.com/office/powerpoint/2010/main" val="54975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Transactions: Basic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199" y="1710163"/>
            <a:ext cx="7086601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>
                <a:latin typeface="+mj-lt"/>
              </a:rPr>
              <a:t>A </a:t>
            </a:r>
            <a:r>
              <a:rPr lang="en-US" sz="2800" b="1" u="sng" dirty="0">
                <a:latin typeface="+mj-lt"/>
              </a:rPr>
              <a:t>transaction (“TXN”) </a:t>
            </a:r>
            <a:r>
              <a:rPr lang="en-US" sz="2800" dirty="0">
                <a:latin typeface="+mj-lt"/>
              </a:rPr>
              <a:t>is a sequence of one or more </a:t>
            </a:r>
            <a:r>
              <a:rPr lang="en-US" sz="2800" b="1" i="1" dirty="0">
                <a:latin typeface="+mj-lt"/>
              </a:rPr>
              <a:t>operations</a:t>
            </a:r>
            <a:r>
              <a:rPr lang="en-US" sz="2800" dirty="0">
                <a:latin typeface="+mj-lt"/>
              </a:rPr>
              <a:t> (reads or writes) which reflects </a:t>
            </a:r>
            <a:r>
              <a:rPr lang="en-US" sz="2800" b="1" i="1" dirty="0">
                <a:latin typeface="+mj-lt"/>
              </a:rPr>
              <a:t>a single real-world transition</a:t>
            </a:r>
            <a:r>
              <a:rPr lang="en-US" sz="2800" dirty="0">
                <a:latin typeface="+mj-lt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15178" y="1710163"/>
            <a:ext cx="3349632" cy="1200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In the real world, a TXN either happened completely or not at 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3460140"/>
            <a:ext cx="7666892" cy="324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3200" u="sng" dirty="0">
                <a:latin typeface="+mj-lt"/>
              </a:rPr>
              <a:t>Examples:</a:t>
            </a:r>
          </a:p>
          <a:p>
            <a:pPr>
              <a:lnSpc>
                <a:spcPct val="80000"/>
              </a:lnSpc>
            </a:pPr>
            <a:endParaRPr lang="en-US" sz="3200" u="sng" dirty="0">
              <a:latin typeface="+mj-lt"/>
            </a:endParaRPr>
          </a:p>
          <a:p>
            <a:pPr marL="285750" indent="-285750">
              <a:lnSpc>
                <a:spcPct val="80000"/>
              </a:lnSpc>
              <a:buFont typeface="Arial" charset="0"/>
              <a:buChar char="•"/>
            </a:pPr>
            <a:r>
              <a:rPr lang="en-US" sz="3200" dirty="0">
                <a:latin typeface="+mj-lt"/>
              </a:rPr>
              <a:t>Transfer money between accounts</a:t>
            </a:r>
          </a:p>
          <a:p>
            <a:pPr marL="285750" indent="-285750">
              <a:lnSpc>
                <a:spcPct val="80000"/>
              </a:lnSpc>
              <a:buFont typeface="Arial" charset="0"/>
              <a:buChar char="•"/>
            </a:pPr>
            <a:endParaRPr lang="en-US" sz="3200" dirty="0">
              <a:latin typeface="+mj-lt"/>
            </a:endParaRPr>
          </a:p>
          <a:p>
            <a:pPr marL="285750" indent="-285750">
              <a:lnSpc>
                <a:spcPct val="80000"/>
              </a:lnSpc>
              <a:buFont typeface="Arial" charset="0"/>
              <a:buChar char="•"/>
            </a:pPr>
            <a:r>
              <a:rPr lang="en-US" sz="3200" dirty="0">
                <a:latin typeface="+mj-lt"/>
              </a:rPr>
              <a:t>Purchase a group of products</a:t>
            </a:r>
          </a:p>
          <a:p>
            <a:pPr marL="285750" indent="-285750">
              <a:lnSpc>
                <a:spcPct val="80000"/>
              </a:lnSpc>
              <a:buFont typeface="Arial" charset="0"/>
              <a:buChar char="•"/>
            </a:pPr>
            <a:endParaRPr lang="en-US" sz="3200" dirty="0">
              <a:latin typeface="+mj-lt"/>
            </a:endParaRPr>
          </a:p>
          <a:p>
            <a:pPr marL="285750" indent="-285750">
              <a:lnSpc>
                <a:spcPct val="80000"/>
              </a:lnSpc>
              <a:buFont typeface="Arial" charset="0"/>
              <a:buChar char="•"/>
            </a:pPr>
            <a:r>
              <a:rPr lang="en-US" sz="3200" dirty="0">
                <a:latin typeface="+mj-lt"/>
              </a:rPr>
              <a:t>Register for a class (either waitlist or allocated)</a:t>
            </a:r>
          </a:p>
        </p:txBody>
      </p:sp>
    </p:spTree>
    <p:extLst>
      <p:ext uri="{BB962C8B-B14F-4D97-AF65-F5344CB8AC3E}">
        <p14:creationId xmlns:p14="http://schemas.microsoft.com/office/powerpoint/2010/main" val="206368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Transactions in SQL</a:t>
            </a:r>
          </a:p>
        </p:txBody>
      </p:sp>
      <p:sp>
        <p:nvSpPr>
          <p:cNvPr id="448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“ad-hoc” SQL:</a:t>
            </a:r>
          </a:p>
          <a:p>
            <a:pPr lvl="1"/>
            <a:r>
              <a:rPr lang="en-US" dirty="0"/>
              <a:t>Default: each statement = one transaction</a:t>
            </a:r>
          </a:p>
          <a:p>
            <a:pPr lvl="1"/>
            <a:endParaRPr lang="en-US" dirty="0"/>
          </a:p>
          <a:p>
            <a:r>
              <a:rPr lang="en-US" dirty="0"/>
              <a:t>In a program, multiple statements can be grouped together as a transaction: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1183D-EB8C-7948-B894-9197A7561CA7}" type="slidenum">
              <a:rPr lang="en-US"/>
              <a:pPr/>
              <a:t>12</a:t>
            </a:fld>
            <a:endParaRPr lang="en-US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3404850" y="3790302"/>
            <a:ext cx="6993549" cy="23083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anchor="t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START TRANSACTION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UPDATE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Bank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amount = amount – 100 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/>
                <a:ea typeface="Menlo" charset="0"/>
                <a:cs typeface="Menlo" charset="0"/>
              </a:rPr>
              <a:t>	WHERE</a:t>
            </a:r>
            <a:r>
              <a:rPr lang="en-US" sz="2400" dirty="0">
                <a:latin typeface="Menlo"/>
                <a:ea typeface="Menlo" charset="0"/>
                <a:cs typeface="Menlo" charset="0"/>
              </a:rPr>
              <a:t> name = ‘Bob’;</a:t>
            </a:r>
            <a:endParaRPr lang="en-US" sz="2400" dirty="0">
              <a:solidFill>
                <a:schemeClr val="accent2"/>
              </a:solidFill>
              <a:latin typeface="Menlo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UPDATE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Bank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amount = amount + 100 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/>
                <a:ea typeface="Menlo" charset="0"/>
                <a:cs typeface="Menlo" charset="0"/>
              </a:rPr>
              <a:t>	WHERE</a:t>
            </a:r>
            <a:r>
              <a:rPr lang="en-US" sz="2400" dirty="0">
                <a:latin typeface="Menlo"/>
                <a:ea typeface="Menlo" charset="0"/>
                <a:cs typeface="Menlo" charset="0"/>
              </a:rPr>
              <a:t> name = ‘Joe’;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COMMIT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38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of Transaction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13878"/>
            <a:ext cx="8229600" cy="3219677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Note: </a:t>
            </a:r>
            <a:r>
              <a:rPr lang="en-US" dirty="0"/>
              <a:t>For this course, we assume that the DBMS </a:t>
            </a:r>
            <a:r>
              <a:rPr lang="en-US" i="1" dirty="0"/>
              <a:t>only </a:t>
            </a:r>
            <a:r>
              <a:rPr lang="en-US" dirty="0"/>
              <a:t>sees </a:t>
            </a:r>
            <a:r>
              <a:rPr lang="en-US" u="sng" dirty="0"/>
              <a:t>reads and writes to data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User may do much more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In real systems, databases do have more info...</a:t>
            </a:r>
          </a:p>
        </p:txBody>
      </p:sp>
    </p:spTree>
    <p:extLst>
      <p:ext uri="{BB962C8B-B14F-4D97-AF65-F5344CB8AC3E}">
        <p14:creationId xmlns:p14="http://schemas.microsoft.com/office/powerpoint/2010/main" val="1458335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Motivation for Transactions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578429"/>
            <a:ext cx="8432409" cy="4876800"/>
          </a:xfrm>
          <a:noFill/>
          <a:ln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Grouping user actions (reads &amp; writes) into </a:t>
            </a:r>
            <a:r>
              <a:rPr lang="en-US" i="1" dirty="0"/>
              <a:t>transactions </a:t>
            </a:r>
            <a:r>
              <a:rPr lang="en-US" dirty="0"/>
              <a:t>helps with two goals: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u="sng" dirty="0"/>
              <a:t>Recovery &amp; Durability</a:t>
            </a:r>
            <a:r>
              <a:rPr lang="en-US" dirty="0"/>
              <a:t>:  Keeping the DBMS data consistent  and durable in the face of crashes, aborts, system shutdowns, etc.</a:t>
            </a:r>
          </a:p>
          <a:p>
            <a:pPr marL="514350" indent="-514350">
              <a:buFont typeface="+mj-lt"/>
              <a:buAutoNum type="arabicPeriod"/>
            </a:pPr>
            <a:endParaRPr lang="en-US" b="1" u="sng" dirty="0"/>
          </a:p>
          <a:p>
            <a:pPr marL="514350" indent="-514350">
              <a:buFont typeface="+mj-lt"/>
              <a:buAutoNum type="arabicPeriod"/>
            </a:pPr>
            <a:r>
              <a:rPr lang="en-US" b="1" u="sng" dirty="0"/>
              <a:t>Concurrency:</a:t>
            </a:r>
            <a:r>
              <a:rPr lang="en-US" dirty="0"/>
              <a:t>  Achieving better performance by parallelizing TXNs </a:t>
            </a:r>
            <a:r>
              <a:rPr lang="en-US" i="1" dirty="0"/>
              <a:t>without</a:t>
            </a:r>
            <a:r>
              <a:rPr lang="en-US" dirty="0"/>
              <a:t> creating anomalies</a:t>
            </a:r>
            <a:endParaRPr lang="en-US" b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9608235" y="3288128"/>
            <a:ext cx="1970219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j-lt"/>
              </a:rPr>
              <a:t>This lecture!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8235" y="4885568"/>
            <a:ext cx="194899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+mj-lt"/>
              </a:rPr>
              <a:t>Next lecture</a:t>
            </a:r>
          </a:p>
        </p:txBody>
      </p:sp>
    </p:spTree>
    <p:extLst>
      <p:ext uri="{BB962C8B-B14F-4D97-AF65-F5344CB8AC3E}">
        <p14:creationId xmlns:p14="http://schemas.microsoft.com/office/powerpoint/2010/main" val="168170876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  <p:bldP spid="3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578429"/>
            <a:ext cx="10515600" cy="3204586"/>
          </a:xfrm>
          <a:noFill/>
          <a:ln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u="sng" dirty="0"/>
              <a:t>1. Recovery &amp; Durability</a:t>
            </a:r>
            <a:r>
              <a:rPr lang="en-US" sz="3600" dirty="0"/>
              <a:t> of user data is essential for reliable DBMS usage</a:t>
            </a:r>
          </a:p>
          <a:p>
            <a:pPr lvl="1">
              <a:buSzPct val="75000"/>
            </a:pPr>
            <a:endParaRPr lang="en-US" sz="2800" dirty="0"/>
          </a:p>
          <a:p>
            <a:pPr lvl="1">
              <a:buSzPct val="75000"/>
            </a:pPr>
            <a:r>
              <a:rPr lang="en-US" sz="2800" dirty="0"/>
              <a:t>The DBMS may experience crashes (e.g. power outages, etc.)</a:t>
            </a:r>
          </a:p>
          <a:p>
            <a:pPr lvl="1">
              <a:buSzPct val="75000"/>
            </a:pPr>
            <a:endParaRPr lang="en-US" sz="2800" dirty="0"/>
          </a:p>
          <a:p>
            <a:pPr lvl="1">
              <a:buSzPct val="75000"/>
            </a:pPr>
            <a:r>
              <a:rPr lang="en-US" sz="2800" dirty="0"/>
              <a:t>Individual TXNs may be aborted (e.g. by the user)</a:t>
            </a:r>
          </a:p>
        </p:txBody>
      </p:sp>
      <p:sp>
        <p:nvSpPr>
          <p:cNvPr id="2" name="Rectangle 1"/>
          <p:cNvSpPr/>
          <p:nvPr/>
        </p:nvSpPr>
        <p:spPr>
          <a:xfrm>
            <a:off x="838200" y="5205045"/>
            <a:ext cx="10515600" cy="10772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buSzPct val="75000"/>
            </a:pPr>
            <a:r>
              <a:rPr lang="en-US" sz="3200" b="1" dirty="0">
                <a:latin typeface="+mj-lt"/>
              </a:rPr>
              <a:t>Idea</a:t>
            </a:r>
            <a:r>
              <a:rPr lang="en-US" sz="3200" dirty="0">
                <a:latin typeface="+mj-lt"/>
              </a:rPr>
              <a:t>: Make sure that TXNs are either </a:t>
            </a:r>
            <a:r>
              <a:rPr lang="en-US" sz="3200" b="1" dirty="0">
                <a:latin typeface="+mj-lt"/>
              </a:rPr>
              <a:t>durably stored in full</a:t>
            </a:r>
            <a:r>
              <a:rPr lang="en-US" sz="3200" dirty="0">
                <a:latin typeface="+mj-lt"/>
              </a:rPr>
              <a:t>, </a:t>
            </a:r>
            <a:r>
              <a:rPr lang="en-US" sz="3200" b="1" dirty="0">
                <a:latin typeface="+mj-lt"/>
              </a:rPr>
              <a:t>or</a:t>
            </a:r>
            <a:r>
              <a:rPr lang="en-US" sz="3200" dirty="0">
                <a:latin typeface="+mj-lt"/>
              </a:rPr>
              <a:t> </a:t>
            </a:r>
            <a:r>
              <a:rPr lang="en-US" sz="3200" b="1" dirty="0">
                <a:latin typeface="+mj-lt"/>
              </a:rPr>
              <a:t>not at all</a:t>
            </a:r>
            <a:r>
              <a:rPr lang="en-US" sz="3200" dirty="0">
                <a:latin typeface="+mj-lt"/>
              </a:rPr>
              <a:t>; keep log to be able to “roll-back” TXNs</a:t>
            </a:r>
          </a:p>
        </p:txBody>
      </p:sp>
    </p:spTree>
    <p:extLst>
      <p:ext uri="{BB962C8B-B14F-4D97-AF65-F5344CB8AC3E}">
        <p14:creationId xmlns:p14="http://schemas.microsoft.com/office/powerpoint/2010/main" val="3369466908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Protection against crashes / aborts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0D84F-A299-5F4C-B5FB-7CC6EC81AF43}" type="slidenum">
              <a:rPr lang="en-US"/>
              <a:pPr/>
              <a:t>16</a:t>
            </a:fld>
            <a:endParaRPr lang="en-US"/>
          </a:p>
        </p:txBody>
      </p:sp>
      <p:sp>
        <p:nvSpPr>
          <p:cNvPr id="446467" name="Rectangle 3"/>
          <p:cNvSpPr>
            <a:spLocks noChangeArrowheads="1"/>
          </p:cNvSpPr>
          <p:nvPr/>
        </p:nvSpPr>
        <p:spPr bwMode="auto">
          <a:xfrm>
            <a:off x="2101958" y="2223185"/>
            <a:ext cx="7988084" cy="30469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Client 1:</a:t>
            </a: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INSERT INTO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SmallProduct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(name, price)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, price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Product</a:t>
            </a: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price &lt;= 0.99</a:t>
            </a:r>
          </a:p>
          <a:p>
            <a:pPr eaLnBrk="0" hangingPunct="0"/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DELETE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Product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price &lt;=0.99</a:t>
            </a:r>
          </a:p>
        </p:txBody>
      </p:sp>
      <p:sp>
        <p:nvSpPr>
          <p:cNvPr id="446468" name="Rectangle 4"/>
          <p:cNvSpPr>
            <a:spLocks noChangeArrowheads="1"/>
          </p:cNvSpPr>
          <p:nvPr/>
        </p:nvSpPr>
        <p:spPr bwMode="auto">
          <a:xfrm>
            <a:off x="4271012" y="5790908"/>
            <a:ext cx="3649975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latin typeface="+mj-lt"/>
              </a:rPr>
              <a:t>What goes wrong?</a:t>
            </a:r>
            <a:endParaRPr lang="en-US" sz="3600" dirty="0">
              <a:latin typeface="+mj-lt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4276579"/>
            <a:ext cx="12192000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2592715"/>
            <a:ext cx="12192000" cy="1683864"/>
          </a:xfrm>
          <a:prstGeom prst="rect">
            <a:avLst/>
          </a:prstGeom>
          <a:solidFill>
            <a:srgbClr val="FF00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459982" y="3601255"/>
            <a:ext cx="2259401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  <a:latin typeface="+mj-lt"/>
              </a:rPr>
              <a:t>Crash / abort!</a:t>
            </a:r>
          </a:p>
        </p:txBody>
      </p:sp>
    </p:spTree>
    <p:extLst>
      <p:ext uri="{BB962C8B-B14F-4D97-AF65-F5344CB8AC3E}">
        <p14:creationId xmlns:p14="http://schemas.microsoft.com/office/powerpoint/2010/main" val="974618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6468" grpId="0" animBg="1"/>
      <p:bldP spid="14" grpId="0" animBg="1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Protection against crashes / aborts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0D84F-A299-5F4C-B5FB-7CC6EC81AF43}" type="slidenum">
              <a:rPr lang="en-US"/>
              <a:pPr/>
              <a:t>17</a:t>
            </a:fld>
            <a:endParaRPr lang="en-US"/>
          </a:p>
        </p:txBody>
      </p:sp>
      <p:sp>
        <p:nvSpPr>
          <p:cNvPr id="446467" name="Rectangle 3"/>
          <p:cNvSpPr>
            <a:spLocks noChangeArrowheads="1"/>
          </p:cNvSpPr>
          <p:nvPr/>
        </p:nvSpPr>
        <p:spPr bwMode="auto">
          <a:xfrm>
            <a:off x="1640292" y="1690688"/>
            <a:ext cx="8911414" cy="378565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Client 1:</a:t>
            </a: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</a:t>
            </a:r>
            <a:r>
              <a:rPr lang="en-US" sz="24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START TRANSACTION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	INSERT INTO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SmallProduct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(name, price)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	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, price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	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Product</a:t>
            </a: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	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price &lt;= 0.99</a:t>
            </a:r>
          </a:p>
          <a:p>
            <a:pPr eaLnBrk="0" hangingPunct="0"/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DELETE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Product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	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price &lt;=0.99</a:t>
            </a: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</a:t>
            </a:r>
            <a:r>
              <a:rPr lang="en-US" sz="24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COMMIT OR ROLLBACK</a:t>
            </a:r>
          </a:p>
        </p:txBody>
      </p:sp>
      <p:sp>
        <p:nvSpPr>
          <p:cNvPr id="446468" name="Rectangle 4"/>
          <p:cNvSpPr>
            <a:spLocks noChangeArrowheads="1"/>
          </p:cNvSpPr>
          <p:nvPr/>
        </p:nvSpPr>
        <p:spPr bwMode="auto">
          <a:xfrm>
            <a:off x="1273881" y="5892581"/>
            <a:ext cx="9644243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Now we’d be fine!  We’ll see how / why this lecture</a:t>
            </a:r>
          </a:p>
        </p:txBody>
      </p:sp>
    </p:spTree>
    <p:extLst>
      <p:ext uri="{BB962C8B-B14F-4D97-AF65-F5344CB8AC3E}">
        <p14:creationId xmlns:p14="http://schemas.microsoft.com/office/powerpoint/2010/main" val="1389612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646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578429"/>
            <a:ext cx="10515600" cy="3443737"/>
          </a:xfrm>
          <a:noFill/>
          <a:ln/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u="sng" dirty="0"/>
              <a:t>2. Concurrent</a:t>
            </a:r>
            <a:r>
              <a:rPr lang="en-US" sz="3600" u="sng" dirty="0"/>
              <a:t> </a:t>
            </a:r>
            <a:r>
              <a:rPr lang="en-US" sz="3600" dirty="0"/>
              <a:t>execution of user programs is essential for good DBMS performance.</a:t>
            </a:r>
          </a:p>
          <a:p>
            <a:pPr lvl="1">
              <a:buSzPct val="75000"/>
            </a:pPr>
            <a:endParaRPr lang="en-US" dirty="0"/>
          </a:p>
          <a:p>
            <a:pPr lvl="1">
              <a:buSzPct val="75000"/>
            </a:pPr>
            <a:r>
              <a:rPr lang="en-US" sz="2800" dirty="0"/>
              <a:t>Disk accesses may be frequent and </a:t>
            </a:r>
            <a:r>
              <a:rPr lang="en-US" sz="2800" b="1" dirty="0"/>
              <a:t>slow</a:t>
            </a:r>
            <a:r>
              <a:rPr lang="en-US" sz="2800" dirty="0"/>
              <a:t>- optimize for throughput (# of TXNs), trade for latency (time for any one TXN)</a:t>
            </a:r>
            <a:endParaRPr lang="en-US" sz="2800" b="1" dirty="0"/>
          </a:p>
          <a:p>
            <a:pPr lvl="1">
              <a:buSzPct val="75000"/>
            </a:pPr>
            <a:endParaRPr lang="en-US" sz="2800" b="1" dirty="0"/>
          </a:p>
          <a:p>
            <a:pPr lvl="1">
              <a:buSzPct val="75000"/>
            </a:pPr>
            <a:r>
              <a:rPr lang="en-US" sz="2800" dirty="0"/>
              <a:t>Users should still be able to execute TXNs as if in </a:t>
            </a:r>
            <a:r>
              <a:rPr lang="en-US" sz="2800" b="1" dirty="0"/>
              <a:t>isolation</a:t>
            </a:r>
            <a:r>
              <a:rPr lang="en-US" sz="2800" dirty="0"/>
              <a:t> and such that </a:t>
            </a:r>
            <a:r>
              <a:rPr lang="en-US" sz="2800" b="1" dirty="0"/>
              <a:t>consistency </a:t>
            </a:r>
            <a:r>
              <a:rPr lang="en-US" sz="2800" dirty="0"/>
              <a:t>is maintained</a:t>
            </a:r>
          </a:p>
          <a:p>
            <a:pPr lvl="2">
              <a:buSzPct val="75000"/>
            </a:pP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474763" y="5158252"/>
            <a:ext cx="9242474" cy="10772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1" algn="ctr">
              <a:buSzPct val="75000"/>
            </a:pPr>
            <a:r>
              <a:rPr lang="en-US" sz="3200" b="1" dirty="0">
                <a:latin typeface="+mj-lt"/>
              </a:rPr>
              <a:t>Idea</a:t>
            </a:r>
            <a:r>
              <a:rPr lang="en-US" sz="3200" dirty="0">
                <a:latin typeface="+mj-lt"/>
              </a:rPr>
              <a:t>: Have the DBMS handle running several user TXNs concurrently, in order to keep CPUs humming…</a:t>
            </a:r>
          </a:p>
        </p:txBody>
      </p:sp>
    </p:spTree>
    <p:extLst>
      <p:ext uri="{BB962C8B-B14F-4D97-AF65-F5344CB8AC3E}">
        <p14:creationId xmlns:p14="http://schemas.microsoft.com/office/powerpoint/2010/main" val="1367942484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users: single statements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0B4A7-EB86-3047-A92D-BCA70D7BDD47}" type="slidenum">
              <a:rPr lang="en-US"/>
              <a:pPr/>
              <a:t>19</a:t>
            </a:fld>
            <a:endParaRPr lang="en-US"/>
          </a:p>
        </p:txBody>
      </p:sp>
      <p:sp>
        <p:nvSpPr>
          <p:cNvPr id="444419" name="Rectangle 3"/>
          <p:cNvSpPr>
            <a:spLocks noChangeArrowheads="1"/>
          </p:cNvSpPr>
          <p:nvPr/>
        </p:nvSpPr>
        <p:spPr bwMode="auto">
          <a:xfrm>
            <a:off x="2846924" y="2102543"/>
            <a:ext cx="6494085" cy="267765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Client 1: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UPDATE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Product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Price = Price – 1.99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= ‘Gizmo’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Client 2: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UPDATE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Product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	SET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Price = Price*0.5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=‘Gizmo’</a:t>
            </a:r>
          </a:p>
        </p:txBody>
      </p:sp>
      <p:sp>
        <p:nvSpPr>
          <p:cNvPr id="444420" name="Rectangle 4"/>
          <p:cNvSpPr>
            <a:spLocks noChangeArrowheads="1"/>
          </p:cNvSpPr>
          <p:nvPr/>
        </p:nvSpPr>
        <p:spPr bwMode="auto">
          <a:xfrm>
            <a:off x="1348353" y="5584805"/>
            <a:ext cx="9438462" cy="954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Two managers attempt to discount products </a:t>
            </a:r>
            <a:r>
              <a:rPr lang="en-US" sz="2800" i="1" dirty="0">
                <a:latin typeface="+mj-lt"/>
              </a:rPr>
              <a:t>concurrently-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What could go wrong?</a:t>
            </a:r>
          </a:p>
        </p:txBody>
      </p:sp>
    </p:spTree>
    <p:extLst>
      <p:ext uri="{BB962C8B-B14F-4D97-AF65-F5344CB8AC3E}">
        <p14:creationId xmlns:p14="http://schemas.microsoft.com/office/powerpoint/2010/main" val="2089737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users: single statements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0B4A7-EB86-3047-A92D-BCA70D7BDD47}" type="slidenum">
              <a:rPr lang="en-US"/>
              <a:pPr/>
              <a:t>20</a:t>
            </a:fld>
            <a:endParaRPr lang="en-US"/>
          </a:p>
        </p:txBody>
      </p:sp>
      <p:sp>
        <p:nvSpPr>
          <p:cNvPr id="444419" name="Rectangle 3"/>
          <p:cNvSpPr>
            <a:spLocks noChangeArrowheads="1"/>
          </p:cNvSpPr>
          <p:nvPr/>
        </p:nvSpPr>
        <p:spPr bwMode="auto">
          <a:xfrm>
            <a:off x="2564785" y="1560255"/>
            <a:ext cx="7417415" cy="41549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Client 1: START TRANSACTION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		UPDATE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Product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	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Price = Price – 1.99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	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= ‘Gizmo’</a:t>
            </a: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	COMMIT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Client 2: START TRANSACTION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		UPDATE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Product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	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Price = Price*0.5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	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=‘Gizmo’</a:t>
            </a: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	COMMIT</a:t>
            </a:r>
          </a:p>
        </p:txBody>
      </p:sp>
      <p:sp>
        <p:nvSpPr>
          <p:cNvPr id="444420" name="Rectangle 4"/>
          <p:cNvSpPr>
            <a:spLocks noChangeArrowheads="1"/>
          </p:cNvSpPr>
          <p:nvPr/>
        </p:nvSpPr>
        <p:spPr bwMode="auto">
          <a:xfrm>
            <a:off x="1937180" y="6041580"/>
            <a:ext cx="8672632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Now works like a charm- we’ll see how / why next lecture…</a:t>
            </a:r>
          </a:p>
        </p:txBody>
      </p:sp>
    </p:spTree>
    <p:extLst>
      <p:ext uri="{BB962C8B-B14F-4D97-AF65-F5344CB8AC3E}">
        <p14:creationId xmlns:p14="http://schemas.microsoft.com/office/powerpoint/2010/main" val="14842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Properties of Transactions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38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will learn about in this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7578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b="1" u="sng" dirty="0">
                <a:latin typeface="+mj-lt"/>
              </a:rPr>
              <a:t>A</a:t>
            </a:r>
            <a:r>
              <a:rPr lang="en-US" dirty="0">
                <a:latin typeface="+mj-lt"/>
              </a:rPr>
              <a:t>tomicity</a:t>
            </a:r>
          </a:p>
          <a:p>
            <a:pPr marL="514350" indent="-514350">
              <a:buAutoNum type="arabicPeriod"/>
            </a:pPr>
            <a:endParaRPr lang="en-US" dirty="0">
              <a:latin typeface="+mj-lt"/>
            </a:endParaRPr>
          </a:p>
          <a:p>
            <a:pPr marL="514350" indent="-514350">
              <a:buAutoNum type="arabicPeriod"/>
            </a:pPr>
            <a:r>
              <a:rPr lang="en-US" b="1" u="sng" dirty="0">
                <a:latin typeface="+mj-lt"/>
              </a:rPr>
              <a:t>C</a:t>
            </a:r>
            <a:r>
              <a:rPr lang="en-US" dirty="0">
                <a:latin typeface="+mj-lt"/>
              </a:rPr>
              <a:t>onsistency</a:t>
            </a:r>
          </a:p>
          <a:p>
            <a:pPr marL="514350" indent="-514350">
              <a:buAutoNum type="arabicPeriod"/>
            </a:pPr>
            <a:endParaRPr lang="en-US" dirty="0">
              <a:latin typeface="+mj-lt"/>
            </a:endParaRPr>
          </a:p>
          <a:p>
            <a:pPr marL="514350" indent="-514350">
              <a:buAutoNum type="arabicPeriod"/>
            </a:pPr>
            <a:r>
              <a:rPr lang="en-US" b="1" u="sng" dirty="0">
                <a:latin typeface="+mj-lt"/>
              </a:rPr>
              <a:t>I</a:t>
            </a:r>
            <a:r>
              <a:rPr lang="en-US" dirty="0">
                <a:latin typeface="+mj-lt"/>
              </a:rPr>
              <a:t>solation</a:t>
            </a:r>
          </a:p>
          <a:p>
            <a:pPr marL="514350" indent="-514350">
              <a:buAutoNum type="arabicPeriod"/>
            </a:pPr>
            <a:endParaRPr lang="en-US" dirty="0">
              <a:latin typeface="+mj-lt"/>
            </a:endParaRPr>
          </a:p>
          <a:p>
            <a:pPr marL="514350" indent="-514350">
              <a:buAutoNum type="arabicPeriod"/>
            </a:pPr>
            <a:r>
              <a:rPr lang="en-US" b="1" u="sng" dirty="0">
                <a:latin typeface="+mj-lt"/>
              </a:rPr>
              <a:t>D</a:t>
            </a:r>
            <a:r>
              <a:rPr lang="en-US" dirty="0">
                <a:latin typeface="+mj-lt"/>
              </a:rPr>
              <a:t>urability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5466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Transaction Properties: ACID</a:t>
            </a:r>
          </a:p>
        </p:txBody>
      </p:sp>
      <p:sp>
        <p:nvSpPr>
          <p:cNvPr id="376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tomic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State shows either all the effects of </a:t>
            </a:r>
            <a:r>
              <a:rPr lang="en-US" dirty="0" err="1"/>
              <a:t>txn</a:t>
            </a:r>
            <a:r>
              <a:rPr lang="en-US" dirty="0"/>
              <a:t>, or none of them</a:t>
            </a:r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onsistent</a:t>
            </a:r>
          </a:p>
          <a:p>
            <a:pPr lvl="1">
              <a:lnSpc>
                <a:spcPct val="80000"/>
              </a:lnSpc>
            </a:pPr>
            <a:r>
              <a:rPr lang="en-US" dirty="0" err="1"/>
              <a:t>Txn</a:t>
            </a:r>
            <a:r>
              <a:rPr lang="en-US" dirty="0"/>
              <a:t> moves from a state where integrity holds, to another where integrity holds</a:t>
            </a:r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rgbClr val="FF0000"/>
                </a:solidFill>
              </a:rPr>
              <a:t>I</a:t>
            </a:r>
            <a:r>
              <a:rPr lang="en-US" dirty="0"/>
              <a:t>solated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Effect of </a:t>
            </a:r>
            <a:r>
              <a:rPr lang="en-US" dirty="0" err="1"/>
              <a:t>txns</a:t>
            </a:r>
            <a:r>
              <a:rPr lang="en-US" dirty="0"/>
              <a:t> is the same as </a:t>
            </a:r>
            <a:r>
              <a:rPr lang="en-US" dirty="0" err="1"/>
              <a:t>txns</a:t>
            </a:r>
            <a:r>
              <a:rPr lang="en-US" dirty="0"/>
              <a:t> running one after another (</a:t>
            </a:r>
            <a:r>
              <a:rPr lang="en-US" dirty="0" err="1"/>
              <a:t>ie</a:t>
            </a:r>
            <a:r>
              <a:rPr lang="en-US" dirty="0"/>
              <a:t> looks like batch mode)</a:t>
            </a:r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rgbClr val="FF0000"/>
                </a:solidFill>
              </a:rPr>
              <a:t>D</a:t>
            </a:r>
            <a:r>
              <a:rPr lang="en-US" dirty="0"/>
              <a:t>urable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Once a </a:t>
            </a:r>
            <a:r>
              <a:rPr lang="en-US" dirty="0" err="1"/>
              <a:t>txn</a:t>
            </a:r>
            <a:r>
              <a:rPr lang="en-US" dirty="0"/>
              <a:t> has committed, its effects remain in the database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81272-E65E-2F47-A732-A2A079177C44}" type="slidenum">
              <a:rPr lang="en-US"/>
              <a:pPr/>
              <a:t>23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941182" y="6019512"/>
            <a:ext cx="8447417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latin typeface="+mj-lt"/>
              </a:rPr>
              <a:t>ACID continues to be a </a:t>
            </a:r>
            <a:r>
              <a:rPr lang="en-US" sz="3200" dirty="0">
                <a:latin typeface="+mj-lt"/>
              </a:rPr>
              <a:t>source of great debate! </a:t>
            </a:r>
          </a:p>
        </p:txBody>
      </p:sp>
    </p:spTree>
    <p:extLst>
      <p:ext uri="{BB962C8B-B14F-4D97-AF65-F5344CB8AC3E}">
        <p14:creationId xmlns:p14="http://schemas.microsoft.com/office/powerpoint/2010/main" val="2670201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</a:t>
            </a:r>
            <a:r>
              <a:rPr lang="en-US" dirty="0"/>
              <a:t>CID: </a:t>
            </a:r>
            <a:r>
              <a:rPr lang="en-US" b="1" u="sng" dirty="0"/>
              <a:t>A</a:t>
            </a:r>
            <a:r>
              <a:rPr lang="en-US" dirty="0"/>
              <a:t>tomicity</a:t>
            </a:r>
          </a:p>
        </p:txBody>
      </p:sp>
      <p:sp>
        <p:nvSpPr>
          <p:cNvPr id="3481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200" dirty="0"/>
              <a:t>TXN’s activities are atomic: </a:t>
            </a:r>
            <a:r>
              <a:rPr lang="en-US" sz="3200" b="1" dirty="0"/>
              <a:t>all or nothing</a:t>
            </a:r>
            <a:endParaRPr lang="en-US" sz="3200" dirty="0"/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Intuitively: in the real world, a transaction is something that would either occur </a:t>
            </a:r>
            <a:r>
              <a:rPr lang="en-US" sz="3200" i="1" dirty="0"/>
              <a:t>completely</a:t>
            </a:r>
            <a:r>
              <a:rPr lang="en-US" sz="3200" dirty="0"/>
              <a:t> or </a:t>
            </a:r>
            <a:r>
              <a:rPr lang="en-US" sz="3200" i="1" dirty="0"/>
              <a:t>not at all</a:t>
            </a:r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Two possible outcomes for a TXN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It </a:t>
            </a:r>
            <a:r>
              <a:rPr lang="en-US" sz="3200" i="1" dirty="0"/>
              <a:t>commits</a:t>
            </a:r>
            <a:r>
              <a:rPr lang="en-US" sz="3200" dirty="0"/>
              <a:t>: all the changes are made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It </a:t>
            </a:r>
            <a:r>
              <a:rPr lang="en-US" sz="3200" i="1" dirty="0"/>
              <a:t>aborts</a:t>
            </a:r>
            <a:r>
              <a:rPr lang="en-US" sz="3200" dirty="0"/>
              <a:t>: no changes are made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51B8B-FADB-7C43-801A-767EAE3497C9}" type="slidenum">
              <a:rPr lang="en-US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9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="1" u="sng" dirty="0"/>
              <a:t>C</a:t>
            </a:r>
            <a:r>
              <a:rPr lang="en-US" dirty="0"/>
              <a:t>ID: </a:t>
            </a:r>
            <a:r>
              <a:rPr lang="en-US" b="1" u="sng" dirty="0"/>
              <a:t>C</a:t>
            </a:r>
            <a:r>
              <a:rPr lang="en-US" dirty="0"/>
              <a:t>onsistency</a:t>
            </a:r>
          </a:p>
        </p:txBody>
      </p:sp>
      <p:sp>
        <p:nvSpPr>
          <p:cNvPr id="3491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The tables must always satisfy user-specified </a:t>
            </a:r>
            <a:r>
              <a:rPr lang="en-US" b="1" i="1" dirty="0"/>
              <a:t>integrity constraints</a:t>
            </a:r>
          </a:p>
          <a:p>
            <a:pPr lvl="1">
              <a:lnSpc>
                <a:spcPct val="90000"/>
              </a:lnSpc>
            </a:pPr>
            <a:r>
              <a:rPr lang="en-US" i="1" dirty="0"/>
              <a:t>Examples:</a:t>
            </a:r>
          </a:p>
          <a:p>
            <a:pPr lvl="2"/>
            <a:r>
              <a:rPr lang="en-US" dirty="0"/>
              <a:t>Account number is unique</a:t>
            </a:r>
          </a:p>
          <a:p>
            <a:pPr lvl="2"/>
            <a:r>
              <a:rPr lang="en-US" dirty="0"/>
              <a:t>Stock amount can’t be negative</a:t>
            </a:r>
          </a:p>
          <a:p>
            <a:pPr lvl="2"/>
            <a:r>
              <a:rPr lang="en-US" dirty="0"/>
              <a:t>Sum of </a:t>
            </a:r>
            <a:r>
              <a:rPr lang="en-US" i="1" dirty="0"/>
              <a:t>debits </a:t>
            </a:r>
            <a:r>
              <a:rPr lang="en-US" dirty="0"/>
              <a:t>and of </a:t>
            </a:r>
            <a:r>
              <a:rPr lang="en-US" i="1" dirty="0"/>
              <a:t>credits</a:t>
            </a:r>
            <a:r>
              <a:rPr lang="en-US" dirty="0"/>
              <a:t> is 0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How consistency is achieved: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Programmer makes sure a </a:t>
            </a:r>
            <a:r>
              <a:rPr lang="en-US" dirty="0" err="1"/>
              <a:t>txn</a:t>
            </a:r>
            <a:r>
              <a:rPr lang="en-US" dirty="0"/>
              <a:t> takes a consistent state to a consistent state</a:t>
            </a:r>
          </a:p>
          <a:p>
            <a:pPr lvl="1">
              <a:lnSpc>
                <a:spcPct val="90000"/>
              </a:lnSpc>
            </a:pPr>
            <a:r>
              <a:rPr lang="en-US" i="1" dirty="0"/>
              <a:t>System</a:t>
            </a:r>
            <a:r>
              <a:rPr lang="en-US" dirty="0"/>
              <a:t> makes sure that the </a:t>
            </a:r>
            <a:r>
              <a:rPr lang="en-US" dirty="0" err="1"/>
              <a:t>txn</a:t>
            </a:r>
            <a:r>
              <a:rPr lang="en-US" dirty="0"/>
              <a:t> is </a:t>
            </a:r>
            <a:r>
              <a:rPr lang="en-US" b="1" dirty="0"/>
              <a:t>atomic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49F1-D323-4347-B6C3-6B3BCD07372F}" type="slidenum">
              <a:rPr lang="en-US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11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87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</a:t>
            </a:r>
            <a:r>
              <a:rPr lang="en-US" b="1" u="sng" dirty="0"/>
              <a:t>I</a:t>
            </a:r>
            <a:r>
              <a:rPr lang="en-US" dirty="0"/>
              <a:t>D: </a:t>
            </a:r>
            <a:r>
              <a:rPr lang="en-US" b="1" u="sng" dirty="0"/>
              <a:t>I</a:t>
            </a:r>
            <a:r>
              <a:rPr lang="en-US" dirty="0"/>
              <a:t>solation</a:t>
            </a:r>
          </a:p>
        </p:txBody>
      </p:sp>
      <p:sp>
        <p:nvSpPr>
          <p:cNvPr id="4331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 transaction executes concurrently with other transactions</a:t>
            </a:r>
          </a:p>
          <a:p>
            <a:endParaRPr lang="en-US" sz="3200" dirty="0"/>
          </a:p>
          <a:p>
            <a:r>
              <a:rPr lang="en-US" sz="3200" b="1" dirty="0"/>
              <a:t>Isolation</a:t>
            </a:r>
            <a:r>
              <a:rPr lang="en-US" sz="3200" dirty="0"/>
              <a:t>: the effect is as if each transaction executes in </a:t>
            </a:r>
            <a:r>
              <a:rPr lang="en-US" sz="3200" i="1" dirty="0"/>
              <a:t>isolation</a:t>
            </a:r>
            <a:r>
              <a:rPr lang="en-US" sz="3200" dirty="0"/>
              <a:t> of the others.</a:t>
            </a:r>
          </a:p>
          <a:p>
            <a:pPr lvl="1"/>
            <a:endParaRPr lang="en-US" sz="3200" dirty="0"/>
          </a:p>
          <a:p>
            <a:pPr lvl="1"/>
            <a:r>
              <a:rPr lang="en-US" sz="2800" dirty="0"/>
              <a:t>E.g. Should not be able to observe changes from other transactions during the run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3DC80-09C5-A848-8F8E-33ED83559B32}" type="slidenum">
              <a:rPr lang="en-US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854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ACI</a:t>
            </a:r>
            <a:r>
              <a:rPr lang="en-US" b="1" u="sng" dirty="0"/>
              <a:t>D</a:t>
            </a:r>
            <a:r>
              <a:rPr lang="en-US" dirty="0"/>
              <a:t>: </a:t>
            </a:r>
            <a:r>
              <a:rPr lang="en-US" b="1" u="sng" dirty="0"/>
              <a:t>D</a:t>
            </a:r>
            <a:r>
              <a:rPr lang="en-US" dirty="0"/>
              <a:t>urability</a:t>
            </a:r>
          </a:p>
        </p:txBody>
      </p:sp>
      <p:sp>
        <p:nvSpPr>
          <p:cNvPr id="434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effect of a TXN must continue to exist (</a:t>
            </a:r>
            <a:r>
              <a:rPr lang="en-US" sz="3200" b="1" i="1" dirty="0"/>
              <a:t>“persist”</a:t>
            </a:r>
            <a:r>
              <a:rPr lang="en-US" sz="3200" dirty="0"/>
              <a:t>) after the TXN</a:t>
            </a:r>
          </a:p>
          <a:p>
            <a:pPr lvl="1"/>
            <a:r>
              <a:rPr lang="en-US" sz="2800" dirty="0"/>
              <a:t>And after the whole program has terminated</a:t>
            </a:r>
          </a:p>
          <a:p>
            <a:pPr lvl="1"/>
            <a:r>
              <a:rPr lang="en-US" sz="2800" dirty="0"/>
              <a:t>And even if there are power failures, crashes, etc.</a:t>
            </a:r>
          </a:p>
          <a:p>
            <a:pPr lvl="1"/>
            <a:r>
              <a:rPr lang="en-US" sz="2800" dirty="0"/>
              <a:t>And etc…</a:t>
            </a:r>
          </a:p>
          <a:p>
            <a:pPr lvl="1"/>
            <a:endParaRPr lang="en-US" sz="3200" dirty="0"/>
          </a:p>
          <a:p>
            <a:r>
              <a:rPr lang="en-US" sz="3200" dirty="0"/>
              <a:t>Means: Write data to </a:t>
            </a:r>
            <a:r>
              <a:rPr lang="en-US" sz="3200" b="1" dirty="0"/>
              <a:t>disk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5F8FB-4A41-0144-97D8-403CCF4A5DD1}" type="slidenum">
              <a:rPr lang="en-US"/>
              <a:pPr/>
              <a:t>27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587313" y="3964211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611138" y="4333543"/>
            <a:ext cx="3742662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Change on the horizon? Non-Volatile Ram (</a:t>
            </a:r>
            <a:r>
              <a:rPr lang="en-US" sz="2400" dirty="0" err="1">
                <a:latin typeface="+mj-lt"/>
              </a:rPr>
              <a:t>NVRam</a:t>
            </a:r>
            <a:r>
              <a:rPr lang="en-US" sz="2400" dirty="0">
                <a:latin typeface="+mj-lt"/>
              </a:rPr>
              <a:t>). Byte addressable.</a:t>
            </a:r>
          </a:p>
        </p:txBody>
      </p:sp>
    </p:spTree>
    <p:extLst>
      <p:ext uri="{BB962C8B-B14F-4D97-AF65-F5344CB8AC3E}">
        <p14:creationId xmlns:p14="http://schemas.microsoft.com/office/powerpoint/2010/main" val="3314010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for ACID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spite of failures: Power failures, but not media failures</a:t>
            </a:r>
          </a:p>
          <a:p>
            <a:endParaRPr lang="en-US" dirty="0"/>
          </a:p>
          <a:p>
            <a:r>
              <a:rPr lang="en-US" dirty="0"/>
              <a:t>Users may abort the program: need to “rollback the changes”</a:t>
            </a:r>
          </a:p>
          <a:p>
            <a:pPr lvl="1"/>
            <a:r>
              <a:rPr lang="en-US" dirty="0"/>
              <a:t>Need to </a:t>
            </a:r>
            <a:r>
              <a:rPr lang="en-US" i="1" dirty="0"/>
              <a:t>log</a:t>
            </a:r>
            <a:r>
              <a:rPr lang="en-US" dirty="0"/>
              <a:t> what happened</a:t>
            </a:r>
          </a:p>
          <a:p>
            <a:endParaRPr lang="en-US" dirty="0"/>
          </a:p>
          <a:p>
            <a:r>
              <a:rPr lang="en-US" dirty="0"/>
              <a:t>Many users executing concurrently</a:t>
            </a:r>
          </a:p>
          <a:p>
            <a:pPr lvl="1"/>
            <a:r>
              <a:rPr lang="en-US" dirty="0"/>
              <a:t>Can be solved via locking (we’ll see this next lecture!)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208073" y="5823020"/>
            <a:ext cx="7775854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+mj-lt"/>
              </a:rPr>
              <a:t>And all this with… Performance!!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957" y="2498012"/>
            <a:ext cx="1615058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This lecture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1679" y="4465979"/>
            <a:ext cx="1695336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+mj-lt"/>
              </a:rPr>
              <a:t>Next lecture</a:t>
            </a:r>
          </a:p>
        </p:txBody>
      </p:sp>
    </p:spTree>
    <p:extLst>
      <p:ext uri="{BB962C8B-B14F-4D97-AF65-F5344CB8AC3E}">
        <p14:creationId xmlns:p14="http://schemas.microsoft.com/office/powerpoint/2010/main" val="97021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Note: ACID is contentious!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614160" cy="4351338"/>
          </a:xfrm>
        </p:spPr>
        <p:txBody>
          <a:bodyPr>
            <a:normAutofit/>
          </a:bodyPr>
          <a:lstStyle/>
          <a:p>
            <a:r>
              <a:rPr lang="en-US" dirty="0"/>
              <a:t>Many debates over ACID, both </a:t>
            </a:r>
            <a:r>
              <a:rPr lang="en-US" b="1" dirty="0"/>
              <a:t>historically</a:t>
            </a:r>
            <a:r>
              <a:rPr lang="en-US" dirty="0"/>
              <a:t> and</a:t>
            </a:r>
            <a:r>
              <a:rPr lang="en-US" b="1" dirty="0"/>
              <a:t> currently</a:t>
            </a:r>
            <a:endParaRPr lang="en-US" dirty="0"/>
          </a:p>
          <a:p>
            <a:endParaRPr lang="en-US" dirty="0"/>
          </a:p>
          <a:p>
            <a:r>
              <a:rPr lang="en-US" dirty="0"/>
              <a:t>Many newer “NoSQL” DBMSs relax ACID</a:t>
            </a:r>
          </a:p>
          <a:p>
            <a:endParaRPr lang="en-US" dirty="0"/>
          </a:p>
          <a:p>
            <a:r>
              <a:rPr lang="en-US" dirty="0"/>
              <a:t>In turn, now “</a:t>
            </a:r>
            <a:r>
              <a:rPr lang="en-US" dirty="0" err="1"/>
              <a:t>NewSQL</a:t>
            </a:r>
            <a:r>
              <a:rPr lang="en-US" dirty="0"/>
              <a:t>” reintroduces ACID compliance to NoSQL-style DBMSs…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438" y="953651"/>
            <a:ext cx="1745778" cy="160901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856475"/>
            <a:ext cx="4666841" cy="27759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08073" y="5699909"/>
            <a:ext cx="7775854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ACID is an extremely important &amp; successful paradigm, but still debated!</a:t>
            </a:r>
          </a:p>
        </p:txBody>
      </p:sp>
    </p:spTree>
    <p:extLst>
      <p:ext uri="{BB962C8B-B14F-4D97-AF65-F5344CB8AC3E}">
        <p14:creationId xmlns:p14="http://schemas.microsoft.com/office/powerpoint/2010/main" val="1448168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for this lecture: Ensuring Atomicity &amp; Durability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6223782" cy="1845269"/>
          </a:xfrm>
        </p:spPr>
        <p:txBody>
          <a:bodyPr>
            <a:normAutofit lnSpcReduction="10000"/>
          </a:bodyPr>
          <a:lstStyle/>
          <a:p>
            <a:r>
              <a:rPr lang="en-US" b="1" u="sng" dirty="0"/>
              <a:t>A</a:t>
            </a:r>
            <a:r>
              <a:rPr lang="en-US" dirty="0"/>
              <a:t>tomicity:</a:t>
            </a:r>
          </a:p>
          <a:p>
            <a:pPr lvl="1"/>
            <a:r>
              <a:rPr lang="en-US" dirty="0"/>
              <a:t>TXNs should either happen completely or not at all</a:t>
            </a:r>
          </a:p>
          <a:p>
            <a:pPr lvl="1"/>
            <a:r>
              <a:rPr lang="en-US" dirty="0"/>
              <a:t>If abort / crash during TXN, </a:t>
            </a:r>
            <a:r>
              <a:rPr lang="en-US" i="1" dirty="0"/>
              <a:t>no</a:t>
            </a:r>
            <a:r>
              <a:rPr lang="en-US" dirty="0"/>
              <a:t> effects should be seen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30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0614938" y="931727"/>
            <a:ext cx="996107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3200" b="1" u="sng" dirty="0">
                <a:latin typeface="+mj-lt"/>
              </a:rPr>
              <a:t>A</a:t>
            </a:r>
            <a:r>
              <a:rPr lang="en-US" sz="3200" dirty="0">
                <a:latin typeface="+mj-lt"/>
              </a:rPr>
              <a:t>CI</a:t>
            </a:r>
            <a:r>
              <a:rPr lang="en-US" sz="3200" b="1" u="sng" dirty="0">
                <a:latin typeface="+mj-lt"/>
              </a:rPr>
              <a:t>D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7737231" y="1772118"/>
            <a:ext cx="3502855" cy="883696"/>
            <a:chOff x="7737231" y="1772118"/>
            <a:chExt cx="3502855" cy="883696"/>
          </a:xfrm>
        </p:grpSpPr>
        <p:sp>
          <p:nvSpPr>
            <p:cNvPr id="9" name="Rectangle 8"/>
            <p:cNvSpPr/>
            <p:nvPr/>
          </p:nvSpPr>
          <p:spPr>
            <a:xfrm>
              <a:off x="7737231" y="2233783"/>
              <a:ext cx="3502855" cy="4220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737231" y="1772118"/>
              <a:ext cx="9188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TXN 1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723164" y="3890386"/>
            <a:ext cx="2278965" cy="883696"/>
            <a:chOff x="7723164" y="3890386"/>
            <a:chExt cx="2278965" cy="883696"/>
          </a:xfrm>
        </p:grpSpPr>
        <p:sp>
          <p:nvSpPr>
            <p:cNvPr id="10" name="Rectangle 9"/>
            <p:cNvSpPr/>
            <p:nvPr/>
          </p:nvSpPr>
          <p:spPr>
            <a:xfrm>
              <a:off x="7723164" y="4352051"/>
              <a:ext cx="2278965" cy="42203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737231" y="3890386"/>
              <a:ext cx="9092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TXN 2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7723164" y="2711379"/>
            <a:ext cx="1927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u="sng" dirty="0"/>
              <a:t>No</a:t>
            </a:r>
            <a:r>
              <a:rPr lang="en-US" sz="2400" i="1" dirty="0"/>
              <a:t> changes persisted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7231" y="4854920"/>
            <a:ext cx="1927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u="sng" dirty="0"/>
              <a:t>All</a:t>
            </a:r>
            <a:r>
              <a:rPr lang="en-US" sz="2400" i="1" dirty="0"/>
              <a:t> changes persisted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4858" y="6094740"/>
            <a:ext cx="8342284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We’ll focus on how to </a:t>
            </a:r>
            <a:r>
              <a:rPr lang="en-US" sz="2800">
                <a:latin typeface="+mj-lt"/>
              </a:rPr>
              <a:t>accomplish atomicity (via logging)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10136944" y="1825625"/>
            <a:ext cx="2031609" cy="3444793"/>
            <a:chOff x="10136944" y="1825625"/>
            <a:chExt cx="2031609" cy="3444793"/>
          </a:xfrm>
        </p:grpSpPr>
        <p:cxnSp>
          <p:nvCxnSpPr>
            <p:cNvPr id="14" name="Straight Connector 13"/>
            <p:cNvCxnSpPr/>
            <p:nvPr/>
          </p:nvCxnSpPr>
          <p:spPr>
            <a:xfrm>
              <a:off x="10136944" y="1825625"/>
              <a:ext cx="0" cy="3444793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10136944" y="1842557"/>
              <a:ext cx="2031609" cy="4616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  <a:latin typeface="+mj-lt"/>
                </a:rPr>
                <a:t>Crash / abort</a:t>
              </a:r>
            </a:p>
          </p:txBody>
        </p:sp>
      </p:grpSp>
      <p:sp>
        <p:nvSpPr>
          <p:cNvPr id="26" name="Content Placeholder 2"/>
          <p:cNvSpPr txBox="1">
            <a:spLocks/>
          </p:cNvSpPr>
          <p:nvPr/>
        </p:nvSpPr>
        <p:spPr>
          <a:xfrm>
            <a:off x="838200" y="4027266"/>
            <a:ext cx="6223782" cy="1711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u="sng"/>
              <a:t>D</a:t>
            </a:r>
            <a:r>
              <a:rPr lang="en-US"/>
              <a:t>urability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If DBMS stops running, changes due to completed TXNs should all persist</a:t>
            </a:r>
          </a:p>
          <a:p>
            <a:pPr lvl="1"/>
            <a:r>
              <a:rPr lang="en-US" i="1" dirty="0"/>
              <a:t>Just store on stable disk</a:t>
            </a:r>
          </a:p>
        </p:txBody>
      </p:sp>
    </p:spTree>
    <p:extLst>
      <p:ext uri="{BB962C8B-B14F-4D97-AF65-F5344CB8AC3E}">
        <p14:creationId xmlns:p14="http://schemas.microsoft.com/office/powerpoint/2010/main" val="433269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17" grpId="0"/>
      <p:bldP spid="18" grpId="0"/>
      <p:bldP spid="19" grpId="0" animBg="1"/>
      <p:bldP spid="2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The Log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561514"/>
            <a:ext cx="10515600" cy="4915486"/>
          </a:xfrm>
          <a:noFill/>
          <a:ln/>
        </p:spPr>
        <p:txBody>
          <a:bodyPr>
            <a:normAutofit/>
          </a:bodyPr>
          <a:lstStyle/>
          <a:p>
            <a:r>
              <a:rPr lang="en-US" sz="3200" dirty="0"/>
              <a:t>Is a list of modifications</a:t>
            </a:r>
          </a:p>
          <a:p>
            <a:endParaRPr lang="en-US" sz="3200" dirty="0"/>
          </a:p>
          <a:p>
            <a:r>
              <a:rPr lang="en-US" sz="3200" dirty="0"/>
              <a:t>Log is </a:t>
            </a:r>
            <a:r>
              <a:rPr lang="en-US" sz="3200" i="1" dirty="0"/>
              <a:t>duplexed </a:t>
            </a:r>
            <a:r>
              <a:rPr lang="en-US" sz="3200" dirty="0"/>
              <a:t>and </a:t>
            </a:r>
            <a:r>
              <a:rPr lang="en-US" sz="3200" i="1" dirty="0"/>
              <a:t>archived</a:t>
            </a:r>
            <a:r>
              <a:rPr lang="en-US" sz="3200" dirty="0"/>
              <a:t> on stable storage.	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Can </a:t>
            </a:r>
            <a:r>
              <a:rPr lang="en-US" sz="3200" b="1" u="sng" dirty="0"/>
              <a:t>force write</a:t>
            </a:r>
            <a:r>
              <a:rPr lang="en-US" sz="3200" u="sng" dirty="0"/>
              <a:t> </a:t>
            </a:r>
            <a:r>
              <a:rPr lang="en-US" sz="3200" dirty="0"/>
              <a:t>entries to disk</a:t>
            </a:r>
          </a:p>
          <a:p>
            <a:pPr lvl="1"/>
            <a:r>
              <a:rPr lang="en-US" sz="3200" dirty="0"/>
              <a:t>A page goes to disk.</a:t>
            </a:r>
          </a:p>
          <a:p>
            <a:endParaRPr lang="en-US" sz="3200" dirty="0"/>
          </a:p>
          <a:p>
            <a:r>
              <a:rPr lang="en-US" sz="3200" dirty="0"/>
              <a:t>All log activities </a:t>
            </a:r>
            <a:r>
              <a:rPr lang="en-US" sz="3200" b="1" i="1" dirty="0"/>
              <a:t>handled transparently</a:t>
            </a:r>
            <a:r>
              <a:rPr lang="en-US" sz="3200" dirty="0"/>
              <a:t> the DBMS.</a:t>
            </a:r>
          </a:p>
        </p:txBody>
      </p:sp>
      <p:sp>
        <p:nvSpPr>
          <p:cNvPr id="2" name="Rectangle 1"/>
          <p:cNvSpPr/>
          <p:nvPr/>
        </p:nvSpPr>
        <p:spPr>
          <a:xfrm>
            <a:off x="9550090" y="2652683"/>
            <a:ext cx="2027621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>
                <a:latin typeface="+mj-lt"/>
              </a:rPr>
              <a:t>Assume we don’t lose it!</a:t>
            </a:r>
          </a:p>
        </p:txBody>
      </p:sp>
    </p:spTree>
    <p:extLst>
      <p:ext uri="{BB962C8B-B14F-4D97-AF65-F5344CB8AC3E}">
        <p14:creationId xmlns:p14="http://schemas.microsoft.com/office/powerpoint/2010/main" val="1989965171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uiExpand="1" build="p"/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Basic Idea: (Physical) Logging</a:t>
            </a:r>
          </a:p>
        </p:txBody>
      </p:sp>
      <p:sp>
        <p:nvSpPr>
          <p:cNvPr id="15365" name="Rectangle 5"/>
          <p:cNvSpPr>
            <a:spLocks noGrp="1" noChangeArrowheads="1"/>
          </p:cNvSpPr>
          <p:nvPr>
            <p:ph idx="1"/>
          </p:nvPr>
        </p:nvSpPr>
        <p:spPr>
          <a:xfrm>
            <a:off x="838200" y="1690688"/>
            <a:ext cx="10515600" cy="4724400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Record UNDO information for every update!</a:t>
            </a:r>
          </a:p>
          <a:p>
            <a:pPr lvl="1"/>
            <a:r>
              <a:rPr lang="en-US" sz="2800" dirty="0"/>
              <a:t>Sequential writes to log</a:t>
            </a:r>
          </a:p>
          <a:p>
            <a:pPr lvl="1"/>
            <a:r>
              <a:rPr lang="en-US" sz="2800" dirty="0"/>
              <a:t>Minimal info (diff) written to log</a:t>
            </a:r>
          </a:p>
          <a:p>
            <a:pPr lvl="1"/>
            <a:endParaRPr lang="en-US" sz="2800" i="1" dirty="0"/>
          </a:p>
          <a:p>
            <a:r>
              <a:rPr lang="en-US" dirty="0"/>
              <a:t>The </a:t>
            </a:r>
            <a:r>
              <a:rPr lang="en-US" b="1" dirty="0"/>
              <a:t>log</a:t>
            </a:r>
            <a:r>
              <a:rPr lang="en-US" dirty="0"/>
              <a:t> consists of </a:t>
            </a:r>
            <a:r>
              <a:rPr lang="en-US" b="1" dirty="0"/>
              <a:t>an ordered list of actions</a:t>
            </a:r>
          </a:p>
          <a:p>
            <a:pPr lvl="1"/>
            <a:r>
              <a:rPr lang="en-US" sz="2800" dirty="0"/>
              <a:t>Log record contains: </a:t>
            </a:r>
          </a:p>
          <a:p>
            <a:pPr lvl="2">
              <a:buFontTx/>
              <a:buNone/>
            </a:pPr>
            <a:r>
              <a:rPr lang="en-US" sz="2800" dirty="0">
                <a:solidFill>
                  <a:srgbClr val="0000FF"/>
                </a:solidFill>
              </a:rPr>
              <a:t>&lt;XID, location, old data, new data&gt; </a:t>
            </a:r>
          </a:p>
        </p:txBody>
      </p:sp>
      <p:sp>
        <p:nvSpPr>
          <p:cNvPr id="2" name="Rectangle 1"/>
          <p:cNvSpPr/>
          <p:nvPr/>
        </p:nvSpPr>
        <p:spPr>
          <a:xfrm>
            <a:off x="2531562" y="5663625"/>
            <a:ext cx="7128876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This is sufficient to UNDO any transaction!</a:t>
            </a:r>
          </a:p>
        </p:txBody>
      </p:sp>
    </p:spTree>
    <p:extLst>
      <p:ext uri="{BB962C8B-B14F-4D97-AF65-F5344CB8AC3E}">
        <p14:creationId xmlns:p14="http://schemas.microsoft.com/office/powerpoint/2010/main" val="161657380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Why do we need logging for atomicity?</a:t>
            </a:r>
          </a:p>
        </p:txBody>
      </p:sp>
      <p:sp>
        <p:nvSpPr>
          <p:cNvPr id="15365" name="Rectangle 5"/>
          <p:cNvSpPr>
            <a:spLocks noGrp="1" noChangeArrowheads="1"/>
          </p:cNvSpPr>
          <p:nvPr>
            <p:ph idx="1"/>
          </p:nvPr>
        </p:nvSpPr>
        <p:spPr>
          <a:xfrm>
            <a:off x="838200" y="1690688"/>
            <a:ext cx="10515600" cy="4724400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Couldn’t we just write TXN to disk </a:t>
            </a:r>
            <a:r>
              <a:rPr lang="en-US" b="1" dirty="0"/>
              <a:t>only</a:t>
            </a:r>
            <a:r>
              <a:rPr lang="en-US" dirty="0"/>
              <a:t> once whole TXN complete?</a:t>
            </a:r>
          </a:p>
          <a:p>
            <a:pPr lvl="1"/>
            <a:r>
              <a:rPr lang="en-US" sz="2400" dirty="0"/>
              <a:t>Then, if abort / crash and TXN not complete, it has no effect- atomicity!</a:t>
            </a:r>
            <a:endParaRPr lang="en-US" dirty="0"/>
          </a:p>
          <a:p>
            <a:pPr lvl="1"/>
            <a:r>
              <a:rPr lang="en-US" sz="2400" i="1" dirty="0"/>
              <a:t>With unlimited memory and time, this could work…</a:t>
            </a:r>
          </a:p>
          <a:p>
            <a:pPr lvl="1"/>
            <a:endParaRPr lang="en-US" i="1" dirty="0"/>
          </a:p>
          <a:p>
            <a:r>
              <a:rPr lang="en-US" sz="2800" dirty="0"/>
              <a:t>However, we </a:t>
            </a:r>
            <a:r>
              <a:rPr lang="en-US" sz="2800" b="1" dirty="0"/>
              <a:t>need to log partial results of TXNs</a:t>
            </a:r>
            <a:r>
              <a:rPr lang="en-US" sz="2800" dirty="0"/>
              <a:t> because of:</a:t>
            </a:r>
          </a:p>
          <a:p>
            <a:pPr lvl="1"/>
            <a:r>
              <a:rPr lang="en-US" sz="2400" dirty="0"/>
              <a:t>Memory constraints (enough space for full TXN??)</a:t>
            </a:r>
          </a:p>
          <a:p>
            <a:pPr lvl="1"/>
            <a:r>
              <a:rPr lang="en-US" dirty="0"/>
              <a:t>Time constraints (what if one TXN takes very long?)</a:t>
            </a:r>
            <a:endParaRPr lang="en-US" sz="2400" dirty="0"/>
          </a:p>
        </p:txBody>
      </p:sp>
      <p:sp>
        <p:nvSpPr>
          <p:cNvPr id="2" name="Rectangle 1"/>
          <p:cNvSpPr/>
          <p:nvPr/>
        </p:nvSpPr>
        <p:spPr>
          <a:xfrm>
            <a:off x="1468066" y="5129184"/>
            <a:ext cx="9255868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We need to write partial results to disk!</a:t>
            </a:r>
          </a:p>
          <a:p>
            <a:pPr algn="ctr"/>
            <a:r>
              <a:rPr lang="en-US" sz="2800" dirty="0">
                <a:latin typeface="+mj-lt"/>
              </a:rPr>
              <a:t>…And so we need a </a:t>
            </a:r>
            <a:r>
              <a:rPr lang="en-US" sz="2800" b="1" dirty="0">
                <a:latin typeface="+mj-lt"/>
              </a:rPr>
              <a:t>log</a:t>
            </a:r>
            <a:r>
              <a:rPr lang="en-US" sz="2800" dirty="0">
                <a:latin typeface="+mj-lt"/>
              </a:rPr>
              <a:t> to be able to </a:t>
            </a:r>
            <a:r>
              <a:rPr lang="en-US" sz="2800" b="1" i="1" dirty="0">
                <a:latin typeface="+mj-lt"/>
              </a:rPr>
              <a:t>undo</a:t>
            </a:r>
            <a:r>
              <a:rPr lang="en-US" sz="2800" dirty="0">
                <a:latin typeface="+mj-lt"/>
              </a:rPr>
              <a:t> these partial results!</a:t>
            </a:r>
          </a:p>
        </p:txBody>
      </p:sp>
    </p:spTree>
    <p:extLst>
      <p:ext uri="{BB962C8B-B14F-4D97-AF65-F5344CB8AC3E}">
        <p14:creationId xmlns:p14="http://schemas.microsoft.com/office/powerpoint/2010/main" val="434262682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Atomicity &amp; Durability via Logging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8457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349375"/>
            <a:ext cx="8229600" cy="1143000"/>
          </a:xfrm>
        </p:spPr>
        <p:txBody>
          <a:bodyPr/>
          <a:lstStyle/>
          <a:p>
            <a:r>
              <a:rPr lang="en-US" dirty="0"/>
              <a:t>A Picture of Logging</a:t>
            </a:r>
          </a:p>
        </p:txBody>
      </p:sp>
    </p:spTree>
    <p:extLst>
      <p:ext uri="{BB962C8B-B14F-4D97-AF65-F5344CB8AC3E}">
        <p14:creationId xmlns:p14="http://schemas.microsoft.com/office/powerpoint/2010/main" val="9027943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picture of logging</a:t>
            </a:r>
          </a:p>
        </p:txBody>
      </p:sp>
      <p:sp>
        <p:nvSpPr>
          <p:cNvPr id="4" name="Can 3"/>
          <p:cNvSpPr/>
          <p:nvPr/>
        </p:nvSpPr>
        <p:spPr>
          <a:xfrm>
            <a:off x="2165683" y="4920916"/>
            <a:ext cx="3114845" cy="1470526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Data on Disk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8736" y="2354179"/>
            <a:ext cx="6149473" cy="1858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+mj-lt"/>
              </a:rPr>
              <a:t>Main Memory</a:t>
            </a:r>
          </a:p>
        </p:txBody>
      </p:sp>
      <p:sp>
        <p:nvSpPr>
          <p:cNvPr id="6" name="Can 5"/>
          <p:cNvSpPr/>
          <p:nvPr/>
        </p:nvSpPr>
        <p:spPr>
          <a:xfrm>
            <a:off x="6149472" y="4920916"/>
            <a:ext cx="2058737" cy="1470526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Log on Disk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5502438" y="2354179"/>
            <a:ext cx="2705771" cy="6951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+mj-lt"/>
              </a:rPr>
              <a:t>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7970" y="2353804"/>
            <a:ext cx="13635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T </a:t>
            </a:r>
          </a:p>
        </p:txBody>
      </p:sp>
      <p:sp>
        <p:nvSpPr>
          <p:cNvPr id="10" name="Oval 9"/>
          <p:cNvSpPr/>
          <p:nvPr/>
        </p:nvSpPr>
        <p:spPr>
          <a:xfrm>
            <a:off x="2165682" y="2447758"/>
            <a:ext cx="1243264" cy="57484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A=0</a:t>
            </a:r>
          </a:p>
        </p:txBody>
      </p:sp>
      <p:sp>
        <p:nvSpPr>
          <p:cNvPr id="14" name="Oval 13"/>
          <p:cNvSpPr/>
          <p:nvPr/>
        </p:nvSpPr>
        <p:spPr>
          <a:xfrm>
            <a:off x="2165682" y="3175000"/>
            <a:ext cx="1243264" cy="57484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B=5</a:t>
            </a:r>
          </a:p>
        </p:txBody>
      </p:sp>
      <p:sp>
        <p:nvSpPr>
          <p:cNvPr id="15" name="Oval 14"/>
          <p:cNvSpPr/>
          <p:nvPr/>
        </p:nvSpPr>
        <p:spPr>
          <a:xfrm>
            <a:off x="2219156" y="5027862"/>
            <a:ext cx="1323475" cy="57484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A=0</a:t>
            </a:r>
          </a:p>
        </p:txBody>
      </p:sp>
      <p:cxnSp>
        <p:nvCxnSpPr>
          <p:cNvPr id="17" name="Straight Arrow Connector 16"/>
          <p:cNvCxnSpPr>
            <a:endCxn id="10" idx="2"/>
          </p:cNvCxnSpPr>
          <p:nvPr/>
        </p:nvCxnSpPr>
        <p:spPr>
          <a:xfrm>
            <a:off x="1256630" y="2735179"/>
            <a:ext cx="909052" cy="0"/>
          </a:xfrm>
          <a:prstGeom prst="straightConnector1">
            <a:avLst/>
          </a:prstGeom>
          <a:ln w="762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524000" y="1290958"/>
            <a:ext cx="36896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T: R(A), W(A) </a:t>
            </a:r>
          </a:p>
        </p:txBody>
      </p:sp>
    </p:spTree>
    <p:extLst>
      <p:ext uri="{BB962C8B-B14F-4D97-AF65-F5344CB8AC3E}">
        <p14:creationId xmlns:p14="http://schemas.microsoft.com/office/powerpoint/2010/main" val="146457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picture of logging</a:t>
            </a:r>
          </a:p>
        </p:txBody>
      </p:sp>
      <p:sp>
        <p:nvSpPr>
          <p:cNvPr id="4" name="Can 3"/>
          <p:cNvSpPr/>
          <p:nvPr/>
        </p:nvSpPr>
        <p:spPr>
          <a:xfrm>
            <a:off x="2165683" y="4920748"/>
            <a:ext cx="3114845" cy="1470526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Data on Disk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8736" y="2354011"/>
            <a:ext cx="6149473" cy="1858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+mj-lt"/>
              </a:rPr>
              <a:t>Main Memory</a:t>
            </a:r>
          </a:p>
        </p:txBody>
      </p:sp>
      <p:sp>
        <p:nvSpPr>
          <p:cNvPr id="6" name="Can 5"/>
          <p:cNvSpPr/>
          <p:nvPr/>
        </p:nvSpPr>
        <p:spPr>
          <a:xfrm>
            <a:off x="6149472" y="4920748"/>
            <a:ext cx="2058737" cy="1470526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Log on Disk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5502438" y="2354011"/>
            <a:ext cx="2705771" cy="6951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+mj-lt"/>
              </a:rPr>
              <a:t>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354012"/>
            <a:ext cx="13635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+mj-lt"/>
              </a:rPr>
              <a:t>T </a:t>
            </a:r>
          </a:p>
        </p:txBody>
      </p:sp>
      <p:sp>
        <p:nvSpPr>
          <p:cNvPr id="10" name="Oval 9"/>
          <p:cNvSpPr/>
          <p:nvPr/>
        </p:nvSpPr>
        <p:spPr>
          <a:xfrm>
            <a:off x="2165682" y="2447590"/>
            <a:ext cx="1243264" cy="57484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A=1</a:t>
            </a:r>
          </a:p>
        </p:txBody>
      </p:sp>
      <p:sp>
        <p:nvSpPr>
          <p:cNvPr id="14" name="Oval 13"/>
          <p:cNvSpPr/>
          <p:nvPr/>
        </p:nvSpPr>
        <p:spPr>
          <a:xfrm>
            <a:off x="2165682" y="3174832"/>
            <a:ext cx="1243264" cy="57484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B=5</a:t>
            </a:r>
          </a:p>
        </p:txBody>
      </p:sp>
      <p:sp>
        <p:nvSpPr>
          <p:cNvPr id="15" name="Oval 14"/>
          <p:cNvSpPr/>
          <p:nvPr/>
        </p:nvSpPr>
        <p:spPr>
          <a:xfrm>
            <a:off x="2219156" y="5027694"/>
            <a:ext cx="1323475" cy="57484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A=0</a:t>
            </a:r>
          </a:p>
        </p:txBody>
      </p:sp>
      <p:cxnSp>
        <p:nvCxnSpPr>
          <p:cNvPr id="17" name="Straight Arrow Connector 16"/>
          <p:cNvCxnSpPr>
            <a:endCxn id="10" idx="2"/>
          </p:cNvCxnSpPr>
          <p:nvPr/>
        </p:nvCxnSpPr>
        <p:spPr>
          <a:xfrm>
            <a:off x="1256630" y="2735011"/>
            <a:ext cx="909052" cy="0"/>
          </a:xfrm>
          <a:prstGeom prst="straightConnector1">
            <a:avLst/>
          </a:prstGeom>
          <a:ln w="762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524000" y="1290958"/>
            <a:ext cx="36896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T: R(A), W(A)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5389" y="1690688"/>
            <a:ext cx="1711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A: 0</a:t>
            </a:r>
            <a:r>
              <a:rPr lang="en-US" sz="2800" dirty="0">
                <a:latin typeface="+mj-lt"/>
                <a:sym typeface="Wingdings"/>
              </a:rPr>
              <a:t>1</a:t>
            </a:r>
            <a:endParaRPr lang="en-US" sz="2800" dirty="0">
              <a:latin typeface="+mj-l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502437" y="2360699"/>
            <a:ext cx="286088" cy="71494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891023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picture of logging</a:t>
            </a:r>
          </a:p>
        </p:txBody>
      </p:sp>
      <p:sp>
        <p:nvSpPr>
          <p:cNvPr id="4" name="Can 3"/>
          <p:cNvSpPr/>
          <p:nvPr/>
        </p:nvSpPr>
        <p:spPr>
          <a:xfrm>
            <a:off x="2165683" y="4920748"/>
            <a:ext cx="3114845" cy="1470526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Data on Disk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8736" y="2354011"/>
            <a:ext cx="6149473" cy="1858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+mj-lt"/>
              </a:rPr>
              <a:t>Main Memory</a:t>
            </a:r>
          </a:p>
        </p:txBody>
      </p:sp>
      <p:sp>
        <p:nvSpPr>
          <p:cNvPr id="6" name="Can 5"/>
          <p:cNvSpPr/>
          <p:nvPr/>
        </p:nvSpPr>
        <p:spPr>
          <a:xfrm>
            <a:off x="6149472" y="4920748"/>
            <a:ext cx="2058737" cy="1470526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Log on Disk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5502438" y="2354011"/>
            <a:ext cx="2705771" cy="6951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+mj-lt"/>
              </a:rPr>
              <a:t>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354012"/>
            <a:ext cx="13635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+mj-lt"/>
              </a:rPr>
              <a:t>T </a:t>
            </a:r>
          </a:p>
        </p:txBody>
      </p:sp>
      <p:sp>
        <p:nvSpPr>
          <p:cNvPr id="10" name="Oval 9"/>
          <p:cNvSpPr/>
          <p:nvPr/>
        </p:nvSpPr>
        <p:spPr>
          <a:xfrm>
            <a:off x="2165682" y="2447590"/>
            <a:ext cx="1243264" cy="57484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A=1</a:t>
            </a:r>
          </a:p>
        </p:txBody>
      </p:sp>
      <p:sp>
        <p:nvSpPr>
          <p:cNvPr id="14" name="Oval 13"/>
          <p:cNvSpPr/>
          <p:nvPr/>
        </p:nvSpPr>
        <p:spPr>
          <a:xfrm>
            <a:off x="2165682" y="3174832"/>
            <a:ext cx="1243264" cy="57484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B=5</a:t>
            </a:r>
          </a:p>
        </p:txBody>
      </p:sp>
      <p:sp>
        <p:nvSpPr>
          <p:cNvPr id="15" name="Oval 14"/>
          <p:cNvSpPr/>
          <p:nvPr/>
        </p:nvSpPr>
        <p:spPr>
          <a:xfrm>
            <a:off x="2219156" y="5027694"/>
            <a:ext cx="1323475" cy="57484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A=0</a:t>
            </a:r>
          </a:p>
        </p:txBody>
      </p:sp>
      <p:cxnSp>
        <p:nvCxnSpPr>
          <p:cNvPr id="17" name="Straight Arrow Connector 16"/>
          <p:cNvCxnSpPr>
            <a:endCxn id="10" idx="2"/>
          </p:cNvCxnSpPr>
          <p:nvPr/>
        </p:nvCxnSpPr>
        <p:spPr>
          <a:xfrm>
            <a:off x="1256630" y="2735011"/>
            <a:ext cx="909052" cy="0"/>
          </a:xfrm>
          <a:prstGeom prst="straightConnector1">
            <a:avLst/>
          </a:prstGeom>
          <a:ln w="762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524000" y="1290958"/>
            <a:ext cx="36896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T: R(A), W(A)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5389" y="1690688"/>
            <a:ext cx="1711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A: 0</a:t>
            </a:r>
            <a:r>
              <a:rPr lang="en-US" sz="2800" dirty="0">
                <a:latin typeface="+mj-lt"/>
                <a:sym typeface="Wingdings"/>
              </a:rPr>
              <a:t>1</a:t>
            </a:r>
            <a:endParaRPr lang="en-US" sz="2800" dirty="0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502437" y="2360699"/>
            <a:ext cx="286088" cy="71494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32225" y="2354011"/>
            <a:ext cx="2508159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Operation recorded in log in main memory!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3266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correct way to write this all to disk?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We’ll look at the </a:t>
            </a:r>
            <a:r>
              <a:rPr lang="en-US" i="1" dirty="0"/>
              <a:t>Write-Ahead Logging (WAL) </a:t>
            </a:r>
            <a:r>
              <a:rPr lang="en-US" dirty="0"/>
              <a:t>protocol</a:t>
            </a:r>
          </a:p>
          <a:p>
            <a:endParaRPr lang="en-US" dirty="0"/>
          </a:p>
          <a:p>
            <a:r>
              <a:rPr lang="en-US" dirty="0"/>
              <a:t>We’ll see why it works by looking at other protocols which are incorrect!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39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451600" y="4634022"/>
            <a:ext cx="7288799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+mj-lt"/>
              </a:rPr>
              <a:t>Remember: Key idea is to ensure durability </a:t>
            </a:r>
            <a:r>
              <a:rPr lang="en-US" sz="3000" i="1" dirty="0">
                <a:latin typeface="+mj-lt"/>
              </a:rPr>
              <a:t>while </a:t>
            </a:r>
            <a:r>
              <a:rPr lang="en-US" sz="3000" dirty="0">
                <a:latin typeface="+mj-lt"/>
              </a:rPr>
              <a:t>maintaining our ability to “undo”!</a:t>
            </a:r>
            <a:endParaRPr lang="en-US" sz="3000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8851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09537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Write-Ahead Logging (WAL)</a:t>
            </a:r>
            <a:br>
              <a:rPr lang="en-US" dirty="0"/>
            </a:br>
            <a:r>
              <a:rPr lang="en-US" dirty="0"/>
              <a:t>TXN Commit Protocol</a:t>
            </a:r>
          </a:p>
        </p:txBody>
      </p:sp>
    </p:spTree>
    <p:extLst>
      <p:ext uri="{BB962C8B-B14F-4D97-AF65-F5344CB8AC3E}">
        <p14:creationId xmlns:p14="http://schemas.microsoft.com/office/powerpoint/2010/main" val="16133723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Transaction Commit Process</a:t>
            </a:r>
          </a:p>
        </p:txBody>
      </p:sp>
      <p:sp>
        <p:nvSpPr>
          <p:cNvPr id="35845" name="Rectangle 5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FORCE Write </a:t>
            </a:r>
            <a:r>
              <a:rPr lang="en-US" sz="3200" b="1" dirty="0"/>
              <a:t>commit</a:t>
            </a:r>
            <a:r>
              <a:rPr lang="en-US" sz="3200" dirty="0"/>
              <a:t> record to log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All log records up to last update from this TX are FORCED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Commit() returns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1600" y="5232737"/>
            <a:ext cx="7288799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+mj-lt"/>
              </a:rPr>
              <a:t>Transaction is committed </a:t>
            </a:r>
            <a:r>
              <a:rPr lang="en-US" sz="3000" i="1" dirty="0">
                <a:latin typeface="+mj-lt"/>
              </a:rPr>
              <a:t>once commit log record is on stable storage</a:t>
            </a:r>
          </a:p>
        </p:txBody>
      </p:sp>
    </p:spTree>
    <p:extLst>
      <p:ext uri="{BB962C8B-B14F-4D97-AF65-F5344CB8AC3E}">
        <p14:creationId xmlns:p14="http://schemas.microsoft.com/office/powerpoint/2010/main" val="1820206481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 uiExpand="1" build="p"/>
      <p:bldP spid="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Incorrect Commit Protocol #1</a:t>
            </a:r>
          </a:p>
        </p:txBody>
      </p:sp>
      <p:sp>
        <p:nvSpPr>
          <p:cNvPr id="4" name="Can 3"/>
          <p:cNvSpPr/>
          <p:nvPr/>
        </p:nvSpPr>
        <p:spPr>
          <a:xfrm>
            <a:off x="2165683" y="5110416"/>
            <a:ext cx="3114845" cy="1470526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Data on Disk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8736" y="2543679"/>
            <a:ext cx="6149473" cy="1858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+mj-lt"/>
              </a:rPr>
              <a:t>Main Memory</a:t>
            </a:r>
          </a:p>
        </p:txBody>
      </p:sp>
      <p:sp>
        <p:nvSpPr>
          <p:cNvPr id="6" name="Can 5"/>
          <p:cNvSpPr/>
          <p:nvPr/>
        </p:nvSpPr>
        <p:spPr>
          <a:xfrm>
            <a:off x="6149472" y="5110416"/>
            <a:ext cx="2058737" cy="1470526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Log on Disk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5502438" y="2543679"/>
            <a:ext cx="2705771" cy="6951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+mj-lt"/>
              </a:rPr>
              <a:t>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543680"/>
            <a:ext cx="13635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+mj-lt"/>
              </a:rPr>
              <a:t>T </a:t>
            </a:r>
          </a:p>
        </p:txBody>
      </p:sp>
      <p:sp>
        <p:nvSpPr>
          <p:cNvPr id="10" name="Oval 9"/>
          <p:cNvSpPr/>
          <p:nvPr/>
        </p:nvSpPr>
        <p:spPr>
          <a:xfrm>
            <a:off x="2165682" y="2637258"/>
            <a:ext cx="1243264" cy="57484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A=1</a:t>
            </a:r>
          </a:p>
        </p:txBody>
      </p:sp>
      <p:sp>
        <p:nvSpPr>
          <p:cNvPr id="14" name="Oval 13"/>
          <p:cNvSpPr/>
          <p:nvPr/>
        </p:nvSpPr>
        <p:spPr>
          <a:xfrm>
            <a:off x="2165682" y="3364500"/>
            <a:ext cx="1243264" cy="57484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B=5</a:t>
            </a:r>
          </a:p>
        </p:txBody>
      </p:sp>
      <p:sp>
        <p:nvSpPr>
          <p:cNvPr id="15" name="Oval 14"/>
          <p:cNvSpPr/>
          <p:nvPr/>
        </p:nvSpPr>
        <p:spPr>
          <a:xfrm>
            <a:off x="2219156" y="5217362"/>
            <a:ext cx="1323475" cy="57484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A=0</a:t>
            </a:r>
          </a:p>
        </p:txBody>
      </p:sp>
      <p:cxnSp>
        <p:nvCxnSpPr>
          <p:cNvPr id="17" name="Straight Arrow Connector 16"/>
          <p:cNvCxnSpPr>
            <a:endCxn id="10" idx="2"/>
          </p:cNvCxnSpPr>
          <p:nvPr/>
        </p:nvCxnSpPr>
        <p:spPr>
          <a:xfrm>
            <a:off x="1256630" y="2924679"/>
            <a:ext cx="909052" cy="0"/>
          </a:xfrm>
          <a:prstGeom prst="straightConnector1">
            <a:avLst/>
          </a:prstGeom>
          <a:ln w="762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0" y="1681264"/>
            <a:ext cx="36896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+mj-lt"/>
              </a:rPr>
              <a:t>T: R(A), W(A)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5389" y="1880356"/>
            <a:ext cx="1711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A: 0</a:t>
            </a:r>
            <a:r>
              <a:rPr lang="en-US" sz="2800" dirty="0">
                <a:latin typeface="+mj-lt"/>
                <a:sym typeface="Wingdings"/>
              </a:rPr>
              <a:t>1</a:t>
            </a:r>
            <a:endParaRPr lang="en-US" sz="2800" dirty="0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502437" y="2538323"/>
            <a:ext cx="286088" cy="71494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17387" y="2538323"/>
            <a:ext cx="286088" cy="714945"/>
          </a:xfrm>
          <a:prstGeom prst="rec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825844" y="1053014"/>
            <a:ext cx="2960772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Let’s try committing </a:t>
            </a:r>
            <a:r>
              <a:rPr lang="en-US" sz="2400" i="1" dirty="0">
                <a:latin typeface="+mj-lt"/>
              </a:rPr>
              <a:t>before</a:t>
            </a:r>
            <a:r>
              <a:rPr lang="en-US" sz="2400" dirty="0">
                <a:latin typeface="+mj-lt"/>
              </a:rPr>
              <a:t> we’ve written either data or log to disk…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5844" y="3732909"/>
            <a:ext cx="2960772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If we crash now, is T durable?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5844" y="2924679"/>
            <a:ext cx="2348124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b="1" i="1">
                <a:solidFill>
                  <a:srgbClr val="FF0000"/>
                </a:solidFill>
                <a:latin typeface="+mj-lt"/>
              </a:rPr>
              <a:t>OK, Commit!</a:t>
            </a:r>
            <a:endParaRPr lang="en-US" sz="32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825844" y="5089366"/>
            <a:ext cx="2823612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b="1" i="1">
                <a:solidFill>
                  <a:srgbClr val="FF0000"/>
                </a:solidFill>
                <a:latin typeface="+mj-lt"/>
              </a:rPr>
              <a:t>Lost T’s update!</a:t>
            </a:r>
            <a:endParaRPr lang="en-US" sz="3200" b="1" i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1918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4" grpId="0" animBg="1"/>
      <p:bldP spid="9" grpId="0"/>
      <p:bldP spid="11" grpId="0" animBg="1"/>
      <p:bldP spid="20" grpId="0" animBg="1"/>
      <p:bldP spid="20" grpId="1" animBg="1"/>
      <p:bldP spid="24" grpId="0" animBg="1"/>
      <p:bldP spid="25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Incorrect Commit Protocol #2</a:t>
            </a:r>
          </a:p>
        </p:txBody>
      </p:sp>
      <p:sp>
        <p:nvSpPr>
          <p:cNvPr id="4" name="Can 3"/>
          <p:cNvSpPr/>
          <p:nvPr/>
        </p:nvSpPr>
        <p:spPr>
          <a:xfrm>
            <a:off x="2165683" y="5110416"/>
            <a:ext cx="3114845" cy="1470526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Data on Disk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8736" y="2543679"/>
            <a:ext cx="6149473" cy="1858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+mj-lt"/>
              </a:rPr>
              <a:t>Main Memory</a:t>
            </a:r>
          </a:p>
        </p:txBody>
      </p:sp>
      <p:sp>
        <p:nvSpPr>
          <p:cNvPr id="6" name="Can 5"/>
          <p:cNvSpPr/>
          <p:nvPr/>
        </p:nvSpPr>
        <p:spPr>
          <a:xfrm>
            <a:off x="6149472" y="5110416"/>
            <a:ext cx="2058737" cy="1470526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Log on Disk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5502438" y="2543679"/>
            <a:ext cx="2705771" cy="6951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+mj-lt"/>
              </a:rPr>
              <a:t>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543680"/>
            <a:ext cx="13635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+mj-lt"/>
              </a:rPr>
              <a:t>T </a:t>
            </a:r>
          </a:p>
        </p:txBody>
      </p:sp>
      <p:sp>
        <p:nvSpPr>
          <p:cNvPr id="10" name="Oval 9"/>
          <p:cNvSpPr/>
          <p:nvPr/>
        </p:nvSpPr>
        <p:spPr>
          <a:xfrm>
            <a:off x="2165682" y="2637258"/>
            <a:ext cx="1243264" cy="57484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A=1</a:t>
            </a:r>
          </a:p>
        </p:txBody>
      </p:sp>
      <p:sp>
        <p:nvSpPr>
          <p:cNvPr id="14" name="Oval 13"/>
          <p:cNvSpPr/>
          <p:nvPr/>
        </p:nvSpPr>
        <p:spPr>
          <a:xfrm>
            <a:off x="2165682" y="3364500"/>
            <a:ext cx="1243264" cy="57484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B=5</a:t>
            </a:r>
          </a:p>
        </p:txBody>
      </p:sp>
      <p:sp>
        <p:nvSpPr>
          <p:cNvPr id="15" name="Oval 14"/>
          <p:cNvSpPr/>
          <p:nvPr/>
        </p:nvSpPr>
        <p:spPr>
          <a:xfrm>
            <a:off x="2219156" y="5217362"/>
            <a:ext cx="1323475" cy="57484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A=0</a:t>
            </a:r>
          </a:p>
        </p:txBody>
      </p:sp>
      <p:cxnSp>
        <p:nvCxnSpPr>
          <p:cNvPr id="17" name="Straight Arrow Connector 16"/>
          <p:cNvCxnSpPr>
            <a:endCxn id="10" idx="2"/>
          </p:cNvCxnSpPr>
          <p:nvPr/>
        </p:nvCxnSpPr>
        <p:spPr>
          <a:xfrm>
            <a:off x="1256630" y="2924679"/>
            <a:ext cx="909052" cy="0"/>
          </a:xfrm>
          <a:prstGeom prst="straightConnector1">
            <a:avLst/>
          </a:prstGeom>
          <a:ln w="762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0" y="1681264"/>
            <a:ext cx="36896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+mj-lt"/>
              </a:rPr>
              <a:t>T: R(A), W(A)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5389" y="1880356"/>
            <a:ext cx="1711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A: 0</a:t>
            </a:r>
            <a:r>
              <a:rPr lang="en-US" sz="2800" dirty="0">
                <a:latin typeface="+mj-lt"/>
                <a:sym typeface="Wingdings"/>
              </a:rPr>
              <a:t>1</a:t>
            </a:r>
            <a:endParaRPr lang="en-US" sz="2800" dirty="0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502437" y="2538323"/>
            <a:ext cx="286088" cy="71494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17387" y="2538323"/>
            <a:ext cx="286088" cy="714945"/>
          </a:xfrm>
          <a:prstGeom prst="rec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825844" y="1053014"/>
            <a:ext cx="2960772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Let’s try committing </a:t>
            </a:r>
            <a:r>
              <a:rPr lang="en-US" sz="2400" i="1" dirty="0">
                <a:latin typeface="+mj-lt"/>
              </a:rPr>
              <a:t>after</a:t>
            </a:r>
            <a:r>
              <a:rPr lang="en-US" sz="2400" dirty="0">
                <a:latin typeface="+mj-lt"/>
              </a:rPr>
              <a:t> we’ve written data but </a:t>
            </a:r>
            <a:r>
              <a:rPr lang="en-US" sz="2400" i="1" dirty="0">
                <a:latin typeface="+mj-lt"/>
              </a:rPr>
              <a:t>before</a:t>
            </a:r>
            <a:r>
              <a:rPr lang="en-US" sz="2400" dirty="0">
                <a:latin typeface="+mj-lt"/>
              </a:rPr>
              <a:t> we’ve written log to disk…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04504" y="3939342"/>
            <a:ext cx="3182112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If we crash now, is T durable?  Yes!  Except…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5844" y="2924679"/>
            <a:ext cx="2348124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b="1" i="1">
                <a:solidFill>
                  <a:srgbClr val="FF0000"/>
                </a:solidFill>
                <a:latin typeface="+mj-lt"/>
              </a:rPr>
              <a:t>OK, Commit!</a:t>
            </a:r>
            <a:endParaRPr lang="en-US" sz="32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734404" y="5156693"/>
            <a:ext cx="3052212" cy="15696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b="1" i="1">
                <a:solidFill>
                  <a:srgbClr val="FF0000"/>
                </a:solidFill>
                <a:latin typeface="+mj-lt"/>
              </a:rPr>
              <a:t>How do we know whether T was committed??</a:t>
            </a:r>
            <a:endParaRPr lang="en-US" sz="3200" b="1" i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93598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1.11111E-6 L -0.00053 0.3763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881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4" grpId="0" animBg="1"/>
      <p:bldP spid="15" grpId="0" animBg="1"/>
      <p:bldP spid="9" grpId="0"/>
      <p:bldP spid="11" grpId="0" animBg="1"/>
      <p:bldP spid="20" grpId="0" animBg="1"/>
      <p:bldP spid="20" grpId="1" animBg="1"/>
      <p:bldP spid="24" grpId="0" animBg="1"/>
      <p:bldP spid="25" grpId="0" animBg="1"/>
      <p:bldP spid="27" grpId="0" animBg="1"/>
      <p:bldP spid="2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426299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Improved Commit Protocol (WAL)</a:t>
            </a:r>
          </a:p>
        </p:txBody>
      </p:sp>
    </p:spTree>
    <p:extLst>
      <p:ext uri="{BB962C8B-B14F-4D97-AF65-F5344CB8AC3E}">
        <p14:creationId xmlns:p14="http://schemas.microsoft.com/office/powerpoint/2010/main" val="13713130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Write-ahead Logging (WAL) Commit Protocol</a:t>
            </a:r>
          </a:p>
        </p:txBody>
      </p:sp>
      <p:sp>
        <p:nvSpPr>
          <p:cNvPr id="4" name="Can 3"/>
          <p:cNvSpPr/>
          <p:nvPr/>
        </p:nvSpPr>
        <p:spPr>
          <a:xfrm>
            <a:off x="2165683" y="5110416"/>
            <a:ext cx="3114845" cy="1470526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Data on Disk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8736" y="2543679"/>
            <a:ext cx="6149473" cy="1858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+mj-lt"/>
              </a:rPr>
              <a:t>Main Memory</a:t>
            </a:r>
          </a:p>
        </p:txBody>
      </p:sp>
      <p:sp>
        <p:nvSpPr>
          <p:cNvPr id="6" name="Can 5"/>
          <p:cNvSpPr/>
          <p:nvPr/>
        </p:nvSpPr>
        <p:spPr>
          <a:xfrm>
            <a:off x="6149472" y="5110416"/>
            <a:ext cx="2058737" cy="1470526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Log on Disk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5502438" y="2543679"/>
            <a:ext cx="2705771" cy="6951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+mj-lt"/>
              </a:rPr>
              <a:t>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543680"/>
            <a:ext cx="13635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+mj-lt"/>
              </a:rPr>
              <a:t>T </a:t>
            </a:r>
          </a:p>
        </p:txBody>
      </p:sp>
      <p:sp>
        <p:nvSpPr>
          <p:cNvPr id="10" name="Oval 9"/>
          <p:cNvSpPr/>
          <p:nvPr/>
        </p:nvSpPr>
        <p:spPr>
          <a:xfrm>
            <a:off x="2165682" y="2637258"/>
            <a:ext cx="1243264" cy="57484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A=1</a:t>
            </a:r>
          </a:p>
        </p:txBody>
      </p:sp>
      <p:sp>
        <p:nvSpPr>
          <p:cNvPr id="14" name="Oval 13"/>
          <p:cNvSpPr/>
          <p:nvPr/>
        </p:nvSpPr>
        <p:spPr>
          <a:xfrm>
            <a:off x="2165682" y="3364500"/>
            <a:ext cx="1243264" cy="57484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B=5</a:t>
            </a:r>
          </a:p>
        </p:txBody>
      </p:sp>
      <p:sp>
        <p:nvSpPr>
          <p:cNvPr id="15" name="Oval 14"/>
          <p:cNvSpPr/>
          <p:nvPr/>
        </p:nvSpPr>
        <p:spPr>
          <a:xfrm>
            <a:off x="2219156" y="5217362"/>
            <a:ext cx="1323475" cy="57484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A=0</a:t>
            </a:r>
          </a:p>
        </p:txBody>
      </p:sp>
      <p:cxnSp>
        <p:nvCxnSpPr>
          <p:cNvPr id="17" name="Straight Arrow Connector 16"/>
          <p:cNvCxnSpPr>
            <a:endCxn id="10" idx="2"/>
          </p:cNvCxnSpPr>
          <p:nvPr/>
        </p:nvCxnSpPr>
        <p:spPr>
          <a:xfrm>
            <a:off x="1256630" y="2924679"/>
            <a:ext cx="909052" cy="0"/>
          </a:xfrm>
          <a:prstGeom prst="straightConnector1">
            <a:avLst/>
          </a:prstGeom>
          <a:ln w="762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0" y="1681264"/>
            <a:ext cx="36896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+mj-lt"/>
              </a:rPr>
              <a:t>T: R(A), W(A)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355389" y="1880356"/>
            <a:ext cx="1711158" cy="1372912"/>
            <a:chOff x="5355389" y="1880356"/>
            <a:chExt cx="1711158" cy="1372912"/>
          </a:xfrm>
        </p:grpSpPr>
        <p:sp>
          <p:nvSpPr>
            <p:cNvPr id="9" name="TextBox 8"/>
            <p:cNvSpPr txBox="1"/>
            <p:nvPr/>
          </p:nvSpPr>
          <p:spPr>
            <a:xfrm>
              <a:off x="5355389" y="1880356"/>
              <a:ext cx="17111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+mj-lt"/>
                </a:rPr>
                <a:t>A: 0</a:t>
              </a:r>
              <a:r>
                <a:rPr lang="en-US" sz="2800" dirty="0">
                  <a:latin typeface="+mj-lt"/>
                  <a:sym typeface="Wingdings"/>
                </a:rPr>
                <a:t>1</a:t>
              </a:r>
              <a:endParaRPr lang="en-US" sz="2800" dirty="0">
                <a:latin typeface="+mj-lt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502437" y="2538323"/>
              <a:ext cx="286088" cy="714945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817387" y="2538323"/>
              <a:ext cx="286088" cy="714945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8507712" y="1461560"/>
            <a:ext cx="3291840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This time, let’s try committing </a:t>
            </a:r>
            <a:r>
              <a:rPr lang="en-US" sz="2400" b="1" i="1" u="sng" dirty="0">
                <a:latin typeface="+mj-lt"/>
              </a:rPr>
              <a:t>after</a:t>
            </a:r>
            <a:r>
              <a:rPr lang="en-US" sz="2400" b="1" u="sng" dirty="0">
                <a:latin typeface="+mj-lt"/>
              </a:rPr>
              <a:t> we’ve written log to disk but </a:t>
            </a:r>
            <a:r>
              <a:rPr lang="en-US" sz="2400" b="1" i="1" u="sng" dirty="0">
                <a:latin typeface="+mj-lt"/>
              </a:rPr>
              <a:t>before</a:t>
            </a:r>
            <a:r>
              <a:rPr lang="en-US" sz="2400" b="1" u="sng" dirty="0">
                <a:latin typeface="+mj-lt"/>
              </a:rPr>
              <a:t> we’ve written data to disk</a:t>
            </a:r>
            <a:r>
              <a:rPr lang="en-US" sz="2400" dirty="0">
                <a:latin typeface="+mj-lt"/>
              </a:rPr>
              <a:t>… this is WAL!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7712" y="4325696"/>
            <a:ext cx="3182112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If we crash now, is T durable?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7712" y="3552988"/>
            <a:ext cx="2348124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b="1" i="1">
                <a:solidFill>
                  <a:srgbClr val="FF0000"/>
                </a:solidFill>
                <a:latin typeface="+mj-lt"/>
              </a:rPr>
              <a:t>OK, Commit!</a:t>
            </a:r>
            <a:endParaRPr lang="en-US" sz="3200" b="1" i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2487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07407E-6 L 0.07787 0.3710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93" y="185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4" grpId="0" animBg="1"/>
      <p:bldP spid="24" grpId="0" animBg="1"/>
      <p:bldP spid="25" grpId="0" animBg="1"/>
      <p:bldP spid="2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Write-ahead Logging (WAL) Commit Protocol</a:t>
            </a:r>
          </a:p>
        </p:txBody>
      </p:sp>
      <p:sp>
        <p:nvSpPr>
          <p:cNvPr id="4" name="Can 3"/>
          <p:cNvSpPr/>
          <p:nvPr/>
        </p:nvSpPr>
        <p:spPr>
          <a:xfrm>
            <a:off x="2165683" y="5110416"/>
            <a:ext cx="3114845" cy="1470526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Data on Disk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8736" y="2543679"/>
            <a:ext cx="6149473" cy="1858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+mj-lt"/>
              </a:rPr>
              <a:t>Main Memory</a:t>
            </a:r>
          </a:p>
        </p:txBody>
      </p:sp>
      <p:sp>
        <p:nvSpPr>
          <p:cNvPr id="6" name="Can 5"/>
          <p:cNvSpPr/>
          <p:nvPr/>
        </p:nvSpPr>
        <p:spPr>
          <a:xfrm>
            <a:off x="6149472" y="5110416"/>
            <a:ext cx="2058737" cy="1470526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Log on Disk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543680"/>
            <a:ext cx="13635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+mj-lt"/>
              </a:rPr>
              <a:t>T </a:t>
            </a:r>
          </a:p>
        </p:txBody>
      </p:sp>
      <p:sp>
        <p:nvSpPr>
          <p:cNvPr id="15" name="Oval 14"/>
          <p:cNvSpPr/>
          <p:nvPr/>
        </p:nvSpPr>
        <p:spPr>
          <a:xfrm>
            <a:off x="2219156" y="5217362"/>
            <a:ext cx="1323475" cy="57484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A=0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1256630" y="2924679"/>
            <a:ext cx="909052" cy="0"/>
          </a:xfrm>
          <a:prstGeom prst="straightConnector1">
            <a:avLst/>
          </a:prstGeom>
          <a:ln w="762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0" y="1681264"/>
            <a:ext cx="36896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+mj-lt"/>
              </a:rPr>
              <a:t>T: R(A), W(A)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290960" y="4419292"/>
            <a:ext cx="1711158" cy="1372912"/>
            <a:chOff x="5355389" y="1880356"/>
            <a:chExt cx="1711158" cy="1372912"/>
          </a:xfrm>
        </p:grpSpPr>
        <p:sp>
          <p:nvSpPr>
            <p:cNvPr id="9" name="TextBox 8"/>
            <p:cNvSpPr txBox="1"/>
            <p:nvPr/>
          </p:nvSpPr>
          <p:spPr>
            <a:xfrm>
              <a:off x="5355389" y="1880356"/>
              <a:ext cx="17111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+mj-lt"/>
                </a:rPr>
                <a:t>A: 0</a:t>
              </a:r>
              <a:r>
                <a:rPr lang="en-US" sz="2800" dirty="0">
                  <a:latin typeface="+mj-lt"/>
                  <a:sym typeface="Wingdings"/>
                </a:rPr>
                <a:t>1</a:t>
              </a:r>
              <a:endParaRPr lang="en-US" sz="2800" dirty="0">
                <a:latin typeface="+mj-lt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502437" y="2538323"/>
              <a:ext cx="286088" cy="714945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817387" y="2538323"/>
              <a:ext cx="286088" cy="714945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8507712" y="1461560"/>
            <a:ext cx="3291840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This time, let’s try committing </a:t>
            </a:r>
            <a:r>
              <a:rPr lang="en-US" sz="2400" b="1" i="1" u="sng" dirty="0">
                <a:latin typeface="+mj-lt"/>
              </a:rPr>
              <a:t>after</a:t>
            </a:r>
            <a:r>
              <a:rPr lang="en-US" sz="2400" b="1" u="sng" dirty="0">
                <a:latin typeface="+mj-lt"/>
              </a:rPr>
              <a:t> we’ve written log to disk but </a:t>
            </a:r>
            <a:r>
              <a:rPr lang="en-US" sz="2400" b="1" i="1" u="sng" dirty="0">
                <a:latin typeface="+mj-lt"/>
              </a:rPr>
              <a:t>before</a:t>
            </a:r>
            <a:r>
              <a:rPr lang="en-US" sz="2400" b="1" u="sng" dirty="0">
                <a:latin typeface="+mj-lt"/>
              </a:rPr>
              <a:t> we’ve written data to disk</a:t>
            </a:r>
            <a:r>
              <a:rPr lang="en-US" sz="2400" dirty="0">
                <a:latin typeface="+mj-lt"/>
              </a:rPr>
              <a:t>… this is WAL!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7712" y="4325696"/>
            <a:ext cx="3182112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If we crash now, is T durable?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7712" y="3552988"/>
            <a:ext cx="2348124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b="1" i="1">
                <a:solidFill>
                  <a:srgbClr val="FF0000"/>
                </a:solidFill>
                <a:latin typeface="+mj-lt"/>
              </a:rPr>
              <a:t>OK, Commit!</a:t>
            </a:r>
            <a:endParaRPr lang="en-US" sz="32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07712" y="5504783"/>
            <a:ext cx="2619396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b="1" i="1">
                <a:solidFill>
                  <a:srgbClr val="00B050"/>
                </a:solidFill>
                <a:latin typeface="+mj-lt"/>
              </a:rPr>
              <a:t>USE THE LOG!</a:t>
            </a:r>
            <a:endParaRPr lang="en-US" sz="3200" b="1" i="1" dirty="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2283164" y="5217362"/>
            <a:ext cx="1243264" cy="57484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+mj-lt"/>
              </a:rPr>
              <a:t>A=1</a:t>
            </a:r>
          </a:p>
        </p:txBody>
      </p:sp>
    </p:spTree>
    <p:extLst>
      <p:ext uri="{BB962C8B-B14F-4D97-AF65-F5344CB8AC3E}">
        <p14:creationId xmlns:p14="http://schemas.microsoft.com/office/powerpoint/2010/main" val="133633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4.44444E-6 C 0.00247 -0.00023 0.00286 0.00186 -0.00677 -0.00393 C -0.01055 -0.00625 -0.0099 -0.00694 -0.01354 -0.0081 C -0.0155 -0.00856 -0.01758 -0.00856 -0.01953 -0.00925 C -0.02162 -0.00995 -0.02357 -0.01088 -0.02552 -0.01203 C -0.0263 -0.0125 -0.02696 -0.01296 -0.02774 -0.01342 C -0.0293 -0.01388 -0.03073 -0.01412 -0.03229 -0.01458 C -0.03425 -0.0155 -0.03633 -0.0162 -0.03828 -0.01736 C -0.03906 -0.01782 -0.03972 -0.01851 -0.0405 -0.01875 C -0.04245 -0.01921 -0.04453 -0.01944 -0.04649 -0.0199 C -0.04857 -0.0206 -0.05065 -0.02222 -0.05248 -0.02268 C -0.05456 -0.02314 -0.0569 -0.02338 -0.05847 -0.02407 C -0.06107 -0.02476 -0.06641 -0.02662 -0.06641 -0.02638 C -0.06706 -0.02754 -0.06797 -0.0287 -0.06953 -0.02939 C -0.07018 -0.03009 -0.07149 -0.03009 -0.07279 -0.03055 C -0.08229 -0.03449 -0.06823 -0.02939 -0.07956 -0.03333 C -0.08203 -0.03634 -0.08216 -0.0368 -0.08555 -0.03865 C -0.08672 -0.03935 -0.08828 -0.03935 -0.08932 -0.04004 C -0.0918 -0.04143 -0.09453 -0.04328 -0.09675 -0.04537 C -0.09883 -0.04699 -0.10065 -0.04976 -0.10274 -0.05069 C -0.10378 -0.05115 -0.10482 -0.05138 -0.10573 -0.05208 C -0.10677 -0.05277 -0.10781 -0.0537 -0.10873 -0.05463 C -0.10951 -0.05555 -0.11016 -0.05671 -0.11107 -0.0574 C -0.11224 -0.0581 -0.11354 -0.0581 -0.11472 -0.05856 C -0.1155 -0.05949 -0.11628 -0.06064 -0.11706 -0.06134 C -0.12031 -0.06435 -0.12097 -0.06412 -0.12448 -0.06527 C -0.12852 -0.0699 -0.12487 -0.06643 -0.12982 -0.06921 C -0.13099 -0.07013 -0.13229 -0.07129 -0.13347 -0.07199 C -0.13451 -0.07245 -0.13763 -0.07361 -0.1388 -0.07476 C -0.14037 -0.07615 -0.1418 -0.07824 -0.14323 -0.08009 C -0.14401 -0.08078 -0.14466 -0.08217 -0.14557 -0.08263 C -0.14675 -0.08356 -0.14805 -0.08425 -0.14922 -0.08541 C -0.1513 -0.08703 -0.15326 -0.08912 -0.15534 -0.09074 C -0.15651 -0.09143 -0.15781 -0.09236 -0.15899 -0.09328 C -0.16107 -0.0949 -0.16289 -0.09722 -0.16498 -0.09861 C -0.16628 -0.09953 -0.16758 -0.10046 -0.16875 -0.10138 C -0.17123 -0.103 -0.17487 -0.10463 -0.17709 -0.10532 C -0.17826 -0.10578 -0.17956 -0.10648 -0.18073 -0.10671 C -0.1875 -0.10787 -0.19427 -0.1081 -0.20104 -0.10925 L -0.20781 -0.11064 L -0.24076 -0.10925 C -0.24232 -0.10925 -0.24375 -0.10856 -0.24531 -0.1081 C -0.24688 -0.1074 -0.24974 -0.10532 -0.24974 -0.10509 C -0.25078 -0.10393 -0.25182 -0.10254 -0.25274 -0.10138 C -0.25352 -0.10046 -0.25443 -0.1 -0.25508 -0.09861 C -0.25547 -0.09745 -0.25547 -0.09606 -0.25573 -0.09467 C -0.25547 -0.09328 -0.2556 -0.09166 -0.25508 -0.09074 C -0.25274 -0.08657 -0.25052 -0.08611 -0.24753 -0.08541 C -0.24584 -0.08472 -0.24401 -0.08449 -0.24232 -0.08402 C -0.23776 -0.08449 -0.23321 -0.08425 -0.22878 -0.08541 C -0.22669 -0.08588 -0.22357 -0.08935 -0.22201 -0.09189 C -0.21927 -0.09675 -0.22044 -0.09675 -0.21823 -0.10138 C -0.21341 -0.11157 -0.21823 -0.0993 -0.21459 -0.10925 C -0.21367 -0.11851 -0.21302 -0.12129 -0.21459 -0.13194 C -0.21498 -0.13541 -0.21823 -0.14213 -0.21979 -0.14398 C -0.22084 -0.14537 -0.22227 -0.1456 -0.22357 -0.14675 C -0.22487 -0.14791 -0.22604 -0.1493 -0.22722 -0.15069 C -0.22878 -0.15208 -0.23034 -0.15324 -0.23177 -0.15463 C -0.23307 -0.15578 -0.23425 -0.15763 -0.23555 -0.15856 C -0.23724 -0.15995 -0.23906 -0.16018 -0.24076 -0.16134 C -0.24336 -0.16296 -0.24557 -0.16574 -0.24831 -0.16666 C -0.25404 -0.16875 -0.25078 -0.16759 -0.25807 -0.16921 C -0.26354 -0.16898 -0.26901 -0.16875 -0.27448 -0.16805 C -0.27552 -0.16782 -0.27656 -0.16713 -0.27748 -0.16666 C -0.27904 -0.16574 -0.28073 -0.1655 -0.28203 -0.16388 C -0.28776 -0.15717 -0.28529 -0.16088 -0.28959 -0.15324 C -0.28985 -0.15208 -0.28985 -0.15046 -0.29024 -0.1493 C -0.29115 -0.14699 -0.29258 -0.14513 -0.29323 -0.14259 C -0.29388 -0.14074 -0.29375 -0.13819 -0.29401 -0.13588 C -0.29453 -0.1324 -0.29557 -0.12523 -0.29557 -0.125 C -0.29505 -0.12222 -0.29518 -0.11851 -0.29401 -0.11597 C -0.29323 -0.11435 -0.29154 -0.11458 -0.29024 -0.11458 C -0.2875 -0.11458 -0.28477 -0.1155 -0.28203 -0.11597 C -0.27865 -0.11805 -0.27995 -0.1162 -0.27826 -0.12407 C -0.27774 -0.12662 -0.27682 -0.13194 -0.27682 -0.13171 C -0.27709 -0.13865 -0.27669 -0.14537 -0.27748 -0.15208 C -0.27774 -0.15416 -0.27904 -0.15555 -0.27982 -0.1574 C -0.28112 -0.16064 -0.28151 -0.16273 -0.28347 -0.16527 C -0.28438 -0.16643 -0.28555 -0.16713 -0.28659 -0.16805 C -0.28919 -0.17013 -0.29427 -0.17129 -0.29623 -0.17199 C -0.30156 -0.17384 -0.29883 -0.17291 -0.30456 -0.17453 C -0.30899 -0.1743 -0.31354 -0.1743 -0.31797 -0.17338 C -0.32214 -0.17245 -0.32279 -0.16967 -0.3263 -0.16666 C -0.32969 -0.16365 -0.32761 -0.16736 -0.33073 -0.16273 C -0.33451 -0.15717 -0.33138 -0.15972 -0.33529 -0.1574 C -0.33906 -0.14838 -0.33659 -0.15347 -0.34284 -0.14259 L -0.34505 -0.13865 C -0.34557 -0.13634 -0.34597 -0.13425 -0.34649 -0.13194 C -0.34701 -0.13009 -0.34766 -0.12847 -0.34805 -0.12662 C -0.34844 -0.125 -0.34857 -0.12314 -0.34883 -0.12129 C -0.34857 -0.11504 -0.34883 -0.10879 -0.34805 -0.10254 C -0.34779 -0.10046 -0.34662 -0.09907 -0.34584 -0.09722 C -0.34427 -0.09421 -0.34102 -0.08912 -0.33906 -0.08796 L -0.33672 -0.08657 C -0.33438 -0.08703 -0.32865 -0.08564 -0.3263 -0.09074 C -0.32552 -0.09213 -0.32526 -0.09421 -0.32474 -0.09606 C -0.32552 -0.10046 -0.32578 -0.10578 -0.32774 -0.10925 C -0.32839 -0.11041 -0.32917 -0.11134 -0.33008 -0.11203 C -0.33151 -0.11319 -0.33307 -0.11365 -0.33451 -0.11458 L -0.33672 -0.11597 C -0.3405 -0.1155 -0.34427 -0.11574 -0.34805 -0.11458 C -0.3513 -0.11365 -0.35248 -0.11157 -0.35404 -0.10671 C -0.35521 -0.10324 -0.35638 -0.09976 -0.35703 -0.09606 C -0.35886 -0.08657 -0.35768 -0.09027 -0.36003 -0.08402 C -0.36185 -0.07129 -0.36289 -0.06875 -0.36081 -0.05324 C -0.36042 -0.05023 -0.35886 -0.04791 -0.35781 -0.04537 C -0.3556 -0.04027 -0.35534 -0.03912 -0.35248 -0.03472 C -0.35156 -0.0331 -0.35052 -0.03217 -0.34948 -0.03055 C -0.34557 -0.0243 -0.34636 -0.02361 -0.34284 -0.0199 C -0.3418 -0.01898 -0.34076 -0.01828 -0.33985 -0.01736 C -0.33698 -0.01458 -0.3375 -0.01342 -0.33373 -0.01203 C -0.33177 -0.01111 -0.32982 -0.01111 -0.32774 -0.01064 C -0.32604 -0.01111 -0.32409 -0.01064 -0.32253 -0.01203 C -0.32136 -0.01296 -0.32057 -0.01828 -0.32031 -0.0199 C -0.32057 -0.02175 -0.32044 -0.02384 -0.3211 -0.02523 C -0.32149 -0.02662 -0.32253 -0.02731 -0.32331 -0.028 C -0.32656 -0.03101 -0.32722 -0.03078 -0.33073 -0.03194 C -0.3336 -0.03148 -0.33646 -0.03263 -0.33906 -0.03055 C -0.34037 -0.02963 -0.34037 -0.02592 -0.34128 -0.02407 C -0.34193 -0.02268 -0.34284 -0.02222 -0.34349 -0.02129 C -0.34401 -0.0199 -0.34466 -0.01875 -0.34505 -0.01736 C -0.34544 -0.01597 -0.34544 -0.01458 -0.34584 -0.01342 C -0.34623 -0.01111 -0.34675 -0.00879 -0.34727 -0.00671 C -0.34701 -0.00138 -0.34688 0.00394 -0.34649 0.00926 C -0.3461 0.01436 -0.34544 0.01343 -0.34349 0.01737 C -0.34297 0.01852 -0.34258 0.02014 -0.34206 0.0213 C -0.34102 0.02362 -0.33998 0.0257 -0.33906 0.02801 C -0.33854 0.03056 -0.33776 0.03542 -0.33672 0.03727 C -0.33568 0.03959 -0.33425 0.04075 -0.33307 0.0426 C -0.33229 0.04399 -0.33151 0.04514 -0.33073 0.04676 C -0.32995 0.04838 -0.32943 0.05047 -0.32852 0.05209 C -0.32722 0.05417 -0.32539 0.05533 -0.32409 0.05741 C -0.32318 0.05857 -0.32266 0.06019 -0.32175 0.06135 C -0.32084 0.0625 -0.31979 0.06297 -0.31875 0.06412 C -0.3138 0.06899 -0.31641 0.06737 -0.31133 0.07061 C -0.3086 0.07246 -0.30651 0.07362 -0.30378 0.07477 C -0.3013 0.0757 -0.29623 0.07732 -0.29623 0.07755 C -0.2918 0.07639 -0.28724 0.0757 -0.28281 0.07477 C -0.28177 0.07454 -0.28073 0.07408 -0.27982 0.07338 C -0.27891 0.07269 -0.27826 0.07176 -0.27748 0.07061 C -0.27279 0.0632 -0.27305 0.0632 -0.27005 0.05602 C -0.27031 0.05371 -0.27018 0.05139 -0.27084 0.04931 C -0.27149 0.04723 -0.27409 0.04607 -0.27526 0.04537 C -0.27604 0.04676 -0.27696 0.04792 -0.27748 0.04931 C -0.27813 0.05093 -0.27852 0.05301 -0.27904 0.05463 C -0.27943 0.05602 -0.28008 0.05741 -0.28047 0.05857 C -0.28034 0.0632 -0.28073 0.06783 -0.27982 0.072 C -0.27813 0.07871 -0.27552 0.07894 -0.27305 0.08264 C -0.27227 0.0838 -0.27162 0.08565 -0.27084 0.08658 C -0.27018 0.0875 -0.26927 0.08727 -0.26849 0.08797 C -0.26771 0.08866 -0.26706 0.09005 -0.26628 0.09075 C -0.26211 0.09445 -0.25729 0.09561 -0.25274 0.09746 C -0.24883 0.097 -0.24479 0.09676 -0.24076 0.09607 C -0.23946 0.09584 -0.23828 0.09514 -0.23698 0.09468 C -0.23568 0.09422 -0.23307 0.09306 -0.23177 0.0919 C -0.23073 0.09121 -0.22982 0.09005 -0.22878 0.08936 C -0.2237 0.08588 -0.22774 0.08982 -0.22357 0.08658 C -0.22253 0.08588 -0.22162 0.08473 -0.22057 0.08403 C -0.21979 0.08357 -0.21901 0.08334 -0.21823 0.08264 C -0.21185 0.07778 -0.21875 0.08264 -0.21224 0.07593 C -0.20781 0.07153 -0.21172 0.08033 -0.20547 0.06945 L -0.19427 0.04931 L -0.19206 0.04537 C -0.19128 0.04399 -0.19063 0.04237 -0.18972 0.04144 C -0.18776 0.03866 -0.18594 0.03565 -0.18373 0.03334 C -0.18255 0.03195 -0.18125 0.03056 -0.18008 0.0294 C -0.17904 0.02848 -0.178 0.02755 -0.17709 0.02662 C -0.1763 0.02593 -0.17552 0.02477 -0.17474 0.02408 C -0.17409 0.02338 -0.17318 0.02338 -0.17253 0.02269 C -0.16693 0.0176 -0.17071 0.02014 -0.16654 0.01598 C -0.1655 0.01505 -0.16446 0.01436 -0.16354 0.01343 C -0.16276 0.0125 -0.16211 0.01135 -0.16133 0.01065 C -0.16003 0.0095 -0.15873 0.00903 -0.15755 0.00811 C -0.15677 0.00718 -0.15612 0.00602 -0.15534 0.00533 C -0.1461 -0.00185 -0.15482 0.00602 -0.14779 0.00139 C -0.14245 -0.00231 -0.14675 -0.00231 -0.1388 -0.00393 C -0.12826 -0.00625 -0.13477 -0.00509 -0.11927 -0.00671 L -0.09297 -0.00532 L -0.0711 -0.00393 L -0.02175 -0.00254 C -0.01432 -0.00208 -0.00248 0.00024 2.08333E-6 -4.44444E-6 Z " pathEditMode="relative" rAng="0" ptsTypes="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1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034" y="-386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Write-Ahead Logging (WAL)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idx="1"/>
          </p:nvPr>
        </p:nvSpPr>
        <p:spPr>
          <a:xfrm>
            <a:off x="838200" y="1690688"/>
            <a:ext cx="8484046" cy="5014912"/>
          </a:xfrm>
          <a:noFill/>
          <a:ln/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sz="3200" dirty="0"/>
              <a:t>DB uses </a:t>
            </a:r>
            <a:r>
              <a:rPr lang="en-US" sz="3200" b="1" dirty="0"/>
              <a:t>Write-Ahead Logging (WAL)</a:t>
            </a:r>
            <a:r>
              <a:rPr lang="en-US" sz="3200" dirty="0"/>
              <a:t> Protocol: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971550" lvl="1" indent="-514350">
              <a:buAutoNum type="arabicPeriod"/>
            </a:pPr>
            <a:endParaRPr lang="en-US" sz="2800" dirty="0"/>
          </a:p>
          <a:p>
            <a:pPr marL="971550" lvl="1" indent="-514350">
              <a:buAutoNum type="arabicPeriod"/>
            </a:pPr>
            <a:r>
              <a:rPr lang="en-US" sz="2800" dirty="0"/>
              <a:t>Must </a:t>
            </a:r>
            <a:r>
              <a:rPr lang="en-US" sz="2800" i="1" dirty="0"/>
              <a:t>force log record</a:t>
            </a:r>
            <a:r>
              <a:rPr lang="en-US" sz="2800" dirty="0"/>
              <a:t> for an update </a:t>
            </a:r>
            <a:r>
              <a:rPr lang="en-US" sz="2800" i="1" dirty="0"/>
              <a:t>before</a:t>
            </a:r>
            <a:r>
              <a:rPr lang="en-US" sz="2800" dirty="0"/>
              <a:t> the corresponding data page goes to storage</a:t>
            </a:r>
          </a:p>
          <a:p>
            <a:pPr marL="971550" lvl="1" indent="-514350">
              <a:buAutoNum type="arabicPeriod"/>
            </a:pPr>
            <a:endParaRPr lang="en-US" sz="2800" dirty="0"/>
          </a:p>
          <a:p>
            <a:pPr marL="971550" lvl="1" indent="-514350">
              <a:buAutoNum type="arabicPeriod"/>
            </a:pPr>
            <a:r>
              <a:rPr lang="en-US" sz="2800" dirty="0"/>
              <a:t>Must </a:t>
            </a:r>
            <a:r>
              <a:rPr lang="en-US" sz="2800" i="1" dirty="0"/>
              <a:t>write all log records </a:t>
            </a:r>
            <a:r>
              <a:rPr lang="en-US" sz="2800" dirty="0"/>
              <a:t>for a TX </a:t>
            </a:r>
            <a:r>
              <a:rPr lang="en-US" sz="2800" i="1" dirty="0"/>
              <a:t>before</a:t>
            </a:r>
            <a:r>
              <a:rPr lang="en-US" sz="2800" dirty="0"/>
              <a:t> </a:t>
            </a:r>
            <a:r>
              <a:rPr lang="en-US" sz="2800" i="1" dirty="0"/>
              <a:t>commit</a:t>
            </a:r>
            <a:endParaRPr lang="en-US" sz="2800" dirty="0"/>
          </a:p>
        </p:txBody>
      </p:sp>
      <p:sp>
        <p:nvSpPr>
          <p:cNvPr id="2" name="Rectangle 1"/>
          <p:cNvSpPr/>
          <p:nvPr/>
        </p:nvSpPr>
        <p:spPr>
          <a:xfrm>
            <a:off x="9322246" y="1690688"/>
            <a:ext cx="2255466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Each update is logged! Why not reads?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53638" y="3613368"/>
            <a:ext cx="2693385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3200" dirty="0">
                <a:latin typeface="+mj-lt"/>
                <a:sym typeface="Wingdings"/>
              </a:rPr>
              <a:t></a:t>
            </a:r>
            <a:r>
              <a:rPr lang="en-US" sz="3200" dirty="0">
                <a:latin typeface="+mj-lt"/>
              </a:rPr>
              <a:t> </a:t>
            </a:r>
            <a:r>
              <a:rPr lang="en-US" sz="3200" b="1" u="sng" dirty="0">
                <a:latin typeface="+mj-lt"/>
              </a:rPr>
              <a:t>Atomicity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53638" y="4920494"/>
            <a:ext cx="2693385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3200" dirty="0">
                <a:latin typeface="+mj-lt"/>
                <a:sym typeface="Wingdings"/>
              </a:rPr>
              <a:t></a:t>
            </a:r>
            <a:r>
              <a:rPr lang="en-US" sz="3200" dirty="0">
                <a:latin typeface="+mj-lt"/>
              </a:rPr>
              <a:t> </a:t>
            </a:r>
            <a:r>
              <a:rPr lang="en-US" sz="3200" b="1" u="sng" dirty="0">
                <a:latin typeface="+mj-lt"/>
              </a:rPr>
              <a:t>Durability</a:t>
            </a:r>
          </a:p>
        </p:txBody>
      </p:sp>
    </p:spTree>
    <p:extLst>
      <p:ext uri="{BB962C8B-B14F-4D97-AF65-F5344CB8AC3E}">
        <p14:creationId xmlns:p14="http://schemas.microsoft.com/office/powerpoint/2010/main" val="910120123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77317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/>
              <a:t>If DB says TX </a:t>
            </a:r>
            <a:r>
              <a:rPr lang="en-US" sz="3200" b="1" dirty="0"/>
              <a:t>commits</a:t>
            </a:r>
            <a:r>
              <a:rPr lang="en-US" sz="3200" dirty="0"/>
              <a:t>, TX effect </a:t>
            </a:r>
            <a:r>
              <a:rPr lang="en-US" sz="3200" b="1" dirty="0"/>
              <a:t>remains</a:t>
            </a:r>
            <a:r>
              <a:rPr lang="en-US" sz="3200" dirty="0"/>
              <a:t> after database crash</a:t>
            </a:r>
          </a:p>
          <a:p>
            <a:endParaRPr lang="en-US" sz="3200" dirty="0"/>
          </a:p>
          <a:p>
            <a:r>
              <a:rPr lang="en-US" sz="3200" dirty="0"/>
              <a:t>DB can </a:t>
            </a:r>
            <a:r>
              <a:rPr lang="en-US" sz="3200" b="1" dirty="0"/>
              <a:t>undo actions </a:t>
            </a:r>
            <a:r>
              <a:rPr lang="en-US" sz="3200" dirty="0"/>
              <a:t>and help us with </a:t>
            </a:r>
            <a:r>
              <a:rPr lang="en-US" sz="3200" b="1" dirty="0"/>
              <a:t>atomicity</a:t>
            </a:r>
          </a:p>
          <a:p>
            <a:endParaRPr lang="en-US" sz="3200" dirty="0"/>
          </a:p>
          <a:p>
            <a:r>
              <a:rPr lang="en-US" sz="3200" dirty="0"/>
              <a:t>This is only half the story…</a:t>
            </a:r>
          </a:p>
        </p:txBody>
      </p:sp>
    </p:spTree>
    <p:extLst>
      <p:ext uri="{BB962C8B-B14F-4D97-AF65-F5344CB8AC3E}">
        <p14:creationId xmlns:p14="http://schemas.microsoft.com/office/powerpoint/2010/main" val="1984288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865438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/>
              <a:t>Concurrency &amp; Locking</a:t>
            </a:r>
          </a:p>
        </p:txBody>
      </p:sp>
    </p:spTree>
    <p:extLst>
      <p:ext uri="{BB962C8B-B14F-4D97-AF65-F5344CB8AC3E}">
        <p14:creationId xmlns:p14="http://schemas.microsoft.com/office/powerpoint/2010/main" val="17631839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Concurrency, Scheduling &amp; Anomalies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25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Concurrency: Isolation &amp; Consistency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825625"/>
            <a:ext cx="8999483" cy="4351338"/>
          </a:xfrm>
        </p:spPr>
        <p:txBody>
          <a:bodyPr/>
          <a:lstStyle/>
          <a:p>
            <a:r>
              <a:rPr lang="en-US" dirty="0"/>
              <a:t>The DBMS must handle concurrency such that…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sz="2800" b="1" u="sng" dirty="0"/>
              <a:t>I</a:t>
            </a:r>
            <a:r>
              <a:rPr lang="en-US" sz="2800" b="1" dirty="0"/>
              <a:t>solation</a:t>
            </a:r>
            <a:r>
              <a:rPr lang="en-US" sz="2800" dirty="0"/>
              <a:t> is maintained: Users must be able to execute each TXN </a:t>
            </a:r>
            <a:r>
              <a:rPr lang="en-US" sz="2800" b="1" dirty="0"/>
              <a:t>as if they were the only user</a:t>
            </a:r>
          </a:p>
          <a:p>
            <a:pPr lvl="2"/>
            <a:r>
              <a:rPr lang="en-US" sz="2400" dirty="0"/>
              <a:t>DBMS handles the details of </a:t>
            </a:r>
            <a:r>
              <a:rPr lang="en-US" sz="2400" i="1" dirty="0"/>
              <a:t>interleaving</a:t>
            </a:r>
            <a:r>
              <a:rPr lang="en-US" sz="2400" dirty="0"/>
              <a:t> various TXNs</a:t>
            </a:r>
          </a:p>
          <a:p>
            <a:pPr lvl="2"/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sz="2800" b="1" u="sng" dirty="0"/>
          </a:p>
          <a:p>
            <a:pPr marL="914400" lvl="1" indent="-457200">
              <a:buFont typeface="+mj-lt"/>
              <a:buAutoNum type="arabicPeriod"/>
            </a:pPr>
            <a:r>
              <a:rPr lang="en-US" sz="2800" b="1" u="sng" dirty="0"/>
              <a:t>C</a:t>
            </a:r>
            <a:r>
              <a:rPr lang="en-US" sz="2800" b="1" dirty="0"/>
              <a:t>onsistency</a:t>
            </a:r>
            <a:r>
              <a:rPr lang="en-US" sz="2800" dirty="0"/>
              <a:t> is maintained: TXNs must leave the DB in a </a:t>
            </a:r>
            <a:r>
              <a:rPr lang="en-US" sz="2800" b="1" dirty="0"/>
              <a:t>consistent state</a:t>
            </a:r>
          </a:p>
          <a:p>
            <a:pPr lvl="2"/>
            <a:r>
              <a:rPr lang="en-US" sz="2400" dirty="0"/>
              <a:t>DBMS handles the details of enforcing integrity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57693" y="2617076"/>
            <a:ext cx="996107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AC</a:t>
            </a:r>
            <a:r>
              <a:rPr lang="en-US" sz="3200" b="1" u="sng" dirty="0">
                <a:latin typeface="+mj-lt"/>
              </a:rPr>
              <a:t>I</a:t>
            </a:r>
            <a:r>
              <a:rPr lang="en-US" sz="3200" dirty="0">
                <a:latin typeface="+mj-lt"/>
              </a:rPr>
              <a:t>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57693" y="4593020"/>
            <a:ext cx="996107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A</a:t>
            </a:r>
            <a:r>
              <a:rPr lang="en-US" sz="3200" b="1" u="sng" dirty="0">
                <a:latin typeface="+mj-lt"/>
              </a:rPr>
              <a:t>C</a:t>
            </a:r>
            <a:r>
              <a:rPr lang="en-US" sz="3200" dirty="0">
                <a:latin typeface="+mj-lt"/>
              </a:rPr>
              <a:t>ID</a:t>
            </a:r>
          </a:p>
        </p:txBody>
      </p:sp>
    </p:spTree>
    <p:extLst>
      <p:ext uri="{BB962C8B-B14F-4D97-AF65-F5344CB8AC3E}">
        <p14:creationId xmlns:p14="http://schemas.microsoft.com/office/powerpoint/2010/main" val="463329700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the hard part…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52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472069" y="2085417"/>
            <a:ext cx="5247861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>
                <a:latin typeface="+mj-lt"/>
              </a:rPr>
              <a:t>…is the effect of </a:t>
            </a:r>
            <a:r>
              <a:rPr lang="en-US" sz="2800" i="1" dirty="0">
                <a:latin typeface="+mj-lt"/>
              </a:rPr>
              <a:t>interleaving</a:t>
            </a:r>
            <a:r>
              <a:rPr lang="en-US" sz="2800" dirty="0">
                <a:latin typeface="+mj-lt"/>
              </a:rPr>
              <a:t> transactions and </a:t>
            </a:r>
            <a:r>
              <a:rPr lang="en-US" sz="2800" i="1" dirty="0">
                <a:latin typeface="+mj-lt"/>
              </a:rPr>
              <a:t>crashes</a:t>
            </a:r>
            <a:r>
              <a:rPr lang="en-US" sz="2800" dirty="0">
                <a:latin typeface="+mj-lt"/>
              </a:rPr>
              <a:t>.</a:t>
            </a:r>
          </a:p>
          <a:p>
            <a:r>
              <a:rPr lang="en-US" sz="2800" dirty="0">
                <a:latin typeface="+mj-lt"/>
              </a:rPr>
              <a:t>See 245 for the gory details!</a:t>
            </a:r>
          </a:p>
        </p:txBody>
      </p:sp>
    </p:spTree>
    <p:extLst>
      <p:ext uri="{BB962C8B-B14F-4D97-AF65-F5344CB8AC3E}">
        <p14:creationId xmlns:p14="http://schemas.microsoft.com/office/powerpoint/2010/main" val="893664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Example- consider two TXNs:</a:t>
            </a: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543325" y="1690688"/>
            <a:ext cx="4641014" cy="34163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T1: START TRANSACTION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UPDATE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Accounts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Amt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Amt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+ 100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Name = ‘A’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UPDATE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Accounts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Amt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Amt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- 100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Name = ‘B’</a:t>
            </a: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COMMIT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6785269" y="2614018"/>
            <a:ext cx="4826962" cy="15696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400">
                <a:latin typeface="Menlo" charset="0"/>
                <a:ea typeface="Menlo" charset="0"/>
                <a:cs typeface="Menlo" charset="0"/>
              </a:rPr>
              <a:t>T2: 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START TRANSACTION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UPDATE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Accounts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Amt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Amt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* 1.06</a:t>
            </a: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COMMIT</a:t>
            </a:r>
          </a:p>
        </p:txBody>
      </p:sp>
      <p:sp>
        <p:nvSpPr>
          <p:cNvPr id="2" name="Rectangle 1"/>
          <p:cNvSpPr/>
          <p:nvPr/>
        </p:nvSpPr>
        <p:spPr>
          <a:xfrm>
            <a:off x="543325" y="5304155"/>
            <a:ext cx="4641014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T1 transfers $100 from B’s account to A’s account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85269" y="5303550"/>
            <a:ext cx="4826962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T2 credits both accounts with a 6% interest payment</a:t>
            </a:r>
          </a:p>
        </p:txBody>
      </p:sp>
    </p:spTree>
    <p:extLst>
      <p:ext uri="{BB962C8B-B14F-4D97-AF65-F5344CB8AC3E}">
        <p14:creationId xmlns:p14="http://schemas.microsoft.com/office/powerpoint/2010/main" val="1035846411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Example- consider two TXNs:</a:t>
            </a:r>
          </a:p>
        </p:txBody>
      </p:sp>
      <p:sp>
        <p:nvSpPr>
          <p:cNvPr id="2" name="Rectangle 1"/>
          <p:cNvSpPr/>
          <p:nvPr/>
        </p:nvSpPr>
        <p:spPr>
          <a:xfrm>
            <a:off x="1755755" y="4933719"/>
            <a:ext cx="4033337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T1 transfers $100 from B’s account to A’s account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39828" y="4933719"/>
            <a:ext cx="4315465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T2 credits both accounts with a 6% interest payment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1192696" y="4399722"/>
            <a:ext cx="10419535" cy="13252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3325" y="2697456"/>
            <a:ext cx="481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C00000"/>
                </a:solidFill>
                <a:latin typeface="+mj-l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325" y="3585352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0070C0"/>
                </a:solidFill>
                <a:latin typeface="+mj-l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755" y="2666678"/>
            <a:ext cx="1636987" cy="584775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>
                <a:latin typeface="+mj-lt"/>
              </a:rPr>
              <a:t>A +=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3477" y="2666677"/>
            <a:ext cx="1545616" cy="584775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B -= 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9828" y="3500631"/>
            <a:ext cx="1737976" cy="584775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A *= 1.06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8538" y="3504506"/>
            <a:ext cx="1726755" cy="584775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B *= 1.06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5293" y="4442514"/>
            <a:ext cx="7970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>
                <a:latin typeface="+mj-lt"/>
              </a:rPr>
              <a:t>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1680047"/>
            <a:ext cx="100603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We can look at the TXNs in a timeline view- serial execution:</a:t>
            </a:r>
            <a:endParaRPr lang="en-US" sz="32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9176617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0" grpId="0" animBg="1"/>
      <p:bldP spid="19" grpId="0" animBg="1"/>
      <p:bldP spid="20" grpId="0" animBg="1"/>
      <p:bldP spid="2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Example- consider two TXNs:</a:t>
            </a:r>
          </a:p>
        </p:txBody>
      </p:sp>
      <p:sp>
        <p:nvSpPr>
          <p:cNvPr id="2" name="Rectangle 1"/>
          <p:cNvSpPr/>
          <p:nvPr/>
        </p:nvSpPr>
        <p:spPr>
          <a:xfrm>
            <a:off x="6893675" y="4935336"/>
            <a:ext cx="4061618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T1 transfers $100 from B’s account to A’s account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70916" y="4935336"/>
            <a:ext cx="4348742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T2 credits both accounts with a 6% interest payment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1192696" y="4399722"/>
            <a:ext cx="10419535" cy="13252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3325" y="2697456"/>
            <a:ext cx="481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C00000"/>
                </a:solidFill>
                <a:latin typeface="+mj-l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325" y="3585352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0070C0"/>
                </a:solidFill>
                <a:latin typeface="+mj-l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3675" y="2697457"/>
            <a:ext cx="1636987" cy="584775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>
                <a:latin typeface="+mj-lt"/>
              </a:rPr>
              <a:t>A +=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677" y="2666678"/>
            <a:ext cx="1545616" cy="584775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B -= 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0916" y="3550699"/>
            <a:ext cx="1737976" cy="584775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A *= 1.06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7906" y="3554574"/>
            <a:ext cx="1726755" cy="584775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B *= 1.06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5293" y="4442514"/>
            <a:ext cx="7970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>
                <a:latin typeface="+mj-lt"/>
              </a:rPr>
              <a:t>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680047"/>
            <a:ext cx="88340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+mj-lt"/>
              </a:rPr>
              <a:t>The TXNs could occur in either order… DBMS allows!</a:t>
            </a:r>
            <a:endParaRPr lang="en-US" sz="32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88528122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0" grpId="0" animBg="1"/>
      <p:bldP spid="19" grpId="0" animBg="1"/>
      <p:bldP spid="20" grpId="0" animBg="1"/>
      <p:bldP spid="2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Example- consider two TXNs: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1192696" y="4399722"/>
            <a:ext cx="10419535" cy="13252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3325" y="2697456"/>
            <a:ext cx="481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C00000"/>
                </a:solidFill>
                <a:latin typeface="+mj-l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325" y="3585352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0070C0"/>
                </a:solidFill>
                <a:latin typeface="+mj-l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7906" y="2666677"/>
            <a:ext cx="1636987" cy="584775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>
                <a:latin typeface="+mj-lt"/>
              </a:rPr>
              <a:t>A +=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677" y="2666677"/>
            <a:ext cx="1545616" cy="584775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B -= 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0916" y="3550699"/>
            <a:ext cx="1737976" cy="584775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A *= 1.06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3907" y="3557652"/>
            <a:ext cx="1726755" cy="584775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B *= 1.06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5293" y="4442514"/>
            <a:ext cx="7970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>
                <a:latin typeface="+mj-lt"/>
              </a:rPr>
              <a:t>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680047"/>
            <a:ext cx="67351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The DBMS can also </a:t>
            </a:r>
            <a:r>
              <a:rPr lang="en-US" sz="3200" b="1" dirty="0">
                <a:latin typeface="+mj-lt"/>
              </a:rPr>
              <a:t>interleave</a:t>
            </a:r>
            <a:r>
              <a:rPr lang="en-US" sz="3200" dirty="0">
                <a:latin typeface="+mj-lt"/>
              </a:rPr>
              <a:t> the TXNs</a:t>
            </a:r>
            <a:endParaRPr lang="en-US" sz="3200" b="1" dirty="0">
              <a:latin typeface="+mj-lt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670915" y="4978214"/>
            <a:ext cx="4253977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T2 credits A’s account with 6% interest payment, then T1 transfers $100 to A’s account…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03907" y="4978214"/>
            <a:ext cx="4151386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T2 credits B’s account with a 6% interest payment, then T1 transfers $100 from B’s account…</a:t>
            </a:r>
          </a:p>
        </p:txBody>
      </p:sp>
    </p:spTree>
    <p:extLst>
      <p:ext uri="{BB962C8B-B14F-4D97-AF65-F5344CB8AC3E}">
        <p14:creationId xmlns:p14="http://schemas.microsoft.com/office/powerpoint/2010/main" val="1506946077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9" grpId="0" animBg="1"/>
      <p:bldP spid="20" grpId="0" animBg="1"/>
      <p:bldP spid="21" grpId="0" animBg="1"/>
      <p:bldP spid="17" grpId="0" animBg="1"/>
      <p:bldP spid="1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Example- consider two TXNs: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34564" y="5386352"/>
            <a:ext cx="6322872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What goes wrong here??</a:t>
            </a:r>
            <a:endParaRPr lang="en-US" sz="3200" b="1" dirty="0">
              <a:latin typeface="+mj-lt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1192696" y="4399722"/>
            <a:ext cx="10419535" cy="13252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3325" y="2697456"/>
            <a:ext cx="481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C00000"/>
                </a:solidFill>
                <a:latin typeface="+mj-l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325" y="3585352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0070C0"/>
                </a:solidFill>
                <a:latin typeface="+mj-l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7906" y="2666677"/>
            <a:ext cx="1636987" cy="584775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>
                <a:latin typeface="+mj-lt"/>
              </a:rPr>
              <a:t>A +=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677" y="2666677"/>
            <a:ext cx="1545616" cy="584775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B -= 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0916" y="3550699"/>
            <a:ext cx="1737976" cy="584775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A *= 1.06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3907" y="3557652"/>
            <a:ext cx="1726755" cy="584775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B *= 1.06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5293" y="4442514"/>
            <a:ext cx="7970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>
                <a:latin typeface="+mj-lt"/>
              </a:rPr>
              <a:t>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680047"/>
            <a:ext cx="67351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The DBMS can also </a:t>
            </a:r>
            <a:r>
              <a:rPr lang="en-US" sz="3200" b="1" dirty="0">
                <a:latin typeface="+mj-lt"/>
              </a:rPr>
              <a:t>interleave</a:t>
            </a:r>
            <a:r>
              <a:rPr lang="en-US" sz="3200" dirty="0">
                <a:latin typeface="+mj-lt"/>
              </a:rPr>
              <a:t> the TXNs</a:t>
            </a:r>
            <a:endParaRPr lang="en-US" sz="32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31417839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2257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Recall: Three Types of Regions of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7656443" cy="5032375"/>
          </a:xfrm>
        </p:spPr>
        <p:txBody>
          <a:bodyPr>
            <a:normAutofit fontScale="92500" lnSpcReduction="10000"/>
          </a:bodyPr>
          <a:lstStyle/>
          <a:p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Local: </a:t>
            </a:r>
            <a:r>
              <a:rPr lang="en-US" dirty="0"/>
              <a:t> In our model each process in a DBMS has its own local memory, where it stores values that only it “sees”</a:t>
            </a:r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Global:  </a:t>
            </a:r>
            <a:r>
              <a:rPr lang="en-US" dirty="0"/>
              <a:t>Each process can read from / write to shared data in main memory</a:t>
            </a:r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Disk:  </a:t>
            </a:r>
            <a:r>
              <a:rPr lang="en-US" dirty="0"/>
              <a:t>Global memory can read from / flush to disk</a:t>
            </a:r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i="1" dirty="0"/>
              <a:t>Log: </a:t>
            </a:r>
            <a:r>
              <a:rPr lang="en-US" i="1" dirty="0"/>
              <a:t>Assume on stable disk storage- spans both main memory and disk…</a:t>
            </a:r>
            <a:endParaRPr lang="en-US" b="1" i="1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587408" y="1027905"/>
          <a:ext cx="3233531" cy="246510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041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2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715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Local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Global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5256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Main</a:t>
                      </a:r>
                      <a:r>
                        <a:rPr lang="en-US" baseline="0" dirty="0"/>
                        <a:t> Memory (RAM)</a:t>
                      </a:r>
                      <a:endParaRPr 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3544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Disk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726368" y="4982207"/>
            <a:ext cx="3114261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+mj-lt"/>
              </a:rPr>
              <a:t>“Flushing</a:t>
            </a:r>
            <a:r>
              <a:rPr lang="en-US" sz="2400" dirty="0">
                <a:latin typeface="+mj-lt"/>
              </a:rPr>
              <a:t> to disk” = writing to disk.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5053" y="1821376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latin typeface="+mj-l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31493" y="1821376"/>
            <a:ext cx="375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+mj-l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31493" y="2751234"/>
            <a:ext cx="515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+mj-lt"/>
              </a:rPr>
              <a:t>3</a:t>
            </a:r>
            <a:endParaRPr lang="en-US" sz="2800" b="1"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842987" y="3899646"/>
            <a:ext cx="2977952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Log </a:t>
            </a:r>
            <a:r>
              <a:rPr lang="en-US" sz="2400" dirty="0">
                <a:latin typeface="+mj-lt"/>
              </a:rPr>
              <a:t>is a </a:t>
            </a:r>
            <a:r>
              <a:rPr lang="en-US" sz="2400" i="1" dirty="0">
                <a:latin typeface="+mj-lt"/>
              </a:rPr>
              <a:t>sequence</a:t>
            </a:r>
            <a:r>
              <a:rPr lang="en-US" sz="2400" dirty="0">
                <a:latin typeface="+mj-lt"/>
              </a:rPr>
              <a:t> from main memory -&gt; disk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1265127" y="1821376"/>
            <a:ext cx="466875" cy="1342917"/>
            <a:chOff x="11265127" y="1821376"/>
            <a:chExt cx="466875" cy="1342917"/>
          </a:xfrm>
        </p:grpSpPr>
        <p:sp>
          <p:nvSpPr>
            <p:cNvPr id="16" name="TextBox 15"/>
            <p:cNvSpPr txBox="1"/>
            <p:nvPr/>
          </p:nvSpPr>
          <p:spPr>
            <a:xfrm>
              <a:off x="11265127" y="1821376"/>
              <a:ext cx="466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i="1" dirty="0">
                  <a:latin typeface="+mj-lt"/>
                </a:rPr>
                <a:t>4</a:t>
              </a:r>
            </a:p>
          </p:txBody>
        </p:sp>
        <p:sp>
          <p:nvSpPr>
            <p:cNvPr id="5" name="Down Arrow 4"/>
            <p:cNvSpPr/>
            <p:nvPr/>
          </p:nvSpPr>
          <p:spPr>
            <a:xfrm>
              <a:off x="11306289" y="2338175"/>
              <a:ext cx="298204" cy="826118"/>
            </a:xfrm>
            <a:prstGeom prst="down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5194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  <p:bldP spid="10" grpId="0"/>
      <p:bldP spid="11" grpId="0"/>
      <p:bldP spid="12" grpId="0"/>
      <p:bldP spid="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Interleave TXNs?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Interleaving TXNs might lead to anomalous outcomes… why do it?</a:t>
            </a:r>
          </a:p>
          <a:p>
            <a:endParaRPr lang="en-US" dirty="0"/>
          </a:p>
          <a:p>
            <a:r>
              <a:rPr lang="en-US" dirty="0"/>
              <a:t>Several important reasons:</a:t>
            </a:r>
            <a:endParaRPr lang="en-US" sz="2800" dirty="0"/>
          </a:p>
          <a:p>
            <a:pPr lvl="1"/>
            <a:r>
              <a:rPr lang="en-US" sz="2800" dirty="0"/>
              <a:t>Individual TXNs might be </a:t>
            </a:r>
            <a:r>
              <a:rPr lang="en-US" sz="2800" i="1" dirty="0"/>
              <a:t>slow</a:t>
            </a:r>
            <a:r>
              <a:rPr lang="en-US" sz="2800" dirty="0"/>
              <a:t>- don’t want to block other users during!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Disk access may be </a:t>
            </a:r>
            <a:r>
              <a:rPr lang="en-US" sz="2800" i="1" dirty="0"/>
              <a:t>slow-</a:t>
            </a:r>
            <a:r>
              <a:rPr lang="en-US" sz="2800" dirty="0"/>
              <a:t> let some TXNs use CPUs while others accessing disk!</a:t>
            </a:r>
          </a:p>
          <a:p>
            <a:pPr lvl="1"/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59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308584" y="5884575"/>
            <a:ext cx="7574831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All concern large differences in </a:t>
            </a:r>
            <a:r>
              <a:rPr lang="en-US" sz="3200" b="1" i="1" dirty="0">
                <a:latin typeface="+mj-lt"/>
              </a:rPr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1066680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Interleaving &amp;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8173280" cy="4351338"/>
          </a:xfrm>
        </p:spPr>
        <p:txBody>
          <a:bodyPr>
            <a:noAutofit/>
          </a:bodyPr>
          <a:lstStyle/>
          <a:p>
            <a:r>
              <a:rPr lang="en-US" dirty="0"/>
              <a:t>The DBMS has freedom to interleave TXNs</a:t>
            </a:r>
          </a:p>
          <a:p>
            <a:endParaRPr lang="en-US" dirty="0"/>
          </a:p>
          <a:p>
            <a:r>
              <a:rPr lang="en-US" dirty="0"/>
              <a:t>However, it must pick an interleaving or </a:t>
            </a:r>
            <a:r>
              <a:rPr lang="en-US" b="1" dirty="0"/>
              <a:t>schedule</a:t>
            </a:r>
            <a:r>
              <a:rPr lang="en-US" dirty="0"/>
              <a:t> such that isolation and consistency are maintained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Must be </a:t>
            </a:r>
            <a:r>
              <a:rPr lang="en-US" i="1" dirty="0"/>
              <a:t>as if</a:t>
            </a:r>
            <a:r>
              <a:rPr lang="en-US" dirty="0"/>
              <a:t> the TXNs had executed serially!</a:t>
            </a:r>
          </a:p>
          <a:p>
            <a:pPr lvl="1"/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60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28327" y="5547223"/>
            <a:ext cx="7935346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DBMS must pick a schedule which maintains isolation &amp; consistency</a:t>
            </a:r>
            <a:endParaRPr lang="en-US" sz="2800" b="1" i="1" dirty="0"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206935" y="2223025"/>
            <a:ext cx="2583303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“With great power comes great responsibility”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82200" y="4069189"/>
            <a:ext cx="996107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A</a:t>
            </a:r>
            <a:r>
              <a:rPr lang="en-US" sz="3200" b="1" u="sng" dirty="0">
                <a:latin typeface="+mj-lt"/>
              </a:rPr>
              <a:t>CI</a:t>
            </a:r>
            <a:r>
              <a:rPr lang="en-US" sz="3200" dirty="0">
                <a:latin typeface="+mj-lt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654503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1779"/>
            <a:ext cx="10515600" cy="1325563"/>
          </a:xfrm>
        </p:spPr>
        <p:txBody>
          <a:bodyPr/>
          <a:lstStyle/>
          <a:p>
            <a:r>
              <a:rPr lang="en-US" dirty="0"/>
              <a:t>Scheduling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61</a:t>
            </a:fld>
            <a:endParaRPr lang="en-US" dirty="0"/>
          </a:p>
        </p:txBody>
      </p:sp>
      <p:grpSp>
        <p:nvGrpSpPr>
          <p:cNvPr id="18" name="Group 17"/>
          <p:cNvGrpSpPr/>
          <p:nvPr/>
        </p:nvGrpSpPr>
        <p:grpSpPr>
          <a:xfrm>
            <a:off x="838200" y="1983086"/>
            <a:ext cx="6410739" cy="1413919"/>
            <a:chOff x="543325" y="2666677"/>
            <a:chExt cx="10367750" cy="1745405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1192697" y="4399722"/>
              <a:ext cx="9718378" cy="1236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543325" y="2697456"/>
              <a:ext cx="4812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sz="2800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43325" y="3585352"/>
              <a:ext cx="4796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sz="2800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55754" y="2666678"/>
              <a:ext cx="2053741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>
                  <a:latin typeface="+mj-lt"/>
                </a:rPr>
                <a:t>A += 100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10082" y="2666677"/>
              <a:ext cx="1944858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B -= 100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201858" y="3550698"/>
              <a:ext cx="2175586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A *= 1.06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22448" y="3554575"/>
              <a:ext cx="2162625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B *= 1.06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838200" y="4441766"/>
            <a:ext cx="6410739" cy="1426800"/>
            <a:chOff x="543325" y="2650776"/>
            <a:chExt cx="10367750" cy="1761306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1192697" y="4399722"/>
              <a:ext cx="9718378" cy="1236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543325" y="2697456"/>
              <a:ext cx="4812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sz="2800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43325" y="3585352"/>
              <a:ext cx="4796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sz="2800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755754" y="2666678"/>
              <a:ext cx="2053741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A += 100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201858" y="2650776"/>
              <a:ext cx="1944858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B -= 100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894717" y="3533200"/>
              <a:ext cx="2175586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A *= 1.06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377444" y="3562011"/>
              <a:ext cx="2162625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B *= 1.06</a:t>
              </a:r>
            </a:p>
          </p:txBody>
        </p:sp>
      </p:grp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555313"/>
              </p:ext>
            </p:extLst>
          </p:nvPr>
        </p:nvGraphicFramePr>
        <p:xfrm>
          <a:off x="8079147" y="644053"/>
          <a:ext cx="1853422" cy="81989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26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945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945">
                <a:tc>
                  <a:txBody>
                    <a:bodyPr/>
                    <a:lstStyle/>
                    <a:p>
                      <a:r>
                        <a:rPr lang="en-US" dirty="0"/>
                        <a:t>$50</a:t>
                      </a:r>
                      <a:endParaRPr 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$200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090408"/>
              </p:ext>
            </p:extLst>
          </p:nvPr>
        </p:nvGraphicFramePr>
        <p:xfrm>
          <a:off x="8079147" y="2651550"/>
          <a:ext cx="1853422" cy="81989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26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945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945">
                <a:tc>
                  <a:txBody>
                    <a:bodyPr/>
                    <a:lstStyle/>
                    <a:p>
                      <a:r>
                        <a:rPr lang="en-US" dirty="0"/>
                        <a:t>$159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200545"/>
              </p:ext>
            </p:extLst>
          </p:nvPr>
        </p:nvGraphicFramePr>
        <p:xfrm>
          <a:off x="8061966" y="5128832"/>
          <a:ext cx="1853422" cy="81989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26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945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945">
                <a:tc>
                  <a:txBody>
                    <a:bodyPr/>
                    <a:lstStyle/>
                    <a:p>
                      <a:r>
                        <a:rPr lang="en-US" dirty="0"/>
                        <a:t>$159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6836849" y="607513"/>
            <a:ext cx="11661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>
                <a:latin typeface="+mj-lt"/>
              </a:rPr>
              <a:t>Starting Balance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2312" y="3854483"/>
            <a:ext cx="1011306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Same result!</a:t>
            </a:r>
            <a:endParaRPr lang="en-US" sz="2400" dirty="0">
              <a:latin typeface="+mj-l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38200" y="1316653"/>
            <a:ext cx="27414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latin typeface="+mj-lt"/>
              </a:rPr>
              <a:t>Serial schedule T</a:t>
            </a:r>
            <a:r>
              <a:rPr lang="en-US" sz="2400" u="sng" baseline="-25000" dirty="0">
                <a:latin typeface="+mj-lt"/>
              </a:rPr>
              <a:t>1</a:t>
            </a:r>
            <a:r>
              <a:rPr lang="en-US" sz="2400" u="sng" dirty="0">
                <a:latin typeface="+mj-lt"/>
                <a:sym typeface="Wingdings"/>
              </a:rPr>
              <a:t>,T</a:t>
            </a:r>
            <a:r>
              <a:rPr lang="en-US" sz="2400" u="sng" baseline="-25000" dirty="0">
                <a:latin typeface="+mj-lt"/>
                <a:sym typeface="Wingdings"/>
              </a:rPr>
              <a:t>2</a:t>
            </a:r>
            <a:r>
              <a:rPr lang="en-US" sz="2400" u="sng" dirty="0">
                <a:latin typeface="+mj-lt"/>
              </a:rPr>
              <a:t>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764487"/>
            <a:ext cx="30523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u="sng" dirty="0">
                <a:latin typeface="+mj-lt"/>
              </a:rPr>
              <a:t>Interleaved </a:t>
            </a:r>
            <a:r>
              <a:rPr lang="en-US" sz="2400" u="sng" dirty="0">
                <a:latin typeface="+mj-lt"/>
              </a:rPr>
              <a:t>schedule A:</a:t>
            </a:r>
          </a:p>
        </p:txBody>
      </p:sp>
    </p:spTree>
    <p:extLst>
      <p:ext uri="{BB962C8B-B14F-4D97-AF65-F5344CB8AC3E}">
        <p14:creationId xmlns:p14="http://schemas.microsoft.com/office/powerpoint/2010/main" val="834109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1779"/>
            <a:ext cx="10515600" cy="1325563"/>
          </a:xfrm>
        </p:spPr>
        <p:txBody>
          <a:bodyPr/>
          <a:lstStyle/>
          <a:p>
            <a:r>
              <a:rPr lang="en-US" dirty="0"/>
              <a:t>Scheduling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62</a:t>
            </a:fld>
            <a:endParaRPr lang="en-US" dirty="0"/>
          </a:p>
        </p:txBody>
      </p:sp>
      <p:grpSp>
        <p:nvGrpSpPr>
          <p:cNvPr id="18" name="Group 17"/>
          <p:cNvGrpSpPr/>
          <p:nvPr/>
        </p:nvGrpSpPr>
        <p:grpSpPr>
          <a:xfrm>
            <a:off x="838200" y="1983086"/>
            <a:ext cx="6410739" cy="1413919"/>
            <a:chOff x="543325" y="2666677"/>
            <a:chExt cx="10367750" cy="1745405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1192697" y="4399722"/>
              <a:ext cx="9718378" cy="1236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543325" y="2697456"/>
              <a:ext cx="4812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sz="2800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43325" y="3585352"/>
              <a:ext cx="4796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sz="2800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55754" y="2666678"/>
              <a:ext cx="2053741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>
                  <a:latin typeface="+mj-lt"/>
                </a:rPr>
                <a:t>A += 100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10082" y="2666677"/>
              <a:ext cx="1944858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B -= 100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201858" y="3550698"/>
              <a:ext cx="2175586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A *= 1.06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22448" y="3554575"/>
              <a:ext cx="2162625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B *= 1.06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838200" y="4448206"/>
            <a:ext cx="6410739" cy="1413919"/>
            <a:chOff x="543325" y="2666677"/>
            <a:chExt cx="10367750" cy="1745405"/>
          </a:xfrm>
        </p:grpSpPr>
        <p:cxnSp>
          <p:nvCxnSpPr>
            <p:cNvPr id="29" name="Straight Arrow Connector 28"/>
            <p:cNvCxnSpPr/>
            <p:nvPr/>
          </p:nvCxnSpPr>
          <p:spPr>
            <a:xfrm>
              <a:off x="1192697" y="4399722"/>
              <a:ext cx="9718378" cy="1236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543325" y="2697456"/>
              <a:ext cx="4812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sz="2800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43325" y="3585352"/>
              <a:ext cx="4796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sz="2800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755754" y="2666678"/>
              <a:ext cx="2053741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>
                  <a:latin typeface="+mj-lt"/>
                </a:rPr>
                <a:t>A += 100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631331" y="2666677"/>
              <a:ext cx="1944858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B -= 100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010082" y="3585352"/>
              <a:ext cx="2175586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A *= 1.06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330672" y="3589229"/>
              <a:ext cx="2162625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B *= 1.06</a:t>
              </a:r>
            </a:p>
          </p:txBody>
        </p:sp>
      </p:grp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555313"/>
              </p:ext>
            </p:extLst>
          </p:nvPr>
        </p:nvGraphicFramePr>
        <p:xfrm>
          <a:off x="8079147" y="644053"/>
          <a:ext cx="1853422" cy="81989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26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945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945">
                <a:tc>
                  <a:txBody>
                    <a:bodyPr/>
                    <a:lstStyle/>
                    <a:p>
                      <a:r>
                        <a:rPr lang="en-US" dirty="0"/>
                        <a:t>$50</a:t>
                      </a:r>
                      <a:endParaRPr 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$200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173782"/>
              </p:ext>
            </p:extLst>
          </p:nvPr>
        </p:nvGraphicFramePr>
        <p:xfrm>
          <a:off x="8079147" y="2651550"/>
          <a:ext cx="1853422" cy="81989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26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945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945">
                <a:tc>
                  <a:txBody>
                    <a:bodyPr/>
                    <a:lstStyle/>
                    <a:p>
                      <a:r>
                        <a:rPr lang="en-US" dirty="0"/>
                        <a:t>$159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57778"/>
              </p:ext>
            </p:extLst>
          </p:nvPr>
        </p:nvGraphicFramePr>
        <p:xfrm>
          <a:off x="8061966" y="5122391"/>
          <a:ext cx="1853422" cy="81989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26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945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945">
                <a:tc>
                  <a:txBody>
                    <a:bodyPr/>
                    <a:lstStyle/>
                    <a:p>
                      <a:r>
                        <a:rPr lang="en-US" dirty="0"/>
                        <a:t>$159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$112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6836849" y="607513"/>
            <a:ext cx="11661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>
                <a:latin typeface="+mj-lt"/>
              </a:rPr>
              <a:t>Starting Balance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66007" y="3521701"/>
            <a:ext cx="1519013" cy="15696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Different result than serial T</a:t>
            </a:r>
            <a:r>
              <a:rPr lang="en-US" sz="2400" baseline="-25000" dirty="0">
                <a:latin typeface="+mj-lt"/>
              </a:rPr>
              <a:t>1</a:t>
            </a:r>
            <a:r>
              <a:rPr lang="en-US" sz="2400" dirty="0">
                <a:latin typeface="+mj-lt"/>
                <a:sym typeface="Wingdings"/>
              </a:rPr>
              <a:t>,T</a:t>
            </a:r>
            <a:r>
              <a:rPr lang="en-US" sz="2400" baseline="-25000" dirty="0">
                <a:latin typeface="+mj-lt"/>
                <a:sym typeface="Wingdings"/>
              </a:rPr>
              <a:t>2</a:t>
            </a:r>
            <a:r>
              <a:rPr lang="en-US" sz="2400" dirty="0">
                <a:latin typeface="+mj-lt"/>
              </a:rPr>
              <a:t>!</a:t>
            </a:r>
          </a:p>
        </p:txBody>
      </p:sp>
      <p:sp>
        <p:nvSpPr>
          <p:cNvPr id="48" name="Oval 47"/>
          <p:cNvSpPr/>
          <p:nvPr/>
        </p:nvSpPr>
        <p:spPr>
          <a:xfrm>
            <a:off x="8922044" y="5414534"/>
            <a:ext cx="766777" cy="597702"/>
          </a:xfrm>
          <a:prstGeom prst="ellipse">
            <a:avLst/>
          </a:prstGeom>
          <a:solidFill>
            <a:srgbClr val="FF0000">
              <a:alpha val="15000"/>
            </a:srgbClr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838200" y="1316653"/>
            <a:ext cx="27414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latin typeface="+mj-lt"/>
              </a:rPr>
              <a:t>Serial schedule T</a:t>
            </a:r>
            <a:r>
              <a:rPr lang="en-US" sz="2400" u="sng" baseline="-25000" dirty="0">
                <a:latin typeface="+mj-lt"/>
              </a:rPr>
              <a:t>1</a:t>
            </a:r>
            <a:r>
              <a:rPr lang="en-US" sz="2400" u="sng" dirty="0">
                <a:latin typeface="+mj-lt"/>
                <a:sym typeface="Wingdings"/>
              </a:rPr>
              <a:t>,T</a:t>
            </a:r>
            <a:r>
              <a:rPr lang="en-US" sz="2400" u="sng" baseline="-25000" dirty="0">
                <a:latin typeface="+mj-lt"/>
                <a:sym typeface="Wingdings"/>
              </a:rPr>
              <a:t>2</a:t>
            </a:r>
            <a:r>
              <a:rPr lang="en-US" sz="2400" u="sng" dirty="0">
                <a:latin typeface="+mj-lt"/>
              </a:rPr>
              <a:t>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764487"/>
            <a:ext cx="30523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u="sng" dirty="0">
                <a:latin typeface="+mj-lt"/>
              </a:rPr>
              <a:t>Interleaved </a:t>
            </a:r>
            <a:r>
              <a:rPr lang="en-US" sz="2400" u="sng" dirty="0">
                <a:latin typeface="+mj-lt"/>
              </a:rPr>
              <a:t>schedule B:</a:t>
            </a:r>
          </a:p>
        </p:txBody>
      </p:sp>
    </p:spTree>
    <p:extLst>
      <p:ext uri="{BB962C8B-B14F-4D97-AF65-F5344CB8AC3E}">
        <p14:creationId xmlns:p14="http://schemas.microsoft.com/office/powerpoint/2010/main" val="120895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1779"/>
            <a:ext cx="10515600" cy="1325563"/>
          </a:xfrm>
        </p:spPr>
        <p:txBody>
          <a:bodyPr/>
          <a:lstStyle/>
          <a:p>
            <a:r>
              <a:rPr lang="en-US" dirty="0"/>
              <a:t>Scheduling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63</a:t>
            </a:fld>
            <a:endParaRPr lang="en-US" dirty="0"/>
          </a:p>
        </p:txBody>
      </p:sp>
      <p:grpSp>
        <p:nvGrpSpPr>
          <p:cNvPr id="18" name="Group 17"/>
          <p:cNvGrpSpPr/>
          <p:nvPr/>
        </p:nvGrpSpPr>
        <p:grpSpPr>
          <a:xfrm>
            <a:off x="838200" y="1983086"/>
            <a:ext cx="6410739" cy="1413919"/>
            <a:chOff x="543325" y="2666677"/>
            <a:chExt cx="10367750" cy="1745405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1192697" y="4399722"/>
              <a:ext cx="9718378" cy="1236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543325" y="2697456"/>
              <a:ext cx="4812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sz="2800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43325" y="3585352"/>
              <a:ext cx="4796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sz="2800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330672" y="2666678"/>
              <a:ext cx="2053741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>
                  <a:latin typeface="+mj-lt"/>
                </a:rPr>
                <a:t>A += 100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585000" y="2666677"/>
              <a:ext cx="1944858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B -= 100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633909" y="3555519"/>
              <a:ext cx="2175586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A *= 1.06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954499" y="3559397"/>
              <a:ext cx="2162625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B *= 1.06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838200" y="4448206"/>
            <a:ext cx="6410739" cy="1413919"/>
            <a:chOff x="543325" y="2666677"/>
            <a:chExt cx="10367750" cy="1745405"/>
          </a:xfrm>
        </p:grpSpPr>
        <p:cxnSp>
          <p:nvCxnSpPr>
            <p:cNvPr id="29" name="Straight Arrow Connector 28"/>
            <p:cNvCxnSpPr/>
            <p:nvPr/>
          </p:nvCxnSpPr>
          <p:spPr>
            <a:xfrm>
              <a:off x="1192697" y="4399722"/>
              <a:ext cx="9718378" cy="1236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543325" y="2697456"/>
              <a:ext cx="4812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sz="2800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43325" y="3585352"/>
              <a:ext cx="4796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sz="2800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755754" y="2666678"/>
              <a:ext cx="2053741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>
                  <a:latin typeface="+mj-lt"/>
                </a:rPr>
                <a:t>A += 100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631331" y="2666677"/>
              <a:ext cx="1944858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B -= 100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010082" y="3585352"/>
              <a:ext cx="2175586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A *= 1.06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330672" y="3589229"/>
              <a:ext cx="2162625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B *= 1.06</a:t>
              </a:r>
            </a:p>
          </p:txBody>
        </p:sp>
      </p:grp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555313"/>
              </p:ext>
            </p:extLst>
          </p:nvPr>
        </p:nvGraphicFramePr>
        <p:xfrm>
          <a:off x="8079147" y="644053"/>
          <a:ext cx="1853422" cy="81989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26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945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945">
                <a:tc>
                  <a:txBody>
                    <a:bodyPr/>
                    <a:lstStyle/>
                    <a:p>
                      <a:r>
                        <a:rPr lang="en-US" dirty="0"/>
                        <a:t>$50</a:t>
                      </a:r>
                      <a:endParaRPr 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$200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041908"/>
              </p:ext>
            </p:extLst>
          </p:nvPr>
        </p:nvGraphicFramePr>
        <p:xfrm>
          <a:off x="8079147" y="2651550"/>
          <a:ext cx="1853422" cy="81989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26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945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945">
                <a:tc>
                  <a:txBody>
                    <a:bodyPr/>
                    <a:lstStyle/>
                    <a:p>
                      <a:r>
                        <a:rPr lang="en-US" dirty="0"/>
                        <a:t>$153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231198"/>
              </p:ext>
            </p:extLst>
          </p:nvPr>
        </p:nvGraphicFramePr>
        <p:xfrm>
          <a:off x="8061966" y="5122391"/>
          <a:ext cx="1853422" cy="81989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26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945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945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$159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$112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6836849" y="607513"/>
            <a:ext cx="11661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>
                <a:latin typeface="+mj-lt"/>
              </a:rPr>
              <a:t>Starting Balance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9070" y="3275805"/>
            <a:ext cx="1519013" cy="15696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Different result than serial T</a:t>
            </a:r>
            <a:r>
              <a:rPr lang="en-US" sz="2400" baseline="-25000" dirty="0">
                <a:latin typeface="+mj-lt"/>
              </a:rPr>
              <a:t>2</a:t>
            </a:r>
            <a:r>
              <a:rPr lang="en-US" sz="2400" dirty="0">
                <a:latin typeface="+mj-lt"/>
                <a:sym typeface="Wingdings"/>
              </a:rPr>
              <a:t>,T</a:t>
            </a:r>
            <a:r>
              <a:rPr lang="en-US" sz="2400" baseline="-25000" dirty="0">
                <a:latin typeface="+mj-lt"/>
                <a:sym typeface="Wingdings"/>
              </a:rPr>
              <a:t>1</a:t>
            </a:r>
            <a:r>
              <a:rPr lang="en-US" sz="2400" dirty="0">
                <a:latin typeface="+mj-lt"/>
                <a:sym typeface="Wingdings"/>
              </a:rPr>
              <a:t> ALSO</a:t>
            </a:r>
            <a:r>
              <a:rPr lang="en-US" sz="2400" dirty="0">
                <a:latin typeface="+mj-lt"/>
              </a:rPr>
              <a:t>!</a:t>
            </a:r>
          </a:p>
        </p:txBody>
      </p:sp>
      <p:sp>
        <p:nvSpPr>
          <p:cNvPr id="48" name="Oval 47"/>
          <p:cNvSpPr/>
          <p:nvPr/>
        </p:nvSpPr>
        <p:spPr>
          <a:xfrm>
            <a:off x="8019562" y="5404332"/>
            <a:ext cx="766777" cy="597702"/>
          </a:xfrm>
          <a:prstGeom prst="ellipse">
            <a:avLst/>
          </a:prstGeom>
          <a:solidFill>
            <a:srgbClr val="FF0000">
              <a:alpha val="15000"/>
            </a:srgbClr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838200" y="1316653"/>
            <a:ext cx="27414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latin typeface="+mj-lt"/>
              </a:rPr>
              <a:t>Serial schedule </a:t>
            </a:r>
            <a:r>
              <a:rPr lang="en-US" sz="2400" b="1" i="1" u="sng" dirty="0">
                <a:latin typeface="+mj-lt"/>
              </a:rPr>
              <a:t>T</a:t>
            </a:r>
            <a:r>
              <a:rPr lang="en-US" sz="2400" b="1" i="1" u="sng" baseline="-25000" dirty="0">
                <a:latin typeface="+mj-lt"/>
              </a:rPr>
              <a:t>2</a:t>
            </a:r>
            <a:r>
              <a:rPr lang="en-US" sz="2400" b="1" i="1" u="sng" dirty="0">
                <a:latin typeface="+mj-lt"/>
                <a:sym typeface="Wingdings"/>
              </a:rPr>
              <a:t>,T</a:t>
            </a:r>
            <a:r>
              <a:rPr lang="en-US" sz="2400" b="1" i="1" u="sng" baseline="-25000" dirty="0">
                <a:latin typeface="+mj-lt"/>
                <a:sym typeface="Wingdings"/>
              </a:rPr>
              <a:t>1</a:t>
            </a:r>
            <a:r>
              <a:rPr lang="en-US" sz="2400" b="1" i="1" u="sng" dirty="0">
                <a:latin typeface="+mj-lt"/>
              </a:rPr>
              <a:t>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764487"/>
            <a:ext cx="30523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u="sng" dirty="0">
                <a:latin typeface="+mj-lt"/>
              </a:rPr>
              <a:t>Interleaved </a:t>
            </a:r>
            <a:r>
              <a:rPr lang="en-US" sz="2400" u="sng" dirty="0">
                <a:latin typeface="+mj-lt"/>
              </a:rPr>
              <a:t>schedule B:</a:t>
            </a:r>
          </a:p>
        </p:txBody>
      </p:sp>
    </p:spTree>
    <p:extLst>
      <p:ext uri="{BB962C8B-B14F-4D97-AF65-F5344CB8AC3E}">
        <p14:creationId xmlns:p14="http://schemas.microsoft.com/office/powerpoint/2010/main" val="1434750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1779"/>
            <a:ext cx="10515600" cy="1325563"/>
          </a:xfrm>
        </p:spPr>
        <p:txBody>
          <a:bodyPr/>
          <a:lstStyle/>
          <a:p>
            <a:r>
              <a:rPr lang="en-US" dirty="0"/>
              <a:t>Scheduling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64</a:t>
            </a:fld>
            <a:endParaRPr lang="en-US" dirty="0"/>
          </a:p>
        </p:txBody>
      </p:sp>
      <p:grpSp>
        <p:nvGrpSpPr>
          <p:cNvPr id="28" name="Group 27"/>
          <p:cNvGrpSpPr/>
          <p:nvPr/>
        </p:nvGrpSpPr>
        <p:grpSpPr>
          <a:xfrm>
            <a:off x="2536371" y="2492355"/>
            <a:ext cx="6410739" cy="1413919"/>
            <a:chOff x="543325" y="2666677"/>
            <a:chExt cx="10367750" cy="1745405"/>
          </a:xfrm>
        </p:grpSpPr>
        <p:cxnSp>
          <p:nvCxnSpPr>
            <p:cNvPr id="29" name="Straight Arrow Connector 28"/>
            <p:cNvCxnSpPr/>
            <p:nvPr/>
          </p:nvCxnSpPr>
          <p:spPr>
            <a:xfrm>
              <a:off x="1192697" y="4399722"/>
              <a:ext cx="9718378" cy="1236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543325" y="2697456"/>
              <a:ext cx="4812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sz="2800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43325" y="3585352"/>
              <a:ext cx="4796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sz="2800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755754" y="2666678"/>
              <a:ext cx="2053741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>
                  <a:latin typeface="+mj-lt"/>
                </a:rPr>
                <a:t>A += 100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631331" y="2666677"/>
              <a:ext cx="1944858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B -= 100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010082" y="3585352"/>
              <a:ext cx="2175586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A *= 1.06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330672" y="3589229"/>
              <a:ext cx="2162625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B *= 1.06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2771976" y="4626661"/>
            <a:ext cx="6648047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This schedule is different than </a:t>
            </a:r>
            <a:r>
              <a:rPr lang="en-US" sz="3200" b="1" i="1" dirty="0">
                <a:latin typeface="+mj-lt"/>
              </a:rPr>
              <a:t>any serial order!</a:t>
            </a:r>
            <a:r>
              <a:rPr lang="en-US" sz="3200" dirty="0">
                <a:latin typeface="+mj-lt"/>
              </a:rPr>
              <a:t>  We say that it is </a:t>
            </a:r>
            <a:r>
              <a:rPr lang="en-US" sz="3200" b="1" u="sng" dirty="0">
                <a:latin typeface="+mj-lt"/>
              </a:rPr>
              <a:t>not serializable</a:t>
            </a:r>
            <a:endParaRPr lang="en-US" sz="3200" dirty="0">
              <a:latin typeface="+mj-l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536371" y="1808636"/>
            <a:ext cx="30523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u="sng" dirty="0">
                <a:latin typeface="+mj-lt"/>
              </a:rPr>
              <a:t>Interleaved </a:t>
            </a:r>
            <a:r>
              <a:rPr lang="en-US" sz="2400" u="sng" dirty="0">
                <a:latin typeface="+mj-lt"/>
              </a:rPr>
              <a:t>schedule B:</a:t>
            </a:r>
          </a:p>
        </p:txBody>
      </p:sp>
    </p:spTree>
    <p:extLst>
      <p:ext uri="{BB962C8B-B14F-4D97-AF65-F5344CB8AC3E}">
        <p14:creationId xmlns:p14="http://schemas.microsoft.com/office/powerpoint/2010/main" val="37781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Scheduling Definitions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76400"/>
            <a:ext cx="10515600" cy="4800600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u="sng" dirty="0"/>
              <a:t>serial schedule</a:t>
            </a:r>
            <a:r>
              <a:rPr lang="en-US" dirty="0"/>
              <a:t> is one that does not interleave the actions of different transactions</a:t>
            </a:r>
          </a:p>
          <a:p>
            <a:endParaRPr lang="en-US" i="1" u="sng" dirty="0">
              <a:solidFill>
                <a:schemeClr val="accent2"/>
              </a:solidFill>
            </a:endParaRPr>
          </a:p>
          <a:p>
            <a:r>
              <a:rPr lang="en-US" dirty="0"/>
              <a:t>A and B are </a:t>
            </a:r>
            <a:r>
              <a:rPr lang="en-US" b="1" u="sng" dirty="0"/>
              <a:t>equivalent schedules</a:t>
            </a:r>
            <a:r>
              <a:rPr lang="en-US" dirty="0"/>
              <a:t> if,</a:t>
            </a:r>
            <a:r>
              <a:rPr lang="en-US" i="1" dirty="0"/>
              <a:t> </a:t>
            </a:r>
            <a:r>
              <a:rPr lang="en-US" b="1" i="1" dirty="0"/>
              <a:t>for any database state</a:t>
            </a:r>
            <a:r>
              <a:rPr lang="en-US" dirty="0"/>
              <a:t>, the effect on DB of executing A </a:t>
            </a:r>
            <a:r>
              <a:rPr lang="en-US" b="1" dirty="0"/>
              <a:t>is identical to </a:t>
            </a:r>
            <a:r>
              <a:rPr lang="en-US" dirty="0"/>
              <a:t>the effect of executing B</a:t>
            </a:r>
          </a:p>
          <a:p>
            <a:endParaRPr lang="en-US" i="1" u="sng" dirty="0">
              <a:solidFill>
                <a:schemeClr val="accent2"/>
              </a:solidFill>
            </a:endParaRPr>
          </a:p>
          <a:p>
            <a:r>
              <a:rPr lang="en-US" i="1" dirty="0"/>
              <a:t>A </a:t>
            </a:r>
            <a:r>
              <a:rPr lang="en-US" b="1" u="sng" dirty="0"/>
              <a:t>serializable schedule</a:t>
            </a:r>
            <a:r>
              <a:rPr lang="en-US" dirty="0"/>
              <a:t> is a schedule that is equivalent to </a:t>
            </a:r>
            <a:r>
              <a:rPr lang="en-US" b="1" i="1" dirty="0"/>
              <a:t>some</a:t>
            </a:r>
            <a:r>
              <a:rPr lang="en-US" dirty="0"/>
              <a:t> serial execution of the transactions.</a:t>
            </a:r>
          </a:p>
          <a:p>
            <a:pPr>
              <a:buFont typeface="Wingdings" charset="2"/>
              <a:buNone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073349" y="5204479"/>
            <a:ext cx="4280451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The word “</a:t>
            </a:r>
            <a:r>
              <a:rPr lang="en-US" sz="2800" b="1" dirty="0">
                <a:latin typeface="+mj-lt"/>
              </a:rPr>
              <a:t>some” </a:t>
            </a:r>
            <a:r>
              <a:rPr lang="en-US" sz="2800" dirty="0">
                <a:latin typeface="+mj-lt"/>
              </a:rPr>
              <a:t>makes this definition powerful &amp; tricky!</a:t>
            </a:r>
          </a:p>
        </p:txBody>
      </p:sp>
    </p:spTree>
    <p:extLst>
      <p:ext uri="{BB962C8B-B14F-4D97-AF65-F5344CB8AC3E}">
        <p14:creationId xmlns:p14="http://schemas.microsoft.com/office/powerpoint/2010/main" val="3101561297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 animBg="1"/>
      <p:bldP spid="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1779"/>
            <a:ext cx="10515600" cy="1325563"/>
          </a:xfrm>
        </p:spPr>
        <p:txBody>
          <a:bodyPr/>
          <a:lstStyle/>
          <a:p>
            <a:r>
              <a:rPr lang="en-US" dirty="0"/>
              <a:t>Serializable?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66</a:t>
            </a:fld>
            <a:endParaRPr lang="en-US" dirty="0"/>
          </a:p>
        </p:txBody>
      </p:sp>
      <p:grpSp>
        <p:nvGrpSpPr>
          <p:cNvPr id="18" name="Group 17"/>
          <p:cNvGrpSpPr/>
          <p:nvPr/>
        </p:nvGrpSpPr>
        <p:grpSpPr>
          <a:xfrm>
            <a:off x="301131" y="2988132"/>
            <a:ext cx="7159843" cy="1707737"/>
            <a:chOff x="543325" y="2639978"/>
            <a:chExt cx="10367750" cy="1772104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1192697" y="4399722"/>
              <a:ext cx="9718378" cy="1236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543325" y="2697456"/>
              <a:ext cx="694507" cy="542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sz="2800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43325" y="3585352"/>
              <a:ext cx="694507" cy="542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sz="2800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55754" y="2639978"/>
              <a:ext cx="2110448" cy="542941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>
                  <a:latin typeface="+mj-lt"/>
                </a:rPr>
                <a:t>A += 100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286442" y="2650774"/>
              <a:ext cx="1996710" cy="542941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+mj-lt"/>
                </a:rPr>
                <a:t>B -= 100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001974" y="3550697"/>
              <a:ext cx="2238116" cy="542941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+mj-lt"/>
                </a:rPr>
                <a:t>A *= 1.06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481159" y="3557633"/>
              <a:ext cx="2224189" cy="542941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+mj-lt"/>
                </a:rPr>
                <a:t>B *= 1.06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8404227" y="4906677"/>
            <a:ext cx="3368673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Same as a serial schedule </a:t>
            </a:r>
            <a:r>
              <a:rPr lang="en-US" sz="2400" b="1" i="1" dirty="0">
                <a:latin typeface="+mj-lt"/>
              </a:rPr>
              <a:t>for all possible values of A, B = </a:t>
            </a:r>
            <a:r>
              <a:rPr lang="en-US" sz="2400" b="1" u="sng" dirty="0">
                <a:latin typeface="+mj-lt"/>
              </a:rPr>
              <a:t>serializable</a:t>
            </a:r>
            <a:endParaRPr lang="en-US" sz="2400" u="sng" dirty="0"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809586" y="1196509"/>
            <a:ext cx="2260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latin typeface="+mj-lt"/>
              </a:rPr>
              <a:t>Serial </a:t>
            </a:r>
            <a:r>
              <a:rPr lang="en-US" sz="2400" u="sng">
                <a:latin typeface="+mj-lt"/>
              </a:rPr>
              <a:t>schedules:</a:t>
            </a:r>
            <a:endParaRPr lang="en-US" sz="2400" u="sng" dirty="0">
              <a:latin typeface="+mj-lt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307784"/>
              </p:ext>
            </p:extLst>
          </p:nvPr>
        </p:nvGraphicFramePr>
        <p:xfrm>
          <a:off x="7809586" y="1764477"/>
          <a:ext cx="3963314" cy="11125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2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9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>
                          <a:sym typeface="Wingdings"/>
                        </a:rPr>
                        <a:t>,</a:t>
                      </a:r>
                      <a:r>
                        <a:rPr lang="en-US" dirty="0">
                          <a:sym typeface="Wingdings"/>
                        </a:rPr>
                        <a:t>T</a:t>
                      </a:r>
                      <a:r>
                        <a:rPr lang="en-US" baseline="-25000" dirty="0">
                          <a:sym typeface="Wingdings"/>
                        </a:rPr>
                        <a:t>2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1.06*(A+100)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1.06*(B-100)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>
                          <a:sym typeface="Wingdings"/>
                        </a:rPr>
                        <a:t>,</a:t>
                      </a:r>
                      <a:r>
                        <a:rPr lang="en-US" dirty="0">
                          <a:sym typeface="Wingdings"/>
                        </a:rPr>
                        <a:t>T</a:t>
                      </a:r>
                      <a:r>
                        <a:rPr lang="en-US" baseline="-25000" dirty="0">
                          <a:sym typeface="Wingdings"/>
                        </a:rPr>
                        <a:t>1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1.06*A + 100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1.06*B - 100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996630"/>
              </p:ext>
            </p:extLst>
          </p:nvPr>
        </p:nvGraphicFramePr>
        <p:xfrm>
          <a:off x="8682167" y="3566742"/>
          <a:ext cx="3090733" cy="7391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9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r>
                        <a:rPr lang="en-US" dirty="0"/>
                        <a:t>1.06*(A+100)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1.06*(B-100)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700729" y="2108711"/>
            <a:ext cx="4174435" cy="424070"/>
          </a:xfrm>
          <a:prstGeom prst="roundRect">
            <a:avLst/>
          </a:prstGeom>
          <a:solidFill>
            <a:schemeClr val="accent6">
              <a:lumMod val="20000"/>
              <a:lumOff val="80000"/>
              <a:alpha val="56000"/>
            </a:schemeClr>
          </a:solidFill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44"/>
          <p:cNvSpPr/>
          <p:nvPr/>
        </p:nvSpPr>
        <p:spPr>
          <a:xfrm>
            <a:off x="8584096" y="3899168"/>
            <a:ext cx="3267860" cy="424070"/>
          </a:xfrm>
          <a:prstGeom prst="roundRect">
            <a:avLst/>
          </a:prstGeom>
          <a:solidFill>
            <a:schemeClr val="accent6">
              <a:lumMod val="20000"/>
              <a:lumOff val="80000"/>
              <a:alpha val="56000"/>
            </a:schemeClr>
          </a:solidFill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1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1779"/>
            <a:ext cx="10515600" cy="1325563"/>
          </a:xfrm>
        </p:spPr>
        <p:txBody>
          <a:bodyPr/>
          <a:lstStyle/>
          <a:p>
            <a:r>
              <a:rPr lang="en-US" dirty="0"/>
              <a:t>Serializable?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67</a:t>
            </a:fld>
            <a:endParaRPr lang="en-US" dirty="0"/>
          </a:p>
        </p:txBody>
      </p:sp>
      <p:grpSp>
        <p:nvGrpSpPr>
          <p:cNvPr id="18" name="Group 17"/>
          <p:cNvGrpSpPr/>
          <p:nvPr/>
        </p:nvGrpSpPr>
        <p:grpSpPr>
          <a:xfrm>
            <a:off x="301131" y="2988132"/>
            <a:ext cx="7159843" cy="1707737"/>
            <a:chOff x="543325" y="2639978"/>
            <a:chExt cx="10367750" cy="1772104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1192697" y="4399722"/>
              <a:ext cx="9718378" cy="1236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543325" y="2697456"/>
              <a:ext cx="694507" cy="542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sz="2800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43325" y="3585352"/>
              <a:ext cx="694507" cy="542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sz="2800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55754" y="2639978"/>
              <a:ext cx="2110448" cy="542941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>
                  <a:latin typeface="+mj-lt"/>
                </a:rPr>
                <a:t>A += 100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704809" y="2639978"/>
              <a:ext cx="1996710" cy="542941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+mj-lt"/>
                </a:rPr>
                <a:t>B -= 100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001974" y="3550697"/>
              <a:ext cx="2238116" cy="542941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+mj-lt"/>
                </a:rPr>
                <a:t>A *= 1.06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23050" y="3550697"/>
              <a:ext cx="2224189" cy="542941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+mj-lt"/>
                </a:rPr>
                <a:t>B *= 1.06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8404227" y="4906677"/>
            <a:ext cx="3368673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Not </a:t>
            </a:r>
            <a:r>
              <a:rPr lang="en-US" sz="2400" i="1" dirty="0">
                <a:latin typeface="+mj-lt"/>
              </a:rPr>
              <a:t>equivalent</a:t>
            </a:r>
            <a:r>
              <a:rPr lang="en-US" sz="2400" dirty="0">
                <a:latin typeface="+mj-lt"/>
              </a:rPr>
              <a:t> to any serializable schedule</a:t>
            </a:r>
            <a:r>
              <a:rPr lang="en-US" sz="2400" b="1" i="1" dirty="0">
                <a:latin typeface="+mj-lt"/>
              </a:rPr>
              <a:t> = not </a:t>
            </a:r>
            <a:r>
              <a:rPr lang="en-US" sz="2400" b="1" u="sng" dirty="0">
                <a:latin typeface="+mj-lt"/>
              </a:rPr>
              <a:t>serializable</a:t>
            </a:r>
            <a:endParaRPr lang="en-US" sz="2400" u="sng" dirty="0"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809586" y="1196509"/>
            <a:ext cx="2260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latin typeface="+mj-lt"/>
              </a:rPr>
              <a:t>Serial </a:t>
            </a:r>
            <a:r>
              <a:rPr lang="en-US" sz="2400" u="sng">
                <a:latin typeface="+mj-lt"/>
              </a:rPr>
              <a:t>schedules:</a:t>
            </a:r>
            <a:endParaRPr lang="en-US" sz="2400" u="sng" dirty="0">
              <a:latin typeface="+mj-lt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83499"/>
              </p:ext>
            </p:extLst>
          </p:nvPr>
        </p:nvGraphicFramePr>
        <p:xfrm>
          <a:off x="7809586" y="1764477"/>
          <a:ext cx="3963314" cy="11125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2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9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>
                          <a:sym typeface="Wingdings"/>
                        </a:rPr>
                        <a:t>,</a:t>
                      </a:r>
                      <a:r>
                        <a:rPr lang="en-US" dirty="0">
                          <a:sym typeface="Wingdings"/>
                        </a:rPr>
                        <a:t>T</a:t>
                      </a:r>
                      <a:r>
                        <a:rPr lang="en-US" baseline="-25000" dirty="0">
                          <a:sym typeface="Wingdings"/>
                        </a:rPr>
                        <a:t>2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1.06*(A+100)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1.06*(B-100)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>
                          <a:sym typeface="Wingdings"/>
                        </a:rPr>
                        <a:t>,</a:t>
                      </a:r>
                      <a:r>
                        <a:rPr lang="en-US" dirty="0">
                          <a:sym typeface="Wingdings"/>
                        </a:rPr>
                        <a:t>T</a:t>
                      </a:r>
                      <a:r>
                        <a:rPr lang="en-US" baseline="-25000" dirty="0">
                          <a:sym typeface="Wingdings"/>
                        </a:rPr>
                        <a:t>1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1.06*A + 100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1.06*B - 100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035802"/>
              </p:ext>
            </p:extLst>
          </p:nvPr>
        </p:nvGraphicFramePr>
        <p:xfrm>
          <a:off x="8682167" y="3566742"/>
          <a:ext cx="3090733" cy="7391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9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r>
                        <a:rPr lang="en-US" dirty="0"/>
                        <a:t>1.06*(A+100)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1.06*B - 100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7654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else can go wrong with interleaving?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200" dirty="0"/>
          </a:p>
          <a:p>
            <a:r>
              <a:rPr lang="en-US" sz="3200" dirty="0"/>
              <a:t>Various anomalies which break isolation / </a:t>
            </a:r>
            <a:r>
              <a:rPr lang="en-US" sz="3200" dirty="0" err="1"/>
              <a:t>serializability</a:t>
            </a:r>
            <a:endParaRPr lang="en-US" sz="3200" dirty="0"/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Often referred to by name…</a:t>
            </a:r>
          </a:p>
          <a:p>
            <a:pPr marL="457200" lvl="1" indent="0">
              <a:buNone/>
            </a:pPr>
            <a:endParaRPr lang="en-US" sz="3200" dirty="0"/>
          </a:p>
          <a:p>
            <a:r>
              <a:rPr lang="en-US" sz="3200" dirty="0"/>
              <a:t>Occur because of / with certain “conflicts” between interleaved TXNs</a:t>
            </a:r>
          </a:p>
          <a:p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270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1779"/>
            <a:ext cx="10515600" cy="1325563"/>
          </a:xfrm>
        </p:spPr>
        <p:txBody>
          <a:bodyPr/>
          <a:lstStyle/>
          <a:p>
            <a:r>
              <a:rPr lang="en-US" dirty="0"/>
              <a:t>The DBMS’s view of the schedule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69</a:t>
            </a:fld>
            <a:endParaRPr lang="en-US" dirty="0"/>
          </a:p>
        </p:txBody>
      </p:sp>
      <p:grpSp>
        <p:nvGrpSpPr>
          <p:cNvPr id="28" name="Group 27"/>
          <p:cNvGrpSpPr/>
          <p:nvPr/>
        </p:nvGrpSpPr>
        <p:grpSpPr>
          <a:xfrm>
            <a:off x="838200" y="1529121"/>
            <a:ext cx="4727713" cy="1379065"/>
            <a:chOff x="543325" y="2666677"/>
            <a:chExt cx="10367750" cy="1745405"/>
          </a:xfrm>
        </p:grpSpPr>
        <p:cxnSp>
          <p:nvCxnSpPr>
            <p:cNvPr id="29" name="Straight Arrow Connector 28"/>
            <p:cNvCxnSpPr/>
            <p:nvPr/>
          </p:nvCxnSpPr>
          <p:spPr>
            <a:xfrm>
              <a:off x="1192697" y="4399722"/>
              <a:ext cx="9718378" cy="1236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543325" y="2697456"/>
              <a:ext cx="4812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sz="2800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43325" y="3585352"/>
              <a:ext cx="4796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sz="2800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755754" y="2666678"/>
              <a:ext cx="2197792" cy="467443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+mj-lt"/>
                </a:rPr>
                <a:t>A += 100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631332" y="2666677"/>
              <a:ext cx="2085301" cy="467443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</a:rPr>
                <a:t>B -= 100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010083" y="3585352"/>
              <a:ext cx="2320831" cy="467443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</a:rPr>
                <a:t>A *= 1.06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330672" y="3589229"/>
              <a:ext cx="2306769" cy="467443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</a:rPr>
                <a:t>B *= 1.06</a:t>
              </a:r>
            </a:p>
          </p:txBody>
        </p:sp>
      </p:grpSp>
      <p:cxnSp>
        <p:nvCxnSpPr>
          <p:cNvPr id="40" name="Straight Arrow Connector 39"/>
          <p:cNvCxnSpPr/>
          <p:nvPr/>
        </p:nvCxnSpPr>
        <p:spPr>
          <a:xfrm>
            <a:off x="1467074" y="5793391"/>
            <a:ext cx="8133396" cy="14681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74643" y="4202857"/>
            <a:ext cx="402739" cy="6214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C00000"/>
                </a:solidFill>
                <a:latin typeface="+mj-lt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643" y="5016222"/>
            <a:ext cx="401397" cy="6214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0070C0"/>
                </a:solidFill>
                <a:latin typeface="+mj-lt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7074" y="4251972"/>
            <a:ext cx="792205" cy="52322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>
                <a:latin typeface="+mj-lt"/>
              </a:rPr>
              <a:t>R(A)</a:t>
            </a:r>
            <a:endParaRPr lang="en-US" sz="2800" dirty="0">
              <a:latin typeface="+mj-lt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366210" y="5020827"/>
            <a:ext cx="792205" cy="523220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>
                <a:latin typeface="+mj-lt"/>
              </a:rPr>
              <a:t>R(A)</a:t>
            </a:r>
            <a:endParaRPr lang="en-US" sz="2800" dirty="0">
              <a:latin typeface="+mj-lt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448971" y="4253623"/>
            <a:ext cx="917239" cy="52322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j-lt"/>
              </a:rPr>
              <a:t>W(A)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87570" y="5020827"/>
            <a:ext cx="917239" cy="523220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W(A)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33964" y="5016222"/>
            <a:ext cx="782587" cy="523220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j-lt"/>
              </a:rPr>
              <a:t>R(B)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55324" y="5016222"/>
            <a:ext cx="917239" cy="523220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W(B)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85382" y="4250321"/>
            <a:ext cx="782587" cy="52322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j-lt"/>
              </a:rPr>
              <a:t>R(B)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67279" y="4251972"/>
            <a:ext cx="907621" cy="52322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j-lt"/>
              </a:rPr>
              <a:t>W(B)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9231" y="956642"/>
            <a:ext cx="5916094" cy="2226365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043498" y="1432072"/>
            <a:ext cx="3419060" cy="23083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Each action in the TXNs </a:t>
            </a:r>
            <a:r>
              <a:rPr lang="en-US" sz="2400" i="1" dirty="0">
                <a:latin typeface="+mj-lt"/>
              </a:rPr>
              <a:t>reads a value from global memory</a:t>
            </a:r>
            <a:r>
              <a:rPr lang="en-US" sz="2400" dirty="0">
                <a:latin typeface="+mj-lt"/>
              </a:rPr>
              <a:t> and then </a:t>
            </a:r>
            <a:r>
              <a:rPr lang="en-US" sz="2400" i="1" dirty="0">
                <a:latin typeface="+mj-lt"/>
              </a:rPr>
              <a:t>writes one back to it</a:t>
            </a:r>
          </a:p>
          <a:p>
            <a:endParaRPr lang="en-US" sz="2400" i="1" dirty="0">
              <a:latin typeface="+mj-lt"/>
            </a:endParaRPr>
          </a:p>
          <a:p>
            <a:r>
              <a:rPr lang="en-US" sz="2400" dirty="0">
                <a:latin typeface="+mj-lt"/>
              </a:rPr>
              <a:t>Scheduling order matters!</a:t>
            </a:r>
          </a:p>
        </p:txBody>
      </p:sp>
    </p:spTree>
    <p:extLst>
      <p:ext uri="{BB962C8B-B14F-4D97-AF65-F5344CB8AC3E}">
        <p14:creationId xmlns:p14="http://schemas.microsoft.com/office/powerpoint/2010/main" val="108803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Conflict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43199"/>
            <a:ext cx="7105183" cy="2464265"/>
          </a:xfrm>
        </p:spPr>
        <p:txBody>
          <a:bodyPr>
            <a:normAutofit/>
          </a:bodyPr>
          <a:lstStyle/>
          <a:p>
            <a:pPr lvl="1"/>
            <a:endParaRPr lang="en-US" dirty="0"/>
          </a:p>
          <a:p>
            <a:r>
              <a:rPr lang="en-US" dirty="0"/>
              <a:t>Thus, there are three types of conflicts:</a:t>
            </a:r>
          </a:p>
          <a:p>
            <a:pPr lvl="1"/>
            <a:r>
              <a:rPr lang="en-US" dirty="0"/>
              <a:t>Read-Write conflicts (RW)</a:t>
            </a:r>
          </a:p>
          <a:p>
            <a:pPr lvl="1"/>
            <a:r>
              <a:rPr lang="en-US" dirty="0"/>
              <a:t>Write-Read conflicts (WR) </a:t>
            </a:r>
          </a:p>
          <a:p>
            <a:pPr lvl="1"/>
            <a:r>
              <a:rPr lang="en-US" dirty="0"/>
              <a:t>Write-Write conflicts (WW)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34668" y="3282834"/>
            <a:ext cx="291913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+mj-lt"/>
              </a:rPr>
              <a:t>Why no “RR Conflict”?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2083" y="1686034"/>
            <a:ext cx="10391717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>
                <a:latin typeface="+mj-lt"/>
              </a:rPr>
              <a:t>Two actions </a:t>
            </a:r>
            <a:r>
              <a:rPr lang="en-US" sz="2800" b="1" u="sng" dirty="0">
                <a:latin typeface="+mj-lt"/>
              </a:rPr>
              <a:t>conflict</a:t>
            </a:r>
            <a:r>
              <a:rPr lang="en-US" sz="2800" dirty="0">
                <a:latin typeface="+mj-lt"/>
              </a:rPr>
              <a:t> if they are part of different TXNs, involve the same variable, and at least one of them is a write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83" y="5011521"/>
            <a:ext cx="10391717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+mj-lt"/>
              </a:rPr>
              <a:t>Interleaving anomalies occur with / because of these conflicts between TXNs</a:t>
            </a:r>
            <a:r>
              <a:rPr lang="en-US" sz="2800" dirty="0">
                <a:latin typeface="+mj-lt"/>
              </a:rPr>
              <a:t> </a:t>
            </a:r>
            <a:r>
              <a:rPr lang="en-US" sz="2800" i="1" dirty="0">
                <a:latin typeface="+mj-lt"/>
              </a:rPr>
              <a:t>(but these conflicts can occur without causing anomalies!)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8452" y="6202964"/>
            <a:ext cx="3375348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400" b="1" i="1" dirty="0">
                <a:latin typeface="+mj-lt"/>
              </a:rPr>
              <a:t>See </a:t>
            </a:r>
            <a:r>
              <a:rPr lang="en-US" sz="2400" b="1" i="1">
                <a:latin typeface="+mj-lt"/>
              </a:rPr>
              <a:t>next section for more!</a:t>
            </a:r>
            <a:endParaRPr lang="en-US" sz="2400" b="1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94562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12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4655" y="5933614"/>
            <a:ext cx="6122702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sz="2800" i="1">
                <a:latin typeface="+mj-lt"/>
              </a:rPr>
              <a:t>Occurring </a:t>
            </a:r>
            <a:r>
              <a:rPr lang="en-US" sz="2800" i="1" dirty="0">
                <a:latin typeface="+mj-lt"/>
              </a:rPr>
              <a:t>with </a:t>
            </a:r>
            <a:r>
              <a:rPr lang="en-US" sz="2800" i="1">
                <a:latin typeface="+mj-lt"/>
              </a:rPr>
              <a:t>/ because of a </a:t>
            </a:r>
            <a:r>
              <a:rPr lang="en-US" sz="2800" b="1" i="1" dirty="0">
                <a:latin typeface="+mj-lt"/>
              </a:rPr>
              <a:t>RW conflict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838200" y="361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Classic Anomalies with Interleaved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1785738"/>
            <a:ext cx="37062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+mj-lt"/>
              </a:rPr>
              <a:t>“Unrepeatable read”: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286648" y="5222672"/>
            <a:ext cx="5201449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38200" y="3582236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C00000"/>
                </a:solidFill>
                <a:latin typeface="+mj-l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437882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0070C0"/>
                </a:solidFill>
                <a:latin typeface="+mj-l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8787" y="3582236"/>
            <a:ext cx="792205" cy="52322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j-lt"/>
              </a:rPr>
              <a:t>R(A)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73390" y="3582236"/>
            <a:ext cx="792205" cy="52322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j-lt"/>
              </a:rPr>
              <a:t>R(A)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21526" y="2672946"/>
            <a:ext cx="403227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+mj-lt"/>
              </a:rPr>
              <a:t>T</a:t>
            </a:r>
            <a:r>
              <a:rPr lang="en-US" sz="2400" baseline="-25000" dirty="0">
                <a:latin typeface="+mj-lt"/>
              </a:rPr>
              <a:t>1</a:t>
            </a:r>
            <a:r>
              <a:rPr lang="en-US" sz="2400" dirty="0">
                <a:latin typeface="+mj-lt"/>
              </a:rPr>
              <a:t> </a:t>
            </a:r>
            <a:r>
              <a:rPr lang="en-US" sz="2400" u="sng" dirty="0">
                <a:latin typeface="+mj-lt"/>
              </a:rPr>
              <a:t>reads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some data from A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+mj-lt"/>
              </a:rPr>
              <a:t>T</a:t>
            </a:r>
            <a:r>
              <a:rPr lang="en-US" sz="2400" baseline="-25000" dirty="0">
                <a:latin typeface="+mj-lt"/>
              </a:rPr>
              <a:t>2</a:t>
            </a:r>
            <a:r>
              <a:rPr lang="en-US" sz="2400" dirty="0">
                <a:latin typeface="+mj-lt"/>
              </a:rPr>
              <a:t> </a:t>
            </a:r>
            <a:r>
              <a:rPr lang="en-US" sz="2400" u="sng" dirty="0">
                <a:latin typeface="+mj-lt"/>
              </a:rPr>
              <a:t>writes</a:t>
            </a:r>
            <a:r>
              <a:rPr lang="en-US" sz="2400" dirty="0">
                <a:latin typeface="+mj-lt"/>
              </a:rPr>
              <a:t> to A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+mj-lt"/>
              </a:rPr>
              <a:t>Then, T</a:t>
            </a:r>
            <a:r>
              <a:rPr lang="en-US" sz="2400" baseline="-25000" dirty="0">
                <a:latin typeface="+mj-lt"/>
              </a:rPr>
              <a:t>1</a:t>
            </a:r>
            <a:r>
              <a:rPr lang="en-US" sz="2400" dirty="0">
                <a:latin typeface="+mj-lt"/>
              </a:rPr>
              <a:t> reads from A again </a:t>
            </a:r>
            <a:r>
              <a:rPr lang="en-US" sz="2400" i="1" dirty="0">
                <a:latin typeface="+mj-lt"/>
              </a:rPr>
              <a:t>and now gets a different / inconsistent value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2692474" y="4437882"/>
            <a:ext cx="2549434" cy="528557"/>
            <a:chOff x="2692474" y="4437882"/>
            <a:chExt cx="2549434" cy="528557"/>
          </a:xfrm>
        </p:grpSpPr>
        <p:sp>
          <p:nvSpPr>
            <p:cNvPr id="19" name="TextBox 18"/>
            <p:cNvSpPr txBox="1"/>
            <p:nvPr/>
          </p:nvSpPr>
          <p:spPr>
            <a:xfrm>
              <a:off x="2692474" y="4443219"/>
              <a:ext cx="792205" cy="52322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>
                  <a:latin typeface="+mj-lt"/>
                </a:rPr>
                <a:t>R(A)</a:t>
              </a:r>
              <a:endParaRPr lang="en-US" sz="2800" dirty="0">
                <a:latin typeface="+mj-lt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716161" y="4442140"/>
              <a:ext cx="917239" cy="52322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+mj-lt"/>
                </a:rPr>
                <a:t>W(A)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864882" y="4437882"/>
              <a:ext cx="377026" cy="52322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+mj-lt"/>
                </a:rPr>
                <a:t>C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838200" y="2672946"/>
            <a:ext cx="13236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+mj-lt"/>
              </a:rPr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89170415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  <p:bldP spid="18" grpId="0" animBg="1"/>
      <p:bldP spid="10" grpId="0" uiExpand="1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2153" y="5933614"/>
            <a:ext cx="6127704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sz="2800" i="1">
                <a:latin typeface="+mj-lt"/>
              </a:rPr>
              <a:t>Occurring with / because of </a:t>
            </a:r>
            <a:r>
              <a:rPr lang="en-US" sz="2800" i="1" dirty="0">
                <a:latin typeface="+mj-lt"/>
              </a:rPr>
              <a:t>a </a:t>
            </a:r>
            <a:r>
              <a:rPr lang="en-US" sz="2800" b="1" i="1" dirty="0">
                <a:latin typeface="+mj-lt"/>
              </a:rPr>
              <a:t>WR conflict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838200" y="361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Classic Anomalies with Interleaved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1785738"/>
            <a:ext cx="706052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+mj-lt"/>
              </a:rPr>
              <a:t>“Dirty read” / Reading uncommitted data: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286648" y="5222672"/>
            <a:ext cx="5201449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38200" y="3582236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C00000"/>
                </a:solidFill>
                <a:latin typeface="+mj-l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437882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0070C0"/>
                </a:solidFill>
                <a:latin typeface="+mj-l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0811" y="3582236"/>
            <a:ext cx="917239" cy="52322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j-lt"/>
              </a:rPr>
              <a:t>W(A)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5645" y="3588095"/>
            <a:ext cx="386644" cy="52322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j-lt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21526" y="2672946"/>
            <a:ext cx="403227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+mj-lt"/>
              </a:rPr>
              <a:t>T</a:t>
            </a:r>
            <a:r>
              <a:rPr lang="en-US" sz="2400" baseline="-25000" dirty="0">
                <a:latin typeface="+mj-lt"/>
              </a:rPr>
              <a:t>1</a:t>
            </a:r>
            <a:r>
              <a:rPr lang="en-US" sz="2400" dirty="0">
                <a:latin typeface="+mj-lt"/>
              </a:rPr>
              <a:t> </a:t>
            </a:r>
            <a:r>
              <a:rPr lang="en-US" sz="2400" u="sng" dirty="0">
                <a:latin typeface="+mj-lt"/>
              </a:rPr>
              <a:t>writes</a:t>
            </a:r>
            <a:r>
              <a:rPr lang="en-US" sz="2400" dirty="0">
                <a:latin typeface="+mj-lt"/>
              </a:rPr>
              <a:t> some data to A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+mj-lt"/>
              </a:rPr>
              <a:t>T</a:t>
            </a:r>
            <a:r>
              <a:rPr lang="en-US" sz="2400" baseline="-25000" dirty="0">
                <a:latin typeface="+mj-lt"/>
              </a:rPr>
              <a:t>2</a:t>
            </a:r>
            <a:r>
              <a:rPr lang="en-US" sz="2400" dirty="0">
                <a:latin typeface="+mj-lt"/>
              </a:rPr>
              <a:t> </a:t>
            </a:r>
            <a:r>
              <a:rPr lang="en-US" sz="2400" u="sng" dirty="0">
                <a:latin typeface="+mj-lt"/>
              </a:rPr>
              <a:t>reads</a:t>
            </a:r>
            <a:r>
              <a:rPr lang="en-US" sz="2400" dirty="0">
                <a:latin typeface="+mj-lt"/>
              </a:rPr>
              <a:t> from A, then writes back to A &amp; commits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+mj-lt"/>
              </a:rPr>
              <a:t>T</a:t>
            </a:r>
            <a:r>
              <a:rPr lang="en-US" sz="2400" baseline="-25000" dirty="0">
                <a:latin typeface="+mj-lt"/>
              </a:rPr>
              <a:t>1</a:t>
            </a:r>
            <a:r>
              <a:rPr lang="en-US" sz="2400" dirty="0">
                <a:latin typeface="+mj-lt"/>
              </a:rPr>
              <a:t> then aborts- </a:t>
            </a:r>
            <a:r>
              <a:rPr lang="en-US" sz="2400" i="1" dirty="0">
                <a:latin typeface="+mj-lt"/>
              </a:rPr>
              <a:t>now T</a:t>
            </a:r>
            <a:r>
              <a:rPr lang="en-US" sz="2400" i="1" baseline="-25000" dirty="0">
                <a:latin typeface="+mj-lt"/>
              </a:rPr>
              <a:t>2</a:t>
            </a:r>
            <a:r>
              <a:rPr lang="en-US" sz="2400" i="1" dirty="0">
                <a:latin typeface="+mj-lt"/>
              </a:rPr>
              <a:t>’s result is based on an obsolete / inconsistent value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763331" y="4437882"/>
            <a:ext cx="2497032" cy="523220"/>
            <a:chOff x="2763331" y="4437882"/>
            <a:chExt cx="2497032" cy="523220"/>
          </a:xfrm>
        </p:grpSpPr>
        <p:sp>
          <p:nvSpPr>
            <p:cNvPr id="19" name="TextBox 18"/>
            <p:cNvSpPr txBox="1"/>
            <p:nvPr/>
          </p:nvSpPr>
          <p:spPr>
            <a:xfrm>
              <a:off x="2763331" y="4437882"/>
              <a:ext cx="792205" cy="52322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>
                  <a:latin typeface="+mj-lt"/>
                </a:rPr>
                <a:t>R(A)</a:t>
              </a:r>
              <a:endParaRPr lang="en-US" sz="2800" dirty="0">
                <a:latin typeface="+mj-lt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760817" y="4437882"/>
              <a:ext cx="917239" cy="52322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+mj-lt"/>
                </a:rPr>
                <a:t>W(A)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883337" y="4437882"/>
              <a:ext cx="377026" cy="52322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+mj-lt"/>
                </a:rPr>
                <a:t>C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838200" y="2672946"/>
            <a:ext cx="13236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+mj-lt"/>
              </a:rPr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127660044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  <p:bldP spid="18" grpId="0" animBg="1"/>
      <p:bldP spid="10" grpId="0" uiExpand="1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838200" y="361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Classic Anomalies with Interleaved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1785738"/>
            <a:ext cx="77831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+mj-lt"/>
              </a:rPr>
              <a:t>“Inconsistent read” / Reading partial commits: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397833" y="5211506"/>
            <a:ext cx="6538003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38200" y="3582236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C00000"/>
                </a:solidFill>
                <a:latin typeface="+mj-l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437882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0070C0"/>
                </a:solidFill>
                <a:latin typeface="+mj-l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5489" y="3526846"/>
            <a:ext cx="811441" cy="461665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W(A)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3778" y="2469221"/>
            <a:ext cx="380416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+mj-lt"/>
              </a:rPr>
              <a:t>T</a:t>
            </a:r>
            <a:r>
              <a:rPr lang="en-US" sz="2400" baseline="-25000" dirty="0">
                <a:latin typeface="+mj-lt"/>
              </a:rPr>
              <a:t>1</a:t>
            </a:r>
            <a:r>
              <a:rPr lang="en-US" sz="2400" dirty="0">
                <a:latin typeface="+mj-lt"/>
              </a:rPr>
              <a:t> </a:t>
            </a:r>
            <a:r>
              <a:rPr lang="en-US" sz="2400" u="sng" dirty="0">
                <a:latin typeface="+mj-lt"/>
              </a:rPr>
              <a:t>writes</a:t>
            </a:r>
            <a:r>
              <a:rPr lang="en-US" sz="2400" dirty="0">
                <a:latin typeface="+mj-lt"/>
              </a:rPr>
              <a:t> some data to A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+mj-lt"/>
              </a:rPr>
              <a:t>T</a:t>
            </a:r>
            <a:r>
              <a:rPr lang="en-US" sz="2400" baseline="-25000" dirty="0">
                <a:latin typeface="+mj-lt"/>
              </a:rPr>
              <a:t>2</a:t>
            </a:r>
            <a:r>
              <a:rPr lang="en-US" sz="2400" dirty="0">
                <a:latin typeface="+mj-lt"/>
              </a:rPr>
              <a:t> </a:t>
            </a:r>
            <a:r>
              <a:rPr lang="en-US" sz="2400" u="sng" dirty="0">
                <a:latin typeface="+mj-lt"/>
              </a:rPr>
              <a:t>reads</a:t>
            </a:r>
            <a:r>
              <a:rPr lang="en-US" sz="2400" dirty="0">
                <a:latin typeface="+mj-lt"/>
              </a:rPr>
              <a:t> from A </a:t>
            </a:r>
            <a:r>
              <a:rPr lang="en-US" sz="2400" i="1" dirty="0">
                <a:latin typeface="+mj-lt"/>
              </a:rPr>
              <a:t>and B</a:t>
            </a:r>
            <a:r>
              <a:rPr lang="en-US" sz="2400" dirty="0">
                <a:latin typeface="+mj-lt"/>
              </a:rPr>
              <a:t>, and then writes some value which depends on A &amp; B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+mj-lt"/>
              </a:rPr>
              <a:t>T</a:t>
            </a:r>
            <a:r>
              <a:rPr lang="en-US" sz="2400" baseline="-25000" dirty="0">
                <a:latin typeface="+mj-lt"/>
              </a:rPr>
              <a:t>1</a:t>
            </a:r>
            <a:r>
              <a:rPr lang="en-US" sz="2400" dirty="0">
                <a:latin typeface="+mj-lt"/>
              </a:rPr>
              <a:t> then writes to B- </a:t>
            </a:r>
            <a:r>
              <a:rPr lang="en-US" sz="2400" i="1" dirty="0">
                <a:latin typeface="+mj-lt"/>
              </a:rPr>
              <a:t>now T</a:t>
            </a:r>
            <a:r>
              <a:rPr lang="en-US" sz="2400" i="1" baseline="-25000" dirty="0">
                <a:latin typeface="+mj-lt"/>
              </a:rPr>
              <a:t>2</a:t>
            </a:r>
            <a:r>
              <a:rPr lang="en-US" sz="2400" i="1" dirty="0">
                <a:latin typeface="+mj-lt"/>
              </a:rPr>
              <a:t>’s result is based on an incomplete commit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672946"/>
            <a:ext cx="13236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+mj-lt"/>
              </a:rPr>
              <a:t>Example: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6304264" y="3526846"/>
            <a:ext cx="1293015" cy="461666"/>
            <a:chOff x="5181455" y="3526845"/>
            <a:chExt cx="1293015" cy="461666"/>
          </a:xfrm>
        </p:grpSpPr>
        <p:sp>
          <p:nvSpPr>
            <p:cNvPr id="18" name="TextBox 17"/>
            <p:cNvSpPr txBox="1"/>
            <p:nvPr/>
          </p:nvSpPr>
          <p:spPr>
            <a:xfrm>
              <a:off x="5181455" y="3526846"/>
              <a:ext cx="803425" cy="461665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W(B)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124694" y="3526845"/>
              <a:ext cx="349776" cy="461665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C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598115" y="4393320"/>
            <a:ext cx="3526579" cy="461665"/>
            <a:chOff x="2486930" y="4404486"/>
            <a:chExt cx="3526579" cy="461665"/>
          </a:xfrm>
        </p:grpSpPr>
        <p:sp>
          <p:nvSpPr>
            <p:cNvPr id="19" name="TextBox 18"/>
            <p:cNvSpPr txBox="1"/>
            <p:nvPr/>
          </p:nvSpPr>
          <p:spPr>
            <a:xfrm>
              <a:off x="2486930" y="4404486"/>
              <a:ext cx="704039" cy="461665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>
                  <a:latin typeface="+mj-lt"/>
                </a:rPr>
                <a:t>R(A)</a:t>
              </a:r>
              <a:endParaRPr lang="en-US" sz="2400" dirty="0">
                <a:latin typeface="+mj-lt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663733" y="4404486"/>
              <a:ext cx="349776" cy="461665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C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306044" y="4404486"/>
              <a:ext cx="696024" cy="461665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R(B)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17143" y="4404486"/>
              <a:ext cx="1449436" cy="461665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W(C=A*B)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3026089" y="6065406"/>
            <a:ext cx="6139822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sz="2800" i="1" dirty="0">
                <a:latin typeface="+mj-lt"/>
              </a:rPr>
              <a:t>Again, occurring because of a </a:t>
            </a:r>
            <a:r>
              <a:rPr lang="en-US" sz="2800" b="1" i="1" dirty="0">
                <a:latin typeface="+mj-lt"/>
              </a:rPr>
              <a:t>WR conflict</a:t>
            </a:r>
          </a:p>
        </p:txBody>
      </p:sp>
    </p:spTree>
    <p:extLst>
      <p:ext uri="{BB962C8B-B14F-4D97-AF65-F5344CB8AC3E}">
        <p14:creationId xmlns:p14="http://schemas.microsoft.com/office/powerpoint/2010/main" val="119721639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0" grpId="0" uiExpand="1" build="p"/>
      <p:bldP spid="2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838200" y="361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Classic Anomalies with Interleaved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1785738"/>
            <a:ext cx="357783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+mj-lt"/>
              </a:rPr>
              <a:t>Partially-lost update: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286648" y="5222672"/>
            <a:ext cx="5201449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38200" y="3582236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C00000"/>
                </a:solidFill>
                <a:latin typeface="+mj-l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437882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0070C0"/>
                </a:solidFill>
                <a:latin typeface="+mj-l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8663" y="3582236"/>
            <a:ext cx="917239" cy="52322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j-lt"/>
              </a:rPr>
              <a:t>W(A)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21526" y="2672946"/>
            <a:ext cx="44199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+mj-lt"/>
              </a:rPr>
              <a:t>T</a:t>
            </a:r>
            <a:r>
              <a:rPr lang="en-US" sz="2400" baseline="-25000" dirty="0">
                <a:latin typeface="+mj-lt"/>
              </a:rPr>
              <a:t>1</a:t>
            </a:r>
            <a:r>
              <a:rPr lang="en-US" sz="2400" dirty="0">
                <a:latin typeface="+mj-lt"/>
              </a:rPr>
              <a:t> </a:t>
            </a:r>
            <a:r>
              <a:rPr lang="en-US" sz="2400" i="1" u="sng" dirty="0">
                <a:latin typeface="+mj-lt"/>
              </a:rPr>
              <a:t>blind </a:t>
            </a:r>
            <a:r>
              <a:rPr lang="en-US" sz="2400" u="sng" dirty="0">
                <a:latin typeface="+mj-lt"/>
              </a:rPr>
              <a:t>writes</a:t>
            </a:r>
            <a:r>
              <a:rPr lang="en-US" sz="2400" dirty="0">
                <a:latin typeface="+mj-lt"/>
              </a:rPr>
              <a:t> some data to A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+mj-lt"/>
              </a:rPr>
              <a:t>T</a:t>
            </a:r>
            <a:r>
              <a:rPr lang="en-US" sz="2400" baseline="-25000" dirty="0">
                <a:latin typeface="+mj-lt"/>
              </a:rPr>
              <a:t>2</a:t>
            </a:r>
            <a:r>
              <a:rPr lang="en-US" sz="2400" dirty="0">
                <a:latin typeface="+mj-lt"/>
              </a:rPr>
              <a:t> </a:t>
            </a:r>
            <a:r>
              <a:rPr lang="en-US" sz="2400" i="1" u="sng" dirty="0">
                <a:latin typeface="+mj-lt"/>
              </a:rPr>
              <a:t>blind </a:t>
            </a:r>
            <a:r>
              <a:rPr lang="en-US" sz="2400" u="sng" dirty="0">
                <a:latin typeface="+mj-lt"/>
              </a:rPr>
              <a:t>writes</a:t>
            </a:r>
            <a:r>
              <a:rPr lang="en-US" sz="2400" dirty="0">
                <a:latin typeface="+mj-lt"/>
              </a:rPr>
              <a:t> to A </a:t>
            </a:r>
            <a:r>
              <a:rPr lang="en-US" sz="2400" i="1" dirty="0">
                <a:latin typeface="+mj-lt"/>
              </a:rPr>
              <a:t>and B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+mj-lt"/>
              </a:rPr>
              <a:t>T</a:t>
            </a:r>
            <a:r>
              <a:rPr lang="en-US" sz="2400" baseline="-25000" dirty="0">
                <a:latin typeface="+mj-lt"/>
              </a:rPr>
              <a:t>1</a:t>
            </a:r>
            <a:r>
              <a:rPr lang="en-US" sz="2400" dirty="0">
                <a:latin typeface="+mj-lt"/>
              </a:rPr>
              <a:t> then </a:t>
            </a:r>
            <a:r>
              <a:rPr lang="en-US" sz="2400" i="1" u="sng" dirty="0">
                <a:latin typeface="+mj-lt"/>
              </a:rPr>
              <a:t>blind </a:t>
            </a:r>
            <a:r>
              <a:rPr lang="en-US" sz="2400" u="sng" dirty="0">
                <a:latin typeface="+mj-lt"/>
              </a:rPr>
              <a:t>writes</a:t>
            </a:r>
            <a:r>
              <a:rPr lang="en-US" sz="2400" dirty="0">
                <a:latin typeface="+mj-lt"/>
              </a:rPr>
              <a:t> to B; now we have T</a:t>
            </a:r>
            <a:r>
              <a:rPr lang="en-US" sz="2400" baseline="-25000" dirty="0">
                <a:latin typeface="+mj-lt"/>
              </a:rPr>
              <a:t>2</a:t>
            </a:r>
            <a:r>
              <a:rPr lang="en-US" sz="2400" dirty="0">
                <a:latin typeface="+mj-lt"/>
              </a:rPr>
              <a:t>’s value for B and T</a:t>
            </a:r>
            <a:r>
              <a:rPr lang="en-US" sz="2400" baseline="-25000" dirty="0">
                <a:latin typeface="+mj-lt"/>
              </a:rPr>
              <a:t>1</a:t>
            </a:r>
            <a:r>
              <a:rPr lang="en-US" sz="2400" dirty="0">
                <a:latin typeface="+mj-lt"/>
              </a:rPr>
              <a:t>’s value for A-</a:t>
            </a:r>
            <a:r>
              <a:rPr lang="en-US" sz="2400" i="1" dirty="0">
                <a:latin typeface="+mj-lt"/>
              </a:rPr>
              <a:t> </a:t>
            </a:r>
            <a:r>
              <a:rPr lang="en-US" sz="2400" b="1" i="1" dirty="0">
                <a:latin typeface="+mj-lt"/>
              </a:rPr>
              <a:t>not equivalent to any serial schedule!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672946"/>
            <a:ext cx="13236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+mj-lt"/>
              </a:rPr>
              <a:t>Example: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260608" y="3582236"/>
            <a:ext cx="1405353" cy="523220"/>
            <a:chOff x="5260608" y="3582236"/>
            <a:chExt cx="1405353" cy="523220"/>
          </a:xfrm>
        </p:grpSpPr>
        <p:sp>
          <p:nvSpPr>
            <p:cNvPr id="18" name="TextBox 17"/>
            <p:cNvSpPr txBox="1"/>
            <p:nvPr/>
          </p:nvSpPr>
          <p:spPr>
            <a:xfrm>
              <a:off x="5260608" y="3582236"/>
              <a:ext cx="907621" cy="52322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+mj-lt"/>
                </a:rPr>
                <a:t>W(B)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288935" y="3582236"/>
              <a:ext cx="377026" cy="52322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>
                  <a:latin typeface="+mj-lt"/>
                </a:rPr>
                <a:t>C</a:t>
              </a:r>
              <a:endParaRPr lang="en-US" sz="2800" dirty="0">
                <a:latin typeface="+mj-lt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696607" y="4437882"/>
            <a:ext cx="2443296" cy="528009"/>
            <a:chOff x="2696607" y="4437882"/>
            <a:chExt cx="2443296" cy="528009"/>
          </a:xfrm>
        </p:grpSpPr>
        <p:sp>
          <p:nvSpPr>
            <p:cNvPr id="19" name="TextBox 18"/>
            <p:cNvSpPr txBox="1"/>
            <p:nvPr/>
          </p:nvSpPr>
          <p:spPr>
            <a:xfrm>
              <a:off x="2696607" y="4437882"/>
              <a:ext cx="917239" cy="52322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+mj-lt"/>
                </a:rPr>
                <a:t>W(A)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762877" y="4437882"/>
              <a:ext cx="377026" cy="52322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+mj-lt"/>
                </a:rPr>
                <a:t>C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734551" y="4442671"/>
              <a:ext cx="907621" cy="52322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+mj-lt"/>
                </a:rPr>
                <a:t>W(B)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3437259" y="6016932"/>
            <a:ext cx="5317481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sz="2800" i="1" dirty="0">
                <a:latin typeface="+mj-lt"/>
              </a:rPr>
              <a:t>Occurring because of a </a:t>
            </a:r>
            <a:r>
              <a:rPr lang="en-US" sz="2800" b="1" i="1" dirty="0">
                <a:latin typeface="+mj-lt"/>
              </a:rPr>
              <a:t>WW conflict</a:t>
            </a:r>
          </a:p>
        </p:txBody>
      </p:sp>
    </p:spTree>
    <p:extLst>
      <p:ext uri="{BB962C8B-B14F-4D97-AF65-F5344CB8AC3E}">
        <p14:creationId xmlns:p14="http://schemas.microsoft.com/office/powerpoint/2010/main" val="198566708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0" grpId="0" uiExpand="1" build="p"/>
      <p:bldP spid="22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Conflict Serializability, Locking &amp; Deadlock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1831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Concurrency as Interleaving TXNs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24426" y="1825624"/>
            <a:ext cx="4381435" cy="3806825"/>
          </a:xfrm>
        </p:spPr>
        <p:txBody>
          <a:bodyPr>
            <a:noAutofit/>
          </a:bodyPr>
          <a:lstStyle/>
          <a:p>
            <a:r>
              <a:rPr lang="en-US" dirty="0"/>
              <a:t>For our purposes, having TXNs occur concurrently means </a:t>
            </a:r>
            <a:r>
              <a:rPr lang="en-US" b="1" dirty="0"/>
              <a:t>interleaving their component actions (R/W)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76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826076" y="4239066"/>
            <a:ext cx="3527724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We call the particular order of interleaving </a:t>
            </a:r>
            <a:r>
              <a:rPr lang="en-US" sz="2800">
                <a:latin typeface="+mj-lt"/>
              </a:rPr>
              <a:t>a </a:t>
            </a:r>
            <a:r>
              <a:rPr lang="en-US" sz="2800" b="1" u="sng">
                <a:latin typeface="+mj-lt"/>
              </a:rPr>
              <a:t>schedule</a:t>
            </a:r>
            <a:endParaRPr lang="en-US" sz="2800" b="1" i="1" dirty="0">
              <a:latin typeface="+mj-lt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1095464" y="3454313"/>
            <a:ext cx="6009210" cy="10013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5" y="2286922"/>
            <a:ext cx="297556" cy="423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C00000"/>
                </a:solidFill>
                <a:latin typeface="+mj-lt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725" y="2837070"/>
            <a:ext cx="296564" cy="423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0070C0"/>
                </a:solidFill>
                <a:latin typeface="+mj-lt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5464" y="2375357"/>
            <a:ext cx="620622" cy="40011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>
                <a:latin typeface="+mj-lt"/>
              </a:rPr>
              <a:t>R(A)</a:t>
            </a:r>
            <a:endParaRPr lang="en-US" sz="2000" dirty="0">
              <a:latin typeface="+mj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04289" y="2375357"/>
            <a:ext cx="614194" cy="40011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>
                <a:latin typeface="+mj-lt"/>
              </a:rPr>
              <a:t>R(B)</a:t>
            </a:r>
            <a:endParaRPr lang="en-US" sz="2000" dirty="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804881" y="2375357"/>
            <a:ext cx="710613" cy="40011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W(A)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07278" y="2375357"/>
            <a:ext cx="710613" cy="40011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W(B)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725" y="1690688"/>
            <a:ext cx="2098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u="sng" dirty="0">
                <a:latin typeface="+mj-lt"/>
              </a:rPr>
              <a:t>Serial Schedule</a:t>
            </a:r>
            <a:r>
              <a:rPr lang="en-US" sz="2400" u="sng" dirty="0">
                <a:latin typeface="+mj-lt"/>
              </a:rPr>
              <a:t>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09081" y="2860811"/>
            <a:ext cx="620622" cy="400110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>
                <a:latin typeface="+mj-lt"/>
              </a:rPr>
              <a:t>R(A)</a:t>
            </a:r>
            <a:endParaRPr lang="en-US" sz="2000" dirty="0">
              <a:latin typeface="+mj-lt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17906" y="2860811"/>
            <a:ext cx="614194" cy="400110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>
                <a:latin typeface="+mj-lt"/>
              </a:rPr>
              <a:t>R(B)</a:t>
            </a:r>
            <a:endParaRPr lang="en-US" sz="2000" dirty="0">
              <a:latin typeface="+mj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818498" y="2860811"/>
            <a:ext cx="710613" cy="400110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W(A)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0895" y="2860811"/>
            <a:ext cx="710613" cy="400110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W(B)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1095464" y="6098955"/>
            <a:ext cx="6009210" cy="10013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05725" y="4931564"/>
            <a:ext cx="297556" cy="423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C00000"/>
                </a:solidFill>
                <a:latin typeface="+mj-lt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5725" y="5481712"/>
            <a:ext cx="296564" cy="423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0070C0"/>
                </a:solidFill>
                <a:latin typeface="+mj-lt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5464" y="5019999"/>
            <a:ext cx="620622" cy="40011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>
                <a:latin typeface="+mj-lt"/>
              </a:rPr>
              <a:t>R(A)</a:t>
            </a:r>
            <a:endParaRPr lang="en-US" sz="2000" dirty="0">
              <a:latin typeface="+mj-lt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109081" y="5019999"/>
            <a:ext cx="614194" cy="40011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>
                <a:latin typeface="+mj-lt"/>
              </a:rPr>
              <a:t>R(B)</a:t>
            </a:r>
            <a:endParaRPr lang="en-US" sz="2000" dirty="0">
              <a:latin typeface="+mj-lt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804881" y="5019999"/>
            <a:ext cx="710613" cy="40011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W(A)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12070" y="5019999"/>
            <a:ext cx="710613" cy="40011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W(B)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5725" y="4335330"/>
            <a:ext cx="27958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u="sng" dirty="0">
                <a:latin typeface="+mj-lt"/>
              </a:rPr>
              <a:t>Interleaved Schedule</a:t>
            </a:r>
            <a:r>
              <a:rPr lang="en-US" sz="2400" u="sng" dirty="0">
                <a:latin typeface="+mj-lt"/>
              </a:rPr>
              <a:t>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04289" y="5505453"/>
            <a:ext cx="620622" cy="400110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>
                <a:latin typeface="+mj-lt"/>
              </a:rPr>
              <a:t>R(A)</a:t>
            </a:r>
            <a:endParaRPr lang="en-US" sz="2000" dirty="0">
              <a:latin typeface="+mj-lt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617906" y="5505453"/>
            <a:ext cx="614194" cy="400110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>
                <a:latin typeface="+mj-lt"/>
              </a:rPr>
              <a:t>R(B)</a:t>
            </a:r>
            <a:endParaRPr lang="en-US" sz="2000" dirty="0">
              <a:latin typeface="+mj-lt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313706" y="5505453"/>
            <a:ext cx="710613" cy="400110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W(A)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0895" y="5505453"/>
            <a:ext cx="710613" cy="400110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W(B)</a:t>
            </a:r>
          </a:p>
        </p:txBody>
      </p:sp>
      <p:sp>
        <p:nvSpPr>
          <p:cNvPr id="57" name="Down Arrow 56"/>
          <p:cNvSpPr/>
          <p:nvPr/>
        </p:nvSpPr>
        <p:spPr>
          <a:xfrm>
            <a:off x="3825551" y="3657718"/>
            <a:ext cx="597159" cy="699678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“Good” vs. “bad” schedules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77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22517" y="5742027"/>
            <a:ext cx="11146962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We want to develop ways of discerning “good” vs. “bad” schedules</a:t>
            </a:r>
            <a:endParaRPr lang="en-US" sz="3200" b="1" i="1" dirty="0"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5725" y="1690688"/>
            <a:ext cx="2098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u="sng" dirty="0">
                <a:latin typeface="+mj-lt"/>
              </a:rPr>
              <a:t>Serial Schedule</a:t>
            </a:r>
            <a:r>
              <a:rPr lang="en-US" sz="2400" u="sng" dirty="0">
                <a:latin typeface="+mj-lt"/>
              </a:rPr>
              <a:t>: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512690" y="2299162"/>
            <a:ext cx="4861978" cy="976527"/>
            <a:chOff x="542809" y="2322356"/>
            <a:chExt cx="6561865" cy="965384"/>
          </a:xfrm>
        </p:grpSpPr>
        <p:cxnSp>
          <p:nvCxnSpPr>
            <p:cNvPr id="18" name="Straight Arrow Connector 17"/>
            <p:cNvCxnSpPr/>
            <p:nvPr/>
          </p:nvCxnSpPr>
          <p:spPr>
            <a:xfrm>
              <a:off x="1095463" y="3277727"/>
              <a:ext cx="6009211" cy="10013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542809" y="2322356"/>
              <a:ext cx="506683" cy="365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42809" y="2769531"/>
              <a:ext cx="506683" cy="365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95463" y="2375357"/>
              <a:ext cx="617475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R(A)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604287" y="2375357"/>
              <a:ext cx="641564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R(B)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804881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W(A)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355327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W(B)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109083" y="2860811"/>
              <a:ext cx="620621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R(A)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617906" y="2860811"/>
              <a:ext cx="607630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R(B)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818498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W(A)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320895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W(B)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6736209" y="2299162"/>
            <a:ext cx="4861978" cy="976527"/>
            <a:chOff x="542809" y="2322356"/>
            <a:chExt cx="6561865" cy="965384"/>
          </a:xfrm>
        </p:grpSpPr>
        <p:cxnSp>
          <p:nvCxnSpPr>
            <p:cNvPr id="46" name="Straight Arrow Connector 45"/>
            <p:cNvCxnSpPr/>
            <p:nvPr/>
          </p:nvCxnSpPr>
          <p:spPr>
            <a:xfrm>
              <a:off x="1095463" y="3277727"/>
              <a:ext cx="6009211" cy="10013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542809" y="2322356"/>
              <a:ext cx="506683" cy="365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42809" y="2769531"/>
              <a:ext cx="506683" cy="365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095463" y="2375357"/>
              <a:ext cx="617475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R(A)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067457" y="2375357"/>
              <a:ext cx="641564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R(B)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804881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W(A)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818497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W(B)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645912" y="2860811"/>
              <a:ext cx="620621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R(A)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617906" y="2860811"/>
              <a:ext cx="607630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R(B)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355327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W(A)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320895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W(B)</a:t>
              </a: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6736209" y="4091868"/>
            <a:ext cx="4861978" cy="976527"/>
            <a:chOff x="542809" y="2322356"/>
            <a:chExt cx="6561865" cy="965384"/>
          </a:xfrm>
        </p:grpSpPr>
        <p:cxnSp>
          <p:nvCxnSpPr>
            <p:cNvPr id="58" name="Straight Arrow Connector 57"/>
            <p:cNvCxnSpPr/>
            <p:nvPr/>
          </p:nvCxnSpPr>
          <p:spPr>
            <a:xfrm>
              <a:off x="1095463" y="3277727"/>
              <a:ext cx="6009211" cy="10013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542809" y="2322356"/>
              <a:ext cx="506683" cy="365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42809" y="2769531"/>
              <a:ext cx="506683" cy="365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095463" y="2375357"/>
              <a:ext cx="617475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R(A)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617905" y="2375357"/>
              <a:ext cx="641564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R(B)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804881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W(A)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368946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W(B)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645912" y="2860811"/>
              <a:ext cx="620621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R(A)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154735" y="2860811"/>
              <a:ext cx="607630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R(B)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355327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W(A)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857724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W(B)</a:t>
              </a:r>
            </a:p>
          </p:txBody>
        </p:sp>
      </p:grpSp>
      <p:sp>
        <p:nvSpPr>
          <p:cNvPr id="11" name="Right Arrow 10"/>
          <p:cNvSpPr/>
          <p:nvPr/>
        </p:nvSpPr>
        <p:spPr>
          <a:xfrm>
            <a:off x="5812971" y="2629774"/>
            <a:ext cx="718458" cy="214058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ight Arrow 68"/>
          <p:cNvSpPr/>
          <p:nvPr/>
        </p:nvSpPr>
        <p:spPr>
          <a:xfrm rot="2307267">
            <a:off x="5736769" y="3535713"/>
            <a:ext cx="718458" cy="214058"/>
          </a:xfrm>
          <a:prstGeom prst="rightArrow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748124" y="36645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  <a:latin typeface="+mj-lt"/>
              </a:rPr>
              <a:t>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85270" y="1690688"/>
            <a:ext cx="2914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u="sng" dirty="0">
                <a:latin typeface="+mj-lt"/>
              </a:rPr>
              <a:t>Interleaved Schedules</a:t>
            </a:r>
            <a:r>
              <a:rPr lang="en-US" sz="2400" u="sng" dirty="0">
                <a:latin typeface="+mj-lt"/>
              </a:rPr>
              <a:t>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62678" y="3956907"/>
            <a:ext cx="1124219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Why?</a:t>
            </a:r>
            <a:endParaRPr lang="en-US" sz="3200" b="1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578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1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Ways of Defining “Good” vs. “Bad” Schedules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90688"/>
            <a:ext cx="10515600" cy="4786311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Recall from last time: we call a schedule </a:t>
            </a:r>
            <a:r>
              <a:rPr lang="en-US" b="1" i="1" dirty="0"/>
              <a:t>serializable</a:t>
            </a:r>
            <a:r>
              <a:rPr lang="en-US" dirty="0"/>
              <a:t> if it is equivalent to </a:t>
            </a:r>
            <a:r>
              <a:rPr lang="en-US" i="1" dirty="0"/>
              <a:t>some</a:t>
            </a:r>
            <a:r>
              <a:rPr lang="en-US" dirty="0"/>
              <a:t> serial schedule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sz="2800" dirty="0"/>
              <a:t>We used this as a notion of a “good” interleaved schedule, since </a:t>
            </a:r>
            <a:r>
              <a:rPr lang="en-US" sz="2800" b="1" dirty="0"/>
              <a:t>a serializable schedule will maintain isolation &amp; consistency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Now, we’ll define a stricter, but very useful variant:</a:t>
            </a:r>
          </a:p>
          <a:p>
            <a:pPr lvl="1"/>
            <a:endParaRPr lang="en-US" dirty="0"/>
          </a:p>
          <a:p>
            <a:pPr lvl="1"/>
            <a:r>
              <a:rPr lang="en-US" sz="2800" b="1" i="1" u="sng" dirty="0"/>
              <a:t>Conflict </a:t>
            </a:r>
            <a:r>
              <a:rPr lang="en-US" sz="2800" b="1" i="1" u="sng" dirty="0" err="1"/>
              <a:t>serializability</a:t>
            </a:r>
            <a:endParaRPr lang="en-US" sz="2800" b="1" i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754610" y="5218150"/>
            <a:ext cx="2782901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We’ll need to define </a:t>
            </a:r>
            <a:r>
              <a:rPr lang="en-US" sz="2400" b="1" i="1" dirty="0">
                <a:latin typeface="+mj-lt"/>
              </a:rPr>
              <a:t>conflicts</a:t>
            </a:r>
            <a:r>
              <a:rPr lang="en-US" sz="2400" dirty="0">
                <a:latin typeface="+mj-lt"/>
              </a:rPr>
              <a:t> first..</a:t>
            </a:r>
          </a:p>
        </p:txBody>
      </p:sp>
    </p:spTree>
    <p:extLst>
      <p:ext uri="{BB962C8B-B14F-4D97-AF65-F5344CB8AC3E}">
        <p14:creationId xmlns:p14="http://schemas.microsoft.com/office/powerpoint/2010/main" val="1889650554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  <p:bldP spid="8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C755C-97A5-A5B6-E827-5E481E25E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93008-FAFA-8DED-0BB3-785E10B33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A35A382-9B4B-85DE-9CFC-8DB725CFEFC6}"/>
              </a:ext>
            </a:extLst>
          </p:cNvPr>
          <p:cNvGrpSpPr/>
          <p:nvPr/>
        </p:nvGrpSpPr>
        <p:grpSpPr>
          <a:xfrm>
            <a:off x="1793099" y="2124526"/>
            <a:ext cx="8939392" cy="1646559"/>
            <a:chOff x="2201260" y="3886535"/>
            <a:chExt cx="6507961" cy="102620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EABD2E5-B1FA-1015-F2DF-C5887D7889E5}"/>
                </a:ext>
              </a:extLst>
            </p:cNvPr>
            <p:cNvCxnSpPr/>
            <p:nvPr/>
          </p:nvCxnSpPr>
          <p:spPr>
            <a:xfrm>
              <a:off x="2700011" y="4902726"/>
              <a:ext cx="6009210" cy="10013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6421FD-EC2D-FE78-9513-C5AD0425445F}"/>
                </a:ext>
              </a:extLst>
            </p:cNvPr>
            <p:cNvSpPr txBox="1"/>
            <p:nvPr/>
          </p:nvSpPr>
          <p:spPr>
            <a:xfrm>
              <a:off x="2201260" y="3886535"/>
              <a:ext cx="356730" cy="287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sz="2400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4C99042-615F-F387-C675-5662E6CFA077}"/>
                </a:ext>
              </a:extLst>
            </p:cNvPr>
            <p:cNvSpPr txBox="1"/>
            <p:nvPr/>
          </p:nvSpPr>
          <p:spPr>
            <a:xfrm>
              <a:off x="2201260" y="4436683"/>
              <a:ext cx="356730" cy="287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sz="2400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176231-8388-BBDE-9DD9-36B7266A0B83}"/>
                </a:ext>
              </a:extLst>
            </p:cNvPr>
            <p:cNvSpPr txBox="1"/>
            <p:nvPr/>
          </p:nvSpPr>
          <p:spPr>
            <a:xfrm>
              <a:off x="2690999" y="3974970"/>
              <a:ext cx="620622" cy="287736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+mj-lt"/>
                </a:rPr>
                <a:t>R(A)</a:t>
              </a:r>
              <a:endParaRPr lang="en-US" sz="2400" dirty="0">
                <a:latin typeface="+mj-lt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11A2FE-060A-35DE-3666-ADFEDAD96912}"/>
                </a:ext>
              </a:extLst>
            </p:cNvPr>
            <p:cNvSpPr txBox="1"/>
            <p:nvPr/>
          </p:nvSpPr>
          <p:spPr>
            <a:xfrm>
              <a:off x="4255703" y="3968464"/>
              <a:ext cx="614194" cy="287736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+mj-lt"/>
                </a:rPr>
                <a:t>R(B)</a:t>
              </a:r>
              <a:endParaRPr lang="en-US" sz="2400" dirty="0">
                <a:latin typeface="+mj-lt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DC85E9A-49FE-1138-4697-BA9545478523}"/>
                </a:ext>
              </a:extLst>
            </p:cNvPr>
            <p:cNvSpPr txBox="1"/>
            <p:nvPr/>
          </p:nvSpPr>
          <p:spPr>
            <a:xfrm>
              <a:off x="3400416" y="3974970"/>
              <a:ext cx="710613" cy="287736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W(A)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88DE9F-8C1A-D3D9-CCCC-CD699CC810D8}"/>
                </a:ext>
              </a:extLst>
            </p:cNvPr>
            <p:cNvSpPr txBox="1"/>
            <p:nvPr/>
          </p:nvSpPr>
          <p:spPr>
            <a:xfrm>
              <a:off x="4922130" y="3974969"/>
              <a:ext cx="710613" cy="287736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W(B)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5719189-0F46-669D-FCF0-2F4BA4FB1FB2}"/>
                </a:ext>
              </a:extLst>
            </p:cNvPr>
            <p:cNvSpPr txBox="1"/>
            <p:nvPr/>
          </p:nvSpPr>
          <p:spPr>
            <a:xfrm>
              <a:off x="5798333" y="4499457"/>
              <a:ext cx="620622" cy="287736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+mj-lt"/>
                </a:rPr>
                <a:t>R(A)</a:t>
              </a:r>
              <a:endParaRPr lang="en-US" sz="2400" dirty="0">
                <a:latin typeface="+mj-lt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FB9BCC0-4889-19B1-D480-3DFFBAFA3894}"/>
                </a:ext>
              </a:extLst>
            </p:cNvPr>
            <p:cNvSpPr txBox="1"/>
            <p:nvPr/>
          </p:nvSpPr>
          <p:spPr>
            <a:xfrm>
              <a:off x="7213441" y="4460424"/>
              <a:ext cx="614194" cy="287736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+mj-lt"/>
                </a:rPr>
                <a:t>R(B)</a:t>
              </a:r>
              <a:endParaRPr lang="en-US" sz="2400" dirty="0">
                <a:latin typeface="+mj-lt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6B65DF1-EAA5-3E4D-1ACC-8527672888E8}"/>
                </a:ext>
              </a:extLst>
            </p:cNvPr>
            <p:cNvSpPr txBox="1"/>
            <p:nvPr/>
          </p:nvSpPr>
          <p:spPr>
            <a:xfrm>
              <a:off x="6448231" y="4473435"/>
              <a:ext cx="710613" cy="287736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W(A)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159EE0B-9148-BE81-D8EE-6597ADAB56BC}"/>
                </a:ext>
              </a:extLst>
            </p:cNvPr>
            <p:cNvSpPr txBox="1"/>
            <p:nvPr/>
          </p:nvSpPr>
          <p:spPr>
            <a:xfrm>
              <a:off x="7916430" y="4460424"/>
              <a:ext cx="710613" cy="287736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W(B)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035740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Conflicts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2083" y="1686034"/>
            <a:ext cx="10391717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>
                <a:latin typeface="+mj-lt"/>
              </a:rPr>
              <a:t>Two actions </a:t>
            </a:r>
            <a:r>
              <a:rPr lang="en-US" sz="2800" b="1" u="sng" dirty="0">
                <a:latin typeface="+mj-lt"/>
              </a:rPr>
              <a:t>conflict</a:t>
            </a:r>
            <a:r>
              <a:rPr lang="en-US" sz="2800" dirty="0">
                <a:latin typeface="+mj-lt"/>
              </a:rPr>
              <a:t> if they are part of different TXNs, involve the same variable, and at least one of them is a write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594770" y="3606618"/>
            <a:ext cx="7989502" cy="1646518"/>
            <a:chOff x="2201260" y="3886535"/>
            <a:chExt cx="6507961" cy="1026204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2700011" y="4902726"/>
              <a:ext cx="6009210" cy="10013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2201260" y="3886535"/>
              <a:ext cx="356730" cy="287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sz="2400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01260" y="4436683"/>
              <a:ext cx="356730" cy="287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sz="2400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690999" y="3974970"/>
              <a:ext cx="620622" cy="287736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+mj-lt"/>
                </a:rPr>
                <a:t>R(A)</a:t>
              </a:r>
              <a:endParaRPr lang="en-US" sz="2400" dirty="0">
                <a:latin typeface="+mj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704616" y="3974970"/>
              <a:ext cx="614194" cy="287736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+mj-lt"/>
                </a:rPr>
                <a:t>R(B)</a:t>
              </a:r>
              <a:endParaRPr lang="en-US" sz="2400" dirty="0">
                <a:latin typeface="+mj-lt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00416" y="3974970"/>
              <a:ext cx="710613" cy="287736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W(A)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407605" y="3974970"/>
              <a:ext cx="710613" cy="287736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W(B)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199824" y="4460424"/>
              <a:ext cx="620622" cy="287736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+mj-lt"/>
                </a:rPr>
                <a:t>R(A)</a:t>
              </a:r>
              <a:endParaRPr lang="en-US" sz="2400" dirty="0">
                <a:latin typeface="+mj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213441" y="4460424"/>
              <a:ext cx="614194" cy="287736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+mj-lt"/>
                </a:rPr>
                <a:t>R(B)</a:t>
              </a:r>
              <a:endParaRPr lang="en-US" sz="2400" dirty="0">
                <a:latin typeface="+mj-lt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909241" y="4460424"/>
              <a:ext cx="710613" cy="287736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W(A)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916430" y="4460424"/>
              <a:ext cx="710613" cy="287736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W(B)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2076494" y="4484208"/>
            <a:ext cx="1710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+mj-lt"/>
              </a:rPr>
              <a:t>W-R Conflict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1136" y="3855344"/>
            <a:ext cx="18181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+mj-lt"/>
              </a:rPr>
              <a:t>W-W Conflict</a:t>
            </a:r>
          </a:p>
        </p:txBody>
      </p:sp>
      <p:cxnSp>
        <p:nvCxnSpPr>
          <p:cNvPr id="29" name="Straight Arrow Connector 28"/>
          <p:cNvCxnSpPr>
            <a:stCxn id="17" idx="2"/>
            <a:endCxn id="19" idx="1"/>
          </p:cNvCxnSpPr>
          <p:nvPr/>
        </p:nvCxnSpPr>
        <p:spPr>
          <a:xfrm>
            <a:off x="3503107" y="4210175"/>
            <a:ext cx="545201" cy="54806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8" idx="2"/>
            <a:endCxn id="22" idx="1"/>
          </p:cNvCxnSpPr>
          <p:nvPr/>
        </p:nvCxnSpPr>
        <p:spPr>
          <a:xfrm>
            <a:off x="7194884" y="4210175"/>
            <a:ext cx="1416118" cy="54806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24220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Conflicts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2083" y="1686034"/>
            <a:ext cx="10391717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>
                <a:latin typeface="+mj-lt"/>
              </a:rPr>
              <a:t>Two actions </a:t>
            </a:r>
            <a:r>
              <a:rPr lang="en-US" sz="2800" b="1" u="sng" dirty="0">
                <a:latin typeface="+mj-lt"/>
              </a:rPr>
              <a:t>conflict</a:t>
            </a:r>
            <a:r>
              <a:rPr lang="en-US" sz="2800" dirty="0">
                <a:latin typeface="+mj-lt"/>
              </a:rPr>
              <a:t> if they are part of different TXNs, involve the same variable, and at least one of them is a write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594770" y="3606618"/>
            <a:ext cx="7989502" cy="1646518"/>
            <a:chOff x="2201260" y="3886535"/>
            <a:chExt cx="6507961" cy="1026204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2700011" y="4902726"/>
              <a:ext cx="6009210" cy="10013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2201260" y="3886535"/>
              <a:ext cx="356730" cy="287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sz="2400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01260" y="4436683"/>
              <a:ext cx="356730" cy="287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sz="2400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690999" y="3974970"/>
              <a:ext cx="620622" cy="287736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+mj-lt"/>
                </a:rPr>
                <a:t>R(A)</a:t>
              </a:r>
              <a:endParaRPr lang="en-US" sz="2400" dirty="0">
                <a:latin typeface="+mj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704616" y="3974970"/>
              <a:ext cx="614194" cy="287736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+mj-lt"/>
                </a:rPr>
                <a:t>R(B)</a:t>
              </a:r>
              <a:endParaRPr lang="en-US" sz="2400" dirty="0">
                <a:latin typeface="+mj-lt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00416" y="3974970"/>
              <a:ext cx="710613" cy="287736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W(A)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407605" y="3974970"/>
              <a:ext cx="710613" cy="287736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W(B)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199824" y="4460424"/>
              <a:ext cx="620622" cy="287736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+mj-lt"/>
                </a:rPr>
                <a:t>R(A)</a:t>
              </a:r>
              <a:endParaRPr lang="en-US" sz="2400" dirty="0">
                <a:latin typeface="+mj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213441" y="4460424"/>
              <a:ext cx="614194" cy="287736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>
                  <a:latin typeface="+mj-lt"/>
                </a:rPr>
                <a:t>R(B)</a:t>
              </a:r>
              <a:endParaRPr lang="en-US" sz="2400" dirty="0">
                <a:latin typeface="+mj-lt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909241" y="4460424"/>
              <a:ext cx="710613" cy="287736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W(A)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916430" y="4460424"/>
              <a:ext cx="710613" cy="287736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W(B)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813740" y="5638317"/>
            <a:ext cx="1931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+mj-lt"/>
              </a:rPr>
              <a:t>All “conflicts”!</a:t>
            </a:r>
          </a:p>
        </p:txBody>
      </p:sp>
      <p:cxnSp>
        <p:nvCxnSpPr>
          <p:cNvPr id="29" name="Straight Arrow Connector 28"/>
          <p:cNvCxnSpPr>
            <a:stCxn id="17" idx="2"/>
            <a:endCxn id="19" idx="1"/>
          </p:cNvCxnSpPr>
          <p:nvPr/>
        </p:nvCxnSpPr>
        <p:spPr>
          <a:xfrm>
            <a:off x="3503107" y="4210175"/>
            <a:ext cx="545201" cy="54806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5" idx="2"/>
            <a:endCxn id="21" idx="1"/>
          </p:cNvCxnSpPr>
          <p:nvPr/>
        </p:nvCxnSpPr>
        <p:spPr>
          <a:xfrm>
            <a:off x="2576952" y="4210175"/>
            <a:ext cx="2342272" cy="54806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7" idx="2"/>
            <a:endCxn id="21" idx="1"/>
          </p:cNvCxnSpPr>
          <p:nvPr/>
        </p:nvCxnSpPr>
        <p:spPr>
          <a:xfrm>
            <a:off x="3503107" y="4210175"/>
            <a:ext cx="1416117" cy="54806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6" idx="2"/>
            <a:endCxn id="22" idx="1"/>
          </p:cNvCxnSpPr>
          <p:nvPr/>
        </p:nvCxnSpPr>
        <p:spPr>
          <a:xfrm>
            <a:off x="6272675" y="4210175"/>
            <a:ext cx="2338327" cy="54806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8" idx="2"/>
            <a:endCxn id="20" idx="1"/>
          </p:cNvCxnSpPr>
          <p:nvPr/>
        </p:nvCxnSpPr>
        <p:spPr>
          <a:xfrm>
            <a:off x="7194884" y="4210175"/>
            <a:ext cx="553093" cy="54806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8" idx="2"/>
            <a:endCxn id="22" idx="1"/>
          </p:cNvCxnSpPr>
          <p:nvPr/>
        </p:nvCxnSpPr>
        <p:spPr>
          <a:xfrm>
            <a:off x="7194884" y="4210175"/>
            <a:ext cx="1416118" cy="54806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432573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dirty="0"/>
              <a:t>Conflict Serializability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90688"/>
            <a:ext cx="10629122" cy="4525963"/>
          </a:xfrm>
          <a:noFill/>
          <a:ln/>
        </p:spPr>
        <p:txBody>
          <a:bodyPr vert="horz" lIns="90488" tIns="44450" rIns="90488" bIns="44450" rtlCol="0">
            <a:normAutofit/>
          </a:bodyPr>
          <a:lstStyle/>
          <a:p>
            <a:r>
              <a:rPr lang="en-US" dirty="0"/>
              <a:t>Two schedules are </a:t>
            </a:r>
            <a:r>
              <a:rPr lang="en-US" b="1" dirty="0"/>
              <a:t>conflict equivalent </a:t>
            </a:r>
            <a:r>
              <a:rPr lang="en-US" dirty="0"/>
              <a:t>if:</a:t>
            </a:r>
          </a:p>
          <a:p>
            <a:pPr lvl="1">
              <a:buSzPct val="75000"/>
            </a:pPr>
            <a:endParaRPr lang="en-US" dirty="0"/>
          </a:p>
          <a:p>
            <a:pPr lvl="1">
              <a:buSzPct val="75000"/>
            </a:pPr>
            <a:r>
              <a:rPr lang="en-US" dirty="0"/>
              <a:t>They involve </a:t>
            </a:r>
            <a:r>
              <a:rPr lang="en-US" i="1" dirty="0"/>
              <a:t>the same actions of the same TXNs</a:t>
            </a:r>
          </a:p>
          <a:p>
            <a:pPr lvl="1">
              <a:buSzPct val="75000"/>
            </a:pPr>
            <a:endParaRPr lang="en-US" dirty="0"/>
          </a:p>
          <a:p>
            <a:pPr lvl="1">
              <a:buSzPct val="75000"/>
            </a:pPr>
            <a:r>
              <a:rPr lang="en-US" dirty="0"/>
              <a:t>Every </a:t>
            </a:r>
            <a:r>
              <a:rPr lang="en-US" i="1" dirty="0"/>
              <a:t>pair of conflicting actions</a:t>
            </a:r>
            <a:r>
              <a:rPr lang="en-US" dirty="0"/>
              <a:t> of two TXNs are </a:t>
            </a:r>
            <a:r>
              <a:rPr lang="en-US" i="1" dirty="0"/>
              <a:t>ordered in the same way</a:t>
            </a:r>
          </a:p>
          <a:p>
            <a:endParaRPr lang="en-US" dirty="0"/>
          </a:p>
          <a:p>
            <a:r>
              <a:rPr lang="en-US" dirty="0"/>
              <a:t>Schedule S is </a:t>
            </a:r>
            <a:r>
              <a:rPr lang="en-US" b="1" dirty="0"/>
              <a:t>conflict serializable </a:t>
            </a:r>
            <a:r>
              <a:rPr lang="en-US" dirty="0"/>
              <a:t>if S is </a:t>
            </a:r>
            <a:r>
              <a:rPr lang="en-US" i="1" dirty="0"/>
              <a:t>conflict equivalent</a:t>
            </a:r>
            <a:r>
              <a:rPr lang="en-US" dirty="0"/>
              <a:t> to some serial schedule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246129" y="5584860"/>
                <a:ext cx="9813264" cy="95410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00" b="1" dirty="0">
                    <a:latin typeface="+mj-lt"/>
                  </a:rPr>
                  <a:t>Conflict serializable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⇒</m:t>
                    </m:r>
                  </m:oMath>
                </a14:m>
                <a:r>
                  <a:rPr lang="en-US" sz="2800" b="1" dirty="0">
                    <a:latin typeface="+mj-lt"/>
                  </a:rPr>
                  <a:t> serializable</a:t>
                </a:r>
              </a:p>
              <a:p>
                <a:pPr algn="ctr"/>
                <a:r>
                  <a:rPr lang="en-US" sz="2800" dirty="0">
                    <a:latin typeface="+mj-lt"/>
                  </a:rPr>
                  <a:t>So if we have conflict serializable, we have consistency &amp; isolation!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129" y="5584860"/>
                <a:ext cx="9813264" cy="95410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2618207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“Good” vs. “bad” schedules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83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42725" y="5671295"/>
            <a:ext cx="8485508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Conflict </a:t>
            </a:r>
            <a:r>
              <a:rPr lang="en-US" sz="2800" dirty="0" err="1">
                <a:latin typeface="+mj-lt"/>
              </a:rPr>
              <a:t>serializability</a:t>
            </a:r>
            <a:r>
              <a:rPr lang="en-US" sz="2800" dirty="0">
                <a:latin typeface="+mj-lt"/>
              </a:rPr>
              <a:t> also provides us with an operative notion of “good” vs. “bad” schedules!</a:t>
            </a:r>
            <a:endParaRPr lang="en-US" sz="2800" b="1" i="1" dirty="0"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5725" y="1690688"/>
            <a:ext cx="2098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u="sng" dirty="0">
                <a:latin typeface="+mj-lt"/>
              </a:rPr>
              <a:t>Serial Schedule</a:t>
            </a:r>
            <a:r>
              <a:rPr lang="en-US" sz="2400" u="sng" dirty="0">
                <a:latin typeface="+mj-lt"/>
              </a:rPr>
              <a:t>: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512690" y="2299162"/>
            <a:ext cx="4861978" cy="976527"/>
            <a:chOff x="542809" y="2322356"/>
            <a:chExt cx="6561865" cy="965384"/>
          </a:xfrm>
        </p:grpSpPr>
        <p:cxnSp>
          <p:nvCxnSpPr>
            <p:cNvPr id="18" name="Straight Arrow Connector 17"/>
            <p:cNvCxnSpPr/>
            <p:nvPr/>
          </p:nvCxnSpPr>
          <p:spPr>
            <a:xfrm>
              <a:off x="1095463" y="3277727"/>
              <a:ext cx="6009211" cy="10013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542809" y="2322356"/>
              <a:ext cx="506683" cy="365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42809" y="2769531"/>
              <a:ext cx="506683" cy="365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95463" y="2375357"/>
              <a:ext cx="617475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R(A)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604287" y="2375357"/>
              <a:ext cx="641564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R(B)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804881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W(A)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355327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W(B)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109083" y="2860811"/>
              <a:ext cx="620621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R(A)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617906" y="2860811"/>
              <a:ext cx="607630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R(B)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818498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W(A)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320895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W(B)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6736209" y="2299162"/>
            <a:ext cx="4861978" cy="976527"/>
            <a:chOff x="542809" y="2322356"/>
            <a:chExt cx="6561865" cy="965384"/>
          </a:xfrm>
        </p:grpSpPr>
        <p:cxnSp>
          <p:nvCxnSpPr>
            <p:cNvPr id="46" name="Straight Arrow Connector 45"/>
            <p:cNvCxnSpPr/>
            <p:nvPr/>
          </p:nvCxnSpPr>
          <p:spPr>
            <a:xfrm>
              <a:off x="1095463" y="3277727"/>
              <a:ext cx="6009211" cy="10013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542809" y="2322356"/>
              <a:ext cx="506683" cy="365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42809" y="2769531"/>
              <a:ext cx="506683" cy="365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095463" y="2375357"/>
              <a:ext cx="617475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R(A)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067457" y="2375357"/>
              <a:ext cx="641564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R(B)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804881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W(A)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818497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W(B)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645912" y="2860811"/>
              <a:ext cx="620621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R(A)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617906" y="2860811"/>
              <a:ext cx="607630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R(B)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355327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W(A)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320895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W(B)</a:t>
              </a: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6736209" y="4091868"/>
            <a:ext cx="4861978" cy="976527"/>
            <a:chOff x="542809" y="2322356"/>
            <a:chExt cx="6561865" cy="965384"/>
          </a:xfrm>
        </p:grpSpPr>
        <p:cxnSp>
          <p:nvCxnSpPr>
            <p:cNvPr id="58" name="Straight Arrow Connector 57"/>
            <p:cNvCxnSpPr/>
            <p:nvPr/>
          </p:nvCxnSpPr>
          <p:spPr>
            <a:xfrm>
              <a:off x="1095463" y="3277727"/>
              <a:ext cx="6009211" cy="10013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542809" y="2322356"/>
              <a:ext cx="506683" cy="365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42809" y="2769531"/>
              <a:ext cx="506683" cy="365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095463" y="2375357"/>
              <a:ext cx="617475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R(A)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617905" y="2375357"/>
              <a:ext cx="641564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R(B)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804881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W(A)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368946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W(B)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645912" y="2860811"/>
              <a:ext cx="620621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R(A)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154735" y="2860811"/>
              <a:ext cx="607630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R(B)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355327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W(A)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857724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W(B)</a:t>
              </a:r>
            </a:p>
          </p:txBody>
        </p:sp>
      </p:grpSp>
      <p:sp>
        <p:nvSpPr>
          <p:cNvPr id="11" name="Right Arrow 10"/>
          <p:cNvSpPr/>
          <p:nvPr/>
        </p:nvSpPr>
        <p:spPr>
          <a:xfrm>
            <a:off x="5812971" y="2629774"/>
            <a:ext cx="718458" cy="214058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ight Arrow 68"/>
          <p:cNvSpPr/>
          <p:nvPr/>
        </p:nvSpPr>
        <p:spPr>
          <a:xfrm rot="2307267">
            <a:off x="5736769" y="3535713"/>
            <a:ext cx="718458" cy="214058"/>
          </a:xfrm>
          <a:prstGeom prst="rightArrow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748124" y="36645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  <a:latin typeface="+mj-lt"/>
              </a:rPr>
              <a:t>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85270" y="1690688"/>
            <a:ext cx="2914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u="sng" dirty="0">
                <a:latin typeface="+mj-lt"/>
              </a:rPr>
              <a:t>Interleaved Schedules</a:t>
            </a:r>
            <a:r>
              <a:rPr lang="en-US" sz="2400" u="sng" dirty="0">
                <a:latin typeface="+mj-lt"/>
              </a:rPr>
              <a:t>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1422" y="3863574"/>
            <a:ext cx="4933440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Note that in the “bad</a:t>
            </a:r>
            <a:r>
              <a:rPr lang="en-US" sz="2400">
                <a:latin typeface="+mj-lt"/>
              </a:rPr>
              <a:t>” schedule, the </a:t>
            </a:r>
            <a:r>
              <a:rPr lang="en-US" sz="2400" b="1" i="1" dirty="0">
                <a:latin typeface="+mj-lt"/>
              </a:rPr>
              <a:t>order of conflicting actions is different than the above (or any) serial schedule!</a:t>
            </a:r>
          </a:p>
        </p:txBody>
      </p:sp>
      <p:cxnSp>
        <p:nvCxnSpPr>
          <p:cNvPr id="72" name="Straight Arrow Connector 71"/>
          <p:cNvCxnSpPr>
            <a:stCxn id="66" idx="0"/>
            <a:endCxn id="64" idx="2"/>
          </p:cNvCxnSpPr>
          <p:nvPr/>
        </p:nvCxnSpPr>
        <p:spPr>
          <a:xfrm flipV="1">
            <a:off x="9637556" y="4422480"/>
            <a:ext cx="1678760" cy="214058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52" idx="2"/>
            <a:endCxn id="54" idx="0"/>
          </p:cNvCxnSpPr>
          <p:nvPr/>
        </p:nvCxnSpPr>
        <p:spPr>
          <a:xfrm>
            <a:off x="10167520" y="2629774"/>
            <a:ext cx="554164" cy="214058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28" idx="2"/>
            <a:endCxn id="30" idx="0"/>
          </p:cNvCxnSpPr>
          <p:nvPr/>
        </p:nvCxnSpPr>
        <p:spPr>
          <a:xfrm>
            <a:off x="2859873" y="2629774"/>
            <a:ext cx="1638292" cy="214058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2523223" y="2187018"/>
            <a:ext cx="669104" cy="584450"/>
          </a:xfrm>
          <a:prstGeom prst="ellipse">
            <a:avLst/>
          </a:prstGeom>
          <a:solidFill>
            <a:srgbClr val="FF00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9823141" y="2187018"/>
            <a:ext cx="669104" cy="584450"/>
          </a:xfrm>
          <a:prstGeom prst="ellipse">
            <a:avLst/>
          </a:prstGeom>
          <a:solidFill>
            <a:srgbClr val="FF00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10971937" y="3991755"/>
            <a:ext cx="669104" cy="584450"/>
          </a:xfrm>
          <a:prstGeom prst="ellipse">
            <a:avLst/>
          </a:prstGeom>
          <a:solidFill>
            <a:srgbClr val="FF00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4148505" y="2687553"/>
            <a:ext cx="669104" cy="584450"/>
          </a:xfrm>
          <a:prstGeom prst="ellipse">
            <a:avLst/>
          </a:prstGeom>
          <a:solidFill>
            <a:srgbClr val="0070C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10381259" y="2686418"/>
            <a:ext cx="669104" cy="584450"/>
          </a:xfrm>
          <a:prstGeom prst="ellipse">
            <a:avLst/>
          </a:prstGeom>
          <a:solidFill>
            <a:srgbClr val="0070C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/>
          <p:cNvSpPr/>
          <p:nvPr/>
        </p:nvSpPr>
        <p:spPr>
          <a:xfrm>
            <a:off x="9300812" y="4450275"/>
            <a:ext cx="669104" cy="584450"/>
          </a:xfrm>
          <a:prstGeom prst="ellipse">
            <a:avLst/>
          </a:prstGeom>
          <a:solidFill>
            <a:srgbClr val="0070C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887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1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Note: Conflicts vs. Anomalies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Conflicts</a:t>
            </a:r>
            <a:r>
              <a:rPr lang="en-US" dirty="0"/>
              <a:t> are things we talk about to help us characterize different schedules</a:t>
            </a:r>
          </a:p>
          <a:p>
            <a:pPr lvl="1"/>
            <a:r>
              <a:rPr lang="en-US" dirty="0"/>
              <a:t>Present in both “good” and “bad” schedules</a:t>
            </a:r>
          </a:p>
          <a:p>
            <a:endParaRPr lang="en-US" dirty="0"/>
          </a:p>
          <a:p>
            <a:r>
              <a:rPr lang="en-US" b="1" dirty="0"/>
              <a:t>Anomalies</a:t>
            </a:r>
            <a:r>
              <a:rPr lang="en-US" dirty="0"/>
              <a:t> are instances where isolation and/or consistency is broken because of a “bad” schedule</a:t>
            </a:r>
          </a:p>
          <a:p>
            <a:pPr lvl="1"/>
            <a:r>
              <a:rPr lang="en-US" dirty="0"/>
              <a:t>We often characterize different anomaly types by what types of conflicts predicated them</a:t>
            </a:r>
          </a:p>
        </p:txBody>
      </p:sp>
    </p:spTree>
    <p:extLst>
      <p:ext uri="{BB962C8B-B14F-4D97-AF65-F5344CB8AC3E}">
        <p14:creationId xmlns:p14="http://schemas.microsoft.com/office/powerpoint/2010/main" val="19847278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Conflict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87740"/>
          </a:xfrm>
        </p:spPr>
        <p:txBody>
          <a:bodyPr>
            <a:normAutofit/>
          </a:bodyPr>
          <a:lstStyle/>
          <a:p>
            <a:r>
              <a:rPr lang="en-US" dirty="0"/>
              <a:t>Let’s now consider looking at conflicts </a:t>
            </a:r>
            <a:r>
              <a:rPr lang="en-US" b="1" dirty="0"/>
              <a:t>at the TXN level</a:t>
            </a:r>
          </a:p>
          <a:p>
            <a:endParaRPr lang="en-US" b="1" dirty="0"/>
          </a:p>
          <a:p>
            <a:r>
              <a:rPr lang="en-US" dirty="0"/>
              <a:t>Consider a graph where the </a:t>
            </a:r>
            <a:r>
              <a:rPr lang="en-US" b="1" dirty="0"/>
              <a:t>nodes are TXNs</a:t>
            </a:r>
            <a:r>
              <a:rPr lang="en-US" dirty="0"/>
              <a:t>, and there is an edge from </a:t>
            </a:r>
            <a:r>
              <a:rPr lang="en-US" dirty="0" err="1"/>
              <a:t>T</a:t>
            </a:r>
            <a:r>
              <a:rPr lang="en-US" baseline="-25000" dirty="0" err="1"/>
              <a:t>i</a:t>
            </a:r>
            <a:r>
              <a:rPr lang="en-US" dirty="0"/>
              <a:t> </a:t>
            </a:r>
            <a:r>
              <a:rPr lang="en-US" dirty="0">
                <a:sym typeface="Wingdings"/>
              </a:rPr>
              <a:t></a:t>
            </a:r>
            <a:r>
              <a:rPr lang="en-US" dirty="0" err="1">
                <a:sym typeface="Wingdings"/>
              </a:rPr>
              <a:t>T</a:t>
            </a:r>
            <a:r>
              <a:rPr lang="en-US" baseline="-25000" dirty="0" err="1">
                <a:sym typeface="Wingdings"/>
              </a:rPr>
              <a:t>j</a:t>
            </a:r>
            <a:r>
              <a:rPr lang="en-US" dirty="0">
                <a:sym typeface="Wingdings"/>
              </a:rPr>
              <a:t> </a:t>
            </a:r>
            <a:r>
              <a:rPr lang="en-US" b="1" dirty="0">
                <a:sym typeface="Wingdings"/>
              </a:rPr>
              <a:t>if any actions in </a:t>
            </a:r>
            <a:r>
              <a:rPr lang="en-US" b="1" dirty="0" err="1">
                <a:sym typeface="Wingdings"/>
              </a:rPr>
              <a:t>T</a:t>
            </a:r>
            <a:r>
              <a:rPr lang="en-US" b="1" baseline="-25000" dirty="0" err="1">
                <a:sym typeface="Wingdings"/>
              </a:rPr>
              <a:t>i</a:t>
            </a:r>
            <a:r>
              <a:rPr lang="en-US" b="1" dirty="0">
                <a:sym typeface="Wingdings"/>
              </a:rPr>
              <a:t> </a:t>
            </a:r>
            <a:r>
              <a:rPr lang="en-US" b="1" u="sng" dirty="0">
                <a:sym typeface="Wingdings"/>
              </a:rPr>
              <a:t>precede and conflict with</a:t>
            </a:r>
            <a:r>
              <a:rPr lang="en-US" b="1" dirty="0">
                <a:sym typeface="Wingdings"/>
              </a:rPr>
              <a:t> any actions in </a:t>
            </a:r>
            <a:r>
              <a:rPr lang="en-US" b="1" dirty="0" err="1">
                <a:sym typeface="Wingdings"/>
              </a:rPr>
              <a:t>T</a:t>
            </a:r>
            <a:r>
              <a:rPr lang="en-US" b="1" baseline="-25000" dirty="0" err="1">
                <a:sym typeface="Wingdings"/>
              </a:rPr>
              <a:t>j</a:t>
            </a:r>
            <a:endParaRPr lang="en-US" baseline="-25000" dirty="0"/>
          </a:p>
        </p:txBody>
      </p:sp>
      <p:grpSp>
        <p:nvGrpSpPr>
          <p:cNvPr id="159" name="Group 158"/>
          <p:cNvGrpSpPr/>
          <p:nvPr/>
        </p:nvGrpSpPr>
        <p:grpSpPr>
          <a:xfrm>
            <a:off x="7742944" y="5183156"/>
            <a:ext cx="632697" cy="632697"/>
            <a:chOff x="7435034" y="4492691"/>
            <a:chExt cx="632697" cy="632697"/>
          </a:xfrm>
        </p:grpSpPr>
        <p:sp>
          <p:nvSpPr>
            <p:cNvPr id="156" name="Oval 155"/>
            <p:cNvSpPr/>
            <p:nvPr/>
          </p:nvSpPr>
          <p:spPr>
            <a:xfrm>
              <a:off x="7435034" y="4492691"/>
              <a:ext cx="632697" cy="632697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7582333" y="4615043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</p:grpSp>
      <p:grpSp>
        <p:nvGrpSpPr>
          <p:cNvPr id="160" name="Group 159"/>
          <p:cNvGrpSpPr/>
          <p:nvPr/>
        </p:nvGrpSpPr>
        <p:grpSpPr>
          <a:xfrm>
            <a:off x="9270791" y="5193886"/>
            <a:ext cx="632697" cy="632697"/>
            <a:chOff x="8962881" y="4512752"/>
            <a:chExt cx="632697" cy="632697"/>
          </a:xfrm>
        </p:grpSpPr>
        <p:sp>
          <p:nvSpPr>
            <p:cNvPr id="157" name="Oval 156"/>
            <p:cNvSpPr/>
            <p:nvPr/>
          </p:nvSpPr>
          <p:spPr>
            <a:xfrm>
              <a:off x="8962881" y="4512752"/>
              <a:ext cx="632697" cy="632697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9105830" y="4624373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</p:grpSp>
      <p:grpSp>
        <p:nvGrpSpPr>
          <p:cNvPr id="158" name="Group 157"/>
          <p:cNvGrpSpPr/>
          <p:nvPr/>
        </p:nvGrpSpPr>
        <p:grpSpPr>
          <a:xfrm>
            <a:off x="1296462" y="4974896"/>
            <a:ext cx="4861978" cy="976527"/>
            <a:chOff x="988552" y="4284431"/>
            <a:chExt cx="4861978" cy="976527"/>
          </a:xfrm>
        </p:grpSpPr>
        <p:cxnSp>
          <p:nvCxnSpPr>
            <p:cNvPr id="16" name="Straight Arrow Connector 15"/>
            <p:cNvCxnSpPr>
              <a:stCxn id="45" idx="2"/>
              <a:endCxn id="47" idx="1"/>
            </p:cNvCxnSpPr>
            <p:nvPr/>
          </p:nvCxnSpPr>
          <p:spPr>
            <a:xfrm>
              <a:off x="2186940" y="4615043"/>
              <a:ext cx="359895" cy="35255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43" idx="2"/>
              <a:endCxn id="49" idx="1"/>
            </p:cNvCxnSpPr>
            <p:nvPr/>
          </p:nvCxnSpPr>
          <p:spPr>
            <a:xfrm>
              <a:off x="1626796" y="4615043"/>
              <a:ext cx="1445676" cy="35255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45" idx="2"/>
              <a:endCxn id="49" idx="1"/>
            </p:cNvCxnSpPr>
            <p:nvPr/>
          </p:nvCxnSpPr>
          <p:spPr>
            <a:xfrm>
              <a:off x="2186940" y="4615043"/>
              <a:ext cx="885532" cy="35255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1398038" y="5250829"/>
              <a:ext cx="4452492" cy="10129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988552" y="4284431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88552" y="4736768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398038" y="4338044"/>
              <a:ext cx="457515" cy="276999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R(A)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600121" y="4338044"/>
              <a:ext cx="475363" cy="276999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R(B)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923677" y="4338044"/>
              <a:ext cx="526525" cy="276999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W(A)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156600" y="4338044"/>
              <a:ext cx="526525" cy="276999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W(B)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546835" y="4829101"/>
              <a:ext cx="459846" cy="276999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R(A)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748917" y="4829101"/>
              <a:ext cx="450220" cy="276999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R(B)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072472" y="4829101"/>
              <a:ext cx="526525" cy="276999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W(A)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269793" y="4829101"/>
              <a:ext cx="526525" cy="276999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W(B)</a:t>
              </a:r>
            </a:p>
          </p:txBody>
        </p:sp>
        <p:cxnSp>
          <p:nvCxnSpPr>
            <p:cNvPr id="144" name="Straight Arrow Connector 143"/>
            <p:cNvCxnSpPr>
              <a:stCxn id="44" idx="2"/>
              <a:endCxn id="50" idx="1"/>
            </p:cNvCxnSpPr>
            <p:nvPr/>
          </p:nvCxnSpPr>
          <p:spPr>
            <a:xfrm>
              <a:off x="3837803" y="4615043"/>
              <a:ext cx="1431990" cy="35255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/>
            <p:cNvCxnSpPr>
              <a:stCxn id="46" idx="2"/>
              <a:endCxn id="48" idx="1"/>
            </p:cNvCxnSpPr>
            <p:nvPr/>
          </p:nvCxnSpPr>
          <p:spPr>
            <a:xfrm>
              <a:off x="4419863" y="4615043"/>
              <a:ext cx="329054" cy="35255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/>
            <p:cNvCxnSpPr>
              <a:stCxn id="46" idx="2"/>
              <a:endCxn id="50" idx="1"/>
            </p:cNvCxnSpPr>
            <p:nvPr/>
          </p:nvCxnSpPr>
          <p:spPr>
            <a:xfrm>
              <a:off x="4419863" y="4615043"/>
              <a:ext cx="849930" cy="35255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3" name="Right Arrow 152"/>
          <p:cNvSpPr/>
          <p:nvPr/>
        </p:nvSpPr>
        <p:spPr>
          <a:xfrm>
            <a:off x="6488817" y="5236258"/>
            <a:ext cx="678024" cy="491057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2" name="Straight Arrow Connector 161"/>
          <p:cNvCxnSpPr>
            <a:stCxn id="156" idx="6"/>
            <a:endCxn id="157" idx="2"/>
          </p:cNvCxnSpPr>
          <p:nvPr/>
        </p:nvCxnSpPr>
        <p:spPr>
          <a:xfrm>
            <a:off x="8375641" y="5499505"/>
            <a:ext cx="895150" cy="1073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92647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A3A8A40E-6C90-7F4B-67AB-B6EB66EE4D50}"/>
              </a:ext>
            </a:extLst>
          </p:cNvPr>
          <p:cNvGrpSpPr/>
          <p:nvPr/>
        </p:nvGrpSpPr>
        <p:grpSpPr>
          <a:xfrm>
            <a:off x="2445920" y="2650150"/>
            <a:ext cx="6825096" cy="2332628"/>
            <a:chOff x="988552" y="4284431"/>
            <a:chExt cx="4861978" cy="976527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256F2AB-3CFF-A7F7-3BDD-484DDCC98946}"/>
                </a:ext>
              </a:extLst>
            </p:cNvPr>
            <p:cNvCxnSpPr/>
            <p:nvPr/>
          </p:nvCxnSpPr>
          <p:spPr>
            <a:xfrm>
              <a:off x="1398038" y="5250829"/>
              <a:ext cx="4452492" cy="10129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CE29089-314F-037D-5312-A836C78F6CCF}"/>
                </a:ext>
              </a:extLst>
            </p:cNvPr>
            <p:cNvSpPr txBox="1"/>
            <p:nvPr/>
          </p:nvSpPr>
          <p:spPr>
            <a:xfrm>
              <a:off x="988552" y="4284431"/>
              <a:ext cx="307407" cy="141732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r>
                <a:rPr lang="en-US" sz="1600" b="1" dirty="0">
                  <a:solidFill>
                    <a:srgbClr val="C00000"/>
                  </a:solidFill>
                  <a:latin typeface="Courier"/>
                </a:rPr>
                <a:t>T0</a:t>
              </a:r>
              <a:endParaRPr lang="en-US" sz="1600" b="1" baseline="-25000" dirty="0">
                <a:solidFill>
                  <a:srgbClr val="C00000"/>
                </a:solidFill>
                <a:latin typeface="Courier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CD51745-485B-3E9D-5E3A-617250FDA0A3}"/>
                </a:ext>
              </a:extLst>
            </p:cNvPr>
            <p:cNvSpPr txBox="1"/>
            <p:nvPr/>
          </p:nvSpPr>
          <p:spPr>
            <a:xfrm>
              <a:off x="988552" y="4736768"/>
              <a:ext cx="307407" cy="141732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Courier"/>
                </a:rPr>
                <a:t>T1</a:t>
              </a:r>
              <a:endParaRPr lang="en-US" sz="1600" b="1" baseline="-25000" dirty="0">
                <a:solidFill>
                  <a:srgbClr val="0070C0"/>
                </a:solidFill>
                <a:latin typeface="Courier"/>
                <a:ea typeface="Calibri Light"/>
                <a:cs typeface="Calibri Ligh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9A485F9-7F76-9795-D033-8295BDE11652}"/>
                </a:ext>
              </a:extLst>
            </p:cNvPr>
            <p:cNvSpPr txBox="1"/>
            <p:nvPr/>
          </p:nvSpPr>
          <p:spPr>
            <a:xfrm>
              <a:off x="1398038" y="4338044"/>
              <a:ext cx="457515" cy="128847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400" dirty="0">
                  <a:latin typeface="Courier"/>
                </a:rPr>
                <a:t>R(A)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762F594-78BC-B9F5-2AF6-22885FB12514}"/>
                </a:ext>
              </a:extLst>
            </p:cNvPr>
            <p:cNvSpPr txBox="1"/>
            <p:nvPr/>
          </p:nvSpPr>
          <p:spPr>
            <a:xfrm>
              <a:off x="3600121" y="4338044"/>
              <a:ext cx="475363" cy="128847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400" dirty="0">
                  <a:latin typeface="Courier"/>
                </a:rPr>
                <a:t>R(B)</a:t>
              </a:r>
              <a:endParaRPr lang="en-US" sz="1400">
                <a:latin typeface="Courier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F01942C-98DB-DD8B-ECDA-B0C6302F5115}"/>
                </a:ext>
              </a:extLst>
            </p:cNvPr>
            <p:cNvSpPr txBox="1"/>
            <p:nvPr/>
          </p:nvSpPr>
          <p:spPr>
            <a:xfrm>
              <a:off x="1923677" y="4338044"/>
              <a:ext cx="526525" cy="141732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"/>
                </a:rPr>
                <a:t>W(A)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15F3DC8-E1F4-7918-59F7-30F2405F2361}"/>
                </a:ext>
              </a:extLst>
            </p:cNvPr>
            <p:cNvSpPr txBox="1"/>
            <p:nvPr/>
          </p:nvSpPr>
          <p:spPr>
            <a:xfrm>
              <a:off x="4156600" y="4338044"/>
              <a:ext cx="526525" cy="141732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"/>
                </a:rPr>
                <a:t>W(B)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3943C22-9B36-9932-DA48-EC4A33DA2CC1}"/>
                </a:ext>
              </a:extLst>
            </p:cNvPr>
            <p:cNvSpPr txBox="1"/>
            <p:nvPr/>
          </p:nvSpPr>
          <p:spPr>
            <a:xfrm>
              <a:off x="2546835" y="4829101"/>
              <a:ext cx="459846" cy="128847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400" dirty="0">
                  <a:latin typeface="Courier"/>
                </a:rPr>
                <a:t>R(A)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18310D4-DA9B-4DF6-6DA4-799844AFCDFD}"/>
                </a:ext>
              </a:extLst>
            </p:cNvPr>
            <p:cNvSpPr txBox="1"/>
            <p:nvPr/>
          </p:nvSpPr>
          <p:spPr>
            <a:xfrm>
              <a:off x="3089704" y="4829101"/>
              <a:ext cx="526525" cy="141732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600" dirty="0">
                  <a:latin typeface="Courier"/>
                </a:rPr>
                <a:t>R(B)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7D8A6BC-6660-EAB1-8F6D-CDA454A8B263}"/>
              </a:ext>
            </a:extLst>
          </p:cNvPr>
          <p:cNvGrpSpPr/>
          <p:nvPr/>
        </p:nvGrpSpPr>
        <p:grpSpPr>
          <a:xfrm>
            <a:off x="1296462" y="4974896"/>
            <a:ext cx="4861978" cy="976527"/>
            <a:chOff x="988552" y="4284431"/>
            <a:chExt cx="4861978" cy="976527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29DC502E-DA0C-AF90-F87B-A109ADFFA441}"/>
                </a:ext>
              </a:extLst>
            </p:cNvPr>
            <p:cNvCxnSpPr>
              <a:stCxn id="45" idx="2"/>
              <a:endCxn id="47" idx="1"/>
            </p:cNvCxnSpPr>
            <p:nvPr/>
          </p:nvCxnSpPr>
          <p:spPr>
            <a:xfrm>
              <a:off x="2186940" y="4615043"/>
              <a:ext cx="359895" cy="35255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2301C7F-4B45-9BCA-7D3C-5622C7C40D8E}"/>
                </a:ext>
              </a:extLst>
            </p:cNvPr>
            <p:cNvCxnSpPr>
              <a:stCxn id="43" idx="2"/>
              <a:endCxn id="49" idx="1"/>
            </p:cNvCxnSpPr>
            <p:nvPr/>
          </p:nvCxnSpPr>
          <p:spPr>
            <a:xfrm>
              <a:off x="1626796" y="4615043"/>
              <a:ext cx="1445676" cy="35255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C13D9EEC-E86B-33BF-39F4-8ACE46CA7E85}"/>
                </a:ext>
              </a:extLst>
            </p:cNvPr>
            <p:cNvCxnSpPr>
              <a:stCxn id="45" idx="2"/>
              <a:endCxn id="49" idx="1"/>
            </p:cNvCxnSpPr>
            <p:nvPr/>
          </p:nvCxnSpPr>
          <p:spPr>
            <a:xfrm>
              <a:off x="2186940" y="4615043"/>
              <a:ext cx="885532" cy="35255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C16DBF7-4C0F-60CF-48E6-2103FACFD6AD}"/>
                </a:ext>
              </a:extLst>
            </p:cNvPr>
            <p:cNvCxnSpPr/>
            <p:nvPr/>
          </p:nvCxnSpPr>
          <p:spPr>
            <a:xfrm>
              <a:off x="1398038" y="5250829"/>
              <a:ext cx="4452492" cy="10129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6C98422-2AA4-4983-772C-491CC35A1BF5}"/>
                </a:ext>
              </a:extLst>
            </p:cNvPr>
            <p:cNvSpPr txBox="1"/>
            <p:nvPr/>
          </p:nvSpPr>
          <p:spPr>
            <a:xfrm>
              <a:off x="988552" y="4284431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AFAB2C0-7BE7-8826-789A-D96D7F6EA490}"/>
                </a:ext>
              </a:extLst>
            </p:cNvPr>
            <p:cNvSpPr txBox="1"/>
            <p:nvPr/>
          </p:nvSpPr>
          <p:spPr>
            <a:xfrm>
              <a:off x="988552" y="4736768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25600D2-C6C8-9930-1CCB-70F48BFB63F1}"/>
                </a:ext>
              </a:extLst>
            </p:cNvPr>
            <p:cNvSpPr txBox="1"/>
            <p:nvPr/>
          </p:nvSpPr>
          <p:spPr>
            <a:xfrm>
              <a:off x="1398038" y="4338044"/>
              <a:ext cx="457515" cy="276999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R(A)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D887743-DA92-6596-93DA-6B399A967640}"/>
                </a:ext>
              </a:extLst>
            </p:cNvPr>
            <p:cNvSpPr txBox="1"/>
            <p:nvPr/>
          </p:nvSpPr>
          <p:spPr>
            <a:xfrm>
              <a:off x="3600121" y="4338044"/>
              <a:ext cx="475363" cy="276999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R(B)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F474CD6-2A51-1248-02E1-BF63BEB24A5B}"/>
                </a:ext>
              </a:extLst>
            </p:cNvPr>
            <p:cNvSpPr txBox="1"/>
            <p:nvPr/>
          </p:nvSpPr>
          <p:spPr>
            <a:xfrm>
              <a:off x="1923677" y="4338044"/>
              <a:ext cx="526525" cy="276999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W(A)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35F7D70-9655-368A-6771-E03940229966}"/>
                </a:ext>
              </a:extLst>
            </p:cNvPr>
            <p:cNvSpPr txBox="1"/>
            <p:nvPr/>
          </p:nvSpPr>
          <p:spPr>
            <a:xfrm>
              <a:off x="4156600" y="4338044"/>
              <a:ext cx="526525" cy="276999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W(B)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3707A30-5359-C09E-2700-0A7497A824B2}"/>
                </a:ext>
              </a:extLst>
            </p:cNvPr>
            <p:cNvSpPr txBox="1"/>
            <p:nvPr/>
          </p:nvSpPr>
          <p:spPr>
            <a:xfrm>
              <a:off x="2546835" y="4829101"/>
              <a:ext cx="459846" cy="276999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R(A)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5733F26-64BC-3890-4F0A-B4EA141BF0A0}"/>
                </a:ext>
              </a:extLst>
            </p:cNvPr>
            <p:cNvSpPr txBox="1"/>
            <p:nvPr/>
          </p:nvSpPr>
          <p:spPr>
            <a:xfrm>
              <a:off x="4748917" y="4829101"/>
              <a:ext cx="450220" cy="276999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R(B)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4D436BE-73B1-FCD6-387C-75B42970ED96}"/>
                </a:ext>
              </a:extLst>
            </p:cNvPr>
            <p:cNvSpPr txBox="1"/>
            <p:nvPr/>
          </p:nvSpPr>
          <p:spPr>
            <a:xfrm>
              <a:off x="3072472" y="4829101"/>
              <a:ext cx="526525" cy="276999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W(A)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C716997-C16F-E969-4AA1-E18F6DF87DC8}"/>
                </a:ext>
              </a:extLst>
            </p:cNvPr>
            <p:cNvSpPr txBox="1"/>
            <p:nvPr/>
          </p:nvSpPr>
          <p:spPr>
            <a:xfrm>
              <a:off x="5269793" y="4829101"/>
              <a:ext cx="526525" cy="276999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W(B)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7F559904-029F-51D5-C697-670866FB7297}"/>
                </a:ext>
              </a:extLst>
            </p:cNvPr>
            <p:cNvCxnSpPr>
              <a:stCxn id="44" idx="2"/>
              <a:endCxn id="50" idx="1"/>
            </p:cNvCxnSpPr>
            <p:nvPr/>
          </p:nvCxnSpPr>
          <p:spPr>
            <a:xfrm>
              <a:off x="3837803" y="4615043"/>
              <a:ext cx="1431990" cy="35255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34A56B17-B8BC-7FFC-59B3-620147F8A740}"/>
                </a:ext>
              </a:extLst>
            </p:cNvPr>
            <p:cNvCxnSpPr>
              <a:stCxn id="46" idx="2"/>
              <a:endCxn id="48" idx="1"/>
            </p:cNvCxnSpPr>
            <p:nvPr/>
          </p:nvCxnSpPr>
          <p:spPr>
            <a:xfrm>
              <a:off x="4419863" y="4615043"/>
              <a:ext cx="329054" cy="35255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59126E94-5AD0-B45F-1235-C4D716642AA4}"/>
                </a:ext>
              </a:extLst>
            </p:cNvPr>
            <p:cNvCxnSpPr>
              <a:stCxn id="46" idx="2"/>
              <a:endCxn id="50" idx="1"/>
            </p:cNvCxnSpPr>
            <p:nvPr/>
          </p:nvCxnSpPr>
          <p:spPr>
            <a:xfrm>
              <a:off x="4419863" y="4615043"/>
              <a:ext cx="849930" cy="35255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2245023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87</a:t>
            </a:fld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605725" y="2097854"/>
            <a:ext cx="2098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u="sng" dirty="0">
                <a:latin typeface="+mj-lt"/>
              </a:rPr>
              <a:t>Serial Schedule</a:t>
            </a:r>
            <a:r>
              <a:rPr lang="en-US" sz="2400" u="sng" dirty="0">
                <a:latin typeface="+mj-lt"/>
              </a:rPr>
              <a:t>: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512690" y="2706328"/>
            <a:ext cx="4861978" cy="976527"/>
            <a:chOff x="542809" y="2322356"/>
            <a:chExt cx="6561865" cy="965384"/>
          </a:xfrm>
        </p:grpSpPr>
        <p:cxnSp>
          <p:nvCxnSpPr>
            <p:cNvPr id="18" name="Straight Arrow Connector 17"/>
            <p:cNvCxnSpPr/>
            <p:nvPr/>
          </p:nvCxnSpPr>
          <p:spPr>
            <a:xfrm>
              <a:off x="1095463" y="3277727"/>
              <a:ext cx="6009211" cy="10013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542809" y="2322356"/>
              <a:ext cx="506683" cy="365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42809" y="2769531"/>
              <a:ext cx="506683" cy="365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95463" y="2375357"/>
              <a:ext cx="617475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R(A)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604287" y="2375357"/>
              <a:ext cx="641564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R(B)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804881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W(A)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355327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W(B)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109083" y="2860811"/>
              <a:ext cx="620621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R(A)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617906" y="2860811"/>
              <a:ext cx="607630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R(B)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818498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W(A)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320895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W(B)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6736209" y="2706328"/>
            <a:ext cx="4861978" cy="976527"/>
            <a:chOff x="542809" y="2322356"/>
            <a:chExt cx="6561865" cy="965384"/>
          </a:xfrm>
        </p:grpSpPr>
        <p:cxnSp>
          <p:nvCxnSpPr>
            <p:cNvPr id="46" name="Straight Arrow Connector 45"/>
            <p:cNvCxnSpPr/>
            <p:nvPr/>
          </p:nvCxnSpPr>
          <p:spPr>
            <a:xfrm>
              <a:off x="1095463" y="3277727"/>
              <a:ext cx="6009211" cy="10013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542809" y="2322356"/>
              <a:ext cx="506683" cy="365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42809" y="2769531"/>
              <a:ext cx="506683" cy="365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095463" y="2375357"/>
              <a:ext cx="617475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R(A)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067457" y="2375357"/>
              <a:ext cx="641564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R(B)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804881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W(A)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818497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W(B)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645912" y="2860811"/>
              <a:ext cx="620621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R(A)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617906" y="2860811"/>
              <a:ext cx="607630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R(B)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355327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W(A)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320895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W(B)</a:t>
              </a: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6736209" y="4499034"/>
            <a:ext cx="4861978" cy="976527"/>
            <a:chOff x="542809" y="2322356"/>
            <a:chExt cx="6561865" cy="965384"/>
          </a:xfrm>
        </p:grpSpPr>
        <p:cxnSp>
          <p:nvCxnSpPr>
            <p:cNvPr id="58" name="Straight Arrow Connector 57"/>
            <p:cNvCxnSpPr/>
            <p:nvPr/>
          </p:nvCxnSpPr>
          <p:spPr>
            <a:xfrm>
              <a:off x="1095463" y="3277727"/>
              <a:ext cx="6009211" cy="10013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542809" y="2322356"/>
              <a:ext cx="506683" cy="365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42809" y="2769531"/>
              <a:ext cx="506683" cy="365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095463" y="2375357"/>
              <a:ext cx="617475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R(A)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617905" y="2375357"/>
              <a:ext cx="641564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R(B)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804881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W(A)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368946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W(B)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645912" y="2860811"/>
              <a:ext cx="620621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R(A)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154735" y="2860811"/>
              <a:ext cx="607630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R(B)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355327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W(A)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857724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W(B)</a:t>
              </a:r>
            </a:p>
          </p:txBody>
        </p:sp>
      </p:grpSp>
      <p:sp>
        <p:nvSpPr>
          <p:cNvPr id="11" name="Right Arrow 10"/>
          <p:cNvSpPr/>
          <p:nvPr/>
        </p:nvSpPr>
        <p:spPr>
          <a:xfrm>
            <a:off x="5812971" y="3036940"/>
            <a:ext cx="718458" cy="214058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ight Arrow 68"/>
          <p:cNvSpPr/>
          <p:nvPr/>
        </p:nvSpPr>
        <p:spPr>
          <a:xfrm rot="2307267">
            <a:off x="5736769" y="3942879"/>
            <a:ext cx="718458" cy="214058"/>
          </a:xfrm>
          <a:prstGeom prst="rightArrow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748124" y="407168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  <a:latin typeface="+mj-lt"/>
              </a:rPr>
              <a:t>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85270" y="2097854"/>
            <a:ext cx="2914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u="sng" dirty="0">
                <a:latin typeface="+mj-lt"/>
              </a:rPr>
              <a:t>Interleaved Schedules</a:t>
            </a:r>
            <a:r>
              <a:rPr lang="en-US" sz="2400" u="sng" dirty="0">
                <a:latin typeface="+mj-lt"/>
              </a:rPr>
              <a:t>:</a:t>
            </a:r>
          </a:p>
        </p:txBody>
      </p:sp>
      <p:cxnSp>
        <p:nvCxnSpPr>
          <p:cNvPr id="72" name="Straight Arrow Connector 71"/>
          <p:cNvCxnSpPr>
            <a:stCxn id="21" idx="2"/>
            <a:endCxn id="31" idx="1"/>
          </p:cNvCxnSpPr>
          <p:nvPr/>
        </p:nvCxnSpPr>
        <p:spPr>
          <a:xfrm>
            <a:off x="1150934" y="3036940"/>
            <a:ext cx="2529804" cy="35255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itle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What can we say about “good” vs. “bad” conflict graphs?</a:t>
            </a:r>
            <a:endParaRPr lang="en-US" dirty="0"/>
          </a:p>
        </p:txBody>
      </p:sp>
      <p:cxnSp>
        <p:nvCxnSpPr>
          <p:cNvPr id="74" name="Straight Arrow Connector 73"/>
          <p:cNvCxnSpPr>
            <a:stCxn id="27" idx="2"/>
            <a:endCxn id="29" idx="1"/>
          </p:cNvCxnSpPr>
          <p:nvPr/>
        </p:nvCxnSpPr>
        <p:spPr>
          <a:xfrm>
            <a:off x="1711078" y="3036940"/>
            <a:ext cx="1444023" cy="35255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27" idx="2"/>
            <a:endCxn id="31" idx="1"/>
          </p:cNvCxnSpPr>
          <p:nvPr/>
        </p:nvCxnSpPr>
        <p:spPr>
          <a:xfrm>
            <a:off x="1711078" y="3036940"/>
            <a:ext cx="1969660" cy="35255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22" idx="2"/>
            <a:endCxn id="32" idx="1"/>
          </p:cNvCxnSpPr>
          <p:nvPr/>
        </p:nvCxnSpPr>
        <p:spPr>
          <a:xfrm>
            <a:off x="2277813" y="3036940"/>
            <a:ext cx="2516118" cy="35255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stCxn id="28" idx="2"/>
            <a:endCxn id="30" idx="1"/>
          </p:cNvCxnSpPr>
          <p:nvPr/>
        </p:nvCxnSpPr>
        <p:spPr>
          <a:xfrm>
            <a:off x="2859873" y="3036940"/>
            <a:ext cx="1413182" cy="35255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28" idx="2"/>
            <a:endCxn id="32" idx="1"/>
          </p:cNvCxnSpPr>
          <p:nvPr/>
        </p:nvCxnSpPr>
        <p:spPr>
          <a:xfrm>
            <a:off x="2859873" y="3036940"/>
            <a:ext cx="1934058" cy="35255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49" idx="2"/>
            <a:endCxn id="55" idx="1"/>
          </p:cNvCxnSpPr>
          <p:nvPr/>
        </p:nvCxnSpPr>
        <p:spPr>
          <a:xfrm>
            <a:off x="7374453" y="3036940"/>
            <a:ext cx="1445676" cy="35255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51" idx="2"/>
            <a:endCxn id="53" idx="1"/>
          </p:cNvCxnSpPr>
          <p:nvPr/>
        </p:nvCxnSpPr>
        <p:spPr>
          <a:xfrm>
            <a:off x="7934597" y="3036940"/>
            <a:ext cx="359895" cy="35255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51" idx="2"/>
            <a:endCxn id="55" idx="1"/>
          </p:cNvCxnSpPr>
          <p:nvPr/>
        </p:nvCxnSpPr>
        <p:spPr>
          <a:xfrm>
            <a:off x="7934597" y="3036940"/>
            <a:ext cx="885532" cy="35255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50" idx="2"/>
            <a:endCxn id="56" idx="1"/>
          </p:cNvCxnSpPr>
          <p:nvPr/>
        </p:nvCxnSpPr>
        <p:spPr>
          <a:xfrm>
            <a:off x="9585460" y="3036940"/>
            <a:ext cx="1431990" cy="35255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stCxn id="52" idx="2"/>
            <a:endCxn id="54" idx="1"/>
          </p:cNvCxnSpPr>
          <p:nvPr/>
        </p:nvCxnSpPr>
        <p:spPr>
          <a:xfrm>
            <a:off x="10167520" y="3036940"/>
            <a:ext cx="329054" cy="35255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>
            <a:stCxn id="52" idx="2"/>
            <a:endCxn id="56" idx="1"/>
          </p:cNvCxnSpPr>
          <p:nvPr/>
        </p:nvCxnSpPr>
        <p:spPr>
          <a:xfrm>
            <a:off x="10167520" y="3036940"/>
            <a:ext cx="849930" cy="35255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61" idx="2"/>
            <a:endCxn id="67" idx="1"/>
          </p:cNvCxnSpPr>
          <p:nvPr/>
        </p:nvCxnSpPr>
        <p:spPr>
          <a:xfrm>
            <a:off x="7374453" y="4829646"/>
            <a:ext cx="1445676" cy="35255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>
            <a:stCxn id="63" idx="2"/>
            <a:endCxn id="65" idx="1"/>
          </p:cNvCxnSpPr>
          <p:nvPr/>
        </p:nvCxnSpPr>
        <p:spPr>
          <a:xfrm>
            <a:off x="7934597" y="4829646"/>
            <a:ext cx="359895" cy="35255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>
            <a:stCxn id="63" idx="2"/>
            <a:endCxn id="67" idx="1"/>
          </p:cNvCxnSpPr>
          <p:nvPr/>
        </p:nvCxnSpPr>
        <p:spPr>
          <a:xfrm>
            <a:off x="7934597" y="4829646"/>
            <a:ext cx="885532" cy="35255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stCxn id="66" idx="3"/>
            <a:endCxn id="64" idx="2"/>
          </p:cNvCxnSpPr>
          <p:nvPr/>
        </p:nvCxnSpPr>
        <p:spPr>
          <a:xfrm flipV="1">
            <a:off x="9862666" y="4829646"/>
            <a:ext cx="1453650" cy="35255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>
            <a:stCxn id="68" idx="3"/>
            <a:endCxn id="62" idx="2"/>
          </p:cNvCxnSpPr>
          <p:nvPr/>
        </p:nvCxnSpPr>
        <p:spPr>
          <a:xfrm flipV="1">
            <a:off x="10459847" y="4829646"/>
            <a:ext cx="274409" cy="35255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stCxn id="68" idx="3"/>
            <a:endCxn id="64" idx="2"/>
          </p:cNvCxnSpPr>
          <p:nvPr/>
        </p:nvCxnSpPr>
        <p:spPr>
          <a:xfrm flipV="1">
            <a:off x="10459847" y="4829646"/>
            <a:ext cx="856469" cy="35255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2196055" y="4513538"/>
            <a:ext cx="3026406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>
                <a:latin typeface="+mj-lt"/>
              </a:rPr>
              <a:t>A </a:t>
            </a:r>
            <a:r>
              <a:rPr lang="en-US" sz="2800">
                <a:latin typeface="+mj-lt"/>
              </a:rPr>
              <a:t>bit complicated…</a:t>
            </a:r>
            <a:endParaRPr lang="en-US" sz="28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30071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AE6C9-D9DE-1F2E-961A-E8BC7D3F6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AFA18-0DDA-89AE-5498-E3D97F490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BE4CFD1-5A8A-98F7-B583-2B0042459362}"/>
              </a:ext>
            </a:extLst>
          </p:cNvPr>
          <p:cNvGrpSpPr/>
          <p:nvPr/>
        </p:nvGrpSpPr>
        <p:grpSpPr>
          <a:xfrm>
            <a:off x="1996311" y="2432691"/>
            <a:ext cx="7393367" cy="2694296"/>
            <a:chOff x="542809" y="2322356"/>
            <a:chExt cx="6561865" cy="96538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9684300-4E28-1119-DC1C-669709827730}"/>
                </a:ext>
              </a:extLst>
            </p:cNvPr>
            <p:cNvCxnSpPr/>
            <p:nvPr/>
          </p:nvCxnSpPr>
          <p:spPr>
            <a:xfrm>
              <a:off x="1095463" y="3277727"/>
              <a:ext cx="6009211" cy="10013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13493D0-9197-E45F-41B1-7D1D2ECFF35B}"/>
                </a:ext>
              </a:extLst>
            </p:cNvPr>
            <p:cNvSpPr txBox="1"/>
            <p:nvPr/>
          </p:nvSpPr>
          <p:spPr>
            <a:xfrm>
              <a:off x="542809" y="2322356"/>
              <a:ext cx="506683" cy="365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CFC4A85-7C3E-376F-3E13-D06B11927A51}"/>
                </a:ext>
              </a:extLst>
            </p:cNvPr>
            <p:cNvSpPr txBox="1"/>
            <p:nvPr/>
          </p:nvSpPr>
          <p:spPr>
            <a:xfrm>
              <a:off x="542809" y="2769531"/>
              <a:ext cx="506683" cy="365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021EF72-E994-509C-B2BD-3A8267F9BDE2}"/>
                </a:ext>
              </a:extLst>
            </p:cNvPr>
            <p:cNvSpPr txBox="1"/>
            <p:nvPr/>
          </p:nvSpPr>
          <p:spPr>
            <a:xfrm>
              <a:off x="1095463" y="2375357"/>
              <a:ext cx="617475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R(A)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4B2C812-1482-CED1-B3E9-EEBD83F12970}"/>
                </a:ext>
              </a:extLst>
            </p:cNvPr>
            <p:cNvSpPr txBox="1"/>
            <p:nvPr/>
          </p:nvSpPr>
          <p:spPr>
            <a:xfrm>
              <a:off x="5617905" y="2375357"/>
              <a:ext cx="641564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R(B)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2CAC90B-1530-0B67-6522-64BDC231A7E3}"/>
                </a:ext>
              </a:extLst>
            </p:cNvPr>
            <p:cNvSpPr txBox="1"/>
            <p:nvPr/>
          </p:nvSpPr>
          <p:spPr>
            <a:xfrm>
              <a:off x="1804881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W(A)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3347829-9C79-C9B1-807A-3843C75CDF1A}"/>
                </a:ext>
              </a:extLst>
            </p:cNvPr>
            <p:cNvSpPr txBox="1"/>
            <p:nvPr/>
          </p:nvSpPr>
          <p:spPr>
            <a:xfrm>
              <a:off x="6368946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W(B)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B077AA1-8530-CAB3-C821-7024163762D9}"/>
                </a:ext>
              </a:extLst>
            </p:cNvPr>
            <p:cNvSpPr txBox="1"/>
            <p:nvPr/>
          </p:nvSpPr>
          <p:spPr>
            <a:xfrm>
              <a:off x="2645912" y="2860811"/>
              <a:ext cx="620621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R(A)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85857E0-4BDB-B37B-781E-7CAAAA4FAD8F}"/>
                </a:ext>
              </a:extLst>
            </p:cNvPr>
            <p:cNvSpPr txBox="1"/>
            <p:nvPr/>
          </p:nvSpPr>
          <p:spPr>
            <a:xfrm>
              <a:off x="4154735" y="2860811"/>
              <a:ext cx="607630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+mj-lt"/>
                </a:rPr>
                <a:t>R(B)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D8ED100-79D3-C08A-09A8-BA16C9F2D316}"/>
                </a:ext>
              </a:extLst>
            </p:cNvPr>
            <p:cNvSpPr txBox="1"/>
            <p:nvPr/>
          </p:nvSpPr>
          <p:spPr>
            <a:xfrm>
              <a:off x="3355327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W(A)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068D319-3EE7-9D77-FA9C-2957C08CFE19}"/>
                </a:ext>
              </a:extLst>
            </p:cNvPr>
            <p:cNvSpPr txBox="1"/>
            <p:nvPr/>
          </p:nvSpPr>
          <p:spPr>
            <a:xfrm>
              <a:off x="4857724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W(B)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462819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89</a:t>
            </a:fld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605725" y="2097854"/>
            <a:ext cx="2098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u="sng" dirty="0">
                <a:latin typeface="+mj-lt"/>
              </a:rPr>
              <a:t>Serial Schedule</a:t>
            </a:r>
            <a:r>
              <a:rPr lang="en-US" sz="2400" u="sng" dirty="0">
                <a:latin typeface="+mj-lt"/>
              </a:rPr>
              <a:t>: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12971" y="3036940"/>
            <a:ext cx="718458" cy="214058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ight Arrow 68"/>
          <p:cNvSpPr/>
          <p:nvPr/>
        </p:nvSpPr>
        <p:spPr>
          <a:xfrm rot="2307267">
            <a:off x="5736769" y="3942879"/>
            <a:ext cx="718458" cy="214058"/>
          </a:xfrm>
          <a:prstGeom prst="rightArrow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748124" y="407168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  <a:latin typeface="+mj-lt"/>
              </a:rPr>
              <a:t>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85270" y="2097854"/>
            <a:ext cx="2914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u="sng" dirty="0">
                <a:latin typeface="+mj-lt"/>
              </a:rPr>
              <a:t>Interleaved Schedules</a:t>
            </a:r>
            <a:r>
              <a:rPr lang="en-US" sz="2400" u="sng" dirty="0">
                <a:latin typeface="+mj-lt"/>
              </a:rPr>
              <a:t>:</a:t>
            </a:r>
          </a:p>
        </p:txBody>
      </p:sp>
      <p:sp>
        <p:nvSpPr>
          <p:cNvPr id="73" name="Title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What can we say about “good” vs. “bad” conflict graphs?</a:t>
            </a:r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662764" y="2833780"/>
            <a:ext cx="3869962" cy="1152505"/>
            <a:chOff x="1566079" y="3036940"/>
            <a:chExt cx="2160544" cy="643427"/>
          </a:xfrm>
        </p:grpSpPr>
        <p:grpSp>
          <p:nvGrpSpPr>
            <p:cNvPr id="71" name="Group 70"/>
            <p:cNvGrpSpPr/>
            <p:nvPr/>
          </p:nvGrpSpPr>
          <p:grpSpPr>
            <a:xfrm>
              <a:off x="1566079" y="3036940"/>
              <a:ext cx="632697" cy="632697"/>
              <a:chOff x="7435034" y="4492691"/>
              <a:chExt cx="632697" cy="632697"/>
            </a:xfrm>
          </p:grpSpPr>
          <p:sp>
            <p:nvSpPr>
              <p:cNvPr id="76" name="Oval 75"/>
              <p:cNvSpPr/>
              <p:nvPr/>
            </p:nvSpPr>
            <p:spPr>
              <a:xfrm>
                <a:off x="7435034" y="4492691"/>
                <a:ext cx="632697" cy="632697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7582333" y="4615043"/>
                <a:ext cx="314301" cy="3608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b="1" dirty="0">
                    <a:solidFill>
                      <a:srgbClr val="C00000"/>
                    </a:solidFill>
                    <a:latin typeface="+mj-lt"/>
                  </a:rPr>
                  <a:t>T</a:t>
                </a:r>
                <a:r>
                  <a:rPr lang="en-US" sz="3600" b="1" baseline="-25000" dirty="0">
                    <a:solidFill>
                      <a:srgbClr val="C00000"/>
                    </a:solidFill>
                    <a:latin typeface="+mj-lt"/>
                  </a:rPr>
                  <a:t>1</a:t>
                </a:r>
              </a:p>
            </p:txBody>
          </p:sp>
        </p:grpSp>
        <p:grpSp>
          <p:nvGrpSpPr>
            <p:cNvPr id="78" name="Group 77"/>
            <p:cNvGrpSpPr/>
            <p:nvPr/>
          </p:nvGrpSpPr>
          <p:grpSpPr>
            <a:xfrm>
              <a:off x="3093926" y="3047670"/>
              <a:ext cx="632697" cy="632697"/>
              <a:chOff x="8962881" y="4512752"/>
              <a:chExt cx="632697" cy="632697"/>
            </a:xfrm>
          </p:grpSpPr>
          <p:sp>
            <p:nvSpPr>
              <p:cNvPr id="79" name="Oval 78"/>
              <p:cNvSpPr/>
              <p:nvPr/>
            </p:nvSpPr>
            <p:spPr>
              <a:xfrm>
                <a:off x="8962881" y="4512752"/>
                <a:ext cx="632697" cy="632697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9105830" y="4624373"/>
                <a:ext cx="314301" cy="3608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b="1" dirty="0">
                    <a:solidFill>
                      <a:srgbClr val="0070C0"/>
                    </a:solidFill>
                    <a:latin typeface="+mj-lt"/>
                  </a:rPr>
                  <a:t>T</a:t>
                </a:r>
                <a:r>
                  <a:rPr lang="en-US" sz="3600" b="1" baseline="-25000" dirty="0">
                    <a:solidFill>
                      <a:srgbClr val="0070C0"/>
                    </a:solidFill>
                    <a:latin typeface="+mj-lt"/>
                  </a:rPr>
                  <a:t>2</a:t>
                </a:r>
              </a:p>
            </p:txBody>
          </p:sp>
        </p:grpSp>
        <p:cxnSp>
          <p:nvCxnSpPr>
            <p:cNvPr id="81" name="Straight Arrow Connector 80"/>
            <p:cNvCxnSpPr/>
            <p:nvPr/>
          </p:nvCxnSpPr>
          <p:spPr>
            <a:xfrm>
              <a:off x="2198776" y="3353289"/>
              <a:ext cx="895150" cy="10730"/>
            </a:xfrm>
            <a:prstGeom prst="straightConnector1">
              <a:avLst/>
            </a:prstGeom>
            <a:ln w="349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Group 109"/>
          <p:cNvGrpSpPr/>
          <p:nvPr/>
        </p:nvGrpSpPr>
        <p:grpSpPr>
          <a:xfrm>
            <a:off x="7141189" y="2678631"/>
            <a:ext cx="3869962" cy="1152505"/>
            <a:chOff x="1566079" y="3036940"/>
            <a:chExt cx="2160544" cy="643427"/>
          </a:xfrm>
        </p:grpSpPr>
        <p:grpSp>
          <p:nvGrpSpPr>
            <p:cNvPr id="112" name="Group 111"/>
            <p:cNvGrpSpPr/>
            <p:nvPr/>
          </p:nvGrpSpPr>
          <p:grpSpPr>
            <a:xfrm>
              <a:off x="1566079" y="3036940"/>
              <a:ext cx="632697" cy="632697"/>
              <a:chOff x="7435034" y="4492691"/>
              <a:chExt cx="632697" cy="632697"/>
            </a:xfrm>
          </p:grpSpPr>
          <p:sp>
            <p:nvSpPr>
              <p:cNvPr id="118" name="Oval 117"/>
              <p:cNvSpPr/>
              <p:nvPr/>
            </p:nvSpPr>
            <p:spPr>
              <a:xfrm>
                <a:off x="7435034" y="4492691"/>
                <a:ext cx="632697" cy="632697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119" name="TextBox 118"/>
              <p:cNvSpPr txBox="1"/>
              <p:nvPr/>
            </p:nvSpPr>
            <p:spPr>
              <a:xfrm>
                <a:off x="7582333" y="4615043"/>
                <a:ext cx="314301" cy="3608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b="1" dirty="0">
                    <a:solidFill>
                      <a:srgbClr val="C00000"/>
                    </a:solidFill>
                    <a:latin typeface="+mj-lt"/>
                  </a:rPr>
                  <a:t>T</a:t>
                </a:r>
                <a:r>
                  <a:rPr lang="en-US" sz="3600" b="1" baseline="-25000" dirty="0">
                    <a:solidFill>
                      <a:srgbClr val="C00000"/>
                    </a:solidFill>
                    <a:latin typeface="+mj-lt"/>
                  </a:rPr>
                  <a:t>1</a:t>
                </a:r>
              </a:p>
            </p:txBody>
          </p:sp>
        </p:grpSp>
        <p:grpSp>
          <p:nvGrpSpPr>
            <p:cNvPr id="113" name="Group 112"/>
            <p:cNvGrpSpPr/>
            <p:nvPr/>
          </p:nvGrpSpPr>
          <p:grpSpPr>
            <a:xfrm>
              <a:off x="3093926" y="3047670"/>
              <a:ext cx="632697" cy="632697"/>
              <a:chOff x="8962881" y="4512752"/>
              <a:chExt cx="632697" cy="632697"/>
            </a:xfrm>
          </p:grpSpPr>
          <p:sp>
            <p:nvSpPr>
              <p:cNvPr id="116" name="Oval 115"/>
              <p:cNvSpPr/>
              <p:nvPr/>
            </p:nvSpPr>
            <p:spPr>
              <a:xfrm>
                <a:off x="8962881" y="4512752"/>
                <a:ext cx="632697" cy="632697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117" name="TextBox 116"/>
              <p:cNvSpPr txBox="1"/>
              <p:nvPr/>
            </p:nvSpPr>
            <p:spPr>
              <a:xfrm>
                <a:off x="9105830" y="4624373"/>
                <a:ext cx="314301" cy="3608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b="1" dirty="0">
                    <a:solidFill>
                      <a:srgbClr val="0070C0"/>
                    </a:solidFill>
                    <a:latin typeface="+mj-lt"/>
                  </a:rPr>
                  <a:t>T</a:t>
                </a:r>
                <a:r>
                  <a:rPr lang="en-US" sz="3600" b="1" baseline="-25000" dirty="0">
                    <a:solidFill>
                      <a:srgbClr val="0070C0"/>
                    </a:solidFill>
                    <a:latin typeface="+mj-lt"/>
                  </a:rPr>
                  <a:t>2</a:t>
                </a:r>
              </a:p>
            </p:txBody>
          </p:sp>
        </p:grpSp>
        <p:cxnSp>
          <p:nvCxnSpPr>
            <p:cNvPr id="114" name="Straight Arrow Connector 113"/>
            <p:cNvCxnSpPr/>
            <p:nvPr/>
          </p:nvCxnSpPr>
          <p:spPr>
            <a:xfrm>
              <a:off x="2198776" y="3353289"/>
              <a:ext cx="895150" cy="10730"/>
            </a:xfrm>
            <a:prstGeom prst="straightConnector1">
              <a:avLst/>
            </a:prstGeom>
            <a:ln w="349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oup 119"/>
          <p:cNvGrpSpPr/>
          <p:nvPr/>
        </p:nvGrpSpPr>
        <p:grpSpPr>
          <a:xfrm>
            <a:off x="7141190" y="4178064"/>
            <a:ext cx="3869962" cy="1152505"/>
            <a:chOff x="1566079" y="3036940"/>
            <a:chExt cx="2160544" cy="643427"/>
          </a:xfrm>
        </p:grpSpPr>
        <p:grpSp>
          <p:nvGrpSpPr>
            <p:cNvPr id="121" name="Group 120"/>
            <p:cNvGrpSpPr/>
            <p:nvPr/>
          </p:nvGrpSpPr>
          <p:grpSpPr>
            <a:xfrm>
              <a:off x="1566079" y="3036940"/>
              <a:ext cx="632697" cy="632697"/>
              <a:chOff x="7435034" y="4492691"/>
              <a:chExt cx="632697" cy="632697"/>
            </a:xfrm>
          </p:grpSpPr>
          <p:sp>
            <p:nvSpPr>
              <p:cNvPr id="126" name="Oval 125"/>
              <p:cNvSpPr/>
              <p:nvPr/>
            </p:nvSpPr>
            <p:spPr>
              <a:xfrm>
                <a:off x="7435034" y="4492691"/>
                <a:ext cx="632697" cy="632697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127" name="TextBox 126"/>
              <p:cNvSpPr txBox="1"/>
              <p:nvPr/>
            </p:nvSpPr>
            <p:spPr>
              <a:xfrm>
                <a:off x="7582333" y="4615043"/>
                <a:ext cx="314301" cy="3608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b="1" dirty="0">
                    <a:solidFill>
                      <a:srgbClr val="C00000"/>
                    </a:solidFill>
                    <a:latin typeface="+mj-lt"/>
                  </a:rPr>
                  <a:t>T</a:t>
                </a:r>
                <a:r>
                  <a:rPr lang="en-US" sz="3600" b="1" baseline="-25000" dirty="0">
                    <a:solidFill>
                      <a:srgbClr val="C00000"/>
                    </a:solidFill>
                    <a:latin typeface="+mj-lt"/>
                  </a:rPr>
                  <a:t>1</a:t>
                </a:r>
              </a:p>
            </p:txBody>
          </p:sp>
        </p:grpSp>
        <p:grpSp>
          <p:nvGrpSpPr>
            <p:cNvPr id="122" name="Group 121"/>
            <p:cNvGrpSpPr/>
            <p:nvPr/>
          </p:nvGrpSpPr>
          <p:grpSpPr>
            <a:xfrm>
              <a:off x="3093926" y="3047670"/>
              <a:ext cx="632697" cy="632697"/>
              <a:chOff x="8962881" y="4512752"/>
              <a:chExt cx="632697" cy="632697"/>
            </a:xfrm>
          </p:grpSpPr>
          <p:sp>
            <p:nvSpPr>
              <p:cNvPr id="124" name="Oval 123"/>
              <p:cNvSpPr/>
              <p:nvPr/>
            </p:nvSpPr>
            <p:spPr>
              <a:xfrm>
                <a:off x="8962881" y="4512752"/>
                <a:ext cx="632697" cy="632697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125" name="TextBox 124"/>
              <p:cNvSpPr txBox="1"/>
              <p:nvPr/>
            </p:nvSpPr>
            <p:spPr>
              <a:xfrm>
                <a:off x="9105830" y="4624373"/>
                <a:ext cx="314301" cy="3608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b="1" dirty="0">
                    <a:solidFill>
                      <a:srgbClr val="0070C0"/>
                    </a:solidFill>
                    <a:latin typeface="+mj-lt"/>
                  </a:rPr>
                  <a:t>T</a:t>
                </a:r>
                <a:r>
                  <a:rPr lang="en-US" sz="3600" b="1" baseline="-25000" dirty="0">
                    <a:solidFill>
                      <a:srgbClr val="0070C0"/>
                    </a:solidFill>
                    <a:latin typeface="+mj-lt"/>
                  </a:rPr>
                  <a:t>2</a:t>
                </a:r>
              </a:p>
            </p:txBody>
          </p:sp>
        </p:grpSp>
        <p:cxnSp>
          <p:nvCxnSpPr>
            <p:cNvPr id="123" name="Straight Arrow Connector 122"/>
            <p:cNvCxnSpPr>
              <a:stCxn id="126" idx="7"/>
              <a:endCxn id="124" idx="1"/>
            </p:cNvCxnSpPr>
            <p:nvPr/>
          </p:nvCxnSpPr>
          <p:spPr>
            <a:xfrm>
              <a:off x="2106120" y="3129596"/>
              <a:ext cx="1080462" cy="10730"/>
            </a:xfrm>
            <a:prstGeom prst="straightConnector1">
              <a:avLst/>
            </a:prstGeom>
            <a:ln w="349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/>
            <p:cNvCxnSpPr>
              <a:stCxn id="124" idx="3"/>
              <a:endCxn id="126" idx="5"/>
            </p:cNvCxnSpPr>
            <p:nvPr/>
          </p:nvCxnSpPr>
          <p:spPr>
            <a:xfrm flipH="1" flipV="1">
              <a:off x="2106119" y="3576981"/>
              <a:ext cx="1080464" cy="10730"/>
            </a:xfrm>
            <a:prstGeom prst="straightConnector1">
              <a:avLst/>
            </a:prstGeom>
            <a:ln w="349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9" name="Rectangle 128"/>
          <p:cNvSpPr/>
          <p:nvPr/>
        </p:nvSpPr>
        <p:spPr>
          <a:xfrm>
            <a:off x="2431394" y="5677497"/>
            <a:ext cx="7329208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u="sng" dirty="0">
                <a:latin typeface="+mj-lt"/>
              </a:rPr>
              <a:t>Theorem</a:t>
            </a:r>
            <a:r>
              <a:rPr lang="en-US" sz="2800" dirty="0">
                <a:latin typeface="+mj-lt"/>
              </a:rPr>
              <a:t>: Schedule is </a:t>
            </a:r>
            <a:r>
              <a:rPr lang="en-US" sz="2800" b="1" dirty="0">
                <a:latin typeface="+mj-lt"/>
              </a:rPr>
              <a:t>conflict serializable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800" dirty="0">
                <a:latin typeface="+mj-lt"/>
              </a:rPr>
              <a:t>if and only if its conflict graph is </a:t>
            </a:r>
            <a:r>
              <a:rPr lang="en-US" sz="2800" b="1" u="sng" dirty="0">
                <a:latin typeface="+mj-lt"/>
              </a:rPr>
              <a:t>acyclic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793532" y="4525347"/>
            <a:ext cx="1320674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>
                <a:latin typeface="+mj-lt"/>
              </a:rPr>
              <a:t>Simple!</a:t>
            </a:r>
            <a:endParaRPr lang="en-US" sz="28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62469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animBg="1"/>
      <p:bldP spid="13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F31D3-979C-493A-78B4-A665CBFF0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Isolation Levels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72B98-8E8D-DF06-E51B-A4C2B5383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Presentation on the 4 isolation </a:t>
            </a:r>
            <a:r>
              <a:rPr lang="en-US">
                <a:ea typeface="Calibri"/>
                <a:cs typeface="Calibri"/>
              </a:rPr>
              <a:t>levels in MYSQL/MariaDB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518900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01427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Let’s unpack this notion of acyclic conflict graphs…</a:t>
            </a:r>
          </a:p>
        </p:txBody>
      </p:sp>
    </p:spTree>
    <p:extLst>
      <p:ext uri="{BB962C8B-B14F-4D97-AF65-F5344CB8AC3E}">
        <p14:creationId xmlns:p14="http://schemas.microsoft.com/office/powerpoint/2010/main" val="40558204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DAGs &amp; Topological Orderings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topological ordering </a:t>
            </a:r>
            <a:r>
              <a:rPr lang="en-US" dirty="0"/>
              <a:t>of a directed graph is a linear ordering of its vertices that respects all the directed edges</a:t>
            </a:r>
          </a:p>
          <a:p>
            <a:endParaRPr lang="en-US" dirty="0"/>
          </a:p>
          <a:p>
            <a:r>
              <a:rPr lang="en-US" dirty="0"/>
              <a:t>A directed </a:t>
            </a:r>
            <a:r>
              <a:rPr lang="en-US" b="1" u="sng" dirty="0"/>
              <a:t>acyclic</a:t>
            </a:r>
            <a:r>
              <a:rPr lang="en-US" dirty="0"/>
              <a:t> graph (DAG) always has one or more </a:t>
            </a:r>
            <a:r>
              <a:rPr lang="en-US" b="1" dirty="0"/>
              <a:t>topological orderings</a:t>
            </a:r>
          </a:p>
          <a:p>
            <a:pPr lvl="1"/>
            <a:r>
              <a:rPr lang="en-US" dirty="0"/>
              <a:t>(And there exists a topological ordering </a:t>
            </a:r>
            <a:r>
              <a:rPr lang="en-US" i="1" dirty="0"/>
              <a:t>if and only if </a:t>
            </a:r>
            <a:r>
              <a:rPr lang="en-US" dirty="0"/>
              <a:t>there are no directed cycles)</a:t>
            </a:r>
          </a:p>
        </p:txBody>
      </p:sp>
    </p:spTree>
    <p:extLst>
      <p:ext uri="{BB962C8B-B14F-4D97-AF65-F5344CB8AC3E}">
        <p14:creationId xmlns:p14="http://schemas.microsoft.com/office/powerpoint/2010/main" val="50440196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DAGs &amp; Topological Orderings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Ex: What is one possible topological ordering here?</a:t>
            </a:r>
          </a:p>
        </p:txBody>
      </p:sp>
      <p:sp>
        <p:nvSpPr>
          <p:cNvPr id="7" name="Oval 6"/>
          <p:cNvSpPr/>
          <p:nvPr/>
        </p:nvSpPr>
        <p:spPr>
          <a:xfrm>
            <a:off x="1520933" y="3508310"/>
            <a:ext cx="578498" cy="5784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2332697" y="5038531"/>
            <a:ext cx="578498" cy="5784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942435" y="5029200"/>
            <a:ext cx="578498" cy="5784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4010083" y="2929812"/>
            <a:ext cx="578498" cy="5784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12" name="Straight Arrow Connector 11"/>
          <p:cNvCxnSpPr>
            <a:stCxn id="10" idx="2"/>
            <a:endCxn id="7" idx="6"/>
          </p:cNvCxnSpPr>
          <p:nvPr/>
        </p:nvCxnSpPr>
        <p:spPr>
          <a:xfrm flipH="1">
            <a:off x="2099431" y="3219061"/>
            <a:ext cx="1910652" cy="578498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4"/>
            <a:endCxn id="9" idx="7"/>
          </p:cNvCxnSpPr>
          <p:nvPr/>
        </p:nvCxnSpPr>
        <p:spPr>
          <a:xfrm flipH="1">
            <a:off x="1436214" y="4086808"/>
            <a:ext cx="373968" cy="102711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4"/>
            <a:endCxn id="8" idx="1"/>
          </p:cNvCxnSpPr>
          <p:nvPr/>
        </p:nvCxnSpPr>
        <p:spPr>
          <a:xfrm>
            <a:off x="1810182" y="4086808"/>
            <a:ext cx="607234" cy="1036442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00277" y="3335894"/>
            <a:ext cx="3563378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Ex: 0, 1, 2</a:t>
            </a:r>
            <a:r>
              <a:rPr lang="en-US" sz="2400">
                <a:latin typeface="+mj-lt"/>
              </a:rPr>
              <a:t>, 3  (or: 0, 1, 3, 2)</a:t>
            </a: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65871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DAGs &amp; Topological Orderings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Ex: What is one possible topological ordering here?</a:t>
            </a:r>
          </a:p>
        </p:txBody>
      </p:sp>
      <p:sp>
        <p:nvSpPr>
          <p:cNvPr id="7" name="Oval 6"/>
          <p:cNvSpPr/>
          <p:nvPr/>
        </p:nvSpPr>
        <p:spPr>
          <a:xfrm>
            <a:off x="1520933" y="3508310"/>
            <a:ext cx="578498" cy="5784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2332697" y="5038531"/>
            <a:ext cx="578498" cy="5784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942435" y="5029200"/>
            <a:ext cx="578498" cy="5784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4010083" y="2929812"/>
            <a:ext cx="578498" cy="5784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12" name="Straight Arrow Connector 11"/>
          <p:cNvCxnSpPr>
            <a:stCxn id="10" idx="2"/>
            <a:endCxn id="7" idx="6"/>
          </p:cNvCxnSpPr>
          <p:nvPr/>
        </p:nvCxnSpPr>
        <p:spPr>
          <a:xfrm flipH="1">
            <a:off x="2099431" y="3219061"/>
            <a:ext cx="1910652" cy="578498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4"/>
            <a:endCxn id="9" idx="7"/>
          </p:cNvCxnSpPr>
          <p:nvPr/>
        </p:nvCxnSpPr>
        <p:spPr>
          <a:xfrm flipH="1">
            <a:off x="1436214" y="4086808"/>
            <a:ext cx="373968" cy="102711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8" idx="2"/>
          </p:cNvCxnSpPr>
          <p:nvPr/>
        </p:nvCxnSpPr>
        <p:spPr>
          <a:xfrm flipV="1">
            <a:off x="1520933" y="5327780"/>
            <a:ext cx="811764" cy="50995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82831" y="4086808"/>
            <a:ext cx="2626338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+mj-lt"/>
              </a:rPr>
              <a:t>There </a:t>
            </a:r>
            <a:r>
              <a:rPr lang="en-US" sz="3200">
                <a:latin typeface="+mj-lt"/>
              </a:rPr>
              <a:t>is none!</a:t>
            </a:r>
            <a:endParaRPr lang="en-US" sz="3200" dirty="0">
              <a:latin typeface="+mj-lt"/>
            </a:endParaRPr>
          </a:p>
        </p:txBody>
      </p:sp>
      <p:cxnSp>
        <p:nvCxnSpPr>
          <p:cNvPr id="17" name="Straight Arrow Connector 16"/>
          <p:cNvCxnSpPr>
            <a:stCxn id="8" idx="0"/>
            <a:endCxn id="7" idx="5"/>
          </p:cNvCxnSpPr>
          <p:nvPr/>
        </p:nvCxnSpPr>
        <p:spPr>
          <a:xfrm flipH="1" flipV="1">
            <a:off x="2014712" y="4002089"/>
            <a:ext cx="607234" cy="1036442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967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 to conflict </a:t>
            </a:r>
            <a:r>
              <a:rPr lang="en-US" dirty="0" err="1"/>
              <a:t>serializability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conflict graph, a topological ordering of nodes corresponds to </a:t>
            </a:r>
            <a:r>
              <a:rPr lang="en-US" b="1" dirty="0"/>
              <a:t>a serial ordering of TXNs</a:t>
            </a:r>
            <a:endParaRPr lang="en-US" dirty="0"/>
          </a:p>
          <a:p>
            <a:endParaRPr lang="en-US" dirty="0"/>
          </a:p>
          <a:p>
            <a:r>
              <a:rPr lang="en-US" dirty="0"/>
              <a:t>Thus an </a:t>
            </a:r>
            <a:r>
              <a:rPr lang="en-US" b="1" u="sng" dirty="0"/>
              <a:t>acyclic</a:t>
            </a:r>
            <a:r>
              <a:rPr lang="en-US" dirty="0"/>
              <a:t> conflict graph </a:t>
            </a:r>
            <a:r>
              <a:rPr lang="en-US" dirty="0">
                <a:sym typeface="Wingdings"/>
              </a:rPr>
              <a:t> conflict serializable!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431396" y="4987032"/>
            <a:ext cx="7329208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u="sng" dirty="0">
                <a:latin typeface="+mj-lt"/>
              </a:rPr>
              <a:t>Theorem</a:t>
            </a:r>
            <a:r>
              <a:rPr lang="en-US" sz="2800" dirty="0">
                <a:latin typeface="+mj-lt"/>
              </a:rPr>
              <a:t>: Schedule is </a:t>
            </a:r>
            <a:r>
              <a:rPr lang="en-US" sz="2800" b="1" dirty="0">
                <a:latin typeface="+mj-lt"/>
              </a:rPr>
              <a:t>conflict serializable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800" dirty="0">
                <a:latin typeface="+mj-lt"/>
              </a:rPr>
              <a:t>if and only if its conflict graph is </a:t>
            </a:r>
            <a:r>
              <a:rPr lang="en-US" sz="2800" b="1" u="sng" dirty="0">
                <a:latin typeface="+mj-lt"/>
              </a:rPr>
              <a:t>acyclic</a:t>
            </a:r>
          </a:p>
        </p:txBody>
      </p:sp>
    </p:spTree>
    <p:extLst>
      <p:ext uri="{BB962C8B-B14F-4D97-AF65-F5344CB8AC3E}">
        <p14:creationId xmlns:p14="http://schemas.microsoft.com/office/powerpoint/2010/main" val="60050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D846-9B1C-9F02-923E-446B1B98A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A7D202E-BD5A-587A-3F24-21B09E2C34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430376"/>
              </p:ext>
            </p:extLst>
          </p:nvPr>
        </p:nvGraphicFramePr>
        <p:xfrm>
          <a:off x="261582" y="1831074"/>
          <a:ext cx="11675697" cy="115824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1714676">
                  <a:extLst>
                    <a:ext uri="{9D8B030D-6E8A-4147-A177-3AD203B41FA5}">
                      <a16:colId xmlns:a16="http://schemas.microsoft.com/office/drawing/2014/main" val="1417621457"/>
                    </a:ext>
                  </a:extLst>
                </a:gridCol>
                <a:gridCol w="1245063">
                  <a:extLst>
                    <a:ext uri="{9D8B030D-6E8A-4147-A177-3AD203B41FA5}">
                      <a16:colId xmlns:a16="http://schemas.microsoft.com/office/drawing/2014/main" val="1289596821"/>
                    </a:ext>
                  </a:extLst>
                </a:gridCol>
                <a:gridCol w="1245063">
                  <a:extLst>
                    <a:ext uri="{9D8B030D-6E8A-4147-A177-3AD203B41FA5}">
                      <a16:colId xmlns:a16="http://schemas.microsoft.com/office/drawing/2014/main" val="272499407"/>
                    </a:ext>
                  </a:extLst>
                </a:gridCol>
                <a:gridCol w="1245063">
                  <a:extLst>
                    <a:ext uri="{9D8B030D-6E8A-4147-A177-3AD203B41FA5}">
                      <a16:colId xmlns:a16="http://schemas.microsoft.com/office/drawing/2014/main" val="1481252313"/>
                    </a:ext>
                  </a:extLst>
                </a:gridCol>
                <a:gridCol w="1245063">
                  <a:extLst>
                    <a:ext uri="{9D8B030D-6E8A-4147-A177-3AD203B41FA5}">
                      <a16:colId xmlns:a16="http://schemas.microsoft.com/office/drawing/2014/main" val="2961177504"/>
                    </a:ext>
                  </a:extLst>
                </a:gridCol>
                <a:gridCol w="1245063">
                  <a:extLst>
                    <a:ext uri="{9D8B030D-6E8A-4147-A177-3AD203B41FA5}">
                      <a16:colId xmlns:a16="http://schemas.microsoft.com/office/drawing/2014/main" val="3247906279"/>
                    </a:ext>
                  </a:extLst>
                </a:gridCol>
                <a:gridCol w="1245063">
                  <a:extLst>
                    <a:ext uri="{9D8B030D-6E8A-4147-A177-3AD203B41FA5}">
                      <a16:colId xmlns:a16="http://schemas.microsoft.com/office/drawing/2014/main" val="57827049"/>
                    </a:ext>
                  </a:extLst>
                </a:gridCol>
                <a:gridCol w="1245063">
                  <a:extLst>
                    <a:ext uri="{9D8B030D-6E8A-4147-A177-3AD203B41FA5}">
                      <a16:colId xmlns:a16="http://schemas.microsoft.com/office/drawing/2014/main" val="3103051168"/>
                    </a:ext>
                  </a:extLst>
                </a:gridCol>
                <a:gridCol w="1245580">
                  <a:extLst>
                    <a:ext uri="{9D8B030D-6E8A-4147-A177-3AD203B41FA5}">
                      <a16:colId xmlns:a16="http://schemas.microsoft.com/office/drawing/2014/main" val="1248358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T0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r0(A)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w0(A)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err="1">
                          <a:effectLst/>
                        </a:rPr>
                        <a:t>ro</a:t>
                      </a:r>
                      <a:r>
                        <a:rPr lang="en-US" sz="3200" dirty="0">
                          <a:effectLst/>
                        </a:rPr>
                        <a:t>(B)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w0(B)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c0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1595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r1(A)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r1(B)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2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83093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4A8B582-C430-AA59-EA73-9BF19736184E}"/>
              </a:ext>
            </a:extLst>
          </p:cNvPr>
          <p:cNvSpPr txBox="1"/>
          <p:nvPr/>
        </p:nvSpPr>
        <p:spPr>
          <a:xfrm>
            <a:off x="1512627" y="4395716"/>
            <a:ext cx="9633044" cy="5509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/>
              <a:t>Consider the following two transactions and schedule (time goes from left to right). Is this</a:t>
            </a:r>
            <a:endParaRPr lang="en-US" sz="3200" dirty="0">
              <a:ea typeface="Calibri"/>
              <a:cs typeface="Calibri"/>
            </a:endParaRPr>
          </a:p>
          <a:p>
            <a:r>
              <a:rPr lang="en-US" sz="3200" dirty="0"/>
              <a:t>schedule conflict-serializable? Explain why or why not.</a:t>
            </a:r>
            <a:endParaRPr lang="en-US" sz="3200" dirty="0">
              <a:ea typeface="Calibri"/>
              <a:cs typeface="Calibri"/>
            </a:endParaRPr>
          </a:p>
          <a:p>
            <a:endParaRPr lang="en-US" sz="3200" dirty="0">
              <a:ea typeface="Calibri"/>
              <a:cs typeface="Calibri"/>
            </a:endParaRPr>
          </a:p>
          <a:p>
            <a:endParaRPr lang="en-US" sz="3200" dirty="0">
              <a:ea typeface="Calibri"/>
              <a:cs typeface="Calibri"/>
            </a:endParaRPr>
          </a:p>
          <a:p>
            <a:endParaRPr lang="en-US" sz="3200" dirty="0">
              <a:ea typeface="Calibri"/>
              <a:cs typeface="Calibri"/>
            </a:endParaRPr>
          </a:p>
          <a:p>
            <a:endParaRPr lang="en-US" sz="3200" dirty="0">
              <a:ea typeface="Calibri"/>
              <a:cs typeface="Calibri"/>
            </a:endParaRPr>
          </a:p>
          <a:p>
            <a:endParaRPr lang="en-US" sz="3200" dirty="0">
              <a:ea typeface="Calibri"/>
              <a:cs typeface="Calibri"/>
            </a:endParaRPr>
          </a:p>
          <a:p>
            <a:endParaRPr lang="en-US" sz="3200" dirty="0">
              <a:ea typeface="Calibri"/>
              <a:cs typeface="Calibri"/>
            </a:endParaRPr>
          </a:p>
          <a:p>
            <a:endParaRPr lang="en-US" sz="3200" dirty="0">
              <a:ea typeface="Calibri"/>
              <a:cs typeface="Calibri"/>
            </a:endParaRPr>
          </a:p>
          <a:p>
            <a:endParaRPr lang="en-US" sz="3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008687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Strict Two-Phase Locking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consider </a:t>
            </a:r>
            <a:r>
              <a:rPr lang="en-US" b="1" dirty="0"/>
              <a:t>locking</a:t>
            </a:r>
            <a:r>
              <a:rPr lang="en-US" dirty="0"/>
              <a:t>- specifically, </a:t>
            </a:r>
            <a:r>
              <a:rPr lang="en-US" i="1" dirty="0"/>
              <a:t>strict two-phase locking</a:t>
            </a:r>
            <a:r>
              <a:rPr lang="en-US" dirty="0"/>
              <a:t>- as a way to deal with concurrency, because is </a:t>
            </a:r>
            <a:r>
              <a:rPr lang="en-US" b="1" dirty="0"/>
              <a:t>guarantees conflict </a:t>
            </a:r>
            <a:r>
              <a:rPr lang="en-US" b="1" dirty="0" err="1"/>
              <a:t>serializability</a:t>
            </a:r>
            <a:r>
              <a:rPr lang="en-US" b="1" dirty="0"/>
              <a:t> (if it completes- see upcoming…)</a:t>
            </a:r>
          </a:p>
          <a:p>
            <a:endParaRPr lang="en-US" b="1" dirty="0"/>
          </a:p>
          <a:p>
            <a:r>
              <a:rPr lang="en-US" dirty="0"/>
              <a:t>Also (</a:t>
            </a:r>
            <a:r>
              <a:rPr lang="en-US" i="1" dirty="0"/>
              <a:t>conceptually</a:t>
            </a:r>
            <a:r>
              <a:rPr lang="en-US" dirty="0"/>
              <a:t>) straightforward to implement, and transparent to the user!</a:t>
            </a:r>
          </a:p>
        </p:txBody>
      </p:sp>
    </p:spTree>
    <p:extLst>
      <p:ext uri="{BB962C8B-B14F-4D97-AF65-F5344CB8AC3E}">
        <p14:creationId xmlns:p14="http://schemas.microsoft.com/office/powerpoint/2010/main" val="169586150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864385" y="396766"/>
            <a:ext cx="9857561" cy="11049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/>
              <a:t>Strict Two-phase Locking (Strict 2PL) Protocol: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864385" y="1635672"/>
            <a:ext cx="8336259" cy="4841327"/>
          </a:xfrm>
          <a:noFill/>
          <a:ln/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600" b="1" dirty="0"/>
              <a:t>TXNs obtain:</a:t>
            </a:r>
            <a:endParaRPr lang="en-US" sz="3500" b="1" dirty="0">
              <a:latin typeface="+mj-lt"/>
            </a:endParaRPr>
          </a:p>
          <a:p>
            <a:endParaRPr lang="en-US" dirty="0"/>
          </a:p>
          <a:p>
            <a:r>
              <a:rPr lang="en-US" dirty="0"/>
              <a:t>An </a:t>
            </a:r>
            <a:r>
              <a:rPr lang="en-US" b="1" dirty="0"/>
              <a:t>X (</a:t>
            </a:r>
            <a:r>
              <a:rPr lang="en-US" b="1" i="1" dirty="0"/>
              <a:t>exclusive</a:t>
            </a:r>
            <a:r>
              <a:rPr lang="en-US" b="1" dirty="0"/>
              <a:t>) lock </a:t>
            </a:r>
            <a:r>
              <a:rPr lang="en-US" dirty="0"/>
              <a:t>on object before </a:t>
            </a:r>
            <a:r>
              <a:rPr lang="en-US" b="1" dirty="0"/>
              <a:t>writing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If a TXN holds, no other TXN can get a</a:t>
            </a:r>
            <a:r>
              <a:rPr lang="en-US" i="1" dirty="0"/>
              <a:t> </a:t>
            </a:r>
            <a:r>
              <a:rPr lang="en-US" dirty="0"/>
              <a:t>lock (S or X) on that object.</a:t>
            </a:r>
          </a:p>
          <a:p>
            <a:endParaRPr lang="en-US" dirty="0"/>
          </a:p>
          <a:p>
            <a:r>
              <a:rPr lang="en-US" dirty="0"/>
              <a:t>An </a:t>
            </a:r>
            <a:r>
              <a:rPr lang="en-US" b="1" dirty="0"/>
              <a:t>S (</a:t>
            </a:r>
            <a:r>
              <a:rPr lang="en-US" b="1" i="1" dirty="0"/>
              <a:t>shared</a:t>
            </a:r>
            <a:r>
              <a:rPr lang="en-US" b="1" dirty="0"/>
              <a:t>) lock </a:t>
            </a:r>
            <a:r>
              <a:rPr lang="en-US" dirty="0"/>
              <a:t>on object before </a:t>
            </a:r>
            <a:r>
              <a:rPr lang="en-US" b="1" dirty="0"/>
              <a:t>reading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If a TXN holds, no other TXN can get </a:t>
            </a:r>
            <a:r>
              <a:rPr lang="en-US" i="1" u="sng" dirty="0"/>
              <a:t>an X lock</a:t>
            </a:r>
            <a:r>
              <a:rPr lang="en-US" i="1" dirty="0"/>
              <a:t> </a:t>
            </a:r>
            <a:r>
              <a:rPr lang="en-US" dirty="0"/>
              <a:t>on that object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All locks held by a TXN are released (unlocked) when TXN completes. </a:t>
            </a:r>
          </a:p>
          <a:p>
            <a:r>
              <a:rPr lang="en-US" dirty="0"/>
              <a:t>Exclusive lock is not compatible with a shared lock from another transaction.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094065" y="2127975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9200643" y="2969920"/>
            <a:ext cx="2879835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Note: Terminology here- “exclusive”, “shared”- meant to be intuitive- no tricks!</a:t>
            </a:r>
          </a:p>
        </p:txBody>
      </p:sp>
    </p:spTree>
    <p:extLst>
      <p:ext uri="{BB962C8B-B14F-4D97-AF65-F5344CB8AC3E}">
        <p14:creationId xmlns:p14="http://schemas.microsoft.com/office/powerpoint/2010/main" val="941284323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  <p:bldP spid="9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/>
          <p:cNvCxnSpPr/>
          <p:nvPr/>
        </p:nvCxnSpPr>
        <p:spPr>
          <a:xfrm>
            <a:off x="2723109" y="4717576"/>
            <a:ext cx="7092041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Picture of 2-Phase Locking (2PL)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3978401" y="2638872"/>
            <a:ext cx="1926304" cy="207870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3978402" y="5335700"/>
            <a:ext cx="4695085" cy="0"/>
          </a:xfrm>
          <a:prstGeom prst="straightConnector1">
            <a:avLst/>
          </a:prstGeom>
          <a:ln w="889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48920" y="5307161"/>
            <a:ext cx="23832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Time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7003832" y="2638872"/>
            <a:ext cx="0" cy="207870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992058" y="4717576"/>
            <a:ext cx="260697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 flipV="1">
            <a:off x="5928652" y="2638874"/>
            <a:ext cx="2606972" cy="1926303"/>
          </a:xfrm>
          <a:prstGeom prst="line">
            <a:avLst/>
          </a:prstGeom>
          <a:ln w="38100">
            <a:solidFill>
              <a:srgbClr val="0000F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04079" y="6021687"/>
            <a:ext cx="2340407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Strict 2PL</a:t>
            </a:r>
          </a:p>
        </p:txBody>
      </p:sp>
      <p:cxnSp>
        <p:nvCxnSpPr>
          <p:cNvPr id="19" name="Straight Arrow Connector 18"/>
          <p:cNvCxnSpPr>
            <a:stCxn id="17" idx="0"/>
          </p:cNvCxnSpPr>
          <p:nvPr/>
        </p:nvCxnSpPr>
        <p:spPr>
          <a:xfrm flipH="1" flipV="1">
            <a:off x="7232138" y="4717577"/>
            <a:ext cx="442144" cy="1304110"/>
          </a:xfrm>
          <a:prstGeom prst="straightConnector1">
            <a:avLst/>
          </a:prstGeom>
          <a:ln w="10160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265908" y="4051495"/>
            <a:ext cx="154124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dirty="0"/>
              <a:t>0 locks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3992420" y="2284063"/>
            <a:ext cx="0" cy="2444541"/>
          </a:xfrm>
          <a:prstGeom prst="straightConnector1">
            <a:avLst/>
          </a:prstGeom>
          <a:ln w="889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647363" y="1552165"/>
            <a:ext cx="23832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/>
              <a:t># Locks the TXN has</a:t>
            </a:r>
            <a:endParaRPr lang="en-US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3951660" y="1587688"/>
            <a:ext cx="23174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Lock Acquisition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4308" y="1958281"/>
            <a:ext cx="3110598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Lock Release</a:t>
            </a:r>
          </a:p>
          <a:p>
            <a:pPr algn="ctr"/>
            <a:r>
              <a:rPr lang="en-US" sz="3000" dirty="0"/>
              <a:t>On TXN commit!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002D284-DD10-DC70-9087-8E8456B0CF23}"/>
              </a:ext>
            </a:extLst>
          </p:cNvPr>
          <p:cNvCxnSpPr>
            <a:cxnSpLocks/>
          </p:cNvCxnSpPr>
          <p:nvPr/>
        </p:nvCxnSpPr>
        <p:spPr>
          <a:xfrm flipV="1">
            <a:off x="5921656" y="2631890"/>
            <a:ext cx="1070402" cy="698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536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" grpId="0"/>
      <p:bldP spid="16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dirty="0"/>
              <a:t>Strict 2PL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598388"/>
            <a:ext cx="7258878" cy="844935"/>
          </a:xfrm>
          <a:solidFill>
            <a:schemeClr val="accent1">
              <a:lumMod val="20000"/>
              <a:lumOff val="80000"/>
            </a:schemeClr>
          </a:solidFill>
          <a:ln/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vert="horz" lIns="90488" tIns="44450" rIns="90488" bIns="44450" rtlCol="0">
            <a:noAutofit/>
          </a:bodyPr>
          <a:lstStyle/>
          <a:p>
            <a:pPr marL="0" indent="0">
              <a:buNone/>
            </a:pPr>
            <a:r>
              <a:rPr lang="en-US" u="sng" dirty="0">
                <a:latin typeface="+mj-lt"/>
              </a:rPr>
              <a:t>Theorem:</a:t>
            </a:r>
            <a:r>
              <a:rPr lang="en-US" dirty="0">
                <a:latin typeface="+mj-lt"/>
              </a:rPr>
              <a:t> Strict 2PL allows only schedules whose dependency graph is acyclic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072641" y="5000688"/>
                <a:ext cx="8229600" cy="107721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>
                    <a:latin typeface="+mj-lt"/>
                  </a:rPr>
                  <a:t>Therefore, Strict 2PL only allows conflict serializable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charset="0"/>
                        <a:ea typeface="Cambria Math" charset="0"/>
                        <a:cs typeface="Cambria Math" charset="0"/>
                      </a:rPr>
                      <m:t>⇒</m:t>
                    </m:r>
                  </m:oMath>
                </a14:m>
                <a:r>
                  <a:rPr lang="en-US" sz="3200" dirty="0"/>
                  <a:t> </a:t>
                </a:r>
                <a:r>
                  <a:rPr lang="en-US" sz="3200" dirty="0">
                    <a:latin typeface="+mj-lt"/>
                  </a:rPr>
                  <a:t>serializable schedules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641" y="5000688"/>
                <a:ext cx="8229600" cy="107721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838200" y="3121841"/>
            <a:ext cx="9372601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i="1" dirty="0"/>
              <a:t>Proof Intuition: </a:t>
            </a:r>
            <a:r>
              <a:rPr lang="en-US" sz="2400" dirty="0"/>
              <a:t>In strict 2PL, if there is an edge T</a:t>
            </a:r>
            <a:r>
              <a:rPr lang="en-US" sz="2400" baseline="-25000" dirty="0"/>
              <a:t>i</a:t>
            </a:r>
            <a:r>
              <a:rPr lang="en-US" sz="2400" dirty="0"/>
              <a:t> </a:t>
            </a:r>
            <a:r>
              <a:rPr lang="en-US" sz="2400" dirty="0">
                <a:sym typeface="Wingdings"/>
              </a:rPr>
              <a:t></a:t>
            </a:r>
            <a:r>
              <a:rPr lang="en-US" sz="2400" dirty="0"/>
              <a:t> </a:t>
            </a:r>
            <a:r>
              <a:rPr lang="en-US" sz="2400" dirty="0" err="1"/>
              <a:t>T</a:t>
            </a:r>
            <a:r>
              <a:rPr lang="en-US" sz="2400" baseline="-25000" dirty="0" err="1"/>
              <a:t>j</a:t>
            </a:r>
            <a:r>
              <a:rPr lang="en-US" sz="2400" dirty="0"/>
              <a:t> (i.e. </a:t>
            </a:r>
            <a:r>
              <a:rPr lang="en-US" sz="2400" dirty="0" err="1"/>
              <a:t>T</a:t>
            </a:r>
            <a:r>
              <a:rPr lang="en-US" sz="2400" baseline="-25000" dirty="0" err="1"/>
              <a:t>i</a:t>
            </a:r>
            <a:r>
              <a:rPr lang="en-US" sz="2400" baseline="-25000" dirty="0"/>
              <a:t> </a:t>
            </a:r>
            <a:r>
              <a:rPr lang="en-US" sz="2400" dirty="0"/>
              <a:t>and </a:t>
            </a:r>
            <a:r>
              <a:rPr lang="en-US" sz="2400" dirty="0" err="1"/>
              <a:t>T</a:t>
            </a:r>
            <a:r>
              <a:rPr lang="en-US" sz="2400" baseline="-25000" dirty="0" err="1"/>
              <a:t>j</a:t>
            </a:r>
            <a:r>
              <a:rPr lang="en-US" sz="2400" dirty="0"/>
              <a:t> conflict) then </a:t>
            </a:r>
            <a:r>
              <a:rPr lang="en-US" sz="2400" dirty="0" err="1"/>
              <a:t>T</a:t>
            </a:r>
            <a:r>
              <a:rPr lang="en-US" sz="2400" baseline="-25000" dirty="0" err="1"/>
              <a:t>j</a:t>
            </a:r>
            <a:r>
              <a:rPr lang="en-US" sz="2400" dirty="0"/>
              <a:t> needs to wait until T</a:t>
            </a:r>
            <a:r>
              <a:rPr lang="en-US" sz="2400" baseline="-25000" dirty="0"/>
              <a:t>i</a:t>
            </a:r>
            <a:r>
              <a:rPr lang="en-US" sz="2400" dirty="0"/>
              <a:t> is finished – so </a:t>
            </a:r>
            <a:r>
              <a:rPr lang="en-US" sz="2400" i="1" dirty="0"/>
              <a:t>cannot </a:t>
            </a:r>
            <a:r>
              <a:rPr lang="en-US" sz="2400" dirty="0"/>
              <a:t>have an edge </a:t>
            </a:r>
            <a:r>
              <a:rPr lang="en-US" sz="2400" dirty="0" err="1"/>
              <a:t>T</a:t>
            </a:r>
            <a:r>
              <a:rPr lang="en-US" sz="2400" baseline="-25000" dirty="0" err="1"/>
              <a:t>j</a:t>
            </a:r>
            <a:r>
              <a:rPr lang="en-US" sz="2400" dirty="0"/>
              <a:t> </a:t>
            </a:r>
            <a:r>
              <a:rPr lang="en-US" sz="2400" dirty="0">
                <a:sym typeface="Wingdings"/>
              </a:rPr>
              <a:t></a:t>
            </a:r>
            <a:r>
              <a:rPr lang="en-US" sz="2400" dirty="0"/>
              <a:t> </a:t>
            </a:r>
            <a:r>
              <a:rPr lang="en-US" sz="2400" dirty="0" err="1"/>
              <a:t>T</a:t>
            </a:r>
            <a:r>
              <a:rPr lang="en-US" sz="2400" baseline="-25000" dirty="0" err="1"/>
              <a:t>i</a:t>
            </a:r>
            <a:r>
              <a:rPr lang="en-US" sz="2400" dirty="0"/>
              <a:t> 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338333311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nimBg="1"/>
      <p:bldP spid="2" grpId="0" animBg="1"/>
      <p:bldP spid="6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Strict 2PL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schedule follows strict 2PL and locking, it is conflict serializable…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…and thus serializable</a:t>
            </a:r>
          </a:p>
          <a:p>
            <a:pPr lvl="1"/>
            <a:r>
              <a:rPr lang="en-US" dirty="0"/>
              <a:t>…and thus maintains isolation &amp; consistency!</a:t>
            </a:r>
          </a:p>
          <a:p>
            <a:endParaRPr lang="en-US" dirty="0"/>
          </a:p>
          <a:p>
            <a:r>
              <a:rPr lang="en-US" dirty="0"/>
              <a:t>Not all serializable schedules are allowed by strict 2PL. </a:t>
            </a:r>
          </a:p>
          <a:p>
            <a:endParaRPr lang="en-US" dirty="0"/>
          </a:p>
          <a:p>
            <a:r>
              <a:rPr lang="en-US" dirty="0"/>
              <a:t>So let’s use strict 2PL, what could go wrong?</a:t>
            </a:r>
          </a:p>
        </p:txBody>
      </p:sp>
    </p:spTree>
    <p:extLst>
      <p:ext uri="{BB962C8B-B14F-4D97-AF65-F5344CB8AC3E}">
        <p14:creationId xmlns:p14="http://schemas.microsoft.com/office/powerpoint/2010/main" val="824835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68A36-9A0D-540D-3635-0DF1E6A01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9B9D0-8723-451B-46F4-4B9F0C88E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F89B24-C62E-E5DA-9A42-2038E38888B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61582" y="1831074"/>
          <a:ext cx="11675697" cy="115824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1714676">
                  <a:extLst>
                    <a:ext uri="{9D8B030D-6E8A-4147-A177-3AD203B41FA5}">
                      <a16:colId xmlns:a16="http://schemas.microsoft.com/office/drawing/2014/main" val="1417621457"/>
                    </a:ext>
                  </a:extLst>
                </a:gridCol>
                <a:gridCol w="1245063">
                  <a:extLst>
                    <a:ext uri="{9D8B030D-6E8A-4147-A177-3AD203B41FA5}">
                      <a16:colId xmlns:a16="http://schemas.microsoft.com/office/drawing/2014/main" val="1289596821"/>
                    </a:ext>
                  </a:extLst>
                </a:gridCol>
                <a:gridCol w="1245063">
                  <a:extLst>
                    <a:ext uri="{9D8B030D-6E8A-4147-A177-3AD203B41FA5}">
                      <a16:colId xmlns:a16="http://schemas.microsoft.com/office/drawing/2014/main" val="272499407"/>
                    </a:ext>
                  </a:extLst>
                </a:gridCol>
                <a:gridCol w="1245063">
                  <a:extLst>
                    <a:ext uri="{9D8B030D-6E8A-4147-A177-3AD203B41FA5}">
                      <a16:colId xmlns:a16="http://schemas.microsoft.com/office/drawing/2014/main" val="1481252313"/>
                    </a:ext>
                  </a:extLst>
                </a:gridCol>
                <a:gridCol w="1245063">
                  <a:extLst>
                    <a:ext uri="{9D8B030D-6E8A-4147-A177-3AD203B41FA5}">
                      <a16:colId xmlns:a16="http://schemas.microsoft.com/office/drawing/2014/main" val="2961177504"/>
                    </a:ext>
                  </a:extLst>
                </a:gridCol>
                <a:gridCol w="1245063">
                  <a:extLst>
                    <a:ext uri="{9D8B030D-6E8A-4147-A177-3AD203B41FA5}">
                      <a16:colId xmlns:a16="http://schemas.microsoft.com/office/drawing/2014/main" val="3247906279"/>
                    </a:ext>
                  </a:extLst>
                </a:gridCol>
                <a:gridCol w="1245063">
                  <a:extLst>
                    <a:ext uri="{9D8B030D-6E8A-4147-A177-3AD203B41FA5}">
                      <a16:colId xmlns:a16="http://schemas.microsoft.com/office/drawing/2014/main" val="57827049"/>
                    </a:ext>
                  </a:extLst>
                </a:gridCol>
                <a:gridCol w="1245063">
                  <a:extLst>
                    <a:ext uri="{9D8B030D-6E8A-4147-A177-3AD203B41FA5}">
                      <a16:colId xmlns:a16="http://schemas.microsoft.com/office/drawing/2014/main" val="3103051168"/>
                    </a:ext>
                  </a:extLst>
                </a:gridCol>
                <a:gridCol w="1245580">
                  <a:extLst>
                    <a:ext uri="{9D8B030D-6E8A-4147-A177-3AD203B41FA5}">
                      <a16:colId xmlns:a16="http://schemas.microsoft.com/office/drawing/2014/main" val="1248358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T0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r0(A)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w0(A)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err="1">
                          <a:effectLst/>
                        </a:rPr>
                        <a:t>ro</a:t>
                      </a:r>
                      <a:r>
                        <a:rPr lang="en-US" sz="3200" dirty="0">
                          <a:effectLst/>
                        </a:rPr>
                        <a:t>(B)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w0(B)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c0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1595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r1(A)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r1(B)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2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830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868476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dirty="0"/>
              <a:t>Deadlock Detection: Example</a:t>
            </a:r>
          </a:p>
        </p:txBody>
      </p:sp>
      <p:sp>
        <p:nvSpPr>
          <p:cNvPr id="26639" name="Oval 15"/>
          <p:cNvSpPr>
            <a:spLocks noChangeArrowheads="1"/>
          </p:cNvSpPr>
          <p:nvPr/>
        </p:nvSpPr>
        <p:spPr bwMode="auto">
          <a:xfrm>
            <a:off x="8996571" y="2471325"/>
            <a:ext cx="673100" cy="6731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640" name="Oval 16"/>
          <p:cNvSpPr>
            <a:spLocks noChangeArrowheads="1"/>
          </p:cNvSpPr>
          <p:nvPr/>
        </p:nvSpPr>
        <p:spPr bwMode="auto">
          <a:xfrm>
            <a:off x="11130171" y="2471325"/>
            <a:ext cx="673100" cy="6731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483696" y="5085423"/>
            <a:ext cx="4691523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First, T</a:t>
            </a:r>
            <a:r>
              <a:rPr lang="en-US" sz="2800" baseline="-25000" dirty="0">
                <a:latin typeface="+mj-lt"/>
              </a:rPr>
              <a:t>1</a:t>
            </a:r>
            <a:r>
              <a:rPr lang="en-US" sz="2800" dirty="0">
                <a:latin typeface="+mj-lt"/>
              </a:rPr>
              <a:t> requests a shared lock on A to read from it</a:t>
            </a:r>
            <a:endParaRPr lang="en-US" sz="2800" b="1" dirty="0">
              <a:latin typeface="+mj-lt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081864" y="3865517"/>
            <a:ext cx="7935790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2246" y="2543071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C00000"/>
                </a:solidFill>
                <a:latin typeface="+mj-lt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2246" y="3143081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0070C0"/>
                </a:solidFill>
                <a:latin typeface="+mj-lt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21678" y="2611535"/>
            <a:ext cx="679994" cy="461665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i="1" dirty="0">
                <a:latin typeface="+mj-lt"/>
              </a:rPr>
              <a:t>S(A)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20381" y="2611535"/>
            <a:ext cx="704039" cy="461665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R(A)</a:t>
            </a:r>
          </a:p>
        </p:txBody>
      </p:sp>
      <p:sp>
        <p:nvSpPr>
          <p:cNvPr id="49" name="Rectangle 3"/>
          <p:cNvSpPr txBox="1">
            <a:spLocks noChangeArrowheads="1"/>
          </p:cNvSpPr>
          <p:nvPr/>
        </p:nvSpPr>
        <p:spPr>
          <a:xfrm>
            <a:off x="8982269" y="1776194"/>
            <a:ext cx="2371531" cy="431847"/>
          </a:xfrm>
          <a:prstGeom prst="rect">
            <a:avLst/>
          </a:prstGeom>
          <a:noFill/>
          <a:ln/>
        </p:spPr>
        <p:txBody>
          <a:bodyPr vert="horz" lIns="90488" tIns="44450" rIns="90488" bIns="4445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>
                <a:latin typeface="+mj-lt"/>
              </a:rPr>
              <a:t>Waits-for graph:</a:t>
            </a:r>
            <a:endParaRPr lang="en-US" dirty="0">
              <a:latin typeface="+mj-lt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129645" y="2537460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C00000"/>
                </a:solidFill>
                <a:latin typeface="+mj-lt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55949" y="2524696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0070C0"/>
                </a:solidFill>
                <a:latin typeface="+mj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03878553"/>
      </p:ext>
    </p:extLst>
  </p:cSld>
  <p:clrMapOvr>
    <a:masterClrMapping/>
  </p:clrMapOvr>
  <p:transition spd="slow">
    <p:cut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dirty="0"/>
              <a:t>Deadlock Detection: Example</a:t>
            </a:r>
          </a:p>
        </p:txBody>
      </p:sp>
      <p:sp>
        <p:nvSpPr>
          <p:cNvPr id="26639" name="Oval 15"/>
          <p:cNvSpPr>
            <a:spLocks noChangeArrowheads="1"/>
          </p:cNvSpPr>
          <p:nvPr/>
        </p:nvSpPr>
        <p:spPr bwMode="auto">
          <a:xfrm>
            <a:off x="8996571" y="2471325"/>
            <a:ext cx="673100" cy="6731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640" name="Oval 16"/>
          <p:cNvSpPr>
            <a:spLocks noChangeArrowheads="1"/>
          </p:cNvSpPr>
          <p:nvPr/>
        </p:nvSpPr>
        <p:spPr bwMode="auto">
          <a:xfrm>
            <a:off x="11130171" y="2471325"/>
            <a:ext cx="673100" cy="6731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483696" y="5085423"/>
            <a:ext cx="4691523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Next, T</a:t>
            </a:r>
            <a:r>
              <a:rPr lang="en-US" sz="2800" baseline="-25000" dirty="0">
                <a:latin typeface="+mj-lt"/>
              </a:rPr>
              <a:t>2</a:t>
            </a:r>
            <a:r>
              <a:rPr lang="en-US" sz="2800" dirty="0">
                <a:latin typeface="+mj-lt"/>
              </a:rPr>
              <a:t> requests a shared lock on B to read from it</a:t>
            </a:r>
            <a:endParaRPr lang="en-US" sz="2800" b="1" dirty="0">
              <a:latin typeface="+mj-lt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081864" y="3865517"/>
            <a:ext cx="7935790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2246" y="2543071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C00000"/>
                </a:solidFill>
                <a:latin typeface="+mj-lt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2246" y="3143081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0070C0"/>
                </a:solidFill>
                <a:latin typeface="+mj-lt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68056" y="3203169"/>
            <a:ext cx="670376" cy="461665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i="1" dirty="0">
                <a:latin typeface="+mj-lt"/>
              </a:rPr>
              <a:t>S(B)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74965" y="3203169"/>
            <a:ext cx="696024" cy="461665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R(B)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21678" y="2611535"/>
            <a:ext cx="679994" cy="461665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i="1" dirty="0">
                <a:latin typeface="+mj-lt"/>
              </a:rPr>
              <a:t>S(A)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20381" y="2611535"/>
            <a:ext cx="704039" cy="461665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R(A)</a:t>
            </a:r>
          </a:p>
        </p:txBody>
      </p:sp>
      <p:sp>
        <p:nvSpPr>
          <p:cNvPr id="49" name="Rectangle 3"/>
          <p:cNvSpPr txBox="1">
            <a:spLocks noChangeArrowheads="1"/>
          </p:cNvSpPr>
          <p:nvPr/>
        </p:nvSpPr>
        <p:spPr>
          <a:xfrm>
            <a:off x="8982269" y="1776194"/>
            <a:ext cx="2371531" cy="431847"/>
          </a:xfrm>
          <a:prstGeom prst="rect">
            <a:avLst/>
          </a:prstGeom>
          <a:noFill/>
          <a:ln/>
        </p:spPr>
        <p:txBody>
          <a:bodyPr vert="horz" lIns="90488" tIns="44450" rIns="90488" bIns="4445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>
                <a:latin typeface="+mj-lt"/>
              </a:rPr>
              <a:t>Waits-for graph:</a:t>
            </a:r>
            <a:endParaRPr lang="en-US" dirty="0">
              <a:latin typeface="+mj-lt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129645" y="2537460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C00000"/>
                </a:solidFill>
                <a:latin typeface="+mj-lt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55949" y="2524696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0070C0"/>
                </a:solidFill>
                <a:latin typeface="+mj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14789989"/>
      </p:ext>
    </p:extLst>
  </p:cSld>
  <p:clrMapOvr>
    <a:masterClrMapping/>
  </p:clrMapOvr>
  <p:transition spd="slow">
    <p:cut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dirty="0"/>
              <a:t>Deadlock Detection: Example</a:t>
            </a:r>
          </a:p>
        </p:txBody>
      </p:sp>
      <p:sp>
        <p:nvSpPr>
          <p:cNvPr id="26639" name="Oval 15"/>
          <p:cNvSpPr>
            <a:spLocks noChangeArrowheads="1"/>
          </p:cNvSpPr>
          <p:nvPr/>
        </p:nvSpPr>
        <p:spPr bwMode="auto">
          <a:xfrm>
            <a:off x="8996571" y="2471325"/>
            <a:ext cx="673100" cy="6731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640" name="Oval 16"/>
          <p:cNvSpPr>
            <a:spLocks noChangeArrowheads="1"/>
          </p:cNvSpPr>
          <p:nvPr/>
        </p:nvSpPr>
        <p:spPr bwMode="auto">
          <a:xfrm>
            <a:off x="11130171" y="2471325"/>
            <a:ext cx="673100" cy="6731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483696" y="5085423"/>
            <a:ext cx="4691523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T</a:t>
            </a:r>
            <a:r>
              <a:rPr lang="en-US" sz="2800" baseline="-25000" dirty="0">
                <a:latin typeface="+mj-lt"/>
              </a:rPr>
              <a:t>2</a:t>
            </a:r>
            <a:r>
              <a:rPr lang="en-US" sz="2800" dirty="0">
                <a:latin typeface="+mj-lt"/>
              </a:rPr>
              <a:t> then requests an exclusive lock on A to write to it- </a:t>
            </a:r>
            <a:r>
              <a:rPr lang="en-US" sz="2800" b="1" dirty="0">
                <a:latin typeface="+mj-lt"/>
              </a:rPr>
              <a:t>now T</a:t>
            </a:r>
            <a:r>
              <a:rPr lang="en-US" sz="2800" b="1" baseline="-25000" dirty="0">
                <a:latin typeface="+mj-lt"/>
              </a:rPr>
              <a:t>2</a:t>
            </a:r>
            <a:r>
              <a:rPr lang="en-US" sz="2800" b="1" dirty="0">
                <a:latin typeface="+mj-lt"/>
              </a:rPr>
              <a:t> is waiting on T</a:t>
            </a:r>
            <a:r>
              <a:rPr lang="en-US" sz="2800" b="1" baseline="-25000" dirty="0">
                <a:latin typeface="+mj-lt"/>
              </a:rPr>
              <a:t>1</a:t>
            </a:r>
            <a:r>
              <a:rPr lang="en-US" sz="2800" b="1" dirty="0">
                <a:latin typeface="+mj-lt"/>
              </a:rPr>
              <a:t>…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081864" y="3865517"/>
            <a:ext cx="7935790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2246" y="2543071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C00000"/>
                </a:solidFill>
                <a:latin typeface="+mj-lt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2246" y="3143081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0070C0"/>
                </a:solidFill>
                <a:latin typeface="+mj-lt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522" y="3203169"/>
            <a:ext cx="694421" cy="461665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i="1" dirty="0">
                <a:latin typeface="+mj-lt"/>
              </a:rPr>
              <a:t>X(A)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68056" y="3203169"/>
            <a:ext cx="670376" cy="461665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i="1" dirty="0">
                <a:latin typeface="+mj-lt"/>
              </a:rPr>
              <a:t>S(B)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74965" y="3203169"/>
            <a:ext cx="696024" cy="461665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R(B)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21678" y="2611535"/>
            <a:ext cx="679994" cy="461665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i="1" dirty="0">
                <a:latin typeface="+mj-lt"/>
              </a:rPr>
              <a:t>S(A)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20381" y="2611535"/>
            <a:ext cx="704039" cy="461665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R(A)</a:t>
            </a:r>
          </a:p>
        </p:txBody>
      </p:sp>
      <p:sp>
        <p:nvSpPr>
          <p:cNvPr id="49" name="Rectangle 3"/>
          <p:cNvSpPr txBox="1">
            <a:spLocks noChangeArrowheads="1"/>
          </p:cNvSpPr>
          <p:nvPr/>
        </p:nvSpPr>
        <p:spPr>
          <a:xfrm>
            <a:off x="8982269" y="1776194"/>
            <a:ext cx="2371531" cy="431847"/>
          </a:xfrm>
          <a:prstGeom prst="rect">
            <a:avLst/>
          </a:prstGeom>
          <a:noFill/>
          <a:ln/>
        </p:spPr>
        <p:txBody>
          <a:bodyPr vert="horz" lIns="90488" tIns="44450" rIns="90488" bIns="4445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>
                <a:latin typeface="+mj-lt"/>
              </a:rPr>
              <a:t>Waits-for graph:</a:t>
            </a:r>
            <a:endParaRPr lang="en-US" dirty="0">
              <a:latin typeface="+mj-lt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129645" y="2537460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C00000"/>
                </a:solidFill>
                <a:latin typeface="+mj-lt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55949" y="2524696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0070C0"/>
                </a:solidFill>
                <a:latin typeface="+mj-lt"/>
              </a:rPr>
              <a:t>2</a:t>
            </a:r>
          </a:p>
        </p:txBody>
      </p:sp>
      <p:sp>
        <p:nvSpPr>
          <p:cNvPr id="53" name="Line 23"/>
          <p:cNvSpPr>
            <a:spLocks noChangeShapeType="1"/>
          </p:cNvSpPr>
          <p:nvPr/>
        </p:nvSpPr>
        <p:spPr bwMode="auto">
          <a:xfrm flipH="1" flipV="1">
            <a:off x="9563189" y="3080699"/>
            <a:ext cx="169276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5238476" y="3203168"/>
            <a:ext cx="811441" cy="461665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W(A)</a:t>
            </a:r>
          </a:p>
        </p:txBody>
      </p:sp>
      <p:sp>
        <p:nvSpPr>
          <p:cNvPr id="2" name="Rectangle 1"/>
          <p:cNvSpPr/>
          <p:nvPr/>
        </p:nvSpPr>
        <p:spPr>
          <a:xfrm>
            <a:off x="5153809" y="3073200"/>
            <a:ext cx="1086124" cy="694467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tx1"/>
                </a:solidFill>
                <a:latin typeface="+mj-lt"/>
              </a:rPr>
              <a:t>Waiting…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5179209" y="3080699"/>
            <a:ext cx="0" cy="686968"/>
          </a:xfrm>
          <a:prstGeom prst="line">
            <a:avLst/>
          </a:prstGeom>
          <a:ln w="317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0494464"/>
      </p:ext>
    </p:extLst>
  </p:cSld>
  <p:clrMapOvr>
    <a:masterClrMapping/>
  </p:clrMapOvr>
  <p:transition spd="slow">
    <p:cut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dirty="0"/>
              <a:t>Deadlock Detection: Example</a:t>
            </a:r>
          </a:p>
        </p:txBody>
      </p:sp>
      <p:sp>
        <p:nvSpPr>
          <p:cNvPr id="26639" name="Oval 15"/>
          <p:cNvSpPr>
            <a:spLocks noChangeArrowheads="1"/>
          </p:cNvSpPr>
          <p:nvPr/>
        </p:nvSpPr>
        <p:spPr bwMode="auto">
          <a:xfrm>
            <a:off x="8996571" y="2471325"/>
            <a:ext cx="673100" cy="6731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640" name="Oval 16"/>
          <p:cNvSpPr>
            <a:spLocks noChangeArrowheads="1"/>
          </p:cNvSpPr>
          <p:nvPr/>
        </p:nvSpPr>
        <p:spPr bwMode="auto">
          <a:xfrm>
            <a:off x="11130171" y="2471325"/>
            <a:ext cx="673100" cy="6731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647" name="Line 23"/>
          <p:cNvSpPr>
            <a:spLocks noChangeShapeType="1"/>
          </p:cNvSpPr>
          <p:nvPr/>
        </p:nvSpPr>
        <p:spPr bwMode="auto">
          <a:xfrm>
            <a:off x="9682371" y="2776125"/>
            <a:ext cx="1447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483696" y="5085423"/>
            <a:ext cx="4691523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Finally, T</a:t>
            </a:r>
            <a:r>
              <a:rPr lang="en-US" sz="2800" baseline="-25000" dirty="0">
                <a:latin typeface="+mj-lt"/>
              </a:rPr>
              <a:t>1</a:t>
            </a:r>
            <a:r>
              <a:rPr lang="en-US" sz="2800" dirty="0">
                <a:latin typeface="+mj-lt"/>
              </a:rPr>
              <a:t> requests an exclusive lock on B to write to it- </a:t>
            </a:r>
            <a:r>
              <a:rPr lang="en-US" sz="2800" b="1" dirty="0">
                <a:latin typeface="+mj-lt"/>
              </a:rPr>
              <a:t>now T</a:t>
            </a:r>
            <a:r>
              <a:rPr lang="en-US" sz="2800" b="1" baseline="-25000" dirty="0">
                <a:latin typeface="+mj-lt"/>
              </a:rPr>
              <a:t>1</a:t>
            </a:r>
            <a:r>
              <a:rPr lang="en-US" sz="2800" b="1" dirty="0">
                <a:latin typeface="+mj-lt"/>
              </a:rPr>
              <a:t> is waiting on T</a:t>
            </a:r>
            <a:r>
              <a:rPr lang="en-US" sz="2800" b="1" baseline="-25000" dirty="0">
                <a:latin typeface="+mj-lt"/>
              </a:rPr>
              <a:t>2</a:t>
            </a:r>
            <a:r>
              <a:rPr lang="en-US" sz="2800" b="1" dirty="0">
                <a:latin typeface="+mj-lt"/>
              </a:rPr>
              <a:t>… DEADLOCK!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081864" y="3865517"/>
            <a:ext cx="6937671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2246" y="2543071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C00000"/>
                </a:solidFill>
                <a:latin typeface="+mj-lt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2246" y="3143081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0070C0"/>
                </a:solidFill>
                <a:latin typeface="+mj-lt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4128" y="2610544"/>
            <a:ext cx="686406" cy="461665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i="1" dirty="0">
                <a:latin typeface="+mj-lt"/>
              </a:rPr>
              <a:t>X(B)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522" y="3203169"/>
            <a:ext cx="694421" cy="461665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i="1" dirty="0">
                <a:latin typeface="+mj-lt"/>
              </a:rPr>
              <a:t>X(A)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68056" y="3203169"/>
            <a:ext cx="670376" cy="461665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i="1" dirty="0">
                <a:latin typeface="+mj-lt"/>
              </a:rPr>
              <a:t>S(B)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74965" y="3203169"/>
            <a:ext cx="696024" cy="461665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R(B)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21678" y="2611535"/>
            <a:ext cx="679994" cy="461665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i="1" dirty="0">
                <a:latin typeface="+mj-lt"/>
              </a:rPr>
              <a:t>S(A)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20381" y="2611535"/>
            <a:ext cx="704039" cy="461665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R(A)</a:t>
            </a:r>
          </a:p>
        </p:txBody>
      </p:sp>
      <p:sp>
        <p:nvSpPr>
          <p:cNvPr id="49" name="Rectangle 3"/>
          <p:cNvSpPr txBox="1">
            <a:spLocks noChangeArrowheads="1"/>
          </p:cNvSpPr>
          <p:nvPr/>
        </p:nvSpPr>
        <p:spPr>
          <a:xfrm>
            <a:off x="8982269" y="1776194"/>
            <a:ext cx="2371531" cy="431847"/>
          </a:xfrm>
          <a:prstGeom prst="rect">
            <a:avLst/>
          </a:prstGeom>
          <a:noFill/>
          <a:ln/>
        </p:spPr>
        <p:txBody>
          <a:bodyPr vert="horz" lIns="90488" tIns="44450" rIns="90488" bIns="4445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>
                <a:latin typeface="+mj-lt"/>
              </a:rPr>
              <a:t>Waits-for graph:</a:t>
            </a:r>
            <a:endParaRPr lang="en-US" dirty="0">
              <a:latin typeface="+mj-lt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129645" y="2537460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C00000"/>
                </a:solidFill>
                <a:latin typeface="+mj-lt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55949" y="2524696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+mj-lt"/>
              </a:rPr>
              <a:t>T</a:t>
            </a:r>
            <a:r>
              <a:rPr lang="en-US" sz="2800" b="1" baseline="-25000" dirty="0">
                <a:solidFill>
                  <a:srgbClr val="0070C0"/>
                </a:solidFill>
                <a:latin typeface="+mj-lt"/>
              </a:rPr>
              <a:t>2</a:t>
            </a:r>
          </a:p>
        </p:txBody>
      </p:sp>
      <p:sp>
        <p:nvSpPr>
          <p:cNvPr id="53" name="Line 23"/>
          <p:cNvSpPr>
            <a:spLocks noChangeShapeType="1"/>
          </p:cNvSpPr>
          <p:nvPr/>
        </p:nvSpPr>
        <p:spPr bwMode="auto">
          <a:xfrm flipH="1" flipV="1">
            <a:off x="9563189" y="3080699"/>
            <a:ext cx="169276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5238476" y="3203168"/>
            <a:ext cx="811441" cy="461665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W(A)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30187" y="2619034"/>
            <a:ext cx="803425" cy="461665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W(B)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2773" y="3709701"/>
            <a:ext cx="1966996" cy="99074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Cycle = DEADLOCK</a:t>
            </a:r>
            <a:endParaRPr lang="en-US" sz="2800" b="1" dirty="0">
              <a:latin typeface="+mj-lt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153809" y="3073200"/>
            <a:ext cx="1086124" cy="694467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tx1"/>
                </a:solidFill>
                <a:latin typeface="+mj-lt"/>
              </a:rPr>
              <a:t>Waiting…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33411" y="2494142"/>
            <a:ext cx="1086124" cy="694467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tx1"/>
                </a:solidFill>
                <a:latin typeface="+mj-lt"/>
              </a:rPr>
              <a:t>Waiting…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5179209" y="3080699"/>
            <a:ext cx="0" cy="686968"/>
          </a:xfrm>
          <a:prstGeom prst="line">
            <a:avLst/>
          </a:prstGeom>
          <a:ln w="317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6968530" y="2502609"/>
            <a:ext cx="0" cy="686968"/>
          </a:xfrm>
          <a:prstGeom prst="line">
            <a:avLst/>
          </a:prstGeom>
          <a:ln w="317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21559"/>
      </p:ext>
    </p:extLst>
  </p:cSld>
  <p:clrMapOvr>
    <a:masterClrMapping/>
  </p:clrMapOvr>
  <p:transition spd="slow">
    <p:cut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65111" y="1255332"/>
            <a:ext cx="8360293" cy="175432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Courier"/>
              </a:rPr>
              <a:t>ERROR:  deadlock detected</a:t>
            </a:r>
          </a:p>
          <a:p>
            <a:r>
              <a:rPr lang="en-US" dirty="0">
                <a:solidFill>
                  <a:srgbClr val="008000"/>
                </a:solidFill>
                <a:latin typeface="Courier"/>
              </a:rPr>
              <a:t>DETAIL:  Process 321 waits for </a:t>
            </a:r>
            <a:r>
              <a:rPr lang="en-US" dirty="0" err="1">
                <a:solidFill>
                  <a:srgbClr val="008000"/>
                </a:solidFill>
                <a:latin typeface="Courier"/>
              </a:rPr>
              <a:t>ExclusiveLock</a:t>
            </a:r>
            <a:r>
              <a:rPr lang="en-US" dirty="0">
                <a:solidFill>
                  <a:srgbClr val="008000"/>
                </a:solidFill>
                <a:latin typeface="Courier"/>
              </a:rPr>
              <a:t> on tuple of relation 20 of database 12002; blocked by process 4924.</a:t>
            </a:r>
          </a:p>
          <a:p>
            <a:r>
              <a:rPr lang="en-US" dirty="0">
                <a:solidFill>
                  <a:srgbClr val="008000"/>
                </a:solidFill>
                <a:latin typeface="Courier"/>
              </a:rPr>
              <a:t>Process 404 waits for </a:t>
            </a:r>
            <a:r>
              <a:rPr lang="en-US" dirty="0" err="1">
                <a:solidFill>
                  <a:srgbClr val="008000"/>
                </a:solidFill>
                <a:latin typeface="Courier"/>
              </a:rPr>
              <a:t>ShareLock</a:t>
            </a:r>
            <a:r>
              <a:rPr lang="en-US" dirty="0">
                <a:solidFill>
                  <a:srgbClr val="008000"/>
                </a:solidFill>
                <a:latin typeface="Courier"/>
              </a:rPr>
              <a:t> on transaction 689; blocked by process 552.</a:t>
            </a:r>
          </a:p>
          <a:p>
            <a:r>
              <a:rPr lang="en-US" dirty="0">
                <a:solidFill>
                  <a:srgbClr val="008000"/>
                </a:solidFill>
                <a:latin typeface="Courier"/>
              </a:rPr>
              <a:t>HINT:  See server log for query details.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0641" y="3315623"/>
            <a:ext cx="5614099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problem?</a:t>
            </a:r>
            <a:br>
              <a:rPr lang="en-US" dirty="0"/>
            </a:br>
            <a:r>
              <a:rPr lang="en-US" dirty="0"/>
              <a:t>Deadlock!??!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5373" t="24518" r="41488" b="41564"/>
          <a:stretch/>
        </p:blipFill>
        <p:spPr>
          <a:xfrm>
            <a:off x="665111" y="415743"/>
            <a:ext cx="8360293" cy="5336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6745441" y="3474976"/>
            <a:ext cx="4897193" cy="1174440"/>
            <a:chOff x="8218096" y="3755906"/>
            <a:chExt cx="2806700" cy="673100"/>
          </a:xfrm>
        </p:grpSpPr>
        <p:sp>
          <p:nvSpPr>
            <p:cNvPr id="24" name="Oval 15"/>
            <p:cNvSpPr>
              <a:spLocks noChangeArrowheads="1"/>
            </p:cNvSpPr>
            <p:nvPr/>
          </p:nvSpPr>
          <p:spPr bwMode="auto">
            <a:xfrm>
              <a:off x="8218096" y="3755906"/>
              <a:ext cx="673100" cy="6731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4800"/>
            </a:p>
          </p:txBody>
        </p:sp>
        <p:sp>
          <p:nvSpPr>
            <p:cNvPr id="25" name="Oval 16"/>
            <p:cNvSpPr>
              <a:spLocks noChangeArrowheads="1"/>
            </p:cNvSpPr>
            <p:nvPr/>
          </p:nvSpPr>
          <p:spPr bwMode="auto">
            <a:xfrm>
              <a:off x="10351696" y="3755906"/>
              <a:ext cx="673100" cy="6731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4800"/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>
              <a:off x="8903896" y="4060706"/>
              <a:ext cx="1447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sz="48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351170" y="3822041"/>
              <a:ext cx="396152" cy="4762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 dirty="0">
                  <a:solidFill>
                    <a:srgbClr val="C00000"/>
                  </a:solidFill>
                  <a:latin typeface="+mj-lt"/>
                </a:rPr>
                <a:t>T</a:t>
              </a:r>
              <a:r>
                <a:rPr lang="en-US" sz="4800" b="1" baseline="-25000" dirty="0">
                  <a:solidFill>
                    <a:srgbClr val="C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0477474" y="3809277"/>
              <a:ext cx="396152" cy="4762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 dirty="0">
                  <a:solidFill>
                    <a:srgbClr val="0070C0"/>
                  </a:solidFill>
                  <a:latin typeface="+mj-lt"/>
                </a:rPr>
                <a:t>T</a:t>
              </a:r>
              <a:r>
                <a:rPr lang="en-US" sz="4800" b="1" baseline="-25000" dirty="0">
                  <a:solidFill>
                    <a:srgbClr val="0070C0"/>
                  </a:solidFill>
                  <a:latin typeface="+mj-lt"/>
                </a:rPr>
                <a:t>2</a:t>
              </a:r>
            </a:p>
          </p:txBody>
        </p:sp>
        <p:sp>
          <p:nvSpPr>
            <p:cNvPr id="29" name="Line 23"/>
            <p:cNvSpPr>
              <a:spLocks noChangeShapeType="1"/>
            </p:cNvSpPr>
            <p:nvPr/>
          </p:nvSpPr>
          <p:spPr bwMode="auto">
            <a:xfrm flipH="1" flipV="1">
              <a:off x="8784714" y="4365280"/>
              <a:ext cx="16927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sz="4800"/>
            </a:p>
          </p:txBody>
        </p:sp>
      </p:grpSp>
      <p:sp>
        <p:nvSpPr>
          <p:cNvPr id="18" name="Rectangle 17"/>
          <p:cNvSpPr/>
          <p:nvPr/>
        </p:nvSpPr>
        <p:spPr>
          <a:xfrm>
            <a:off x="0" y="0"/>
            <a:ext cx="12192000" cy="2627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400" b="1" i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0128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dirty="0"/>
              <a:t>Deadlocks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vert="horz" lIns="90488" tIns="44450" rIns="90488" bIns="44450" rtlCol="0">
            <a:normAutofit/>
          </a:bodyPr>
          <a:lstStyle/>
          <a:p>
            <a:endParaRPr lang="en-US" b="1" dirty="0"/>
          </a:p>
          <a:p>
            <a:r>
              <a:rPr lang="en-US" b="1" dirty="0"/>
              <a:t>Deadlock</a:t>
            </a:r>
            <a:r>
              <a:rPr lang="en-US" dirty="0"/>
              <a:t>: Cycle of transactions waiting for locks to be released by each other.</a:t>
            </a:r>
          </a:p>
          <a:p>
            <a:endParaRPr lang="en-US" dirty="0"/>
          </a:p>
          <a:p>
            <a:r>
              <a:rPr lang="en-US" dirty="0"/>
              <a:t>Two ways of dealing with deadlocks:</a:t>
            </a:r>
          </a:p>
          <a:p>
            <a:pPr lvl="1">
              <a:buSzPct val="75000"/>
            </a:pPr>
            <a:endParaRPr lang="en-US" sz="2800" dirty="0"/>
          </a:p>
          <a:p>
            <a:pPr marL="971550" lvl="1" indent="-514350">
              <a:buSzPct val="75000"/>
              <a:buFont typeface="+mj-lt"/>
              <a:buAutoNum type="arabicPeriod"/>
            </a:pPr>
            <a:r>
              <a:rPr lang="en-US" sz="2800" dirty="0"/>
              <a:t>Deadlock prevention</a:t>
            </a:r>
          </a:p>
          <a:p>
            <a:pPr marL="971550" lvl="1" indent="-514350">
              <a:buSzPct val="75000"/>
              <a:buFont typeface="+mj-lt"/>
              <a:buAutoNum type="arabicPeriod"/>
            </a:pPr>
            <a:endParaRPr lang="en-US" sz="2800" dirty="0"/>
          </a:p>
          <a:p>
            <a:pPr marL="971550" lvl="1" indent="-514350">
              <a:buSzPct val="75000"/>
              <a:buFont typeface="+mj-lt"/>
              <a:buAutoNum type="arabicPeriod"/>
            </a:pPr>
            <a:r>
              <a:rPr lang="en-US" sz="2800" dirty="0"/>
              <a:t>Deadlock detection</a:t>
            </a:r>
          </a:p>
          <a:p>
            <a:pPr>
              <a:buFont typeface="Wingdings" charset="2"/>
              <a:buChar char="§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82178380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/>
              <a:t>Deadlock Detection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vert="horz" lIns="90488" tIns="44450" rIns="90488" bIns="44450" rtlCol="0">
            <a:normAutofit/>
          </a:bodyPr>
          <a:lstStyle/>
          <a:p>
            <a:r>
              <a:rPr lang="en-US" dirty="0"/>
              <a:t>Create the </a:t>
            </a:r>
            <a:r>
              <a:rPr lang="en-US" b="1" dirty="0"/>
              <a:t>waits-for graph</a:t>
            </a:r>
            <a:r>
              <a:rPr lang="en-US" dirty="0"/>
              <a:t>:</a:t>
            </a:r>
          </a:p>
          <a:p>
            <a:pPr lvl="1">
              <a:buSzPct val="75000"/>
            </a:pPr>
            <a:endParaRPr lang="en-US" dirty="0"/>
          </a:p>
          <a:p>
            <a:pPr lvl="1">
              <a:buSzPct val="75000"/>
            </a:pPr>
            <a:r>
              <a:rPr lang="en-US" dirty="0"/>
              <a:t>Nodes are transactions</a:t>
            </a:r>
          </a:p>
          <a:p>
            <a:pPr lvl="1">
              <a:buSzPct val="75000"/>
            </a:pPr>
            <a:endParaRPr lang="en-US" dirty="0"/>
          </a:p>
          <a:p>
            <a:pPr lvl="1">
              <a:buSzPct val="75000"/>
            </a:pPr>
            <a:r>
              <a:rPr lang="en-US" dirty="0"/>
              <a:t>There is an edge from </a:t>
            </a:r>
            <a:r>
              <a:rPr lang="en-US" dirty="0" err="1"/>
              <a:t>T</a:t>
            </a:r>
            <a:r>
              <a:rPr lang="en-US" baseline="-25000" dirty="0" err="1"/>
              <a:t>i</a:t>
            </a:r>
            <a:r>
              <a:rPr lang="en-US" dirty="0"/>
              <a:t>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</a:t>
            </a:r>
            <a:r>
              <a:rPr lang="en-US" dirty="0" err="1"/>
              <a:t>T</a:t>
            </a:r>
            <a:r>
              <a:rPr lang="en-US" baseline="-25000" dirty="0" err="1"/>
              <a:t>j</a:t>
            </a:r>
            <a:r>
              <a:rPr lang="en-US" dirty="0"/>
              <a:t> if T</a:t>
            </a:r>
            <a:r>
              <a:rPr lang="en-US" baseline="-25000" dirty="0"/>
              <a:t>i</a:t>
            </a:r>
            <a:r>
              <a:rPr lang="en-US" dirty="0"/>
              <a:t> is </a:t>
            </a:r>
            <a:r>
              <a:rPr lang="en-US" i="1" dirty="0"/>
              <a:t>waiting for </a:t>
            </a:r>
            <a:r>
              <a:rPr lang="en-US" i="1" dirty="0" err="1"/>
              <a:t>T</a:t>
            </a:r>
            <a:r>
              <a:rPr lang="en-US" i="1" baseline="-25000" dirty="0" err="1"/>
              <a:t>j</a:t>
            </a:r>
            <a:r>
              <a:rPr lang="en-US" i="1" dirty="0"/>
              <a:t> to release a lock</a:t>
            </a:r>
          </a:p>
          <a:p>
            <a:endParaRPr lang="en-US" dirty="0"/>
          </a:p>
          <a:p>
            <a:r>
              <a:rPr lang="en-US" dirty="0"/>
              <a:t>Periodically check for (</a:t>
            </a:r>
            <a:r>
              <a:rPr lang="en-US" b="1" i="1" dirty="0"/>
              <a:t>and break</a:t>
            </a:r>
            <a:r>
              <a:rPr lang="en-US" dirty="0"/>
              <a:t>) cycles in the waits-for graph</a:t>
            </a:r>
          </a:p>
        </p:txBody>
      </p:sp>
    </p:spTree>
    <p:extLst>
      <p:ext uri="{BB962C8B-B14F-4D97-AF65-F5344CB8AC3E}">
        <p14:creationId xmlns:p14="http://schemas.microsoft.com/office/powerpoint/2010/main" val="2139082360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Concurrency achieved by </a:t>
            </a:r>
            <a:r>
              <a:rPr lang="en-US" b="1" dirty="0"/>
              <a:t>interleaving TXNs </a:t>
            </a:r>
            <a:r>
              <a:rPr lang="en-US" dirty="0"/>
              <a:t>such that </a:t>
            </a:r>
            <a:r>
              <a:rPr lang="en-US" b="1" dirty="0"/>
              <a:t>isolation </a:t>
            </a:r>
            <a:r>
              <a:rPr lang="en-US" dirty="0"/>
              <a:t>&amp;</a:t>
            </a:r>
            <a:r>
              <a:rPr lang="en-US" b="1" dirty="0"/>
              <a:t> consistency </a:t>
            </a:r>
            <a:r>
              <a:rPr lang="en-US" dirty="0"/>
              <a:t>are maintained</a:t>
            </a:r>
          </a:p>
          <a:p>
            <a:pPr lvl="1"/>
            <a:r>
              <a:rPr lang="en-US" dirty="0"/>
              <a:t>We formalized a notion of </a:t>
            </a:r>
            <a:r>
              <a:rPr lang="en-US" b="1" u="sng" dirty="0" err="1"/>
              <a:t>serializability</a:t>
            </a:r>
            <a:r>
              <a:rPr lang="en-US" dirty="0"/>
              <a:t> that captured such a “good” interleaving schedule</a:t>
            </a:r>
          </a:p>
          <a:p>
            <a:endParaRPr lang="en-US" dirty="0"/>
          </a:p>
          <a:p>
            <a:r>
              <a:rPr lang="en-US" dirty="0"/>
              <a:t>We defined </a:t>
            </a:r>
            <a:r>
              <a:rPr lang="en-US" b="1" u="sng" dirty="0"/>
              <a:t>conflict </a:t>
            </a:r>
            <a:r>
              <a:rPr lang="en-US" b="1" u="sng" dirty="0" err="1"/>
              <a:t>serializability</a:t>
            </a:r>
            <a:r>
              <a:rPr lang="en-US" dirty="0"/>
              <a:t>, which implies </a:t>
            </a:r>
            <a:r>
              <a:rPr lang="en-US" dirty="0" err="1"/>
              <a:t>serializability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Locking </a:t>
            </a:r>
            <a:r>
              <a:rPr lang="en-US" dirty="0"/>
              <a:t>allows only conflict serializable schedules</a:t>
            </a:r>
          </a:p>
          <a:p>
            <a:pPr lvl="1"/>
            <a:r>
              <a:rPr lang="en-US" dirty="0"/>
              <a:t>If the schedule completes… (it may deadlock!)</a:t>
            </a:r>
          </a:p>
        </p:txBody>
      </p:sp>
    </p:spTree>
    <p:extLst>
      <p:ext uri="{BB962C8B-B14F-4D97-AF65-F5344CB8AC3E}">
        <p14:creationId xmlns:p14="http://schemas.microsoft.com/office/powerpoint/2010/main" val="62376682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7D73F-0E5E-B50F-EAC7-40C85171C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Presentation on Isolation Levels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4E680-2735-1BFE-80E5-E7689C7EC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In class 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10 minutes 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Why are they needed?</a:t>
            </a:r>
          </a:p>
          <a:p>
            <a:r>
              <a:rPr lang="en-US">
                <a:ea typeface="Calibri"/>
                <a:cs typeface="Calibri"/>
              </a:rPr>
              <a:t>How they are different?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How to change it 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110977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3CD681-AB6B-0C28-FD3E-8FF17B5EF471}"/>
              </a:ext>
            </a:extLst>
          </p:cNvPr>
          <p:cNvSpPr txBox="1"/>
          <p:nvPr/>
        </p:nvSpPr>
        <p:spPr>
          <a:xfrm>
            <a:off x="3020744" y="638753"/>
            <a:ext cx="642246" cy="307777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dirty="0">
                <a:latin typeface="Courier"/>
              </a:rPr>
              <a:t>R(A)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09AAD4-22A5-C6CE-145E-107723413A8B}"/>
              </a:ext>
            </a:extLst>
          </p:cNvPr>
          <p:cNvSpPr txBox="1"/>
          <p:nvPr/>
        </p:nvSpPr>
        <p:spPr>
          <a:xfrm>
            <a:off x="3763205" y="1136983"/>
            <a:ext cx="642246" cy="307777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>
                <a:latin typeface="Courier"/>
              </a:rPr>
              <a:t>W(A)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1E8068-CEA2-5797-F207-FD486C3298F0}"/>
              </a:ext>
            </a:extLst>
          </p:cNvPr>
          <p:cNvSpPr txBox="1"/>
          <p:nvPr/>
        </p:nvSpPr>
        <p:spPr>
          <a:xfrm>
            <a:off x="4779205" y="1762214"/>
            <a:ext cx="642246" cy="307777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dirty="0">
                <a:latin typeface="Courier"/>
              </a:rPr>
              <a:t>R(A)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0E4AA0-A710-4E1E-0B1C-F974C9AB2889}"/>
              </a:ext>
            </a:extLst>
          </p:cNvPr>
          <p:cNvSpPr txBox="1"/>
          <p:nvPr/>
        </p:nvSpPr>
        <p:spPr>
          <a:xfrm>
            <a:off x="5775666" y="1762214"/>
            <a:ext cx="642246" cy="307777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>
                <a:latin typeface="Courier"/>
              </a:rPr>
              <a:t>W(B)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94B123-EBEA-69A0-B3D0-00AB96707D7D}"/>
              </a:ext>
            </a:extLst>
          </p:cNvPr>
          <p:cNvSpPr txBox="1"/>
          <p:nvPr/>
        </p:nvSpPr>
        <p:spPr>
          <a:xfrm>
            <a:off x="7338743" y="1136981"/>
            <a:ext cx="642246" cy="307777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>
                <a:latin typeface="Courier"/>
              </a:rPr>
              <a:t>R(B)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5DD1FE-8FD3-832B-214B-961FC9076E38}"/>
              </a:ext>
            </a:extLst>
          </p:cNvPr>
          <p:cNvSpPr txBox="1"/>
          <p:nvPr/>
        </p:nvSpPr>
        <p:spPr>
          <a:xfrm>
            <a:off x="1897673" y="638256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libri"/>
                <a:cs typeface="Calibri"/>
              </a:rPr>
              <a:t>T0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D9C4B6-DBC1-85A5-28B4-E83543BD3D48}"/>
              </a:ext>
            </a:extLst>
          </p:cNvPr>
          <p:cNvSpPr txBox="1"/>
          <p:nvPr/>
        </p:nvSpPr>
        <p:spPr>
          <a:xfrm>
            <a:off x="1830916" y="1215454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libri"/>
                <a:cs typeface="Calibri"/>
              </a:rPr>
              <a:t>t1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718BFC-3129-DDE8-4787-68AFACFBA207}"/>
              </a:ext>
            </a:extLst>
          </p:cNvPr>
          <p:cNvSpPr txBox="1"/>
          <p:nvPr/>
        </p:nvSpPr>
        <p:spPr>
          <a:xfrm>
            <a:off x="1829287" y="1764974"/>
            <a:ext cx="11703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libri"/>
                <a:cs typeface="Calibri"/>
              </a:rPr>
              <a:t>t2</a:t>
            </a:r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8BDE0A1-2E64-4E6F-FD36-D2B42143559F}"/>
                  </a:ext>
                </a:extLst>
              </p14:cNvPr>
              <p14:cNvContentPartPr/>
              <p14:nvPr/>
            </p14:nvContentPartPr>
            <p14:xfrm>
              <a:off x="3418416" y="920749"/>
              <a:ext cx="276481" cy="232165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8BDE0A1-2E64-4E6F-FD36-D2B4214355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00439" y="903139"/>
                <a:ext cx="312075" cy="2677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9CDE3DD-C163-4877-BFB8-A5F7B52037F4}"/>
                  </a:ext>
                </a:extLst>
              </p14:cNvPr>
              <p14:cNvContentPartPr/>
              <p14:nvPr/>
            </p14:nvContentPartPr>
            <p14:xfrm>
              <a:off x="3645157" y="1068916"/>
              <a:ext cx="81091" cy="13055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9CDE3DD-C163-4877-BFB8-A5F7B52037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27217" y="1050983"/>
                <a:ext cx="116613" cy="1660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5AF9250-1DB0-18B6-2224-08822EB686FB}"/>
                  </a:ext>
                </a:extLst>
              </p14:cNvPr>
              <p14:cNvContentPartPr/>
              <p14:nvPr/>
            </p14:nvContentPartPr>
            <p14:xfrm>
              <a:off x="4127500" y="1460500"/>
              <a:ext cx="1066308" cy="398644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5AF9250-1DB0-18B6-2224-08822EB686F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09506" y="1442511"/>
                <a:ext cx="1101936" cy="4342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31DADEB-F2B9-670F-4292-4C13D46653F3}"/>
                  </a:ext>
                </a:extLst>
              </p14:cNvPr>
              <p14:cNvContentPartPr/>
              <p14:nvPr/>
            </p14:nvContentPartPr>
            <p14:xfrm>
              <a:off x="4646083" y="1576916"/>
              <a:ext cx="123796" cy="229613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31DADEB-F2B9-670F-4292-4C13D46653F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28500" y="1558949"/>
                <a:ext cx="159320" cy="2651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FF1B1D6-434D-07F3-BC51-D6CBD6395413}"/>
                  </a:ext>
                </a:extLst>
              </p14:cNvPr>
              <p14:cNvContentPartPr/>
              <p14:nvPr/>
            </p14:nvContentPartPr>
            <p14:xfrm>
              <a:off x="6381750" y="1224295"/>
              <a:ext cx="805364" cy="648954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FF1B1D6-434D-07F3-BC51-D6CBD639541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364117" y="1206308"/>
                <a:ext cx="840990" cy="684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3DCD6B7-7559-9508-A060-76F4E84C9E28}"/>
                  </a:ext>
                </a:extLst>
              </p14:cNvPr>
              <p14:cNvContentPartPr/>
              <p14:nvPr/>
            </p14:nvContentPartPr>
            <p14:xfrm>
              <a:off x="7059083" y="1153583"/>
              <a:ext cx="118678" cy="280918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3DCD6B7-7559-9508-A060-76F4E84C9E2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041156" y="1135958"/>
                <a:ext cx="154174" cy="3165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78D271A-5F76-04EB-B6E5-1508613609AF}"/>
                  </a:ext>
                </a:extLst>
              </p14:cNvPr>
              <p14:cNvContentPartPr/>
              <p14:nvPr/>
            </p14:nvContentPartPr>
            <p14:xfrm>
              <a:off x="8784166" y="603250"/>
              <a:ext cx="10583" cy="3911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78D271A-5F76-04EB-B6E5-1508613609A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765646" y="585620"/>
                <a:ext cx="48001" cy="4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AC789A1-CB8C-AF85-ABA8-74C9399E9615}"/>
                  </a:ext>
                </a:extLst>
              </p14:cNvPr>
              <p14:cNvContentPartPr/>
              <p14:nvPr/>
            </p14:nvContentPartPr>
            <p14:xfrm>
              <a:off x="8307917" y="454167"/>
              <a:ext cx="595176" cy="2208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AC789A1-CB8C-AF85-ABA8-74C9399E961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289925" y="436359"/>
                <a:ext cx="630800" cy="573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D623D9D-8819-3C63-9A73-624EC3E24904}"/>
                  </a:ext>
                </a:extLst>
              </p14:cNvPr>
              <p14:cNvContentPartPr/>
              <p14:nvPr/>
            </p14:nvContentPartPr>
            <p14:xfrm>
              <a:off x="8963143" y="973666"/>
              <a:ext cx="312082" cy="277534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D623D9D-8819-3C63-9A73-624EC3E2490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945166" y="956050"/>
                <a:ext cx="347677" cy="3131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F077B8A-A6C0-6122-4377-81057D4DBBC1}"/>
                  </a:ext>
                </a:extLst>
              </p14:cNvPr>
              <p14:cNvContentPartPr/>
              <p14:nvPr/>
            </p14:nvContentPartPr>
            <p14:xfrm>
              <a:off x="9048749" y="2021416"/>
              <a:ext cx="59735" cy="453245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F077B8A-A6C0-6122-4377-81057D4DBBC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030864" y="2003430"/>
                <a:ext cx="95147" cy="4888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927AAD5-79F1-0C94-D8DB-5DC3A4FDD238}"/>
                  </a:ext>
                </a:extLst>
              </p14:cNvPr>
              <p14:cNvContentPartPr/>
              <p14:nvPr/>
            </p14:nvContentPartPr>
            <p14:xfrm>
              <a:off x="8932333" y="1940335"/>
              <a:ext cx="223025" cy="59914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927AAD5-79F1-0C94-D8DB-5DC3A4FDD23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914376" y="1922755"/>
                <a:ext cx="258580" cy="954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9C2CF31-A81E-9933-619C-97E0522B3726}"/>
                  </a:ext>
                </a:extLst>
              </p14:cNvPr>
              <p14:cNvContentPartPr/>
              <p14:nvPr/>
            </p14:nvContentPartPr>
            <p14:xfrm>
              <a:off x="9271000" y="2137833"/>
              <a:ext cx="91436" cy="18395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9C2CF31-A81E-9933-619C-97E0522B372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253430" y="2119869"/>
                <a:ext cx="126935" cy="2195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75DBA35-CFBE-E0C1-D260-FCB5CE7C0015}"/>
                  </a:ext>
                </a:extLst>
              </p14:cNvPr>
              <p14:cNvContentPartPr/>
              <p14:nvPr/>
            </p14:nvContentPartPr>
            <p14:xfrm>
              <a:off x="10773833" y="1820333"/>
              <a:ext cx="135684" cy="323512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75DBA35-CFBE-E0C1-D260-FCB5CE7C001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755885" y="1802720"/>
                <a:ext cx="171220" cy="3590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F1362C3-9BBF-8946-EE15-AD3B7180832A}"/>
                  </a:ext>
                </a:extLst>
              </p14:cNvPr>
              <p14:cNvContentPartPr/>
              <p14:nvPr/>
            </p14:nvContentPartPr>
            <p14:xfrm>
              <a:off x="10636249" y="1695336"/>
              <a:ext cx="398779" cy="114413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F1362C3-9BBF-8946-EE15-AD3B7180832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618270" y="1677403"/>
                <a:ext cx="434378" cy="1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86D132C-AA92-A235-554D-9EB0207F1F42}"/>
                  </a:ext>
                </a:extLst>
              </p14:cNvPr>
              <p14:cNvContentPartPr/>
              <p14:nvPr/>
            </p14:nvContentPartPr>
            <p14:xfrm>
              <a:off x="11038416" y="2011796"/>
              <a:ext cx="396922" cy="256074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86D132C-AA92-A235-554D-9EB0207F1F4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1020439" y="1993813"/>
                <a:ext cx="432516" cy="2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498AC6F-4295-4854-0382-3B82E435B918}"/>
                  </a:ext>
                </a:extLst>
              </p14:cNvPr>
              <p14:cNvContentPartPr/>
              <p14:nvPr/>
            </p14:nvContentPartPr>
            <p14:xfrm>
              <a:off x="8763000" y="1195916"/>
              <a:ext cx="53428" cy="496608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498AC6F-4295-4854-0382-3B82E435B91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745430" y="1178283"/>
                <a:ext cx="88927" cy="5322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30EFDDE-5A77-A268-2487-A62FD404077C}"/>
                  </a:ext>
                </a:extLst>
              </p14:cNvPr>
              <p14:cNvContentPartPr/>
              <p14:nvPr/>
            </p14:nvContentPartPr>
            <p14:xfrm>
              <a:off x="8699499" y="1583289"/>
              <a:ext cx="230779" cy="150019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30EFDDE-5A77-A268-2487-A62FD404077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681526" y="1565703"/>
                <a:ext cx="266366" cy="185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2D34AF9-ECC1-D757-E9AC-92E94875AD60}"/>
                  </a:ext>
                </a:extLst>
              </p14:cNvPr>
              <p14:cNvContentPartPr/>
              <p14:nvPr/>
            </p14:nvContentPartPr>
            <p14:xfrm>
              <a:off x="9586107" y="1585785"/>
              <a:ext cx="926012" cy="298047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2D34AF9-ECC1-D757-E9AC-92E94875AD6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568472" y="1567809"/>
                <a:ext cx="961642" cy="3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9B228DC-59BF-4A5E-D49F-29F9766AB104}"/>
                  </a:ext>
                </a:extLst>
              </p14:cNvPr>
              <p14:cNvContentPartPr/>
              <p14:nvPr/>
            </p14:nvContentPartPr>
            <p14:xfrm>
              <a:off x="10451587" y="1587500"/>
              <a:ext cx="68700" cy="213998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9B228DC-59BF-4A5E-D49F-29F9766AB10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433696" y="1569877"/>
                <a:ext cx="104123" cy="2496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A85B809-203A-58B3-92C5-B8CE6FD6747E}"/>
                  </a:ext>
                </a:extLst>
              </p14:cNvPr>
              <p14:cNvContentPartPr/>
              <p14:nvPr/>
            </p14:nvContentPartPr>
            <p14:xfrm>
              <a:off x="9586865" y="2053166"/>
              <a:ext cx="1059968" cy="192694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A85B809-203A-58B3-92C5-B8CE6FD6747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569229" y="2035550"/>
                <a:ext cx="1095600" cy="2282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B4B6703-178F-F822-F4D1-956100ECD011}"/>
                  </a:ext>
                </a:extLst>
              </p14:cNvPr>
              <p14:cNvContentPartPr/>
              <p14:nvPr/>
            </p14:nvContentPartPr>
            <p14:xfrm>
              <a:off x="9537710" y="2021416"/>
              <a:ext cx="284144" cy="228938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B4B6703-178F-F822-F4D1-956100ECD01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520086" y="2003446"/>
                <a:ext cx="319752" cy="2645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6D1A2DF-565E-E606-D1EA-486EAFCB6594}"/>
                  </a:ext>
                </a:extLst>
              </p14:cNvPr>
              <p14:cNvContentPartPr/>
              <p14:nvPr/>
            </p14:nvContentPartPr>
            <p14:xfrm>
              <a:off x="11281833" y="2205305"/>
              <a:ext cx="453645" cy="27778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6D1A2DF-565E-E606-D1EA-486EAFCB659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1263845" y="2187499"/>
                <a:ext cx="489260" cy="630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9CF76D6-5606-6F32-5805-3D1295B0D73C}"/>
                  </a:ext>
                </a:extLst>
              </p14:cNvPr>
              <p14:cNvContentPartPr/>
              <p14:nvPr/>
            </p14:nvContentPartPr>
            <p14:xfrm>
              <a:off x="1312332" y="2116666"/>
              <a:ext cx="10583" cy="10583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9CF76D6-5606-6F32-5805-3D1295B0D73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-275118" y="-1058234"/>
                <a:ext cx="3174900" cy="6349800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6E5DA21D-FB5F-32A9-0A79-8DB82570C6C2}"/>
              </a:ext>
            </a:extLst>
          </p:cNvPr>
          <p:cNvSpPr txBox="1"/>
          <p:nvPr/>
        </p:nvSpPr>
        <p:spPr>
          <a:xfrm>
            <a:off x="2581128" y="3442522"/>
            <a:ext cx="642246" cy="307777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dirty="0">
                <a:latin typeface="Courier"/>
              </a:rPr>
              <a:t>R(A)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55A4BB-D69B-9B19-07E0-40F18D2A735A}"/>
              </a:ext>
            </a:extLst>
          </p:cNvPr>
          <p:cNvSpPr txBox="1"/>
          <p:nvPr/>
        </p:nvSpPr>
        <p:spPr>
          <a:xfrm>
            <a:off x="7114051" y="3784445"/>
            <a:ext cx="642246" cy="307777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>
                <a:latin typeface="Courier"/>
              </a:rPr>
              <a:t>W(A)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A5564BD-D3C5-1F98-6585-5C1867C2180C}"/>
              </a:ext>
            </a:extLst>
          </p:cNvPr>
          <p:cNvSpPr txBox="1"/>
          <p:nvPr/>
        </p:nvSpPr>
        <p:spPr>
          <a:xfrm>
            <a:off x="10005743" y="4438983"/>
            <a:ext cx="642246" cy="307777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dirty="0">
                <a:latin typeface="Courier"/>
              </a:rPr>
              <a:t>R(A)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FE92FE-2B48-64E0-0356-4E1A8C121FA6}"/>
              </a:ext>
            </a:extLst>
          </p:cNvPr>
          <p:cNvSpPr txBox="1"/>
          <p:nvPr/>
        </p:nvSpPr>
        <p:spPr>
          <a:xfrm>
            <a:off x="11412511" y="4438983"/>
            <a:ext cx="642246" cy="307777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>
                <a:latin typeface="Courier"/>
              </a:rPr>
              <a:t>W(B)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FD1D36-D008-668E-512C-91E069A72E1C}"/>
              </a:ext>
            </a:extLst>
          </p:cNvPr>
          <p:cNvSpPr txBox="1"/>
          <p:nvPr/>
        </p:nvSpPr>
        <p:spPr>
          <a:xfrm>
            <a:off x="8598972" y="3755135"/>
            <a:ext cx="642247" cy="307777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>
                <a:latin typeface="Courier"/>
              </a:rPr>
              <a:t>R(B)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FD0AF5-4D80-471E-0D0B-CC1B97CCA9EA}"/>
              </a:ext>
            </a:extLst>
          </p:cNvPr>
          <p:cNvSpPr txBox="1"/>
          <p:nvPr/>
        </p:nvSpPr>
        <p:spPr>
          <a:xfrm>
            <a:off x="1458057" y="3442025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libri"/>
                <a:cs typeface="Calibri"/>
              </a:rPr>
              <a:t>T0</a:t>
            </a:r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BF44773-E020-C933-DF0B-C8F1D8A7CC91}"/>
              </a:ext>
            </a:extLst>
          </p:cNvPr>
          <p:cNvSpPr txBox="1"/>
          <p:nvPr/>
        </p:nvSpPr>
        <p:spPr>
          <a:xfrm>
            <a:off x="1391300" y="4019223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libri"/>
                <a:cs typeface="Calibri"/>
              </a:rPr>
              <a:t>t1</a:t>
            </a:r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ABF653-1A49-5A76-2EFD-EFFD827E07A7}"/>
              </a:ext>
            </a:extLst>
          </p:cNvPr>
          <p:cNvSpPr txBox="1"/>
          <p:nvPr/>
        </p:nvSpPr>
        <p:spPr>
          <a:xfrm>
            <a:off x="1389671" y="4568743"/>
            <a:ext cx="11703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libri"/>
                <a:cs typeface="Calibri"/>
              </a:rPr>
              <a:t>t2</a:t>
            </a:r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2952991-2D4C-66FC-F314-CC48E43EFE05}"/>
                  </a:ext>
                </a:extLst>
              </p14:cNvPr>
              <p14:cNvContentPartPr/>
              <p14:nvPr/>
            </p14:nvContentPartPr>
            <p14:xfrm>
              <a:off x="3205541" y="3872685"/>
              <a:ext cx="81091" cy="13055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2952991-2D4C-66FC-F314-CC48E43EFE0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187680" y="3854752"/>
                <a:ext cx="116457" cy="1660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B049F0A-A16F-DA51-E67B-A885B7D17359}"/>
                  </a:ext>
                </a:extLst>
              </p14:cNvPr>
              <p14:cNvContentPartPr/>
              <p14:nvPr/>
            </p14:nvContentPartPr>
            <p14:xfrm>
              <a:off x="872716" y="4920435"/>
              <a:ext cx="10583" cy="10583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B049F0A-A16F-DA51-E67B-A885B7D1735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-714734" y="1745535"/>
                <a:ext cx="3174900" cy="6349800"/>
              </a:xfrm>
              <a:prstGeom prst="rect">
                <a:avLst/>
              </a:prstGeom>
            </p:spPr>
          </p:pic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B745DF62-7DCE-3BD6-0A58-2530D5ACA39E}"/>
              </a:ext>
            </a:extLst>
          </p:cNvPr>
          <p:cNvSpPr txBox="1"/>
          <p:nvPr/>
        </p:nvSpPr>
        <p:spPr>
          <a:xfrm>
            <a:off x="1916820" y="3442521"/>
            <a:ext cx="642246" cy="307777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>
                <a:latin typeface="Courier"/>
              </a:rPr>
              <a:t>S(A)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83EED02-B2FE-4156-4A91-B36215089E4C}"/>
              </a:ext>
            </a:extLst>
          </p:cNvPr>
          <p:cNvSpPr txBox="1"/>
          <p:nvPr/>
        </p:nvSpPr>
        <p:spPr>
          <a:xfrm>
            <a:off x="3206358" y="3813751"/>
            <a:ext cx="3778169" cy="307777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>
                <a:latin typeface="Courier"/>
              </a:rPr>
              <a:t>X(A)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EF3F6321-1F7B-EBAA-DE2A-C8719F4BAEE8}"/>
                  </a:ext>
                </a:extLst>
              </p14:cNvPr>
              <p14:cNvContentPartPr/>
              <p14:nvPr/>
            </p14:nvContentPartPr>
            <p14:xfrm>
              <a:off x="6889321" y="3249082"/>
              <a:ext cx="178508" cy="2339571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EF3F6321-1F7B-EBAA-DE2A-C8719F4BAEE8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871722" y="3231085"/>
                <a:ext cx="214066" cy="23752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CE9E38E-5F53-3A8D-1A05-BD3390AAD6CB}"/>
                  </a:ext>
                </a:extLst>
              </p14:cNvPr>
              <p14:cNvContentPartPr/>
              <p14:nvPr/>
            </p14:nvContentPartPr>
            <p14:xfrm>
              <a:off x="7006166" y="5926666"/>
              <a:ext cx="10583" cy="254337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CE9E38E-5F53-3A8D-1A05-BD3390AAD6CB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487599" y="5908679"/>
                <a:ext cx="1058300" cy="2899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E433C052-BEA0-CE8D-475A-B8BB1FC93AC6}"/>
                  </a:ext>
                </a:extLst>
              </p14:cNvPr>
              <p14:cNvContentPartPr/>
              <p14:nvPr/>
            </p14:nvContentPartPr>
            <p14:xfrm>
              <a:off x="6847416" y="5823248"/>
              <a:ext cx="308911" cy="18751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E433C052-BEA0-CE8D-475A-B8BB1FC93AC6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829795" y="5805912"/>
                <a:ext cx="344513" cy="537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B5BE86ED-E3FE-248B-0BAF-46D732D3FEF4}"/>
                  </a:ext>
                </a:extLst>
              </p14:cNvPr>
              <p14:cNvContentPartPr/>
              <p14:nvPr/>
            </p14:nvContentPartPr>
            <p14:xfrm>
              <a:off x="7079011" y="6043083"/>
              <a:ext cx="139630" cy="273572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B5BE86ED-E3FE-248B-0BAF-46D732D3FEF4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061423" y="6025108"/>
                <a:ext cx="175166" cy="3091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A38AFB4E-C8D2-F968-E967-2257DDDB1DF6}"/>
                  </a:ext>
                </a:extLst>
              </p14:cNvPr>
              <p14:cNvContentPartPr/>
              <p14:nvPr/>
            </p14:nvContentPartPr>
            <p14:xfrm>
              <a:off x="7152410" y="6039244"/>
              <a:ext cx="12506" cy="56755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A38AFB4E-C8D2-F968-E967-2257DDDB1DF6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135041" y="6021753"/>
                <a:ext cx="46898" cy="920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7B3A1D89-33A0-B2B6-0BBC-E899C53C6EA7}"/>
                  </a:ext>
                </a:extLst>
              </p14:cNvPr>
              <p14:cNvContentPartPr/>
              <p14:nvPr/>
            </p14:nvContentPartPr>
            <p14:xfrm>
              <a:off x="7628140" y="5958416"/>
              <a:ext cx="97692" cy="248823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7B3A1D89-33A0-B2B6-0BBC-E899C53C6EA7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610541" y="5940797"/>
                <a:ext cx="133249" cy="2844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2B792C56-7809-D85D-A911-438619CEDDA7}"/>
                  </a:ext>
                </a:extLst>
              </p14:cNvPr>
              <p14:cNvContentPartPr/>
              <p14:nvPr/>
            </p14:nvContentPartPr>
            <p14:xfrm>
              <a:off x="7734827" y="6095999"/>
              <a:ext cx="129231" cy="170827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2B792C56-7809-D85D-A911-438619CEDDA7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716878" y="6078414"/>
                <a:ext cx="164770" cy="2063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FEEDAC2D-B9AD-AB07-91B1-9B3D3B5DA45E}"/>
                  </a:ext>
                </a:extLst>
              </p14:cNvPr>
              <p14:cNvContentPartPr/>
              <p14:nvPr/>
            </p14:nvContentPartPr>
            <p14:xfrm>
              <a:off x="7926916" y="6038183"/>
              <a:ext cx="284874" cy="238927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FEEDAC2D-B9AD-AB07-91B1-9B3D3B5DA45E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909291" y="6020219"/>
                <a:ext cx="320483" cy="2744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8A41F57B-F310-050B-2A40-75538917C36D}"/>
                  </a:ext>
                </a:extLst>
              </p14:cNvPr>
              <p14:cNvContentPartPr/>
              <p14:nvPr/>
            </p14:nvContentPartPr>
            <p14:xfrm>
              <a:off x="8273388" y="5979540"/>
              <a:ext cx="348956" cy="303205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8A41F57B-F310-050B-2A40-75538917C36D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255760" y="5961916"/>
                <a:ext cx="384571" cy="3388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3C93F662-91B8-D1DD-0345-FC5F05544644}"/>
                  </a:ext>
                </a:extLst>
              </p14:cNvPr>
              <p14:cNvContentPartPr/>
              <p14:nvPr/>
            </p14:nvContentPartPr>
            <p14:xfrm>
              <a:off x="8896972" y="6064250"/>
              <a:ext cx="172943" cy="303176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3C93F662-91B8-D1DD-0345-FC5F05544644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8879354" y="6046268"/>
                <a:ext cx="208538" cy="3387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ECD0741C-3243-62BF-BE05-51725EC567B3}"/>
                  </a:ext>
                </a:extLst>
              </p14:cNvPr>
              <p14:cNvContentPartPr/>
              <p14:nvPr/>
            </p14:nvContentPartPr>
            <p14:xfrm>
              <a:off x="8718647" y="6096000"/>
              <a:ext cx="107852" cy="186362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ECD0741C-3243-62BF-BE05-51725EC567B3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700731" y="6078405"/>
                <a:ext cx="143325" cy="2219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43EACA19-D663-7E73-5FF2-9087A61F1E3C}"/>
                  </a:ext>
                </a:extLst>
              </p14:cNvPr>
              <p14:cNvContentPartPr/>
              <p14:nvPr/>
            </p14:nvContentPartPr>
            <p14:xfrm>
              <a:off x="8815916" y="5943640"/>
              <a:ext cx="10583" cy="10583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43EACA19-D663-7E73-5FF2-9087A61F1E3C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8286766" y="5903750"/>
                <a:ext cx="1058300" cy="911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00F1CB35-75C4-139A-1D16-A8AC8441B8B7}"/>
                  </a:ext>
                </a:extLst>
              </p14:cNvPr>
              <p14:cNvContentPartPr/>
              <p14:nvPr/>
            </p14:nvContentPartPr>
            <p14:xfrm>
              <a:off x="8921749" y="6089773"/>
              <a:ext cx="217159" cy="17096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00F1CB35-75C4-139A-1D16-A8AC8441B8B7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8904132" y="6071965"/>
                <a:ext cx="252753" cy="52357"/>
              </a:xfrm>
              <a:prstGeom prst="rect">
                <a:avLst/>
              </a:prstGeom>
            </p:spPr>
          </p:pic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2457A8C9-DFA0-D95C-6C34-DCF1E1BD28F5}"/>
              </a:ext>
            </a:extLst>
          </p:cNvPr>
          <p:cNvSpPr txBox="1"/>
          <p:nvPr/>
        </p:nvSpPr>
        <p:spPr>
          <a:xfrm>
            <a:off x="3245434" y="4438980"/>
            <a:ext cx="6435399" cy="307777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>
                <a:latin typeface="Courier"/>
              </a:rPr>
              <a:t>S(A)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CE0FEAF-5539-84B4-02E1-D2A24F9A876E}"/>
                  </a:ext>
                </a:extLst>
              </p14:cNvPr>
              <p14:cNvContentPartPr/>
              <p14:nvPr/>
            </p14:nvContentPartPr>
            <p14:xfrm>
              <a:off x="9894955" y="2656416"/>
              <a:ext cx="106392" cy="349335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CE0FEAF-5539-84B4-02E1-D2A24F9A876E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9877402" y="2638778"/>
                <a:ext cx="141856" cy="35289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577283B6-8A38-92E8-6877-A668D4EC6AE4}"/>
                  </a:ext>
                </a:extLst>
              </p14:cNvPr>
              <p14:cNvContentPartPr/>
              <p14:nvPr/>
            </p14:nvContentPartPr>
            <p14:xfrm>
              <a:off x="9990666" y="6339417"/>
              <a:ext cx="11044" cy="262974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577283B6-8A38-92E8-6877-A668D4EC6AE4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9973410" y="6321430"/>
                <a:ext cx="45211" cy="2985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8A321034-ED3F-4C06-1C0B-6479B7C98E2F}"/>
                  </a:ext>
                </a:extLst>
              </p14:cNvPr>
              <p14:cNvContentPartPr/>
              <p14:nvPr/>
            </p14:nvContentPartPr>
            <p14:xfrm>
              <a:off x="9408582" y="6117166"/>
              <a:ext cx="872617" cy="53542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8A321034-ED3F-4C06-1C0B-6479B7C98E2F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390950" y="6099676"/>
                <a:ext cx="908241" cy="8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5625C7FB-0DDD-C64F-D7D7-2ECF0CE060A0}"/>
                  </a:ext>
                </a:extLst>
              </p14:cNvPr>
              <p14:cNvContentPartPr/>
              <p14:nvPr/>
            </p14:nvContentPartPr>
            <p14:xfrm>
              <a:off x="9842499" y="6466417"/>
              <a:ext cx="84451" cy="194564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5625C7FB-0DDD-C64F-D7D7-2ECF0CE060A0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824965" y="6448795"/>
                <a:ext cx="119877" cy="2301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658ACA9A-27D1-BF49-21D9-637ADECD20E9}"/>
                  </a:ext>
                </a:extLst>
              </p14:cNvPr>
              <p14:cNvContentPartPr/>
              <p14:nvPr/>
            </p14:nvContentPartPr>
            <p14:xfrm>
              <a:off x="10248921" y="6572249"/>
              <a:ext cx="16911" cy="214005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658ACA9A-27D1-BF49-21D9-637ADECD20E9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0231658" y="6554265"/>
                <a:ext cx="51790" cy="2496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85D603E4-4E8C-33C1-D80F-13FFD2A78DD0}"/>
                  </a:ext>
                </a:extLst>
              </p14:cNvPr>
              <p14:cNvContentPartPr/>
              <p14:nvPr/>
            </p14:nvContentPartPr>
            <p14:xfrm>
              <a:off x="8964083" y="4889499"/>
              <a:ext cx="10583" cy="10583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85D603E4-4E8C-33C1-D80F-13FFD2A78DD0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8445516" y="4370932"/>
                <a:ext cx="1058300" cy="1058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6306E9FC-0C30-745E-E170-1E3EEACE1C18}"/>
                  </a:ext>
                </a:extLst>
              </p14:cNvPr>
              <p14:cNvContentPartPr/>
              <p14:nvPr/>
            </p14:nvContentPartPr>
            <p14:xfrm>
              <a:off x="9175749" y="4889499"/>
              <a:ext cx="10583" cy="10583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6306E9FC-0C30-745E-E170-1E3EEACE1C18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8657182" y="4370932"/>
                <a:ext cx="1058300" cy="1058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64DA006F-1F11-BE87-2627-AAEB1662D58E}"/>
                  </a:ext>
                </a:extLst>
              </p14:cNvPr>
              <p14:cNvContentPartPr/>
              <p14:nvPr/>
            </p14:nvContentPartPr>
            <p14:xfrm>
              <a:off x="9175749" y="4804833"/>
              <a:ext cx="10583" cy="10583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64DA006F-1F11-BE87-2627-AAEB1662D58E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8657182" y="4286266"/>
                <a:ext cx="1058300" cy="1058300"/>
              </a:xfrm>
              <a:prstGeom prst="rect">
                <a:avLst/>
              </a:prstGeom>
            </p:spPr>
          </p:pic>
        </mc:Fallback>
      </mc:AlternateContent>
      <p:sp>
        <p:nvSpPr>
          <p:cNvPr id="91" name="TextBox 90">
            <a:extLst>
              <a:ext uri="{FF2B5EF4-FFF2-40B4-BE49-F238E27FC236}">
                <a16:creationId xmlns:a16="http://schemas.microsoft.com/office/drawing/2014/main" id="{7F9BE814-E137-BC39-331B-E7F7D5409DFA}"/>
              </a:ext>
            </a:extLst>
          </p:cNvPr>
          <p:cNvSpPr txBox="1"/>
          <p:nvPr/>
        </p:nvSpPr>
        <p:spPr>
          <a:xfrm>
            <a:off x="7895589" y="3755136"/>
            <a:ext cx="642246" cy="307777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>
                <a:latin typeface="Courier"/>
              </a:rPr>
              <a:t>S(B)</a:t>
            </a:r>
          </a:p>
        </p:txBody>
      </p:sp>
    </p:spTree>
    <p:extLst>
      <p:ext uri="{BB962C8B-B14F-4D97-AF65-F5344CB8AC3E}">
        <p14:creationId xmlns:p14="http://schemas.microsoft.com/office/powerpoint/2010/main" val="324306271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114752CFC3094F980FAD7CDAC4FA66" ma:contentTypeVersion="18" ma:contentTypeDescription="Create a new document." ma:contentTypeScope="" ma:versionID="32dfdce3e40c9d5c8163c3e36a9b21ca">
  <xsd:schema xmlns:xsd="http://www.w3.org/2001/XMLSchema" xmlns:xs="http://www.w3.org/2001/XMLSchema" xmlns:p="http://schemas.microsoft.com/office/2006/metadata/properties" xmlns:ns3="eba54558-70c8-458e-84bd-8e3810559bd2" xmlns:ns4="fd28b98c-9d4a-4855-a326-788d407ff55a" targetNamespace="http://schemas.microsoft.com/office/2006/metadata/properties" ma:root="true" ma:fieldsID="c08f2c9dfa94df1fd38324790de5c238" ns3:_="" ns4:_="">
    <xsd:import namespace="eba54558-70c8-458e-84bd-8e3810559bd2"/>
    <xsd:import namespace="fd28b98c-9d4a-4855-a326-788d407ff55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a54558-70c8-458e-84bd-8e3810559b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description="" ma:indexed="true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28b98c-9d4a-4855-a326-788d407ff55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ba54558-70c8-458e-84bd-8e3810559bd2" xsi:nil="true"/>
  </documentManagement>
</p:properties>
</file>

<file path=customXml/itemProps1.xml><?xml version="1.0" encoding="utf-8"?>
<ds:datastoreItem xmlns:ds="http://schemas.openxmlformats.org/officeDocument/2006/customXml" ds:itemID="{BA8FD747-323B-45E8-A443-DB4AB84223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a54558-70c8-458e-84bd-8e3810559bd2"/>
    <ds:schemaRef ds:uri="fd28b98c-9d4a-4855-a326-788d407ff5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E50E554-2B7F-43C7-AC2E-1B68277D108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D9FC1A-08C2-4D20-8F35-FD73EF7E1B14}">
  <ds:schemaRefs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eba54558-70c8-458e-84bd-8e3810559bd2"/>
    <ds:schemaRef ds:uri="fd28b98c-9d4a-4855-a326-788d407ff55a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7424</TotalTime>
  <Words>5893</Words>
  <Application>Microsoft Office PowerPoint</Application>
  <PresentationFormat>Widescreen</PresentationFormat>
  <Paragraphs>1183</Paragraphs>
  <Slides>112</Slides>
  <Notes>36</Notes>
  <HiddenSlides>4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13" baseType="lpstr">
      <vt:lpstr>1_Office Theme</vt:lpstr>
      <vt:lpstr>Transactions</vt:lpstr>
      <vt:lpstr>Goals for this pair of lectures</vt:lpstr>
      <vt:lpstr>Intro to Transactions &amp; Logging</vt:lpstr>
      <vt:lpstr>1. Transactions</vt:lpstr>
      <vt:lpstr>What you will learn about in this section</vt:lpstr>
      <vt:lpstr>High-level: Disk vs. Main Memory</vt:lpstr>
      <vt:lpstr>PowerPoint Presentation</vt:lpstr>
      <vt:lpstr>Our model: Three Types of Regions of Memory</vt:lpstr>
      <vt:lpstr>PowerPoint Presentation</vt:lpstr>
      <vt:lpstr>Transactions: Basic Definition</vt:lpstr>
      <vt:lpstr>Transactions: Basic Definition</vt:lpstr>
      <vt:lpstr>Transactions in SQL</vt:lpstr>
      <vt:lpstr>Model of Transaction </vt:lpstr>
      <vt:lpstr>Motivation for Transactions</vt:lpstr>
      <vt:lpstr>Motivation</vt:lpstr>
      <vt:lpstr>Protection against crashes / aborts</vt:lpstr>
      <vt:lpstr>Protection against crashes / aborts</vt:lpstr>
      <vt:lpstr>Motivation</vt:lpstr>
      <vt:lpstr>Multiple users: single statements</vt:lpstr>
      <vt:lpstr>Multiple users: single statements</vt:lpstr>
      <vt:lpstr>2. Properties of Transactions</vt:lpstr>
      <vt:lpstr>What you will learn about in this section</vt:lpstr>
      <vt:lpstr>Transaction Properties: ACID</vt:lpstr>
      <vt:lpstr>ACID: Atomicity</vt:lpstr>
      <vt:lpstr>ACID: Consistency</vt:lpstr>
      <vt:lpstr>ACID: Isolation</vt:lpstr>
      <vt:lpstr>ACID: Durability</vt:lpstr>
      <vt:lpstr>Challenges for ACID properties</vt:lpstr>
      <vt:lpstr>A Note: ACID is contentious!</vt:lpstr>
      <vt:lpstr>Goal for this lecture: Ensuring Atomicity &amp; Durability</vt:lpstr>
      <vt:lpstr>The Log</vt:lpstr>
      <vt:lpstr>Basic Idea: (Physical) Logging</vt:lpstr>
      <vt:lpstr>Why do we need logging for atomicity?</vt:lpstr>
      <vt:lpstr>3. Atomicity &amp; Durability via Logging</vt:lpstr>
      <vt:lpstr>A Picture of Logging</vt:lpstr>
      <vt:lpstr>A picture of logging</vt:lpstr>
      <vt:lpstr>A picture of logging</vt:lpstr>
      <vt:lpstr>A picture of logging</vt:lpstr>
      <vt:lpstr>What is the correct way to write this all to disk?</vt:lpstr>
      <vt:lpstr>Write-Ahead Logging (WAL) TXN Commit Protocol</vt:lpstr>
      <vt:lpstr>Transaction Commit Process</vt:lpstr>
      <vt:lpstr>Incorrect Commit Protocol #1</vt:lpstr>
      <vt:lpstr>Incorrect Commit Protocol #2</vt:lpstr>
      <vt:lpstr>Improved Commit Protocol (WAL)</vt:lpstr>
      <vt:lpstr>Write-ahead Logging (WAL) Commit Protocol</vt:lpstr>
      <vt:lpstr>Write-ahead Logging (WAL) Commit Protocol</vt:lpstr>
      <vt:lpstr>Write-Ahead Logging (WAL)</vt:lpstr>
      <vt:lpstr>Logging Summary</vt:lpstr>
      <vt:lpstr>Concurrency &amp; Locking</vt:lpstr>
      <vt:lpstr>4. Concurrency, Scheduling &amp; Anomalies</vt:lpstr>
      <vt:lpstr>Concurrency: Isolation &amp; Consistency</vt:lpstr>
      <vt:lpstr>Note the hard part…</vt:lpstr>
      <vt:lpstr>Example- consider two TXNs:</vt:lpstr>
      <vt:lpstr>Example- consider two TXNs:</vt:lpstr>
      <vt:lpstr>Example- consider two TXNs:</vt:lpstr>
      <vt:lpstr>Example- consider two TXNs:</vt:lpstr>
      <vt:lpstr>Example- consider two TXNs:</vt:lpstr>
      <vt:lpstr>Recall: Three Types of Regions of Memory</vt:lpstr>
      <vt:lpstr>Why Interleave TXNs?</vt:lpstr>
      <vt:lpstr>Interleaving &amp; Isolation</vt:lpstr>
      <vt:lpstr>Scheduling examples</vt:lpstr>
      <vt:lpstr>Scheduling examples</vt:lpstr>
      <vt:lpstr>Scheduling examples</vt:lpstr>
      <vt:lpstr>Scheduling examples</vt:lpstr>
      <vt:lpstr>Scheduling Definitions</vt:lpstr>
      <vt:lpstr>Serializable?</vt:lpstr>
      <vt:lpstr>Serializable?</vt:lpstr>
      <vt:lpstr>What else can go wrong with interleaving?</vt:lpstr>
      <vt:lpstr>The DBMS’s view of the schedule</vt:lpstr>
      <vt:lpstr>Conflict Types</vt:lpstr>
      <vt:lpstr>PowerPoint Presentation</vt:lpstr>
      <vt:lpstr>PowerPoint Presentation</vt:lpstr>
      <vt:lpstr>PowerPoint Presentation</vt:lpstr>
      <vt:lpstr>PowerPoint Presentation</vt:lpstr>
      <vt:lpstr>5. Conflict Serializability, Locking &amp; Deadlock</vt:lpstr>
      <vt:lpstr>Recall: Concurrency as Interleaving TXNs</vt:lpstr>
      <vt:lpstr>Recall: “Good” vs. “bad” schedules</vt:lpstr>
      <vt:lpstr>Ways of Defining “Good” vs. “Bad” Schedules</vt:lpstr>
      <vt:lpstr>PowerPoint Presentation</vt:lpstr>
      <vt:lpstr>Conflicts</vt:lpstr>
      <vt:lpstr>Conflicts</vt:lpstr>
      <vt:lpstr>Conflict Serializability</vt:lpstr>
      <vt:lpstr>Recall: “Good” vs. “bad” schedules</vt:lpstr>
      <vt:lpstr>Note: Conflicts vs. Anomalies</vt:lpstr>
      <vt:lpstr>The Conflict Graph</vt:lpstr>
      <vt:lpstr>PowerPoint Presentation</vt:lpstr>
      <vt:lpstr>PowerPoint Presentation</vt:lpstr>
      <vt:lpstr>PowerPoint Presentation</vt:lpstr>
      <vt:lpstr>PowerPoint Presentation</vt:lpstr>
      <vt:lpstr>Isolation Levels</vt:lpstr>
      <vt:lpstr>Let’s unpack this notion of acyclic conflict graphs…</vt:lpstr>
      <vt:lpstr>DAGs &amp; Topological Orderings</vt:lpstr>
      <vt:lpstr>DAGs &amp; Topological Orderings</vt:lpstr>
      <vt:lpstr>DAGs &amp; Topological Orderings</vt:lpstr>
      <vt:lpstr>Connection to conflict serializability</vt:lpstr>
      <vt:lpstr>PowerPoint Presentation</vt:lpstr>
      <vt:lpstr>Strict Two-Phase Locking</vt:lpstr>
      <vt:lpstr>Strict Two-phase Locking (Strict 2PL) Protocol:</vt:lpstr>
      <vt:lpstr>Picture of 2-Phase Locking (2PL)</vt:lpstr>
      <vt:lpstr>Strict 2PL</vt:lpstr>
      <vt:lpstr>Strict 2PL</vt:lpstr>
      <vt:lpstr>PowerPoint Presentation</vt:lpstr>
      <vt:lpstr>Deadlock Detection: Example</vt:lpstr>
      <vt:lpstr>Deadlock Detection: Example</vt:lpstr>
      <vt:lpstr>Deadlock Detection: Example</vt:lpstr>
      <vt:lpstr>Deadlock Detection: Example</vt:lpstr>
      <vt:lpstr>The problem? Deadlock!??!</vt:lpstr>
      <vt:lpstr>Deadlocks</vt:lpstr>
      <vt:lpstr>Deadlock Detection</vt:lpstr>
      <vt:lpstr>Summary</vt:lpstr>
      <vt:lpstr>Presentation on Isolation Levels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145 Style Guide</dc:title>
  <dc:creator>Alex Ratner</dc:creator>
  <cp:lastModifiedBy>Mohamed E. Khalefa</cp:lastModifiedBy>
  <cp:revision>414</cp:revision>
  <cp:lastPrinted>2016-10-16T01:17:37Z</cp:lastPrinted>
  <dcterms:created xsi:type="dcterms:W3CDTF">2015-09-11T05:09:33Z</dcterms:created>
  <dcterms:modified xsi:type="dcterms:W3CDTF">2026-10-13T04:29:17Z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0x01010011114752CFC3094F980FAD7CDAC4FA66</vt:lpwstr>
  </property>
</Properties>
</file>