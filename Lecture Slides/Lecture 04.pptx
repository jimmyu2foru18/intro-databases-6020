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72"/>
  </p:notesMasterIdLst>
  <p:sldIdLst>
    <p:sldId id="257" r:id="rId5"/>
    <p:sldId id="319" r:id="rId6"/>
    <p:sldId id="320" r:id="rId7"/>
    <p:sldId id="259" r:id="rId8"/>
    <p:sldId id="323" r:id="rId9"/>
    <p:sldId id="262" r:id="rId10"/>
    <p:sldId id="324" r:id="rId11"/>
    <p:sldId id="327" r:id="rId12"/>
    <p:sldId id="325" r:id="rId13"/>
    <p:sldId id="264" r:id="rId14"/>
    <p:sldId id="328" r:id="rId15"/>
    <p:sldId id="267" r:id="rId16"/>
    <p:sldId id="268" r:id="rId17"/>
    <p:sldId id="270" r:id="rId18"/>
    <p:sldId id="271" r:id="rId19"/>
    <p:sldId id="272" r:id="rId20"/>
    <p:sldId id="273" r:id="rId21"/>
    <p:sldId id="329" r:id="rId22"/>
    <p:sldId id="276" r:id="rId23"/>
    <p:sldId id="398" r:id="rId24"/>
    <p:sldId id="279" r:id="rId25"/>
    <p:sldId id="280" r:id="rId26"/>
    <p:sldId id="334" r:id="rId27"/>
    <p:sldId id="282" r:id="rId28"/>
    <p:sldId id="335" r:id="rId29"/>
    <p:sldId id="336" r:id="rId30"/>
    <p:sldId id="339" r:id="rId31"/>
    <p:sldId id="400" r:id="rId32"/>
    <p:sldId id="401" r:id="rId33"/>
    <p:sldId id="413" r:id="rId34"/>
    <p:sldId id="340" r:id="rId35"/>
    <p:sldId id="408" r:id="rId36"/>
    <p:sldId id="341" r:id="rId37"/>
    <p:sldId id="291" r:id="rId38"/>
    <p:sldId id="348" r:id="rId39"/>
    <p:sldId id="349" r:id="rId40"/>
    <p:sldId id="410" r:id="rId41"/>
    <p:sldId id="345" r:id="rId42"/>
    <p:sldId id="346" r:id="rId43"/>
    <p:sldId id="344" r:id="rId44"/>
    <p:sldId id="352" r:id="rId45"/>
    <p:sldId id="380" r:id="rId46"/>
    <p:sldId id="381" r:id="rId47"/>
    <p:sldId id="382" r:id="rId48"/>
    <p:sldId id="383" r:id="rId49"/>
    <p:sldId id="384" r:id="rId50"/>
    <p:sldId id="385" r:id="rId51"/>
    <p:sldId id="386" r:id="rId52"/>
    <p:sldId id="387" r:id="rId53"/>
    <p:sldId id="388" r:id="rId54"/>
    <p:sldId id="389" r:id="rId55"/>
    <p:sldId id="409" r:id="rId56"/>
    <p:sldId id="412" r:id="rId57"/>
    <p:sldId id="392" r:id="rId58"/>
    <p:sldId id="399" r:id="rId59"/>
    <p:sldId id="393" r:id="rId60"/>
    <p:sldId id="394" r:id="rId61"/>
    <p:sldId id="395" r:id="rId62"/>
    <p:sldId id="396" r:id="rId63"/>
    <p:sldId id="397" r:id="rId64"/>
    <p:sldId id="402" r:id="rId65"/>
    <p:sldId id="411" r:id="rId66"/>
    <p:sldId id="405" r:id="rId67"/>
    <p:sldId id="406" r:id="rId68"/>
    <p:sldId id="407" r:id="rId69"/>
    <p:sldId id="404" r:id="rId70"/>
    <p:sldId id="414" r:id="rId7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EC4A823-FB29-4D49-BBD9-7AE11A925804}">
          <p14:sldIdLst>
            <p14:sldId id="257"/>
            <p14:sldId id="319"/>
            <p14:sldId id="320"/>
            <p14:sldId id="259"/>
            <p14:sldId id="323"/>
            <p14:sldId id="262"/>
            <p14:sldId id="324"/>
            <p14:sldId id="327"/>
            <p14:sldId id="325"/>
            <p14:sldId id="264"/>
            <p14:sldId id="328"/>
            <p14:sldId id="267"/>
            <p14:sldId id="268"/>
            <p14:sldId id="270"/>
            <p14:sldId id="271"/>
            <p14:sldId id="272"/>
            <p14:sldId id="273"/>
            <p14:sldId id="329"/>
            <p14:sldId id="276"/>
            <p14:sldId id="398"/>
            <p14:sldId id="279"/>
            <p14:sldId id="280"/>
            <p14:sldId id="334"/>
            <p14:sldId id="282"/>
            <p14:sldId id="335"/>
            <p14:sldId id="336"/>
            <p14:sldId id="339"/>
            <p14:sldId id="400"/>
            <p14:sldId id="401"/>
            <p14:sldId id="413"/>
            <p14:sldId id="340"/>
            <p14:sldId id="408"/>
            <p14:sldId id="341"/>
            <p14:sldId id="291"/>
            <p14:sldId id="348"/>
            <p14:sldId id="349"/>
            <p14:sldId id="410"/>
            <p14:sldId id="345"/>
            <p14:sldId id="346"/>
            <p14:sldId id="344"/>
            <p14:sldId id="352"/>
            <p14:sldId id="380"/>
            <p14:sldId id="381"/>
            <p14:sldId id="382"/>
            <p14:sldId id="383"/>
            <p14:sldId id="384"/>
            <p14:sldId id="385"/>
            <p14:sldId id="386"/>
            <p14:sldId id="387"/>
            <p14:sldId id="388"/>
            <p14:sldId id="389"/>
            <p14:sldId id="409"/>
            <p14:sldId id="412"/>
            <p14:sldId id="392"/>
            <p14:sldId id="399"/>
            <p14:sldId id="393"/>
            <p14:sldId id="394"/>
            <p14:sldId id="395"/>
            <p14:sldId id="396"/>
            <p14:sldId id="397"/>
            <p14:sldId id="402"/>
            <p14:sldId id="411"/>
            <p14:sldId id="405"/>
            <p14:sldId id="406"/>
            <p14:sldId id="407"/>
            <p14:sldId id="404"/>
            <p14:sldId id="41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E6EA74-C6A5-AB9E-8C37-0BA06475DFB7}" v="1" dt="2026-09-29T20:43:28.1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viewProps" Target="viewProp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microsoft.com/office/2015/10/relationships/revisionInfo" Target="revisionInfo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tableStyles" Target="tableStyles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9036F9-C1B7-754D-84B4-E10FAAAB2A28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6FFE73-487A-6E4F-A170-9F501B811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8852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07C9EC-6344-46D0-ADA9-294A7D3D533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302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EC2510-E658-4176-9BC5-3335DBD0E44C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4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993880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IMS</a:t>
            </a:r>
            <a:r>
              <a:rPr lang="en-US" baseline="0"/>
              <a:t> </a:t>
            </a:r>
            <a:r>
              <a:rPr lang="en-US"/>
              <a:t>apparently used in the moonshot (http://www-01.ibm.com/software/data/</a:t>
            </a:r>
            <a:r>
              <a:rPr lang="en-US" err="1"/>
              <a:t>ims</a:t>
            </a:r>
            <a:r>
              <a:rPr lang="en-US"/>
              <a:t>/</a:t>
            </a:r>
            <a:r>
              <a:rPr lang="en-US" err="1"/>
              <a:t>benchmark.html</a:t>
            </a:r>
            <a:r>
              <a:rPr lang="en-US"/>
              <a:t>) and still boasts high #s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6FFE73-487A-6E4F-A170-9F501B81102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836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EC2510-E658-4176-9BC5-3335DBD0E44C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6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735019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B3FC90D-F5FD-4EC8-9A20-FA926EA35948}" type="slidenum">
              <a:rPr lang="en-US"/>
              <a:pPr/>
              <a:t>7</a:t>
            </a:fld>
            <a:endParaRPr lang="en-US"/>
          </a:p>
        </p:txBody>
      </p:sp>
      <p:sp>
        <p:nvSpPr>
          <p:cNvPr id="203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3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899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B3FC90D-F5FD-4EC8-9A20-FA926EA35948}" type="slidenum">
              <a:rPr lang="en-US"/>
              <a:pPr/>
              <a:t>8</a:t>
            </a:fld>
            <a:endParaRPr lang="en-US"/>
          </a:p>
        </p:txBody>
      </p:sp>
      <p:sp>
        <p:nvSpPr>
          <p:cNvPr id="203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3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7654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B3FC90D-F5FD-4EC8-9A20-FA926EA35948}" type="slidenum">
              <a:rPr lang="en-US"/>
              <a:pPr/>
              <a:t>9</a:t>
            </a:fld>
            <a:endParaRPr lang="en-US"/>
          </a:p>
        </p:txBody>
      </p:sp>
      <p:sp>
        <p:nvSpPr>
          <p:cNvPr id="203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3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9533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EC2510-E658-4176-9BC5-3335DBD0E44C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10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096270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EC2510-E658-4176-9BC5-3335DBD0E44C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11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360309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EC2510-E658-4176-9BC5-3335DBD0E44C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12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047164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07C9EC-6344-46D0-ADA9-294A7D3D533F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13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102440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EC2510-E658-4176-9BC5-3335DBD0E44C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14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91329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EC2510-E658-4176-9BC5-3335DBD0E44C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15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84747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1- (A,B,C, D, E)</a:t>
            </a:r>
          </a:p>
          <a:p>
            <a:r>
              <a:rPr lang="en-US"/>
              <a:t>2- R X S</a:t>
            </a:r>
          </a:p>
          <a:p>
            <a:r>
              <a:rPr lang="en-US"/>
              <a:t>3-R intersect 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6FFE73-487A-6E4F-A170-9F501B811025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1217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Add a slide on Explain and Explain </a:t>
            </a:r>
            <a:r>
              <a:rPr lang="en-US" err="1"/>
              <a:t>analyse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6FFE73-487A-6E4F-A170-9F501B811025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1214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07C9EC-6344-46D0-ADA9-294A7D3D533F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1028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6FFE73-487A-6E4F-A170-9F501B811025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3171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Example Outer join, example Anti join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6FFE73-487A-6E4F-A170-9F501B811025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4648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Example { Buyer, Product</a:t>
            </a:r>
          </a:p>
          <a:p>
            <a:r>
              <a:rPr lang="en-US"/>
              <a:t>'a1', 'b1'</a:t>
            </a:r>
          </a:p>
          <a:p>
            <a:r>
              <a:rPr lang="en-US"/>
              <a:t>'a1', 'b2'</a:t>
            </a:r>
          </a:p>
          <a:p>
            <a:r>
              <a:rPr lang="en-US"/>
              <a:t>'a2', 'b2'</a:t>
            </a:r>
          </a:p>
          <a:p>
            <a:r>
              <a:rPr lang="en-US"/>
              <a:t>'a2', 'b3'</a:t>
            </a:r>
          </a:p>
          <a:p>
            <a:r>
              <a:rPr lang="en-US"/>
              <a:t>'a3', 'b1'</a:t>
            </a:r>
          </a:p>
          <a:p>
            <a:r>
              <a:rPr lang="en-US"/>
              <a:t>'a3', 'b3'</a:t>
            </a:r>
          </a:p>
          <a:p>
            <a:r>
              <a:rPr lang="en-US"/>
              <a:t>'a4', 'b1'</a:t>
            </a:r>
          </a:p>
          <a:p>
            <a:r>
              <a:rPr lang="en-US"/>
              <a:t>'a4', 'b2'</a:t>
            </a:r>
          </a:p>
          <a:p>
            <a:r>
              <a:rPr lang="en-US"/>
              <a:t>'a4', 'b3'</a:t>
            </a:r>
          </a:p>
          <a:p>
            <a:r>
              <a:rPr lang="en-US"/>
              <a:t>} ÷ { Product</a:t>
            </a:r>
          </a:p>
          <a:p>
            <a:r>
              <a:rPr lang="en-US"/>
              <a:t>'b3'</a:t>
            </a:r>
          </a:p>
          <a:p>
            <a:r>
              <a:rPr lang="en-US"/>
              <a:t>'b2'</a:t>
            </a:r>
          </a:p>
          <a:p>
            <a:r>
              <a:rPr lang="en-US"/>
              <a:t>'b1'</a:t>
            </a:r>
          </a:p>
          <a:p>
            <a:r>
              <a:rPr lang="en-US"/>
              <a:t>}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6FFE73-487A-6E4F-A170-9F501B811025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1399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6FFE73-487A-6E4F-A170-9F501B811025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64615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6FFE73-487A-6E4F-A170-9F501B811025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9726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6FFE73-487A-6E4F-A170-9F501B811025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0021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E174D-DD61-FE43-8A53-ABAC8F6EC3E6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235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E174D-DD61-FE43-8A53-ABAC8F6EC3E6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723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E174D-DD61-FE43-8A53-ABAC8F6EC3E6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E174D-DD61-FE43-8A53-ABAC8F6EC3E6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079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E174D-DD61-FE43-8A53-ABAC8F6EC3E6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12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E174D-DD61-FE43-8A53-ABAC8F6EC3E6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181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E174D-DD61-FE43-8A53-ABAC8F6EC3E6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215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E174D-DD61-FE43-8A53-ABAC8F6EC3E6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124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E174D-DD61-FE43-8A53-ABAC8F6EC3E6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815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E174D-DD61-FE43-8A53-ABAC8F6EC3E6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907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E174D-DD61-FE43-8A53-ABAC8F6EC3E6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898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5E174D-DD61-FE43-8A53-ABAC8F6EC3E6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1C0F02-33DC-3A41-9F51-431B7FE03A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D90B07-AD28-5747-9B73-288F5357B022}"/>
              </a:ext>
            </a:extLst>
          </p:cNvPr>
          <p:cNvSpPr/>
          <p:nvPr userDrawn="1"/>
        </p:nvSpPr>
        <p:spPr>
          <a:xfrm>
            <a:off x="0" y="-49167"/>
            <a:ext cx="12192000" cy="26275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400" b="1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Fall 2024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FE4DAA-039B-ED4A-AA72-44818C475C05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11900"/>
            <a:ext cx="866825" cy="54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276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cm.org/classics/nov95/toc.html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hyperlink" Target="http://en.wikipedia.org/wiki/Communications_of_the_ACM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dbis-uibk.github.io/relax/calc/local/uibk/local/0" TargetMode="Externa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52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8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The Relational Model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603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The Relational Model &amp; Relational Algebra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959-B587-3B45-A9B3-C17F42F0930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54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you will learn about in this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175783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endParaRPr lang="en-US"/>
          </a:p>
          <a:p>
            <a:pPr marL="514350" indent="-514350">
              <a:buFont typeface="Arial"/>
              <a:buAutoNum type="arabicPeriod"/>
            </a:pPr>
            <a:r>
              <a:rPr lang="en-US">
                <a:latin typeface="+mj-lt"/>
              </a:rPr>
              <a:t>The Relational Model</a:t>
            </a:r>
          </a:p>
          <a:p>
            <a:pPr marL="514350" indent="-514350">
              <a:buFont typeface="Arial"/>
              <a:buAutoNum type="arabicPeriod"/>
            </a:pPr>
            <a:endParaRPr lang="en-US">
              <a:latin typeface="+mj-lt"/>
            </a:endParaRPr>
          </a:p>
          <a:p>
            <a:pPr marL="514350" indent="-514350">
              <a:buFont typeface="Arial"/>
              <a:buAutoNum type="arabicPeriod"/>
            </a:pPr>
            <a:r>
              <a:rPr lang="en-US">
                <a:latin typeface="+mj-lt"/>
              </a:rPr>
              <a:t>Relational Algebra: Basic Operators</a:t>
            </a:r>
          </a:p>
          <a:p>
            <a:pPr marL="514350" indent="-514350">
              <a:buFont typeface="Arial"/>
              <a:buAutoNum type="arabicPeriod"/>
            </a:pPr>
            <a:endParaRPr lang="en-US">
              <a:latin typeface="+mj-lt"/>
            </a:endParaRPr>
          </a:p>
          <a:p>
            <a:pPr marL="514350" indent="-514350">
              <a:buFont typeface="Arial"/>
              <a:buAutoNum type="arabicPeriod"/>
            </a:pPr>
            <a:r>
              <a:rPr lang="en-US">
                <a:latin typeface="+mj-lt"/>
              </a:rPr>
              <a:t>Execution</a:t>
            </a:r>
          </a:p>
          <a:p>
            <a:pPr marL="514350" indent="-514350">
              <a:buFont typeface="Arial"/>
              <a:buAutoNum type="arabicPeriod"/>
            </a:pPr>
            <a:endParaRPr lang="en-US">
              <a:latin typeface="+mj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2A6B5-0D7C-48A8-B49A-953CF10F77E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37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4000" y="1884137"/>
            <a:ext cx="9144000" cy="193899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4000">
                <a:solidFill>
                  <a:prstClr val="black"/>
                </a:solidFill>
                <a:latin typeface="+mj-lt"/>
              </a:rPr>
              <a:t>The Relational model is </a:t>
            </a:r>
            <a:r>
              <a:rPr lang="en-US" sz="4000" b="1">
                <a:solidFill>
                  <a:prstClr val="black"/>
                </a:solidFill>
                <a:latin typeface="+mj-lt"/>
              </a:rPr>
              <a:t>precise</a:t>
            </a:r>
            <a:r>
              <a:rPr lang="en-US" sz="4000">
                <a:solidFill>
                  <a:prstClr val="black"/>
                </a:solidFill>
                <a:latin typeface="+mj-lt"/>
              </a:rPr>
              <a:t>, </a:t>
            </a:r>
            <a:r>
              <a:rPr lang="en-US" sz="4000" b="1">
                <a:solidFill>
                  <a:prstClr val="black"/>
                </a:solidFill>
                <a:latin typeface="+mj-lt"/>
              </a:rPr>
              <a:t>implementable</a:t>
            </a:r>
            <a:r>
              <a:rPr lang="en-US" sz="4000">
                <a:solidFill>
                  <a:prstClr val="black"/>
                </a:solidFill>
                <a:latin typeface="+mj-lt"/>
              </a:rPr>
              <a:t>, and we can operate on it (query/update, etc.)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24000" y="4810650"/>
            <a:ext cx="9144000" cy="132343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4000">
                <a:solidFill>
                  <a:prstClr val="black"/>
                </a:solidFill>
                <a:latin typeface="+mj-lt"/>
              </a:rPr>
              <a:t>Database maps internally into this </a:t>
            </a:r>
          </a:p>
          <a:p>
            <a:pPr algn="ctr" defTabSz="457200"/>
            <a:r>
              <a:rPr lang="en-US" sz="4000" i="1">
                <a:solidFill>
                  <a:prstClr val="black"/>
                </a:solidFill>
                <a:latin typeface="+mj-lt"/>
              </a:rPr>
              <a:t>procedural language.</a:t>
            </a:r>
            <a:endParaRPr lang="en-US" sz="4000">
              <a:solidFill>
                <a:prstClr val="black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89967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Little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661842" cy="4351338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>
                <a:solidFill>
                  <a:prstClr val="black"/>
                </a:solidFill>
              </a:rPr>
              <a:t>Relational model due to Edgar “Ted” </a:t>
            </a:r>
            <a:r>
              <a:rPr lang="en-US" err="1">
                <a:solidFill>
                  <a:prstClr val="black"/>
                </a:solidFill>
              </a:rPr>
              <a:t>Codd</a:t>
            </a:r>
            <a:r>
              <a:rPr lang="en-US">
                <a:solidFill>
                  <a:prstClr val="black"/>
                </a:solidFill>
              </a:rPr>
              <a:t>, a mathematician at IBM in 1970</a:t>
            </a:r>
          </a:p>
          <a:p>
            <a:pPr lvl="1" defTabSz="457200"/>
            <a:r>
              <a:rPr lang="en-US">
                <a:solidFill>
                  <a:prstClr val="black"/>
                </a:solidFill>
                <a:hlinkClick r:id="rId3" tooltip="http://www.acm.org/classics/nov95/toc.html"/>
              </a:rPr>
              <a:t>A Relational Model of Data for Large Shared Data Banks</a:t>
            </a:r>
            <a:r>
              <a:rPr lang="en-US">
                <a:solidFill>
                  <a:prstClr val="black"/>
                </a:solidFill>
              </a:rPr>
              <a:t>". </a:t>
            </a:r>
            <a:r>
              <a:rPr lang="en-US" i="1">
                <a:solidFill>
                  <a:prstClr val="black"/>
                </a:solidFill>
                <a:hlinkClick r:id="rId4" tooltip="Communications of the ACM"/>
              </a:rPr>
              <a:t>Communications of the ACM</a:t>
            </a:r>
            <a:r>
              <a:rPr lang="en-US">
                <a:solidFill>
                  <a:prstClr val="black"/>
                </a:solidFill>
              </a:rPr>
              <a:t> </a:t>
            </a:r>
            <a:r>
              <a:rPr lang="en-US" b="1">
                <a:solidFill>
                  <a:prstClr val="black"/>
                </a:solidFill>
              </a:rPr>
              <a:t>13</a:t>
            </a:r>
            <a:r>
              <a:rPr lang="en-US">
                <a:solidFill>
                  <a:prstClr val="black"/>
                </a:solidFill>
              </a:rPr>
              <a:t> (6): 377–387</a:t>
            </a:r>
          </a:p>
          <a:p>
            <a:pPr lvl="1" defTabSz="457200"/>
            <a:endParaRPr lang="en-US">
              <a:solidFill>
                <a:prstClr val="black"/>
              </a:solidFill>
            </a:endParaRPr>
          </a:p>
          <a:p>
            <a:pPr defTabSz="457200"/>
            <a:endParaRPr lang="en-US">
              <a:solidFill>
                <a:prstClr val="black"/>
              </a:solidFill>
            </a:endParaRPr>
          </a:p>
          <a:p>
            <a:pPr defTabSz="457200"/>
            <a:r>
              <a:rPr lang="en-US">
                <a:solidFill>
                  <a:prstClr val="black"/>
                </a:solidFill>
              </a:rPr>
              <a:t>IBM didn’t want to use relational model (take money from IMS)</a:t>
            </a:r>
          </a:p>
          <a:p>
            <a:pPr lvl="1" defTabSz="457200"/>
            <a:r>
              <a:rPr lang="en-US" i="1">
                <a:solidFill>
                  <a:prstClr val="black"/>
                </a:solidFill>
              </a:rPr>
              <a:t>Apparently used in the moon landing…</a:t>
            </a:r>
          </a:p>
          <a:p>
            <a:pPr lvl="1" defTabSz="457200"/>
            <a:endParaRPr lang="en-US" i="1">
              <a:solidFill>
                <a:prstClr val="black"/>
              </a:solidFill>
            </a:endParaRPr>
          </a:p>
          <a:p>
            <a:pPr lvl="1"/>
            <a:r>
              <a:rPr lang="en-US">
                <a:solidFill>
                  <a:prstClr val="black"/>
                </a:solidFill>
                <a:ea typeface="+mn-lt"/>
                <a:cs typeface="+mn-lt"/>
              </a:rPr>
              <a:t>What Goes Around Comes Around... And Around https://db.cs.cmu.edu/papers/2024/whatgoesaround-sigmodrec2024.pdf</a:t>
            </a:r>
            <a:endParaRPr lang="en-US">
              <a:solidFill>
                <a:prstClr val="black"/>
              </a:solidFill>
            </a:endParaRPr>
          </a:p>
          <a:p>
            <a:pPr lvl="1"/>
            <a:endParaRPr lang="en-US"/>
          </a:p>
        </p:txBody>
      </p:sp>
      <p:pic>
        <p:nvPicPr>
          <p:cNvPr id="4" name="Picture 2" descr="File:Edgar F Codd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500042" y="1690688"/>
            <a:ext cx="1905000" cy="2257426"/>
          </a:xfrm>
          <a:prstGeom prst="rect">
            <a:avLst/>
          </a:prstGeom>
          <a:noFill/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0042" y="4382102"/>
            <a:ext cx="3786021" cy="21123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576693" y="1690688"/>
            <a:ext cx="2105555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defTabSz="457200"/>
            <a:r>
              <a:rPr lang="en-US" sz="2800">
                <a:solidFill>
                  <a:prstClr val="black"/>
                </a:solidFill>
                <a:latin typeface="+mj-lt"/>
              </a:rPr>
              <a:t>Won Turing award 1981</a:t>
            </a:r>
          </a:p>
        </p:txBody>
      </p:sp>
    </p:spTree>
    <p:extLst>
      <p:ext uri="{BB962C8B-B14F-4D97-AF65-F5344CB8AC3E}">
        <p14:creationId xmlns:p14="http://schemas.microsoft.com/office/powerpoint/2010/main" val="858684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Relational Model: Schemata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37025"/>
          </a:xfrm>
        </p:spPr>
        <p:txBody>
          <a:bodyPr/>
          <a:lstStyle/>
          <a:p>
            <a:r>
              <a:rPr lang="en-US"/>
              <a:t>Relational Schema:</a:t>
            </a:r>
          </a:p>
        </p:txBody>
      </p:sp>
      <p:sp>
        <p:nvSpPr>
          <p:cNvPr id="18" name="Rectangle 35"/>
          <p:cNvSpPr>
            <a:spLocks noChangeArrowheads="1"/>
          </p:cNvSpPr>
          <p:nvPr/>
        </p:nvSpPr>
        <p:spPr bwMode="auto">
          <a:xfrm>
            <a:off x="674255" y="2740466"/>
            <a:ext cx="10595998" cy="480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buFontTx/>
              <a:buNone/>
            </a:pPr>
            <a:r>
              <a:rPr lang="en-US" sz="280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Students(</a:t>
            </a:r>
            <a:r>
              <a:rPr lang="en-US" sz="280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sid</a:t>
            </a:r>
            <a:r>
              <a:rPr lang="en-US" sz="280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: </a:t>
            </a:r>
            <a:r>
              <a:rPr lang="en-US" sz="2800" i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string</a:t>
            </a:r>
            <a:r>
              <a:rPr lang="en-US" sz="280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, name: </a:t>
            </a:r>
            <a:r>
              <a:rPr lang="en-US" sz="2800" i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string</a:t>
            </a:r>
            <a:r>
              <a:rPr lang="en-US" sz="280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, </a:t>
            </a:r>
            <a:r>
              <a:rPr lang="en-US" sz="280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gpa</a:t>
            </a:r>
            <a:r>
              <a:rPr lang="en-US" sz="280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: </a:t>
            </a:r>
            <a:r>
              <a:rPr lang="en-US" sz="2800" i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float</a:t>
            </a:r>
            <a:r>
              <a:rPr lang="en-US" sz="280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87005" y="2620463"/>
            <a:ext cx="484995" cy="658905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8962696" y="3587799"/>
            <a:ext cx="1679027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 b="1" u="sng">
                <a:latin typeface="+mj-lt"/>
              </a:rPr>
              <a:t>Attributes</a:t>
            </a:r>
            <a:endParaRPr lang="en-US" sz="2800">
              <a:latin typeface="+mj-lt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776985" y="2651078"/>
            <a:ext cx="771600" cy="658905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7571267" y="2651078"/>
            <a:ext cx="676806" cy="658905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737951" y="2651078"/>
            <a:ext cx="905467" cy="630811"/>
          </a:xfrm>
          <a:prstGeom prst="roundRect">
            <a:avLst/>
          </a:prstGeom>
          <a:solidFill>
            <a:schemeClr val="accent4">
              <a:lumMod val="20000"/>
              <a:lumOff val="80000"/>
              <a:alpha val="5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4493001" y="3581579"/>
            <a:ext cx="3495784" cy="13849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 i="1"/>
              <a:t>String, float, </a:t>
            </a:r>
            <a:r>
              <a:rPr lang="en-US" sz="2800" i="1" err="1"/>
              <a:t>int</a:t>
            </a:r>
            <a:r>
              <a:rPr lang="en-US" sz="2800" i="1"/>
              <a:t>, etc. </a:t>
            </a:r>
            <a:r>
              <a:rPr lang="en-US" sz="2800"/>
              <a:t>are the </a:t>
            </a:r>
            <a:r>
              <a:rPr lang="en-US" sz="2800" b="1" u="sng"/>
              <a:t>domains</a:t>
            </a:r>
            <a:r>
              <a:rPr lang="en-US" sz="2800"/>
              <a:t> of the attributes</a:t>
            </a:r>
            <a:endParaRPr lang="en-US" sz="2800" i="1"/>
          </a:p>
        </p:txBody>
      </p:sp>
      <p:sp>
        <p:nvSpPr>
          <p:cNvPr id="28" name="Rounded Rectangle 27"/>
          <p:cNvSpPr/>
          <p:nvPr/>
        </p:nvSpPr>
        <p:spPr>
          <a:xfrm>
            <a:off x="6666100" y="2620463"/>
            <a:ext cx="771600" cy="630811"/>
          </a:xfrm>
          <a:prstGeom prst="roundRect">
            <a:avLst/>
          </a:prstGeom>
          <a:solidFill>
            <a:schemeClr val="accent4">
              <a:lumMod val="20000"/>
              <a:lumOff val="80000"/>
              <a:alpha val="5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ounded Rectangle 28"/>
          <p:cNvSpPr/>
          <p:nvPr/>
        </p:nvSpPr>
        <p:spPr>
          <a:xfrm>
            <a:off x="8381640" y="2648557"/>
            <a:ext cx="676807" cy="630811"/>
          </a:xfrm>
          <a:prstGeom prst="roundRect">
            <a:avLst/>
          </a:prstGeom>
          <a:solidFill>
            <a:schemeClr val="accent4">
              <a:lumMod val="20000"/>
              <a:lumOff val="80000"/>
              <a:alpha val="5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ounded Rectangle 29"/>
          <p:cNvSpPr/>
          <p:nvPr/>
        </p:nvSpPr>
        <p:spPr>
          <a:xfrm>
            <a:off x="2381712" y="2639201"/>
            <a:ext cx="1623234" cy="658905"/>
          </a:xfrm>
          <a:prstGeom prst="round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333703" y="3498413"/>
            <a:ext cx="2362200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 b="1">
                <a:latin typeface="+mj-lt"/>
              </a:rPr>
              <a:t>Relation name</a:t>
            </a:r>
          </a:p>
        </p:txBody>
      </p:sp>
    </p:spTree>
    <p:extLst>
      <p:ext uri="{BB962C8B-B14F-4D97-AF65-F5344CB8AC3E}">
        <p14:creationId xmlns:p14="http://schemas.microsoft.com/office/powerpoint/2010/main" val="137193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1" grpId="0" animBg="1"/>
      <p:bldP spid="22" grpId="0" animBg="1"/>
      <p:bldP spid="23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ECBCE-A4BA-4841-98AE-8E0EF7CDDA2A}" type="slidenum">
              <a:rPr lang="en-US"/>
              <a:pPr/>
              <a:t>7</a:t>
            </a:fld>
            <a:endParaRPr lang="en-US"/>
          </a:p>
        </p:txBody>
      </p:sp>
      <p:sp>
        <p:nvSpPr>
          <p:cNvPr id="141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Relational Model: Data</a:t>
            </a:r>
          </a:p>
        </p:txBody>
      </p:sp>
      <p:graphicFrame>
        <p:nvGraphicFramePr>
          <p:cNvPr id="141367" name="Group 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7749578"/>
              </p:ext>
            </p:extLst>
          </p:nvPr>
        </p:nvGraphicFramePr>
        <p:xfrm>
          <a:off x="3825716" y="2069649"/>
          <a:ext cx="4672854" cy="2436298"/>
        </p:xfrm>
        <a:graphic>
          <a:graphicData uri="http://schemas.openxmlformats.org/drawingml/2006/table">
            <a:tbl>
              <a:tblPr/>
              <a:tblGrid>
                <a:gridCol w="15576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76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76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331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sid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name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gpa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574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001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Bob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3.2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574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002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Joe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2.8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574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003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Mary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3.8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574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004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Alice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3.5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1368" name="Text Box 56"/>
          <p:cNvSpPr txBox="1">
            <a:spLocks noChangeArrowheads="1"/>
          </p:cNvSpPr>
          <p:nvPr/>
        </p:nvSpPr>
        <p:spPr bwMode="auto">
          <a:xfrm>
            <a:off x="3753998" y="1572080"/>
            <a:ext cx="11934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>
                <a:solidFill>
                  <a:schemeClr val="accent2"/>
                </a:solidFill>
              </a:rPr>
              <a:t>Student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4010" y="2164413"/>
            <a:ext cx="2843786" cy="22467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>
                <a:latin typeface="+mj-lt"/>
              </a:rPr>
              <a:t>An </a:t>
            </a:r>
            <a:r>
              <a:rPr lang="en-US" sz="2800" b="1" u="sng">
                <a:latin typeface="+mj-lt"/>
              </a:rPr>
              <a:t>attribute</a:t>
            </a:r>
            <a:r>
              <a:rPr lang="en-US" sz="2800">
                <a:latin typeface="+mj-lt"/>
              </a:rPr>
              <a:t> (or </a:t>
            </a:r>
            <a:r>
              <a:rPr lang="en-US" sz="2800" b="1" u="sng">
                <a:latin typeface="+mj-lt"/>
              </a:rPr>
              <a:t>column</a:t>
            </a:r>
            <a:r>
              <a:rPr lang="en-US" sz="2800">
                <a:latin typeface="+mj-lt"/>
              </a:rPr>
              <a:t>) is a typed data entry present in each tuple in the relation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09985" y="5128210"/>
            <a:ext cx="3104316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>
                <a:latin typeface="+mj-lt"/>
              </a:rPr>
              <a:t>The number of attributes is the </a:t>
            </a:r>
            <a:r>
              <a:rPr lang="en-US" sz="2400" b="1" u="sng">
                <a:latin typeface="+mj-lt"/>
              </a:rPr>
              <a:t>arity</a:t>
            </a:r>
            <a:r>
              <a:rPr lang="en-US" sz="2400" b="1">
                <a:latin typeface="+mj-lt"/>
              </a:rPr>
              <a:t> </a:t>
            </a:r>
            <a:r>
              <a:rPr lang="en-US" sz="2400">
                <a:latin typeface="+mj-lt"/>
              </a:rPr>
              <a:t>of the relation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53999" y="1978249"/>
            <a:ext cx="1646912" cy="2649070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Left Brace 3"/>
          <p:cNvSpPr/>
          <p:nvPr/>
        </p:nvSpPr>
        <p:spPr>
          <a:xfrm rot="16200000">
            <a:off x="5955952" y="2326307"/>
            <a:ext cx="333149" cy="497614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543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2" grpId="0" animBg="1"/>
      <p:bldP spid="23" grpId="0" animBg="1"/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ECBCE-A4BA-4841-98AE-8E0EF7CDDA2A}" type="slidenum">
              <a:rPr lang="en-US"/>
              <a:pPr/>
              <a:t>8</a:t>
            </a:fld>
            <a:endParaRPr lang="en-US"/>
          </a:p>
        </p:txBody>
      </p:sp>
      <p:sp>
        <p:nvSpPr>
          <p:cNvPr id="141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Relational Model: Data</a:t>
            </a:r>
          </a:p>
        </p:txBody>
      </p:sp>
      <p:graphicFrame>
        <p:nvGraphicFramePr>
          <p:cNvPr id="141367" name="Group 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7749578"/>
              </p:ext>
            </p:extLst>
          </p:nvPr>
        </p:nvGraphicFramePr>
        <p:xfrm>
          <a:off x="3825716" y="2069649"/>
          <a:ext cx="4672854" cy="2436298"/>
        </p:xfrm>
        <a:graphic>
          <a:graphicData uri="http://schemas.openxmlformats.org/drawingml/2006/table">
            <a:tbl>
              <a:tblPr/>
              <a:tblGrid>
                <a:gridCol w="15576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76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76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331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sid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name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gpa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574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001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Bob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3.2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574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002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Joe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2.8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574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003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Mary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3.8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574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004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Alice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3.5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1368" name="Text Box 56"/>
          <p:cNvSpPr txBox="1">
            <a:spLocks noChangeArrowheads="1"/>
          </p:cNvSpPr>
          <p:nvPr/>
        </p:nvSpPr>
        <p:spPr bwMode="auto">
          <a:xfrm>
            <a:off x="3753998" y="1572080"/>
            <a:ext cx="11934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>
                <a:solidFill>
                  <a:schemeClr val="accent2"/>
                </a:solidFill>
              </a:rPr>
              <a:t>Student</a:t>
            </a:r>
          </a:p>
        </p:txBody>
      </p:sp>
      <p:sp>
        <p:nvSpPr>
          <p:cNvPr id="4" name="Left Brace 3"/>
          <p:cNvSpPr/>
          <p:nvPr/>
        </p:nvSpPr>
        <p:spPr>
          <a:xfrm rot="10800000">
            <a:off x="8610600" y="2420323"/>
            <a:ext cx="394332" cy="220752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/>
          <p:cNvSpPr/>
          <p:nvPr/>
        </p:nvSpPr>
        <p:spPr>
          <a:xfrm>
            <a:off x="3774140" y="3922252"/>
            <a:ext cx="4836460" cy="705592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343241" y="4944630"/>
            <a:ext cx="5346925" cy="13849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>
                <a:latin typeface="+mj-lt"/>
              </a:rPr>
              <a:t>A </a:t>
            </a:r>
            <a:r>
              <a:rPr lang="en-US" sz="2800" b="1" u="sng">
                <a:latin typeface="+mj-lt"/>
              </a:rPr>
              <a:t>tuple</a:t>
            </a:r>
            <a:r>
              <a:rPr lang="en-US" sz="2800">
                <a:latin typeface="+mj-lt"/>
              </a:rPr>
              <a:t> or </a:t>
            </a:r>
            <a:r>
              <a:rPr lang="en-US" sz="2800" b="1" u="sng">
                <a:latin typeface="+mj-lt"/>
              </a:rPr>
              <a:t>row</a:t>
            </a:r>
            <a:r>
              <a:rPr lang="en-US" sz="2800">
                <a:latin typeface="+mj-lt"/>
              </a:rPr>
              <a:t> (or </a:t>
            </a:r>
            <a:r>
              <a:rPr lang="en-US" sz="2800" i="1">
                <a:latin typeface="+mj-lt"/>
              </a:rPr>
              <a:t>record) </a:t>
            </a:r>
            <a:r>
              <a:rPr lang="en-US" sz="2800">
                <a:latin typeface="+mj-lt"/>
              </a:rPr>
              <a:t>is a single entry in the table having the attributes specified by the schema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45947" y="2739253"/>
            <a:ext cx="2007853" cy="15696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>
                <a:latin typeface="+mj-lt"/>
              </a:rPr>
              <a:t>The number of tuples is the </a:t>
            </a:r>
            <a:r>
              <a:rPr lang="en-US" sz="2400" b="1" u="sng">
                <a:latin typeface="+mj-lt"/>
              </a:rPr>
              <a:t>cardinality</a:t>
            </a:r>
            <a:r>
              <a:rPr lang="en-US" sz="2400">
                <a:latin typeface="+mj-lt"/>
              </a:rPr>
              <a:t> of the relation</a:t>
            </a:r>
          </a:p>
        </p:txBody>
      </p:sp>
    </p:spTree>
    <p:extLst>
      <p:ext uri="{BB962C8B-B14F-4D97-AF65-F5344CB8AC3E}">
        <p14:creationId xmlns:p14="http://schemas.microsoft.com/office/powerpoint/2010/main" val="1803428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3" grpId="0" animBg="1"/>
      <p:bldP spid="14" grpId="0" animBg="1"/>
      <p:bldP spid="1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ECBCE-A4BA-4841-98AE-8E0EF7CDDA2A}" type="slidenum">
              <a:rPr lang="en-US"/>
              <a:pPr/>
              <a:t>9</a:t>
            </a:fld>
            <a:endParaRPr lang="en-US"/>
          </a:p>
        </p:txBody>
      </p:sp>
      <p:sp>
        <p:nvSpPr>
          <p:cNvPr id="141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Relational Model: Data</a:t>
            </a:r>
          </a:p>
        </p:txBody>
      </p:sp>
      <p:sp>
        <p:nvSpPr>
          <p:cNvPr id="141368" name="Text Box 56"/>
          <p:cNvSpPr txBox="1">
            <a:spLocks noChangeArrowheads="1"/>
          </p:cNvSpPr>
          <p:nvPr/>
        </p:nvSpPr>
        <p:spPr bwMode="auto">
          <a:xfrm>
            <a:off x="3825716" y="1649336"/>
            <a:ext cx="11934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>
                <a:solidFill>
                  <a:schemeClr val="accent2"/>
                </a:solidFill>
              </a:rPr>
              <a:t>Student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89233" y="5249379"/>
            <a:ext cx="6345820" cy="10772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3200">
                <a:latin typeface="+mj-lt"/>
              </a:rPr>
              <a:t>A </a:t>
            </a:r>
            <a:r>
              <a:rPr lang="en-US" sz="3200" b="1" u="sng">
                <a:latin typeface="+mj-lt"/>
              </a:rPr>
              <a:t>relational instance</a:t>
            </a:r>
            <a:r>
              <a:rPr lang="en-US" sz="3200">
                <a:latin typeface="+mj-lt"/>
              </a:rPr>
              <a:t> is a </a:t>
            </a:r>
            <a:r>
              <a:rPr lang="en-US" sz="3200" b="1" i="1">
                <a:latin typeface="+mj-lt"/>
              </a:rPr>
              <a:t>set</a:t>
            </a:r>
            <a:r>
              <a:rPr lang="en-US" sz="3200">
                <a:latin typeface="+mj-lt"/>
              </a:rPr>
              <a:t> of tuples all conforming to the same </a:t>
            </a:r>
            <a:r>
              <a:rPr lang="en-US" sz="3200" i="1">
                <a:latin typeface="+mj-lt"/>
              </a:rPr>
              <a:t>schema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2561" y="2144850"/>
            <a:ext cx="2678422" cy="15696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>
                <a:latin typeface="+mj-lt"/>
              </a:rPr>
              <a:t>Recall: In practice DBMSs relax the set requirement, and use </a:t>
            </a:r>
            <a:r>
              <a:rPr lang="en-US" sz="2400" err="1">
                <a:latin typeface="+mj-lt"/>
              </a:rPr>
              <a:t>multisets</a:t>
            </a:r>
            <a:r>
              <a:rPr lang="en-US" sz="2400">
                <a:latin typeface="+mj-lt"/>
              </a:rPr>
              <a:t>.  </a:t>
            </a:r>
          </a:p>
        </p:txBody>
      </p:sp>
      <p:graphicFrame>
        <p:nvGraphicFramePr>
          <p:cNvPr id="18" name="Group 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3558121"/>
              </p:ext>
            </p:extLst>
          </p:nvPr>
        </p:nvGraphicFramePr>
        <p:xfrm>
          <a:off x="3825716" y="2069649"/>
          <a:ext cx="4672854" cy="2436298"/>
        </p:xfrm>
        <a:graphic>
          <a:graphicData uri="http://schemas.openxmlformats.org/drawingml/2006/table">
            <a:tbl>
              <a:tblPr/>
              <a:tblGrid>
                <a:gridCol w="15576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76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76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331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sid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name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gpa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574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001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Bob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3.2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574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002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Joe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2.8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574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003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Mary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3.8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574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004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Alice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3.5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3638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93055"/>
            <a:ext cx="9372600" cy="4333110"/>
          </a:xfrm>
        </p:spPr>
        <p:txBody>
          <a:bodyPr/>
          <a:lstStyle/>
          <a:p>
            <a:r>
              <a:rPr lang="en-US"/>
              <a:t>A </a:t>
            </a:r>
            <a:r>
              <a:rPr lang="en-US" i="1" u="sng"/>
              <a:t>relational schema</a:t>
            </a:r>
            <a:r>
              <a:rPr lang="en-US"/>
              <a:t> describes the data that is contained in a </a:t>
            </a:r>
            <a:r>
              <a:rPr lang="en-US" i="1" u="sng"/>
              <a:t>relational instance</a:t>
            </a:r>
          </a:p>
          <a:p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 Reiterate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988" y="2989520"/>
            <a:ext cx="8534400" cy="9541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defTabSz="457200"/>
            <a:r>
              <a:rPr lang="en-US" sz="2800">
                <a:solidFill>
                  <a:prstClr val="black"/>
                </a:solidFill>
                <a:latin typeface="+mj-lt"/>
              </a:rPr>
              <a:t>Let R(f</a:t>
            </a:r>
            <a:r>
              <a:rPr lang="en-US" sz="2800" baseline="-25000">
                <a:solidFill>
                  <a:prstClr val="black"/>
                </a:solidFill>
                <a:latin typeface="+mj-lt"/>
              </a:rPr>
              <a:t>1</a:t>
            </a:r>
            <a:r>
              <a:rPr lang="en-US" sz="2800">
                <a:solidFill>
                  <a:prstClr val="black"/>
                </a:solidFill>
                <a:latin typeface="+mj-lt"/>
              </a:rPr>
              <a:t>:Dom</a:t>
            </a:r>
            <a:r>
              <a:rPr lang="en-US" sz="2800" baseline="-25000">
                <a:solidFill>
                  <a:prstClr val="black"/>
                </a:solidFill>
                <a:latin typeface="+mj-lt"/>
              </a:rPr>
              <a:t>1</a:t>
            </a:r>
            <a:r>
              <a:rPr lang="en-US" sz="2800">
                <a:solidFill>
                  <a:prstClr val="black"/>
                </a:solidFill>
                <a:latin typeface="+mj-lt"/>
              </a:rPr>
              <a:t>,…,</a:t>
            </a:r>
            <a:r>
              <a:rPr lang="en-US" sz="2800" err="1">
                <a:solidFill>
                  <a:prstClr val="black"/>
                </a:solidFill>
                <a:latin typeface="+mj-lt"/>
              </a:rPr>
              <a:t>f</a:t>
            </a:r>
            <a:r>
              <a:rPr lang="en-US" sz="2800" baseline="-25000" err="1">
                <a:solidFill>
                  <a:prstClr val="black"/>
                </a:solidFill>
                <a:latin typeface="+mj-lt"/>
              </a:rPr>
              <a:t>m</a:t>
            </a:r>
            <a:r>
              <a:rPr lang="en-US" sz="2800" err="1">
                <a:solidFill>
                  <a:prstClr val="black"/>
                </a:solidFill>
                <a:latin typeface="+mj-lt"/>
              </a:rPr>
              <a:t>:Dom</a:t>
            </a:r>
            <a:r>
              <a:rPr lang="en-US" sz="2800" baseline="-25000" err="1">
                <a:solidFill>
                  <a:prstClr val="black"/>
                </a:solidFill>
                <a:latin typeface="+mj-lt"/>
              </a:rPr>
              <a:t>m</a:t>
            </a:r>
            <a:r>
              <a:rPr lang="en-US" sz="2800">
                <a:solidFill>
                  <a:prstClr val="black"/>
                </a:solidFill>
                <a:latin typeface="+mj-lt"/>
              </a:rPr>
              <a:t>) be a </a:t>
            </a:r>
            <a:r>
              <a:rPr lang="en-US" sz="2800" i="1" u="sng">
                <a:solidFill>
                  <a:prstClr val="black"/>
                </a:solidFill>
                <a:latin typeface="+mj-lt"/>
              </a:rPr>
              <a:t>relational schema</a:t>
            </a:r>
            <a:r>
              <a:rPr lang="en-US" sz="2800" i="1">
                <a:solidFill>
                  <a:prstClr val="black"/>
                </a:solidFill>
                <a:latin typeface="+mj-lt"/>
              </a:rPr>
              <a:t> </a:t>
            </a:r>
            <a:r>
              <a:rPr lang="en-US" sz="2800">
                <a:solidFill>
                  <a:prstClr val="black"/>
                </a:solidFill>
                <a:latin typeface="+mj-lt"/>
              </a:rPr>
              <a:t>then, </a:t>
            </a:r>
          </a:p>
          <a:p>
            <a:pPr defTabSz="457200"/>
            <a:r>
              <a:rPr lang="en-US" sz="2800">
                <a:solidFill>
                  <a:prstClr val="black"/>
                </a:solidFill>
                <a:latin typeface="+mj-lt"/>
              </a:rPr>
              <a:t>an </a:t>
            </a:r>
            <a:r>
              <a:rPr lang="en-US" sz="2800" i="1" u="sng">
                <a:solidFill>
                  <a:prstClr val="black"/>
                </a:solidFill>
                <a:latin typeface="+mj-lt"/>
              </a:rPr>
              <a:t>instance </a:t>
            </a:r>
            <a:r>
              <a:rPr lang="en-US" sz="2800">
                <a:solidFill>
                  <a:prstClr val="black"/>
                </a:solidFill>
                <a:latin typeface="+mj-lt"/>
              </a:rPr>
              <a:t>of R is a subset of </a:t>
            </a:r>
            <a:r>
              <a:rPr lang="en-US" sz="2800">
                <a:solidFill>
                  <a:prstClr val="black"/>
                </a:solidFill>
                <a:latin typeface="+mj-lt"/>
                <a:sym typeface="Symbol"/>
              </a:rPr>
              <a:t>Dom</a:t>
            </a:r>
            <a:r>
              <a:rPr lang="en-US" sz="2800" baseline="-25000">
                <a:solidFill>
                  <a:prstClr val="black"/>
                </a:solidFill>
                <a:latin typeface="+mj-lt"/>
                <a:sym typeface="Symbol"/>
              </a:rPr>
              <a:t>1</a:t>
            </a:r>
            <a:r>
              <a:rPr lang="en-US" sz="2800">
                <a:solidFill>
                  <a:prstClr val="black"/>
                </a:solidFill>
                <a:latin typeface="+mj-lt"/>
                <a:sym typeface="Symbol"/>
              </a:rPr>
              <a:t> x Dom</a:t>
            </a:r>
            <a:r>
              <a:rPr lang="en-US" sz="2800" baseline="-25000">
                <a:solidFill>
                  <a:prstClr val="black"/>
                </a:solidFill>
                <a:latin typeface="+mj-lt"/>
                <a:sym typeface="Symbol"/>
              </a:rPr>
              <a:t>2</a:t>
            </a:r>
            <a:r>
              <a:rPr lang="en-US" sz="2800">
                <a:solidFill>
                  <a:prstClr val="black"/>
                </a:solidFill>
                <a:latin typeface="+mj-lt"/>
                <a:sym typeface="Symbol"/>
              </a:rPr>
              <a:t> x … x </a:t>
            </a:r>
            <a:r>
              <a:rPr lang="en-US" sz="2800" err="1">
                <a:solidFill>
                  <a:prstClr val="black"/>
                </a:solidFill>
                <a:latin typeface="+mj-lt"/>
                <a:sym typeface="Symbol"/>
              </a:rPr>
              <a:t>Dom</a:t>
            </a:r>
            <a:r>
              <a:rPr lang="en-US" sz="2800" baseline="-25000" err="1">
                <a:solidFill>
                  <a:prstClr val="black"/>
                </a:solidFill>
                <a:latin typeface="+mj-lt"/>
                <a:sym typeface="Symbol"/>
              </a:rPr>
              <a:t>n</a:t>
            </a:r>
            <a:endParaRPr lang="en-US" sz="2800" baseline="-25000">
              <a:solidFill>
                <a:prstClr val="black"/>
              </a:solidFill>
              <a:latin typeface="+mj-lt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42988" y="4400297"/>
            <a:ext cx="9986962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defTabSz="457200"/>
            <a:r>
              <a:rPr lang="en-US" sz="2800">
                <a:solidFill>
                  <a:prstClr val="black"/>
                </a:solidFill>
                <a:latin typeface="+mj-lt"/>
              </a:rPr>
              <a:t>In this way, a </a:t>
            </a:r>
            <a:r>
              <a:rPr lang="en-US" sz="2800" i="1" u="sng">
                <a:solidFill>
                  <a:prstClr val="black"/>
                </a:solidFill>
                <a:latin typeface="+mj-lt"/>
              </a:rPr>
              <a:t>relational schema</a:t>
            </a:r>
            <a:r>
              <a:rPr lang="en-US" sz="2800" i="1">
                <a:solidFill>
                  <a:prstClr val="black"/>
                </a:solidFill>
                <a:latin typeface="+mj-lt"/>
              </a:rPr>
              <a:t> </a:t>
            </a:r>
            <a:r>
              <a:rPr lang="en-US" sz="2800">
                <a:solidFill>
                  <a:prstClr val="black"/>
                </a:solidFill>
                <a:latin typeface="+mj-lt"/>
              </a:rPr>
              <a:t>R is a </a:t>
            </a:r>
            <a:r>
              <a:rPr lang="en-US" sz="2800" b="1">
                <a:solidFill>
                  <a:prstClr val="black"/>
                </a:solidFill>
                <a:latin typeface="+mj-lt"/>
              </a:rPr>
              <a:t>total function from attribute </a:t>
            </a:r>
            <a:r>
              <a:rPr lang="en-US" sz="2800" b="1" i="1">
                <a:solidFill>
                  <a:prstClr val="black"/>
                </a:solidFill>
                <a:latin typeface="+mj-lt"/>
              </a:rPr>
              <a:t>names</a:t>
            </a:r>
            <a:r>
              <a:rPr lang="en-US" sz="2800" b="1">
                <a:solidFill>
                  <a:prstClr val="black"/>
                </a:solidFill>
                <a:latin typeface="+mj-lt"/>
              </a:rPr>
              <a:t> to types</a:t>
            </a:r>
            <a:endParaRPr lang="en-US" sz="2800" baseline="-25000">
              <a:solidFill>
                <a:prstClr val="black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32797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93055"/>
            <a:ext cx="9372600" cy="4333110"/>
          </a:xfrm>
        </p:spPr>
        <p:txBody>
          <a:bodyPr/>
          <a:lstStyle/>
          <a:p>
            <a:r>
              <a:rPr lang="en-US"/>
              <a:t>A </a:t>
            </a:r>
            <a:r>
              <a:rPr lang="en-US" i="1" u="sng"/>
              <a:t>relational schema</a:t>
            </a:r>
            <a:r>
              <a:rPr lang="en-US"/>
              <a:t> describes the data that is contained in a </a:t>
            </a:r>
            <a:r>
              <a:rPr lang="en-US" i="1" u="sng"/>
              <a:t>relational instance</a:t>
            </a:r>
          </a:p>
          <a:p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One More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988" y="2989520"/>
            <a:ext cx="5157787" cy="9541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>
                <a:latin typeface="+mj-lt"/>
              </a:rPr>
              <a:t>A relation R of </a:t>
            </a:r>
            <a:r>
              <a:rPr lang="en-US" sz="2800" err="1">
                <a:latin typeface="+mj-lt"/>
              </a:rPr>
              <a:t>arity</a:t>
            </a:r>
            <a:r>
              <a:rPr lang="en-US" sz="2800">
                <a:latin typeface="+mj-lt"/>
              </a:rPr>
              <a:t> </a:t>
            </a:r>
            <a:r>
              <a:rPr lang="en-US" sz="2800" i="1">
                <a:latin typeface="+mj-lt"/>
              </a:rPr>
              <a:t>t</a:t>
            </a:r>
            <a:r>
              <a:rPr lang="en-US" sz="2800">
                <a:latin typeface="+mj-lt"/>
              </a:rPr>
              <a:t> is a function: R : Dom</a:t>
            </a:r>
            <a:r>
              <a:rPr lang="en-US" sz="2800" baseline="-25000">
                <a:latin typeface="+mj-lt"/>
              </a:rPr>
              <a:t>1</a:t>
            </a:r>
            <a:r>
              <a:rPr lang="en-US" sz="2800">
                <a:latin typeface="+mj-lt"/>
              </a:rPr>
              <a:t> x … x </a:t>
            </a:r>
            <a:r>
              <a:rPr lang="en-US" sz="2800" err="1">
                <a:latin typeface="+mj-lt"/>
              </a:rPr>
              <a:t>Dom</a:t>
            </a:r>
            <a:r>
              <a:rPr lang="en-US" sz="2800" baseline="-25000" err="1">
                <a:latin typeface="+mj-lt"/>
              </a:rPr>
              <a:t>t</a:t>
            </a:r>
            <a:r>
              <a:rPr lang="en-US" sz="2800" baseline="-25000">
                <a:latin typeface="+mj-lt"/>
              </a:rPr>
              <a:t> </a:t>
            </a:r>
            <a:r>
              <a:rPr lang="en-US" sz="2800">
                <a:latin typeface="+mj-lt"/>
              </a:rPr>
              <a:t> </a:t>
            </a:r>
            <a:r>
              <a:rPr lang="en-US" sz="2800">
                <a:latin typeface="+mj-lt"/>
                <a:sym typeface="Wingdings" pitchFamily="2" charset="2"/>
              </a:rPr>
              <a:t> {0,1}</a:t>
            </a:r>
            <a:endParaRPr lang="en-US" sz="2800" baseline="-25000">
              <a:latin typeface="+mj-lt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42988" y="4311621"/>
            <a:ext cx="8372475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defTabSz="457200"/>
            <a:r>
              <a:rPr lang="en-US" sz="2800">
                <a:solidFill>
                  <a:prstClr val="black"/>
                </a:solidFill>
                <a:latin typeface="+mj-lt"/>
              </a:rPr>
              <a:t>Then, the schema is simply the </a:t>
            </a:r>
            <a:r>
              <a:rPr lang="en-US" sz="2800" i="1">
                <a:solidFill>
                  <a:prstClr val="black"/>
                </a:solidFill>
                <a:latin typeface="+mj-lt"/>
              </a:rPr>
              <a:t>signature </a:t>
            </a:r>
            <a:r>
              <a:rPr lang="en-US" sz="2800">
                <a:solidFill>
                  <a:prstClr val="black"/>
                </a:solidFill>
                <a:latin typeface="+mj-lt"/>
              </a:rPr>
              <a:t>of the function</a:t>
            </a:r>
            <a:endParaRPr lang="en-US" sz="2800" baseline="-25000">
              <a:solidFill>
                <a:prstClr val="black"/>
              </a:solidFill>
              <a:latin typeface="+mj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81813" y="2989520"/>
            <a:ext cx="4471987" cy="8309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defTabSz="457200"/>
            <a:r>
              <a:rPr lang="en-US" sz="2400" i="1">
                <a:solidFill>
                  <a:prstClr val="black"/>
                </a:solidFill>
                <a:latin typeface="+mj-lt"/>
              </a:rPr>
              <a:t>I.e. returns whether or not a tuple of matching types is a member of it</a:t>
            </a:r>
            <a:endParaRPr lang="en-US" sz="2400" i="1" baseline="-25000">
              <a:solidFill>
                <a:prstClr val="black"/>
              </a:solidFill>
              <a:latin typeface="+mj-l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31169" y="5242459"/>
            <a:ext cx="8729662" cy="13849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2800">
                <a:solidFill>
                  <a:prstClr val="black"/>
                </a:solidFill>
                <a:latin typeface="+mj-lt"/>
              </a:rPr>
              <a:t>Note here that order matters, attribute name doesn’t…</a:t>
            </a:r>
          </a:p>
          <a:p>
            <a:pPr algn="ctr" defTabSz="457200"/>
            <a:r>
              <a:rPr lang="en-US" sz="2800">
                <a:solidFill>
                  <a:prstClr val="black"/>
                </a:solidFill>
                <a:latin typeface="+mj-lt"/>
              </a:rPr>
              <a:t>We’ll (mostly) work with the other model (last slide) in which </a:t>
            </a:r>
            <a:r>
              <a:rPr lang="en-US" sz="2800" b="1">
                <a:solidFill>
                  <a:prstClr val="black"/>
                </a:solidFill>
                <a:latin typeface="+mj-lt"/>
              </a:rPr>
              <a:t>attribute name matters, order doesn’t!</a:t>
            </a:r>
          </a:p>
        </p:txBody>
      </p:sp>
    </p:spTree>
    <p:extLst>
      <p:ext uri="{BB962C8B-B14F-4D97-AF65-F5344CB8AC3E}">
        <p14:creationId xmlns:p14="http://schemas.microsoft.com/office/powerpoint/2010/main" val="1280384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0" grpId="0" animBg="1"/>
      <p:bldP spid="9" grpId="0" animBg="1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relational 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 </a:t>
            </a:r>
            <a:r>
              <a:rPr lang="en-US" i="1" u="sng"/>
              <a:t>relational database schema</a:t>
            </a:r>
            <a:r>
              <a:rPr lang="en-US"/>
              <a:t> is a set of relational schemata, one for each relation</a:t>
            </a:r>
          </a:p>
          <a:p>
            <a:endParaRPr lang="en-US"/>
          </a:p>
          <a:p>
            <a:r>
              <a:rPr lang="en-US"/>
              <a:t>A </a:t>
            </a:r>
            <a:r>
              <a:rPr lang="en-US" i="1" u="sng"/>
              <a:t>relational database instance</a:t>
            </a:r>
            <a:r>
              <a:rPr lang="en-US"/>
              <a:t> is a set of relational instances, one for each relation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4943" y="4567456"/>
            <a:ext cx="10402114" cy="13849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defTabSz="457200"/>
            <a:r>
              <a:rPr lang="en-US" sz="2800" u="sng">
                <a:solidFill>
                  <a:prstClr val="black"/>
                </a:solidFill>
                <a:latin typeface="+mj-lt"/>
              </a:rPr>
              <a:t>Two conventions</a:t>
            </a:r>
            <a:r>
              <a:rPr lang="en-US" sz="2800">
                <a:solidFill>
                  <a:prstClr val="black"/>
                </a:solidFill>
                <a:latin typeface="+mj-lt"/>
              </a:rPr>
              <a:t>: </a:t>
            </a:r>
          </a:p>
          <a:p>
            <a:pPr marL="342900" indent="-342900" defTabSz="457200">
              <a:buFontTx/>
              <a:buAutoNum type="arabicPeriod"/>
            </a:pPr>
            <a:r>
              <a:rPr lang="en-US" sz="2800">
                <a:solidFill>
                  <a:prstClr val="black"/>
                </a:solidFill>
                <a:latin typeface="+mj-lt"/>
              </a:rPr>
              <a:t>We call relational database instances as simply </a:t>
            </a:r>
            <a:r>
              <a:rPr lang="en-US" sz="2800" b="1" i="1">
                <a:solidFill>
                  <a:prstClr val="black"/>
                </a:solidFill>
                <a:latin typeface="+mj-lt"/>
              </a:rPr>
              <a:t>databases</a:t>
            </a:r>
          </a:p>
          <a:p>
            <a:pPr marL="342900" indent="-342900" defTabSz="457200">
              <a:buFontTx/>
              <a:buAutoNum type="arabicPeriod"/>
            </a:pPr>
            <a:r>
              <a:rPr lang="en-US" sz="2800">
                <a:solidFill>
                  <a:prstClr val="black"/>
                </a:solidFill>
                <a:latin typeface="+mj-lt"/>
              </a:rPr>
              <a:t>We assume all instances are valid, i.e., satisfy the </a:t>
            </a:r>
            <a:r>
              <a:rPr lang="en-US" sz="2800" i="1" u="sng">
                <a:solidFill>
                  <a:prstClr val="black"/>
                </a:solidFill>
                <a:latin typeface="+mj-lt"/>
              </a:rPr>
              <a:t>domain constraints</a:t>
            </a:r>
          </a:p>
        </p:txBody>
      </p:sp>
    </p:spTree>
    <p:extLst>
      <p:ext uri="{BB962C8B-B14F-4D97-AF65-F5344CB8AC3E}">
        <p14:creationId xmlns:p14="http://schemas.microsoft.com/office/powerpoint/2010/main" val="394493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524000" y="3733800"/>
            <a:ext cx="9144000" cy="3124200"/>
          </a:xfrm>
          <a:prstGeom prst="rect">
            <a:avLst/>
          </a:prstGeom>
          <a:solidFill>
            <a:schemeClr val="accent1">
              <a:alpha val="2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Remember the CMS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/>
              <a:t>Relation DB Schema</a:t>
            </a:r>
          </a:p>
          <a:p>
            <a:pPr lvl="1"/>
            <a:r>
              <a:rPr lang="en-US">
                <a:latin typeface="Arial" pitchFamily="34" charset="0"/>
                <a:cs typeface="Arial" pitchFamily="34" charset="0"/>
              </a:rPr>
              <a:t>Students</a:t>
            </a:r>
            <a:r>
              <a:rPr lang="en-US"/>
              <a:t>(</a:t>
            </a:r>
            <a:r>
              <a:rPr lang="en-US" err="1"/>
              <a:t>sid</a:t>
            </a:r>
            <a:r>
              <a:rPr lang="en-US"/>
              <a:t>: </a:t>
            </a:r>
            <a:r>
              <a:rPr lang="en-US" i="1"/>
              <a:t>string</a:t>
            </a:r>
            <a:r>
              <a:rPr lang="en-US"/>
              <a:t>, name: </a:t>
            </a:r>
            <a:r>
              <a:rPr lang="en-US" i="1"/>
              <a:t>string</a:t>
            </a:r>
            <a:r>
              <a:rPr lang="en-US"/>
              <a:t>, </a:t>
            </a:r>
            <a:r>
              <a:rPr lang="en-US" err="1"/>
              <a:t>gpa</a:t>
            </a:r>
            <a:r>
              <a:rPr lang="en-US"/>
              <a:t>: </a:t>
            </a:r>
            <a:r>
              <a:rPr lang="en-US" i="1"/>
              <a:t>float</a:t>
            </a:r>
            <a:r>
              <a:rPr lang="en-US"/>
              <a:t>)</a:t>
            </a:r>
          </a:p>
          <a:p>
            <a:pPr lvl="1"/>
            <a:r>
              <a:rPr lang="en-US">
                <a:latin typeface="Arial" pitchFamily="34" charset="0"/>
                <a:cs typeface="Arial" pitchFamily="34" charset="0"/>
              </a:rPr>
              <a:t>Courses</a:t>
            </a:r>
            <a:r>
              <a:rPr lang="en-US"/>
              <a:t>(cid: </a:t>
            </a:r>
            <a:r>
              <a:rPr lang="en-US" i="1"/>
              <a:t>string</a:t>
            </a:r>
            <a:r>
              <a:rPr lang="en-US"/>
              <a:t>, </a:t>
            </a:r>
            <a:r>
              <a:rPr lang="en-US" err="1"/>
              <a:t>cname</a:t>
            </a:r>
            <a:r>
              <a:rPr lang="en-US"/>
              <a:t>: </a:t>
            </a:r>
            <a:r>
              <a:rPr lang="en-US" i="1"/>
              <a:t>string</a:t>
            </a:r>
            <a:r>
              <a:rPr lang="en-US"/>
              <a:t>, credits: </a:t>
            </a:r>
            <a:r>
              <a:rPr lang="en-US" i="1" err="1"/>
              <a:t>int</a:t>
            </a:r>
            <a:r>
              <a:rPr lang="en-US"/>
              <a:t>)</a:t>
            </a:r>
          </a:p>
          <a:p>
            <a:pPr lvl="1"/>
            <a:r>
              <a:rPr lang="en-US">
                <a:latin typeface="Arial" pitchFamily="34" charset="0"/>
                <a:cs typeface="Arial" pitchFamily="34" charset="0"/>
              </a:rPr>
              <a:t>Enrolled</a:t>
            </a:r>
            <a:r>
              <a:rPr lang="en-US"/>
              <a:t>(</a:t>
            </a:r>
            <a:r>
              <a:rPr lang="en-US" err="1"/>
              <a:t>sid</a:t>
            </a:r>
            <a:r>
              <a:rPr lang="en-US"/>
              <a:t>: </a:t>
            </a:r>
            <a:r>
              <a:rPr lang="en-US" i="1"/>
              <a:t>string, </a:t>
            </a:r>
            <a:r>
              <a:rPr lang="en-US"/>
              <a:t>cid</a:t>
            </a:r>
            <a:r>
              <a:rPr lang="en-US" i="1"/>
              <a:t>: string, </a:t>
            </a:r>
            <a:r>
              <a:rPr lang="en-US"/>
              <a:t>grade</a:t>
            </a:r>
            <a:r>
              <a:rPr lang="en-US" i="1"/>
              <a:t>: string</a:t>
            </a:r>
            <a:r>
              <a:rPr lang="en-US"/>
              <a:t>)</a:t>
            </a:r>
          </a:p>
          <a:p>
            <a:pPr lvl="1"/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676400" y="3962400"/>
          <a:ext cx="2514600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2400" b="1"/>
                        <a:t>Sid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/>
                        <a:t>Name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err="1"/>
                        <a:t>Gpa</a:t>
                      </a:r>
                      <a:endParaRPr lang="en-US" sz="2400" b="1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/>
                        <a:t>101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Bob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3.2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/>
                        <a:t>123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Mary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3.8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057400" y="5481935"/>
            <a:ext cx="167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US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Students</a:t>
            </a:r>
            <a:endParaRPr lang="en-US">
              <a:solidFill>
                <a:prstClr val="black"/>
              </a:solidFill>
              <a:latin typeface="Calibri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733922"/>
              </p:ext>
            </p:extLst>
          </p:nvPr>
        </p:nvGraphicFramePr>
        <p:xfrm>
          <a:off x="7696200" y="3962400"/>
          <a:ext cx="2895600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/>
                        <a:t>cid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err="1"/>
                        <a:t>cname</a:t>
                      </a:r>
                      <a:endParaRPr lang="en-US" sz="2400" b="1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/>
                        <a:t>credits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/>
                        <a:t>564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/>
                        <a:t>DB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4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/>
                        <a:t>308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C++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153400" y="5481935"/>
            <a:ext cx="167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US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Courses</a:t>
            </a:r>
            <a:endParaRPr lang="en-US">
              <a:solidFill>
                <a:prstClr val="black"/>
              </a:solidFill>
              <a:latin typeface="Calibri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0" y="5410200"/>
          <a:ext cx="2895600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err="1"/>
                        <a:t>sid</a:t>
                      </a:r>
                      <a:endParaRPr lang="en-US" sz="2400" b="1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/>
                        <a:t>cid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/>
                        <a:t>Grade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/>
                        <a:t>123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564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A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0" y="6396335"/>
            <a:ext cx="167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US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Enrolled</a:t>
            </a:r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105400" y="4038601"/>
            <a:ext cx="1752600" cy="9541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2800">
                <a:solidFill>
                  <a:prstClr val="black"/>
                </a:solidFill>
                <a:latin typeface="Calibri"/>
              </a:rPr>
              <a:t>Relation Instances</a:t>
            </a: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2A6B5-0D7C-48A8-B49A-953CF10F77E3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13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055769" y="1008224"/>
            <a:ext cx="3548062" cy="15696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defTabSz="457200"/>
            <a:r>
              <a:rPr lang="en-US" sz="2400" i="1">
                <a:solidFill>
                  <a:prstClr val="black"/>
                </a:solidFill>
                <a:latin typeface="+mj-lt"/>
              </a:rPr>
              <a:t>Note that the schemas impose effective </a:t>
            </a:r>
            <a:r>
              <a:rPr lang="en-US" sz="2400" i="1" u="sng">
                <a:solidFill>
                  <a:prstClr val="black"/>
                </a:solidFill>
                <a:latin typeface="+mj-lt"/>
              </a:rPr>
              <a:t>domain / type constraints</a:t>
            </a:r>
            <a:r>
              <a:rPr lang="en-US" sz="2400" b="1" i="1">
                <a:solidFill>
                  <a:prstClr val="black"/>
                </a:solidFill>
                <a:latin typeface="+mj-lt"/>
              </a:rPr>
              <a:t>, </a:t>
            </a:r>
            <a:r>
              <a:rPr lang="en-US" sz="2400" i="1">
                <a:solidFill>
                  <a:prstClr val="black"/>
                </a:solidFill>
                <a:latin typeface="+mj-lt"/>
              </a:rPr>
              <a:t>i.e. </a:t>
            </a:r>
            <a:r>
              <a:rPr lang="en-US" sz="2400" i="1" err="1">
                <a:solidFill>
                  <a:prstClr val="black"/>
                </a:solidFill>
                <a:latin typeface="+mj-lt"/>
              </a:rPr>
              <a:t>Gpa</a:t>
            </a:r>
            <a:r>
              <a:rPr lang="en-US" sz="2400" i="1">
                <a:solidFill>
                  <a:prstClr val="black"/>
                </a:solidFill>
                <a:latin typeface="+mj-lt"/>
              </a:rPr>
              <a:t> can’t be “Apple”</a:t>
            </a:r>
            <a:endParaRPr lang="en-US" sz="2400" i="1" baseline="-25000">
              <a:solidFill>
                <a:prstClr val="black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16102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2</a:t>
            </a:r>
            <a:r>
              <a:rPr lang="en-US" baseline="30000"/>
              <a:t>nd</a:t>
            </a:r>
            <a:r>
              <a:rPr lang="en-US"/>
              <a:t> Part of the Model: Querying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3560904"/>
            <a:ext cx="46668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800" i="1">
                <a:solidFill>
                  <a:prstClr val="black"/>
                </a:solidFill>
                <a:latin typeface="+mj-lt"/>
              </a:rPr>
              <a:t>“Find names of all students with GPA &gt; 3.5”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15088" y="1770546"/>
            <a:ext cx="5303219" cy="13849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defTabSz="457200"/>
            <a:r>
              <a:rPr lang="en-US" sz="2800">
                <a:solidFill>
                  <a:prstClr val="black"/>
                </a:solidFill>
                <a:latin typeface="+mj-lt"/>
              </a:rPr>
              <a:t>We don’t tell the system</a:t>
            </a:r>
            <a:r>
              <a:rPr lang="en-US" sz="2800" i="1">
                <a:solidFill>
                  <a:prstClr val="black"/>
                </a:solidFill>
                <a:latin typeface="+mj-lt"/>
              </a:rPr>
              <a:t> how </a:t>
            </a:r>
            <a:r>
              <a:rPr lang="en-US" sz="2800">
                <a:solidFill>
                  <a:prstClr val="black"/>
                </a:solidFill>
                <a:latin typeface="+mj-lt"/>
              </a:rPr>
              <a:t>or </a:t>
            </a:r>
            <a:r>
              <a:rPr lang="en-US" sz="2800" i="1">
                <a:solidFill>
                  <a:prstClr val="black"/>
                </a:solidFill>
                <a:latin typeface="+mj-lt"/>
              </a:rPr>
              <a:t>where</a:t>
            </a:r>
            <a:r>
              <a:rPr lang="en-US" sz="2800">
                <a:solidFill>
                  <a:prstClr val="black"/>
                </a:solidFill>
                <a:latin typeface="+mj-lt"/>
              </a:rPr>
              <a:t> to get the data- </a:t>
            </a:r>
            <a:r>
              <a:rPr lang="en-US" sz="2800" b="1">
                <a:solidFill>
                  <a:prstClr val="black"/>
                </a:solidFill>
                <a:latin typeface="+mj-lt"/>
              </a:rPr>
              <a:t>just what we want</a:t>
            </a:r>
            <a:r>
              <a:rPr lang="en-US" sz="2800">
                <a:solidFill>
                  <a:prstClr val="black"/>
                </a:solidFill>
                <a:latin typeface="+mj-lt"/>
              </a:rPr>
              <a:t>, </a:t>
            </a:r>
            <a:r>
              <a:rPr lang="en-US" sz="2800" b="1">
                <a:solidFill>
                  <a:prstClr val="black"/>
                </a:solidFill>
                <a:latin typeface="+mj-lt"/>
              </a:rPr>
              <a:t>i.e., Querying is </a:t>
            </a:r>
            <a:r>
              <a:rPr lang="en-US" sz="2800" b="1" i="1" u="sng">
                <a:solidFill>
                  <a:prstClr val="black"/>
                </a:solidFill>
                <a:latin typeface="+mj-lt"/>
              </a:rPr>
              <a:t>declarative</a:t>
            </a:r>
            <a:endParaRPr lang="en-US" sz="2800" b="1" u="sng">
              <a:solidFill>
                <a:prstClr val="black"/>
              </a:solidFill>
              <a:latin typeface="+mj-lt"/>
            </a:endParaRPr>
          </a:p>
        </p:txBody>
      </p:sp>
      <p:pic>
        <p:nvPicPr>
          <p:cNvPr id="9" name="Picture 2" descr="File:Edgar F Codd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64557" y="4848029"/>
            <a:ext cx="1780821" cy="1752600"/>
          </a:xfrm>
          <a:prstGeom prst="rect">
            <a:avLst/>
          </a:prstGeom>
          <a:noFill/>
        </p:spPr>
      </p:pic>
      <p:sp>
        <p:nvSpPr>
          <p:cNvPr id="10" name="Oval Callout 9"/>
          <p:cNvSpPr/>
          <p:nvPr/>
        </p:nvSpPr>
        <p:spPr>
          <a:xfrm>
            <a:off x="3057525" y="5608054"/>
            <a:ext cx="5486400" cy="992575"/>
          </a:xfrm>
          <a:prstGeom prst="wedgeEllipseCallout">
            <a:avLst>
              <a:gd name="adj1" fmla="val -72160"/>
              <a:gd name="adj2" fmla="val -5419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>
                <a:solidFill>
                  <a:prstClr val="white"/>
                </a:solidFill>
                <a:latin typeface="Calibri"/>
              </a:rPr>
              <a:t>Actually, I showed how to do this translation for a much richer language!</a:t>
            </a:r>
          </a:p>
        </p:txBody>
      </p:sp>
      <p:sp>
        <p:nvSpPr>
          <p:cNvPr id="14" name="Rectangle 35"/>
          <p:cNvSpPr>
            <a:spLocks noChangeArrowheads="1"/>
          </p:cNvSpPr>
          <p:nvPr/>
        </p:nvSpPr>
        <p:spPr bwMode="auto">
          <a:xfrm>
            <a:off x="838200" y="1795143"/>
            <a:ext cx="4666844" cy="125572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80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 </a:t>
            </a:r>
            <a:r>
              <a:rPr lang="en-US" sz="2800" err="1">
                <a:latin typeface="Menlo" charset="0"/>
                <a:ea typeface="Menlo" charset="0"/>
                <a:cs typeface="Menlo" charset="0"/>
              </a:rPr>
              <a:t>S.name</a:t>
            </a:r>
            <a:endParaRPr lang="en-US" sz="2800">
              <a:latin typeface="Menlo" charset="0"/>
              <a:ea typeface="Menlo" charset="0"/>
              <a:cs typeface="Menlo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800">
                <a:latin typeface="Menlo" charset="0"/>
                <a:ea typeface="Menlo" charset="0"/>
                <a:cs typeface="Menlo" charset="0"/>
              </a:rPr>
              <a:t> Students S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80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800" err="1">
                <a:latin typeface="Menlo" charset="0"/>
                <a:ea typeface="Menlo" charset="0"/>
                <a:cs typeface="Menlo" charset="0"/>
              </a:rPr>
              <a:t>S.gpa</a:t>
            </a:r>
            <a:r>
              <a:rPr lang="en-US" sz="2800">
                <a:latin typeface="Menlo" charset="0"/>
                <a:ea typeface="Menlo" charset="0"/>
                <a:cs typeface="Menlo" charset="0"/>
              </a:rPr>
              <a:t> &gt; 3.5;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5087" y="3539510"/>
            <a:ext cx="5303219" cy="18158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defTabSz="457200"/>
            <a:r>
              <a:rPr lang="en-US" sz="2800">
                <a:solidFill>
                  <a:prstClr val="black"/>
                </a:solidFill>
                <a:latin typeface="+mj-lt"/>
              </a:rPr>
              <a:t>To make this happen, we need to translate the </a:t>
            </a:r>
            <a:r>
              <a:rPr lang="en-US" sz="2800" i="1">
                <a:solidFill>
                  <a:prstClr val="black"/>
                </a:solidFill>
                <a:latin typeface="+mj-lt"/>
              </a:rPr>
              <a:t>declarative </a:t>
            </a:r>
            <a:r>
              <a:rPr lang="en-US" sz="2800">
                <a:solidFill>
                  <a:prstClr val="black"/>
                </a:solidFill>
                <a:latin typeface="+mj-lt"/>
              </a:rPr>
              <a:t>query into a series of operators… we’ll see this next!</a:t>
            </a:r>
            <a:endParaRPr lang="en-US" sz="2800" b="1" u="sng">
              <a:solidFill>
                <a:prstClr val="black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86007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Virtues of the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Physical independence (logical too), Declarative</a:t>
            </a:r>
          </a:p>
          <a:p>
            <a:endParaRPr lang="en-US"/>
          </a:p>
          <a:p>
            <a:r>
              <a:rPr lang="en-US"/>
              <a:t>Simple, elegant clean: Everything is a relation</a:t>
            </a:r>
          </a:p>
          <a:p>
            <a:endParaRPr lang="en-US"/>
          </a:p>
          <a:p>
            <a:r>
              <a:rPr lang="en-US"/>
              <a:t>Why did it take multiple years? </a:t>
            </a:r>
          </a:p>
          <a:p>
            <a:pPr lvl="1"/>
            <a:r>
              <a:rPr lang="en-US"/>
              <a:t>Doubted it could be done </a:t>
            </a:r>
            <a:r>
              <a:rPr lang="en-US" i="1"/>
              <a:t>efficiently</a:t>
            </a:r>
            <a:r>
              <a:rPr lang="en-US"/>
              <a:t>.</a:t>
            </a:r>
          </a:p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110538" y="4001294"/>
            <a:ext cx="1885950" cy="188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476769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3352800"/>
            <a:ext cx="8229600" cy="1143000"/>
          </a:xfrm>
        </p:spPr>
        <p:txBody>
          <a:bodyPr/>
          <a:lstStyle/>
          <a:p>
            <a:r>
              <a:rPr lang="en-US"/>
              <a:t>Relational Algebra</a:t>
            </a:r>
          </a:p>
        </p:txBody>
      </p:sp>
    </p:spTree>
    <p:extLst>
      <p:ext uri="{BB962C8B-B14F-4D97-AF65-F5344CB8AC3E}">
        <p14:creationId xmlns:p14="http://schemas.microsoft.com/office/powerpoint/2010/main" val="28263867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RDBMS Architecture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825625"/>
            <a:ext cx="10515600" cy="603250"/>
          </a:xfrm>
        </p:spPr>
        <p:txBody>
          <a:bodyPr/>
          <a:lstStyle/>
          <a:p>
            <a:pPr>
              <a:buFontTx/>
              <a:buNone/>
            </a:pPr>
            <a:r>
              <a:rPr lang="en-US"/>
              <a:t>How does a SQL engine work ?</a:t>
            </a:r>
          </a:p>
        </p:txBody>
      </p:sp>
      <p:sp>
        <p:nvSpPr>
          <p:cNvPr id="2" name="Right Arrow 1"/>
          <p:cNvSpPr/>
          <p:nvPr/>
        </p:nvSpPr>
        <p:spPr>
          <a:xfrm>
            <a:off x="2409825" y="3379274"/>
            <a:ext cx="576263" cy="48013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838200" y="2938143"/>
            <a:ext cx="1428750" cy="1362395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>
                <a:latin typeface="+mj-lt"/>
              </a:rPr>
              <a:t>SQL Query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28963" y="2938141"/>
            <a:ext cx="2143125" cy="136239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>
                <a:latin typeface="+mj-lt"/>
              </a:rPr>
              <a:t>Relational Algebra (RA) Plan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414963" y="3379272"/>
            <a:ext cx="576263" cy="48013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6134101" y="2938143"/>
            <a:ext cx="2143125" cy="1362395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i="1">
                <a:latin typeface="+mj-lt"/>
              </a:rPr>
              <a:t>Optimized</a:t>
            </a:r>
            <a:r>
              <a:rPr lang="en-US" sz="2800">
                <a:latin typeface="+mj-lt"/>
              </a:rPr>
              <a:t> RA Plan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420101" y="3379272"/>
            <a:ext cx="576263" cy="48013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/>
          <p:cNvSpPr/>
          <p:nvPr/>
        </p:nvSpPr>
        <p:spPr>
          <a:xfrm>
            <a:off x="9139239" y="2938141"/>
            <a:ext cx="2143125" cy="1362395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>
                <a:latin typeface="+mj-lt"/>
              </a:rPr>
              <a:t>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4809804"/>
            <a:ext cx="18192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+mj-lt"/>
              </a:rPr>
              <a:t>Declarative query (from user)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28963" y="4809802"/>
            <a:ext cx="24717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+mj-lt"/>
              </a:rPr>
              <a:t>Translate to relational algebra </a:t>
            </a:r>
            <a:r>
              <a:rPr lang="en-US" sz="2400" err="1">
                <a:latin typeface="+mj-lt"/>
              </a:rPr>
              <a:t>expresson</a:t>
            </a:r>
            <a:endParaRPr lang="en-US" sz="2400">
              <a:latin typeface="+mj-l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134101" y="4809802"/>
            <a:ext cx="247173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>
                <a:latin typeface="+mj-lt"/>
              </a:rPr>
              <a:t>Find logically equivalent- but more efficient- RA expression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39239" y="4809802"/>
            <a:ext cx="24717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+mj-lt"/>
              </a:rPr>
              <a:t>Execute each operator of the optimized plan!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9" grpId="0" animBg="1"/>
      <p:bldP spid="10" grpId="0" animBg="1"/>
      <p:bldP spid="11" grpId="0" animBg="1"/>
      <p:bldP spid="12" grpId="0" animBg="1"/>
      <p:bldP spid="13" grpId="0" animBg="1"/>
      <p:bldP spid="4" grpId="0"/>
      <p:bldP spid="15" grpId="0"/>
      <p:bldP spid="16" grpId="0"/>
      <p:bldP spid="1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RDBMS Architecture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825625"/>
            <a:ext cx="10515600" cy="603250"/>
          </a:xfrm>
        </p:spPr>
        <p:txBody>
          <a:bodyPr/>
          <a:lstStyle/>
          <a:p>
            <a:pPr>
              <a:buFontTx/>
              <a:buNone/>
            </a:pPr>
            <a:r>
              <a:rPr lang="en-US"/>
              <a:t>How does a SQL engine work ?</a:t>
            </a:r>
          </a:p>
        </p:txBody>
      </p:sp>
      <p:sp>
        <p:nvSpPr>
          <p:cNvPr id="2" name="Right Arrow 1"/>
          <p:cNvSpPr/>
          <p:nvPr/>
        </p:nvSpPr>
        <p:spPr>
          <a:xfrm>
            <a:off x="2409825" y="3379274"/>
            <a:ext cx="576263" cy="48013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838200" y="2938143"/>
            <a:ext cx="1428750" cy="1362395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>
                <a:latin typeface="+mj-lt"/>
              </a:rPr>
              <a:t>SQL Query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28963" y="2938141"/>
            <a:ext cx="2143125" cy="136239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>
                <a:latin typeface="+mj-lt"/>
              </a:rPr>
              <a:t>Relational Algebra (RA) Plan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414963" y="3379272"/>
            <a:ext cx="576263" cy="48013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6134101" y="2938143"/>
            <a:ext cx="2143125" cy="1362395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i="1">
                <a:latin typeface="+mj-lt"/>
              </a:rPr>
              <a:t>Optimized</a:t>
            </a:r>
            <a:r>
              <a:rPr lang="en-US" sz="2800">
                <a:latin typeface="+mj-lt"/>
              </a:rPr>
              <a:t> RA Plan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420101" y="3379272"/>
            <a:ext cx="576263" cy="48013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/>
          <p:cNvSpPr/>
          <p:nvPr/>
        </p:nvSpPr>
        <p:spPr>
          <a:xfrm>
            <a:off x="9139239" y="2938141"/>
            <a:ext cx="2143125" cy="1362395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>
                <a:latin typeface="+mj-lt"/>
              </a:rPr>
              <a:t>Execution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0066" y="2543175"/>
            <a:ext cx="1824036" cy="2100263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5414962" y="2563812"/>
            <a:ext cx="6196013" cy="2100263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1738864" y="5115996"/>
            <a:ext cx="8714272" cy="9541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2800">
                <a:solidFill>
                  <a:prstClr val="black"/>
                </a:solidFill>
                <a:latin typeface="+mj-lt"/>
              </a:rPr>
              <a:t>Relational Algebra allows us to translate declarative (SQL) queries into precise and </a:t>
            </a:r>
            <a:r>
              <a:rPr lang="en-US" sz="2800" err="1">
                <a:solidFill>
                  <a:prstClr val="black"/>
                </a:solidFill>
                <a:latin typeface="+mj-lt"/>
              </a:rPr>
              <a:t>optimizable</a:t>
            </a:r>
            <a:r>
              <a:rPr lang="en-US" sz="2800">
                <a:solidFill>
                  <a:prstClr val="black"/>
                </a:solidFill>
                <a:latin typeface="+mj-lt"/>
              </a:rPr>
              <a:t> expressions!</a:t>
            </a:r>
            <a:endParaRPr lang="en-US" sz="2800" b="1" u="sng">
              <a:solidFill>
                <a:prstClr val="black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52414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843088"/>
            <a:ext cx="10515600" cy="441960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2400" u="sng"/>
              <a:t>Five </a:t>
            </a:r>
            <a:r>
              <a:rPr lang="en-US" sz="2400" b="1" u="sng"/>
              <a:t>basic </a:t>
            </a:r>
            <a:r>
              <a:rPr lang="en-US" sz="2400" u="sng"/>
              <a:t>operators: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/>
              <a:t>Selection:</a:t>
            </a:r>
            <a:r>
              <a:rPr lang="en-US">
                <a:latin typeface="Symbol" pitchFamily="-111" charset="2"/>
              </a:rPr>
              <a:t> s</a:t>
            </a:r>
            <a:endParaRPr lang="en-US"/>
          </a:p>
          <a:p>
            <a:pPr marL="914400" lvl="1" indent="-457200">
              <a:buFont typeface="+mj-lt"/>
              <a:buAutoNum type="arabicPeriod"/>
            </a:pPr>
            <a:r>
              <a:rPr lang="en-US"/>
              <a:t>Projection: </a:t>
            </a:r>
            <a:r>
              <a:rPr lang="en-US">
                <a:latin typeface="Symbol" pitchFamily="-111" charset="2"/>
              </a:rPr>
              <a:t>P</a:t>
            </a:r>
            <a:r>
              <a:rPr lang="en-US"/>
              <a:t>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/>
              <a:t>Cartesian Product: </a:t>
            </a:r>
            <a:r>
              <a:rPr lang="en-US">
                <a:sym typeface="Symbol" pitchFamily="-111" charset="2"/>
              </a:rPr>
              <a:t></a:t>
            </a:r>
            <a:endParaRPr lang="en-US"/>
          </a:p>
          <a:p>
            <a:pPr marL="914400" lvl="1" indent="-457200">
              <a:lnSpc>
                <a:spcPct val="90000"/>
              </a:lnSpc>
              <a:buFont typeface="+mj-lt"/>
              <a:buAutoNum type="arabicPeriod"/>
            </a:pPr>
            <a:r>
              <a:rPr lang="en-US"/>
              <a:t>Union: </a:t>
            </a:r>
            <a:r>
              <a:rPr lang="en-US">
                <a:sym typeface="Symbol" pitchFamily="-111" charset="2"/>
              </a:rPr>
              <a:t></a:t>
            </a:r>
            <a:endParaRPr lang="en-US"/>
          </a:p>
          <a:p>
            <a:pPr marL="914400" lvl="1" indent="-457200">
              <a:lnSpc>
                <a:spcPct val="90000"/>
              </a:lnSpc>
              <a:buFont typeface="+mj-lt"/>
              <a:buAutoNum type="arabicPeriod"/>
            </a:pPr>
            <a:r>
              <a:rPr lang="en-US"/>
              <a:t>Difference: -</a:t>
            </a:r>
            <a:endParaRPr lang="en-US" sz="2400"/>
          </a:p>
          <a:p>
            <a:pPr>
              <a:lnSpc>
                <a:spcPct val="90000"/>
              </a:lnSpc>
            </a:pPr>
            <a:r>
              <a:rPr lang="en-US" sz="2400" u="sng"/>
              <a:t>Derived or auxiliary operators:</a:t>
            </a:r>
          </a:p>
          <a:p>
            <a:pPr lvl="1"/>
            <a:r>
              <a:rPr lang="en-US"/>
              <a:t>Intersection, complement</a:t>
            </a:r>
          </a:p>
          <a:p>
            <a:pPr lvl="1"/>
            <a:r>
              <a:rPr lang="en-US"/>
              <a:t>Joins (</a:t>
            </a:r>
            <a:r>
              <a:rPr lang="en-US" err="1"/>
              <a:t>natural,equi</a:t>
            </a:r>
            <a:r>
              <a:rPr lang="en-US"/>
              <a:t>-join, theta join, semi-join)</a:t>
            </a:r>
          </a:p>
          <a:p>
            <a:pPr lvl="1"/>
            <a:r>
              <a:rPr lang="en-US"/>
              <a:t>Renaming:</a:t>
            </a:r>
            <a:r>
              <a:rPr lang="en-US">
                <a:latin typeface="Symbol" pitchFamily="-111" charset="2"/>
              </a:rPr>
              <a:t> </a:t>
            </a:r>
            <a:r>
              <a:rPr lang="en-US" err="1">
                <a:latin typeface="Symbol" pitchFamily="-111" charset="2"/>
              </a:rPr>
              <a:t>r</a:t>
            </a:r>
            <a:r>
              <a:rPr lang="en-US"/>
              <a:t> </a:t>
            </a:r>
          </a:p>
          <a:p>
            <a:pPr lvl="1"/>
            <a:r>
              <a:rPr lang="en-US"/>
              <a:t>Division</a:t>
            </a: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Relational Algebra (RA)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11940" y="2150645"/>
            <a:ext cx="3131485" cy="1264067"/>
          </a:xfrm>
          <a:prstGeom prst="roundRect">
            <a:avLst/>
          </a:prstGeom>
          <a:solidFill>
            <a:schemeClr val="accent4">
              <a:lumMod val="20000"/>
              <a:lumOff val="80000"/>
              <a:alpha val="5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4964765" y="2150645"/>
            <a:ext cx="3193398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>
                <a:latin typeface="+mj-lt"/>
              </a:rPr>
              <a:t>We’ll look at these first!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40541" y="4998621"/>
            <a:ext cx="1788460" cy="873541"/>
          </a:xfrm>
          <a:prstGeom prst="roundRect">
            <a:avLst/>
          </a:prstGeom>
          <a:solidFill>
            <a:schemeClr val="accent4">
              <a:lumMod val="20000"/>
              <a:lumOff val="80000"/>
              <a:alpha val="5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7750827" y="4841460"/>
            <a:ext cx="3755373" cy="15696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i="1">
                <a:latin typeface="+mj-lt"/>
              </a:rPr>
              <a:t>And also at one example of a derived operator (natural join) and a special operator (renaming)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Keep in mind: RA operates on sets!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RDBMSs use </a:t>
            </a:r>
            <a:r>
              <a:rPr lang="en-US" i="1" err="1"/>
              <a:t>multisets</a:t>
            </a:r>
            <a:r>
              <a:rPr lang="en-US"/>
              <a:t>, however in relational algebra formalism we will consider </a:t>
            </a:r>
            <a:r>
              <a:rPr lang="en-US" b="1" u="sng"/>
              <a:t>sets!</a:t>
            </a:r>
          </a:p>
          <a:p>
            <a:endParaRPr lang="en-US" b="1" u="sng"/>
          </a:p>
          <a:p>
            <a:r>
              <a:rPr lang="en-US"/>
              <a:t>Also: we will consider the </a:t>
            </a:r>
            <a:r>
              <a:rPr lang="en-US" b="1" i="1"/>
              <a:t>named perspective</a:t>
            </a:r>
            <a:r>
              <a:rPr lang="en-US"/>
              <a:t>, where every attribute must have a </a:t>
            </a:r>
            <a:r>
              <a:rPr lang="en-US" u="sng"/>
              <a:t>unique name</a:t>
            </a:r>
            <a:endParaRPr lang="en-US"/>
          </a:p>
          <a:p>
            <a:pPr lvl="1"/>
            <a:r>
              <a:rPr lang="en-US">
                <a:sym typeface="Wingdings"/>
              </a:rPr>
              <a:t></a:t>
            </a:r>
            <a:r>
              <a:rPr lang="en-US"/>
              <a:t>attribute order does not matter…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0762" y="5186879"/>
            <a:ext cx="6710476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2800">
                <a:solidFill>
                  <a:prstClr val="black"/>
                </a:solidFill>
                <a:latin typeface="+mj-lt"/>
              </a:rPr>
              <a:t>Now on to the basic RA operators…</a:t>
            </a:r>
            <a:endParaRPr lang="en-US" sz="2800" b="1" u="sng">
              <a:solidFill>
                <a:prstClr val="black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87253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843088"/>
            <a:ext cx="5395914" cy="4419600"/>
          </a:xfrm>
        </p:spPr>
        <p:txBody>
          <a:bodyPr>
            <a:normAutofit/>
          </a:bodyPr>
          <a:lstStyle/>
          <a:p>
            <a:r>
              <a:rPr lang="en-US"/>
              <a:t>Returns all tuples which satisfy a condition</a:t>
            </a:r>
          </a:p>
          <a:p>
            <a:r>
              <a:rPr lang="en-US"/>
              <a:t>Notation: </a:t>
            </a:r>
            <a:r>
              <a:rPr lang="en-US">
                <a:latin typeface="Symbol" pitchFamily="-111" charset="2"/>
              </a:rPr>
              <a:t> </a:t>
            </a:r>
            <a:r>
              <a:rPr lang="en-US" err="1">
                <a:latin typeface="Symbol" pitchFamily="-111" charset="2"/>
              </a:rPr>
              <a:t>s</a:t>
            </a:r>
            <a:r>
              <a:rPr lang="en-US" baseline="-25000" err="1"/>
              <a:t>c</a:t>
            </a:r>
            <a:r>
              <a:rPr lang="en-US"/>
              <a:t>(R)</a:t>
            </a:r>
          </a:p>
          <a:p>
            <a:r>
              <a:rPr lang="en-US"/>
              <a:t>Examples</a:t>
            </a:r>
          </a:p>
          <a:p>
            <a:pPr lvl="1"/>
            <a:r>
              <a:rPr lang="en-US" sz="2800"/>
              <a:t> </a:t>
            </a:r>
            <a:r>
              <a:rPr lang="en-US" sz="2800" err="1">
                <a:latin typeface="Symbol" pitchFamily="-111" charset="2"/>
              </a:rPr>
              <a:t>s</a:t>
            </a:r>
            <a:r>
              <a:rPr lang="en-US" sz="2800" baseline="-25000" err="1"/>
              <a:t>Salary</a:t>
            </a:r>
            <a:r>
              <a:rPr lang="en-US" sz="2800" baseline="-25000"/>
              <a:t> &gt; 40000</a:t>
            </a:r>
            <a:r>
              <a:rPr lang="en-US" sz="2800"/>
              <a:t> (Employee)</a:t>
            </a:r>
          </a:p>
          <a:p>
            <a:pPr lvl="1"/>
            <a:r>
              <a:rPr lang="en-US" sz="2800"/>
              <a:t> </a:t>
            </a:r>
            <a:r>
              <a:rPr lang="en-US" sz="2800" err="1">
                <a:latin typeface="Symbol" pitchFamily="-111" charset="2"/>
              </a:rPr>
              <a:t>s</a:t>
            </a:r>
            <a:r>
              <a:rPr lang="en-US" sz="2800" baseline="-25000" err="1"/>
              <a:t>name</a:t>
            </a:r>
            <a:r>
              <a:rPr lang="en-US" sz="2800" baseline="-25000"/>
              <a:t> = “Smith”</a:t>
            </a:r>
            <a:r>
              <a:rPr lang="en-US" sz="2800"/>
              <a:t> (Employee)</a:t>
            </a:r>
          </a:p>
          <a:p>
            <a:r>
              <a:rPr lang="en-US"/>
              <a:t>The condition c can be =, &lt;, </a:t>
            </a:r>
            <a:r>
              <a:rPr lang="en-US">
                <a:ea typeface="Times New Roman" pitchFamily="-111" charset="0"/>
                <a:cs typeface="Times New Roman" pitchFamily="-111" charset="0"/>
                <a:sym typeface="Symbol" pitchFamily="-111" charset="2"/>
              </a:rPr>
              <a:t>, &gt;,</a:t>
            </a:r>
            <a:r>
              <a:rPr lang="en-US">
                <a:ea typeface="Times New Roman" pitchFamily="-111" charset="0"/>
                <a:cs typeface="Times New Roman" pitchFamily="-111" charset="0"/>
              </a:rPr>
              <a:t> </a:t>
            </a:r>
            <a:r>
              <a:rPr lang="en-US">
                <a:ea typeface="Times New Roman" pitchFamily="-111" charset="0"/>
                <a:cs typeface="Times New Roman" pitchFamily="-111" charset="0"/>
                <a:sym typeface="Symbol" pitchFamily="-111" charset="2"/>
              </a:rPr>
              <a:t>, &lt;&gt;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2"/>
              <p:cNvSpPr txBox="1">
                <a:spLocks noChangeArrowheads="1"/>
              </p:cNvSpPr>
              <p:nvPr/>
            </p:nvSpPr>
            <p:spPr>
              <a:xfrm>
                <a:off x="990600" y="517525"/>
                <a:ext cx="10515600" cy="1325563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/>
                  <a:t>1. Selection (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𝜎</m:t>
                    </m:r>
                  </m:oMath>
                </a14:m>
                <a:r>
                  <a:rPr lang="en-US"/>
                  <a:t>)</a:t>
                </a:r>
              </a:p>
            </p:txBody>
          </p:sp>
        </mc:Choice>
        <mc:Fallback xmlns="">
          <p:sp>
            <p:nvSpPr>
              <p:cNvPr id="7" name="Rectangl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517525"/>
                <a:ext cx="10515600" cy="1325563"/>
              </a:xfrm>
              <a:prstGeom prst="rect">
                <a:avLst/>
              </a:prstGeom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35"/>
          <p:cNvSpPr>
            <a:spLocks noChangeArrowheads="1"/>
          </p:cNvSpPr>
          <p:nvPr/>
        </p:nvSpPr>
        <p:spPr bwMode="auto">
          <a:xfrm>
            <a:off x="7286626" y="2214563"/>
            <a:ext cx="3776662" cy="125572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800">
                <a:solidFill>
                  <a:schemeClr val="bg2">
                    <a:lumMod val="90000"/>
                  </a:schemeClr>
                </a:solidFill>
                <a:latin typeface="Menlo" charset="0"/>
                <a:ea typeface="Menlo" charset="0"/>
                <a:cs typeface="Menlo" charset="0"/>
              </a:rPr>
              <a:t>SELECT *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>
                <a:solidFill>
                  <a:schemeClr val="bg2">
                    <a:lumMod val="90000"/>
                  </a:schemeClr>
                </a:solidFill>
                <a:latin typeface="Menlo" charset="0"/>
                <a:ea typeface="Menlo" charset="0"/>
                <a:cs typeface="Menlo" charset="0"/>
              </a:rPr>
              <a:t>FROM Students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80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800" err="1">
                <a:latin typeface="Menlo" charset="0"/>
                <a:ea typeface="Menlo" charset="0"/>
                <a:cs typeface="Menlo" charset="0"/>
              </a:rPr>
              <a:t>gpa</a:t>
            </a:r>
            <a:r>
              <a:rPr lang="en-US" sz="2800">
                <a:latin typeface="Menlo" charset="0"/>
                <a:ea typeface="Menlo" charset="0"/>
                <a:cs typeface="Menlo" charset="0"/>
              </a:rPr>
              <a:t> &gt; 3.5;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86626" y="1691343"/>
            <a:ext cx="8386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>
                <a:latin typeface="+mj-lt"/>
              </a:rPr>
              <a:t>SQL: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86625" y="4424363"/>
            <a:ext cx="6719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>
                <a:latin typeface="+mj-lt"/>
              </a:rPr>
              <a:t>RA: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7286625" y="4831792"/>
                <a:ext cx="4018729" cy="5990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𝜎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charset="0"/>
                            </a:rPr>
                            <m:t>𝑔𝑝𝑎</m:t>
                          </m:r>
                          <m:r>
                            <a:rPr lang="en-US" sz="3600" b="0" i="1" smtClean="0">
                              <a:latin typeface="Cambria Math" charset="0"/>
                            </a:rPr>
                            <m:t> &gt;3.5</m:t>
                          </m:r>
                        </m:sub>
                      </m:sSub>
                      <m:r>
                        <a:rPr lang="en-US" sz="3600" b="0" i="1" smtClean="0">
                          <a:latin typeface="Cambria Math" charset="0"/>
                        </a:rPr>
                        <m:t>(</m:t>
                      </m:r>
                      <m:r>
                        <a:rPr lang="en-US" sz="3600" b="0" i="1" smtClean="0">
                          <a:latin typeface="Cambria Math" charset="0"/>
                        </a:rPr>
                        <m:t>𝑆𝑡𝑢𝑑𝑒𝑛𝑡𝑠</m:t>
                      </m:r>
                      <m:r>
                        <a:rPr lang="en-US" sz="3600" b="0" i="1" smtClean="0">
                          <a:latin typeface="Cambria Math" charset="0"/>
                        </a:rPr>
                        <m:t>)</m:t>
                      </m:r>
                    </m:oMath>
                  </m:oMathPara>
                </a14:m>
                <a:endParaRPr lang="en-US" sz="360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6625" y="4831792"/>
                <a:ext cx="4018729" cy="5990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Down Arrow 13"/>
          <p:cNvSpPr/>
          <p:nvPr/>
        </p:nvSpPr>
        <p:spPr>
          <a:xfrm>
            <a:off x="8889207" y="3861816"/>
            <a:ext cx="571500" cy="629471"/>
          </a:xfrm>
          <a:prstGeom prst="down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35"/>
          <p:cNvSpPr>
            <a:spLocks noChangeArrowheads="1"/>
          </p:cNvSpPr>
          <p:nvPr/>
        </p:nvSpPr>
        <p:spPr bwMode="auto">
          <a:xfrm>
            <a:off x="7286625" y="737271"/>
            <a:ext cx="3360110" cy="34163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Students(</a:t>
            </a:r>
            <a:r>
              <a:rPr lang="en-US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sid,sname,gpa</a:t>
            </a:r>
            <a:r>
              <a:rPr lang="en-US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uiExpand="1" build="p"/>
      <p:bldP spid="9" grpId="0" animBg="1"/>
      <p:bldP spid="3" grpId="0"/>
      <p:bldP spid="12" grpId="0"/>
      <p:bldP spid="11" grpId="0"/>
      <p:bldP spid="14" grpId="0" animBg="1"/>
      <p:bldP spid="1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4"/>
          <p:cNvSpPr>
            <a:spLocks noChangeArrowheads="1"/>
          </p:cNvSpPr>
          <p:nvPr/>
        </p:nvSpPr>
        <p:spPr bwMode="auto">
          <a:xfrm>
            <a:off x="2072985" y="3505201"/>
            <a:ext cx="356027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>
              <a:spcBef>
                <a:spcPct val="20000"/>
              </a:spcBef>
            </a:pPr>
            <a:r>
              <a:rPr lang="en-US" sz="2800" err="1">
                <a:latin typeface="Symbol" pitchFamily="-111" charset="2"/>
              </a:rPr>
              <a:t>s</a:t>
            </a:r>
            <a:r>
              <a:rPr lang="en-US" sz="2800" baseline="-25000" err="1"/>
              <a:t>Salary</a:t>
            </a:r>
            <a:r>
              <a:rPr lang="en-US" sz="2800" baseline="-25000"/>
              <a:t> &gt; 40000</a:t>
            </a:r>
            <a:r>
              <a:rPr lang="en-US" sz="2800"/>
              <a:t> (Employee)</a:t>
            </a:r>
          </a:p>
        </p:txBody>
      </p:sp>
      <p:graphicFrame>
        <p:nvGraphicFramePr>
          <p:cNvPr id="7195" name="Group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2263452"/>
              </p:ext>
            </p:extLst>
          </p:nvPr>
        </p:nvGraphicFramePr>
        <p:xfrm>
          <a:off x="4114800" y="1001715"/>
          <a:ext cx="6019800" cy="2184400"/>
        </p:xfrm>
        <a:graphic>
          <a:graphicData uri="http://schemas.openxmlformats.org/drawingml/2006/table">
            <a:tbl>
              <a:tblPr/>
              <a:tblGrid>
                <a:gridCol w="200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6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SSN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Salary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1234545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John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20,000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5423341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Smith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60,000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4352342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Fred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50,000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219" name="Group 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3965071"/>
              </p:ext>
            </p:extLst>
          </p:nvPr>
        </p:nvGraphicFramePr>
        <p:xfrm>
          <a:off x="4114800" y="4343400"/>
          <a:ext cx="6019800" cy="1638300"/>
        </p:xfrm>
        <a:graphic>
          <a:graphicData uri="http://schemas.openxmlformats.org/drawingml/2006/table">
            <a:tbl>
              <a:tblPr/>
              <a:tblGrid>
                <a:gridCol w="200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6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SSN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Salary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5423341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Smith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60,000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4352342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Fred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50,000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85775" y="1001715"/>
            <a:ext cx="27537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+mj-lt"/>
              </a:rPr>
              <a:t>Another example:</a:t>
            </a:r>
          </a:p>
        </p:txBody>
      </p:sp>
      <p:sp>
        <p:nvSpPr>
          <p:cNvPr id="2" name="Down Arrow 1"/>
          <p:cNvSpPr/>
          <p:nvPr/>
        </p:nvSpPr>
        <p:spPr>
          <a:xfrm>
            <a:off x="6831806" y="3438528"/>
            <a:ext cx="585787" cy="65246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2" grpId="0"/>
      <p:bldP spid="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843088"/>
            <a:ext cx="5395914" cy="4419600"/>
          </a:xfrm>
        </p:spPr>
        <p:txBody>
          <a:bodyPr>
            <a:normAutofit/>
          </a:bodyPr>
          <a:lstStyle/>
          <a:p>
            <a:r>
              <a:rPr lang="en-US"/>
              <a:t>Eliminates columns, then removes duplicates</a:t>
            </a:r>
          </a:p>
          <a:p>
            <a:r>
              <a:rPr lang="en-US"/>
              <a:t>Notation:   </a:t>
            </a:r>
            <a:r>
              <a:rPr lang="en-US">
                <a:latin typeface="Symbol" pitchFamily="-111" charset="2"/>
              </a:rPr>
              <a:t>P </a:t>
            </a:r>
            <a:r>
              <a:rPr lang="en-US" sz="2400" baseline="-25000"/>
              <a:t>A1,…,An</a:t>
            </a:r>
            <a:r>
              <a:rPr lang="en-US" sz="1200"/>
              <a:t> </a:t>
            </a:r>
            <a:r>
              <a:rPr lang="en-US"/>
              <a:t>(R)</a:t>
            </a:r>
          </a:p>
          <a:p>
            <a:r>
              <a:rPr lang="en-US"/>
              <a:t>Example: project social-security number and names:</a:t>
            </a:r>
          </a:p>
          <a:p>
            <a:pPr lvl="1"/>
            <a:r>
              <a:rPr lang="en-US">
                <a:latin typeface="Symbol" pitchFamily="-111" charset="2"/>
              </a:rPr>
              <a:t>P</a:t>
            </a:r>
            <a:r>
              <a:rPr lang="en-US"/>
              <a:t> </a:t>
            </a:r>
            <a:r>
              <a:rPr lang="en-US" baseline="-25000"/>
              <a:t>SSN, Name</a:t>
            </a:r>
            <a:r>
              <a:rPr lang="en-US"/>
              <a:t> (Employee)</a:t>
            </a:r>
          </a:p>
          <a:p>
            <a:pPr lvl="1"/>
            <a:r>
              <a:rPr lang="en-US"/>
              <a:t>Output schema:   Answer(SSN, Name)</a:t>
            </a:r>
          </a:p>
          <a:p>
            <a:pPr lvl="1"/>
            <a:endParaRPr lang="en-US"/>
          </a:p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2"/>
              <p:cNvSpPr txBox="1">
                <a:spLocks noChangeArrowheads="1"/>
              </p:cNvSpPr>
              <p:nvPr/>
            </p:nvSpPr>
            <p:spPr>
              <a:xfrm>
                <a:off x="990600" y="517525"/>
                <a:ext cx="10515600" cy="1325563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/>
                  <a:t>2. Projection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Π</m:t>
                    </m:r>
                  </m:oMath>
                </a14:m>
                <a:r>
                  <a:rPr lang="en-US"/>
                  <a:t>)</a:t>
                </a:r>
              </a:p>
            </p:txBody>
          </p:sp>
        </mc:Choice>
        <mc:Fallback xmlns="">
          <p:sp>
            <p:nvSpPr>
              <p:cNvPr id="7" name="Rectangl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517525"/>
                <a:ext cx="10515600" cy="1325563"/>
              </a:xfrm>
              <a:prstGeom prst="rect">
                <a:avLst/>
              </a:prstGeom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35"/>
          <p:cNvSpPr>
            <a:spLocks noChangeArrowheads="1"/>
          </p:cNvSpPr>
          <p:nvPr/>
        </p:nvSpPr>
        <p:spPr bwMode="auto">
          <a:xfrm>
            <a:off x="7286625" y="2214563"/>
            <a:ext cx="3776662" cy="164352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80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 DISTINCT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  </a:t>
            </a:r>
            <a:r>
              <a:rPr lang="en-US" sz="2800" err="1">
                <a:latin typeface="Menlo" charset="0"/>
                <a:ea typeface="Menlo" charset="0"/>
                <a:cs typeface="Menlo" charset="0"/>
              </a:rPr>
              <a:t>sname</a:t>
            </a:r>
            <a:r>
              <a:rPr lang="en-US" sz="2800">
                <a:latin typeface="Menlo" charset="0"/>
                <a:ea typeface="Menlo" charset="0"/>
                <a:cs typeface="Menlo" charset="0"/>
              </a:rPr>
              <a:t>,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>
                <a:latin typeface="Menlo" charset="0"/>
                <a:ea typeface="Menlo" charset="0"/>
                <a:cs typeface="Menlo" charset="0"/>
              </a:rPr>
              <a:t>  </a:t>
            </a:r>
            <a:r>
              <a:rPr lang="en-US" sz="2800" err="1">
                <a:latin typeface="Menlo" charset="0"/>
                <a:ea typeface="Menlo" charset="0"/>
                <a:cs typeface="Menlo" charset="0"/>
              </a:rPr>
              <a:t>gpa</a:t>
            </a:r>
            <a:endParaRPr lang="en-US" sz="2800">
              <a:latin typeface="Menlo" charset="0"/>
              <a:ea typeface="Menlo" charset="0"/>
              <a:cs typeface="Menlo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>
                <a:solidFill>
                  <a:schemeClr val="bg2">
                    <a:lumMod val="90000"/>
                  </a:schemeClr>
                </a:solidFill>
                <a:latin typeface="Menlo" charset="0"/>
                <a:ea typeface="Menlo" charset="0"/>
                <a:cs typeface="Menlo" charset="0"/>
              </a:rPr>
              <a:t>FROM Students;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86625" y="1691343"/>
            <a:ext cx="8386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>
                <a:latin typeface="+mj-lt"/>
              </a:rPr>
              <a:t>SQL: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86624" y="4424363"/>
            <a:ext cx="6719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>
                <a:latin typeface="+mj-lt"/>
              </a:rPr>
              <a:t>RA: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7286624" y="4831792"/>
                <a:ext cx="4500206" cy="5990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360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Π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𝑠</m:t>
                          </m:r>
                          <m:r>
                            <a:rPr lang="en-US" sz="3600" b="0" i="1" smtClean="0">
                              <a:latin typeface="Cambria Math" charset="0"/>
                            </a:rPr>
                            <m:t>𝑛𝑎𝑚𝑒</m:t>
                          </m:r>
                          <m:r>
                            <a:rPr lang="en-US" sz="3600" b="0" i="1" smtClean="0">
                              <a:latin typeface="Cambria Math" charset="0"/>
                            </a:rPr>
                            <m:t>,</m:t>
                          </m:r>
                          <m:r>
                            <a:rPr lang="en-US" sz="3600" b="0" i="1" smtClean="0">
                              <a:latin typeface="Cambria Math" charset="0"/>
                            </a:rPr>
                            <m:t>𝑔𝑝𝑎</m:t>
                          </m:r>
                        </m:sub>
                      </m:sSub>
                      <m:r>
                        <a:rPr lang="en-US" sz="3600" b="0" i="1" smtClean="0">
                          <a:latin typeface="Cambria Math" charset="0"/>
                        </a:rPr>
                        <m:t>(</m:t>
                      </m:r>
                      <m:r>
                        <a:rPr lang="en-US" sz="3600" b="0" i="1" smtClean="0">
                          <a:latin typeface="Cambria Math" charset="0"/>
                        </a:rPr>
                        <m:t>𝑆𝑡𝑢𝑑𝑒𝑛𝑡𝑠</m:t>
                      </m:r>
                      <m:r>
                        <a:rPr lang="en-US" sz="3600" b="0" i="1" smtClean="0">
                          <a:latin typeface="Cambria Math" charset="0"/>
                        </a:rPr>
                        <m:t>)</m:t>
                      </m:r>
                    </m:oMath>
                  </m:oMathPara>
                </a14:m>
                <a:endParaRPr lang="en-US" sz="360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6624" y="4831792"/>
                <a:ext cx="4500206" cy="5990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Down Arrow 13"/>
          <p:cNvSpPr/>
          <p:nvPr/>
        </p:nvSpPr>
        <p:spPr>
          <a:xfrm>
            <a:off x="8889206" y="4109627"/>
            <a:ext cx="571500" cy="629471"/>
          </a:xfrm>
          <a:prstGeom prst="down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35"/>
          <p:cNvSpPr>
            <a:spLocks noChangeArrowheads="1"/>
          </p:cNvSpPr>
          <p:nvPr/>
        </p:nvSpPr>
        <p:spPr bwMode="auto">
          <a:xfrm>
            <a:off x="7286624" y="737271"/>
            <a:ext cx="3388464" cy="34163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Students(</a:t>
            </a:r>
            <a:r>
              <a:rPr lang="en-US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sid,sname,gpa</a:t>
            </a:r>
            <a:r>
              <a:rPr lang="en-US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87016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  <p:bldP spid="9" grpId="0" animBg="1"/>
      <p:bldP spid="3" grpId="0"/>
      <p:bldP spid="12" grpId="0"/>
      <p:bldP spid="11" grpId="0"/>
      <p:bldP spid="14" grpId="0" animBg="1"/>
      <p:bldP spid="1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/>
          <p:cNvSpPr>
            <a:spLocks noChangeArrowheads="1"/>
          </p:cNvSpPr>
          <p:nvPr/>
        </p:nvSpPr>
        <p:spPr bwMode="auto">
          <a:xfrm>
            <a:off x="2028826" y="3503149"/>
            <a:ext cx="350256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>
              <a:spcBef>
                <a:spcPct val="20000"/>
              </a:spcBef>
            </a:pPr>
            <a:r>
              <a:rPr lang="en-US" sz="2800">
                <a:latin typeface="Symbol" pitchFamily="-111" charset="2"/>
              </a:rPr>
              <a:t>P</a:t>
            </a:r>
            <a:r>
              <a:rPr lang="en-US" sz="2800"/>
              <a:t> </a:t>
            </a:r>
            <a:r>
              <a:rPr lang="en-US" sz="2800" baseline="-25000"/>
              <a:t>Name,Salary</a:t>
            </a:r>
            <a:r>
              <a:rPr lang="en-US" sz="2800"/>
              <a:t> (Employee)</a:t>
            </a:r>
          </a:p>
        </p:txBody>
      </p:sp>
      <p:graphicFrame>
        <p:nvGraphicFramePr>
          <p:cNvPr id="9222" name="Group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9334943"/>
              </p:ext>
            </p:extLst>
          </p:nvPr>
        </p:nvGraphicFramePr>
        <p:xfrm>
          <a:off x="4114799" y="758443"/>
          <a:ext cx="6019800" cy="2184400"/>
        </p:xfrm>
        <a:graphic>
          <a:graphicData uri="http://schemas.openxmlformats.org/drawingml/2006/table">
            <a:tbl>
              <a:tblPr/>
              <a:tblGrid>
                <a:gridCol w="200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6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SSN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Salary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1234545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John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20,000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5423341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John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60,000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4352342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John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20,000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262" name="Group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2679903"/>
              </p:ext>
            </p:extLst>
          </p:nvPr>
        </p:nvGraphicFramePr>
        <p:xfrm>
          <a:off x="5118099" y="4586675"/>
          <a:ext cx="4013200" cy="1638300"/>
        </p:xfrm>
        <a:graphic>
          <a:graphicData uri="http://schemas.openxmlformats.org/drawingml/2006/table">
            <a:tbl>
              <a:tblPr/>
              <a:tblGrid>
                <a:gridCol w="200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Name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Salary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John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20,000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John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60,000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85775" y="1001715"/>
            <a:ext cx="27537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+mj-lt"/>
              </a:rPr>
              <a:t>Another example:</a:t>
            </a:r>
          </a:p>
        </p:txBody>
      </p:sp>
      <p:sp>
        <p:nvSpPr>
          <p:cNvPr id="9" name="Down Arrow 8"/>
          <p:cNvSpPr/>
          <p:nvPr/>
        </p:nvSpPr>
        <p:spPr>
          <a:xfrm>
            <a:off x="6831806" y="3438528"/>
            <a:ext cx="585787" cy="65246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0" grpId="0"/>
      <p:bldP spid="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Note that RA Operators are Compositional!</a:t>
            </a:r>
          </a:p>
        </p:txBody>
      </p:sp>
      <p:sp>
        <p:nvSpPr>
          <p:cNvPr id="6" name="Rectangle 35"/>
          <p:cNvSpPr>
            <a:spLocks noChangeArrowheads="1"/>
          </p:cNvSpPr>
          <p:nvPr/>
        </p:nvSpPr>
        <p:spPr bwMode="auto">
          <a:xfrm>
            <a:off x="838200" y="2655984"/>
            <a:ext cx="3776662" cy="2031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80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 DISTINCT</a:t>
            </a:r>
            <a:r>
              <a:rPr lang="en-US" sz="2800">
                <a:solidFill>
                  <a:schemeClr val="bg2">
                    <a:lumMod val="90000"/>
                  </a:schemeClr>
                </a:solidFill>
                <a:latin typeface="Menlo" charset="0"/>
                <a:ea typeface="Menlo" charset="0"/>
                <a:cs typeface="Menlo" charset="0"/>
              </a:rPr>
              <a:t>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>
                <a:solidFill>
                  <a:schemeClr val="bg2">
                    <a:lumMod val="90000"/>
                  </a:schemeClr>
                </a:solidFill>
                <a:latin typeface="Menlo" charset="0"/>
                <a:ea typeface="Menlo" charset="0"/>
                <a:cs typeface="Menlo" charset="0"/>
              </a:rPr>
              <a:t>  </a:t>
            </a:r>
            <a:r>
              <a:rPr lang="en-US" sz="2800" err="1">
                <a:latin typeface="Menlo" charset="0"/>
                <a:ea typeface="Menlo" charset="0"/>
                <a:cs typeface="Menlo" charset="0"/>
              </a:rPr>
              <a:t>sname</a:t>
            </a:r>
            <a:r>
              <a:rPr lang="en-US" sz="2800">
                <a:latin typeface="Menlo" charset="0"/>
                <a:ea typeface="Menlo" charset="0"/>
                <a:cs typeface="Menlo" charset="0"/>
              </a:rPr>
              <a:t>,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>
                <a:latin typeface="Menlo" charset="0"/>
                <a:ea typeface="Menlo" charset="0"/>
                <a:cs typeface="Menlo" charset="0"/>
              </a:rPr>
              <a:t>  </a:t>
            </a:r>
            <a:r>
              <a:rPr lang="en-US" sz="2800" err="1">
                <a:latin typeface="Menlo" charset="0"/>
                <a:ea typeface="Menlo" charset="0"/>
                <a:cs typeface="Menlo" charset="0"/>
              </a:rPr>
              <a:t>gpa</a:t>
            </a:r>
            <a:endParaRPr lang="en-US" sz="2800">
              <a:latin typeface="Menlo" charset="0"/>
              <a:ea typeface="Menlo" charset="0"/>
              <a:cs typeface="Menlo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800">
                <a:latin typeface="Menlo" charset="0"/>
                <a:ea typeface="Menlo" charset="0"/>
                <a:cs typeface="Menlo" charset="0"/>
              </a:rPr>
              <a:t> Students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80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800" err="1">
                <a:latin typeface="Menlo" charset="0"/>
                <a:ea typeface="Menlo" charset="0"/>
                <a:cs typeface="Menlo" charset="0"/>
              </a:rPr>
              <a:t>gpa</a:t>
            </a:r>
            <a:r>
              <a:rPr lang="en-US" sz="2800">
                <a:latin typeface="Menlo" charset="0"/>
                <a:ea typeface="Menlo" charset="0"/>
                <a:cs typeface="Menlo" charset="0"/>
              </a:rPr>
              <a:t> &gt; 3.5;</a:t>
            </a:r>
          </a:p>
        </p:txBody>
      </p:sp>
      <p:sp>
        <p:nvSpPr>
          <p:cNvPr id="7" name="Rectangle 35"/>
          <p:cNvSpPr>
            <a:spLocks noChangeArrowheads="1"/>
          </p:cNvSpPr>
          <p:nvPr/>
        </p:nvSpPr>
        <p:spPr bwMode="auto">
          <a:xfrm>
            <a:off x="838200" y="1793054"/>
            <a:ext cx="3365205" cy="34163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Students(</a:t>
            </a:r>
            <a:r>
              <a:rPr lang="en-US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sid,sname,gpa</a:t>
            </a:r>
            <a:r>
              <a:rPr lang="en-US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5175551"/>
            <a:ext cx="3519488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>
                <a:latin typeface="+mj-lt"/>
              </a:rPr>
              <a:t>How do we represent this query in RA?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6096000" y="3017621"/>
                <a:ext cx="5759333" cy="5324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320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Π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𝑠</m:t>
                          </m:r>
                          <m:r>
                            <a:rPr lang="en-US" sz="3200" b="0" i="1" smtClean="0">
                              <a:latin typeface="Cambria Math" charset="0"/>
                            </a:rPr>
                            <m:t>𝑛𝑎𝑚𝑒</m:t>
                          </m:r>
                          <m:r>
                            <a:rPr lang="en-US" sz="3200" b="0" i="1" smtClean="0">
                              <a:latin typeface="Cambria Math" charset="0"/>
                            </a:rPr>
                            <m:t>,</m:t>
                          </m:r>
                          <m:r>
                            <a:rPr lang="en-US" sz="3200" b="0" i="1" smtClean="0">
                              <a:latin typeface="Cambria Math" charset="0"/>
                            </a:rPr>
                            <m:t>𝑔𝑝𝑎</m:t>
                          </m:r>
                        </m:sub>
                      </m:sSub>
                      <m:r>
                        <a:rPr lang="en-US" sz="3200" b="0" i="1" smtClean="0">
                          <a:latin typeface="Cambria Math" charset="0"/>
                        </a:rPr>
                        <m:t>(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𝜎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charset="0"/>
                            </a:rPr>
                            <m:t>𝑔𝑝𝑎</m:t>
                          </m:r>
                          <m:r>
                            <a:rPr lang="en-US" sz="3200" b="0" i="1" smtClean="0">
                              <a:latin typeface="Cambria Math" charset="0"/>
                            </a:rPr>
                            <m:t>&gt;3.5</m:t>
                          </m:r>
                        </m:sub>
                      </m:sSub>
                      <m:r>
                        <a:rPr lang="en-US" sz="3200" b="0" i="1" smtClean="0">
                          <a:latin typeface="Cambria Math" charset="0"/>
                        </a:rPr>
                        <m:t>(</m:t>
                      </m:r>
                      <m:r>
                        <a:rPr lang="en-US" sz="3200" b="0" i="1" smtClean="0">
                          <a:latin typeface="Cambria Math" charset="0"/>
                        </a:rPr>
                        <m:t>𝑆𝑡𝑢𝑑𝑒𝑛𝑡𝑠</m:t>
                      </m:r>
                      <m:r>
                        <a:rPr lang="en-US" sz="3200" b="0" i="1" smtClean="0">
                          <a:latin typeface="Cambria Math" charset="0"/>
                        </a:rPr>
                        <m:t>))</m:t>
                      </m:r>
                    </m:oMath>
                  </m:oMathPara>
                </a14:m>
                <a:endParaRPr lang="en-US" sz="320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017621"/>
                <a:ext cx="5759333" cy="5324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ight Arrow 9"/>
          <p:cNvSpPr/>
          <p:nvPr/>
        </p:nvSpPr>
        <p:spPr>
          <a:xfrm>
            <a:off x="5033962" y="3087579"/>
            <a:ext cx="642938" cy="392536"/>
          </a:xfrm>
          <a:prstGeom prst="righ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5966155" y="4681643"/>
                <a:ext cx="5874750" cy="5324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3200" i="1">
                                  <a:latin typeface="Cambria Math" charset="0"/>
                                </a:rPr>
                                <m:t>𝑔𝑝𝑎</m:t>
                              </m:r>
                              <m:r>
                                <a:rPr lang="en-US" sz="3200" i="1">
                                  <a:latin typeface="Cambria Math" charset="0"/>
                                </a:rPr>
                                <m:t>&gt;3.5</m:t>
                              </m:r>
                            </m:sub>
                          </m:sSub>
                          <m:r>
                            <a:rPr lang="en-US" sz="3200" b="0" i="1" smtClean="0">
                              <a:latin typeface="Cambria Math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l-GR" sz="320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Π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𝑠</m:t>
                          </m:r>
                          <m:r>
                            <a:rPr lang="en-US" sz="3200" b="0" i="1" smtClean="0">
                              <a:latin typeface="Cambria Math" charset="0"/>
                            </a:rPr>
                            <m:t>𝑛𝑎𝑚𝑒</m:t>
                          </m:r>
                          <m:r>
                            <a:rPr lang="en-US" sz="3200" b="0" i="1" smtClean="0">
                              <a:latin typeface="Cambria Math" charset="0"/>
                            </a:rPr>
                            <m:t>,</m:t>
                          </m:r>
                          <m:r>
                            <a:rPr lang="en-US" sz="3200" b="0" i="1" smtClean="0">
                              <a:latin typeface="Cambria Math" charset="0"/>
                            </a:rPr>
                            <m:t>𝑔𝑝𝑎</m:t>
                          </m:r>
                        </m:sub>
                      </m:sSub>
                      <m:r>
                        <a:rPr lang="en-US" sz="3200" b="0" i="1" smtClean="0">
                          <a:latin typeface="Cambria Math" charset="0"/>
                        </a:rPr>
                        <m:t>( </m:t>
                      </m:r>
                      <m:r>
                        <a:rPr lang="en-US" sz="3200" b="0" i="1" smtClean="0">
                          <a:latin typeface="Cambria Math" charset="0"/>
                        </a:rPr>
                        <m:t>𝑆𝑡𝑢𝑑𝑒𝑛𝑡𝑠</m:t>
                      </m:r>
                      <m:r>
                        <a:rPr lang="en-US" sz="3200" b="0" i="1" smtClean="0">
                          <a:latin typeface="Cambria Math" charset="0"/>
                        </a:rPr>
                        <m:t>))</m:t>
                      </m:r>
                    </m:oMath>
                  </m:oMathPara>
                </a14:m>
                <a:endParaRPr lang="en-US" sz="320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6155" y="4681643"/>
                <a:ext cx="5874750" cy="5324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Up-Down Arrow 11"/>
          <p:cNvSpPr/>
          <p:nvPr/>
        </p:nvSpPr>
        <p:spPr>
          <a:xfrm>
            <a:off x="8716584" y="3786167"/>
            <a:ext cx="373893" cy="659383"/>
          </a:xfrm>
          <a:prstGeom prst="upDown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6096000" y="5725865"/>
            <a:ext cx="4628707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>
                <a:latin typeface="+mj-lt"/>
              </a:rPr>
              <a:t>Are these logically equivalent?</a:t>
            </a:r>
          </a:p>
        </p:txBody>
      </p:sp>
    </p:spTree>
    <p:extLst>
      <p:ext uri="{BB962C8B-B14F-4D97-AF65-F5344CB8AC3E}">
        <p14:creationId xmlns:p14="http://schemas.microsoft.com/office/powerpoint/2010/main" val="1453761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 animBg="1"/>
      <p:bldP spid="11" grpId="0"/>
      <p:bldP spid="12" grpId="0" animBg="1"/>
      <p:bldP spid="1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843088"/>
            <a:ext cx="5395914" cy="4419600"/>
          </a:xfrm>
        </p:spPr>
        <p:txBody>
          <a:bodyPr>
            <a:normAutofit/>
          </a:bodyPr>
          <a:lstStyle/>
          <a:p>
            <a:r>
              <a:rPr lang="en-US"/>
              <a:t>Each tuple in R1 with each tuple in R2</a:t>
            </a:r>
          </a:p>
          <a:p>
            <a:r>
              <a:rPr lang="en-US"/>
              <a:t>Notation: R1 </a:t>
            </a:r>
            <a:r>
              <a:rPr lang="en-US">
                <a:sym typeface="Symbol" pitchFamily="-111" charset="2"/>
              </a:rPr>
              <a:t></a:t>
            </a:r>
            <a:r>
              <a:rPr lang="en-US"/>
              <a:t> R2</a:t>
            </a:r>
          </a:p>
          <a:p>
            <a:r>
              <a:rPr lang="en-US"/>
              <a:t>Example:  </a:t>
            </a:r>
          </a:p>
          <a:p>
            <a:pPr lvl="1"/>
            <a:r>
              <a:rPr lang="en-US"/>
              <a:t>Employee </a:t>
            </a:r>
            <a:r>
              <a:rPr lang="en-US">
                <a:sym typeface="Symbol" pitchFamily="-111" charset="2"/>
              </a:rPr>
              <a:t></a:t>
            </a:r>
            <a:r>
              <a:rPr lang="en-US"/>
              <a:t> Dependents</a:t>
            </a:r>
          </a:p>
          <a:p>
            <a:r>
              <a:rPr lang="en-US"/>
              <a:t>Rare in practice; mainly used to express joins</a:t>
            </a:r>
          </a:p>
          <a:p>
            <a:pPr lvl="1"/>
            <a:endParaRPr lang="en-US"/>
          </a:p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2"/>
              <p:cNvSpPr txBox="1">
                <a:spLocks noChangeArrowheads="1"/>
              </p:cNvSpPr>
              <p:nvPr/>
            </p:nvSpPr>
            <p:spPr>
              <a:xfrm>
                <a:off x="990600" y="517525"/>
                <a:ext cx="10515600" cy="1325563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/>
                  <a:t>3. Cross-Product (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</m:oMath>
                </a14:m>
                <a:r>
                  <a:rPr lang="en-US"/>
                  <a:t>)</a:t>
                </a:r>
              </a:p>
            </p:txBody>
          </p:sp>
        </mc:Choice>
        <mc:Fallback xmlns="">
          <p:sp>
            <p:nvSpPr>
              <p:cNvPr id="7" name="Rectangl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517525"/>
                <a:ext cx="10515600" cy="1325563"/>
              </a:xfrm>
              <a:prstGeom prst="rect">
                <a:avLst/>
              </a:prstGeom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35"/>
          <p:cNvSpPr>
            <a:spLocks noChangeArrowheads="1"/>
          </p:cNvSpPr>
          <p:nvPr/>
        </p:nvSpPr>
        <p:spPr bwMode="auto">
          <a:xfrm>
            <a:off x="7286624" y="2214563"/>
            <a:ext cx="4410437" cy="75713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400">
                <a:solidFill>
                  <a:schemeClr val="bg2">
                    <a:lumMod val="90000"/>
                  </a:schemeClr>
                </a:solidFill>
                <a:latin typeface="Menlo" charset="0"/>
                <a:ea typeface="Menlo" charset="0"/>
                <a:cs typeface="Menlo" charset="0"/>
              </a:rPr>
              <a:t>SELECT *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 </a:t>
            </a:r>
            <a:r>
              <a:rPr lang="en-US" sz="2400">
                <a:latin typeface="Menlo" charset="0"/>
                <a:ea typeface="Menlo" charset="0"/>
                <a:cs typeface="Menlo" charset="0"/>
              </a:rPr>
              <a:t>Students, People;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86625" y="1691343"/>
            <a:ext cx="8386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>
                <a:latin typeface="+mj-lt"/>
              </a:rPr>
              <a:t>SQL: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86624" y="3997027"/>
            <a:ext cx="6719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>
                <a:latin typeface="+mj-lt"/>
              </a:rPr>
              <a:t>RA: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7286624" y="4404456"/>
                <a:ext cx="3898888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charset="0"/>
                        </a:rPr>
                        <m:t>𝑆𝑡𝑢𝑑𝑒𝑛𝑡𝑠</m:t>
                      </m:r>
                      <m:r>
                        <a:rPr lang="en-US" sz="3600" b="0" i="1" smtClean="0">
                          <a:latin typeface="Cambria Math" charset="0"/>
                        </a:rPr>
                        <m:t> × </m:t>
                      </m:r>
                      <m:r>
                        <a:rPr lang="en-US" sz="36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𝑃𝑒𝑜𝑝𝑙𝑒</m:t>
                      </m:r>
                    </m:oMath>
                  </m:oMathPara>
                </a14:m>
                <a:endParaRPr lang="en-US" sz="360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6624" y="4404456"/>
                <a:ext cx="3898888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Down Arrow 13"/>
          <p:cNvSpPr/>
          <p:nvPr/>
        </p:nvSpPr>
        <p:spPr>
          <a:xfrm>
            <a:off x="9206092" y="3366148"/>
            <a:ext cx="571500" cy="629471"/>
          </a:xfrm>
          <a:prstGeom prst="down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35"/>
          <p:cNvSpPr>
            <a:spLocks noChangeArrowheads="1"/>
          </p:cNvSpPr>
          <p:nvPr/>
        </p:nvSpPr>
        <p:spPr bwMode="auto">
          <a:xfrm>
            <a:off x="7286623" y="823413"/>
            <a:ext cx="3785413" cy="5909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Students(</a:t>
            </a:r>
            <a:r>
              <a:rPr lang="en-US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sid,sname,gpa</a:t>
            </a:r>
            <a:r>
              <a:rPr lang="en-US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People(</a:t>
            </a:r>
            <a:r>
              <a:rPr lang="en-US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ssn,pname,address</a:t>
            </a:r>
            <a:r>
              <a:rPr lang="en-US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97890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  <p:bldP spid="9" grpId="0" animBg="1"/>
      <p:bldP spid="3" grpId="0"/>
      <p:bldP spid="12" grpId="0"/>
      <p:bldP spid="11" grpId="0"/>
      <p:bldP spid="14" grpId="0" animBg="1"/>
      <p:bldP spid="1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oup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4884652"/>
              </p:ext>
            </p:extLst>
          </p:nvPr>
        </p:nvGraphicFramePr>
        <p:xfrm>
          <a:off x="3271838" y="1472819"/>
          <a:ext cx="3277818" cy="1026092"/>
        </p:xfrm>
        <a:graphic>
          <a:graphicData uri="http://schemas.openxmlformats.org/drawingml/2006/table">
            <a:tbl>
              <a:tblPr/>
              <a:tblGrid>
                <a:gridCol w="10926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60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91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4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ssn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itchFamily="-111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pname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itchFamily="-111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address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40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1234545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John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216 </a:t>
                      </a:r>
                      <a:r>
                        <a:rPr kumimoji="0" lang="en-US" sz="16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Rosse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itchFamily="-111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40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5423341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Bob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217 </a:t>
                      </a:r>
                      <a:r>
                        <a:rPr kumimoji="0" lang="en-US" sz="16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Rosse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itchFamily="-111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" name="Group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5884763"/>
              </p:ext>
            </p:extLst>
          </p:nvPr>
        </p:nvGraphicFramePr>
        <p:xfrm>
          <a:off x="7510463" y="1472819"/>
          <a:ext cx="3057523" cy="1026092"/>
        </p:xfrm>
        <a:graphic>
          <a:graphicData uri="http://schemas.openxmlformats.org/drawingml/2006/table">
            <a:tbl>
              <a:tblPr/>
              <a:tblGrid>
                <a:gridCol w="10191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44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4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sid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itchFamily="-111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sname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itchFamily="-111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gpa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itchFamily="-111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40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001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John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3.4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40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002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Bob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1.3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901711" y="3275743"/>
                <a:ext cx="3898888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charset="0"/>
                        </a:rPr>
                        <m:t>𝑆𝑡𝑢𝑑𝑒𝑛𝑡𝑠</m:t>
                      </m:r>
                      <m:r>
                        <a:rPr lang="en-US" sz="3600" b="0" i="1" smtClean="0">
                          <a:latin typeface="Cambria Math" charset="0"/>
                        </a:rPr>
                        <m:t> × </m:t>
                      </m:r>
                      <m:r>
                        <a:rPr lang="en-US" sz="36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𝑃𝑒𝑜𝑝𝑙𝑒</m:t>
                      </m:r>
                    </m:oMath>
                  </m:oMathPara>
                </a14:m>
                <a:endParaRPr lang="en-US" sz="360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711" y="3275743"/>
                <a:ext cx="3898888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6637621" y="1744136"/>
                <a:ext cx="619080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×</m:t>
                      </m:r>
                    </m:oMath>
                  </m:oMathPara>
                </a14:m>
                <a:endParaRPr lang="en-US" sz="360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7621" y="1744136"/>
                <a:ext cx="619080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Down Arrow 6"/>
          <p:cNvSpPr/>
          <p:nvPr/>
        </p:nvSpPr>
        <p:spPr>
          <a:xfrm>
            <a:off x="6654267" y="3226511"/>
            <a:ext cx="585787" cy="65246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Group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8907031"/>
              </p:ext>
            </p:extLst>
          </p:nvPr>
        </p:nvGraphicFramePr>
        <p:xfrm>
          <a:off x="4043363" y="4444246"/>
          <a:ext cx="5786439" cy="1716904"/>
        </p:xfrm>
        <a:graphic>
          <a:graphicData uri="http://schemas.openxmlformats.org/drawingml/2006/table">
            <a:tbl>
              <a:tblPr/>
              <a:tblGrid>
                <a:gridCol w="11445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82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68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94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34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ssn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itchFamily="-111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pname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itchFamily="-111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address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sid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itchFamily="-111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sname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itchFamily="-111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gpa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itchFamily="-111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40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1234545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John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216 </a:t>
                      </a:r>
                      <a:r>
                        <a:rPr kumimoji="0" lang="en-US" sz="16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Rosse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itchFamily="-111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001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John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3.4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40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5423341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Bob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217 </a:t>
                      </a:r>
                      <a:r>
                        <a:rPr kumimoji="0" lang="en-US" sz="16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Rosse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itchFamily="-111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001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John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3.4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540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1234545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John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216 </a:t>
                      </a:r>
                      <a:r>
                        <a:rPr kumimoji="0" lang="en-US" sz="16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Rosse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itchFamily="-111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002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Bob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1.3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540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5423341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Bob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216 </a:t>
                      </a:r>
                      <a:r>
                        <a:rPr kumimoji="0" lang="en-US" sz="16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Rosse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itchFamily="-111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002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Bob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1.3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71838" y="934734"/>
            <a:ext cx="10393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People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10463" y="940780"/>
            <a:ext cx="12879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Students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5775" y="1001715"/>
            <a:ext cx="27537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+mj-lt"/>
              </a:rPr>
              <a:t>Another example:</a:t>
            </a:r>
          </a:p>
        </p:txBody>
      </p:sp>
    </p:spTree>
    <p:extLst>
      <p:ext uri="{BB962C8B-B14F-4D97-AF65-F5344CB8AC3E}">
        <p14:creationId xmlns:p14="http://schemas.microsoft.com/office/powerpoint/2010/main" val="601096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599" y="1843088"/>
            <a:ext cx="5967413" cy="4419600"/>
          </a:xfrm>
        </p:spPr>
        <p:txBody>
          <a:bodyPr>
            <a:normAutofit/>
          </a:bodyPr>
          <a:lstStyle/>
          <a:p>
            <a:r>
              <a:rPr lang="en-US"/>
              <a:t>Changes the schema, not the instance</a:t>
            </a:r>
          </a:p>
          <a:p>
            <a:r>
              <a:rPr lang="en-US"/>
              <a:t>A ‘special’ operator- neither basic nor derived</a:t>
            </a:r>
          </a:p>
          <a:p>
            <a:r>
              <a:rPr lang="en-US"/>
              <a:t>Notation: </a:t>
            </a:r>
            <a:r>
              <a:rPr lang="en-US">
                <a:latin typeface="Symbol" pitchFamily="-111" charset="2"/>
              </a:rPr>
              <a:t>r</a:t>
            </a:r>
            <a:r>
              <a:rPr lang="en-US"/>
              <a:t> </a:t>
            </a:r>
            <a:r>
              <a:rPr lang="en-US" baseline="-25000"/>
              <a:t>B1,…,</a:t>
            </a:r>
            <a:r>
              <a:rPr lang="en-US" baseline="-25000" err="1"/>
              <a:t>Bn</a:t>
            </a:r>
            <a:r>
              <a:rPr lang="en-US"/>
              <a:t> (R)</a:t>
            </a:r>
          </a:p>
          <a:p>
            <a:pPr lvl="1"/>
            <a:endParaRPr lang="en-US"/>
          </a:p>
          <a:p>
            <a:r>
              <a:rPr lang="en-US" b="1"/>
              <a:t>Note: this is shorthand for the proper form (since names, not order matters!):</a:t>
            </a:r>
          </a:p>
          <a:p>
            <a:pPr lvl="1"/>
            <a:r>
              <a:rPr lang="en-US">
                <a:latin typeface="Symbol" pitchFamily="-111" charset="2"/>
              </a:rPr>
              <a:t>r</a:t>
            </a:r>
            <a:r>
              <a:rPr lang="en-US"/>
              <a:t> </a:t>
            </a:r>
            <a:r>
              <a:rPr lang="en-US" baseline="-25000"/>
              <a:t>A1</a:t>
            </a:r>
            <a:r>
              <a:rPr lang="en-US" baseline="-25000">
                <a:sym typeface="Wingdings"/>
              </a:rPr>
              <a:t></a:t>
            </a:r>
            <a:r>
              <a:rPr lang="en-US" baseline="-25000"/>
              <a:t>B1,…,</a:t>
            </a:r>
            <a:r>
              <a:rPr lang="en-US" baseline="-25000" err="1"/>
              <a:t>An</a:t>
            </a:r>
            <a:r>
              <a:rPr lang="en-US" baseline="-25000" err="1">
                <a:sym typeface="Wingdings"/>
              </a:rPr>
              <a:t></a:t>
            </a:r>
            <a:r>
              <a:rPr lang="en-US" baseline="-25000" err="1"/>
              <a:t>Bn</a:t>
            </a:r>
            <a:r>
              <a:rPr lang="en-US"/>
              <a:t> (R)</a:t>
            </a:r>
          </a:p>
          <a:p>
            <a:pPr lvl="1"/>
            <a:endParaRPr lang="en-US" b="1"/>
          </a:p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2"/>
              <p:cNvSpPr txBox="1">
                <a:spLocks noChangeArrowheads="1"/>
              </p:cNvSpPr>
              <p:nvPr/>
            </p:nvSpPr>
            <p:spPr>
              <a:xfrm>
                <a:off x="990600" y="517525"/>
                <a:ext cx="10515600" cy="1325563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/>
                  <a:t>Renaming (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𝜌</m:t>
                    </m:r>
                  </m:oMath>
                </a14:m>
                <a:r>
                  <a:rPr lang="en-US"/>
                  <a:t>)</a:t>
                </a:r>
              </a:p>
            </p:txBody>
          </p:sp>
        </mc:Choice>
        <mc:Fallback xmlns="">
          <p:sp>
            <p:nvSpPr>
              <p:cNvPr id="7" name="Rectangl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517525"/>
                <a:ext cx="10515600" cy="1325563"/>
              </a:xfrm>
              <a:prstGeom prst="rect">
                <a:avLst/>
              </a:prstGeom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35"/>
          <p:cNvSpPr>
            <a:spLocks noChangeArrowheads="1"/>
          </p:cNvSpPr>
          <p:nvPr/>
        </p:nvSpPr>
        <p:spPr bwMode="auto">
          <a:xfrm>
            <a:off x="7286624" y="2214563"/>
            <a:ext cx="4410437" cy="175432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40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>
                <a:solidFill>
                  <a:schemeClr val="bg2">
                    <a:lumMod val="90000"/>
                  </a:schemeClr>
                </a:solidFill>
                <a:latin typeface="Menlo" charset="0"/>
                <a:ea typeface="Menlo" charset="0"/>
                <a:cs typeface="Menlo" charset="0"/>
              </a:rPr>
              <a:t>  </a:t>
            </a:r>
            <a:r>
              <a:rPr lang="en-US" sz="2400" err="1">
                <a:latin typeface="Menlo" charset="0"/>
                <a:ea typeface="Menlo" charset="0"/>
                <a:cs typeface="Menlo" charset="0"/>
              </a:rPr>
              <a:t>sid</a:t>
            </a:r>
            <a:r>
              <a:rPr lang="en-US" sz="2400">
                <a:latin typeface="Menlo" charset="0"/>
                <a:ea typeface="Menlo" charset="0"/>
                <a:cs typeface="Menlo" charset="0"/>
              </a:rPr>
              <a:t> AS </a:t>
            </a:r>
            <a:r>
              <a:rPr lang="en-US" sz="2400" err="1">
                <a:latin typeface="Menlo" charset="0"/>
                <a:ea typeface="Menlo" charset="0"/>
                <a:cs typeface="Menlo" charset="0"/>
              </a:rPr>
              <a:t>studId</a:t>
            </a:r>
            <a:r>
              <a:rPr lang="en-US" sz="2400">
                <a:latin typeface="Menlo" charset="0"/>
                <a:ea typeface="Menlo" charset="0"/>
                <a:cs typeface="Menlo" charset="0"/>
              </a:rPr>
              <a:t>,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>
                <a:latin typeface="Menlo" charset="0"/>
                <a:ea typeface="Menlo" charset="0"/>
                <a:cs typeface="Menlo" charset="0"/>
              </a:rPr>
              <a:t>  </a:t>
            </a:r>
            <a:r>
              <a:rPr lang="en-US" sz="2400" err="1">
                <a:latin typeface="Menlo" charset="0"/>
                <a:ea typeface="Menlo" charset="0"/>
                <a:cs typeface="Menlo" charset="0"/>
              </a:rPr>
              <a:t>sname</a:t>
            </a:r>
            <a:r>
              <a:rPr lang="en-US" sz="2400">
                <a:latin typeface="Menlo" charset="0"/>
                <a:ea typeface="Menlo" charset="0"/>
                <a:cs typeface="Menlo" charset="0"/>
              </a:rPr>
              <a:t> AS name,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>
                <a:latin typeface="Menlo" charset="0"/>
                <a:ea typeface="Menlo" charset="0"/>
                <a:cs typeface="Menlo" charset="0"/>
              </a:rPr>
              <a:t>  </a:t>
            </a:r>
            <a:r>
              <a:rPr lang="en-US" sz="2400" err="1">
                <a:latin typeface="Menlo" charset="0"/>
                <a:ea typeface="Menlo" charset="0"/>
                <a:cs typeface="Menlo" charset="0"/>
              </a:rPr>
              <a:t>gpa</a:t>
            </a:r>
            <a:r>
              <a:rPr lang="en-US" sz="2400">
                <a:latin typeface="Menlo" charset="0"/>
                <a:ea typeface="Menlo" charset="0"/>
                <a:cs typeface="Menlo" charset="0"/>
              </a:rPr>
              <a:t> AS </a:t>
            </a:r>
            <a:r>
              <a:rPr lang="en-US" sz="2400" err="1">
                <a:latin typeface="Menlo" charset="0"/>
                <a:ea typeface="Menlo" charset="0"/>
                <a:cs typeface="Menlo" charset="0"/>
              </a:rPr>
              <a:t>gradePtAvg</a:t>
            </a:r>
            <a:endParaRPr lang="en-US" sz="2400">
              <a:latin typeface="Menlo" charset="0"/>
              <a:ea typeface="Menlo" charset="0"/>
              <a:cs typeface="Menlo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 </a:t>
            </a:r>
            <a:r>
              <a:rPr lang="en-US" sz="2400">
                <a:latin typeface="Menlo" charset="0"/>
                <a:ea typeface="Menlo" charset="0"/>
                <a:cs typeface="Menlo" charset="0"/>
              </a:rPr>
              <a:t>Students;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86625" y="1691343"/>
            <a:ext cx="8386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>
                <a:latin typeface="+mj-lt"/>
              </a:rPr>
              <a:t>SQL: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86624" y="4473353"/>
            <a:ext cx="6719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>
                <a:latin typeface="+mj-lt"/>
              </a:rPr>
              <a:t>RA: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7286624" y="4880782"/>
                <a:ext cx="4545924" cy="3994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𝜌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𝑠𝑡𝑢𝑑𝐼𝑑</m:t>
                          </m:r>
                          <m:r>
                            <a:rPr lang="en-US" sz="24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𝑛𝑎𝑚𝑒</m:t>
                          </m:r>
                          <m:r>
                            <a:rPr lang="en-US" sz="24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𝑔𝑟𝑎𝑑𝑒𝑃𝑡𝐴𝑣𝑔</m:t>
                          </m:r>
                        </m:sub>
                      </m:sSub>
                      <m:r>
                        <a:rPr lang="en-US" sz="24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charset="0"/>
                        </a:rPr>
                        <m:t>𝑆𝑡𝑢𝑑𝑒𝑛𝑡𝑠</m:t>
                      </m:r>
                      <m:r>
                        <a:rPr lang="en-US" sz="2400" b="0" i="1" smtClean="0">
                          <a:latin typeface="Cambria Math" charset="0"/>
                        </a:rPr>
                        <m:t>)</m:t>
                      </m:r>
                    </m:oMath>
                  </m:oMathPara>
                </a14:m>
                <a:endParaRPr lang="en-US" sz="240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6624" y="4880782"/>
                <a:ext cx="4545924" cy="399405"/>
              </a:xfrm>
              <a:prstGeom prst="rect">
                <a:avLst/>
              </a:prstGeom>
              <a:blipFill>
                <a:blip r:embed="rId3"/>
                <a:stretch>
                  <a:fillRect l="-1206" r="-2011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Down Arrow 13"/>
          <p:cNvSpPr/>
          <p:nvPr/>
        </p:nvSpPr>
        <p:spPr>
          <a:xfrm>
            <a:off x="9206092" y="4158617"/>
            <a:ext cx="571500" cy="629471"/>
          </a:xfrm>
          <a:prstGeom prst="down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35"/>
          <p:cNvSpPr>
            <a:spLocks noChangeArrowheads="1"/>
          </p:cNvSpPr>
          <p:nvPr/>
        </p:nvSpPr>
        <p:spPr bwMode="auto">
          <a:xfrm>
            <a:off x="7286624" y="823413"/>
            <a:ext cx="3586164" cy="34163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Students(</a:t>
            </a:r>
            <a:r>
              <a:rPr lang="en-US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sid,sname,gpa</a:t>
            </a:r>
            <a:r>
              <a:rPr lang="en-US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20152" y="5680056"/>
            <a:ext cx="6410327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>
                <a:latin typeface="+mj-lt"/>
              </a:rPr>
              <a:t>We care about this operator </a:t>
            </a:r>
            <a:r>
              <a:rPr lang="en-US" sz="2800" i="1">
                <a:latin typeface="+mj-lt"/>
              </a:rPr>
              <a:t>because</a:t>
            </a:r>
            <a:r>
              <a:rPr lang="en-US" sz="2800">
                <a:latin typeface="+mj-lt"/>
              </a:rPr>
              <a:t> we are working in a </a:t>
            </a:r>
            <a:r>
              <a:rPr lang="en-US" sz="2800" i="1">
                <a:latin typeface="+mj-lt"/>
              </a:rPr>
              <a:t>named perspective</a:t>
            </a:r>
          </a:p>
        </p:txBody>
      </p:sp>
    </p:spTree>
    <p:extLst>
      <p:ext uri="{BB962C8B-B14F-4D97-AF65-F5344CB8AC3E}">
        <p14:creationId xmlns:p14="http://schemas.microsoft.com/office/powerpoint/2010/main" val="1665156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  <p:bldP spid="9" grpId="0" animBg="1"/>
      <p:bldP spid="3" grpId="0"/>
      <p:bldP spid="12" grpId="0"/>
      <p:bldP spid="11" grpId="0"/>
      <p:bldP spid="14" grpId="0" animBg="1"/>
      <p:bldP spid="17" grpId="0" animBg="1"/>
      <p:bldP spid="1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oup 6"/>
          <p:cNvGraphicFramePr>
            <a:graphicFrameLocks noGrp="1"/>
          </p:cNvGraphicFramePr>
          <p:nvPr/>
        </p:nvGraphicFramePr>
        <p:xfrm>
          <a:off x="5495925" y="1744281"/>
          <a:ext cx="3057523" cy="1026092"/>
        </p:xfrm>
        <a:graphic>
          <a:graphicData uri="http://schemas.openxmlformats.org/drawingml/2006/table">
            <a:tbl>
              <a:tblPr/>
              <a:tblGrid>
                <a:gridCol w="10191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44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4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sid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itchFamily="-111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sname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itchFamily="-111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gpa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itchFamily="-111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40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001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John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3.4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40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002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Bob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1.3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96985" y="3319793"/>
                <a:ext cx="5299015" cy="4658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𝜌</m:t>
                          </m:r>
                        </m:e>
                        <m:sub>
                          <m:r>
                            <a:rPr lang="en-US" sz="28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𝑠𝑡𝑢𝑑𝐼𝑑</m:t>
                          </m:r>
                          <m:r>
                            <a:rPr lang="en-US" sz="28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,</m:t>
                          </m:r>
                          <m:r>
                            <a:rPr lang="en-US" sz="28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𝑛𝑎𝑚𝑒</m:t>
                          </m:r>
                          <m:r>
                            <a:rPr lang="en-US" sz="28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,</m:t>
                          </m:r>
                          <m:r>
                            <a:rPr lang="en-US" sz="28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𝑔𝑟𝑎𝑑𝑒𝑃𝑡𝐴𝑣𝑔</m:t>
                          </m:r>
                        </m:sub>
                      </m:sSub>
                      <m:r>
                        <a:rPr lang="en-US" sz="28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(</m:t>
                      </m:r>
                      <m:r>
                        <a:rPr lang="en-US" sz="2800" i="1">
                          <a:latin typeface="Cambria Math" charset="0"/>
                        </a:rPr>
                        <m:t>𝑆𝑡𝑢𝑑𝑒𝑛𝑡𝑠</m:t>
                      </m:r>
                      <m:r>
                        <a:rPr lang="en-US" sz="2800" i="1">
                          <a:latin typeface="Cambria Math" charset="0"/>
                        </a:rPr>
                        <m:t>)</m:t>
                      </m:r>
                    </m:oMath>
                  </m:oMathPara>
                </a14:m>
                <a:endParaRPr lang="en-US" sz="280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985" y="3319793"/>
                <a:ext cx="5299015" cy="4658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Down Arrow 6"/>
          <p:cNvSpPr/>
          <p:nvPr/>
        </p:nvSpPr>
        <p:spPr>
          <a:xfrm>
            <a:off x="6654267" y="3226511"/>
            <a:ext cx="585787" cy="65246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5495925" y="1212242"/>
            <a:ext cx="12879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Students</a:t>
            </a:r>
          </a:p>
        </p:txBody>
      </p:sp>
      <p:graphicFrame>
        <p:nvGraphicFramePr>
          <p:cNvPr id="14" name="Group 6"/>
          <p:cNvGraphicFramePr>
            <a:graphicFrameLocks noGrp="1"/>
          </p:cNvGraphicFramePr>
          <p:nvPr/>
        </p:nvGraphicFramePr>
        <p:xfrm>
          <a:off x="5495925" y="4554156"/>
          <a:ext cx="3057523" cy="1026092"/>
        </p:xfrm>
        <a:graphic>
          <a:graphicData uri="http://schemas.openxmlformats.org/drawingml/2006/table">
            <a:tbl>
              <a:tblPr/>
              <a:tblGrid>
                <a:gridCol w="10191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58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5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4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studId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itchFamily="-111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gradePtAvg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itchFamily="-111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40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001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John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3.4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40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002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Bob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1.3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495925" y="4022117"/>
            <a:ext cx="12879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Students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5775" y="1001715"/>
            <a:ext cx="27537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+mj-lt"/>
              </a:rPr>
              <a:t>Another example:</a:t>
            </a:r>
          </a:p>
        </p:txBody>
      </p:sp>
    </p:spTree>
    <p:extLst>
      <p:ext uri="{BB962C8B-B14F-4D97-AF65-F5344CB8AC3E}">
        <p14:creationId xmlns:p14="http://schemas.microsoft.com/office/powerpoint/2010/main" val="274609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  <p:bldP spid="1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263E6-5F6D-FFDD-08AB-298CC9D2D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>
            <a:extLst>
              <a:ext uri="{FF2B5EF4-FFF2-40B4-BE49-F238E27FC236}">
                <a16:creationId xmlns:a16="http://schemas.microsoft.com/office/drawing/2014/main" id="{3EA0E39E-474E-7661-A9F7-61C7342C74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90600" y="1843088"/>
            <a:ext cx="10515600" cy="441960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2400" u="sng"/>
              <a:t>Five </a:t>
            </a:r>
            <a:r>
              <a:rPr lang="en-US" sz="2400" b="1" u="sng"/>
              <a:t>basic </a:t>
            </a:r>
            <a:r>
              <a:rPr lang="en-US" sz="2400" u="sng"/>
              <a:t>operators: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/>
              <a:t>Selection:</a:t>
            </a:r>
            <a:r>
              <a:rPr lang="en-US">
                <a:latin typeface="Symbol" pitchFamily="-111" charset="2"/>
              </a:rPr>
              <a:t> s</a:t>
            </a:r>
            <a:endParaRPr lang="en-US"/>
          </a:p>
          <a:p>
            <a:pPr marL="914400" lvl="1" indent="-457200">
              <a:buFont typeface="+mj-lt"/>
              <a:buAutoNum type="arabicPeriod"/>
            </a:pPr>
            <a:r>
              <a:rPr lang="en-US"/>
              <a:t>Projection: </a:t>
            </a:r>
            <a:r>
              <a:rPr lang="en-US">
                <a:latin typeface="Symbol" pitchFamily="-111" charset="2"/>
              </a:rPr>
              <a:t>P</a:t>
            </a:r>
            <a:r>
              <a:rPr lang="en-US"/>
              <a:t>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/>
              <a:t>Cartesian Product: </a:t>
            </a:r>
            <a:r>
              <a:rPr lang="en-US">
                <a:sym typeface="Symbol" pitchFamily="-111" charset="2"/>
              </a:rPr>
              <a:t></a:t>
            </a:r>
            <a:endParaRPr lang="en-US"/>
          </a:p>
          <a:p>
            <a:pPr marL="914400" lvl="1" indent="-457200">
              <a:lnSpc>
                <a:spcPct val="90000"/>
              </a:lnSpc>
              <a:buFont typeface="+mj-lt"/>
              <a:buAutoNum type="arabicPeriod"/>
            </a:pPr>
            <a:r>
              <a:rPr lang="en-US"/>
              <a:t>Union: </a:t>
            </a:r>
            <a:r>
              <a:rPr lang="en-US">
                <a:sym typeface="Symbol" pitchFamily="-111" charset="2"/>
              </a:rPr>
              <a:t></a:t>
            </a:r>
            <a:endParaRPr lang="en-US"/>
          </a:p>
          <a:p>
            <a:pPr marL="914400" lvl="1" indent="-457200">
              <a:lnSpc>
                <a:spcPct val="90000"/>
              </a:lnSpc>
              <a:buFont typeface="+mj-lt"/>
              <a:buAutoNum type="arabicPeriod"/>
            </a:pPr>
            <a:r>
              <a:rPr lang="en-US"/>
              <a:t>Difference: -</a:t>
            </a:r>
            <a:endParaRPr lang="en-US" sz="2400"/>
          </a:p>
          <a:p>
            <a:pPr>
              <a:lnSpc>
                <a:spcPct val="90000"/>
              </a:lnSpc>
            </a:pPr>
            <a:r>
              <a:rPr lang="en-US" sz="2400" u="sng"/>
              <a:t>Derived or auxiliary operators:</a:t>
            </a:r>
          </a:p>
          <a:p>
            <a:pPr lvl="1"/>
            <a:r>
              <a:rPr lang="en-US"/>
              <a:t>Intersection, complement</a:t>
            </a:r>
          </a:p>
          <a:p>
            <a:pPr lvl="1"/>
            <a:r>
              <a:rPr lang="en-US"/>
              <a:t>Joins (</a:t>
            </a:r>
            <a:r>
              <a:rPr lang="en-US" err="1"/>
              <a:t>natural,equi</a:t>
            </a:r>
            <a:r>
              <a:rPr lang="en-US"/>
              <a:t>-join, theta join, semi-join)</a:t>
            </a:r>
          </a:p>
          <a:p>
            <a:pPr lvl="1"/>
            <a:r>
              <a:rPr lang="en-US"/>
              <a:t>Renaming:</a:t>
            </a:r>
            <a:r>
              <a:rPr lang="en-US">
                <a:latin typeface="Symbol" pitchFamily="-111" charset="2"/>
              </a:rPr>
              <a:t> </a:t>
            </a:r>
            <a:r>
              <a:rPr lang="en-US" err="1">
                <a:latin typeface="Symbol" pitchFamily="-111" charset="2"/>
              </a:rPr>
              <a:t>r</a:t>
            </a:r>
            <a:r>
              <a:rPr lang="en-US"/>
              <a:t> </a:t>
            </a:r>
          </a:p>
          <a:p>
            <a:pPr lvl="1"/>
            <a:r>
              <a:rPr lang="en-US"/>
              <a:t>Division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5ACC9791-A53A-FC65-38B5-D50622749386}"/>
              </a:ext>
            </a:extLst>
          </p:cNvPr>
          <p:cNvSpPr txBox="1">
            <a:spLocks noChangeArrowheads="1"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Relational Algebra (RA)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7FD0EB0-D613-1CD3-47F9-7230AA64545E}"/>
              </a:ext>
            </a:extLst>
          </p:cNvPr>
          <p:cNvSpPr/>
          <p:nvPr/>
        </p:nvSpPr>
        <p:spPr>
          <a:xfrm>
            <a:off x="1411940" y="2150645"/>
            <a:ext cx="3131485" cy="1264067"/>
          </a:xfrm>
          <a:prstGeom prst="roundRect">
            <a:avLst/>
          </a:prstGeom>
          <a:solidFill>
            <a:schemeClr val="accent4">
              <a:lumMod val="20000"/>
              <a:lumOff val="80000"/>
              <a:alpha val="5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0C4AE8-FA4F-A1F7-D2EE-767A8A4B56A1}"/>
              </a:ext>
            </a:extLst>
          </p:cNvPr>
          <p:cNvSpPr txBox="1"/>
          <p:nvPr/>
        </p:nvSpPr>
        <p:spPr>
          <a:xfrm>
            <a:off x="4964765" y="2150645"/>
            <a:ext cx="3193398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>
                <a:latin typeface="+mj-lt"/>
              </a:rPr>
              <a:t>We’ll look at these first!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4FAF2A0-D13D-413E-6A6D-29E198702A43}"/>
              </a:ext>
            </a:extLst>
          </p:cNvPr>
          <p:cNvSpPr/>
          <p:nvPr/>
        </p:nvSpPr>
        <p:spPr>
          <a:xfrm>
            <a:off x="1640541" y="4998621"/>
            <a:ext cx="1788460" cy="873541"/>
          </a:xfrm>
          <a:prstGeom prst="roundRect">
            <a:avLst/>
          </a:prstGeom>
          <a:solidFill>
            <a:schemeClr val="accent4">
              <a:lumMod val="20000"/>
              <a:lumOff val="80000"/>
              <a:alpha val="5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BFD553-6534-1BE5-F35F-BFC3BCD6B06A}"/>
              </a:ext>
            </a:extLst>
          </p:cNvPr>
          <p:cNvSpPr txBox="1"/>
          <p:nvPr/>
        </p:nvSpPr>
        <p:spPr>
          <a:xfrm>
            <a:off x="7750827" y="4841460"/>
            <a:ext cx="3755373" cy="15696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i="1">
                <a:latin typeface="+mj-lt"/>
              </a:rPr>
              <a:t>And also at one example of a derived operator (natural join) and a special operator (renaming)</a:t>
            </a:r>
          </a:p>
        </p:txBody>
      </p:sp>
    </p:spTree>
    <p:extLst>
      <p:ext uri="{BB962C8B-B14F-4D97-AF65-F5344CB8AC3E}">
        <p14:creationId xmlns:p14="http://schemas.microsoft.com/office/powerpoint/2010/main" val="1529429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990599" y="1843087"/>
                <a:ext cx="5967413" cy="4696599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/>
                  <a:t>Notation: R</a:t>
                </a:r>
                <a:r>
                  <a:rPr lang="en-US" baseline="-25000"/>
                  <a:t>1</a:t>
                </a:r>
                <a:r>
                  <a:rPr lang="en-US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⋈ </m:t>
                    </m:r>
                  </m:oMath>
                </a14:m>
                <a:r>
                  <a:rPr lang="en-US">
                    <a:ea typeface="Arial Unicode MS" pitchFamily="-111" charset="0"/>
                    <a:cs typeface="Arial Unicode MS" pitchFamily="-111" charset="0"/>
                  </a:rPr>
                  <a:t>R</a:t>
                </a:r>
                <a:r>
                  <a:rPr lang="en-US" baseline="-25000">
                    <a:ea typeface="Arial Unicode MS" pitchFamily="-111" charset="0"/>
                    <a:cs typeface="Arial Unicode MS" pitchFamily="-111" charset="0"/>
                  </a:rPr>
                  <a:t>2</a:t>
                </a:r>
              </a:p>
              <a:p>
                <a:endParaRPr lang="en-US">
                  <a:ea typeface="Arial Unicode MS" pitchFamily="-111" charset="0"/>
                  <a:cs typeface="Arial Unicode MS" pitchFamily="-111" charset="0"/>
                </a:endParaRPr>
              </a:p>
              <a:p>
                <a:r>
                  <a:rPr lang="en-US">
                    <a:ea typeface="Arial Unicode MS" pitchFamily="-111" charset="0"/>
                    <a:cs typeface="Arial Unicode MS" pitchFamily="-111" charset="0"/>
                  </a:rPr>
                  <a:t>Joins R</a:t>
                </a:r>
                <a:r>
                  <a:rPr lang="en-US" baseline="-25000">
                    <a:ea typeface="Arial Unicode MS" pitchFamily="-111" charset="0"/>
                    <a:cs typeface="Arial Unicode MS" pitchFamily="-111" charset="0"/>
                  </a:rPr>
                  <a:t>1</a:t>
                </a:r>
                <a:r>
                  <a:rPr lang="en-US">
                    <a:ea typeface="Arial Unicode MS" pitchFamily="-111" charset="0"/>
                    <a:cs typeface="Arial Unicode MS" pitchFamily="-111" charset="0"/>
                  </a:rPr>
                  <a:t> and R</a:t>
                </a:r>
                <a:r>
                  <a:rPr lang="en-US" baseline="-25000">
                    <a:ea typeface="Arial Unicode MS" pitchFamily="-111" charset="0"/>
                    <a:cs typeface="Arial Unicode MS" pitchFamily="-111" charset="0"/>
                  </a:rPr>
                  <a:t>2</a:t>
                </a:r>
                <a:r>
                  <a:rPr lang="en-US">
                    <a:ea typeface="Arial Unicode MS" pitchFamily="-111" charset="0"/>
                    <a:cs typeface="Arial Unicode MS" pitchFamily="-111" charset="0"/>
                  </a:rPr>
                  <a:t> on </a:t>
                </a:r>
                <a:r>
                  <a:rPr lang="en-US" i="1">
                    <a:ea typeface="Arial Unicode MS" pitchFamily="-111" charset="0"/>
                    <a:cs typeface="Arial Unicode MS" pitchFamily="-111" charset="0"/>
                  </a:rPr>
                  <a:t>equality of all shared attributes</a:t>
                </a:r>
              </a:p>
              <a:p>
                <a:pPr lvl="1"/>
                <a:r>
                  <a:rPr lang="en-US">
                    <a:ea typeface="Arial Unicode MS" pitchFamily="-111" charset="0"/>
                    <a:cs typeface="Arial Unicode MS" pitchFamily="-111" charset="0"/>
                  </a:rPr>
                  <a:t>If R</a:t>
                </a:r>
                <a:r>
                  <a:rPr lang="en-US" baseline="-25000">
                    <a:ea typeface="Arial Unicode MS" pitchFamily="-111" charset="0"/>
                    <a:cs typeface="Arial Unicode MS" pitchFamily="-111" charset="0"/>
                  </a:rPr>
                  <a:t>1</a:t>
                </a:r>
                <a:r>
                  <a:rPr lang="en-US">
                    <a:ea typeface="Arial Unicode MS" pitchFamily="-111" charset="0"/>
                    <a:cs typeface="Arial Unicode MS" pitchFamily="-111" charset="0"/>
                  </a:rPr>
                  <a:t> has attribute set A, and R</a:t>
                </a:r>
                <a:r>
                  <a:rPr lang="en-US" baseline="-25000">
                    <a:ea typeface="Arial Unicode MS" pitchFamily="-111" charset="0"/>
                    <a:cs typeface="Arial Unicode MS" pitchFamily="-111" charset="0"/>
                  </a:rPr>
                  <a:t>2</a:t>
                </a:r>
                <a:r>
                  <a:rPr lang="en-US">
                    <a:ea typeface="Arial Unicode MS" pitchFamily="-111" charset="0"/>
                    <a:cs typeface="Arial Unicode MS" pitchFamily="-111" charset="0"/>
                  </a:rPr>
                  <a:t> has attribute set B, and they share attributes A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⋂</m:t>
                    </m:r>
                  </m:oMath>
                </a14:m>
                <a:r>
                  <a:rPr lang="en-US">
                    <a:ea typeface="Arial Unicode MS" pitchFamily="-111" charset="0"/>
                    <a:cs typeface="Arial Unicode MS" pitchFamily="-111" charset="0"/>
                  </a:rPr>
                  <a:t>B = C, can also be written: </a:t>
                </a:r>
                <a:r>
                  <a:rPr lang="en-US"/>
                  <a:t>R</a:t>
                </a:r>
                <a:r>
                  <a:rPr lang="en-US" baseline="-25000"/>
                  <a:t>1</a:t>
                </a:r>
                <a:r>
                  <a:rPr lang="en-US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⋈</m:t>
                    </m:r>
                    <m:r>
                      <a:rPr lang="en-US" b="0" i="1" baseline="-2500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𝐶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</m:oMath>
                </a14:m>
                <a:r>
                  <a:rPr lang="en-US">
                    <a:ea typeface="Arial Unicode MS" pitchFamily="-111" charset="0"/>
                    <a:cs typeface="Arial Unicode MS" pitchFamily="-111" charset="0"/>
                  </a:rPr>
                  <a:t>R</a:t>
                </a:r>
                <a:r>
                  <a:rPr lang="en-US" baseline="-25000">
                    <a:ea typeface="Arial Unicode MS" pitchFamily="-111" charset="0"/>
                    <a:cs typeface="Arial Unicode MS" pitchFamily="-111" charset="0"/>
                  </a:rPr>
                  <a:t>2</a:t>
                </a:r>
                <a:endParaRPr lang="en-US">
                  <a:ea typeface="Arial Unicode MS" pitchFamily="-111" charset="0"/>
                  <a:cs typeface="Arial Unicode MS" pitchFamily="-111" charset="0"/>
                </a:endParaRPr>
              </a:p>
              <a:p>
                <a:endParaRPr lang="en-US">
                  <a:ea typeface="Arial Unicode MS" pitchFamily="-111" charset="0"/>
                  <a:cs typeface="Arial Unicode MS" pitchFamily="-111" charset="0"/>
                </a:endParaRPr>
              </a:p>
              <a:p>
                <a:r>
                  <a:rPr lang="en-US">
                    <a:ea typeface="Arial Unicode MS" pitchFamily="-111" charset="0"/>
                    <a:cs typeface="Arial Unicode MS" pitchFamily="-111" charset="0"/>
                  </a:rPr>
                  <a:t>Our first example of a </a:t>
                </a:r>
                <a:r>
                  <a:rPr lang="en-US" i="1">
                    <a:ea typeface="Arial Unicode MS" pitchFamily="-111" charset="0"/>
                    <a:cs typeface="Arial Unicode MS" pitchFamily="-111" charset="0"/>
                  </a:rPr>
                  <a:t>derived </a:t>
                </a:r>
                <a:r>
                  <a:rPr lang="en-US">
                    <a:ea typeface="Arial Unicode MS" pitchFamily="-111" charset="0"/>
                    <a:cs typeface="Arial Unicode MS" pitchFamily="-111" charset="0"/>
                  </a:rPr>
                  <a:t>RA</a:t>
                </a:r>
                <a:r>
                  <a:rPr lang="en-US" i="1">
                    <a:ea typeface="Arial Unicode MS" pitchFamily="-111" charset="0"/>
                    <a:cs typeface="Arial Unicode MS" pitchFamily="-111" charset="0"/>
                  </a:rPr>
                  <a:t> </a:t>
                </a:r>
                <a:r>
                  <a:rPr lang="en-US">
                    <a:ea typeface="Arial Unicode MS" pitchFamily="-111" charset="0"/>
                    <a:cs typeface="Arial Unicode MS" pitchFamily="-111" charset="0"/>
                  </a:rPr>
                  <a:t>operator:</a:t>
                </a:r>
              </a:p>
              <a:p>
                <a:pPr lvl="1"/>
                <a:r>
                  <a:rPr lang="en-US">
                    <a:ea typeface="Arial Unicode MS" pitchFamily="-111" charset="0"/>
                    <a:cs typeface="Arial Unicode MS" pitchFamily="-111" charset="0"/>
                  </a:rPr>
                  <a:t>Meaning:  R</a:t>
                </a:r>
                <a:r>
                  <a:rPr lang="en-US" baseline="-25000">
                    <a:ea typeface="Arial Unicode MS" pitchFamily="-111" charset="0"/>
                    <a:cs typeface="Arial Unicode MS" pitchFamily="-111" charset="0"/>
                  </a:rPr>
                  <a:t>1</a:t>
                </a:r>
                <a:r>
                  <a:rPr lang="en-US">
                    <a:ea typeface="Arial Unicode MS" pitchFamily="-111" charset="0"/>
                    <a:cs typeface="Arial Unicode MS" pitchFamily="-111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⋈</m:t>
                    </m:r>
                  </m:oMath>
                </a14:m>
                <a:r>
                  <a:rPr lang="en-US">
                    <a:ea typeface="Arial Unicode MS" pitchFamily="-111" charset="0"/>
                    <a:cs typeface="Arial Unicode MS" pitchFamily="-111" charset="0"/>
                  </a:rPr>
                  <a:t> R</a:t>
                </a:r>
                <a:r>
                  <a:rPr lang="en-US" baseline="-25000">
                    <a:ea typeface="Arial Unicode MS" pitchFamily="-111" charset="0"/>
                    <a:cs typeface="Arial Unicode MS" pitchFamily="-111" charset="0"/>
                  </a:rPr>
                  <a:t>2</a:t>
                </a:r>
                <a:r>
                  <a:rPr lang="en-US">
                    <a:ea typeface="Arial Unicode MS" pitchFamily="-111" charset="0"/>
                    <a:cs typeface="Arial Unicode MS" pitchFamily="-111" charset="0"/>
                  </a:rPr>
                  <a:t> = </a:t>
                </a:r>
                <a:r>
                  <a:rPr lang="en-US">
                    <a:latin typeface="Symbol" pitchFamily="-111" charset="2"/>
                    <a:ea typeface="Arial Unicode MS" pitchFamily="-111" charset="0"/>
                    <a:cs typeface="Arial Unicode MS" pitchFamily="-111" charset="0"/>
                  </a:rPr>
                  <a:t>P</a:t>
                </a:r>
                <a:r>
                  <a:rPr lang="en-US" baseline="-25000">
                    <a:ea typeface="Arial Unicode MS" pitchFamily="-111" charset="0"/>
                    <a:cs typeface="Arial Unicode MS" pitchFamily="-111" charset="0"/>
                  </a:rPr>
                  <a:t>A U B</a:t>
                </a:r>
                <a:r>
                  <a:rPr lang="en-US">
                    <a:ea typeface="Arial Unicode MS" pitchFamily="-111" charset="0"/>
                    <a:cs typeface="Arial Unicode MS" pitchFamily="-111" charset="0"/>
                  </a:rPr>
                  <a:t>(</a:t>
                </a:r>
                <a:r>
                  <a:rPr lang="en-US" err="1">
                    <a:latin typeface="Symbol" pitchFamily="-111" charset="2"/>
                    <a:ea typeface="Arial Unicode MS" pitchFamily="-111" charset="0"/>
                    <a:cs typeface="Arial Unicode MS" pitchFamily="-111" charset="0"/>
                  </a:rPr>
                  <a:t>s</a:t>
                </a:r>
                <a:r>
                  <a:rPr lang="en-US" baseline="-25000" err="1">
                    <a:ea typeface="Arial Unicode MS" pitchFamily="-111" charset="0"/>
                    <a:cs typeface="Arial Unicode MS" pitchFamily="-111" charset="0"/>
                  </a:rPr>
                  <a:t>C</a:t>
                </a:r>
                <a:r>
                  <a:rPr lang="en-US" baseline="-25000">
                    <a:ea typeface="Arial Unicode MS" pitchFamily="-111" charset="0"/>
                    <a:cs typeface="Arial Unicode MS" pitchFamily="-111" charset="0"/>
                  </a:rPr>
                  <a:t>=D</a:t>
                </a:r>
                <a:r>
                  <a:rPr lang="en-US">
                    <a:ea typeface="Arial Unicode MS" pitchFamily="-111" charset="0"/>
                    <a:cs typeface="Arial Unicode MS" pitchFamily="-111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Arial Unicode MS" pitchFamily="-111" charset="0"/>
                            <a:cs typeface="Arial Unicode MS" pitchFamily="-111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𝜌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  <a:ea typeface="Arial Unicode MS" pitchFamily="-111" charset="0"/>
                            <a:cs typeface="Arial Unicode MS" pitchFamily="-111" charset="0"/>
                          </a:rPr>
                          <m:t>𝐶</m:t>
                        </m:r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→</m:t>
                        </m:r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𝐷</m:t>
                        </m:r>
                      </m:sub>
                    </m:sSub>
                    <m:r>
                      <a:rPr lang="en-US" b="0" i="1" smtClean="0">
                        <a:latin typeface="Cambria Math" charset="0"/>
                        <a:ea typeface="Arial Unicode MS" pitchFamily="-111" charset="0"/>
                        <a:cs typeface="Arial Unicode MS" pitchFamily="-111" charset="0"/>
                      </a:rPr>
                      <m:t>(</m:t>
                    </m:r>
                  </m:oMath>
                </a14:m>
                <a:r>
                  <a:rPr lang="en-US">
                    <a:ea typeface="Arial Unicode MS" pitchFamily="-111" charset="0"/>
                    <a:cs typeface="Arial Unicode MS" pitchFamily="-111" charset="0"/>
                  </a:rPr>
                  <a:t>R</a:t>
                </a:r>
                <a:r>
                  <a:rPr lang="en-US" baseline="-25000">
                    <a:ea typeface="Arial Unicode MS" pitchFamily="-111" charset="0"/>
                    <a:cs typeface="Arial Unicode MS" pitchFamily="-111" charset="0"/>
                  </a:rPr>
                  <a:t>1</a:t>
                </a:r>
                <a:r>
                  <a:rPr lang="en-US">
                    <a:ea typeface="Arial Unicode MS" pitchFamily="-111" charset="0"/>
                    <a:cs typeface="Arial Unicode MS" pitchFamily="-111" charset="0"/>
                  </a:rPr>
                  <a:t>) </a:t>
                </a:r>
                <a:r>
                  <a:rPr lang="en-US">
                    <a:sym typeface="Symbol" pitchFamily="-111" charset="2"/>
                  </a:rPr>
                  <a:t> R</a:t>
                </a:r>
                <a:r>
                  <a:rPr lang="en-US" baseline="-25000">
                    <a:sym typeface="Symbol" pitchFamily="-111" charset="2"/>
                  </a:rPr>
                  <a:t>2</a:t>
                </a:r>
                <a:r>
                  <a:rPr lang="en-US">
                    <a:sym typeface="Symbol" pitchFamily="-111" charset="2"/>
                  </a:rPr>
                  <a:t>))</a:t>
                </a:r>
                <a:endParaRPr lang="en-US">
                  <a:ea typeface="Arial Unicode MS" pitchFamily="-111" charset="0"/>
                  <a:cs typeface="Arial Unicode MS" pitchFamily="-111" charset="0"/>
                </a:endParaRPr>
              </a:p>
              <a:p>
                <a:pPr lvl="1"/>
                <a:r>
                  <a:rPr lang="en-US">
                    <a:ea typeface="Arial Unicode MS" pitchFamily="-111" charset="0"/>
                    <a:cs typeface="Arial Unicode MS" pitchFamily="-111" charset="0"/>
                  </a:rPr>
                  <a:t>Where:</a:t>
                </a:r>
              </a:p>
              <a:p>
                <a:pPr lvl="2"/>
                <a:r>
                  <a:rPr lang="en-US">
                    <a:ea typeface="Arial Unicode MS" pitchFamily="-111" charset="0"/>
                    <a:cs typeface="Arial Unicode MS" pitchFamily="-111" charset="0"/>
                  </a:rPr>
                  <a:t>The rename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Arial Unicode MS" pitchFamily="-111" charset="0"/>
                            <a:cs typeface="Arial Unicode MS" pitchFamily="-111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𝜌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  <a:ea typeface="Arial Unicode MS" pitchFamily="-111" charset="0"/>
                            <a:cs typeface="Arial Unicode MS" pitchFamily="-111" charset="0"/>
                          </a:rPr>
                          <m:t>𝐶</m:t>
                        </m:r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→</m:t>
                        </m:r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>
                    <a:ea typeface="Arial Unicode MS" pitchFamily="-111" charset="0"/>
                    <a:cs typeface="Arial Unicode MS" pitchFamily="-111" charset="0"/>
                  </a:rPr>
                  <a:t> renames the shared attributes in one of the relations</a:t>
                </a:r>
              </a:p>
              <a:p>
                <a:pPr lvl="2"/>
                <a:r>
                  <a:rPr lang="en-US">
                    <a:ea typeface="Arial Unicode MS" pitchFamily="-111" charset="0"/>
                    <a:cs typeface="Arial Unicode MS" pitchFamily="-111" charset="0"/>
                  </a:rPr>
                  <a:t>The selection </a:t>
                </a:r>
                <a:r>
                  <a:rPr lang="en-US" err="1">
                    <a:latin typeface="Symbol" pitchFamily="-111" charset="2"/>
                    <a:ea typeface="Arial Unicode MS" pitchFamily="-111" charset="0"/>
                    <a:cs typeface="Arial Unicode MS" pitchFamily="-111" charset="0"/>
                  </a:rPr>
                  <a:t>s</a:t>
                </a:r>
                <a:r>
                  <a:rPr lang="en-US" baseline="-25000" err="1">
                    <a:ea typeface="Arial Unicode MS" pitchFamily="-111" charset="0"/>
                    <a:cs typeface="Arial Unicode MS" pitchFamily="-111" charset="0"/>
                  </a:rPr>
                  <a:t>C</a:t>
                </a:r>
                <a:r>
                  <a:rPr lang="en-US" baseline="-25000">
                    <a:ea typeface="Arial Unicode MS" pitchFamily="-111" charset="0"/>
                    <a:cs typeface="Arial Unicode MS" pitchFamily="-111" charset="0"/>
                  </a:rPr>
                  <a:t>=D </a:t>
                </a:r>
                <a:r>
                  <a:rPr lang="en-US">
                    <a:ea typeface="Arial Unicode MS" pitchFamily="-111" charset="0"/>
                    <a:cs typeface="Arial Unicode MS" pitchFamily="-111" charset="0"/>
                  </a:rPr>
                  <a:t>checks equality of the shared attributes</a:t>
                </a:r>
              </a:p>
              <a:p>
                <a:pPr lvl="2"/>
                <a:r>
                  <a:rPr lang="en-US">
                    <a:ea typeface="Arial Unicode MS" pitchFamily="-111" charset="0"/>
                    <a:cs typeface="Arial Unicode MS" pitchFamily="-111" charset="0"/>
                  </a:rPr>
                  <a:t>The projection </a:t>
                </a:r>
                <a:r>
                  <a:rPr lang="en-US">
                    <a:latin typeface="Symbol" pitchFamily="-111" charset="2"/>
                    <a:ea typeface="Arial Unicode MS" pitchFamily="-111" charset="0"/>
                    <a:cs typeface="Arial Unicode MS" pitchFamily="-111" charset="0"/>
                  </a:rPr>
                  <a:t>P</a:t>
                </a:r>
                <a:r>
                  <a:rPr lang="en-US" baseline="-25000">
                    <a:ea typeface="Arial Unicode MS" pitchFamily="-111" charset="0"/>
                    <a:cs typeface="Arial Unicode MS" pitchFamily="-111" charset="0"/>
                  </a:rPr>
                  <a:t>A U B </a:t>
                </a:r>
                <a:r>
                  <a:rPr lang="en-US">
                    <a:ea typeface="Arial Unicode MS" pitchFamily="-111" charset="0"/>
                    <a:cs typeface="Arial Unicode MS" pitchFamily="-111" charset="0"/>
                  </a:rPr>
                  <a:t>eliminates the duplicate common attributes</a:t>
                </a:r>
              </a:p>
              <a:p>
                <a:pPr lvl="1"/>
                <a:endParaRPr lang="en-US"/>
              </a:p>
              <a:p>
                <a:endParaRPr lang="en-US"/>
              </a:p>
            </p:txBody>
          </p:sp>
        </mc:Choice>
        <mc:Fallback xmlns="">
          <p:sp>
            <p:nvSpPr>
              <p:cNvPr id="61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990599" y="1843087"/>
                <a:ext cx="5967413" cy="4696599"/>
              </a:xfrm>
              <a:blipFill>
                <a:blip r:embed="rId2"/>
                <a:stretch>
                  <a:fillRect l="-1328" t="-2983" r="-1124" b="-14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2"/>
              <p:cNvSpPr txBox="1">
                <a:spLocks noChangeArrowheads="1"/>
              </p:cNvSpPr>
              <p:nvPr/>
            </p:nvSpPr>
            <p:spPr>
              <a:xfrm>
                <a:off x="990600" y="517525"/>
                <a:ext cx="10515600" cy="1325563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/>
                  <a:t>Natural Join (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⋈</m:t>
                    </m:r>
                  </m:oMath>
                </a14:m>
                <a:r>
                  <a:rPr lang="en-US"/>
                  <a:t>)</a:t>
                </a:r>
              </a:p>
            </p:txBody>
          </p:sp>
        </mc:Choice>
        <mc:Fallback xmlns="">
          <p:sp>
            <p:nvSpPr>
              <p:cNvPr id="7" name="Rectangl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517525"/>
                <a:ext cx="10515600" cy="1325563"/>
              </a:xfrm>
              <a:prstGeom prst="rect">
                <a:avLst/>
              </a:prstGeom>
              <a:blipFill>
                <a:blip r:embed="rId3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35"/>
          <p:cNvSpPr>
            <a:spLocks noChangeArrowheads="1"/>
          </p:cNvSpPr>
          <p:nvPr/>
        </p:nvSpPr>
        <p:spPr bwMode="auto">
          <a:xfrm>
            <a:off x="7286624" y="2214563"/>
            <a:ext cx="4410437" cy="24191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40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 DISTINCT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>
                <a:solidFill>
                  <a:schemeClr val="bg2">
                    <a:lumMod val="90000"/>
                  </a:schemeClr>
                </a:solidFill>
                <a:latin typeface="Menlo" charset="0"/>
                <a:ea typeface="Menlo" charset="0"/>
                <a:cs typeface="Menlo" charset="0"/>
              </a:rPr>
              <a:t>  </a:t>
            </a:r>
            <a:r>
              <a:rPr lang="en-US" sz="2400" err="1">
                <a:latin typeface="Menlo" charset="0"/>
                <a:ea typeface="Menlo" charset="0"/>
                <a:cs typeface="Menlo" charset="0"/>
              </a:rPr>
              <a:t>ssid</a:t>
            </a:r>
            <a:r>
              <a:rPr lang="en-US" sz="2400">
                <a:latin typeface="Menlo" charset="0"/>
                <a:ea typeface="Menlo" charset="0"/>
                <a:cs typeface="Menlo" charset="0"/>
              </a:rPr>
              <a:t>, </a:t>
            </a:r>
            <a:r>
              <a:rPr lang="en-US" sz="2400" err="1">
                <a:latin typeface="Menlo" charset="0"/>
                <a:ea typeface="Menlo" charset="0"/>
                <a:cs typeface="Menlo" charset="0"/>
              </a:rPr>
              <a:t>S.name</a:t>
            </a:r>
            <a:r>
              <a:rPr lang="en-US" sz="2400">
                <a:latin typeface="Menlo" charset="0"/>
                <a:ea typeface="Menlo" charset="0"/>
                <a:cs typeface="Menlo" charset="0"/>
              </a:rPr>
              <a:t>, </a:t>
            </a:r>
            <a:r>
              <a:rPr lang="en-US" sz="2400" err="1">
                <a:latin typeface="Menlo" charset="0"/>
                <a:ea typeface="Menlo" charset="0"/>
                <a:cs typeface="Menlo" charset="0"/>
              </a:rPr>
              <a:t>gpa</a:t>
            </a:r>
            <a:r>
              <a:rPr lang="en-US" sz="2400">
                <a:latin typeface="Menlo" charset="0"/>
                <a:ea typeface="Menlo" charset="0"/>
                <a:cs typeface="Menlo" charset="0"/>
              </a:rPr>
              <a:t>,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>
                <a:latin typeface="Menlo" charset="0"/>
                <a:ea typeface="Menlo" charset="0"/>
                <a:cs typeface="Menlo" charset="0"/>
              </a:rPr>
              <a:t>  </a:t>
            </a:r>
            <a:r>
              <a:rPr lang="en-US" sz="2400" err="1">
                <a:latin typeface="Menlo" charset="0"/>
                <a:ea typeface="Menlo" charset="0"/>
                <a:cs typeface="Menlo" charset="0"/>
              </a:rPr>
              <a:t>ssn</a:t>
            </a:r>
            <a:r>
              <a:rPr lang="en-US" sz="2400">
                <a:latin typeface="Menlo" charset="0"/>
                <a:ea typeface="Menlo" charset="0"/>
                <a:cs typeface="Menlo" charset="0"/>
              </a:rPr>
              <a:t>, address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  </a:t>
            </a:r>
            <a:r>
              <a:rPr lang="en-US" sz="2400">
                <a:latin typeface="Menlo" charset="0"/>
                <a:ea typeface="Menlo" charset="0"/>
                <a:cs typeface="Menlo" charset="0"/>
              </a:rPr>
              <a:t>Students S,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>
                <a:latin typeface="Menlo" charset="0"/>
                <a:ea typeface="Menlo" charset="0"/>
                <a:cs typeface="Menlo" charset="0"/>
              </a:rPr>
              <a:t>  People P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40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 err="1">
                <a:latin typeface="Menlo" charset="0"/>
                <a:ea typeface="Menlo" charset="0"/>
                <a:cs typeface="Menlo" charset="0"/>
              </a:rPr>
              <a:t>S.name</a:t>
            </a:r>
            <a:r>
              <a:rPr lang="en-US" sz="2400">
                <a:latin typeface="Menlo" charset="0"/>
                <a:ea typeface="Menlo" charset="0"/>
                <a:cs typeface="Menlo" charset="0"/>
              </a:rPr>
              <a:t> = </a:t>
            </a:r>
            <a:r>
              <a:rPr lang="en-US" sz="2400" err="1">
                <a:latin typeface="Menlo" charset="0"/>
                <a:ea typeface="Menlo" charset="0"/>
                <a:cs typeface="Menlo" charset="0"/>
              </a:rPr>
              <a:t>P.name</a:t>
            </a:r>
            <a:r>
              <a:rPr lang="en-US" sz="2400">
                <a:latin typeface="Menlo" charset="0"/>
                <a:ea typeface="Menlo" charset="0"/>
                <a:cs typeface="Menlo" charset="0"/>
              </a:rPr>
              <a:t>;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86625" y="1691343"/>
            <a:ext cx="8386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>
                <a:latin typeface="+mj-lt"/>
              </a:rPr>
              <a:t>SQL: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86624" y="5601423"/>
            <a:ext cx="6719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>
                <a:latin typeface="+mj-lt"/>
              </a:rPr>
              <a:t>RA: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7286624" y="5985689"/>
                <a:ext cx="4208268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charset="0"/>
                        </a:rPr>
                        <m:t>𝑆𝑡𝑢𝑑𝑒𝑛𝑡𝑠</m:t>
                      </m:r>
                      <m:r>
                        <a:rPr lang="en-US" sz="3600" b="0" i="1" smtClean="0">
                          <a:latin typeface="Cambria Math" charset="0"/>
                        </a:rPr>
                        <m:t> ⋈ </m:t>
                      </m:r>
                      <m:r>
                        <a:rPr lang="en-US" sz="36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𝑃𝑒𝑜𝑝𝑙𝑒</m:t>
                      </m:r>
                    </m:oMath>
                  </m:oMathPara>
                </a14:m>
                <a:endParaRPr lang="en-US" sz="360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6624" y="5985689"/>
                <a:ext cx="4208268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Down Arrow 13"/>
          <p:cNvSpPr/>
          <p:nvPr/>
        </p:nvSpPr>
        <p:spPr>
          <a:xfrm>
            <a:off x="9206092" y="5233562"/>
            <a:ext cx="571500" cy="629471"/>
          </a:xfrm>
          <a:prstGeom prst="down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35"/>
          <p:cNvSpPr>
            <a:spLocks noChangeArrowheads="1"/>
          </p:cNvSpPr>
          <p:nvPr/>
        </p:nvSpPr>
        <p:spPr bwMode="auto">
          <a:xfrm>
            <a:off x="7286623" y="823413"/>
            <a:ext cx="3664911" cy="5909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Students(</a:t>
            </a:r>
            <a:r>
              <a:rPr lang="en-US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sid,name,gpa</a:t>
            </a:r>
            <a:r>
              <a:rPr lang="en-US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People(</a:t>
            </a:r>
            <a:r>
              <a:rPr lang="en-US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ssn,name,address</a:t>
            </a:r>
            <a:r>
              <a:rPr lang="en-US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07754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  <p:bldP spid="9" grpId="0" animBg="1"/>
      <p:bldP spid="3" grpId="0"/>
      <p:bldP spid="12" grpId="0"/>
      <p:bldP spid="11" grpId="0"/>
      <p:bldP spid="14" grpId="0" animBg="1"/>
      <p:bldP spid="1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86961-0F05-4F5A-B76A-D9437FFE8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Natural Join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D2F097-C555-4F3B-BDED-3785387BC4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C80BE1C-9BB3-4EB9-98DB-ABDB1BA9071B}"/>
                  </a:ext>
                </a:extLst>
              </p:cNvPr>
              <p:cNvSpPr txBox="1"/>
              <p:nvPr/>
            </p:nvSpPr>
            <p:spPr>
              <a:xfrm>
                <a:off x="1909482" y="2321859"/>
                <a:ext cx="8633012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000">
                    <a:ea typeface="Arial Unicode MS" pitchFamily="-111" charset="0"/>
                    <a:cs typeface="Arial Unicode MS" pitchFamily="-111" charset="0"/>
                  </a:rPr>
                  <a:t>  R</a:t>
                </a:r>
                <a:r>
                  <a:rPr lang="en-US" sz="4000" baseline="-25000">
                    <a:ea typeface="Arial Unicode MS" pitchFamily="-111" charset="0"/>
                    <a:cs typeface="Arial Unicode MS" pitchFamily="-111" charset="0"/>
                  </a:rPr>
                  <a:t>1</a:t>
                </a:r>
                <a:r>
                  <a:rPr lang="en-US" sz="4000">
                    <a:ea typeface="Arial Unicode MS" pitchFamily="-111" charset="0"/>
                    <a:cs typeface="Arial Unicode MS" pitchFamily="-111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000" i="1">
                        <a:latin typeface="Cambria Math" charset="0"/>
                        <a:ea typeface="Cambria Math" charset="0"/>
                        <a:cs typeface="Cambria Math" charset="0"/>
                      </a:rPr>
                      <m:t>⋈</m:t>
                    </m:r>
                  </m:oMath>
                </a14:m>
                <a:r>
                  <a:rPr lang="en-US" sz="4000">
                    <a:ea typeface="Arial Unicode MS" pitchFamily="-111" charset="0"/>
                    <a:cs typeface="Arial Unicode MS" pitchFamily="-111" charset="0"/>
                  </a:rPr>
                  <a:t> R</a:t>
                </a:r>
                <a:r>
                  <a:rPr lang="en-US" sz="4000" baseline="-25000">
                    <a:ea typeface="Arial Unicode MS" pitchFamily="-111" charset="0"/>
                    <a:cs typeface="Arial Unicode MS" pitchFamily="-111" charset="0"/>
                  </a:rPr>
                  <a:t>2</a:t>
                </a:r>
                <a:r>
                  <a:rPr lang="en-US" sz="4000">
                    <a:ea typeface="Arial Unicode MS" pitchFamily="-111" charset="0"/>
                    <a:cs typeface="Arial Unicode MS" pitchFamily="-111" charset="0"/>
                  </a:rPr>
                  <a:t> = </a:t>
                </a:r>
                <a:r>
                  <a:rPr lang="en-US" sz="4000">
                    <a:latin typeface="Symbol" pitchFamily="-111" charset="2"/>
                    <a:ea typeface="Arial Unicode MS" pitchFamily="-111" charset="0"/>
                    <a:cs typeface="Arial Unicode MS" pitchFamily="-111" charset="0"/>
                  </a:rPr>
                  <a:t>P</a:t>
                </a:r>
                <a:r>
                  <a:rPr lang="en-US" sz="4000" baseline="-25000">
                    <a:ea typeface="Arial Unicode MS" pitchFamily="-111" charset="0"/>
                    <a:cs typeface="Arial Unicode MS" pitchFamily="-111" charset="0"/>
                  </a:rPr>
                  <a:t>A U B</a:t>
                </a:r>
                <a:r>
                  <a:rPr lang="en-US" sz="4000">
                    <a:ea typeface="Arial Unicode MS" pitchFamily="-111" charset="0"/>
                    <a:cs typeface="Arial Unicode MS" pitchFamily="-111" charset="0"/>
                  </a:rPr>
                  <a:t>(</a:t>
                </a:r>
                <a:r>
                  <a:rPr lang="en-US" sz="4000" err="1">
                    <a:latin typeface="Symbol" pitchFamily="-111" charset="2"/>
                    <a:ea typeface="Arial Unicode MS" pitchFamily="-111" charset="0"/>
                    <a:cs typeface="Arial Unicode MS" pitchFamily="-111" charset="0"/>
                  </a:rPr>
                  <a:t>s</a:t>
                </a:r>
                <a:r>
                  <a:rPr lang="en-US" sz="4000" baseline="-25000" err="1">
                    <a:ea typeface="Arial Unicode MS" pitchFamily="-111" charset="0"/>
                    <a:cs typeface="Arial Unicode MS" pitchFamily="-111" charset="0"/>
                  </a:rPr>
                  <a:t>C</a:t>
                </a:r>
                <a:r>
                  <a:rPr lang="en-US" sz="4000" baseline="-25000">
                    <a:ea typeface="Arial Unicode MS" pitchFamily="-111" charset="0"/>
                    <a:cs typeface="Arial Unicode MS" pitchFamily="-111" charset="0"/>
                  </a:rPr>
                  <a:t>=D</a:t>
                </a:r>
                <a:r>
                  <a:rPr lang="en-US" sz="4000">
                    <a:ea typeface="Arial Unicode MS" pitchFamily="-111" charset="0"/>
                    <a:cs typeface="Arial Unicode MS" pitchFamily="-111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000" i="1" smtClean="0">
                            <a:latin typeface="Cambria Math" panose="02040503050406030204" pitchFamily="18" charset="0"/>
                            <a:ea typeface="Arial Unicode MS" pitchFamily="-111" charset="0"/>
                            <a:cs typeface="Arial Unicode MS" pitchFamily="-111" charset="0"/>
                          </a:rPr>
                        </m:ctrlPr>
                      </m:sSubPr>
                      <m:e>
                        <m:r>
                          <a:rPr lang="en-US" sz="400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𝜌</m:t>
                        </m:r>
                      </m:e>
                      <m:sub>
                        <m:r>
                          <a:rPr lang="en-US" sz="4000" b="0" i="1" smtClean="0">
                            <a:latin typeface="Cambria Math" charset="0"/>
                            <a:ea typeface="Arial Unicode MS" pitchFamily="-111" charset="0"/>
                            <a:cs typeface="Arial Unicode MS" pitchFamily="-111" charset="0"/>
                          </a:rPr>
                          <m:t>𝐶</m:t>
                        </m:r>
                        <m:r>
                          <a:rPr lang="en-US" sz="40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→</m:t>
                        </m:r>
                        <m:r>
                          <a:rPr lang="en-US" sz="40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𝐷</m:t>
                        </m:r>
                      </m:sub>
                    </m:sSub>
                    <m:r>
                      <a:rPr lang="en-US" sz="4000" b="0" i="1" smtClean="0">
                        <a:latin typeface="Cambria Math" charset="0"/>
                        <a:ea typeface="Arial Unicode MS" pitchFamily="-111" charset="0"/>
                        <a:cs typeface="Arial Unicode MS" pitchFamily="-111" charset="0"/>
                      </a:rPr>
                      <m:t>(</m:t>
                    </m:r>
                  </m:oMath>
                </a14:m>
                <a:r>
                  <a:rPr lang="en-US" sz="4000">
                    <a:ea typeface="Arial Unicode MS" pitchFamily="-111" charset="0"/>
                    <a:cs typeface="Arial Unicode MS" pitchFamily="-111" charset="0"/>
                  </a:rPr>
                  <a:t>R</a:t>
                </a:r>
                <a:r>
                  <a:rPr lang="en-US" sz="4000" baseline="-25000">
                    <a:ea typeface="Arial Unicode MS" pitchFamily="-111" charset="0"/>
                    <a:cs typeface="Arial Unicode MS" pitchFamily="-111" charset="0"/>
                  </a:rPr>
                  <a:t>1</a:t>
                </a:r>
                <a:r>
                  <a:rPr lang="en-US" sz="4000">
                    <a:ea typeface="Arial Unicode MS" pitchFamily="-111" charset="0"/>
                    <a:cs typeface="Arial Unicode MS" pitchFamily="-111" charset="0"/>
                  </a:rPr>
                  <a:t>) </a:t>
                </a:r>
                <a:r>
                  <a:rPr lang="en-US" sz="4000">
                    <a:sym typeface="Symbol" pitchFamily="-111" charset="2"/>
                  </a:rPr>
                  <a:t> R</a:t>
                </a:r>
                <a:r>
                  <a:rPr lang="en-US" sz="4000" baseline="-25000">
                    <a:sym typeface="Symbol" pitchFamily="-111" charset="2"/>
                  </a:rPr>
                  <a:t>2</a:t>
                </a:r>
                <a:r>
                  <a:rPr lang="en-US" sz="4000">
                    <a:sym typeface="Symbol" pitchFamily="-111" charset="2"/>
                  </a:rPr>
                  <a:t>))</a:t>
                </a:r>
                <a:endParaRPr lang="en-US" sz="400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C80BE1C-9BB3-4EB9-98DB-ABDB1BA907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9482" y="2321859"/>
                <a:ext cx="8633012" cy="707886"/>
              </a:xfrm>
              <a:prstGeom prst="rect">
                <a:avLst/>
              </a:prstGeom>
              <a:blipFill>
                <a:blip r:embed="rId2"/>
                <a:stretch>
                  <a:fillRect t="-18103" b="-370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64226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oup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454665"/>
              </p:ext>
            </p:extLst>
          </p:nvPr>
        </p:nvGraphicFramePr>
        <p:xfrm>
          <a:off x="7756903" y="1618701"/>
          <a:ext cx="3057523" cy="1026092"/>
        </p:xfrm>
        <a:graphic>
          <a:graphicData uri="http://schemas.openxmlformats.org/drawingml/2006/table">
            <a:tbl>
              <a:tblPr/>
              <a:tblGrid>
                <a:gridCol w="10191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44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38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4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ssn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itchFamily="-111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P.name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itchFamily="-111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address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40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1234545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John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216 </a:t>
                      </a:r>
                      <a:r>
                        <a:rPr kumimoji="0" lang="en-US" sz="16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Rosse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itchFamily="-111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40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5423341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Bob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217 </a:t>
                      </a:r>
                      <a:r>
                        <a:rPr kumimoji="0" lang="en-US" sz="16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Rosse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itchFamily="-111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" name="Group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2415600"/>
              </p:ext>
            </p:extLst>
          </p:nvPr>
        </p:nvGraphicFramePr>
        <p:xfrm>
          <a:off x="3239478" y="1616097"/>
          <a:ext cx="3057523" cy="1026092"/>
        </p:xfrm>
        <a:graphic>
          <a:graphicData uri="http://schemas.openxmlformats.org/drawingml/2006/table">
            <a:tbl>
              <a:tblPr/>
              <a:tblGrid>
                <a:gridCol w="10191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83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00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4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sid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itchFamily="-111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S.name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itchFamily="-111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gpa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itchFamily="-111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40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001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John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3.4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40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002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Bob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1.3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901711" y="3275743"/>
                <a:ext cx="4107278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charset="0"/>
                        </a:rPr>
                        <m:t>𝑆𝑡𝑢𝑑𝑒𝑛𝑡𝑠</m:t>
                      </m:r>
                      <m:r>
                        <a:rPr lang="en-US" sz="3600" b="0" i="1" smtClean="0">
                          <a:latin typeface="Cambria Math" charset="0"/>
                        </a:rPr>
                        <m:t> ⋈</m:t>
                      </m:r>
                      <m:r>
                        <a:rPr lang="en-US" sz="36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𝑃𝑒𝑜𝑝𝑙𝑒</m:t>
                      </m:r>
                    </m:oMath>
                  </m:oMathPara>
                </a14:m>
                <a:endParaRPr lang="en-US" sz="360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711" y="3275743"/>
                <a:ext cx="4107278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6637621" y="1744136"/>
                <a:ext cx="671979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>
                          <a:latin typeface="Cambria Math" charset="0"/>
                        </a:rPr>
                        <m:t>⋈</m:t>
                      </m:r>
                    </m:oMath>
                  </m:oMathPara>
                </a14:m>
                <a:endParaRPr lang="en-US" sz="360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7621" y="1744136"/>
                <a:ext cx="671979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Down Arrow 6"/>
          <p:cNvSpPr/>
          <p:nvPr/>
        </p:nvSpPr>
        <p:spPr>
          <a:xfrm>
            <a:off x="6654267" y="3226511"/>
            <a:ext cx="585787" cy="65246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Group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9342179"/>
              </p:ext>
            </p:extLst>
          </p:nvPr>
        </p:nvGraphicFramePr>
        <p:xfrm>
          <a:off x="4377324" y="4512527"/>
          <a:ext cx="5192571" cy="1026092"/>
        </p:xfrm>
        <a:graphic>
          <a:graphicData uri="http://schemas.openxmlformats.org/drawingml/2006/table">
            <a:tbl>
              <a:tblPr/>
              <a:tblGrid>
                <a:gridCol w="849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7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87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59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4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sid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itchFamily="-111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S.name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itchFamily="-111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gpa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itchFamily="-111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ssn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itchFamily="-111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address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40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001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John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3.4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1234545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216 </a:t>
                      </a:r>
                      <a:r>
                        <a:rPr kumimoji="0" lang="en-US" sz="16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Rosse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itchFamily="-111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40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002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Bob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1.3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5423341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217 </a:t>
                      </a:r>
                      <a:r>
                        <a:rPr kumimoji="0" lang="en-US" sz="16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Rosse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itchFamily="-111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56903" y="1080616"/>
            <a:ext cx="12669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People 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39478" y="1084058"/>
            <a:ext cx="14979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Students 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8780" y="788228"/>
            <a:ext cx="27537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+mj-lt"/>
              </a:rPr>
              <a:t>Another example: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E8A89DA-A412-C7E7-FAD2-1E22FE068ABC}"/>
                  </a:ext>
                </a:extLst>
              </p:cNvPr>
              <p:cNvSpPr txBox="1"/>
              <p:nvPr/>
            </p:nvSpPr>
            <p:spPr>
              <a:xfrm>
                <a:off x="1975743" y="5723250"/>
                <a:ext cx="8633012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000">
                    <a:ea typeface="Arial Unicode MS" pitchFamily="-111" charset="0"/>
                    <a:cs typeface="Arial Unicode MS" pitchFamily="-111" charset="0"/>
                  </a:rPr>
                  <a:t>  R</a:t>
                </a:r>
                <a:r>
                  <a:rPr lang="en-US" sz="4000" baseline="-25000">
                    <a:ea typeface="Arial Unicode MS" pitchFamily="-111" charset="0"/>
                    <a:cs typeface="Arial Unicode MS" pitchFamily="-111" charset="0"/>
                  </a:rPr>
                  <a:t>1</a:t>
                </a:r>
                <a:r>
                  <a:rPr lang="en-US" sz="4000">
                    <a:ea typeface="Arial Unicode MS" pitchFamily="-111" charset="0"/>
                    <a:cs typeface="Arial Unicode MS" pitchFamily="-111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000" i="1">
                        <a:latin typeface="Cambria Math" charset="0"/>
                        <a:ea typeface="Cambria Math" charset="0"/>
                        <a:cs typeface="Cambria Math" charset="0"/>
                      </a:rPr>
                      <m:t>⋈</m:t>
                    </m:r>
                  </m:oMath>
                </a14:m>
                <a:r>
                  <a:rPr lang="en-US" sz="4000">
                    <a:ea typeface="Arial Unicode MS" pitchFamily="-111" charset="0"/>
                    <a:cs typeface="Arial Unicode MS" pitchFamily="-111" charset="0"/>
                  </a:rPr>
                  <a:t> R</a:t>
                </a:r>
                <a:r>
                  <a:rPr lang="en-US" sz="4000" baseline="-25000">
                    <a:ea typeface="Arial Unicode MS" pitchFamily="-111" charset="0"/>
                    <a:cs typeface="Arial Unicode MS" pitchFamily="-111" charset="0"/>
                  </a:rPr>
                  <a:t>2</a:t>
                </a:r>
                <a:r>
                  <a:rPr lang="en-US" sz="4000">
                    <a:ea typeface="Arial Unicode MS" pitchFamily="-111" charset="0"/>
                    <a:cs typeface="Arial Unicode MS" pitchFamily="-111" charset="0"/>
                  </a:rPr>
                  <a:t> = </a:t>
                </a:r>
                <a:r>
                  <a:rPr lang="en-US" sz="4000">
                    <a:latin typeface="Symbol" pitchFamily="-111" charset="2"/>
                    <a:ea typeface="Arial Unicode MS" pitchFamily="-111" charset="0"/>
                    <a:cs typeface="Arial Unicode MS" pitchFamily="-111" charset="0"/>
                  </a:rPr>
                  <a:t>P</a:t>
                </a:r>
                <a:r>
                  <a:rPr lang="en-US" sz="4000" baseline="-25000">
                    <a:ea typeface="Arial Unicode MS" pitchFamily="-111" charset="0"/>
                    <a:cs typeface="Arial Unicode MS" pitchFamily="-111" charset="0"/>
                  </a:rPr>
                  <a:t>A U B</a:t>
                </a:r>
                <a:r>
                  <a:rPr lang="en-US" sz="4000">
                    <a:ea typeface="Arial Unicode MS" pitchFamily="-111" charset="0"/>
                    <a:cs typeface="Arial Unicode MS" pitchFamily="-111" charset="0"/>
                  </a:rPr>
                  <a:t>(</a:t>
                </a:r>
                <a:r>
                  <a:rPr lang="en-US" sz="4000" err="1">
                    <a:latin typeface="Symbol" pitchFamily="-111" charset="2"/>
                    <a:ea typeface="Arial Unicode MS" pitchFamily="-111" charset="0"/>
                    <a:cs typeface="Arial Unicode MS" pitchFamily="-111" charset="0"/>
                  </a:rPr>
                  <a:t>s</a:t>
                </a:r>
                <a:r>
                  <a:rPr lang="en-US" sz="4000" baseline="-25000" err="1">
                    <a:ea typeface="Arial Unicode MS" pitchFamily="-111" charset="0"/>
                    <a:cs typeface="Arial Unicode MS" pitchFamily="-111" charset="0"/>
                  </a:rPr>
                  <a:t>C</a:t>
                </a:r>
                <a:r>
                  <a:rPr lang="en-US" sz="4000" baseline="-25000">
                    <a:ea typeface="Arial Unicode MS" pitchFamily="-111" charset="0"/>
                    <a:cs typeface="Arial Unicode MS" pitchFamily="-111" charset="0"/>
                  </a:rPr>
                  <a:t>=D</a:t>
                </a:r>
                <a:r>
                  <a:rPr lang="en-US" sz="4000">
                    <a:ea typeface="Arial Unicode MS" pitchFamily="-111" charset="0"/>
                    <a:cs typeface="Arial Unicode MS" pitchFamily="-111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000" i="1" smtClean="0">
                            <a:latin typeface="Cambria Math" panose="02040503050406030204" pitchFamily="18" charset="0"/>
                            <a:ea typeface="Arial Unicode MS" pitchFamily="-111" charset="0"/>
                            <a:cs typeface="Arial Unicode MS" pitchFamily="-111" charset="0"/>
                          </a:rPr>
                        </m:ctrlPr>
                      </m:sSubPr>
                      <m:e>
                        <m:r>
                          <a:rPr lang="en-US" sz="400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𝜌</m:t>
                        </m:r>
                      </m:e>
                      <m:sub>
                        <m:r>
                          <a:rPr lang="en-US" sz="4000" b="0" i="1" smtClean="0">
                            <a:latin typeface="Cambria Math" charset="0"/>
                            <a:ea typeface="Arial Unicode MS" pitchFamily="-111" charset="0"/>
                            <a:cs typeface="Arial Unicode MS" pitchFamily="-111" charset="0"/>
                          </a:rPr>
                          <m:t>𝐶</m:t>
                        </m:r>
                        <m:r>
                          <a:rPr lang="en-US" sz="40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→</m:t>
                        </m:r>
                        <m:r>
                          <a:rPr lang="en-US" sz="40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𝐷</m:t>
                        </m:r>
                      </m:sub>
                    </m:sSub>
                    <m:r>
                      <a:rPr lang="en-US" sz="4000" b="0" i="1" smtClean="0">
                        <a:latin typeface="Cambria Math" charset="0"/>
                        <a:ea typeface="Arial Unicode MS" pitchFamily="-111" charset="0"/>
                        <a:cs typeface="Arial Unicode MS" pitchFamily="-111" charset="0"/>
                      </a:rPr>
                      <m:t>(</m:t>
                    </m:r>
                  </m:oMath>
                </a14:m>
                <a:r>
                  <a:rPr lang="en-US" sz="4000">
                    <a:ea typeface="Arial Unicode MS" pitchFamily="-111" charset="0"/>
                    <a:cs typeface="Arial Unicode MS" pitchFamily="-111" charset="0"/>
                  </a:rPr>
                  <a:t>R</a:t>
                </a:r>
                <a:r>
                  <a:rPr lang="en-US" sz="4000" baseline="-25000">
                    <a:ea typeface="Arial Unicode MS" pitchFamily="-111" charset="0"/>
                    <a:cs typeface="Arial Unicode MS" pitchFamily="-111" charset="0"/>
                  </a:rPr>
                  <a:t>1</a:t>
                </a:r>
                <a:r>
                  <a:rPr lang="en-US" sz="4000">
                    <a:ea typeface="Arial Unicode MS" pitchFamily="-111" charset="0"/>
                    <a:cs typeface="Arial Unicode MS" pitchFamily="-111" charset="0"/>
                  </a:rPr>
                  <a:t>) </a:t>
                </a:r>
                <a:r>
                  <a:rPr lang="en-US" sz="4000">
                    <a:sym typeface="Symbol" pitchFamily="-111" charset="2"/>
                  </a:rPr>
                  <a:t> R</a:t>
                </a:r>
                <a:r>
                  <a:rPr lang="en-US" sz="4000" baseline="-25000">
                    <a:sym typeface="Symbol" pitchFamily="-111" charset="2"/>
                  </a:rPr>
                  <a:t>2</a:t>
                </a:r>
                <a:r>
                  <a:rPr lang="en-US" sz="4000">
                    <a:sym typeface="Symbol" pitchFamily="-111" charset="2"/>
                  </a:rPr>
                  <a:t>))</a:t>
                </a:r>
                <a:endParaRPr lang="en-US" sz="400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E8A89DA-A412-C7E7-FAD2-1E22FE068A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5743" y="5723250"/>
                <a:ext cx="8633012" cy="707886"/>
              </a:xfrm>
              <a:prstGeom prst="rect">
                <a:avLst/>
              </a:prstGeom>
              <a:blipFill>
                <a:blip r:embed="rId4"/>
                <a:stretch>
                  <a:fillRect t="-18103" b="-370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8300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Natural Join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43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838200" y="2200759"/>
                <a:ext cx="10515600" cy="4114800"/>
              </a:xfrm>
            </p:spPr>
            <p:txBody>
              <a:bodyPr/>
              <a:lstStyle/>
              <a:p>
                <a:r>
                  <a:rPr lang="en-US"/>
                  <a:t>Given schemas R(A, B, C, D), S(A, C, E), what is the schema of 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⋈ </m:t>
                    </m:r>
                  </m:oMath>
                </a14:m>
                <a:r>
                  <a:rPr lang="en-US"/>
                  <a:t>S ?</a:t>
                </a:r>
              </a:p>
              <a:p>
                <a:endParaRPr lang="en-US"/>
              </a:p>
              <a:p>
                <a:r>
                  <a:rPr lang="en-US"/>
                  <a:t>Given R(A, B, C),  S(D, E), what is 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⋈ </m:t>
                    </m:r>
                  </m:oMath>
                </a14:m>
                <a:r>
                  <a:rPr lang="en-US"/>
                  <a:t>S  ?</a:t>
                </a:r>
              </a:p>
              <a:p>
                <a:endParaRPr lang="en-US"/>
              </a:p>
              <a:p>
                <a:r>
                  <a:rPr lang="en-US"/>
                  <a:t>Given R(A, B),  S(A, B),  what is  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⋈ </m:t>
                    </m:r>
                  </m:oMath>
                </a14:m>
                <a:r>
                  <a:rPr lang="en-US"/>
                  <a:t>S  ?</a:t>
                </a:r>
              </a:p>
            </p:txBody>
          </p:sp>
        </mc:Choice>
        <mc:Fallback xmlns="">
          <p:sp>
            <p:nvSpPr>
              <p:cNvPr id="1843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8200" y="2200759"/>
                <a:ext cx="10515600" cy="4114800"/>
              </a:xfrm>
              <a:blipFill>
                <a:blip r:embed="rId3"/>
                <a:stretch>
                  <a:fillRect l="-1043" t="-23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6B54BB6-9758-4E82-88E6-3BC4E407443F}"/>
                  </a:ext>
                </a:extLst>
              </p:cNvPr>
              <p:cNvSpPr txBox="1"/>
              <p:nvPr/>
            </p:nvSpPr>
            <p:spPr>
              <a:xfrm>
                <a:off x="3098202" y="947541"/>
                <a:ext cx="8633012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000">
                    <a:ea typeface="Arial Unicode MS" pitchFamily="-111" charset="0"/>
                    <a:cs typeface="Arial Unicode MS" pitchFamily="-111" charset="0"/>
                  </a:rPr>
                  <a:t>  R</a:t>
                </a:r>
                <a:r>
                  <a:rPr lang="en-US" sz="4000" baseline="-25000">
                    <a:ea typeface="Arial Unicode MS" pitchFamily="-111" charset="0"/>
                    <a:cs typeface="Arial Unicode MS" pitchFamily="-111" charset="0"/>
                  </a:rPr>
                  <a:t>1</a:t>
                </a:r>
                <a:r>
                  <a:rPr lang="en-US" sz="4000">
                    <a:ea typeface="Arial Unicode MS" pitchFamily="-111" charset="0"/>
                    <a:cs typeface="Arial Unicode MS" pitchFamily="-111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000" i="1">
                        <a:latin typeface="Cambria Math" charset="0"/>
                        <a:ea typeface="Cambria Math" charset="0"/>
                        <a:cs typeface="Cambria Math" charset="0"/>
                      </a:rPr>
                      <m:t>⋈</m:t>
                    </m:r>
                  </m:oMath>
                </a14:m>
                <a:r>
                  <a:rPr lang="en-US" sz="4000">
                    <a:ea typeface="Arial Unicode MS" pitchFamily="-111" charset="0"/>
                    <a:cs typeface="Arial Unicode MS" pitchFamily="-111" charset="0"/>
                  </a:rPr>
                  <a:t> R</a:t>
                </a:r>
                <a:r>
                  <a:rPr lang="en-US" sz="4000" baseline="-25000">
                    <a:ea typeface="Arial Unicode MS" pitchFamily="-111" charset="0"/>
                    <a:cs typeface="Arial Unicode MS" pitchFamily="-111" charset="0"/>
                  </a:rPr>
                  <a:t>2</a:t>
                </a:r>
                <a:r>
                  <a:rPr lang="en-US" sz="4000">
                    <a:ea typeface="Arial Unicode MS" pitchFamily="-111" charset="0"/>
                    <a:cs typeface="Arial Unicode MS" pitchFamily="-111" charset="0"/>
                  </a:rPr>
                  <a:t> = </a:t>
                </a:r>
                <a:r>
                  <a:rPr lang="en-US" sz="4000">
                    <a:latin typeface="Symbol" pitchFamily="-111" charset="2"/>
                    <a:ea typeface="Arial Unicode MS" pitchFamily="-111" charset="0"/>
                    <a:cs typeface="Arial Unicode MS" pitchFamily="-111" charset="0"/>
                  </a:rPr>
                  <a:t>P</a:t>
                </a:r>
                <a:r>
                  <a:rPr lang="en-US" sz="4000" baseline="-25000">
                    <a:ea typeface="Arial Unicode MS" pitchFamily="-111" charset="0"/>
                    <a:cs typeface="Arial Unicode MS" pitchFamily="-111" charset="0"/>
                  </a:rPr>
                  <a:t>A U B</a:t>
                </a:r>
                <a:r>
                  <a:rPr lang="en-US" sz="4000">
                    <a:ea typeface="Arial Unicode MS" pitchFamily="-111" charset="0"/>
                    <a:cs typeface="Arial Unicode MS" pitchFamily="-111" charset="0"/>
                  </a:rPr>
                  <a:t>(</a:t>
                </a:r>
                <a:r>
                  <a:rPr lang="en-US" sz="4000" err="1">
                    <a:latin typeface="Symbol" pitchFamily="-111" charset="2"/>
                    <a:ea typeface="Arial Unicode MS" pitchFamily="-111" charset="0"/>
                    <a:cs typeface="Arial Unicode MS" pitchFamily="-111" charset="0"/>
                  </a:rPr>
                  <a:t>s</a:t>
                </a:r>
                <a:r>
                  <a:rPr lang="en-US" sz="4000" baseline="-25000" err="1">
                    <a:ea typeface="Arial Unicode MS" pitchFamily="-111" charset="0"/>
                    <a:cs typeface="Arial Unicode MS" pitchFamily="-111" charset="0"/>
                  </a:rPr>
                  <a:t>C</a:t>
                </a:r>
                <a:r>
                  <a:rPr lang="en-US" sz="4000" baseline="-25000">
                    <a:ea typeface="Arial Unicode MS" pitchFamily="-111" charset="0"/>
                    <a:cs typeface="Arial Unicode MS" pitchFamily="-111" charset="0"/>
                  </a:rPr>
                  <a:t>=D</a:t>
                </a:r>
                <a:r>
                  <a:rPr lang="en-US" sz="4000">
                    <a:ea typeface="Arial Unicode MS" pitchFamily="-111" charset="0"/>
                    <a:cs typeface="Arial Unicode MS" pitchFamily="-111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000" i="1" smtClean="0">
                            <a:latin typeface="Cambria Math" panose="02040503050406030204" pitchFamily="18" charset="0"/>
                            <a:ea typeface="Arial Unicode MS" pitchFamily="-111" charset="0"/>
                            <a:cs typeface="Arial Unicode MS" pitchFamily="-111" charset="0"/>
                          </a:rPr>
                        </m:ctrlPr>
                      </m:sSubPr>
                      <m:e>
                        <m:r>
                          <a:rPr lang="en-US" sz="400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𝜌</m:t>
                        </m:r>
                      </m:e>
                      <m:sub>
                        <m:r>
                          <a:rPr lang="en-US" sz="4000" b="0" i="1" smtClean="0">
                            <a:latin typeface="Cambria Math" charset="0"/>
                            <a:ea typeface="Arial Unicode MS" pitchFamily="-111" charset="0"/>
                            <a:cs typeface="Arial Unicode MS" pitchFamily="-111" charset="0"/>
                          </a:rPr>
                          <m:t>𝐶</m:t>
                        </m:r>
                        <m:r>
                          <a:rPr lang="en-US" sz="40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→</m:t>
                        </m:r>
                        <m:r>
                          <a:rPr lang="en-US" sz="40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𝐷</m:t>
                        </m:r>
                      </m:sub>
                    </m:sSub>
                    <m:r>
                      <a:rPr lang="en-US" sz="4000" b="0" i="1" smtClean="0">
                        <a:latin typeface="Cambria Math" charset="0"/>
                        <a:ea typeface="Arial Unicode MS" pitchFamily="-111" charset="0"/>
                        <a:cs typeface="Arial Unicode MS" pitchFamily="-111" charset="0"/>
                      </a:rPr>
                      <m:t>(</m:t>
                    </m:r>
                  </m:oMath>
                </a14:m>
                <a:r>
                  <a:rPr lang="en-US" sz="4000">
                    <a:ea typeface="Arial Unicode MS" pitchFamily="-111" charset="0"/>
                    <a:cs typeface="Arial Unicode MS" pitchFamily="-111" charset="0"/>
                  </a:rPr>
                  <a:t>R</a:t>
                </a:r>
                <a:r>
                  <a:rPr lang="en-US" sz="4000" baseline="-25000">
                    <a:ea typeface="Arial Unicode MS" pitchFamily="-111" charset="0"/>
                    <a:cs typeface="Arial Unicode MS" pitchFamily="-111" charset="0"/>
                  </a:rPr>
                  <a:t>1</a:t>
                </a:r>
                <a:r>
                  <a:rPr lang="en-US" sz="4000">
                    <a:ea typeface="Arial Unicode MS" pitchFamily="-111" charset="0"/>
                    <a:cs typeface="Arial Unicode MS" pitchFamily="-111" charset="0"/>
                  </a:rPr>
                  <a:t>) </a:t>
                </a:r>
                <a:r>
                  <a:rPr lang="en-US" sz="4000">
                    <a:sym typeface="Symbol" pitchFamily="-111" charset="2"/>
                  </a:rPr>
                  <a:t> R</a:t>
                </a:r>
                <a:r>
                  <a:rPr lang="en-US" sz="4000" baseline="-25000">
                    <a:sym typeface="Symbol" pitchFamily="-111" charset="2"/>
                  </a:rPr>
                  <a:t>2</a:t>
                </a:r>
                <a:r>
                  <a:rPr lang="en-US" sz="4000">
                    <a:sym typeface="Symbol" pitchFamily="-111" charset="2"/>
                  </a:rPr>
                  <a:t>))</a:t>
                </a:r>
                <a:endParaRPr lang="en-US" sz="400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6B54BB6-9758-4E82-88E6-3BC4E40744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8202" y="947541"/>
                <a:ext cx="8633012" cy="707886"/>
              </a:xfrm>
              <a:prstGeom prst="rect">
                <a:avLst/>
              </a:prstGeom>
              <a:blipFill>
                <a:blip r:embed="rId4"/>
                <a:stretch>
                  <a:fillRect t="-17949" b="-35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Example: Converting SFW Query -&gt; RA</a:t>
            </a:r>
          </a:p>
        </p:txBody>
      </p:sp>
      <p:sp>
        <p:nvSpPr>
          <p:cNvPr id="6" name="Rectangle 35"/>
          <p:cNvSpPr>
            <a:spLocks noChangeArrowheads="1"/>
          </p:cNvSpPr>
          <p:nvPr/>
        </p:nvSpPr>
        <p:spPr bwMode="auto">
          <a:xfrm>
            <a:off x="838199" y="2655984"/>
            <a:ext cx="4405314" cy="280692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80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 DISTINCT</a:t>
            </a:r>
            <a:endParaRPr lang="en-US" sz="2800">
              <a:solidFill>
                <a:schemeClr val="bg2">
                  <a:lumMod val="90000"/>
                </a:schemeClr>
              </a:solidFill>
              <a:latin typeface="Menlo" charset="0"/>
              <a:ea typeface="Menlo" charset="0"/>
              <a:cs typeface="Menlo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>
                <a:latin typeface="Menlo" charset="0"/>
                <a:ea typeface="Menlo" charset="0"/>
                <a:cs typeface="Menlo" charset="0"/>
              </a:rPr>
              <a:t>  </a:t>
            </a:r>
            <a:r>
              <a:rPr lang="en-US" sz="2800" err="1">
                <a:latin typeface="Menlo" charset="0"/>
                <a:ea typeface="Menlo" charset="0"/>
                <a:cs typeface="Menlo" charset="0"/>
              </a:rPr>
              <a:t>gpa</a:t>
            </a:r>
            <a:r>
              <a:rPr lang="en-US" sz="2800">
                <a:latin typeface="Menlo" charset="0"/>
                <a:ea typeface="Menlo" charset="0"/>
                <a:cs typeface="Menlo" charset="0"/>
              </a:rPr>
              <a:t>,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>
                <a:latin typeface="Menlo" charset="0"/>
                <a:ea typeface="Menlo" charset="0"/>
                <a:cs typeface="Menlo" charset="0"/>
              </a:rPr>
              <a:t>  address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800">
                <a:latin typeface="Menlo" charset="0"/>
                <a:ea typeface="Menlo" charset="0"/>
                <a:cs typeface="Menlo" charset="0"/>
              </a:rPr>
              <a:t> Students S,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>
                <a:latin typeface="Menlo" charset="0"/>
                <a:ea typeface="Menlo" charset="0"/>
                <a:cs typeface="Menlo" charset="0"/>
              </a:rPr>
              <a:t>     People P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80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800" err="1">
                <a:latin typeface="Menlo" charset="0"/>
                <a:ea typeface="Menlo" charset="0"/>
                <a:cs typeface="Menlo" charset="0"/>
              </a:rPr>
              <a:t>gpa</a:t>
            </a:r>
            <a:r>
              <a:rPr lang="en-US" sz="2800">
                <a:latin typeface="Menlo" charset="0"/>
                <a:ea typeface="Menlo" charset="0"/>
                <a:cs typeface="Menlo" charset="0"/>
              </a:rPr>
              <a:t> &gt; 3.5 AND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>
                <a:latin typeface="Menlo" charset="0"/>
                <a:ea typeface="Menlo" charset="0"/>
                <a:cs typeface="Menlo" charset="0"/>
              </a:rPr>
              <a:t>   </a:t>
            </a:r>
            <a:r>
              <a:rPr lang="en-US" sz="2800" err="1">
                <a:latin typeface="Menlo" charset="0"/>
                <a:ea typeface="Menlo" charset="0"/>
                <a:cs typeface="Menlo" charset="0"/>
              </a:rPr>
              <a:t>sname</a:t>
            </a:r>
            <a:r>
              <a:rPr lang="en-US" sz="2800">
                <a:latin typeface="Menlo" charset="0"/>
                <a:ea typeface="Menlo" charset="0"/>
                <a:cs typeface="Menlo" charset="0"/>
              </a:rPr>
              <a:t> = </a:t>
            </a:r>
            <a:r>
              <a:rPr lang="en-US" sz="2800" err="1">
                <a:latin typeface="Menlo" charset="0"/>
                <a:ea typeface="Menlo" charset="0"/>
                <a:cs typeface="Menlo" charset="0"/>
              </a:rPr>
              <a:t>pname</a:t>
            </a:r>
            <a:r>
              <a:rPr lang="en-US" sz="2800">
                <a:latin typeface="Menlo" charset="0"/>
                <a:ea typeface="Menlo" charset="0"/>
                <a:cs typeface="Menlo" charset="0"/>
              </a:rPr>
              <a:t>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199" y="5719457"/>
            <a:ext cx="3519488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>
                <a:latin typeface="+mj-lt"/>
              </a:rPr>
              <a:t>How do we represent this query in RA?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6435345" y="3598189"/>
                <a:ext cx="5356146" cy="5324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320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Π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charset="0"/>
                            </a:rPr>
                            <m:t>𝑔𝑝𝑎</m:t>
                          </m:r>
                          <m:r>
                            <a:rPr lang="en-US" sz="3200" b="0" i="1" smtClean="0">
                              <a:latin typeface="Cambria Math" charset="0"/>
                            </a:rPr>
                            <m:t>,</m:t>
                          </m:r>
                          <m:r>
                            <a:rPr lang="en-US" sz="3200" b="0" i="1" smtClean="0">
                              <a:latin typeface="Cambria Math" charset="0"/>
                            </a:rPr>
                            <m:t>𝑎𝑑𝑑𝑟𝑒𝑠𝑠</m:t>
                          </m:r>
                        </m:sub>
                      </m:sSub>
                      <m:r>
                        <a:rPr lang="en-US" sz="3200" b="0" i="1" smtClean="0">
                          <a:latin typeface="Cambria Math" charset="0"/>
                        </a:rPr>
                        <m:t>(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𝜎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charset="0"/>
                            </a:rPr>
                            <m:t>𝑔𝑝𝑎</m:t>
                          </m:r>
                          <m:r>
                            <a:rPr lang="en-US" sz="3200" b="0" i="1" smtClean="0">
                              <a:latin typeface="Cambria Math" charset="0"/>
                            </a:rPr>
                            <m:t>&gt;3.5</m:t>
                          </m:r>
                        </m:sub>
                      </m:sSub>
                      <m:r>
                        <a:rPr lang="en-US" sz="3200" b="0" i="1" smtClean="0">
                          <a:latin typeface="Cambria Math" charset="0"/>
                        </a:rPr>
                        <m:t>(</m:t>
                      </m:r>
                      <m:r>
                        <a:rPr lang="en-US" sz="3200" b="0" i="1" smtClean="0">
                          <a:latin typeface="Cambria Math" charset="0"/>
                        </a:rPr>
                        <m:t>𝑆</m:t>
                      </m:r>
                      <m:r>
                        <a:rPr lang="en-US" sz="3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⋈</m:t>
                      </m:r>
                      <m:r>
                        <a:rPr lang="en-US" sz="3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𝑃</m:t>
                      </m:r>
                      <m:r>
                        <a:rPr lang="en-US" sz="3200" b="0" i="1" smtClean="0">
                          <a:latin typeface="Cambria Math" charset="0"/>
                        </a:rPr>
                        <m:t>))</m:t>
                      </m:r>
                    </m:oMath>
                  </m:oMathPara>
                </a14:m>
                <a:endParaRPr lang="en-US" sz="320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5345" y="3598189"/>
                <a:ext cx="5356146" cy="5324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ight Arrow 9"/>
          <p:cNvSpPr/>
          <p:nvPr/>
        </p:nvSpPr>
        <p:spPr>
          <a:xfrm>
            <a:off x="5453062" y="3669278"/>
            <a:ext cx="642938" cy="392536"/>
          </a:xfrm>
          <a:prstGeom prst="righ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35"/>
          <p:cNvSpPr>
            <a:spLocks noChangeArrowheads="1"/>
          </p:cNvSpPr>
          <p:nvPr/>
        </p:nvSpPr>
        <p:spPr bwMode="auto">
          <a:xfrm>
            <a:off x="838199" y="1690688"/>
            <a:ext cx="3684181" cy="5909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Students(</a:t>
            </a:r>
            <a:r>
              <a:rPr lang="en-US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sid,sname,gpa</a:t>
            </a:r>
            <a:r>
              <a:rPr lang="en-US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People(</a:t>
            </a:r>
            <a:r>
              <a:rPr lang="en-US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ssn,sname,address</a:t>
            </a:r>
            <a:r>
              <a:rPr lang="en-US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4011285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Logical Equivalence of RA Plans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45926" y="1522913"/>
                <a:ext cx="10515600" cy="4351338"/>
              </a:xfrm>
            </p:spPr>
            <p:txBody>
              <a:bodyPr/>
              <a:lstStyle/>
              <a:p>
                <a:r>
                  <a:rPr lang="en-US"/>
                  <a:t>Given relations R(A,B) and S(B,C):</a:t>
                </a:r>
              </a:p>
              <a:p>
                <a:pPr lvl="1"/>
                <a:endParaRPr lang="en-US" sz="2800"/>
              </a:p>
              <a:p>
                <a:pPr lvl="1"/>
                <a:r>
                  <a:rPr lang="en-US" sz="2800"/>
                  <a:t>Here, projection &amp; selection commute: 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𝐴</m:t>
                            </m:r>
                            <m:r>
                              <a:rPr lang="en-US" sz="3200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=5</m:t>
                            </m:r>
                          </m:sub>
                        </m:sSub>
                        <m:r>
                          <a:rPr lang="en-US" sz="3200" b="0" i="1" smtClean="0">
                            <a:latin typeface="Cambria Math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l-GR" sz="3200" i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Π</m:t>
                        </m:r>
                      </m:e>
                      <m:sub>
                        <m:r>
                          <a:rPr lang="en-US" sz="3200" b="0" i="1" smtClean="0">
                            <a:latin typeface="Cambria Math" charset="0"/>
                          </a:rPr>
                          <m:t>𝐴</m:t>
                        </m:r>
                      </m:sub>
                    </m:sSub>
                    <m:r>
                      <a:rPr lang="en-US" sz="3200" b="0" i="1" smtClean="0">
                        <a:latin typeface="Cambria Math" charset="0"/>
                      </a:rPr>
                      <m:t>(</m:t>
                    </m:r>
                    <m:r>
                      <a:rPr lang="en-US" sz="3200" b="0" i="1" smtClean="0">
                        <a:latin typeface="Cambria Math" charset="0"/>
                      </a:rPr>
                      <m:t>𝑅</m:t>
                    </m:r>
                    <m:r>
                      <a:rPr lang="en-US" sz="3200" i="1">
                        <a:latin typeface="Cambria Math" charset="0"/>
                      </a:rPr>
                      <m:t>))</m:t>
                    </m:r>
                    <m:r>
                      <a:rPr lang="en-US" sz="3200" b="0" i="1" smtClean="0">
                        <a:latin typeface="Cambria Math" charset="0"/>
                      </a:rPr>
                      <m:t>=</m:t>
                    </m:r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320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Π</m:t>
                        </m:r>
                      </m:e>
                      <m:sub>
                        <m:r>
                          <a:rPr lang="en-US" sz="3200" i="1">
                            <a:latin typeface="Cambria Math" charset="0"/>
                          </a:rPr>
                          <m:t>𝐴</m:t>
                        </m:r>
                      </m:sub>
                    </m:sSub>
                    <m:r>
                      <a:rPr lang="en-US" sz="3200" b="0" i="1" smtClean="0">
                        <a:latin typeface="Cambria Math" charset="0"/>
                      </a:rPr>
                      <m:t>(</m:t>
                    </m:r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𝜎</m:t>
                        </m:r>
                      </m:e>
                      <m:sub>
                        <m:r>
                          <a:rPr lang="en-US" sz="3200" b="0" i="1" smtClean="0">
                            <a:latin typeface="Cambria Math" charset="0"/>
                          </a:rPr>
                          <m:t>𝐴</m:t>
                        </m:r>
                        <m:r>
                          <a:rPr lang="en-US" sz="3200" b="0" i="1" smtClean="0">
                            <a:latin typeface="Cambria Math" charset="0"/>
                          </a:rPr>
                          <m:t>=5</m:t>
                        </m:r>
                      </m:sub>
                    </m:sSub>
                    <m:r>
                      <a:rPr lang="en-US" sz="3200" b="0" i="1" smtClean="0">
                        <a:latin typeface="Cambria Math" charset="0"/>
                      </a:rPr>
                      <m:t>(</m:t>
                    </m:r>
                    <m:r>
                      <a:rPr lang="en-US" sz="3200" b="0" i="1" smtClean="0">
                        <a:latin typeface="Cambria Math" charset="0"/>
                      </a:rPr>
                      <m:t>𝑅</m:t>
                    </m:r>
                    <m:r>
                      <a:rPr lang="en-US" sz="3200" b="0" i="1" smtClean="0">
                        <a:latin typeface="Cambria Math" charset="0"/>
                      </a:rPr>
                      <m:t>))</m:t>
                    </m:r>
                  </m:oMath>
                </a14:m>
                <a:endParaRPr lang="en-US" sz="3200" b="0"/>
              </a:p>
              <a:p>
                <a:pPr lvl="2"/>
                <a:endParaRPr lang="en-US" sz="3200"/>
              </a:p>
              <a:p>
                <a:pPr lvl="1"/>
                <a:r>
                  <a:rPr lang="en-US" sz="2800"/>
                  <a:t>What about here?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32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𝐴</m:t>
                            </m:r>
                            <m:r>
                              <a:rPr lang="en-US" sz="32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=5</m:t>
                            </m:r>
                          </m:sub>
                        </m:sSub>
                        <m:r>
                          <a:rPr lang="en-US" sz="3200" i="1">
                            <a:latin typeface="Cambria Math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l-GR" sz="320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Π</m:t>
                        </m:r>
                      </m:e>
                      <m:sub>
                        <m:r>
                          <a:rPr lang="en-US" sz="32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𝐵</m:t>
                        </m:r>
                      </m:sub>
                    </m:sSub>
                    <m:r>
                      <a:rPr lang="en-US" sz="3200" i="1">
                        <a:latin typeface="Cambria Math" charset="0"/>
                      </a:rPr>
                      <m:t>(</m:t>
                    </m:r>
                    <m:r>
                      <a:rPr lang="en-US" sz="3200" i="1">
                        <a:latin typeface="Cambria Math" charset="0"/>
                      </a:rPr>
                      <m:t>𝑅</m:t>
                    </m:r>
                    <m:r>
                      <a:rPr lang="en-US" sz="3200" i="1">
                        <a:latin typeface="Cambria Math" charset="0"/>
                      </a:rPr>
                      <m:t>)) ?=</m:t>
                    </m:r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320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Π</m:t>
                        </m:r>
                      </m:e>
                      <m:sub>
                        <m:r>
                          <a:rPr lang="en-US" sz="32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𝐵</m:t>
                        </m:r>
                      </m:sub>
                    </m:sSub>
                    <m:r>
                      <a:rPr lang="en-US" sz="3200" i="1">
                        <a:latin typeface="Cambria Math" charset="0"/>
                      </a:rPr>
                      <m:t>(</m:t>
                    </m:r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𝜎</m:t>
                        </m:r>
                      </m:e>
                      <m:sub>
                        <m:r>
                          <a:rPr lang="en-US" sz="3200" i="1">
                            <a:latin typeface="Cambria Math" charset="0"/>
                          </a:rPr>
                          <m:t>𝐴</m:t>
                        </m:r>
                        <m:r>
                          <a:rPr lang="en-US" sz="3200" i="1">
                            <a:latin typeface="Cambria Math" charset="0"/>
                          </a:rPr>
                          <m:t>=5</m:t>
                        </m:r>
                      </m:sub>
                    </m:sSub>
                    <m:r>
                      <a:rPr lang="en-US" sz="3200" i="1">
                        <a:latin typeface="Cambria Math" charset="0"/>
                      </a:rPr>
                      <m:t>(</m:t>
                    </m:r>
                    <m:r>
                      <a:rPr lang="en-US" sz="3200" i="1">
                        <a:latin typeface="Cambria Math" charset="0"/>
                      </a:rPr>
                      <m:t>𝑅</m:t>
                    </m:r>
                    <m:r>
                      <a:rPr lang="en-US" sz="3200" i="1">
                        <a:latin typeface="Cambria Math" charset="0"/>
                      </a:rPr>
                      <m:t>))</m:t>
                    </m:r>
                  </m:oMath>
                </a14:m>
                <a:endParaRPr lang="en-US" sz="3200"/>
              </a:p>
              <a:p>
                <a:pPr lvl="2"/>
                <a:endParaRPr lang="en-US" sz="3200"/>
              </a:p>
              <a:p>
                <a:pPr lvl="1"/>
                <a:endParaRPr lang="en-US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5926" y="1522913"/>
                <a:ext cx="10515600" cy="4351338"/>
              </a:xfrm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1738864" y="5788680"/>
            <a:ext cx="8714272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2800">
                <a:solidFill>
                  <a:prstClr val="black"/>
                </a:solidFill>
                <a:latin typeface="+mj-lt"/>
              </a:rPr>
              <a:t>We’ll look at this in more depth later in the lecture…</a:t>
            </a:r>
            <a:endParaRPr lang="en-US" sz="2800" b="1" u="sng">
              <a:solidFill>
                <a:prstClr val="black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21749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FAF38-59A7-EE6C-815D-2B2FD4A57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RelaX</a:t>
            </a:r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893D123-3AA3-8945-A957-7B1DD7E19E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2568" y="1689925"/>
            <a:ext cx="10266781" cy="4309585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A5B21ED-E65A-6B26-1DA1-8666D2A094C8}"/>
              </a:ext>
            </a:extLst>
          </p:cNvPr>
          <p:cNvSpPr txBox="1"/>
          <p:nvPr/>
        </p:nvSpPr>
        <p:spPr>
          <a:xfrm>
            <a:off x="3681324" y="6138176"/>
            <a:ext cx="61052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hlinkClick r:id="rId3"/>
              </a:rPr>
              <a:t>https://dbis-uibk.github.io/relax/calc/local/uibk/local/0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5446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RDBMS Architecture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825625"/>
            <a:ext cx="10515600" cy="603250"/>
          </a:xfrm>
        </p:spPr>
        <p:txBody>
          <a:bodyPr/>
          <a:lstStyle/>
          <a:p>
            <a:pPr>
              <a:buFontTx/>
              <a:buNone/>
            </a:pPr>
            <a:r>
              <a:rPr lang="en-US"/>
              <a:t>How does a SQL engine work ?</a:t>
            </a:r>
          </a:p>
        </p:txBody>
      </p:sp>
      <p:sp>
        <p:nvSpPr>
          <p:cNvPr id="2" name="Right Arrow 1"/>
          <p:cNvSpPr/>
          <p:nvPr/>
        </p:nvSpPr>
        <p:spPr>
          <a:xfrm>
            <a:off x="2409825" y="3379274"/>
            <a:ext cx="576263" cy="48013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838200" y="2938143"/>
            <a:ext cx="1428750" cy="1362395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>
                <a:latin typeface="+mj-lt"/>
              </a:rPr>
              <a:t>SQL Query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28963" y="2938141"/>
            <a:ext cx="2143125" cy="136239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>
                <a:latin typeface="+mj-lt"/>
              </a:rPr>
              <a:t>Relational Algebra (RA) Plan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414963" y="3379272"/>
            <a:ext cx="576263" cy="48013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6134101" y="2938143"/>
            <a:ext cx="2143125" cy="1362395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i="1">
                <a:latin typeface="+mj-lt"/>
              </a:rPr>
              <a:t>Optimized</a:t>
            </a:r>
            <a:r>
              <a:rPr lang="en-US" sz="2800">
                <a:latin typeface="+mj-lt"/>
              </a:rPr>
              <a:t> RA Plan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420101" y="3379272"/>
            <a:ext cx="576263" cy="48013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/>
          <p:cNvSpPr/>
          <p:nvPr/>
        </p:nvSpPr>
        <p:spPr>
          <a:xfrm>
            <a:off x="9139239" y="2938141"/>
            <a:ext cx="2143125" cy="1362395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>
                <a:latin typeface="+mj-lt"/>
              </a:rPr>
              <a:t>Execution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0066" y="2543175"/>
            <a:ext cx="1824036" cy="2100263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5414962" y="2563812"/>
            <a:ext cx="6196013" cy="2100263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1738864" y="5115996"/>
            <a:ext cx="8714272" cy="9541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2800">
                <a:solidFill>
                  <a:prstClr val="black"/>
                </a:solidFill>
                <a:latin typeface="+mj-lt"/>
              </a:rPr>
              <a:t>We saw how we can transform declarative SQL queries into precise, compositional RA plans</a:t>
            </a:r>
            <a:endParaRPr lang="en-US" sz="2800" b="1" u="sng">
              <a:solidFill>
                <a:prstClr val="black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0147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RDBMS Architecture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825625"/>
            <a:ext cx="10515600" cy="603250"/>
          </a:xfrm>
        </p:spPr>
        <p:txBody>
          <a:bodyPr/>
          <a:lstStyle/>
          <a:p>
            <a:pPr>
              <a:buFontTx/>
              <a:buNone/>
            </a:pPr>
            <a:r>
              <a:rPr lang="en-US"/>
              <a:t>How does a SQL engine work ?</a:t>
            </a:r>
          </a:p>
        </p:txBody>
      </p:sp>
      <p:sp>
        <p:nvSpPr>
          <p:cNvPr id="2" name="Right Arrow 1"/>
          <p:cNvSpPr/>
          <p:nvPr/>
        </p:nvSpPr>
        <p:spPr>
          <a:xfrm>
            <a:off x="2409825" y="3379274"/>
            <a:ext cx="576263" cy="48013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838200" y="2938143"/>
            <a:ext cx="1428750" cy="1362395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>
                <a:latin typeface="+mj-lt"/>
              </a:rPr>
              <a:t>SQL Query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28963" y="2938141"/>
            <a:ext cx="2143125" cy="136239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>
                <a:latin typeface="+mj-lt"/>
              </a:rPr>
              <a:t>Relational Algebra (RA) Plan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414963" y="3379272"/>
            <a:ext cx="576263" cy="48013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6134101" y="2938143"/>
            <a:ext cx="2143125" cy="1362395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i="1">
                <a:latin typeface="+mj-lt"/>
              </a:rPr>
              <a:t>Optimized</a:t>
            </a:r>
            <a:r>
              <a:rPr lang="en-US" sz="2800">
                <a:latin typeface="+mj-lt"/>
              </a:rPr>
              <a:t> RA Plan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420101" y="3379272"/>
            <a:ext cx="576263" cy="48013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/>
          <p:cNvSpPr/>
          <p:nvPr/>
        </p:nvSpPr>
        <p:spPr>
          <a:xfrm>
            <a:off x="9139239" y="2938141"/>
            <a:ext cx="2143125" cy="1362395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>
                <a:latin typeface="+mj-lt"/>
              </a:rPr>
              <a:t>Execution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28641" y="2543175"/>
            <a:ext cx="4772021" cy="2100263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8420101" y="2563812"/>
            <a:ext cx="3190874" cy="2100263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2826819" y="5060145"/>
            <a:ext cx="6538362" cy="9541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2800">
                <a:solidFill>
                  <a:prstClr val="black"/>
                </a:solidFill>
                <a:latin typeface="+mj-lt"/>
              </a:rPr>
              <a:t>We’ll look at how to then optimize these plans later in this lecture</a:t>
            </a:r>
            <a:endParaRPr lang="en-US" sz="2800" b="1" u="sng">
              <a:solidFill>
                <a:prstClr val="black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53256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RDBMS Architecture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825625"/>
            <a:ext cx="10515600" cy="603250"/>
          </a:xfrm>
        </p:spPr>
        <p:txBody>
          <a:bodyPr/>
          <a:lstStyle/>
          <a:p>
            <a:pPr>
              <a:buFontTx/>
              <a:buNone/>
            </a:pPr>
            <a:r>
              <a:rPr lang="en-US"/>
              <a:t>How is the RA “plan” executed?</a:t>
            </a:r>
          </a:p>
        </p:txBody>
      </p:sp>
      <p:sp>
        <p:nvSpPr>
          <p:cNvPr id="2" name="Right Arrow 1"/>
          <p:cNvSpPr/>
          <p:nvPr/>
        </p:nvSpPr>
        <p:spPr>
          <a:xfrm>
            <a:off x="2409825" y="3379274"/>
            <a:ext cx="576263" cy="48013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838200" y="2938143"/>
            <a:ext cx="1428750" cy="1362395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>
                <a:latin typeface="+mj-lt"/>
              </a:rPr>
              <a:t>SQL Query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28963" y="2938141"/>
            <a:ext cx="2143125" cy="136239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>
                <a:latin typeface="+mj-lt"/>
              </a:rPr>
              <a:t>Relational Algebra (RA) Plan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414963" y="3379272"/>
            <a:ext cx="576263" cy="48013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6134101" y="2938143"/>
            <a:ext cx="2143125" cy="1362395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i="1">
                <a:latin typeface="+mj-lt"/>
              </a:rPr>
              <a:t>Optimized</a:t>
            </a:r>
            <a:r>
              <a:rPr lang="en-US" sz="2800">
                <a:latin typeface="+mj-lt"/>
              </a:rPr>
              <a:t> RA Plan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420101" y="3379272"/>
            <a:ext cx="576263" cy="48013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/>
          <p:cNvSpPr/>
          <p:nvPr/>
        </p:nvSpPr>
        <p:spPr>
          <a:xfrm>
            <a:off x="9139239" y="2938141"/>
            <a:ext cx="2143125" cy="1362395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>
                <a:latin typeface="+mj-lt"/>
              </a:rPr>
              <a:t>Execution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0066" y="2543175"/>
            <a:ext cx="7920034" cy="2100263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1738864" y="5115996"/>
            <a:ext cx="8714272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2800">
                <a:solidFill>
                  <a:prstClr val="black"/>
                </a:solidFill>
                <a:latin typeface="+mj-lt"/>
              </a:rPr>
              <a:t>We already know how to execute all the basic operators!</a:t>
            </a:r>
            <a:endParaRPr lang="en-US" sz="2800" b="1" u="sng">
              <a:solidFill>
                <a:prstClr val="black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47307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 Plan Execution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810000"/>
          </a:xfrm>
        </p:spPr>
        <p:txBody>
          <a:bodyPr>
            <a:normAutofit fontScale="92500" lnSpcReduction="20000"/>
          </a:bodyPr>
          <a:lstStyle/>
          <a:p>
            <a:r>
              <a:rPr lang="en-US"/>
              <a:t>Natural Join / Join:</a:t>
            </a:r>
          </a:p>
          <a:p>
            <a:pPr lvl="1"/>
            <a:r>
              <a:rPr lang="en-US"/>
              <a:t>We saw how to use </a:t>
            </a:r>
            <a:r>
              <a:rPr lang="en-US" b="1"/>
              <a:t>memory &amp; IO cost considerations to pick the correct algorithm to execute a join</a:t>
            </a:r>
            <a:r>
              <a:rPr lang="en-US"/>
              <a:t> </a:t>
            </a:r>
            <a:r>
              <a:rPr lang="en-US" b="1"/>
              <a:t>with (BNLJ, SMJ, HJ…)!</a:t>
            </a:r>
          </a:p>
          <a:p>
            <a:pPr lvl="1"/>
            <a:endParaRPr lang="en-US"/>
          </a:p>
          <a:p>
            <a:r>
              <a:rPr lang="en-US"/>
              <a:t>Selection:</a:t>
            </a:r>
          </a:p>
          <a:p>
            <a:pPr lvl="1"/>
            <a:r>
              <a:rPr lang="en-US"/>
              <a:t>We saw how to use </a:t>
            </a:r>
            <a:r>
              <a:rPr lang="en-US" b="1"/>
              <a:t>indexes to aid selection</a:t>
            </a:r>
          </a:p>
          <a:p>
            <a:pPr lvl="1"/>
            <a:r>
              <a:rPr lang="en-US"/>
              <a:t>Can always fall back on scan / binary search as well</a:t>
            </a:r>
          </a:p>
          <a:p>
            <a:pPr lvl="1"/>
            <a:endParaRPr lang="en-US"/>
          </a:p>
          <a:p>
            <a:r>
              <a:rPr lang="en-US"/>
              <a:t>Projection:</a:t>
            </a:r>
          </a:p>
          <a:p>
            <a:pPr lvl="1"/>
            <a:r>
              <a:rPr lang="en-US"/>
              <a:t>The main operation here is finding </a:t>
            </a:r>
            <a:r>
              <a:rPr lang="en-US" i="1"/>
              <a:t>distinct </a:t>
            </a:r>
            <a:r>
              <a:rPr lang="en-US"/>
              <a:t>values of the project tuples; we briefly discussed how to do this with e.g. </a:t>
            </a:r>
            <a:r>
              <a:rPr lang="en-US" b="1"/>
              <a:t>hashing </a:t>
            </a:r>
            <a:r>
              <a:rPr lang="en-US"/>
              <a:t>or </a:t>
            </a:r>
            <a:r>
              <a:rPr lang="en-US" b="1"/>
              <a:t>sorting</a:t>
            </a:r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738864" y="5635625"/>
            <a:ext cx="8714272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2800">
                <a:solidFill>
                  <a:prstClr val="black"/>
                </a:solidFill>
                <a:latin typeface="+mj-lt"/>
              </a:rPr>
              <a:t>We already know how to execute all the basic operators!</a:t>
            </a:r>
            <a:endParaRPr lang="en-US" sz="2800" b="1" u="sng">
              <a:solidFill>
                <a:prstClr val="black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11602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Adv. Relational Algebra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959-B587-3B45-A9B3-C17F42F09305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0343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you will learn about in this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175783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endParaRPr lang="en-US"/>
          </a:p>
          <a:p>
            <a:pPr marL="514350" indent="-514350">
              <a:buFont typeface="Arial"/>
              <a:buAutoNum type="arabicPeriod"/>
            </a:pPr>
            <a:r>
              <a:rPr lang="en-US">
                <a:latin typeface="+mj-lt"/>
              </a:rPr>
              <a:t>Set Operations in RA</a:t>
            </a:r>
          </a:p>
          <a:p>
            <a:pPr marL="514350" indent="-514350">
              <a:buFont typeface="Arial"/>
              <a:buAutoNum type="arabicPeriod"/>
            </a:pPr>
            <a:endParaRPr lang="en-US">
              <a:latin typeface="+mj-lt"/>
            </a:endParaRPr>
          </a:p>
          <a:p>
            <a:pPr marL="514350" indent="-514350">
              <a:buFont typeface="Arial"/>
              <a:buAutoNum type="arabicPeriod"/>
            </a:pPr>
            <a:r>
              <a:rPr lang="en-US">
                <a:latin typeface="+mj-lt"/>
              </a:rPr>
              <a:t>Fancier RA</a:t>
            </a:r>
          </a:p>
          <a:p>
            <a:pPr marL="514350" indent="-514350">
              <a:buFont typeface="Arial"/>
              <a:buAutoNum type="arabicPeriod"/>
            </a:pPr>
            <a:endParaRPr lang="en-US">
              <a:latin typeface="+mj-lt"/>
            </a:endParaRPr>
          </a:p>
          <a:p>
            <a:pPr marL="514350" indent="-514350">
              <a:buFont typeface="Arial"/>
              <a:buAutoNum type="arabicPeriod"/>
            </a:pPr>
            <a:r>
              <a:rPr lang="en-US">
                <a:latin typeface="+mj-lt"/>
              </a:rPr>
              <a:t>Extensions &amp; Limitations</a:t>
            </a:r>
          </a:p>
          <a:p>
            <a:pPr marL="0" indent="0">
              <a:buNone/>
            </a:pPr>
            <a:endParaRPr lang="en-US">
              <a:latin typeface="+mj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2A6B5-0D7C-48A8-B49A-953CF10F77E3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22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843088"/>
            <a:ext cx="10515600" cy="441960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2400" u="sng"/>
              <a:t>Five </a:t>
            </a:r>
            <a:r>
              <a:rPr lang="en-US" sz="2400" b="1" u="sng"/>
              <a:t>basic </a:t>
            </a:r>
            <a:r>
              <a:rPr lang="en-US" sz="2400" u="sng"/>
              <a:t>operators: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/>
              <a:t>Selection:</a:t>
            </a:r>
            <a:r>
              <a:rPr lang="en-US">
                <a:latin typeface="Symbol" pitchFamily="-111" charset="2"/>
              </a:rPr>
              <a:t> s</a:t>
            </a:r>
            <a:endParaRPr lang="en-US"/>
          </a:p>
          <a:p>
            <a:pPr marL="914400" lvl="1" indent="-457200">
              <a:buFont typeface="+mj-lt"/>
              <a:buAutoNum type="arabicPeriod"/>
            </a:pPr>
            <a:r>
              <a:rPr lang="en-US"/>
              <a:t>Projection: </a:t>
            </a:r>
            <a:r>
              <a:rPr lang="en-US">
                <a:latin typeface="Symbol" pitchFamily="-111" charset="2"/>
              </a:rPr>
              <a:t>P</a:t>
            </a:r>
            <a:r>
              <a:rPr lang="en-US"/>
              <a:t>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/>
              <a:t>Cartesian Product: </a:t>
            </a:r>
            <a:r>
              <a:rPr lang="en-US">
                <a:sym typeface="Symbol" pitchFamily="-111" charset="2"/>
              </a:rPr>
              <a:t></a:t>
            </a:r>
            <a:endParaRPr lang="en-US"/>
          </a:p>
          <a:p>
            <a:pPr marL="914400" lvl="1" indent="-457200">
              <a:lnSpc>
                <a:spcPct val="90000"/>
              </a:lnSpc>
              <a:buFont typeface="+mj-lt"/>
              <a:buAutoNum type="arabicPeriod"/>
            </a:pPr>
            <a:r>
              <a:rPr lang="en-US"/>
              <a:t>Union: </a:t>
            </a:r>
            <a:r>
              <a:rPr lang="en-US">
                <a:sym typeface="Symbol" pitchFamily="-111" charset="2"/>
              </a:rPr>
              <a:t></a:t>
            </a:r>
            <a:endParaRPr lang="en-US"/>
          </a:p>
          <a:p>
            <a:pPr marL="914400" lvl="1" indent="-457200">
              <a:lnSpc>
                <a:spcPct val="90000"/>
              </a:lnSpc>
              <a:buFont typeface="+mj-lt"/>
              <a:buAutoNum type="arabicPeriod"/>
            </a:pPr>
            <a:r>
              <a:rPr lang="en-US"/>
              <a:t>Difference: -</a:t>
            </a:r>
            <a:endParaRPr lang="en-US" sz="2400"/>
          </a:p>
          <a:p>
            <a:pPr>
              <a:lnSpc>
                <a:spcPct val="90000"/>
              </a:lnSpc>
            </a:pPr>
            <a:r>
              <a:rPr lang="en-US" sz="2400" u="sng"/>
              <a:t>Derived or auxiliary operators:</a:t>
            </a:r>
          </a:p>
          <a:p>
            <a:pPr lvl="1"/>
            <a:r>
              <a:rPr lang="en-US"/>
              <a:t>Intersection, complement</a:t>
            </a:r>
          </a:p>
          <a:p>
            <a:pPr lvl="1"/>
            <a:r>
              <a:rPr lang="en-US"/>
              <a:t>Joins (</a:t>
            </a:r>
            <a:r>
              <a:rPr lang="en-US" err="1"/>
              <a:t>natural,equi</a:t>
            </a:r>
            <a:r>
              <a:rPr lang="en-US"/>
              <a:t>-join, theta join, semi-join)</a:t>
            </a:r>
          </a:p>
          <a:p>
            <a:pPr lvl="1"/>
            <a:r>
              <a:rPr lang="en-US"/>
              <a:t>Renaming:</a:t>
            </a:r>
            <a:r>
              <a:rPr lang="en-US">
                <a:latin typeface="Symbol" pitchFamily="-111" charset="2"/>
              </a:rPr>
              <a:t> </a:t>
            </a:r>
            <a:r>
              <a:rPr lang="en-US" err="1">
                <a:latin typeface="Symbol" pitchFamily="-111" charset="2"/>
              </a:rPr>
              <a:t>r</a:t>
            </a:r>
            <a:r>
              <a:rPr lang="en-US"/>
              <a:t> </a:t>
            </a:r>
          </a:p>
          <a:p>
            <a:pPr lvl="1"/>
            <a:r>
              <a:rPr lang="en-US"/>
              <a:t>Division</a:t>
            </a: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Relational Algebra (RA)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69077" y="3420854"/>
            <a:ext cx="2345673" cy="779671"/>
          </a:xfrm>
          <a:prstGeom prst="roundRect">
            <a:avLst/>
          </a:prstGeom>
          <a:solidFill>
            <a:schemeClr val="accent4">
              <a:lumMod val="20000"/>
              <a:lumOff val="80000"/>
              <a:alpha val="5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4307540" y="3579856"/>
            <a:ext cx="3193398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>
                <a:latin typeface="+mj-lt"/>
              </a:rPr>
              <a:t>We’ll look at these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50828" y="5055773"/>
            <a:ext cx="3164822" cy="8309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i="1">
                <a:latin typeface="+mj-lt"/>
              </a:rPr>
              <a:t>And also at some of these derived operators</a:t>
            </a:r>
          </a:p>
        </p:txBody>
      </p:sp>
    </p:spTree>
    <p:extLst>
      <p:ext uri="{BB962C8B-B14F-4D97-AF65-F5344CB8AC3E}">
        <p14:creationId xmlns:p14="http://schemas.microsoft.com/office/powerpoint/2010/main" val="246424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2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714375" y="687287"/>
            <a:ext cx="7772400" cy="914400"/>
          </a:xfrm>
        </p:spPr>
        <p:txBody>
          <a:bodyPr/>
          <a:lstStyle/>
          <a:p>
            <a:r>
              <a:rPr lang="en-US"/>
              <a:t>1. Union (</a:t>
            </a:r>
            <a:r>
              <a:rPr lang="en-US">
                <a:sym typeface="Symbol" pitchFamily="-111" charset="2"/>
              </a:rPr>
              <a:t>)</a:t>
            </a:r>
            <a:r>
              <a:rPr lang="en-US"/>
              <a:t> and 2. Difference (–)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4375" y="1981200"/>
            <a:ext cx="9420225" cy="4495800"/>
          </a:xfrm>
        </p:spPr>
        <p:txBody>
          <a:bodyPr/>
          <a:lstStyle/>
          <a:p>
            <a:r>
              <a:rPr lang="en-US"/>
              <a:t>R1 </a:t>
            </a:r>
            <a:r>
              <a:rPr lang="en-US">
                <a:sym typeface="Symbol" pitchFamily="-111" charset="2"/>
              </a:rPr>
              <a:t> R2</a:t>
            </a:r>
            <a:endParaRPr lang="en-US"/>
          </a:p>
          <a:p>
            <a:r>
              <a:rPr lang="en-US"/>
              <a:t>Example:  </a:t>
            </a:r>
          </a:p>
          <a:p>
            <a:pPr lvl="1"/>
            <a:r>
              <a:rPr lang="en-US" err="1"/>
              <a:t>ActiveEmployees</a:t>
            </a:r>
            <a:r>
              <a:rPr lang="en-US"/>
              <a:t> </a:t>
            </a:r>
            <a:r>
              <a:rPr lang="en-US">
                <a:sym typeface="Symbol" pitchFamily="-111" charset="2"/>
              </a:rPr>
              <a:t></a:t>
            </a:r>
            <a:r>
              <a:rPr lang="en-US"/>
              <a:t> </a:t>
            </a:r>
            <a:r>
              <a:rPr lang="en-US" err="1"/>
              <a:t>RetiredEmployees</a:t>
            </a:r>
            <a:endParaRPr lang="en-US"/>
          </a:p>
          <a:p>
            <a:pPr lvl="1"/>
            <a:endParaRPr lang="en-US"/>
          </a:p>
          <a:p>
            <a:r>
              <a:rPr lang="en-US"/>
              <a:t>R1 – R2</a:t>
            </a:r>
          </a:p>
          <a:p>
            <a:r>
              <a:rPr lang="en-US"/>
              <a:t>Example:</a:t>
            </a:r>
          </a:p>
          <a:p>
            <a:pPr lvl="1"/>
            <a:r>
              <a:rPr lang="en-US" err="1"/>
              <a:t>AllEmployees</a:t>
            </a:r>
            <a:r>
              <a:rPr lang="en-US"/>
              <a:t> -- </a:t>
            </a:r>
            <a:r>
              <a:rPr lang="en-US" err="1"/>
              <a:t>RetiredEmployees</a:t>
            </a:r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251292" y="2026215"/>
            <a:ext cx="2305614" cy="1381688"/>
            <a:chOff x="8905312" y="3952260"/>
            <a:chExt cx="2305614" cy="1381688"/>
          </a:xfrm>
        </p:grpSpPr>
        <p:sp>
          <p:nvSpPr>
            <p:cNvPr id="9" name="Oval 8"/>
            <p:cNvSpPr/>
            <p:nvPr/>
          </p:nvSpPr>
          <p:spPr>
            <a:xfrm>
              <a:off x="8905312" y="3952260"/>
              <a:ext cx="1381688" cy="138168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R</a:t>
              </a:r>
              <a:r>
                <a:rPr lang="en-US" baseline="-25000"/>
                <a:t>1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9829238" y="3952260"/>
              <a:ext cx="1381688" cy="138168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R</a:t>
              </a:r>
              <a:r>
                <a:rPr lang="en-US" baseline="-25000"/>
                <a:t>2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8251292" y="4229100"/>
            <a:ext cx="2305614" cy="1381688"/>
            <a:chOff x="8905312" y="3952260"/>
            <a:chExt cx="2305614" cy="1381688"/>
          </a:xfrm>
        </p:grpSpPr>
        <p:sp>
          <p:nvSpPr>
            <p:cNvPr id="12" name="Oval 11"/>
            <p:cNvSpPr/>
            <p:nvPr/>
          </p:nvSpPr>
          <p:spPr>
            <a:xfrm>
              <a:off x="8905312" y="3952260"/>
              <a:ext cx="1381688" cy="138168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R</a:t>
              </a:r>
              <a:r>
                <a:rPr lang="en-US" baseline="-25000"/>
                <a:t>1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9829238" y="3952260"/>
              <a:ext cx="1381688" cy="138168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accent2"/>
                  </a:solidFill>
                </a:rPr>
                <a:t>R</a:t>
              </a:r>
              <a:r>
                <a:rPr lang="en-US" baseline="-25000">
                  <a:solidFill>
                    <a:schemeClr val="accent2"/>
                  </a:solidFill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16083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uiExpand="1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1100137" y="495300"/>
            <a:ext cx="7772400" cy="914400"/>
          </a:xfrm>
        </p:spPr>
        <p:txBody>
          <a:bodyPr/>
          <a:lstStyle/>
          <a:p>
            <a:r>
              <a:rPr lang="en-US"/>
              <a:t>What about Intersection (</a:t>
            </a:r>
            <a:r>
              <a:rPr lang="en-US">
                <a:sym typeface="Symbol" pitchFamily="-111" charset="2"/>
              </a:rPr>
              <a:t>)</a:t>
            </a:r>
            <a:r>
              <a:rPr lang="en-US"/>
              <a:t> ?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00137" y="1685924"/>
            <a:ext cx="8958263" cy="4333875"/>
          </a:xfrm>
        </p:spPr>
        <p:txBody>
          <a:bodyPr/>
          <a:lstStyle/>
          <a:p>
            <a:r>
              <a:rPr lang="en-US"/>
              <a:t>It is a derived operator</a:t>
            </a:r>
          </a:p>
          <a:p>
            <a:r>
              <a:rPr lang="en-US"/>
              <a:t>R1 </a:t>
            </a:r>
            <a:r>
              <a:rPr lang="en-US">
                <a:sym typeface="Symbol" pitchFamily="-111" charset="2"/>
              </a:rPr>
              <a:t></a:t>
            </a:r>
            <a:r>
              <a:rPr lang="en-US"/>
              <a:t> R2 = R1 – (R1 – R2)</a:t>
            </a:r>
          </a:p>
          <a:p>
            <a:r>
              <a:rPr lang="en-US"/>
              <a:t>Also expressed as a join!</a:t>
            </a:r>
          </a:p>
          <a:p>
            <a:r>
              <a:rPr lang="en-US"/>
              <a:t>Example</a:t>
            </a:r>
          </a:p>
          <a:p>
            <a:pPr lvl="1"/>
            <a:r>
              <a:rPr lang="en-US" err="1"/>
              <a:t>UnionizedEmployees</a:t>
            </a:r>
            <a:r>
              <a:rPr lang="en-US"/>
              <a:t> </a:t>
            </a:r>
            <a:r>
              <a:rPr lang="en-US">
                <a:sym typeface="Symbol" pitchFamily="-111" charset="2"/>
              </a:rPr>
              <a:t></a:t>
            </a:r>
            <a:r>
              <a:rPr lang="en-US"/>
              <a:t> </a:t>
            </a:r>
            <a:r>
              <a:rPr lang="en-US" err="1"/>
              <a:t>RetiredEmployees</a:t>
            </a:r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8645584" y="1685924"/>
            <a:ext cx="2305614" cy="1381688"/>
            <a:chOff x="8905312" y="3952260"/>
            <a:chExt cx="2305614" cy="1381688"/>
          </a:xfrm>
        </p:grpSpPr>
        <p:sp>
          <p:nvSpPr>
            <p:cNvPr id="5" name="Oval 4"/>
            <p:cNvSpPr/>
            <p:nvPr/>
          </p:nvSpPr>
          <p:spPr>
            <a:xfrm>
              <a:off x="8905312" y="3952260"/>
              <a:ext cx="1381688" cy="1381688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R</a:t>
              </a:r>
              <a:r>
                <a:rPr lang="en-US" baseline="-25000"/>
                <a:t>1</a:t>
              </a:r>
            </a:p>
          </p:txBody>
        </p:sp>
        <p:sp>
          <p:nvSpPr>
            <p:cNvPr id="6" name="Oval 5"/>
            <p:cNvSpPr/>
            <p:nvPr/>
          </p:nvSpPr>
          <p:spPr>
            <a:xfrm>
              <a:off x="9829238" y="3952260"/>
              <a:ext cx="1381688" cy="1381688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R</a:t>
              </a:r>
              <a:r>
                <a:rPr lang="en-US" baseline="-25000"/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2290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800" y="3276600"/>
            <a:ext cx="7772400" cy="1143000"/>
          </a:xfrm>
        </p:spPr>
        <p:txBody>
          <a:bodyPr/>
          <a:lstStyle/>
          <a:p>
            <a:r>
              <a:rPr lang="en-US"/>
              <a:t>Fancier RA</a:t>
            </a:r>
          </a:p>
        </p:txBody>
      </p:sp>
    </p:spTree>
    <p:extLst>
      <p:ext uri="{BB962C8B-B14F-4D97-AF65-F5344CB8AC3E}">
        <p14:creationId xmlns:p14="http://schemas.microsoft.com/office/powerpoint/2010/main" val="135673294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458" name="Rectangle 2"/>
              <p:cNvSpPr>
                <a:spLocks noGrp="1" noChangeArrowheads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Theta Join (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⋈</m:t>
                    </m:r>
                  </m:oMath>
                </a14:m>
                <a:r>
                  <a:rPr lang="en-US" baseline="-25000">
                    <a:latin typeface="Symbol" pitchFamily="-111" charset="2"/>
                  </a:rPr>
                  <a:t>q</a:t>
                </a:r>
                <a:r>
                  <a:rPr lang="en-US"/>
                  <a:t>)</a:t>
                </a:r>
              </a:p>
            </p:txBody>
          </p:sp>
        </mc:Choice>
        <mc:Fallback xmlns="">
          <p:sp>
            <p:nvSpPr>
              <p:cNvPr id="19458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459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838200" y="1981200"/>
                <a:ext cx="9601200" cy="4114800"/>
              </a:xfrm>
            </p:spPr>
            <p:txBody>
              <a:bodyPr/>
              <a:lstStyle/>
              <a:p>
                <a:r>
                  <a:rPr lang="en-US"/>
                  <a:t>A join that involves a predicate</a:t>
                </a:r>
              </a:p>
              <a:p>
                <a:r>
                  <a:rPr lang="en-US"/>
                  <a:t>R1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⋈</m:t>
                    </m:r>
                  </m:oMath>
                </a14:m>
                <a:r>
                  <a:rPr lang="en-US" baseline="-25000">
                    <a:latin typeface="Symbol" pitchFamily="-111" charset="2"/>
                  </a:rPr>
                  <a:t>q</a:t>
                </a:r>
                <a:r>
                  <a:rPr lang="en-US"/>
                  <a:t> R2   =  </a:t>
                </a:r>
                <a:r>
                  <a:rPr lang="en-US">
                    <a:latin typeface="Symbol" pitchFamily="-111" charset="2"/>
                  </a:rPr>
                  <a:t>s</a:t>
                </a:r>
                <a:r>
                  <a:rPr lang="en-US"/>
                  <a:t> </a:t>
                </a:r>
                <a:r>
                  <a:rPr lang="en-US" baseline="-25000">
                    <a:latin typeface="Symbol" pitchFamily="-111" charset="2"/>
                  </a:rPr>
                  <a:t>q</a:t>
                </a:r>
                <a:r>
                  <a:rPr lang="en-US"/>
                  <a:t> (R1 </a:t>
                </a:r>
                <a:r>
                  <a:rPr lang="en-US">
                    <a:sym typeface="Symbol" pitchFamily="-111" charset="2"/>
                  </a:rPr>
                  <a:t></a:t>
                </a:r>
                <a:r>
                  <a:rPr lang="en-US"/>
                  <a:t> R2)</a:t>
                </a:r>
              </a:p>
              <a:p>
                <a:r>
                  <a:rPr lang="en-US"/>
                  <a:t>Here </a:t>
                </a:r>
                <a:r>
                  <a:rPr lang="en-US">
                    <a:latin typeface="Symbol" pitchFamily="-111" charset="2"/>
                  </a:rPr>
                  <a:t>q </a:t>
                </a:r>
                <a:r>
                  <a:rPr lang="en-US"/>
                  <a:t>can be any condition </a:t>
                </a:r>
              </a:p>
            </p:txBody>
          </p:sp>
        </mc:Choice>
        <mc:Fallback xmlns="">
          <p:sp>
            <p:nvSpPr>
              <p:cNvPr id="1945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8200" y="1981200"/>
                <a:ext cx="9601200" cy="4114800"/>
              </a:xfrm>
              <a:blipFill>
                <a:blip r:embed="rId3"/>
                <a:stretch>
                  <a:fillRect l="-1143" t="-23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35"/>
          <p:cNvSpPr>
            <a:spLocks noChangeArrowheads="1"/>
          </p:cNvSpPr>
          <p:nvPr/>
        </p:nvSpPr>
        <p:spPr bwMode="auto">
          <a:xfrm>
            <a:off x="7286624" y="2214563"/>
            <a:ext cx="4410437" cy="142192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400">
                <a:solidFill>
                  <a:schemeClr val="bg2">
                    <a:lumMod val="90000"/>
                  </a:schemeClr>
                </a:solidFill>
                <a:latin typeface="Menlo" charset="0"/>
                <a:ea typeface="Menlo" charset="0"/>
                <a:cs typeface="Menlo" charset="0"/>
              </a:rPr>
              <a:t>SELECT *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  </a:t>
            </a:r>
            <a:r>
              <a:rPr lang="en-US" sz="2400" err="1">
                <a:latin typeface="Menlo" charset="0"/>
                <a:ea typeface="Menlo" charset="0"/>
                <a:cs typeface="Menlo" charset="0"/>
              </a:rPr>
              <a:t>Students,People</a:t>
            </a:r>
            <a:endParaRPr lang="en-US" sz="2400">
              <a:latin typeface="Menlo" charset="0"/>
              <a:ea typeface="Menlo" charset="0"/>
              <a:cs typeface="Menlo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40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>
                <a:latin typeface="Symbol" pitchFamily="-111" charset="2"/>
              </a:rPr>
              <a:t>q</a:t>
            </a:r>
            <a:r>
              <a:rPr lang="en-US" sz="2400">
                <a:latin typeface="Menlo" charset="0"/>
                <a:ea typeface="Menlo" charset="0"/>
                <a:cs typeface="Menlo" charset="0"/>
              </a:rPr>
              <a:t>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86625" y="1691343"/>
            <a:ext cx="8386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>
                <a:latin typeface="+mj-lt"/>
              </a:rPr>
              <a:t>SQL: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86624" y="4829898"/>
            <a:ext cx="6719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>
                <a:latin typeface="+mj-lt"/>
              </a:rPr>
              <a:t>RA: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286624" y="5213180"/>
                <a:ext cx="453681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charset="0"/>
                        </a:rPr>
                        <m:t>𝑆𝑡𝑢𝑑𝑒𝑛𝑡𝑠</m:t>
                      </m:r>
                      <m:r>
                        <a:rPr lang="en-US" sz="3600" b="0" i="1" smtClean="0">
                          <a:latin typeface="Cambria Math" charset="0"/>
                        </a:rPr>
                        <m:t> 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 dirty="0">
                              <a:latin typeface="Cambria Math" charset="0"/>
                            </a:rPr>
                            <m:t>⋈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𝜃</m:t>
                          </m:r>
                        </m:sub>
                      </m:sSub>
                      <m:r>
                        <a:rPr lang="en-US" sz="3600" b="0" i="1" smtClean="0">
                          <a:latin typeface="Cambria Math" charset="0"/>
                        </a:rPr>
                        <m:t> </m:t>
                      </m:r>
                      <m:r>
                        <a:rPr lang="en-US" sz="36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𝑃𝑒𝑜𝑝𝑙𝑒</m:t>
                      </m:r>
                    </m:oMath>
                  </m:oMathPara>
                </a14:m>
                <a:endParaRPr lang="en-US" sz="360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6624" y="5213180"/>
                <a:ext cx="4536819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35"/>
          <p:cNvSpPr>
            <a:spLocks noChangeArrowheads="1"/>
          </p:cNvSpPr>
          <p:nvPr/>
        </p:nvSpPr>
        <p:spPr bwMode="auto">
          <a:xfrm>
            <a:off x="7286623" y="823413"/>
            <a:ext cx="3742883" cy="5909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Students(</a:t>
            </a:r>
            <a:r>
              <a:rPr lang="en-US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sid,sname,gpa</a:t>
            </a:r>
            <a:r>
              <a:rPr lang="en-US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People(</a:t>
            </a:r>
            <a:r>
              <a:rPr lang="en-US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ssn,pname,address</a:t>
            </a:r>
            <a:r>
              <a:rPr lang="en-US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)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9134655" y="4340364"/>
            <a:ext cx="571500" cy="629471"/>
          </a:xfrm>
          <a:prstGeom prst="down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616767" y="4239600"/>
            <a:ext cx="3574399" cy="8309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>
                <a:latin typeface="+mj-lt"/>
              </a:rPr>
              <a:t>Note that natural join is a theta join + a projection.</a:t>
            </a:r>
          </a:p>
        </p:txBody>
      </p:sp>
    </p:spTree>
    <p:extLst>
      <p:ext uri="{BB962C8B-B14F-4D97-AF65-F5344CB8AC3E}">
        <p14:creationId xmlns:p14="http://schemas.microsoft.com/office/powerpoint/2010/main" val="629175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/>
      <p:bldP spid="10" grpId="0"/>
      <p:bldP spid="11" grpId="0" animBg="1"/>
      <p:bldP spid="12" grpId="0" animBg="1"/>
      <p:bldP spid="13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0482" name="Rectangle 2"/>
              <p:cNvSpPr>
                <a:spLocks noGrp="1" noChangeArrowheads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err="1"/>
                  <a:t>Equi</a:t>
                </a:r>
                <a:r>
                  <a:rPr lang="en-US"/>
                  <a:t>-join (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charset="0"/>
                      </a:rPr>
                      <m:t>⋈ </m:t>
                    </m:r>
                  </m:oMath>
                </a14:m>
                <a:r>
                  <a:rPr lang="en-US" baseline="-25000">
                    <a:ea typeface="Arial Unicode MS" pitchFamily="-111" charset="0"/>
                    <a:cs typeface="Arial Unicode MS" pitchFamily="-111" charset="0"/>
                  </a:rPr>
                  <a:t>A=B</a:t>
                </a:r>
                <a:r>
                  <a:rPr lang="en-US"/>
                  <a:t>)</a:t>
                </a:r>
              </a:p>
            </p:txBody>
          </p:sp>
        </mc:Choice>
        <mc:Fallback xmlns="">
          <p:sp>
            <p:nvSpPr>
              <p:cNvPr id="20482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483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/>
                  <a:t>A theta join where </a:t>
                </a:r>
                <a:r>
                  <a:rPr lang="en-US">
                    <a:latin typeface="Symbol" pitchFamily="-111" charset="2"/>
                  </a:rPr>
                  <a:t>q </a:t>
                </a:r>
                <a:r>
                  <a:rPr lang="en-US"/>
                  <a:t>is an equality</a:t>
                </a:r>
              </a:p>
              <a:p>
                <a:r>
                  <a:rPr lang="en-US"/>
                  <a:t>R1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charset="0"/>
                      </a:rPr>
                      <m:t>⋈ </m:t>
                    </m:r>
                  </m:oMath>
                </a14:m>
                <a:r>
                  <a:rPr lang="en-US" baseline="-25000">
                    <a:ea typeface="Arial Unicode MS" pitchFamily="-111" charset="0"/>
                    <a:cs typeface="Arial Unicode MS" pitchFamily="-111" charset="0"/>
                  </a:rPr>
                  <a:t>A=B</a:t>
                </a:r>
                <a:r>
                  <a:rPr lang="en-US"/>
                  <a:t> R2   =  </a:t>
                </a:r>
                <a:r>
                  <a:rPr lang="en-US">
                    <a:latin typeface="Symbol" pitchFamily="-111" charset="2"/>
                  </a:rPr>
                  <a:t>s </a:t>
                </a:r>
                <a:r>
                  <a:rPr lang="en-US" baseline="-25000">
                    <a:ea typeface="Arial Unicode MS" pitchFamily="-111" charset="0"/>
                    <a:cs typeface="Arial Unicode MS" pitchFamily="-111" charset="0"/>
                  </a:rPr>
                  <a:t>A=B</a:t>
                </a:r>
                <a:r>
                  <a:rPr lang="en-US"/>
                  <a:t> (R1 </a:t>
                </a:r>
                <a:r>
                  <a:rPr lang="en-US">
                    <a:sym typeface="Symbol" pitchFamily="-111" charset="2"/>
                  </a:rPr>
                  <a:t></a:t>
                </a:r>
                <a:r>
                  <a:rPr lang="en-US"/>
                  <a:t> R2)</a:t>
                </a:r>
              </a:p>
              <a:p>
                <a:r>
                  <a:rPr lang="en-US"/>
                  <a:t>Example:</a:t>
                </a:r>
              </a:p>
              <a:p>
                <a:pPr lvl="1"/>
                <a:r>
                  <a:rPr lang="en-US"/>
                  <a:t>Employee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charset="0"/>
                      </a:rPr>
                      <m:t>⋈ </m:t>
                    </m:r>
                  </m:oMath>
                </a14:m>
                <a:r>
                  <a:rPr lang="en-US" baseline="-25000">
                    <a:ea typeface="Arial Unicode MS" pitchFamily="-111" charset="0"/>
                    <a:cs typeface="Arial Unicode MS" pitchFamily="-111" charset="0"/>
                  </a:rPr>
                  <a:t>SSN=SSN</a:t>
                </a:r>
                <a:r>
                  <a:rPr lang="en-US"/>
                  <a:t> Dependents </a:t>
                </a:r>
              </a:p>
              <a:p>
                <a:endParaRPr lang="en-US"/>
              </a:p>
            </p:txBody>
          </p:sp>
        </mc:Choice>
        <mc:Fallback xmlns="">
          <p:sp>
            <p:nvSpPr>
              <p:cNvPr id="2048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 l="-1043" t="-26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35"/>
          <p:cNvSpPr>
            <a:spLocks noChangeArrowheads="1"/>
          </p:cNvSpPr>
          <p:nvPr/>
        </p:nvSpPr>
        <p:spPr bwMode="auto">
          <a:xfrm>
            <a:off x="7286624" y="2214563"/>
            <a:ext cx="4410437" cy="175432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400">
                <a:solidFill>
                  <a:schemeClr val="bg2">
                    <a:lumMod val="90000"/>
                  </a:schemeClr>
                </a:solidFill>
                <a:latin typeface="Menlo" charset="0"/>
                <a:ea typeface="Menlo" charset="0"/>
                <a:cs typeface="Menlo" charset="0"/>
              </a:rPr>
              <a:t>SELECT *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  </a:t>
            </a:r>
            <a:r>
              <a:rPr lang="en-US" sz="2400">
                <a:latin typeface="Menlo" charset="0"/>
                <a:ea typeface="Menlo" charset="0"/>
                <a:cs typeface="Menlo" charset="0"/>
              </a:rPr>
              <a:t>Students S,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>
                <a:latin typeface="Menlo" charset="0"/>
                <a:ea typeface="Menlo" charset="0"/>
                <a:cs typeface="Menlo" charset="0"/>
              </a:rPr>
              <a:t>  People P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40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 err="1">
                <a:latin typeface="Menlo" charset="0"/>
                <a:ea typeface="Menlo" charset="0"/>
                <a:cs typeface="Menlo" charset="0"/>
              </a:rPr>
              <a:t>sname</a:t>
            </a:r>
            <a:r>
              <a:rPr lang="en-US" sz="2400">
                <a:latin typeface="Menlo" charset="0"/>
                <a:ea typeface="Menlo" charset="0"/>
                <a:cs typeface="Menlo" charset="0"/>
              </a:rPr>
              <a:t> = </a:t>
            </a:r>
            <a:r>
              <a:rPr lang="en-US" sz="2400" err="1">
                <a:latin typeface="Menlo" charset="0"/>
                <a:ea typeface="Menlo" charset="0"/>
                <a:cs typeface="Menlo" charset="0"/>
              </a:rPr>
              <a:t>pname</a:t>
            </a:r>
            <a:r>
              <a:rPr lang="en-US" sz="2400">
                <a:latin typeface="Menlo" charset="0"/>
                <a:ea typeface="Menlo" charset="0"/>
                <a:cs typeface="Menlo" charset="0"/>
              </a:rPr>
              <a:t>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86625" y="1691343"/>
            <a:ext cx="8386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>
                <a:latin typeface="+mj-lt"/>
              </a:rPr>
              <a:t>SQL: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86624" y="4829898"/>
            <a:ext cx="6719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>
                <a:latin typeface="+mj-lt"/>
              </a:rPr>
              <a:t>RA: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7594712" y="5296400"/>
                <a:ext cx="4012893" cy="5967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charset="0"/>
                        </a:rPr>
                        <m:t>𝑆</m:t>
                      </m:r>
                      <m:r>
                        <a:rPr lang="en-US" sz="3600" b="0" i="1" smtClean="0">
                          <a:latin typeface="Cambria Math" charset="0"/>
                        </a:rPr>
                        <m:t> 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 dirty="0">
                              <a:latin typeface="Cambria Math" charset="0"/>
                            </a:rPr>
                            <m:t>⋈</m:t>
                          </m:r>
                        </m:e>
                        <m:sub>
                          <m:r>
                            <a:rPr lang="en-US" sz="3600" b="0" i="1" dirty="0" smtClean="0">
                              <a:latin typeface="Cambria Math" charset="0"/>
                            </a:rPr>
                            <m:t>𝑠</m:t>
                          </m:r>
                          <m:r>
                            <a:rPr lang="en-US" sz="3600" b="0" i="1" smtClean="0">
                              <a:latin typeface="Cambria Math" charset="0"/>
                            </a:rPr>
                            <m:t>𝑛𝑎𝑚𝑒</m:t>
                          </m:r>
                          <m:r>
                            <a:rPr lang="en-US" sz="3600" b="0" i="1" smtClean="0">
                              <a:latin typeface="Cambria Math" charset="0"/>
                            </a:rPr>
                            <m:t>=</m:t>
                          </m:r>
                          <m:r>
                            <a:rPr lang="en-US" sz="3600" b="0" i="1" smtClean="0">
                              <a:latin typeface="Cambria Math" charset="0"/>
                            </a:rPr>
                            <m:t>𝑝𝑛𝑎𝑚𝑒</m:t>
                          </m:r>
                        </m:sub>
                      </m:sSub>
                      <m:r>
                        <a:rPr lang="en-US" sz="3600" b="0" i="1" smtClean="0">
                          <a:latin typeface="Cambria Math" charset="0"/>
                        </a:rPr>
                        <m:t> </m:t>
                      </m:r>
                      <m:r>
                        <a:rPr lang="en-US" sz="36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𝑃</m:t>
                      </m:r>
                    </m:oMath>
                  </m:oMathPara>
                </a14:m>
                <a:endParaRPr lang="en-US" sz="360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4712" y="5296400"/>
                <a:ext cx="4012893" cy="59676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35"/>
          <p:cNvSpPr>
            <a:spLocks noChangeArrowheads="1"/>
          </p:cNvSpPr>
          <p:nvPr/>
        </p:nvSpPr>
        <p:spPr bwMode="auto">
          <a:xfrm>
            <a:off x="7286624" y="823413"/>
            <a:ext cx="3693264" cy="5909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Students(</a:t>
            </a:r>
            <a:r>
              <a:rPr lang="en-US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sid,sname,gpa</a:t>
            </a:r>
            <a:r>
              <a:rPr lang="en-US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People(</a:t>
            </a:r>
            <a:r>
              <a:rPr lang="en-US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ssn,pname,address</a:t>
            </a:r>
            <a:r>
              <a:rPr lang="en-US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)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9134655" y="4340364"/>
            <a:ext cx="571500" cy="629471"/>
          </a:xfrm>
          <a:prstGeom prst="down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616767" y="4239600"/>
            <a:ext cx="3574399" cy="10772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3200">
                <a:latin typeface="+mj-lt"/>
              </a:rPr>
              <a:t>Most common join in practice!</a:t>
            </a:r>
          </a:p>
        </p:txBody>
      </p:sp>
    </p:spTree>
    <p:extLst>
      <p:ext uri="{BB962C8B-B14F-4D97-AF65-F5344CB8AC3E}">
        <p14:creationId xmlns:p14="http://schemas.microsoft.com/office/powerpoint/2010/main" val="343839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/>
      <p:bldP spid="11" grpId="0"/>
      <p:bldP spid="12" grpId="0" animBg="1"/>
      <p:bldP spid="13" grpId="0" animBg="1"/>
      <p:bldP spid="14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506" name="Rectangle 2"/>
              <p:cNvSpPr>
                <a:spLocks noGrp="1" noChangeArrowheads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err="1"/>
                  <a:t>Semijoin</a:t>
                </a:r>
                <a:r>
                  <a:rPr lang="en-US"/>
                  <a:t>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  <a:sym typeface="Symbol" pitchFamily="-111" charset="2"/>
                      </a:rPr>
                      <m:t>⋉</m:t>
                    </m:r>
                  </m:oMath>
                </a14:m>
                <a:r>
                  <a:rPr lang="en-US"/>
                  <a:t>)</a:t>
                </a:r>
              </a:p>
            </p:txBody>
          </p:sp>
        </mc:Choice>
        <mc:Fallback xmlns="">
          <p:sp>
            <p:nvSpPr>
              <p:cNvPr id="21506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507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/>
                  <a:t>R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charset="0"/>
                        <a:ea typeface="Cambria Math" charset="0"/>
                        <a:cs typeface="Cambria Math" charset="0"/>
                        <a:sym typeface="Symbol" pitchFamily="-111" charset="2"/>
                      </a:rPr>
                      <m:t>⋉</m:t>
                    </m:r>
                  </m:oMath>
                </a14:m>
                <a:r>
                  <a:rPr lang="en-US"/>
                  <a:t> S  = </a:t>
                </a:r>
                <a:r>
                  <a:rPr lang="en-US">
                    <a:latin typeface="Symbol" pitchFamily="-111" charset="2"/>
                  </a:rPr>
                  <a:t>P</a:t>
                </a:r>
                <a:r>
                  <a:rPr lang="en-US"/>
                  <a:t> </a:t>
                </a:r>
                <a:r>
                  <a:rPr lang="en-US" baseline="-25000"/>
                  <a:t>A1,…,An</a:t>
                </a:r>
                <a:r>
                  <a:rPr lang="en-US"/>
                  <a:t> (R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/>
                  <a:t> S)</a:t>
                </a:r>
              </a:p>
              <a:p>
                <a:r>
                  <a:rPr lang="en-US"/>
                  <a:t>Where A</a:t>
                </a:r>
                <a:r>
                  <a:rPr lang="en-US" baseline="-25000"/>
                  <a:t>1</a:t>
                </a:r>
                <a:r>
                  <a:rPr lang="en-US"/>
                  <a:t>, …, A</a:t>
                </a:r>
                <a:r>
                  <a:rPr lang="en-US" baseline="-25000"/>
                  <a:t>n</a:t>
                </a:r>
                <a:r>
                  <a:rPr lang="en-US"/>
                  <a:t> are the attributes in R</a:t>
                </a:r>
              </a:p>
              <a:p>
                <a:r>
                  <a:rPr lang="en-US"/>
                  <a:t>Example:</a:t>
                </a:r>
              </a:p>
              <a:p>
                <a:pPr lvl="1"/>
                <a:r>
                  <a:rPr lang="en-US"/>
                  <a:t>Employee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  <a:sym typeface="Symbol" pitchFamily="-111" charset="2"/>
                      </a:rPr>
                      <m:t>⋉ </m:t>
                    </m:r>
                  </m:oMath>
                </a14:m>
                <a:r>
                  <a:rPr lang="en-US"/>
                  <a:t>Dependents </a:t>
                </a:r>
              </a:p>
              <a:p>
                <a:endParaRPr lang="en-US"/>
              </a:p>
            </p:txBody>
          </p:sp>
        </mc:Choice>
        <mc:Fallback xmlns="">
          <p:sp>
            <p:nvSpPr>
              <p:cNvPr id="2150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4"/>
                <a:stretch>
                  <a:fillRect l="-1043" t="-26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35"/>
          <p:cNvSpPr>
            <a:spLocks noChangeArrowheads="1"/>
          </p:cNvSpPr>
          <p:nvPr/>
        </p:nvSpPr>
        <p:spPr bwMode="auto">
          <a:xfrm>
            <a:off x="7286624" y="2307788"/>
            <a:ext cx="4543426" cy="175432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00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 DISTINCT</a:t>
            </a:r>
            <a:endParaRPr lang="en-US" sz="2000">
              <a:latin typeface="Menlo" charset="0"/>
              <a:ea typeface="Menlo" charset="0"/>
              <a:cs typeface="Menlo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>
                <a:latin typeface="Menlo" charset="0"/>
                <a:ea typeface="Menlo" charset="0"/>
                <a:cs typeface="Menlo" charset="0"/>
              </a:rPr>
              <a:t>  </a:t>
            </a:r>
            <a:r>
              <a:rPr lang="en-US" sz="2000" err="1">
                <a:latin typeface="Menlo" charset="0"/>
                <a:ea typeface="Menlo" charset="0"/>
                <a:cs typeface="Menlo" charset="0"/>
              </a:rPr>
              <a:t>sid,sname,gpa</a:t>
            </a:r>
            <a:endParaRPr lang="en-US" sz="2000">
              <a:latin typeface="Menlo" charset="0"/>
              <a:ea typeface="Menlo" charset="0"/>
              <a:cs typeface="Menlo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  </a:t>
            </a:r>
            <a:r>
              <a:rPr lang="en-US" sz="2000" err="1">
                <a:latin typeface="Menlo" charset="0"/>
                <a:ea typeface="Menlo" charset="0"/>
                <a:cs typeface="Menlo" charset="0"/>
              </a:rPr>
              <a:t>Students,People</a:t>
            </a:r>
            <a:endParaRPr lang="en-US" sz="2000">
              <a:latin typeface="Menlo" charset="0"/>
              <a:ea typeface="Menlo" charset="0"/>
              <a:cs typeface="Menlo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000">
                <a:latin typeface="Menlo" charset="0"/>
                <a:ea typeface="Menlo" charset="0"/>
                <a:cs typeface="Menlo" charset="0"/>
              </a:rPr>
              <a:t>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>
                <a:latin typeface="Menlo" charset="0"/>
                <a:ea typeface="Menlo" charset="0"/>
                <a:cs typeface="Menlo" charset="0"/>
              </a:rPr>
              <a:t>  </a:t>
            </a:r>
            <a:r>
              <a:rPr lang="en-US" sz="2000" err="1">
                <a:latin typeface="Menlo" charset="0"/>
                <a:ea typeface="Menlo" charset="0"/>
                <a:cs typeface="Menlo" charset="0"/>
              </a:rPr>
              <a:t>sname</a:t>
            </a:r>
            <a:r>
              <a:rPr lang="en-US" sz="2000">
                <a:latin typeface="Menlo" charset="0"/>
                <a:ea typeface="Menlo" charset="0"/>
                <a:cs typeface="Menlo" charset="0"/>
              </a:rPr>
              <a:t> = </a:t>
            </a:r>
            <a:r>
              <a:rPr lang="en-US" sz="2000" err="1">
                <a:latin typeface="Menlo" charset="0"/>
                <a:ea typeface="Menlo" charset="0"/>
                <a:cs typeface="Menlo" charset="0"/>
              </a:rPr>
              <a:t>pname</a:t>
            </a:r>
            <a:r>
              <a:rPr lang="en-US" sz="2000">
                <a:latin typeface="Menlo" charset="0"/>
                <a:ea typeface="Menlo" charset="0"/>
                <a:cs typeface="Menlo" charset="0"/>
              </a:rPr>
              <a:t>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86625" y="1691343"/>
            <a:ext cx="8386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>
                <a:latin typeface="+mj-lt"/>
              </a:rPr>
              <a:t>SQL: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86624" y="4829898"/>
            <a:ext cx="6719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>
                <a:latin typeface="+mj-lt"/>
              </a:rPr>
              <a:t>RA: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460541" y="5478780"/>
                <a:ext cx="3919727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charset="0"/>
                        </a:rPr>
                        <m:t>𝑆𝑡𝑢𝑑𝑒𝑛𝑡𝑠</m:t>
                      </m:r>
                      <m:r>
                        <a:rPr lang="en-US" sz="3600" i="1">
                          <a:latin typeface="Cambria Math" charset="0"/>
                          <a:ea typeface="Cambria Math" charset="0"/>
                          <a:cs typeface="Cambria Math" charset="0"/>
                          <a:sym typeface="Symbol" pitchFamily="-111" charset="2"/>
                        </a:rPr>
                        <m:t>⋉</m:t>
                      </m:r>
                      <m:r>
                        <a:rPr lang="en-US" sz="36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𝑃𝑒𝑜𝑝𝑙𝑒</m:t>
                      </m:r>
                    </m:oMath>
                  </m:oMathPara>
                </a14:m>
                <a:endParaRPr lang="en-US" sz="360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0541" y="5478780"/>
                <a:ext cx="3919727" cy="5539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35"/>
          <p:cNvSpPr>
            <a:spLocks noChangeArrowheads="1"/>
          </p:cNvSpPr>
          <p:nvPr/>
        </p:nvSpPr>
        <p:spPr bwMode="auto">
          <a:xfrm>
            <a:off x="7286624" y="823413"/>
            <a:ext cx="3721618" cy="5909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Students(</a:t>
            </a:r>
            <a:r>
              <a:rPr lang="en-US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sid,sname,gpa</a:t>
            </a:r>
            <a:r>
              <a:rPr lang="en-US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People(</a:t>
            </a:r>
            <a:r>
              <a:rPr lang="en-US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ssn,pname,address</a:t>
            </a:r>
            <a:r>
              <a:rPr lang="en-US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)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9134655" y="4340364"/>
            <a:ext cx="571500" cy="629471"/>
          </a:xfrm>
          <a:prstGeom prst="down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5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/>
      <p:bldP spid="10" grpId="0"/>
      <p:bldP spid="11" grpId="0" animBg="1"/>
      <p:bldP spid="12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Semijoins in Distributed Databases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706561"/>
            <a:ext cx="10515600" cy="762000"/>
          </a:xfrm>
        </p:spPr>
        <p:txBody>
          <a:bodyPr>
            <a:normAutofit fontScale="92500"/>
          </a:bodyPr>
          <a:lstStyle/>
          <a:p>
            <a:r>
              <a:rPr lang="en-US" err="1"/>
              <a:t>Semijoins</a:t>
            </a:r>
            <a:r>
              <a:rPr lang="en-US"/>
              <a:t> are often used to compute natural joins in distributed databases</a:t>
            </a:r>
          </a:p>
        </p:txBody>
      </p:sp>
      <p:graphicFrame>
        <p:nvGraphicFramePr>
          <p:cNvPr id="22532" name="Group 4"/>
          <p:cNvGraphicFramePr>
            <a:graphicFrameLocks noGrp="1"/>
          </p:cNvGraphicFramePr>
          <p:nvPr/>
        </p:nvGraphicFramePr>
        <p:xfrm>
          <a:off x="2606674" y="3276908"/>
          <a:ext cx="1905000" cy="731520"/>
        </p:xfrm>
        <a:graphic>
          <a:graphicData uri="http://schemas.openxmlformats.org/drawingml/2006/table">
            <a:tbl>
              <a:tblPr/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SSN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Name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. . .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. . .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543" name="Group 15"/>
          <p:cNvGraphicFramePr>
            <a:graphicFrameLocks noGrp="1"/>
          </p:cNvGraphicFramePr>
          <p:nvPr/>
        </p:nvGraphicFramePr>
        <p:xfrm>
          <a:off x="6569074" y="2895908"/>
          <a:ext cx="2857500" cy="731520"/>
        </p:xfrm>
        <a:graphic>
          <a:graphicData uri="http://schemas.openxmlformats.org/drawingml/2006/table">
            <a:tbl>
              <a:tblPr/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SSN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Dname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Age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. . .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itchFamily="-111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. . .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2557" name="Oval 29"/>
          <p:cNvSpPr>
            <a:spLocks noChangeArrowheads="1"/>
          </p:cNvSpPr>
          <p:nvPr/>
        </p:nvSpPr>
        <p:spPr bwMode="auto">
          <a:xfrm>
            <a:off x="2225674" y="2438708"/>
            <a:ext cx="2667000" cy="2057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558" name="Oval 30"/>
          <p:cNvSpPr>
            <a:spLocks noChangeArrowheads="1"/>
          </p:cNvSpPr>
          <p:nvPr/>
        </p:nvSpPr>
        <p:spPr bwMode="auto">
          <a:xfrm>
            <a:off x="6188074" y="2286308"/>
            <a:ext cx="3886200" cy="1905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cxnSp>
        <p:nvCxnSpPr>
          <p:cNvPr id="22559" name="AutoShape 31"/>
          <p:cNvCxnSpPr>
            <a:cxnSpLocks noChangeShapeType="1"/>
            <a:stCxn id="22557" idx="6"/>
            <a:endCxn id="22558" idx="2"/>
          </p:cNvCxnSpPr>
          <p:nvPr/>
        </p:nvCxnSpPr>
        <p:spPr bwMode="auto">
          <a:xfrm flipV="1">
            <a:off x="4892674" y="3238808"/>
            <a:ext cx="1295400" cy="22860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  <a:effectLst/>
        </p:spPr>
      </p:cxnSp>
      <p:sp>
        <p:nvSpPr>
          <p:cNvPr id="22560" name="Text Box 32"/>
          <p:cNvSpPr txBox="1">
            <a:spLocks noChangeArrowheads="1"/>
          </p:cNvSpPr>
          <p:nvPr/>
        </p:nvSpPr>
        <p:spPr bwMode="auto">
          <a:xfrm>
            <a:off x="2666999" y="2632383"/>
            <a:ext cx="112082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>
                <a:latin typeface="Times New Roman" pitchFamily="-111" charset="0"/>
              </a:rPr>
              <a:t>Employee</a:t>
            </a:r>
          </a:p>
        </p:txBody>
      </p:sp>
      <p:sp>
        <p:nvSpPr>
          <p:cNvPr id="22561" name="Text Box 33"/>
          <p:cNvSpPr txBox="1">
            <a:spLocks noChangeArrowheads="1"/>
          </p:cNvSpPr>
          <p:nvPr/>
        </p:nvSpPr>
        <p:spPr bwMode="auto">
          <a:xfrm>
            <a:off x="7315199" y="2251383"/>
            <a:ext cx="127470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>
                <a:latin typeface="Times New Roman" pitchFamily="-111" charset="0"/>
              </a:rPr>
              <a:t>Dependents</a:t>
            </a:r>
          </a:p>
        </p:txBody>
      </p:sp>
      <p:sp>
        <p:nvSpPr>
          <p:cNvPr id="22562" name="Text Box 34"/>
          <p:cNvSpPr txBox="1">
            <a:spLocks noChangeArrowheads="1"/>
          </p:cNvSpPr>
          <p:nvPr/>
        </p:nvSpPr>
        <p:spPr bwMode="auto">
          <a:xfrm>
            <a:off x="5181600" y="3470583"/>
            <a:ext cx="94128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>
                <a:latin typeface="Times New Roman" pitchFamily="-111" charset="0"/>
              </a:rPr>
              <a:t>network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563" name="Rectangle 35"/>
              <p:cNvSpPr>
                <a:spLocks noChangeArrowheads="1"/>
              </p:cNvSpPr>
              <p:nvPr/>
            </p:nvSpPr>
            <p:spPr bwMode="auto">
              <a:xfrm>
                <a:off x="2574844" y="4699983"/>
                <a:ext cx="7042312" cy="5847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en-US" sz="3200">
                    <a:latin typeface="Times New Roman" pitchFamily="-111" charset="0"/>
                  </a:rPr>
                  <a:t>Employee </a:t>
                </a:r>
                <a14:m>
                  <m:oMath xmlns:m="http://schemas.openxmlformats.org/officeDocument/2006/math">
                    <m:r>
                      <a:rPr lang="en-US" sz="3200" i="1" dirty="0">
                        <a:latin typeface="Cambria Math" charset="0"/>
                      </a:rPr>
                      <m:t>⋈ </m:t>
                    </m:r>
                  </m:oMath>
                </a14:m>
                <a:r>
                  <a:rPr lang="en-US" sz="3200" baseline="-25000" err="1">
                    <a:latin typeface="Times New Roman" pitchFamily="-111" charset="0"/>
                    <a:ea typeface="Arial Unicode MS" pitchFamily="-111" charset="0"/>
                    <a:cs typeface="Arial Unicode MS" pitchFamily="-111" charset="0"/>
                  </a:rPr>
                  <a:t>ssn</a:t>
                </a:r>
                <a:r>
                  <a:rPr lang="en-US" sz="3200" baseline="-25000">
                    <a:latin typeface="Times New Roman" pitchFamily="-111" charset="0"/>
                    <a:ea typeface="Arial Unicode MS" pitchFamily="-111" charset="0"/>
                    <a:cs typeface="Arial Unicode MS" pitchFamily="-111" charset="0"/>
                  </a:rPr>
                  <a:t>=</a:t>
                </a:r>
                <a:r>
                  <a:rPr lang="en-US" sz="3200" baseline="-25000" err="1">
                    <a:latin typeface="Times New Roman" pitchFamily="-111" charset="0"/>
                    <a:ea typeface="Arial Unicode MS" pitchFamily="-111" charset="0"/>
                    <a:cs typeface="Arial Unicode MS" pitchFamily="-111" charset="0"/>
                  </a:rPr>
                  <a:t>ssn</a:t>
                </a:r>
                <a:r>
                  <a:rPr lang="en-US" sz="3200">
                    <a:latin typeface="Times New Roman" pitchFamily="-111" charset="0"/>
                  </a:rPr>
                  <a:t> (</a:t>
                </a:r>
                <a:r>
                  <a:rPr lang="en-US" sz="3200">
                    <a:latin typeface="Symbol" pitchFamily="-111" charset="2"/>
                  </a:rPr>
                  <a:t>s </a:t>
                </a:r>
                <a:r>
                  <a:rPr lang="en-US" sz="3200" baseline="-25000">
                    <a:latin typeface="Times New Roman" pitchFamily="-111" charset="0"/>
                    <a:ea typeface="Arial Unicode MS" pitchFamily="-111" charset="0"/>
                    <a:cs typeface="Arial Unicode MS" pitchFamily="-111" charset="0"/>
                  </a:rPr>
                  <a:t>age&gt;71 </a:t>
                </a:r>
                <a:r>
                  <a:rPr lang="en-US" sz="3200">
                    <a:latin typeface="Times New Roman" pitchFamily="-111" charset="0"/>
                    <a:ea typeface="Arial Unicode MS" pitchFamily="-111" charset="0"/>
                    <a:cs typeface="Arial Unicode MS" pitchFamily="-111" charset="0"/>
                  </a:rPr>
                  <a:t>(</a:t>
                </a:r>
                <a:r>
                  <a:rPr lang="en-US" sz="3200">
                    <a:latin typeface="Times New Roman" pitchFamily="-111" charset="0"/>
                  </a:rPr>
                  <a:t>Dependents))</a:t>
                </a:r>
              </a:p>
            </p:txBody>
          </p:sp>
        </mc:Choice>
        <mc:Fallback xmlns="">
          <p:sp>
            <p:nvSpPr>
              <p:cNvPr id="22563" name="Rectangle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74844" y="4699983"/>
                <a:ext cx="7042312" cy="584775"/>
              </a:xfrm>
              <a:prstGeom prst="rect">
                <a:avLst/>
              </a:prstGeom>
              <a:blipFill>
                <a:blip r:embed="rId2"/>
                <a:stretch>
                  <a:fillRect l="-2163" t="-13542" r="-1298" b="-33333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564" name="Text Box 36"/>
          <p:cNvSpPr txBox="1">
            <a:spLocks noChangeArrowheads="1"/>
          </p:cNvSpPr>
          <p:nvPr/>
        </p:nvSpPr>
        <p:spPr bwMode="auto">
          <a:xfrm>
            <a:off x="6553200" y="5638800"/>
            <a:ext cx="307552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>
                <a:latin typeface="Times New Roman" pitchFamily="-111" charset="0"/>
              </a:rPr>
              <a:t>T = </a:t>
            </a:r>
            <a:r>
              <a:rPr lang="en-US">
                <a:latin typeface="Symbol" pitchFamily="-111" charset="2"/>
              </a:rPr>
              <a:t>P</a:t>
            </a:r>
            <a:r>
              <a:rPr lang="en-US">
                <a:latin typeface="Times New Roman" pitchFamily="-111" charset="0"/>
              </a:rPr>
              <a:t> </a:t>
            </a:r>
            <a:r>
              <a:rPr lang="en-US" baseline="-25000">
                <a:latin typeface="Times New Roman" pitchFamily="-111" charset="0"/>
              </a:rPr>
              <a:t>SSN</a:t>
            </a:r>
            <a:r>
              <a:rPr lang="en-US">
                <a:latin typeface="Times New Roman" pitchFamily="-111" charset="0"/>
              </a:rPr>
              <a:t> </a:t>
            </a:r>
            <a:r>
              <a:rPr lang="en-US">
                <a:latin typeface="Symbol" pitchFamily="-111" charset="2"/>
              </a:rPr>
              <a:t>s </a:t>
            </a:r>
            <a:r>
              <a:rPr lang="en-US" baseline="-25000">
                <a:latin typeface="Times New Roman" pitchFamily="-111" charset="0"/>
                <a:ea typeface="Arial Unicode MS" pitchFamily="-111" charset="0"/>
                <a:cs typeface="Arial Unicode MS" pitchFamily="-111" charset="0"/>
              </a:rPr>
              <a:t>age&gt;71 </a:t>
            </a:r>
            <a:r>
              <a:rPr lang="en-US">
                <a:latin typeface="Times New Roman" pitchFamily="-111" charset="0"/>
                <a:ea typeface="Arial Unicode MS" pitchFamily="-111" charset="0"/>
                <a:cs typeface="Arial Unicode MS" pitchFamily="-111" charset="0"/>
              </a:rPr>
              <a:t>(</a:t>
            </a:r>
            <a:r>
              <a:rPr lang="en-US">
                <a:latin typeface="Times New Roman" pitchFamily="-111" charset="0"/>
              </a:rPr>
              <a:t>Dependents)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565" name="Text Box 37"/>
              <p:cNvSpPr txBox="1">
                <a:spLocks noChangeArrowheads="1"/>
              </p:cNvSpPr>
              <p:nvPr/>
            </p:nvSpPr>
            <p:spPr bwMode="auto">
              <a:xfrm>
                <a:off x="2911312" y="5789273"/>
                <a:ext cx="2117887" cy="5734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>
                    <a:latin typeface="Times New Roman" pitchFamily="-111" charset="0"/>
                  </a:rPr>
                  <a:t>R = Employee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charset="0"/>
                        <a:ea typeface="Cambria Math" charset="0"/>
                        <a:cs typeface="Cambria Math" charset="0"/>
                        <a:sym typeface="Symbol" pitchFamily="-111" charset="2"/>
                      </a:rPr>
                      <m:t>⋉ </m:t>
                    </m:r>
                  </m:oMath>
                </a14:m>
                <a:r>
                  <a:rPr lang="en-US">
                    <a:latin typeface="Times New Roman" pitchFamily="-111" charset="0"/>
                    <a:ea typeface="Arial Unicode MS" pitchFamily="-111" charset="0"/>
                    <a:cs typeface="Arial Unicode MS" pitchFamily="-111" charset="0"/>
                  </a:rPr>
                  <a:t>T</a:t>
                </a:r>
              </a:p>
            </p:txBody>
          </p:sp>
        </mc:Choice>
        <mc:Fallback xmlns="">
          <p:sp>
            <p:nvSpPr>
              <p:cNvPr id="22565" name="Text 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11312" y="5789273"/>
                <a:ext cx="2117887" cy="573427"/>
              </a:xfrm>
              <a:prstGeom prst="rect">
                <a:avLst/>
              </a:prstGeom>
              <a:blipFill>
                <a:blip r:embed="rId3"/>
                <a:stretch>
                  <a:fillRect l="-2594" r="-1441" b="-9574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566" name="Text Box 38"/>
              <p:cNvSpPr txBox="1">
                <a:spLocks noChangeArrowheads="1"/>
              </p:cNvSpPr>
              <p:nvPr/>
            </p:nvSpPr>
            <p:spPr bwMode="auto">
              <a:xfrm>
                <a:off x="6629401" y="6216651"/>
                <a:ext cx="2879314" cy="573427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>
                    <a:latin typeface="Times New Roman" pitchFamily="-111" charset="0"/>
                  </a:rPr>
                  <a:t>Answer = R </a:t>
                </a:r>
                <a14:m>
                  <m:oMath xmlns:m="http://schemas.openxmlformats.org/officeDocument/2006/math">
                    <m:r>
                      <a:rPr lang="en-US" sz="3200" i="1" dirty="0">
                        <a:latin typeface="Cambria Math" charset="0"/>
                      </a:rPr>
                      <m:t>⋈ </m:t>
                    </m:r>
                  </m:oMath>
                </a14:m>
                <a:r>
                  <a:rPr lang="en-US">
                    <a:latin typeface="Times New Roman" pitchFamily="-111" charset="0"/>
                  </a:rPr>
                  <a:t>Dependents</a:t>
                </a:r>
              </a:p>
            </p:txBody>
          </p:sp>
        </mc:Choice>
        <mc:Fallback xmlns="">
          <p:sp>
            <p:nvSpPr>
              <p:cNvPr id="22566" name="Text 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29401" y="6216651"/>
                <a:ext cx="2879314" cy="573427"/>
              </a:xfrm>
              <a:prstGeom prst="rect">
                <a:avLst/>
              </a:prstGeom>
              <a:blipFill>
                <a:blip r:embed="rId4"/>
                <a:stretch>
                  <a:fillRect l="-1907" r="-1483" b="-9574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567" name="Line 39"/>
          <p:cNvSpPr>
            <a:spLocks noChangeShapeType="1"/>
          </p:cNvSpPr>
          <p:nvPr/>
        </p:nvSpPr>
        <p:spPr bwMode="auto">
          <a:xfrm flipH="1">
            <a:off x="5181600" y="5867400"/>
            <a:ext cx="1295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568" name="Line 40"/>
          <p:cNvSpPr>
            <a:spLocks noChangeShapeType="1"/>
          </p:cNvSpPr>
          <p:nvPr/>
        </p:nvSpPr>
        <p:spPr bwMode="auto">
          <a:xfrm>
            <a:off x="5181600" y="6248400"/>
            <a:ext cx="1295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170640" y="4937929"/>
            <a:ext cx="2251803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>
                <a:latin typeface="+mj-lt"/>
              </a:rPr>
              <a:t>Send less data to reduce network bandwidth!</a:t>
            </a:r>
          </a:p>
        </p:txBody>
      </p:sp>
      <p:grpSp>
        <p:nvGrpSpPr>
          <p:cNvPr id="23" name="Group 22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24" name="Rectangle 23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88780" y="-22510"/>
              <a:ext cx="28559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Lecture 16  &gt;  Section 2  &gt;  Fancier RA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95492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31B22-C098-6248-1ED4-0B04B07B8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/>
              <a:t>Anti Join (</a:t>
            </a:r>
            <a:r>
              <a:rPr lang="en-US" sz="2800" b="1">
                <a:latin typeface="Calibri"/>
                <a:cs typeface="Calibri"/>
              </a:rPr>
              <a:t>▷</a:t>
            </a:r>
            <a:r>
              <a:rPr lang="en-US"/>
              <a:t>)</a:t>
            </a:r>
            <a:endParaRPr lang="en-US" sz="2800" b="1">
              <a:latin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B6304-99D0-06F6-E1B3-2C7E1C99B6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1259"/>
            <a:ext cx="10515600" cy="4845704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b="1"/>
              <a:t>Definition:</a:t>
            </a:r>
          </a:p>
          <a:p>
            <a:r>
              <a:rPr lang="en-US"/>
              <a:t>The Anti Join is a relational operation that returns tuples from one relation that do not have matching tuples in another relation. It is often symbolized as:</a:t>
            </a:r>
          </a:p>
          <a:p>
            <a:r>
              <a:rPr lang="en-US" b="1"/>
              <a:t>R ▷ S = R - (R ⋈ S)</a:t>
            </a:r>
            <a:endParaRPr lang="en-US"/>
          </a:p>
          <a:p>
            <a:pPr marL="0" indent="0">
              <a:buNone/>
            </a:pPr>
            <a:r>
              <a:rPr lang="en-US"/>
              <a:t> Where: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/>
              <a:t>R</a:t>
            </a:r>
            <a:r>
              <a:rPr lang="en-US"/>
              <a:t>: The left relation (source relation).</a:t>
            </a:r>
            <a:endParaRPr lang="en-US"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/>
              <a:t>S</a:t>
            </a:r>
            <a:r>
              <a:rPr lang="en-US"/>
              <a:t>: The right relation.</a:t>
            </a:r>
            <a:endParaRPr lang="en-US"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/>
              <a:t>⋈</a:t>
            </a:r>
            <a:r>
              <a:rPr lang="en-US"/>
              <a:t>: Represents the join operation.</a:t>
            </a:r>
            <a:endParaRPr lang="en-US">
              <a:cs typeface="Calibri"/>
            </a:endParaRPr>
          </a:p>
          <a:p>
            <a:r>
              <a:rPr lang="en-US"/>
              <a:t>The Anti Join filters the tuples in </a:t>
            </a:r>
            <a:r>
              <a:rPr lang="en-US" b="1"/>
              <a:t>R</a:t>
            </a:r>
            <a:r>
              <a:rPr lang="en-US"/>
              <a:t> that do not find any matches in </a:t>
            </a:r>
            <a:r>
              <a:rPr lang="en-US" b="1"/>
              <a:t>S</a:t>
            </a:r>
            <a:r>
              <a:rPr lang="en-US"/>
              <a:t> based on a specified condition.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85894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37021-E999-C1D6-A8C6-16154F955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1393CE95-0E01-8E87-11C3-3DF1DB7098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3179191"/>
              </p:ext>
            </p:extLst>
          </p:nvPr>
        </p:nvGraphicFramePr>
        <p:xfrm>
          <a:off x="1120588" y="1806734"/>
          <a:ext cx="4312023" cy="1463040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1437341">
                  <a:extLst>
                    <a:ext uri="{9D8B030D-6E8A-4147-A177-3AD203B41FA5}">
                      <a16:colId xmlns:a16="http://schemas.microsoft.com/office/drawing/2014/main" val="974659279"/>
                    </a:ext>
                  </a:extLst>
                </a:gridCol>
                <a:gridCol w="1437341">
                  <a:extLst>
                    <a:ext uri="{9D8B030D-6E8A-4147-A177-3AD203B41FA5}">
                      <a16:colId xmlns:a16="http://schemas.microsoft.com/office/drawing/2014/main" val="1141976020"/>
                    </a:ext>
                  </a:extLst>
                </a:gridCol>
                <a:gridCol w="1437341">
                  <a:extLst>
                    <a:ext uri="{9D8B030D-6E8A-4147-A177-3AD203B41FA5}">
                      <a16:colId xmlns:a16="http://schemas.microsoft.com/office/drawing/2014/main" val="5462154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 err="1"/>
                        <a:t>Employee_ID</a:t>
                      </a:r>
                      <a:endParaRPr lang="en-US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err="1"/>
                        <a:t>Dept_ID</a:t>
                      </a:r>
                      <a:endParaRPr lang="en-US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65780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Alice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14315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Bob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78277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Charlie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NULL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7270583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6C04C855-9EE8-11BE-22FE-9743E7A4A4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2433200"/>
              </p:ext>
            </p:extLst>
          </p:nvPr>
        </p:nvGraphicFramePr>
        <p:xfrm>
          <a:off x="7395883" y="2050925"/>
          <a:ext cx="3173508" cy="1112520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1586754">
                  <a:extLst>
                    <a:ext uri="{9D8B030D-6E8A-4147-A177-3AD203B41FA5}">
                      <a16:colId xmlns:a16="http://schemas.microsoft.com/office/drawing/2014/main" val="3399260219"/>
                    </a:ext>
                  </a:extLst>
                </a:gridCol>
                <a:gridCol w="1586754">
                  <a:extLst>
                    <a:ext uri="{9D8B030D-6E8A-4147-A177-3AD203B41FA5}">
                      <a16:colId xmlns:a16="http://schemas.microsoft.com/office/drawing/2014/main" val="198310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err="1">
                          <a:solidFill>
                            <a:schemeClr val="tx1"/>
                          </a:solidFill>
                        </a:rPr>
                        <a:t>Dept_id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>
                          <a:solidFill>
                            <a:schemeClr val="tx1"/>
                          </a:solidFill>
                        </a:rPr>
                        <a:t>Dept_name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5456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HR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73616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8331891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A26B6BC3-EFC7-7CC2-258F-14AEB29EAA8C}"/>
              </a:ext>
            </a:extLst>
          </p:cNvPr>
          <p:cNvSpPr txBox="1"/>
          <p:nvPr/>
        </p:nvSpPr>
        <p:spPr>
          <a:xfrm>
            <a:off x="1317813" y="1414101"/>
            <a:ext cx="24877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/>
              <a:t>Employee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685088-BAB0-1C7B-3E5D-9E2E9F06EDBF}"/>
              </a:ext>
            </a:extLst>
          </p:cNvPr>
          <p:cNvSpPr txBox="1"/>
          <p:nvPr/>
        </p:nvSpPr>
        <p:spPr>
          <a:xfrm>
            <a:off x="7292789" y="1679748"/>
            <a:ext cx="24877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/>
              <a:t>Department</a:t>
            </a: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D0F0BDB3-38E4-29A5-A6A3-A490AAEAD6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1260022"/>
              </p:ext>
            </p:extLst>
          </p:nvPr>
        </p:nvGraphicFramePr>
        <p:xfrm>
          <a:off x="4038600" y="4808921"/>
          <a:ext cx="4312023" cy="731520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1437341">
                  <a:extLst>
                    <a:ext uri="{9D8B030D-6E8A-4147-A177-3AD203B41FA5}">
                      <a16:colId xmlns:a16="http://schemas.microsoft.com/office/drawing/2014/main" val="7109423"/>
                    </a:ext>
                  </a:extLst>
                </a:gridCol>
                <a:gridCol w="1437341">
                  <a:extLst>
                    <a:ext uri="{9D8B030D-6E8A-4147-A177-3AD203B41FA5}">
                      <a16:colId xmlns:a16="http://schemas.microsoft.com/office/drawing/2014/main" val="736036"/>
                    </a:ext>
                  </a:extLst>
                </a:gridCol>
                <a:gridCol w="1437341">
                  <a:extLst>
                    <a:ext uri="{9D8B030D-6E8A-4147-A177-3AD203B41FA5}">
                      <a16:colId xmlns:a16="http://schemas.microsoft.com/office/drawing/2014/main" val="38912556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 err="1"/>
                        <a:t>Employee_ID</a:t>
                      </a:r>
                      <a:endParaRPr lang="en-US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err="1"/>
                        <a:t>Dept_ID</a:t>
                      </a:r>
                      <a:endParaRPr lang="en-US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96929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Charlie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NULL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1017023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7DC6B14E-4E60-F7D8-783C-B6FFC00BBDBD}"/>
              </a:ext>
            </a:extLst>
          </p:cNvPr>
          <p:cNvSpPr txBox="1"/>
          <p:nvPr/>
        </p:nvSpPr>
        <p:spPr>
          <a:xfrm>
            <a:off x="4464427" y="3630011"/>
            <a:ext cx="61049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Employees ▷ Departments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772A33A-CF91-6F88-3BC4-D4B46C4C32AB}"/>
              </a:ext>
            </a:extLst>
          </p:cNvPr>
          <p:cNvSpPr txBox="1"/>
          <p:nvPr/>
        </p:nvSpPr>
        <p:spPr>
          <a:xfrm>
            <a:off x="4083169" y="4357144"/>
            <a:ext cx="777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Result</a:t>
            </a:r>
          </a:p>
        </p:txBody>
      </p:sp>
    </p:spTree>
    <p:extLst>
      <p:ext uri="{BB962C8B-B14F-4D97-AF65-F5344CB8AC3E}">
        <p14:creationId xmlns:p14="http://schemas.microsoft.com/office/powerpoint/2010/main" val="260221866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1" y="329696"/>
            <a:ext cx="7772400" cy="1143000"/>
          </a:xfrm>
        </p:spPr>
        <p:txBody>
          <a:bodyPr/>
          <a:lstStyle/>
          <a:p>
            <a:r>
              <a:rPr lang="en-US"/>
              <a:t>RA Expressions Can Get Complex!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28900" y="5635625"/>
            <a:ext cx="7772400" cy="1066800"/>
          </a:xfrm>
        </p:spPr>
        <p:txBody>
          <a:bodyPr/>
          <a:lstStyle/>
          <a:p>
            <a:pPr>
              <a:buFontTx/>
              <a:buNone/>
            </a:pPr>
            <a:endParaRPr lang="en-US" sz="2400"/>
          </a:p>
          <a:p>
            <a:pPr>
              <a:buFontTx/>
              <a:buNone/>
            </a:pPr>
            <a:r>
              <a:rPr lang="en-US" sz="2400"/>
              <a:t>  Person         Purchase              Person                  Product</a:t>
            </a:r>
          </a:p>
        </p:txBody>
      </p:sp>
      <p:sp>
        <p:nvSpPr>
          <p:cNvPr id="23556" name="Rectangle 4"/>
          <p:cNvSpPr>
            <a:spLocks noChangeArrowheads="1"/>
          </p:cNvSpPr>
          <p:nvPr/>
        </p:nvSpPr>
        <p:spPr bwMode="auto">
          <a:xfrm>
            <a:off x="6400800" y="5029201"/>
            <a:ext cx="1721946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sz="3200">
                <a:latin typeface="Symbol" pitchFamily="-111" charset="2"/>
              </a:rPr>
              <a:t> s</a:t>
            </a:r>
            <a:r>
              <a:rPr lang="en-US" sz="3200" baseline="-25000">
                <a:latin typeface="Times New Roman" pitchFamily="-111" charset="0"/>
              </a:rPr>
              <a:t>name=fred</a:t>
            </a:r>
          </a:p>
        </p:txBody>
      </p:sp>
      <p:sp>
        <p:nvSpPr>
          <p:cNvPr id="23557" name="Rectangle 5"/>
          <p:cNvSpPr>
            <a:spLocks noChangeArrowheads="1"/>
          </p:cNvSpPr>
          <p:nvPr/>
        </p:nvSpPr>
        <p:spPr bwMode="auto">
          <a:xfrm>
            <a:off x="8305801" y="5029201"/>
            <a:ext cx="196399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sz="3200">
                <a:latin typeface="Symbol" pitchFamily="-111" charset="2"/>
              </a:rPr>
              <a:t> s</a:t>
            </a:r>
            <a:r>
              <a:rPr lang="en-US" sz="3200" baseline="-25000">
                <a:latin typeface="Times New Roman" pitchFamily="-111" charset="0"/>
              </a:rPr>
              <a:t>name=gizmo</a:t>
            </a:r>
          </a:p>
        </p:txBody>
      </p:sp>
      <p:sp>
        <p:nvSpPr>
          <p:cNvPr id="23558" name="Rectangle 6"/>
          <p:cNvSpPr>
            <a:spLocks noChangeArrowheads="1"/>
          </p:cNvSpPr>
          <p:nvPr/>
        </p:nvSpPr>
        <p:spPr bwMode="auto">
          <a:xfrm>
            <a:off x="8610601" y="4267201"/>
            <a:ext cx="950901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sz="3200">
                <a:latin typeface="Symbol" pitchFamily="-111" charset="2"/>
              </a:rPr>
              <a:t>P</a:t>
            </a:r>
            <a:r>
              <a:rPr lang="en-US" sz="3200">
                <a:latin typeface="Times New Roman" pitchFamily="-111" charset="0"/>
              </a:rPr>
              <a:t> </a:t>
            </a:r>
            <a:r>
              <a:rPr lang="en-US" sz="3200" baseline="-25000">
                <a:latin typeface="Times New Roman" pitchFamily="-111" charset="0"/>
              </a:rPr>
              <a:t>pid</a:t>
            </a:r>
          </a:p>
        </p:txBody>
      </p:sp>
      <p:sp>
        <p:nvSpPr>
          <p:cNvPr id="23559" name="Rectangle 7"/>
          <p:cNvSpPr>
            <a:spLocks noChangeArrowheads="1"/>
          </p:cNvSpPr>
          <p:nvPr/>
        </p:nvSpPr>
        <p:spPr bwMode="auto">
          <a:xfrm>
            <a:off x="6629401" y="4267201"/>
            <a:ext cx="950901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sz="3200">
                <a:latin typeface="Symbol" pitchFamily="-111" charset="2"/>
              </a:rPr>
              <a:t>P</a:t>
            </a:r>
            <a:r>
              <a:rPr lang="en-US" sz="3200">
                <a:latin typeface="Times New Roman" pitchFamily="-111" charset="0"/>
              </a:rPr>
              <a:t> </a:t>
            </a:r>
            <a:r>
              <a:rPr lang="en-US" sz="3200" baseline="-25000">
                <a:latin typeface="Times New Roman" pitchFamily="-111" charset="0"/>
              </a:rPr>
              <a:t>ssn</a:t>
            </a:r>
          </a:p>
        </p:txBody>
      </p:sp>
      <p:grpSp>
        <p:nvGrpSpPr>
          <p:cNvPr id="23560" name="Group 8"/>
          <p:cNvGrpSpPr>
            <a:grpSpLocks/>
          </p:cNvGrpSpPr>
          <p:nvPr/>
        </p:nvGrpSpPr>
        <p:grpSpPr bwMode="auto">
          <a:xfrm>
            <a:off x="5334001" y="3581401"/>
            <a:ext cx="1706563" cy="460375"/>
            <a:chOff x="2736" y="2016"/>
            <a:chExt cx="1075" cy="290"/>
          </a:xfrm>
        </p:grpSpPr>
        <p:sp>
          <p:nvSpPr>
            <p:cNvPr id="23561" name="AutoShape 9"/>
            <p:cNvSpPr>
              <a:spLocks noChangeAspect="1" noChangeArrowheads="1"/>
            </p:cNvSpPr>
            <p:nvPr/>
          </p:nvSpPr>
          <p:spPr bwMode="auto">
            <a:xfrm rot="16200000">
              <a:off x="2797" y="1955"/>
              <a:ext cx="122" cy="243"/>
            </a:xfrm>
            <a:prstGeom prst="flowChartCollat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562" name="Text Box 10"/>
            <p:cNvSpPr txBox="1">
              <a:spLocks noChangeArrowheads="1"/>
            </p:cNvSpPr>
            <p:nvPr/>
          </p:nvSpPr>
          <p:spPr bwMode="auto">
            <a:xfrm>
              <a:off x="2976" y="2094"/>
              <a:ext cx="835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600">
                  <a:latin typeface="Times New Roman" pitchFamily="-111" charset="0"/>
                </a:rPr>
                <a:t>seller-ssn=ssn</a:t>
              </a:r>
            </a:p>
          </p:txBody>
        </p:sp>
      </p:grpSp>
      <p:grpSp>
        <p:nvGrpSpPr>
          <p:cNvPr id="23563" name="Group 11"/>
          <p:cNvGrpSpPr>
            <a:grpSpLocks/>
          </p:cNvGrpSpPr>
          <p:nvPr/>
        </p:nvGrpSpPr>
        <p:grpSpPr bwMode="auto">
          <a:xfrm>
            <a:off x="7543803" y="2743204"/>
            <a:ext cx="1206501" cy="461963"/>
            <a:chOff x="2736" y="2016"/>
            <a:chExt cx="760" cy="291"/>
          </a:xfrm>
        </p:grpSpPr>
        <p:sp>
          <p:nvSpPr>
            <p:cNvPr id="23564" name="AutoShape 12"/>
            <p:cNvSpPr>
              <a:spLocks noChangeAspect="1" noChangeArrowheads="1"/>
            </p:cNvSpPr>
            <p:nvPr/>
          </p:nvSpPr>
          <p:spPr bwMode="auto">
            <a:xfrm rot="16200000">
              <a:off x="2797" y="1955"/>
              <a:ext cx="122" cy="243"/>
            </a:xfrm>
            <a:prstGeom prst="flowChartCollat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565" name="Text Box 13"/>
            <p:cNvSpPr txBox="1">
              <a:spLocks noChangeArrowheads="1"/>
            </p:cNvSpPr>
            <p:nvPr/>
          </p:nvSpPr>
          <p:spPr bwMode="auto">
            <a:xfrm>
              <a:off x="2976" y="2094"/>
              <a:ext cx="520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600">
                  <a:latin typeface="Times New Roman" pitchFamily="-111" charset="0"/>
                </a:rPr>
                <a:t>pid=pid</a:t>
              </a:r>
            </a:p>
          </p:txBody>
        </p:sp>
      </p:grpSp>
      <p:grpSp>
        <p:nvGrpSpPr>
          <p:cNvPr id="23566" name="Group 14"/>
          <p:cNvGrpSpPr>
            <a:grpSpLocks/>
          </p:cNvGrpSpPr>
          <p:nvPr/>
        </p:nvGrpSpPr>
        <p:grpSpPr bwMode="auto">
          <a:xfrm>
            <a:off x="4876801" y="2057401"/>
            <a:ext cx="1730375" cy="460375"/>
            <a:chOff x="2736" y="2016"/>
            <a:chExt cx="1090" cy="290"/>
          </a:xfrm>
        </p:grpSpPr>
        <p:sp>
          <p:nvSpPr>
            <p:cNvPr id="23567" name="AutoShape 15"/>
            <p:cNvSpPr>
              <a:spLocks noChangeAspect="1" noChangeArrowheads="1"/>
            </p:cNvSpPr>
            <p:nvPr/>
          </p:nvSpPr>
          <p:spPr bwMode="auto">
            <a:xfrm rot="16200000">
              <a:off x="2797" y="1955"/>
              <a:ext cx="122" cy="243"/>
            </a:xfrm>
            <a:prstGeom prst="flowChartCollat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568" name="Text Box 16"/>
            <p:cNvSpPr txBox="1">
              <a:spLocks noChangeArrowheads="1"/>
            </p:cNvSpPr>
            <p:nvPr/>
          </p:nvSpPr>
          <p:spPr bwMode="auto">
            <a:xfrm>
              <a:off x="2976" y="2094"/>
              <a:ext cx="85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600">
                  <a:latin typeface="Times New Roman" pitchFamily="-111" charset="0"/>
                </a:rPr>
                <a:t>buyer-ssn=ssn</a:t>
              </a:r>
            </a:p>
          </p:txBody>
        </p:sp>
      </p:grpSp>
      <p:sp>
        <p:nvSpPr>
          <p:cNvPr id="23569" name="Rectangle 17"/>
          <p:cNvSpPr>
            <a:spLocks noChangeArrowheads="1"/>
          </p:cNvSpPr>
          <p:nvPr/>
        </p:nvSpPr>
        <p:spPr bwMode="auto">
          <a:xfrm>
            <a:off x="4800601" y="1066801"/>
            <a:ext cx="1196161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sz="3200">
                <a:latin typeface="Symbol" pitchFamily="-111" charset="2"/>
              </a:rPr>
              <a:t>P</a:t>
            </a:r>
            <a:r>
              <a:rPr lang="en-US" sz="3200">
                <a:latin typeface="Times New Roman" pitchFamily="-111" charset="0"/>
              </a:rPr>
              <a:t> </a:t>
            </a:r>
            <a:r>
              <a:rPr lang="en-US" sz="3200" baseline="-25000">
                <a:latin typeface="Times New Roman" pitchFamily="-111" charset="0"/>
              </a:rPr>
              <a:t>name</a:t>
            </a:r>
          </a:p>
        </p:txBody>
      </p:sp>
      <p:sp>
        <p:nvSpPr>
          <p:cNvPr id="23570" name="Line 18"/>
          <p:cNvSpPr>
            <a:spLocks noChangeShapeType="1"/>
          </p:cNvSpPr>
          <p:nvPr/>
        </p:nvSpPr>
        <p:spPr bwMode="auto">
          <a:xfrm flipV="1">
            <a:off x="7086600" y="5638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571" name="Line 19"/>
          <p:cNvSpPr>
            <a:spLocks noChangeShapeType="1"/>
          </p:cNvSpPr>
          <p:nvPr/>
        </p:nvSpPr>
        <p:spPr bwMode="auto">
          <a:xfrm flipV="1">
            <a:off x="9144000" y="5638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572" name="Line 20"/>
          <p:cNvSpPr>
            <a:spLocks noChangeShapeType="1"/>
          </p:cNvSpPr>
          <p:nvPr/>
        </p:nvSpPr>
        <p:spPr bwMode="auto">
          <a:xfrm flipV="1">
            <a:off x="7086600" y="4876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573" name="Line 21"/>
          <p:cNvSpPr>
            <a:spLocks noChangeShapeType="1"/>
          </p:cNvSpPr>
          <p:nvPr/>
        </p:nvSpPr>
        <p:spPr bwMode="auto">
          <a:xfrm flipV="1">
            <a:off x="9144000" y="49530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574" name="Line 22"/>
          <p:cNvSpPr>
            <a:spLocks noChangeShapeType="1"/>
          </p:cNvSpPr>
          <p:nvPr/>
        </p:nvSpPr>
        <p:spPr bwMode="auto">
          <a:xfrm flipV="1">
            <a:off x="5029200" y="4038600"/>
            <a:ext cx="533400" cy="1981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575" name="Line 23"/>
          <p:cNvSpPr>
            <a:spLocks noChangeShapeType="1"/>
          </p:cNvSpPr>
          <p:nvPr/>
        </p:nvSpPr>
        <p:spPr bwMode="auto">
          <a:xfrm flipH="1" flipV="1">
            <a:off x="5562600" y="4038600"/>
            <a:ext cx="1143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576" name="Line 24"/>
          <p:cNvSpPr>
            <a:spLocks noChangeShapeType="1"/>
          </p:cNvSpPr>
          <p:nvPr/>
        </p:nvSpPr>
        <p:spPr bwMode="auto">
          <a:xfrm flipV="1">
            <a:off x="5562600" y="3048000"/>
            <a:ext cx="1905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577" name="Line 25"/>
          <p:cNvSpPr>
            <a:spLocks noChangeShapeType="1"/>
          </p:cNvSpPr>
          <p:nvPr/>
        </p:nvSpPr>
        <p:spPr bwMode="auto">
          <a:xfrm flipH="1" flipV="1">
            <a:off x="7848600" y="3048000"/>
            <a:ext cx="106680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578" name="Line 26"/>
          <p:cNvSpPr>
            <a:spLocks noChangeShapeType="1"/>
          </p:cNvSpPr>
          <p:nvPr/>
        </p:nvSpPr>
        <p:spPr bwMode="auto">
          <a:xfrm flipH="1" flipV="1">
            <a:off x="5257800" y="2514600"/>
            <a:ext cx="2209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579" name="Line 27"/>
          <p:cNvSpPr>
            <a:spLocks noChangeShapeType="1"/>
          </p:cNvSpPr>
          <p:nvPr/>
        </p:nvSpPr>
        <p:spPr bwMode="auto">
          <a:xfrm flipV="1">
            <a:off x="3124200" y="2514600"/>
            <a:ext cx="1676400" cy="3429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580" name="Line 28"/>
          <p:cNvSpPr>
            <a:spLocks noChangeShapeType="1"/>
          </p:cNvSpPr>
          <p:nvPr/>
        </p:nvSpPr>
        <p:spPr bwMode="auto">
          <a:xfrm flipV="1">
            <a:off x="5029200" y="1600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29761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1493" y="2796437"/>
            <a:ext cx="10515600" cy="1325563"/>
          </a:xfrm>
        </p:spPr>
        <p:txBody>
          <a:bodyPr/>
          <a:lstStyle/>
          <a:p>
            <a:r>
              <a:rPr lang="en-US"/>
              <a:t>Multisets</a:t>
            </a:r>
          </a:p>
        </p:txBody>
      </p:sp>
    </p:spTree>
    <p:extLst>
      <p:ext uri="{BB962C8B-B14F-4D97-AF65-F5344CB8AC3E}">
        <p14:creationId xmlns:p14="http://schemas.microsoft.com/office/powerpoint/2010/main" val="99968475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3875" y="379289"/>
            <a:ext cx="10515600" cy="1325563"/>
          </a:xfrm>
        </p:spPr>
        <p:txBody>
          <a:bodyPr/>
          <a:lstStyle/>
          <a:p>
            <a:r>
              <a:rPr lang="en-US"/>
              <a:t>Recall that SQL uses </a:t>
            </a:r>
            <a:r>
              <a:rPr lang="en-US" err="1"/>
              <a:t>Multisets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162CE-480A-44CE-B867-ADB1FE527ED4}" type="slidenum">
              <a:rPr lang="en-US" smtClean="0"/>
              <a:pPr/>
              <a:t>56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222041" y="1966494"/>
          <a:ext cx="1045684" cy="4539762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045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4418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Tuple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418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(1, 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418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(1, 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418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(1,</a:t>
                      </a:r>
                      <a:r>
                        <a:rPr lang="en-US" baseline="0"/>
                        <a:t> b)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4418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(2, c)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4418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(2, c)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4418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(2, c)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4418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(1, 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4418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(1, 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/>
            </p:nvGraphicFramePr>
            <p:xfrm>
              <a:off x="7767504" y="2579731"/>
              <a:ext cx="2522250" cy="1935400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96887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5337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Tuple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𝝀</m:t>
                                </m:r>
                                <m:r>
                                  <a:rPr lang="en-US" b="1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(</m:t>
                                </m:r>
                                <m:r>
                                  <a:rPr lang="en-US" b="1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𝑿</m:t>
                                </m:r>
                                <m:r>
                                  <a:rPr lang="en-US" b="1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(1, a)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(1, b)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(2, c)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(1,</a:t>
                          </a:r>
                          <a:r>
                            <a:rPr lang="en-US" baseline="0"/>
                            <a:t> d)</a:t>
                          </a:r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/>
            </p:nvGraphicFramePr>
            <p:xfrm>
              <a:off x="7767504" y="2579731"/>
              <a:ext cx="2522250" cy="1935400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96887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5337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Tuple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2745" t="-7813" r="-392" b="-4156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(1, a)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(1, b)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(2, c)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(1,</a:t>
                          </a:r>
                          <a:r>
                            <a:rPr lang="en-US" baseline="0"/>
                            <a:t> d)</a:t>
                          </a:r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Left-Right Arrow 7"/>
          <p:cNvSpPr/>
          <p:nvPr/>
        </p:nvSpPr>
        <p:spPr>
          <a:xfrm>
            <a:off x="4939229" y="3316076"/>
            <a:ext cx="1156771" cy="462709"/>
          </a:xfrm>
          <a:prstGeom prst="leftRigh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4371860" y="4040427"/>
            <a:ext cx="22915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latin typeface="+mj-lt"/>
              </a:rPr>
              <a:t>Equivalent Representations of a </a:t>
            </a:r>
            <a:r>
              <a:rPr lang="en-US" sz="2400" b="1" u="sng" err="1">
                <a:latin typeface="+mj-lt"/>
              </a:rPr>
              <a:t>Multiset</a:t>
            </a:r>
            <a:endParaRPr lang="en-US" sz="2400" b="1" u="sng">
              <a:latin typeface="+mj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67504" y="2103978"/>
            <a:ext cx="12271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err="1">
                <a:latin typeface="+mj-lt"/>
              </a:rPr>
              <a:t>Multiset</a:t>
            </a:r>
            <a:r>
              <a:rPr lang="en-US" sz="2000" b="1">
                <a:latin typeface="+mj-lt"/>
              </a:rPr>
              <a:t> 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31285" y="1566384"/>
            <a:ext cx="12271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err="1">
                <a:latin typeface="+mj-lt"/>
              </a:rPr>
              <a:t>Multiset</a:t>
            </a:r>
            <a:r>
              <a:rPr lang="en-US" sz="2000" b="1">
                <a:latin typeface="+mj-lt"/>
              </a:rPr>
              <a:t> 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88412" y="5404174"/>
            <a:ext cx="2301342" cy="8309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400" i="1">
                <a:latin typeface="+mj-lt"/>
              </a:rPr>
              <a:t>Note: In a set all counts are {0,1}.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7767504" y="676049"/>
                <a:ext cx="3557265" cy="120032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effectLst>
                <a:outerShdw blurRad="508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𝝀</m:t>
                    </m:r>
                    <m:d>
                      <m:d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en-US" sz="2400" b="1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𝑿</m:t>
                        </m:r>
                      </m:e>
                    </m:d>
                  </m:oMath>
                </a14:m>
                <a:r>
                  <a:rPr lang="en-US" sz="2400" i="1">
                    <a:latin typeface="+mj-lt"/>
                  </a:rPr>
                  <a:t>= “Count of tuple in X”</a:t>
                </a:r>
              </a:p>
              <a:p>
                <a:r>
                  <a:rPr lang="en-US" sz="2400" i="1">
                    <a:latin typeface="+mj-lt"/>
                  </a:rPr>
                  <a:t>(Items not listed have implicit count 0)</a:t>
                </a: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7504" y="676049"/>
                <a:ext cx="3557265" cy="12003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508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6826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Generalizing Set Operations to </a:t>
            </a:r>
            <a:r>
              <a:rPr lang="en-US" err="1"/>
              <a:t>Multiset</a:t>
            </a:r>
            <a:r>
              <a:rPr lang="en-US"/>
              <a:t> Operations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162CE-480A-44CE-B867-ADB1FE527ED4}" type="slidenum">
              <a:rPr lang="en-US" smtClean="0"/>
              <a:pPr/>
              <a:t>57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/>
            </p:nvGraphicFramePr>
            <p:xfrm>
              <a:off x="838200" y="2504088"/>
              <a:ext cx="2522250" cy="1935400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96887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5337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Tuple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𝝀</m:t>
                                </m:r>
                                <m:r>
                                  <a:rPr lang="en-US" b="1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(</m:t>
                                </m:r>
                                <m:r>
                                  <a:rPr lang="en-US" b="1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𝑿</m:t>
                                </m:r>
                                <m:r>
                                  <a:rPr lang="en-US" b="1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(1, a)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(1, b)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(2, c)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(1,</a:t>
                          </a:r>
                          <a:r>
                            <a:rPr lang="en-US" baseline="0"/>
                            <a:t> d)</a:t>
                          </a:r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/>
            </p:nvGraphicFramePr>
            <p:xfrm>
              <a:off x="838200" y="2504088"/>
              <a:ext cx="2522250" cy="1935400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96887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5337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Tuple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2500" t="-7813" r="-391" b="-41718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(1, a)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(1, b)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(2, c)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(1,</a:t>
                          </a:r>
                          <a:r>
                            <a:rPr lang="en-US" baseline="0"/>
                            <a:t> d)</a:t>
                          </a:r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TextBox 3"/>
          <p:cNvSpPr txBox="1"/>
          <p:nvPr/>
        </p:nvSpPr>
        <p:spPr>
          <a:xfrm>
            <a:off x="760777" y="2017933"/>
            <a:ext cx="12271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err="1">
                <a:latin typeface="+mj-lt"/>
              </a:rPr>
              <a:t>Multiset</a:t>
            </a:r>
            <a:r>
              <a:rPr lang="en-US" sz="2000" b="1">
                <a:latin typeface="+mj-lt"/>
              </a:rPr>
              <a:t> 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/>
              <p:cNvGraphicFramePr>
                <a:graphicFrameLocks noGrp="1"/>
              </p:cNvGraphicFramePr>
              <p:nvPr/>
            </p:nvGraphicFramePr>
            <p:xfrm>
              <a:off x="4796163" y="2504088"/>
              <a:ext cx="2522250" cy="1935400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96887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5337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Tuple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𝝀</m:t>
                                </m:r>
                                <m:r>
                                  <a:rPr lang="en-US" b="1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(</m:t>
                                </m:r>
                                <m:r>
                                  <a:rPr lang="en-US" b="1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𝒀</m:t>
                                </m:r>
                                <m:r>
                                  <a:rPr lang="en-US" b="1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(1, a)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(1, b)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(2, c)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(1,</a:t>
                          </a:r>
                          <a:r>
                            <a:rPr lang="en-US" baseline="0"/>
                            <a:t> d)</a:t>
                          </a:r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/>
              <p:cNvGraphicFramePr>
                <a:graphicFrameLocks noGrp="1"/>
              </p:cNvGraphicFramePr>
              <p:nvPr/>
            </p:nvGraphicFramePr>
            <p:xfrm>
              <a:off x="4796163" y="2504088"/>
              <a:ext cx="2522250" cy="1935400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96887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5337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Tuple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2109" t="-7813" r="-391" b="-41718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(1, a)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(1, b)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(2, c)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(1,</a:t>
                          </a:r>
                          <a:r>
                            <a:rPr lang="en-US" baseline="0"/>
                            <a:t> d)</a:t>
                          </a:r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5" name="TextBox 14"/>
          <p:cNvSpPr txBox="1"/>
          <p:nvPr/>
        </p:nvSpPr>
        <p:spPr>
          <a:xfrm>
            <a:off x="4718740" y="2017933"/>
            <a:ext cx="12191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err="1">
                <a:latin typeface="+mj-lt"/>
              </a:rPr>
              <a:t>Multiset</a:t>
            </a:r>
            <a:r>
              <a:rPr lang="en-US" sz="2000" b="1">
                <a:latin typeface="+mj-lt"/>
              </a:rPr>
              <a:t> 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Table 15"/>
              <p:cNvGraphicFramePr>
                <a:graphicFrameLocks noGrp="1"/>
              </p:cNvGraphicFramePr>
              <p:nvPr/>
            </p:nvGraphicFramePr>
            <p:xfrm>
              <a:off x="8831550" y="2504088"/>
              <a:ext cx="2522250" cy="1935400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96887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5337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Tuple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𝝀</m:t>
                                </m:r>
                                <m:r>
                                  <a:rPr lang="en-US" b="1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(</m:t>
                                </m:r>
                                <m:r>
                                  <a:rPr lang="en-US" b="1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𝒁</m:t>
                                </m:r>
                                <m:r>
                                  <a:rPr lang="en-US" b="1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(1, a)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(1, b)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(2, c)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(1,</a:t>
                          </a:r>
                          <a:r>
                            <a:rPr lang="en-US" baseline="0"/>
                            <a:t> d)</a:t>
                          </a:r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Table 15"/>
              <p:cNvGraphicFramePr>
                <a:graphicFrameLocks noGrp="1"/>
              </p:cNvGraphicFramePr>
              <p:nvPr/>
            </p:nvGraphicFramePr>
            <p:xfrm>
              <a:off x="8831550" y="2504088"/>
              <a:ext cx="2522250" cy="1935400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96887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5337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Tuple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62109" t="-7813" r="-391" b="-41718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(1, a)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(1, b)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(2, c)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(1,</a:t>
                          </a:r>
                          <a:r>
                            <a:rPr lang="en-US" baseline="0"/>
                            <a:t> d)</a:t>
                          </a:r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7" name="TextBox 16"/>
          <p:cNvSpPr txBox="1"/>
          <p:nvPr/>
        </p:nvSpPr>
        <p:spPr>
          <a:xfrm>
            <a:off x="8754127" y="2017933"/>
            <a:ext cx="12175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err="1">
                <a:latin typeface="+mj-lt"/>
              </a:rPr>
              <a:t>Multiset</a:t>
            </a:r>
            <a:r>
              <a:rPr lang="en-US" sz="2000" b="1">
                <a:latin typeface="+mj-lt"/>
              </a:rPr>
              <a:t> Z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802830" y="3056289"/>
                <a:ext cx="628377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∩</m:t>
                      </m:r>
                    </m:oMath>
                  </m:oMathPara>
                </a14:m>
                <a:endParaRPr lang="en-US" sz="540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2830" y="3056289"/>
                <a:ext cx="628377" cy="83099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7760793" y="3056289"/>
                <a:ext cx="674865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</m:oMath>
                  </m:oMathPara>
                </a14:m>
                <a:endParaRPr lang="en-US" sz="540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0793" y="3056289"/>
                <a:ext cx="674865" cy="83099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4061981" y="5252887"/>
                <a:ext cx="406803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𝝀</m:t>
                      </m:r>
                      <m:d>
                        <m:dPr>
                          <m:ctrlPr>
                            <a:rPr lang="en-US" sz="2800" b="1" i="1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a:rPr lang="en-US" sz="2800" b="1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𝒁</m:t>
                          </m:r>
                        </m:e>
                      </m:d>
                      <m:r>
                        <a:rPr lang="en-US" sz="2800" b="1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>
                        <a:rPr lang="en-US" sz="2800" b="1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𝒎𝒊𝒏</m:t>
                      </m:r>
                      <m:r>
                        <a:rPr lang="en-US" sz="2800" b="1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(</m:t>
                      </m:r>
                      <m:r>
                        <a:rPr lang="en-US" sz="28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𝝀</m:t>
                      </m:r>
                      <m:d>
                        <m:dPr>
                          <m:ctrlPr>
                            <a:rPr lang="en-US" sz="2800" b="1" i="1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a:rPr lang="en-US" sz="2800" b="1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𝑿</m:t>
                          </m:r>
                        </m:e>
                      </m:d>
                      <m:r>
                        <a:rPr lang="en-US" sz="2800" b="1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,</m:t>
                      </m:r>
                      <m:r>
                        <a:rPr lang="en-US" sz="28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𝝀</m:t>
                      </m:r>
                      <m:d>
                        <m:dPr>
                          <m:ctrlPr>
                            <a:rPr lang="en-US" sz="2800" b="1" i="1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a:rPr lang="en-US" sz="2800" b="1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𝒀</m:t>
                          </m:r>
                        </m:e>
                      </m:d>
                      <m:r>
                        <a:rPr lang="en-US" sz="2800" b="1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)</m:t>
                      </m:r>
                    </m:oMath>
                  </m:oMathPara>
                </a14:m>
                <a:endParaRPr lang="en-US" sz="2800"/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1981" y="5252887"/>
                <a:ext cx="4068037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8821033" y="4982420"/>
            <a:ext cx="2301342" cy="8309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latin typeface="+mj-lt"/>
              </a:rPr>
              <a:t>For sets, this is </a:t>
            </a:r>
            <a:r>
              <a:rPr lang="en-US" sz="2400" b="1">
                <a:latin typeface="+mj-lt"/>
              </a:rPr>
              <a:t>intersection</a:t>
            </a:r>
          </a:p>
        </p:txBody>
      </p:sp>
    </p:spTree>
    <p:extLst>
      <p:ext uri="{BB962C8B-B14F-4D97-AF65-F5344CB8AC3E}">
        <p14:creationId xmlns:p14="http://schemas.microsoft.com/office/powerpoint/2010/main" val="137783844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162CE-480A-44CE-B867-ADB1FE527ED4}" type="slidenum">
              <a:rPr lang="en-US" smtClean="0"/>
              <a:pPr/>
              <a:t>58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/>
            </p:nvGraphicFramePr>
            <p:xfrm>
              <a:off x="838200" y="2504088"/>
              <a:ext cx="2522250" cy="1935400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96887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5337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Tuple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𝝀</m:t>
                                </m:r>
                                <m:r>
                                  <a:rPr lang="en-US" b="1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(</m:t>
                                </m:r>
                                <m:r>
                                  <a:rPr lang="en-US" b="1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𝑿</m:t>
                                </m:r>
                                <m:r>
                                  <a:rPr lang="en-US" b="1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(1, a)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(1, b)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(2, c)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(1,</a:t>
                          </a:r>
                          <a:r>
                            <a:rPr lang="en-US" baseline="0"/>
                            <a:t> d)</a:t>
                          </a:r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/>
            </p:nvGraphicFramePr>
            <p:xfrm>
              <a:off x="838200" y="2504088"/>
              <a:ext cx="2522250" cy="1935400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96887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5337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Tuple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2500" t="-7813" r="-391" b="-41718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(1, a)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(1, b)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(2, c)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(1,</a:t>
                          </a:r>
                          <a:r>
                            <a:rPr lang="en-US" baseline="0"/>
                            <a:t> d)</a:t>
                          </a:r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TextBox 3"/>
          <p:cNvSpPr txBox="1"/>
          <p:nvPr/>
        </p:nvSpPr>
        <p:spPr>
          <a:xfrm>
            <a:off x="760777" y="2017933"/>
            <a:ext cx="12271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err="1">
                <a:latin typeface="+mj-lt"/>
              </a:rPr>
              <a:t>Multiset</a:t>
            </a:r>
            <a:r>
              <a:rPr lang="en-US" sz="2000" b="1">
                <a:latin typeface="+mj-lt"/>
              </a:rPr>
              <a:t> 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/>
              <p:cNvGraphicFramePr>
                <a:graphicFrameLocks noGrp="1"/>
              </p:cNvGraphicFramePr>
              <p:nvPr/>
            </p:nvGraphicFramePr>
            <p:xfrm>
              <a:off x="4796163" y="2504088"/>
              <a:ext cx="2522250" cy="1935400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96887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5337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Tuple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𝝀</m:t>
                                </m:r>
                                <m:r>
                                  <a:rPr lang="en-US" b="1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(</m:t>
                                </m:r>
                                <m:r>
                                  <a:rPr lang="en-US" b="1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𝒀</m:t>
                                </m:r>
                                <m:r>
                                  <a:rPr lang="en-US" b="1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(1, a)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(1, b)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(2, c)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(1,</a:t>
                          </a:r>
                          <a:r>
                            <a:rPr lang="en-US" baseline="0"/>
                            <a:t> d)</a:t>
                          </a:r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/>
              <p:cNvGraphicFramePr>
                <a:graphicFrameLocks noGrp="1"/>
              </p:cNvGraphicFramePr>
              <p:nvPr/>
            </p:nvGraphicFramePr>
            <p:xfrm>
              <a:off x="4796163" y="2504088"/>
              <a:ext cx="2522250" cy="1935400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96887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5337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Tuple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2109" t="-7813" r="-391" b="-41718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(1, a)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(1, b)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(2, c)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(1,</a:t>
                          </a:r>
                          <a:r>
                            <a:rPr lang="en-US" baseline="0"/>
                            <a:t> d)</a:t>
                          </a:r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5" name="TextBox 14"/>
          <p:cNvSpPr txBox="1"/>
          <p:nvPr/>
        </p:nvSpPr>
        <p:spPr>
          <a:xfrm>
            <a:off x="4718740" y="2017933"/>
            <a:ext cx="12191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err="1">
                <a:latin typeface="+mj-lt"/>
              </a:rPr>
              <a:t>Multiset</a:t>
            </a:r>
            <a:r>
              <a:rPr lang="en-US" sz="2000" b="1">
                <a:latin typeface="+mj-lt"/>
              </a:rPr>
              <a:t> 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Table 15"/>
              <p:cNvGraphicFramePr>
                <a:graphicFrameLocks noGrp="1"/>
              </p:cNvGraphicFramePr>
              <p:nvPr/>
            </p:nvGraphicFramePr>
            <p:xfrm>
              <a:off x="8831550" y="2504088"/>
              <a:ext cx="2522250" cy="1935400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96887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5337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Tuple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𝝀</m:t>
                                </m:r>
                                <m:r>
                                  <a:rPr lang="en-US" b="1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(</m:t>
                                </m:r>
                                <m:r>
                                  <a:rPr lang="en-US" b="1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𝒁</m:t>
                                </m:r>
                                <m:r>
                                  <a:rPr lang="en-US" b="1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(1, a)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(1, b)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(2, c)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(1,</a:t>
                          </a:r>
                          <a:r>
                            <a:rPr lang="en-US" baseline="0"/>
                            <a:t> d)</a:t>
                          </a:r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Table 15"/>
              <p:cNvGraphicFramePr>
                <a:graphicFrameLocks noGrp="1"/>
              </p:cNvGraphicFramePr>
              <p:nvPr/>
            </p:nvGraphicFramePr>
            <p:xfrm>
              <a:off x="8831550" y="2504088"/>
              <a:ext cx="2522250" cy="1935400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96887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5337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Tuple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62109" t="-7813" r="-391" b="-41718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(1, a)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(1, b)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(2, c)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(1,</a:t>
                          </a:r>
                          <a:r>
                            <a:rPr lang="en-US" baseline="0"/>
                            <a:t> d)</a:t>
                          </a:r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7" name="TextBox 16"/>
          <p:cNvSpPr txBox="1"/>
          <p:nvPr/>
        </p:nvSpPr>
        <p:spPr>
          <a:xfrm>
            <a:off x="8754127" y="2017933"/>
            <a:ext cx="12175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err="1">
                <a:latin typeface="+mj-lt"/>
              </a:rPr>
              <a:t>Multiset</a:t>
            </a:r>
            <a:r>
              <a:rPr lang="en-US" sz="2000" b="1">
                <a:latin typeface="+mj-lt"/>
              </a:rPr>
              <a:t> Z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777553" y="2810068"/>
                <a:ext cx="628377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∪</m:t>
                      </m:r>
                    </m:oMath>
                  </m:oMathPara>
                </a14:m>
                <a:endParaRPr lang="en-US" sz="5400">
                  <a:ea typeface="Cambria Math" charset="0"/>
                  <a:cs typeface="Cambria Math" charset="0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7553" y="2810068"/>
                <a:ext cx="628377" cy="83099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7760793" y="3056289"/>
                <a:ext cx="674865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</m:oMath>
                  </m:oMathPara>
                </a14:m>
                <a:endParaRPr lang="en-US" sz="540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0793" y="3056289"/>
                <a:ext cx="674865" cy="83099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4374407" y="5297258"/>
                <a:ext cx="344318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𝝀</m:t>
                      </m:r>
                      <m:d>
                        <m:dPr>
                          <m:ctrlPr>
                            <a:rPr lang="en-US" sz="2800" b="1" i="1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a:rPr lang="en-US" sz="2800" b="1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𝒁</m:t>
                          </m:r>
                        </m:e>
                      </m:d>
                      <m:r>
                        <a:rPr lang="en-US" sz="2800" b="1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>
                        <a:rPr lang="en-US" sz="28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𝝀</m:t>
                      </m:r>
                      <m:d>
                        <m:dPr>
                          <m:ctrlPr>
                            <a:rPr lang="en-US" sz="2800" b="1" i="1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a:rPr lang="en-US" sz="2800" b="1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𝑿</m:t>
                          </m:r>
                        </m:e>
                      </m:d>
                      <m:r>
                        <a:rPr lang="en-US" sz="2800" b="1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+ </m:t>
                      </m:r>
                      <m:r>
                        <a:rPr lang="en-US" sz="28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𝝀</m:t>
                      </m:r>
                      <m:d>
                        <m:dPr>
                          <m:ctrlPr>
                            <a:rPr lang="en-US" sz="2800" b="1" i="1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a:rPr lang="en-US" sz="2800" b="1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𝒀</m:t>
                          </m:r>
                        </m:e>
                      </m:d>
                    </m:oMath>
                  </m:oMathPara>
                </a14:m>
                <a:endParaRPr lang="en-US" sz="2800"/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4407" y="5297258"/>
                <a:ext cx="3443186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8821033" y="4982420"/>
            <a:ext cx="2301342" cy="8309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latin typeface="+mj-lt"/>
              </a:rPr>
              <a:t>For sets, </a:t>
            </a:r>
          </a:p>
          <a:p>
            <a:pPr algn="ctr"/>
            <a:r>
              <a:rPr lang="en-US" sz="2400">
                <a:latin typeface="+mj-lt"/>
              </a:rPr>
              <a:t>this is </a:t>
            </a:r>
            <a:r>
              <a:rPr lang="en-US" sz="2400" b="1">
                <a:latin typeface="+mj-lt"/>
              </a:rPr>
              <a:t>union</a:t>
            </a:r>
          </a:p>
        </p:txBody>
      </p:sp>
      <p:sp>
        <p:nvSpPr>
          <p:cNvPr id="21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Generalizing Set Operations to </a:t>
            </a:r>
            <a:r>
              <a:rPr lang="en-US" err="1"/>
              <a:t>Multiset</a:t>
            </a:r>
            <a:r>
              <a:rPr lang="en-US"/>
              <a:t> Operations</a:t>
            </a:r>
          </a:p>
        </p:txBody>
      </p:sp>
    </p:spTree>
    <p:extLst>
      <p:ext uri="{BB962C8B-B14F-4D97-AF65-F5344CB8AC3E}">
        <p14:creationId xmlns:p14="http://schemas.microsoft.com/office/powerpoint/2010/main" val="101452909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Operations on </a:t>
            </a:r>
            <a:r>
              <a:rPr lang="en-US" err="1"/>
              <a:t>Multisets</a:t>
            </a:r>
            <a:endParaRPr lang="en-US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981200"/>
            <a:ext cx="10515600" cy="4114800"/>
          </a:xfrm>
        </p:spPr>
        <p:txBody>
          <a:bodyPr/>
          <a:lstStyle/>
          <a:p>
            <a:pPr>
              <a:buFontTx/>
              <a:buNone/>
            </a:pPr>
            <a:r>
              <a:rPr lang="en-US"/>
              <a:t>All RA operations need to be defined carefully on bags</a:t>
            </a:r>
          </a:p>
          <a:p>
            <a:pPr lvl="1"/>
            <a:endParaRPr lang="en-US" sz="2800">
              <a:latin typeface="Symbol" pitchFamily="-111" charset="2"/>
            </a:endParaRPr>
          </a:p>
          <a:p>
            <a:pPr lvl="1"/>
            <a:r>
              <a:rPr lang="en-US" sz="2800" err="1">
                <a:latin typeface="Symbol" pitchFamily="-111" charset="2"/>
              </a:rPr>
              <a:t>s</a:t>
            </a:r>
            <a:r>
              <a:rPr lang="en-US" sz="2800" baseline="-25000" err="1"/>
              <a:t>C</a:t>
            </a:r>
            <a:r>
              <a:rPr lang="en-US" sz="2800"/>
              <a:t>(R): preserve the number of occurrences</a:t>
            </a:r>
          </a:p>
          <a:p>
            <a:pPr lvl="1"/>
            <a:endParaRPr lang="en-US" sz="2800"/>
          </a:p>
          <a:p>
            <a:pPr lvl="1"/>
            <a:r>
              <a:rPr lang="en-US" sz="2800"/>
              <a:t> </a:t>
            </a:r>
            <a:r>
              <a:rPr lang="en-US" sz="2800">
                <a:latin typeface="Symbol" pitchFamily="-111" charset="2"/>
              </a:rPr>
              <a:t>P</a:t>
            </a:r>
            <a:r>
              <a:rPr lang="en-US" sz="2800" baseline="-25000"/>
              <a:t>A</a:t>
            </a:r>
            <a:r>
              <a:rPr lang="en-US" sz="2800"/>
              <a:t>(R): no duplicate elimination</a:t>
            </a:r>
          </a:p>
          <a:p>
            <a:pPr lvl="1"/>
            <a:endParaRPr lang="en-US" sz="2800"/>
          </a:p>
          <a:p>
            <a:pPr lvl="1"/>
            <a:r>
              <a:rPr lang="en-US" sz="2800"/>
              <a:t>Cross-product, join: no duplicate elimination</a:t>
            </a:r>
          </a:p>
          <a:p>
            <a:pPr>
              <a:buFontTx/>
              <a:buNone/>
            </a:pPr>
            <a:endParaRPr lang="en-US" sz="2400"/>
          </a:p>
        </p:txBody>
      </p:sp>
      <p:sp>
        <p:nvSpPr>
          <p:cNvPr id="3" name="Rectangle 2"/>
          <p:cNvSpPr/>
          <p:nvPr/>
        </p:nvSpPr>
        <p:spPr>
          <a:xfrm>
            <a:off x="2683668" y="5432405"/>
            <a:ext cx="6824663" cy="9541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>
              <a:buFontTx/>
              <a:buNone/>
            </a:pPr>
            <a:r>
              <a:rPr lang="en-US" sz="2800">
                <a:latin typeface="+mj-lt"/>
              </a:rPr>
              <a:t>This is important- relational engines work on </a:t>
            </a:r>
            <a:r>
              <a:rPr lang="en-US" sz="2800" err="1">
                <a:latin typeface="+mj-lt"/>
              </a:rPr>
              <a:t>multisets</a:t>
            </a:r>
            <a:r>
              <a:rPr lang="en-US" sz="2800">
                <a:latin typeface="+mj-lt"/>
              </a:rPr>
              <a:t>, not sets!</a:t>
            </a:r>
          </a:p>
        </p:txBody>
      </p:sp>
    </p:spTree>
    <p:extLst>
      <p:ext uri="{BB962C8B-B14F-4D97-AF65-F5344CB8AC3E}">
        <p14:creationId xmlns:p14="http://schemas.microsoft.com/office/powerpoint/2010/main" val="17030887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 has Limitations !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981200"/>
            <a:ext cx="10515600" cy="4114800"/>
          </a:xfrm>
        </p:spPr>
        <p:txBody>
          <a:bodyPr/>
          <a:lstStyle/>
          <a:p>
            <a:r>
              <a:rPr lang="en-US" sz="2400"/>
              <a:t>Cannot compute “transitive closure”</a:t>
            </a:r>
          </a:p>
          <a:p>
            <a:endParaRPr lang="en-US" sz="2400"/>
          </a:p>
          <a:p>
            <a:endParaRPr lang="en-US" sz="2400"/>
          </a:p>
          <a:p>
            <a:endParaRPr lang="en-US" sz="2400"/>
          </a:p>
          <a:p>
            <a:endParaRPr lang="en-US" sz="2400"/>
          </a:p>
          <a:p>
            <a:endParaRPr lang="en-US" sz="2400"/>
          </a:p>
          <a:p>
            <a:r>
              <a:rPr lang="en-US" sz="2400"/>
              <a:t>Find all direct and indirect relatives of Fred</a:t>
            </a:r>
          </a:p>
          <a:p>
            <a:r>
              <a:rPr lang="en-US" sz="2400"/>
              <a:t>Cannot express in RA !!!  </a:t>
            </a:r>
          </a:p>
          <a:p>
            <a:pPr lvl="1"/>
            <a:r>
              <a:rPr lang="en-US" sz="2000"/>
              <a:t>Need to write C program, use a graph engine, or modern SQL…</a:t>
            </a:r>
          </a:p>
          <a:p>
            <a:endParaRPr lang="en-US" sz="2400"/>
          </a:p>
        </p:txBody>
      </p:sp>
      <p:graphicFrame>
        <p:nvGraphicFramePr>
          <p:cNvPr id="25630" name="Group 30"/>
          <p:cNvGraphicFramePr>
            <a:graphicFrameLocks noGrp="1"/>
          </p:cNvGraphicFramePr>
          <p:nvPr/>
        </p:nvGraphicFramePr>
        <p:xfrm>
          <a:off x="3581400" y="2590800"/>
          <a:ext cx="4876800" cy="1828800"/>
        </p:xfrm>
        <a:graphic>
          <a:graphicData uri="http://schemas.openxmlformats.org/drawingml/2006/table">
            <a:tbl>
              <a:tblPr/>
              <a:tblGrid>
                <a:gridCol w="162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Name1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Name2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Relationship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Fred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Mary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Father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Mary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Joe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Cousin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Mary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Bill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Spouse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Nancy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Lou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-111" charset="0"/>
                        </a:rPr>
                        <a:t>Sister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297709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56A91-2C0B-614E-87F8-BFB75630B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DIVISION  ÷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D4B2D1-97FB-1A47-9A14-5215C35F2E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 r ÷ s is used when we wish to express queries with “all”:</a:t>
            </a:r>
          </a:p>
          <a:p>
            <a:r>
              <a:rPr lang="en-US"/>
              <a:t>Examples</a:t>
            </a:r>
          </a:p>
          <a:p>
            <a:pPr lvl="1"/>
            <a:r>
              <a:rPr lang="en-US"/>
              <a:t>Which persons have a loyal customer's card at ALL the clothing boutiques in town X?</a:t>
            </a:r>
          </a:p>
          <a:p>
            <a:pPr lvl="1"/>
            <a:r>
              <a:rPr lang="en-US"/>
              <a:t>Which persons have a bank account at ALL the banks in the country?</a:t>
            </a:r>
          </a:p>
          <a:p>
            <a:pPr lvl="1"/>
            <a:r>
              <a:rPr lang="en-US"/>
              <a:t>Which students are registered on ALL the courses given by Soini?</a:t>
            </a:r>
          </a:p>
          <a:p>
            <a:pPr lvl="1"/>
            <a:r>
              <a:rPr lang="en-US"/>
              <a:t>Which students are registered on ALL the courses that are taught in period </a:t>
            </a:r>
          </a:p>
          <a:p>
            <a:pPr lvl="1"/>
            <a:r>
              <a:rPr lang="en-US"/>
              <a:t>Which boys are registered on those courses that are taken by ALL the girls?</a:t>
            </a:r>
          </a:p>
          <a:p>
            <a:pPr lvl="1"/>
            <a:r>
              <a:rPr lang="en-US"/>
              <a:t>Which girls are registered on ALL the courses taken by student nr. 40101? </a:t>
            </a:r>
          </a:p>
        </p:txBody>
      </p:sp>
    </p:spTree>
    <p:extLst>
      <p:ext uri="{BB962C8B-B14F-4D97-AF65-F5344CB8AC3E}">
        <p14:creationId xmlns:p14="http://schemas.microsoft.com/office/powerpoint/2010/main" val="94378771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FD94D-393F-126E-000C-6A05CD64E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R ÷ 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5CE17C-EB1C-C4FF-770E-FE21C9C907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8545" y="1370177"/>
            <a:ext cx="10515600" cy="1845422"/>
          </a:xfrm>
        </p:spPr>
        <p:txBody>
          <a:bodyPr/>
          <a:lstStyle/>
          <a:p>
            <a:pPr marL="457200" lvl="1" indent="0">
              <a:buNone/>
            </a:pPr>
            <a:r>
              <a:rPr lang="en-US"/>
              <a:t>Given two relations R(a, b) and S(b):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b="1"/>
              <a:t>R</a:t>
            </a:r>
            <a:r>
              <a:rPr lang="en-US"/>
              <a:t> contains attributes a and b.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b="1"/>
              <a:t>S</a:t>
            </a:r>
            <a:r>
              <a:rPr lang="en-US"/>
              <a:t> contains attribute b.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/>
              <a:t>The result of </a:t>
            </a:r>
            <a:r>
              <a:rPr lang="en-US" b="1"/>
              <a:t>R ÷ S</a:t>
            </a:r>
            <a:r>
              <a:rPr lang="en-US"/>
              <a:t> gives a new relation with attribute a, containing tuples from R where the corresponding B values match all values in S.</a:t>
            </a:r>
          </a:p>
          <a:p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1F61A1C-7637-9302-7F59-DC09854486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8344900"/>
              </p:ext>
            </p:extLst>
          </p:nvPr>
        </p:nvGraphicFramePr>
        <p:xfrm>
          <a:off x="3051812" y="3665846"/>
          <a:ext cx="603982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982">
                  <a:extLst>
                    <a:ext uri="{9D8B030D-6E8A-4147-A177-3AD203B41FA5}">
                      <a16:colId xmlns:a16="http://schemas.microsoft.com/office/drawing/2014/main" val="27387564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1"/>
                        <a:t>b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97570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b1</a:t>
                      </a:r>
                    </a:p>
                    <a:p>
                      <a:r>
                        <a:rPr lang="en-US"/>
                        <a:t>b2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874023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D38F99E-58B9-4FC3-BC64-E4B8DCCFD4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1193113"/>
              </p:ext>
            </p:extLst>
          </p:nvPr>
        </p:nvGraphicFramePr>
        <p:xfrm>
          <a:off x="6096000" y="3922992"/>
          <a:ext cx="1083733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3733">
                  <a:extLst>
                    <a:ext uri="{9D8B030D-6E8A-4147-A177-3AD203B41FA5}">
                      <a16:colId xmlns:a16="http://schemas.microsoft.com/office/drawing/2014/main" val="38897201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a</a:t>
                      </a:r>
                      <a:endParaRPr lang="en-US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97570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/>
                        <a:t>a1</a:t>
                      </a:r>
                      <a:endParaRPr lang="en-US"/>
                    </a:p>
                    <a:p>
                      <a:pPr lvl="0">
                        <a:buNone/>
                      </a:pPr>
                      <a:r>
                        <a:rPr lang="pt-BR"/>
                        <a:t>a4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874023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AB02F11-7C95-9831-5D7C-14F8D11A03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8415783"/>
              </p:ext>
            </p:extLst>
          </p:nvPr>
        </p:nvGraphicFramePr>
        <p:xfrm>
          <a:off x="1191172" y="2907862"/>
          <a:ext cx="584200" cy="2771052"/>
        </p:xfrm>
        <a:graphic>
          <a:graphicData uri="http://schemas.openxmlformats.org/drawingml/2006/table">
            <a:tbl>
              <a:tblPr bandRow="1">
                <a:tableStyleId>{35758FB7-9AC5-4552-8A53-C91805E547FA}</a:tableStyleId>
              </a:tblPr>
              <a:tblGrid>
                <a:gridCol w="228600">
                  <a:extLst>
                    <a:ext uri="{9D8B030D-6E8A-4147-A177-3AD203B41FA5}">
                      <a16:colId xmlns:a16="http://schemas.microsoft.com/office/drawing/2014/main" val="1455621059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2595001889"/>
                    </a:ext>
                  </a:extLst>
                </a:gridCol>
              </a:tblGrid>
              <a:tr h="3021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b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207959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a1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2127699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a1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b2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2721069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a2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89119949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a2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b3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6009597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a3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b3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1658254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a3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b2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9282875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a4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33774031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a4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b2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99586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a4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b3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43091888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4F1C18C-92B7-F3CB-629B-03B0CD5E5CDE}"/>
              </a:ext>
            </a:extLst>
          </p:cNvPr>
          <p:cNvSpPr txBox="1"/>
          <p:nvPr/>
        </p:nvSpPr>
        <p:spPr>
          <a:xfrm>
            <a:off x="840827" y="2544378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ea typeface="Calibri"/>
                <a:cs typeface="Calibri"/>
              </a:rPr>
              <a:t>R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42E124-8E1B-6C10-BA8C-6F403F7C4D9A}"/>
              </a:ext>
            </a:extLst>
          </p:cNvPr>
          <p:cNvSpPr txBox="1"/>
          <p:nvPr/>
        </p:nvSpPr>
        <p:spPr>
          <a:xfrm>
            <a:off x="2758964" y="3428998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ea typeface="Calibri"/>
                <a:cs typeface="Calibri"/>
              </a:rPr>
              <a:t>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438561-A153-D8D8-F63E-33ED379061B9}"/>
              </a:ext>
            </a:extLst>
          </p:cNvPr>
          <p:cNvSpPr txBox="1"/>
          <p:nvPr/>
        </p:nvSpPr>
        <p:spPr>
          <a:xfrm>
            <a:off x="6871137" y="3437758"/>
            <a:ext cx="1079063" cy="365760"/>
          </a:xfrm>
          <a:prstGeom prst="rect">
            <a:avLst/>
          </a:prstGeom>
          <a:solidFill>
            <a:srgbClr val="ED7D31"/>
          </a:solidFill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FFFFFF"/>
                </a:solidFill>
                <a:ea typeface="Calibri"/>
                <a:cs typeface="Calibri"/>
              </a:rPr>
              <a:t>R ÷ S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069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7C0AF-CBA4-0247-BCF1-0C9BBE54A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4253CE-BBD0-C748-B613-9FBD34CA5B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914" y="1253331"/>
            <a:ext cx="7398158" cy="4351338"/>
          </a:xfrm>
        </p:spPr>
        <p:txBody>
          <a:bodyPr/>
          <a:lstStyle/>
          <a:p>
            <a:r>
              <a:rPr lang="en-US"/>
              <a:t>Which  Computer Sciences students take ALL the courses that 40 taking?</a:t>
            </a:r>
          </a:p>
          <a:p>
            <a:endParaRPr lang="en-US"/>
          </a:p>
          <a:p>
            <a:endParaRPr lang="en-US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7BDA7233-F67B-6547-A67E-134D9ED8D6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7474458"/>
              </p:ext>
            </p:extLst>
          </p:nvPr>
        </p:nvGraphicFramePr>
        <p:xfrm>
          <a:off x="10629925" y="49292"/>
          <a:ext cx="1442542" cy="47548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38480">
                  <a:extLst>
                    <a:ext uri="{9D8B030D-6E8A-4147-A177-3AD203B41FA5}">
                      <a16:colId xmlns:a16="http://schemas.microsoft.com/office/drawing/2014/main" val="1297322936"/>
                    </a:ext>
                  </a:extLst>
                </a:gridCol>
                <a:gridCol w="904062">
                  <a:extLst>
                    <a:ext uri="{9D8B030D-6E8A-4147-A177-3AD203B41FA5}">
                      <a16:colId xmlns:a16="http://schemas.microsoft.com/office/drawing/2014/main" val="1567238431"/>
                    </a:ext>
                  </a:extLst>
                </a:gridCol>
              </a:tblGrid>
              <a:tr h="342592">
                <a:tc gridSpan="2">
                  <a:txBody>
                    <a:bodyPr/>
                    <a:lstStyle/>
                    <a:p>
                      <a:r>
                        <a:rPr lang="en-US"/>
                        <a:t>Enrolled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2164593"/>
                  </a:ext>
                </a:extLst>
              </a:tr>
              <a:tr h="342592">
                <a:tc>
                  <a:txBody>
                    <a:bodyPr/>
                    <a:lstStyle/>
                    <a:p>
                      <a:r>
                        <a:rPr lang="en-US"/>
                        <a:t>SID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2447992"/>
                  </a:ext>
                </a:extLst>
              </a:tr>
              <a:tr h="342592">
                <a:tc>
                  <a:txBody>
                    <a:bodyPr/>
                    <a:lstStyle/>
                    <a:p>
                      <a:r>
                        <a:rPr lang="en-US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CS101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3491828"/>
                  </a:ext>
                </a:extLst>
              </a:tr>
              <a:tr h="342592">
                <a:tc>
                  <a:txBody>
                    <a:bodyPr/>
                    <a:lstStyle/>
                    <a:p>
                      <a:r>
                        <a:rPr lang="en-US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CS102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7355764"/>
                  </a:ext>
                </a:extLst>
              </a:tr>
              <a:tr h="342592">
                <a:tc>
                  <a:txBody>
                    <a:bodyPr/>
                    <a:lstStyle/>
                    <a:p>
                      <a:r>
                        <a:rPr lang="en-US"/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CS101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2886113"/>
                  </a:ext>
                </a:extLst>
              </a:tr>
              <a:tr h="342592">
                <a:tc>
                  <a:txBody>
                    <a:bodyPr/>
                    <a:lstStyle/>
                    <a:p>
                      <a:r>
                        <a:rPr lang="en-US"/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CS404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8064"/>
                  </a:ext>
                </a:extLst>
              </a:tr>
              <a:tr h="342592">
                <a:tc>
                  <a:txBody>
                    <a:bodyPr/>
                    <a:lstStyle/>
                    <a:p>
                      <a:r>
                        <a:rPr lang="en-US"/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CS405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4516530"/>
                  </a:ext>
                </a:extLst>
              </a:tr>
              <a:tr h="342592">
                <a:tc>
                  <a:txBody>
                    <a:bodyPr/>
                    <a:lstStyle/>
                    <a:p>
                      <a:r>
                        <a:rPr lang="en-US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CS101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7131400"/>
                  </a:ext>
                </a:extLst>
              </a:tr>
              <a:tr h="342592">
                <a:tc>
                  <a:txBody>
                    <a:bodyPr/>
                    <a:lstStyle/>
                    <a:p>
                      <a:r>
                        <a:rPr lang="en-US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CS102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3598001"/>
                  </a:ext>
                </a:extLst>
              </a:tr>
              <a:tr h="342592">
                <a:tc>
                  <a:txBody>
                    <a:bodyPr/>
                    <a:lstStyle/>
                    <a:p>
                      <a:r>
                        <a:rPr lang="en-US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CS203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8507761"/>
                  </a:ext>
                </a:extLst>
              </a:tr>
              <a:tr h="342592">
                <a:tc>
                  <a:txBody>
                    <a:bodyPr/>
                    <a:lstStyle/>
                    <a:p>
                      <a:r>
                        <a:rPr lang="en-US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CS404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6895273"/>
                  </a:ext>
                </a:extLst>
              </a:tr>
              <a:tr h="342592">
                <a:tc>
                  <a:txBody>
                    <a:bodyPr/>
                    <a:lstStyle/>
                    <a:p>
                      <a:r>
                        <a:rPr lang="en-US"/>
                        <a:t>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CS101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0174975"/>
                  </a:ext>
                </a:extLst>
              </a:tr>
              <a:tr h="342592">
                <a:tc>
                  <a:txBody>
                    <a:bodyPr/>
                    <a:lstStyle/>
                    <a:p>
                      <a:r>
                        <a:rPr lang="en-US"/>
                        <a:t>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CS102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511789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84FE0DC-8FF7-3249-BB01-EF518D6ADA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2635162"/>
              </p:ext>
            </p:extLst>
          </p:nvPr>
        </p:nvGraphicFramePr>
        <p:xfrm>
          <a:off x="8136219" y="118586"/>
          <a:ext cx="1995333" cy="219456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59725">
                  <a:extLst>
                    <a:ext uri="{9D8B030D-6E8A-4147-A177-3AD203B41FA5}">
                      <a16:colId xmlns:a16="http://schemas.microsoft.com/office/drawing/2014/main" val="2147418673"/>
                    </a:ext>
                  </a:extLst>
                </a:gridCol>
                <a:gridCol w="740664">
                  <a:extLst>
                    <a:ext uri="{9D8B030D-6E8A-4147-A177-3AD203B41FA5}">
                      <a16:colId xmlns:a16="http://schemas.microsoft.com/office/drawing/2014/main" val="1297322936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1567238431"/>
                    </a:ext>
                  </a:extLst>
                </a:gridCol>
              </a:tblGrid>
              <a:tr h="34259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/>
                        <a:t>Student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2164593"/>
                  </a:ext>
                </a:extLst>
              </a:tr>
              <a:tr h="342592">
                <a:tc>
                  <a:txBody>
                    <a:bodyPr/>
                    <a:lstStyle/>
                    <a:p>
                      <a:r>
                        <a:rPr lang="en-US"/>
                        <a:t>SID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Major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2447992"/>
                  </a:ext>
                </a:extLst>
              </a:tr>
              <a:tr h="342592">
                <a:tc>
                  <a:txBody>
                    <a:bodyPr/>
                    <a:lstStyle/>
                    <a:p>
                      <a:r>
                        <a:rPr lang="en-US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Alex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3491828"/>
                  </a:ext>
                </a:extLst>
              </a:tr>
              <a:tr h="342592">
                <a:tc>
                  <a:txBody>
                    <a:bodyPr/>
                    <a:lstStyle/>
                    <a:p>
                      <a:r>
                        <a:rPr lang="en-US"/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John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7355764"/>
                  </a:ext>
                </a:extLst>
              </a:tr>
              <a:tr h="342592">
                <a:tc>
                  <a:txBody>
                    <a:bodyPr/>
                    <a:lstStyle/>
                    <a:p>
                      <a:r>
                        <a:rPr lang="en-US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0057199"/>
                  </a:ext>
                </a:extLst>
              </a:tr>
              <a:tr h="342592">
                <a:tc>
                  <a:txBody>
                    <a:bodyPr/>
                    <a:lstStyle/>
                    <a:p>
                      <a:r>
                        <a:rPr lang="en-US"/>
                        <a:t>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Zack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Math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288611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C37B01C-1A78-6841-B2F2-8BDD6376C604}"/>
                  </a:ext>
                </a:extLst>
              </p:cNvPr>
              <p:cNvSpPr txBox="1"/>
              <p:nvPr/>
            </p:nvSpPr>
            <p:spPr>
              <a:xfrm>
                <a:off x="385847" y="363517"/>
                <a:ext cx="6952609" cy="2993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𝑛𝑎𝑚𝑒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𝑚𝑎𝑗𝑜𝑟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=′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(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𝑆𝑡𝑢𝑑𝑒𝑛𝑡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𝐸𝑛𝑟𝑜𝑙𝑙𝑒𝑑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)÷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𝑐𝑖𝑑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𝑠𝑖𝑑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=40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𝐸𝑛𝑟𝑜𝑙𝑙𝑒𝑑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)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C37B01C-1A78-6841-B2F2-8BDD6376C6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847" y="363517"/>
                <a:ext cx="6952609" cy="299313"/>
              </a:xfrm>
              <a:prstGeom prst="rect">
                <a:avLst/>
              </a:prstGeom>
              <a:blipFill>
                <a:blip r:embed="rId3"/>
                <a:stretch>
                  <a:fillRect l="-876" t="-24490" r="-1928" b="-408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id="{3B4BA34A-62C4-394E-A2BD-1D7888B599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7436417"/>
              </p:ext>
            </p:extLst>
          </p:nvPr>
        </p:nvGraphicFramePr>
        <p:xfrm>
          <a:off x="4752330" y="3400616"/>
          <a:ext cx="904062" cy="10972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904062">
                  <a:extLst>
                    <a:ext uri="{9D8B030D-6E8A-4147-A177-3AD203B41FA5}">
                      <a16:colId xmlns:a16="http://schemas.microsoft.com/office/drawing/2014/main" val="1567238431"/>
                    </a:ext>
                  </a:extLst>
                </a:gridCol>
              </a:tblGrid>
              <a:tr h="342592">
                <a:tc>
                  <a:txBody>
                    <a:bodyPr/>
                    <a:lstStyle/>
                    <a:p>
                      <a:r>
                        <a:rPr lang="en-US"/>
                        <a:t>CID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2447992"/>
                  </a:ext>
                </a:extLst>
              </a:tr>
              <a:tr h="342592">
                <a:tc>
                  <a:txBody>
                    <a:bodyPr/>
                    <a:lstStyle/>
                    <a:p>
                      <a:r>
                        <a:rPr lang="en-US"/>
                        <a:t>CS101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3491828"/>
                  </a:ext>
                </a:extLst>
              </a:tr>
              <a:tr h="342592">
                <a:tc>
                  <a:txBody>
                    <a:bodyPr/>
                    <a:lstStyle/>
                    <a:p>
                      <a:r>
                        <a:rPr lang="en-US"/>
                        <a:t>CS102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735576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4">
                <a:extLst>
                  <a:ext uri="{FF2B5EF4-FFF2-40B4-BE49-F238E27FC236}">
                    <a16:creationId xmlns:a16="http://schemas.microsoft.com/office/drawing/2014/main" id="{CB18FCB9-0128-8C45-9DDD-73FD1DED26E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8196154"/>
                  </p:ext>
                </p:extLst>
              </p:nvPr>
            </p:nvGraphicFramePr>
            <p:xfrm>
              <a:off x="870807" y="1571816"/>
              <a:ext cx="2994750" cy="4754880"/>
            </p:xfrm>
            <a:graphic>
              <a:graphicData uri="http://schemas.openxmlformats.org/drawingml/2006/table">
                <a:tbl>
                  <a:tblPr firstRow="1" bandRow="1">
                    <a:tableStyleId>{10A1B5D5-9B99-4C35-A422-299274C87663}</a:tableStyleId>
                  </a:tblPr>
                  <a:tblGrid>
                    <a:gridCol w="558303">
                      <a:extLst>
                        <a:ext uri="{9D8B030D-6E8A-4147-A177-3AD203B41FA5}">
                          <a16:colId xmlns:a16="http://schemas.microsoft.com/office/drawing/2014/main" val="637988386"/>
                        </a:ext>
                      </a:extLst>
                    </a:gridCol>
                    <a:gridCol w="811170">
                      <a:extLst>
                        <a:ext uri="{9D8B030D-6E8A-4147-A177-3AD203B41FA5}">
                          <a16:colId xmlns:a16="http://schemas.microsoft.com/office/drawing/2014/main" val="3365714028"/>
                        </a:ext>
                      </a:extLst>
                    </a:gridCol>
                    <a:gridCol w="811594">
                      <a:extLst>
                        <a:ext uri="{9D8B030D-6E8A-4147-A177-3AD203B41FA5}">
                          <a16:colId xmlns:a16="http://schemas.microsoft.com/office/drawing/2014/main" val="500546158"/>
                        </a:ext>
                      </a:extLst>
                    </a:gridCol>
                    <a:gridCol w="813683">
                      <a:extLst>
                        <a:ext uri="{9D8B030D-6E8A-4147-A177-3AD203B41FA5}">
                          <a16:colId xmlns:a16="http://schemas.microsoft.com/office/drawing/2014/main" val="1567238431"/>
                        </a:ext>
                      </a:extLst>
                    </a:gridCol>
                  </a:tblGrid>
                  <a:tr h="342592">
                    <a:tc gridSpan="4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𝑆𝑡𝑢𝑑𝑒𝑛𝑡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⋈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𝐸𝑛𝑟𝑜𝑙𝑙𝑒𝑑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62164593"/>
                      </a:ext>
                    </a:extLst>
                  </a:tr>
                  <a:tr h="342592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SID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Name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Major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CID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92447992"/>
                      </a:ext>
                    </a:extLst>
                  </a:tr>
                  <a:tr h="342592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Alex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CS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CS101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3491828"/>
                      </a:ext>
                    </a:extLst>
                  </a:tr>
                  <a:tr h="342592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Alex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CS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CS102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57355764"/>
                      </a:ext>
                    </a:extLst>
                  </a:tr>
                  <a:tr h="342592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41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John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CS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CS101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82886113"/>
                      </a:ext>
                    </a:extLst>
                  </a:tr>
                  <a:tr h="342592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41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John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CS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CS404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18064"/>
                      </a:ext>
                    </a:extLst>
                  </a:tr>
                  <a:tr h="342592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41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John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CS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CS405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34516530"/>
                      </a:ext>
                    </a:extLst>
                  </a:tr>
                  <a:tr h="342592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42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Mat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CS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CS101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77131400"/>
                      </a:ext>
                    </a:extLst>
                  </a:tr>
                  <a:tr h="342592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42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Mat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CS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CS102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13598001"/>
                      </a:ext>
                    </a:extLst>
                  </a:tr>
                  <a:tr h="342592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42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Mat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CS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CS203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38507761"/>
                      </a:ext>
                    </a:extLst>
                  </a:tr>
                  <a:tr h="342592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42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Mat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CS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CS404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26895273"/>
                      </a:ext>
                    </a:extLst>
                  </a:tr>
                  <a:tr h="342592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43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Zack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Math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CS101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0174975"/>
                      </a:ext>
                    </a:extLst>
                  </a:tr>
                  <a:tr h="342592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43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Zack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Math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CS102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51178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4">
                <a:extLst>
                  <a:ext uri="{FF2B5EF4-FFF2-40B4-BE49-F238E27FC236}">
                    <a16:creationId xmlns:a16="http://schemas.microsoft.com/office/drawing/2014/main" id="{CB18FCB9-0128-8C45-9DDD-73FD1DED26E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8196154"/>
                  </p:ext>
                </p:extLst>
              </p:nvPr>
            </p:nvGraphicFramePr>
            <p:xfrm>
              <a:off x="870807" y="1571816"/>
              <a:ext cx="2994750" cy="4754880"/>
            </p:xfrm>
            <a:graphic>
              <a:graphicData uri="http://schemas.openxmlformats.org/drawingml/2006/table">
                <a:tbl>
                  <a:tblPr firstRow="1" bandRow="1">
                    <a:tableStyleId>{10A1B5D5-9B99-4C35-A422-299274C87663}</a:tableStyleId>
                  </a:tblPr>
                  <a:tblGrid>
                    <a:gridCol w="558303">
                      <a:extLst>
                        <a:ext uri="{9D8B030D-6E8A-4147-A177-3AD203B41FA5}">
                          <a16:colId xmlns:a16="http://schemas.microsoft.com/office/drawing/2014/main" val="637988386"/>
                        </a:ext>
                      </a:extLst>
                    </a:gridCol>
                    <a:gridCol w="811170">
                      <a:extLst>
                        <a:ext uri="{9D8B030D-6E8A-4147-A177-3AD203B41FA5}">
                          <a16:colId xmlns:a16="http://schemas.microsoft.com/office/drawing/2014/main" val="3365714028"/>
                        </a:ext>
                      </a:extLst>
                    </a:gridCol>
                    <a:gridCol w="811594">
                      <a:extLst>
                        <a:ext uri="{9D8B030D-6E8A-4147-A177-3AD203B41FA5}">
                          <a16:colId xmlns:a16="http://schemas.microsoft.com/office/drawing/2014/main" val="500546158"/>
                        </a:ext>
                      </a:extLst>
                    </a:gridCol>
                    <a:gridCol w="813683">
                      <a:extLst>
                        <a:ext uri="{9D8B030D-6E8A-4147-A177-3AD203B41FA5}">
                          <a16:colId xmlns:a16="http://schemas.microsoft.com/office/drawing/2014/main" val="1567238431"/>
                        </a:ext>
                      </a:extLst>
                    </a:gridCol>
                  </a:tblGrid>
                  <a:tr h="365760">
                    <a:tc gridSpan="4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3" t="-1667" r="-406" b="-122833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6216459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SID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Name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Major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CID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9244799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Alex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CS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CS101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349182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Alex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CS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CS102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5735576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41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John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CS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CS101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8288611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41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John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CS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CS404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1806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41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John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CS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CS405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3451653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42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Mat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CS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CS101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7713140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42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Mat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CS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CS102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1359800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42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Mat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CS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CS203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3850776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42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Mat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CS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CS404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2689527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43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Zack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Math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CS101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017497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43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Zack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Math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CS102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5117897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3CE587C-8AF2-374E-B693-FDFCF53541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6395035"/>
              </p:ext>
            </p:extLst>
          </p:nvPr>
        </p:nvGraphicFramePr>
        <p:xfrm>
          <a:off x="7190130" y="3021824"/>
          <a:ext cx="2145868" cy="210312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09677">
                  <a:extLst>
                    <a:ext uri="{9D8B030D-6E8A-4147-A177-3AD203B41FA5}">
                      <a16:colId xmlns:a16="http://schemas.microsoft.com/office/drawing/2014/main" val="2147418673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1297322936"/>
                    </a:ext>
                  </a:extLst>
                </a:gridCol>
                <a:gridCol w="786383">
                  <a:extLst>
                    <a:ext uri="{9D8B030D-6E8A-4147-A177-3AD203B41FA5}">
                      <a16:colId xmlns:a16="http://schemas.microsoft.com/office/drawing/2014/main" val="1567238431"/>
                    </a:ext>
                  </a:extLst>
                </a:gridCol>
              </a:tblGrid>
              <a:tr h="34259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/>
                        <a:t>Division Result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2164593"/>
                  </a:ext>
                </a:extLst>
              </a:tr>
              <a:tr h="342592">
                <a:tc>
                  <a:txBody>
                    <a:bodyPr/>
                    <a:lstStyle/>
                    <a:p>
                      <a:r>
                        <a:rPr lang="en-US"/>
                        <a:t>SID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Major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2447992"/>
                  </a:ext>
                </a:extLst>
              </a:tr>
              <a:tr h="342592">
                <a:tc>
                  <a:txBody>
                    <a:bodyPr/>
                    <a:lstStyle/>
                    <a:p>
                      <a:r>
                        <a:rPr lang="en-US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Alex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3491828"/>
                  </a:ext>
                </a:extLst>
              </a:tr>
              <a:tr h="342592">
                <a:tc>
                  <a:txBody>
                    <a:bodyPr/>
                    <a:lstStyle/>
                    <a:p>
                      <a:r>
                        <a:rPr lang="en-US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0057199"/>
                  </a:ext>
                </a:extLst>
              </a:tr>
              <a:tr h="342592">
                <a:tc>
                  <a:txBody>
                    <a:bodyPr/>
                    <a:lstStyle/>
                    <a:p>
                      <a:r>
                        <a:rPr lang="en-US"/>
                        <a:t>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Zack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Math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288611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4FF0F298-B175-5147-A38C-973A5075D33E}"/>
              </a:ext>
            </a:extLst>
          </p:cNvPr>
          <p:cNvSpPr txBox="1"/>
          <p:nvPr/>
        </p:nvSpPr>
        <p:spPr>
          <a:xfrm>
            <a:off x="5944418" y="3735711"/>
            <a:ext cx="46519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/>
              <a:t>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32E6457-1CC2-EC4D-8554-2C6E1063957F}"/>
                  </a:ext>
                </a:extLst>
              </p:cNvPr>
              <p:cNvSpPr txBox="1"/>
              <p:nvPr/>
            </p:nvSpPr>
            <p:spPr>
              <a:xfrm>
                <a:off x="4043146" y="3657886"/>
                <a:ext cx="78418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</m:oMath>
                  </m:oMathPara>
                </a14:m>
                <a:endParaRPr lang="en-US" sz="480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32E6457-1CC2-EC4D-8554-2C6E106395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3146" y="3657886"/>
                <a:ext cx="784189" cy="83099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ED19F427-DF5C-B794-16C4-158F2F9050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808097"/>
              </p:ext>
            </p:extLst>
          </p:nvPr>
        </p:nvGraphicFramePr>
        <p:xfrm>
          <a:off x="9875283" y="5036468"/>
          <a:ext cx="1458468" cy="146304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1458468">
                  <a:extLst>
                    <a:ext uri="{9D8B030D-6E8A-4147-A177-3AD203B41FA5}">
                      <a16:colId xmlns:a16="http://schemas.microsoft.com/office/drawing/2014/main" val="1297322936"/>
                    </a:ext>
                  </a:extLst>
                </a:gridCol>
              </a:tblGrid>
              <a:tr h="342592">
                <a:tc>
                  <a:txBody>
                    <a:bodyPr/>
                    <a:lstStyle/>
                    <a:p>
                      <a:r>
                        <a:rPr lang="en-US"/>
                        <a:t>Query 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2164593"/>
                  </a:ext>
                </a:extLst>
              </a:tr>
              <a:tr h="342592">
                <a:tc>
                  <a:txBody>
                    <a:bodyPr/>
                    <a:lstStyle/>
                    <a:p>
                      <a:r>
                        <a:rPr lang="en-US" b="1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2447992"/>
                  </a:ext>
                </a:extLst>
              </a:tr>
              <a:tr h="342592">
                <a:tc>
                  <a:txBody>
                    <a:bodyPr/>
                    <a:lstStyle/>
                    <a:p>
                      <a:r>
                        <a:rPr lang="en-US"/>
                        <a:t>Alex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3491828"/>
                  </a:ext>
                </a:extLst>
              </a:tr>
              <a:tr h="342592">
                <a:tc>
                  <a:txBody>
                    <a:bodyPr/>
                    <a:lstStyle/>
                    <a:p>
                      <a:r>
                        <a:rPr lang="en-US"/>
                        <a:t>Mat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81388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1591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7C0AF-CBA4-0247-BCF1-0C9BBE54A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4253CE-BBD0-C748-B613-9FBD34CA5B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913" y="1253331"/>
            <a:ext cx="8994465" cy="1059815"/>
          </a:xfrm>
        </p:spPr>
        <p:txBody>
          <a:bodyPr/>
          <a:lstStyle/>
          <a:p>
            <a:r>
              <a:rPr lang="en-US"/>
              <a:t>Which  Computer Sciences students take </a:t>
            </a:r>
            <a:r>
              <a:rPr lang="en-US" b="1"/>
              <a:t>ALL</a:t>
            </a:r>
            <a:r>
              <a:rPr lang="en-US"/>
              <a:t> the courses that 40 is taking?</a:t>
            </a:r>
          </a:p>
          <a:p>
            <a:endParaRPr lang="en-US"/>
          </a:p>
          <a:p>
            <a:endParaRPr lang="en-US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7BDA7233-F67B-6547-A67E-134D9ED8D60F}"/>
              </a:ext>
            </a:extLst>
          </p:cNvPr>
          <p:cNvGraphicFramePr>
            <a:graphicFrameLocks noGrp="1"/>
          </p:cNvGraphicFramePr>
          <p:nvPr/>
        </p:nvGraphicFramePr>
        <p:xfrm>
          <a:off x="10629925" y="49292"/>
          <a:ext cx="1442542" cy="47548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38480">
                  <a:extLst>
                    <a:ext uri="{9D8B030D-6E8A-4147-A177-3AD203B41FA5}">
                      <a16:colId xmlns:a16="http://schemas.microsoft.com/office/drawing/2014/main" val="1297322936"/>
                    </a:ext>
                  </a:extLst>
                </a:gridCol>
                <a:gridCol w="904062">
                  <a:extLst>
                    <a:ext uri="{9D8B030D-6E8A-4147-A177-3AD203B41FA5}">
                      <a16:colId xmlns:a16="http://schemas.microsoft.com/office/drawing/2014/main" val="1567238431"/>
                    </a:ext>
                  </a:extLst>
                </a:gridCol>
              </a:tblGrid>
              <a:tr h="342592">
                <a:tc gridSpan="2">
                  <a:txBody>
                    <a:bodyPr/>
                    <a:lstStyle/>
                    <a:p>
                      <a:r>
                        <a:rPr lang="en-US"/>
                        <a:t>Enrolled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2164593"/>
                  </a:ext>
                </a:extLst>
              </a:tr>
              <a:tr h="342592">
                <a:tc>
                  <a:txBody>
                    <a:bodyPr/>
                    <a:lstStyle/>
                    <a:p>
                      <a:r>
                        <a:rPr lang="en-US"/>
                        <a:t>SID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2447992"/>
                  </a:ext>
                </a:extLst>
              </a:tr>
              <a:tr h="342592">
                <a:tc>
                  <a:txBody>
                    <a:bodyPr/>
                    <a:lstStyle/>
                    <a:p>
                      <a:r>
                        <a:rPr lang="en-US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CS101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3491828"/>
                  </a:ext>
                </a:extLst>
              </a:tr>
              <a:tr h="342592">
                <a:tc>
                  <a:txBody>
                    <a:bodyPr/>
                    <a:lstStyle/>
                    <a:p>
                      <a:r>
                        <a:rPr lang="en-US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CS102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7355764"/>
                  </a:ext>
                </a:extLst>
              </a:tr>
              <a:tr h="342592">
                <a:tc>
                  <a:txBody>
                    <a:bodyPr/>
                    <a:lstStyle/>
                    <a:p>
                      <a:r>
                        <a:rPr lang="en-US"/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CS101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2886113"/>
                  </a:ext>
                </a:extLst>
              </a:tr>
              <a:tr h="342592">
                <a:tc>
                  <a:txBody>
                    <a:bodyPr/>
                    <a:lstStyle/>
                    <a:p>
                      <a:r>
                        <a:rPr lang="en-US"/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CS404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8064"/>
                  </a:ext>
                </a:extLst>
              </a:tr>
              <a:tr h="342592">
                <a:tc>
                  <a:txBody>
                    <a:bodyPr/>
                    <a:lstStyle/>
                    <a:p>
                      <a:r>
                        <a:rPr lang="en-US"/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CS405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4516530"/>
                  </a:ext>
                </a:extLst>
              </a:tr>
              <a:tr h="342592">
                <a:tc>
                  <a:txBody>
                    <a:bodyPr/>
                    <a:lstStyle/>
                    <a:p>
                      <a:r>
                        <a:rPr lang="en-US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CS101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7131400"/>
                  </a:ext>
                </a:extLst>
              </a:tr>
              <a:tr h="342592">
                <a:tc>
                  <a:txBody>
                    <a:bodyPr/>
                    <a:lstStyle/>
                    <a:p>
                      <a:r>
                        <a:rPr lang="en-US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CS102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3598001"/>
                  </a:ext>
                </a:extLst>
              </a:tr>
              <a:tr h="342592">
                <a:tc>
                  <a:txBody>
                    <a:bodyPr/>
                    <a:lstStyle/>
                    <a:p>
                      <a:r>
                        <a:rPr lang="en-US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CS203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8507761"/>
                  </a:ext>
                </a:extLst>
              </a:tr>
              <a:tr h="342592">
                <a:tc>
                  <a:txBody>
                    <a:bodyPr/>
                    <a:lstStyle/>
                    <a:p>
                      <a:r>
                        <a:rPr lang="en-US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CS404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6895273"/>
                  </a:ext>
                </a:extLst>
              </a:tr>
              <a:tr h="342592">
                <a:tc>
                  <a:txBody>
                    <a:bodyPr/>
                    <a:lstStyle/>
                    <a:p>
                      <a:r>
                        <a:rPr lang="en-US"/>
                        <a:t>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CS101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0174975"/>
                  </a:ext>
                </a:extLst>
              </a:tr>
              <a:tr h="342592">
                <a:tc>
                  <a:txBody>
                    <a:bodyPr/>
                    <a:lstStyle/>
                    <a:p>
                      <a:r>
                        <a:rPr lang="en-US"/>
                        <a:t>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CS102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511789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84FE0DC-8FF7-3249-BB01-EF518D6ADA58}"/>
              </a:ext>
            </a:extLst>
          </p:cNvPr>
          <p:cNvGraphicFramePr>
            <a:graphicFrameLocks noGrp="1"/>
          </p:cNvGraphicFramePr>
          <p:nvPr/>
        </p:nvGraphicFramePr>
        <p:xfrm>
          <a:off x="8136219" y="118586"/>
          <a:ext cx="1995333" cy="219456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59725">
                  <a:extLst>
                    <a:ext uri="{9D8B030D-6E8A-4147-A177-3AD203B41FA5}">
                      <a16:colId xmlns:a16="http://schemas.microsoft.com/office/drawing/2014/main" val="2147418673"/>
                    </a:ext>
                  </a:extLst>
                </a:gridCol>
                <a:gridCol w="740664">
                  <a:extLst>
                    <a:ext uri="{9D8B030D-6E8A-4147-A177-3AD203B41FA5}">
                      <a16:colId xmlns:a16="http://schemas.microsoft.com/office/drawing/2014/main" val="1297322936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1567238431"/>
                    </a:ext>
                  </a:extLst>
                </a:gridCol>
              </a:tblGrid>
              <a:tr h="34259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/>
                        <a:t>Student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2164593"/>
                  </a:ext>
                </a:extLst>
              </a:tr>
              <a:tr h="342592">
                <a:tc>
                  <a:txBody>
                    <a:bodyPr/>
                    <a:lstStyle/>
                    <a:p>
                      <a:r>
                        <a:rPr lang="en-US"/>
                        <a:t>SID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Major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2447992"/>
                  </a:ext>
                </a:extLst>
              </a:tr>
              <a:tr h="342592">
                <a:tc>
                  <a:txBody>
                    <a:bodyPr/>
                    <a:lstStyle/>
                    <a:p>
                      <a:r>
                        <a:rPr lang="en-US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Alex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3491828"/>
                  </a:ext>
                </a:extLst>
              </a:tr>
              <a:tr h="342592">
                <a:tc>
                  <a:txBody>
                    <a:bodyPr/>
                    <a:lstStyle/>
                    <a:p>
                      <a:r>
                        <a:rPr lang="en-US"/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John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7355764"/>
                  </a:ext>
                </a:extLst>
              </a:tr>
              <a:tr h="342592">
                <a:tc>
                  <a:txBody>
                    <a:bodyPr/>
                    <a:lstStyle/>
                    <a:p>
                      <a:r>
                        <a:rPr lang="en-US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0057199"/>
                  </a:ext>
                </a:extLst>
              </a:tr>
              <a:tr h="342592">
                <a:tc>
                  <a:txBody>
                    <a:bodyPr/>
                    <a:lstStyle/>
                    <a:p>
                      <a:r>
                        <a:rPr lang="en-US"/>
                        <a:t>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Zack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Math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288611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C37B01C-1A78-6841-B2F2-8BDD6376C604}"/>
                  </a:ext>
                </a:extLst>
              </p:cNvPr>
              <p:cNvSpPr txBox="1"/>
              <p:nvPr/>
            </p:nvSpPr>
            <p:spPr>
              <a:xfrm>
                <a:off x="1010905" y="2277075"/>
                <a:ext cx="6952609" cy="2993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𝑛𝑎𝑚𝑒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𝑚𝑎𝑗𝑜𝑟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=′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(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𝑆𝑡𝑢𝑑𝑒𝑛𝑡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𝐸𝑛𝑟𝑜𝑙𝑙𝑒𝑑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)÷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𝑐𝑖𝑑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𝑠𝑖𝑑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=40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𝐸𝑛𝑟𝑜𝑙𝑙𝑒𝑑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)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C37B01C-1A78-6841-B2F2-8BDD6376C6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905" y="2277075"/>
                <a:ext cx="6952609" cy="299313"/>
              </a:xfrm>
              <a:prstGeom prst="rect">
                <a:avLst/>
              </a:prstGeom>
              <a:blipFill>
                <a:blip r:embed="rId3"/>
                <a:stretch>
                  <a:fillRect l="-877" t="-24490" r="-1930" b="-408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39D33C7F-CC47-D747-9FB1-C2A9EEED3169}"/>
              </a:ext>
            </a:extLst>
          </p:cNvPr>
          <p:cNvSpPr txBox="1"/>
          <p:nvPr/>
        </p:nvSpPr>
        <p:spPr>
          <a:xfrm>
            <a:off x="967112" y="4182113"/>
            <a:ext cx="6996402" cy="230832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/>
              <a:t>SELECT DISTINCT NAME FROM STUDENT S</a:t>
            </a:r>
          </a:p>
          <a:p>
            <a:r>
              <a:rPr lang="en-US"/>
              <a:t>WHERE major='cs’ AND </a:t>
            </a:r>
          </a:p>
          <a:p>
            <a:r>
              <a:rPr lang="en-US"/>
              <a:t>               NOT EXISTS (SELECT * FROM ENROLLED E2 </a:t>
            </a:r>
          </a:p>
          <a:p>
            <a:r>
              <a:rPr lang="en-US"/>
              <a:t>		       WHERE SID=40 and</a:t>
            </a:r>
          </a:p>
          <a:p>
            <a:r>
              <a:rPr lang="en-US"/>
              <a:t>			CID NOT IN (SELECT CID FROM ENROLLED E</a:t>
            </a:r>
          </a:p>
          <a:p>
            <a:r>
              <a:rPr lang="en-US"/>
              <a:t>				   WHERE E.SID=S.SID) </a:t>
            </a:r>
          </a:p>
          <a:p>
            <a:r>
              <a:rPr lang="en-US"/>
              <a:t>	)</a:t>
            </a:r>
          </a:p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7E1F0CD-9C9D-4E40-B1BC-39DFCEC132D2}"/>
              </a:ext>
            </a:extLst>
          </p:cNvPr>
          <p:cNvSpPr/>
          <p:nvPr/>
        </p:nvSpPr>
        <p:spPr>
          <a:xfrm>
            <a:off x="1010905" y="3321488"/>
            <a:ext cx="6096000" cy="646331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en-US"/>
              <a:t>There may not be a course that 40 takes that is not among the courses taken by the CS students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AC70115-3CA6-E64D-B275-304A798C98BF}"/>
                  </a:ext>
                </a:extLst>
              </p:cNvPr>
              <p:cNvSpPr txBox="1"/>
              <p:nvPr/>
            </p:nvSpPr>
            <p:spPr>
              <a:xfrm>
                <a:off x="1035655" y="2785508"/>
                <a:ext cx="6927859" cy="3190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𝑛𝑎𝑚𝑒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𝑚𝑎𝑗𝑜𝑟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=′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𝑆𝑡𝑢𝑑𝑒𝑛𝑡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⋈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𝐸𝑛𝑟𝑜𝑙𝑙𝑒𝑑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÷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𝑐𝑖𝑑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𝑠𝑖𝑑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=40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𝐸𝑛𝑟𝑜𝑙𝑙𝑒𝑑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)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AC70115-3CA6-E64D-B275-304A798C98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655" y="2785508"/>
                <a:ext cx="6927859" cy="319062"/>
              </a:xfrm>
              <a:prstGeom prst="rect">
                <a:avLst/>
              </a:prstGeom>
              <a:blipFill>
                <a:blip r:embed="rId4"/>
                <a:stretch>
                  <a:fillRect l="-880" t="-17308" r="-1144" b="-38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3029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3" grpId="0" animBg="1"/>
      <p:bldP spid="14" grpId="0" animBg="1"/>
      <p:bldP spid="15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7C0AF-CBA4-0247-BCF1-0C9BBE54A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4253CE-BBD0-C748-B613-9FBD34CA5B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913" y="1253331"/>
            <a:ext cx="8994465" cy="1059815"/>
          </a:xfrm>
        </p:spPr>
        <p:txBody>
          <a:bodyPr/>
          <a:lstStyle/>
          <a:p>
            <a:r>
              <a:rPr lang="en-US"/>
              <a:t>Which  Computer Sciences students take </a:t>
            </a:r>
            <a:r>
              <a:rPr lang="en-US" b="1"/>
              <a:t>ALL</a:t>
            </a:r>
            <a:r>
              <a:rPr lang="en-US"/>
              <a:t> the courses that 40 is taking?</a:t>
            </a:r>
          </a:p>
          <a:p>
            <a:endParaRPr lang="en-US"/>
          </a:p>
          <a:p>
            <a:endParaRPr lang="en-US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7BDA7233-F67B-6547-A67E-134D9ED8D60F}"/>
              </a:ext>
            </a:extLst>
          </p:cNvPr>
          <p:cNvGraphicFramePr>
            <a:graphicFrameLocks noGrp="1"/>
          </p:cNvGraphicFramePr>
          <p:nvPr/>
        </p:nvGraphicFramePr>
        <p:xfrm>
          <a:off x="10629925" y="49292"/>
          <a:ext cx="1442542" cy="47548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38480">
                  <a:extLst>
                    <a:ext uri="{9D8B030D-6E8A-4147-A177-3AD203B41FA5}">
                      <a16:colId xmlns:a16="http://schemas.microsoft.com/office/drawing/2014/main" val="1297322936"/>
                    </a:ext>
                  </a:extLst>
                </a:gridCol>
                <a:gridCol w="904062">
                  <a:extLst>
                    <a:ext uri="{9D8B030D-6E8A-4147-A177-3AD203B41FA5}">
                      <a16:colId xmlns:a16="http://schemas.microsoft.com/office/drawing/2014/main" val="1567238431"/>
                    </a:ext>
                  </a:extLst>
                </a:gridCol>
              </a:tblGrid>
              <a:tr h="342592">
                <a:tc gridSpan="2">
                  <a:txBody>
                    <a:bodyPr/>
                    <a:lstStyle/>
                    <a:p>
                      <a:r>
                        <a:rPr lang="en-US"/>
                        <a:t>Enrolled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2164593"/>
                  </a:ext>
                </a:extLst>
              </a:tr>
              <a:tr h="342592">
                <a:tc>
                  <a:txBody>
                    <a:bodyPr/>
                    <a:lstStyle/>
                    <a:p>
                      <a:r>
                        <a:rPr lang="en-US"/>
                        <a:t>SID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2447992"/>
                  </a:ext>
                </a:extLst>
              </a:tr>
              <a:tr h="342592">
                <a:tc>
                  <a:txBody>
                    <a:bodyPr/>
                    <a:lstStyle/>
                    <a:p>
                      <a:r>
                        <a:rPr lang="en-US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CS101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3491828"/>
                  </a:ext>
                </a:extLst>
              </a:tr>
              <a:tr h="342592">
                <a:tc>
                  <a:txBody>
                    <a:bodyPr/>
                    <a:lstStyle/>
                    <a:p>
                      <a:r>
                        <a:rPr lang="en-US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CS102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7355764"/>
                  </a:ext>
                </a:extLst>
              </a:tr>
              <a:tr h="342592">
                <a:tc>
                  <a:txBody>
                    <a:bodyPr/>
                    <a:lstStyle/>
                    <a:p>
                      <a:r>
                        <a:rPr lang="en-US"/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CS101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2886113"/>
                  </a:ext>
                </a:extLst>
              </a:tr>
              <a:tr h="342592">
                <a:tc>
                  <a:txBody>
                    <a:bodyPr/>
                    <a:lstStyle/>
                    <a:p>
                      <a:r>
                        <a:rPr lang="en-US"/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CS404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8064"/>
                  </a:ext>
                </a:extLst>
              </a:tr>
              <a:tr h="342592">
                <a:tc>
                  <a:txBody>
                    <a:bodyPr/>
                    <a:lstStyle/>
                    <a:p>
                      <a:r>
                        <a:rPr lang="en-US"/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CS405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4516530"/>
                  </a:ext>
                </a:extLst>
              </a:tr>
              <a:tr h="342592">
                <a:tc>
                  <a:txBody>
                    <a:bodyPr/>
                    <a:lstStyle/>
                    <a:p>
                      <a:r>
                        <a:rPr lang="en-US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CS101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7131400"/>
                  </a:ext>
                </a:extLst>
              </a:tr>
              <a:tr h="342592">
                <a:tc>
                  <a:txBody>
                    <a:bodyPr/>
                    <a:lstStyle/>
                    <a:p>
                      <a:r>
                        <a:rPr lang="en-US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CS102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3598001"/>
                  </a:ext>
                </a:extLst>
              </a:tr>
              <a:tr h="342592">
                <a:tc>
                  <a:txBody>
                    <a:bodyPr/>
                    <a:lstStyle/>
                    <a:p>
                      <a:r>
                        <a:rPr lang="en-US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CS203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8507761"/>
                  </a:ext>
                </a:extLst>
              </a:tr>
              <a:tr h="342592">
                <a:tc>
                  <a:txBody>
                    <a:bodyPr/>
                    <a:lstStyle/>
                    <a:p>
                      <a:r>
                        <a:rPr lang="en-US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CS404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6895273"/>
                  </a:ext>
                </a:extLst>
              </a:tr>
              <a:tr h="342592">
                <a:tc>
                  <a:txBody>
                    <a:bodyPr/>
                    <a:lstStyle/>
                    <a:p>
                      <a:r>
                        <a:rPr lang="en-US"/>
                        <a:t>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CS101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0174975"/>
                  </a:ext>
                </a:extLst>
              </a:tr>
              <a:tr h="342592">
                <a:tc>
                  <a:txBody>
                    <a:bodyPr/>
                    <a:lstStyle/>
                    <a:p>
                      <a:r>
                        <a:rPr lang="en-US"/>
                        <a:t>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CS102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511789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84FE0DC-8FF7-3249-BB01-EF518D6ADA58}"/>
              </a:ext>
            </a:extLst>
          </p:cNvPr>
          <p:cNvGraphicFramePr>
            <a:graphicFrameLocks noGrp="1"/>
          </p:cNvGraphicFramePr>
          <p:nvPr/>
        </p:nvGraphicFramePr>
        <p:xfrm>
          <a:off x="8136219" y="118586"/>
          <a:ext cx="1995333" cy="219456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59725">
                  <a:extLst>
                    <a:ext uri="{9D8B030D-6E8A-4147-A177-3AD203B41FA5}">
                      <a16:colId xmlns:a16="http://schemas.microsoft.com/office/drawing/2014/main" val="2147418673"/>
                    </a:ext>
                  </a:extLst>
                </a:gridCol>
                <a:gridCol w="740664">
                  <a:extLst>
                    <a:ext uri="{9D8B030D-6E8A-4147-A177-3AD203B41FA5}">
                      <a16:colId xmlns:a16="http://schemas.microsoft.com/office/drawing/2014/main" val="1297322936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1567238431"/>
                    </a:ext>
                  </a:extLst>
                </a:gridCol>
              </a:tblGrid>
              <a:tr h="34259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/>
                        <a:t>Student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2164593"/>
                  </a:ext>
                </a:extLst>
              </a:tr>
              <a:tr h="342592">
                <a:tc>
                  <a:txBody>
                    <a:bodyPr/>
                    <a:lstStyle/>
                    <a:p>
                      <a:r>
                        <a:rPr lang="en-US"/>
                        <a:t>SID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Major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2447992"/>
                  </a:ext>
                </a:extLst>
              </a:tr>
              <a:tr h="342592">
                <a:tc>
                  <a:txBody>
                    <a:bodyPr/>
                    <a:lstStyle/>
                    <a:p>
                      <a:r>
                        <a:rPr lang="en-US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Alex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3491828"/>
                  </a:ext>
                </a:extLst>
              </a:tr>
              <a:tr h="342592">
                <a:tc>
                  <a:txBody>
                    <a:bodyPr/>
                    <a:lstStyle/>
                    <a:p>
                      <a:r>
                        <a:rPr lang="en-US"/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John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7355764"/>
                  </a:ext>
                </a:extLst>
              </a:tr>
              <a:tr h="342592">
                <a:tc>
                  <a:txBody>
                    <a:bodyPr/>
                    <a:lstStyle/>
                    <a:p>
                      <a:r>
                        <a:rPr lang="en-US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0057199"/>
                  </a:ext>
                </a:extLst>
              </a:tr>
              <a:tr h="342592">
                <a:tc>
                  <a:txBody>
                    <a:bodyPr/>
                    <a:lstStyle/>
                    <a:p>
                      <a:r>
                        <a:rPr lang="en-US"/>
                        <a:t>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Zack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Math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288611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C37B01C-1A78-6841-B2F2-8BDD6376C604}"/>
                  </a:ext>
                </a:extLst>
              </p:cNvPr>
              <p:cNvSpPr txBox="1"/>
              <p:nvPr/>
            </p:nvSpPr>
            <p:spPr>
              <a:xfrm>
                <a:off x="1010905" y="2277075"/>
                <a:ext cx="6952609" cy="2993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𝑛𝑎𝑚𝑒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𝑚𝑎𝑗𝑜𝑟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=′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(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𝑆𝑡𝑢𝑑𝑒𝑛𝑡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𝐸𝑛𝑟𝑜𝑙𝑙𝑒𝑑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)÷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𝑐𝑖𝑑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𝑠𝑖𝑑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=40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𝐸𝑛𝑟𝑜𝑙𝑙𝑒𝑑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)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C37B01C-1A78-6841-B2F2-8BDD6376C6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905" y="2277075"/>
                <a:ext cx="6952609" cy="299313"/>
              </a:xfrm>
              <a:prstGeom prst="rect">
                <a:avLst/>
              </a:prstGeom>
              <a:blipFill>
                <a:blip r:embed="rId3"/>
                <a:stretch>
                  <a:fillRect l="-877" t="-24490" r="-1930" b="-408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39D33C7F-CC47-D747-9FB1-C2A9EEED3169}"/>
              </a:ext>
            </a:extLst>
          </p:cNvPr>
          <p:cNvSpPr txBox="1"/>
          <p:nvPr/>
        </p:nvSpPr>
        <p:spPr>
          <a:xfrm>
            <a:off x="967112" y="4182113"/>
            <a:ext cx="6156878" cy="258532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/>
              <a:t>SELECT DISTINCT NAME FROM STUDENT S</a:t>
            </a:r>
          </a:p>
          <a:p>
            <a:r>
              <a:rPr lang="en-US"/>
              <a:t>WHERE major=‘cs’ AND </a:t>
            </a:r>
          </a:p>
          <a:p>
            <a:r>
              <a:rPr lang="en-US"/>
              <a:t>               NOT EXISTS (SELECT * FROM ENROLLED E40</a:t>
            </a:r>
          </a:p>
          <a:p>
            <a:r>
              <a:rPr lang="en-US"/>
              <a:t>		     WHERE SID=40 AND</a:t>
            </a:r>
          </a:p>
          <a:p>
            <a:r>
              <a:rPr lang="en-US"/>
              <a:t>		     NOT EXISTS ( SELECT * FROM ENROLLED E</a:t>
            </a:r>
          </a:p>
          <a:p>
            <a:r>
              <a:rPr lang="en-US"/>
              <a:t>				   WHERE E.SID=S.SID</a:t>
            </a:r>
          </a:p>
          <a:p>
            <a:r>
              <a:rPr lang="en-US"/>
              <a:t>				    AND E40.CID=E.CID) </a:t>
            </a:r>
          </a:p>
          <a:p>
            <a:r>
              <a:rPr lang="en-US"/>
              <a:t>	)</a:t>
            </a:r>
          </a:p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7E1F0CD-9C9D-4E40-B1BC-39DFCEC132D2}"/>
              </a:ext>
            </a:extLst>
          </p:cNvPr>
          <p:cNvSpPr/>
          <p:nvPr/>
        </p:nvSpPr>
        <p:spPr>
          <a:xfrm>
            <a:off x="1010905" y="3321488"/>
            <a:ext cx="6096000" cy="646331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en-US"/>
              <a:t>Two times not exists: (“There may not be  a course that 40 takes that is not taken by the current CS student”)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AC70115-3CA6-E64D-B275-304A798C98BF}"/>
                  </a:ext>
                </a:extLst>
              </p:cNvPr>
              <p:cNvSpPr txBox="1"/>
              <p:nvPr/>
            </p:nvSpPr>
            <p:spPr>
              <a:xfrm>
                <a:off x="1035655" y="2785508"/>
                <a:ext cx="6927859" cy="3190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𝑛𝑎𝑚𝑒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𝑚𝑎𝑗𝑜𝑟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=′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𝑆𝑡𝑢𝑑𝑒𝑛𝑡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⋈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𝐸𝑛𝑟𝑜𝑙𝑙𝑒𝑑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÷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𝑐𝑖𝑑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𝑠𝑖𝑑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=40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𝐸𝑛𝑟𝑜𝑙𝑙𝑒𝑑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)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AC70115-3CA6-E64D-B275-304A798C98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655" y="2785508"/>
                <a:ext cx="6927859" cy="319062"/>
              </a:xfrm>
              <a:prstGeom prst="rect">
                <a:avLst/>
              </a:prstGeom>
              <a:blipFill>
                <a:blip r:embed="rId4"/>
                <a:stretch>
                  <a:fillRect l="-880" t="-17308" r="-1144" b="-38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1187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3" grpId="0" animBg="1"/>
      <p:bldP spid="14" grpId="0" animBg="1"/>
      <p:bldP spid="15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25E55-24EF-7F40-B844-5A4CD075A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SQL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633DD-4884-A846-9E46-B2DF82387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create table student (SID int primary </a:t>
            </a:r>
            <a:r>
              <a:rPr lang="en-US" err="1"/>
              <a:t>key,Name</a:t>
            </a:r>
            <a:r>
              <a:rPr lang="en-US"/>
              <a:t> varchar(10),Major varchar(4));</a:t>
            </a:r>
          </a:p>
          <a:p>
            <a:r>
              <a:rPr lang="en-US"/>
              <a:t>create table enrolled (SID </a:t>
            </a:r>
            <a:r>
              <a:rPr lang="en-US" err="1"/>
              <a:t>int,cid</a:t>
            </a:r>
            <a:r>
              <a:rPr lang="en-US"/>
              <a:t> varchar(5),primary key (</a:t>
            </a:r>
            <a:r>
              <a:rPr lang="en-US" err="1"/>
              <a:t>sid,cid</a:t>
            </a:r>
            <a:r>
              <a:rPr lang="en-US"/>
              <a:t>));</a:t>
            </a:r>
          </a:p>
          <a:p>
            <a:r>
              <a:rPr lang="en-US"/>
              <a:t>insert into student values (40,'alex','cs'), (41, 'john', 'cs'),               (42, 'mat', 'cs'), (43, '</a:t>
            </a:r>
            <a:r>
              <a:rPr lang="en-US" err="1"/>
              <a:t>zack</a:t>
            </a:r>
            <a:r>
              <a:rPr lang="en-US"/>
              <a:t>', 'math');                      </a:t>
            </a:r>
          </a:p>
          <a:p>
            <a:r>
              <a:rPr lang="en-US"/>
              <a:t>insert into Enrolled values (40,'cs101'),(40,  'cs102'),(41, 'cs101'),(41,  'cs404'),(41, 'cs405'), (42,'cs101'),(42,'cs102'),(42,'cs203'),(43,'cs101'),(43,'cs102');								</a:t>
            </a:r>
          </a:p>
        </p:txBody>
      </p:sp>
    </p:spTree>
    <p:extLst>
      <p:ext uri="{BB962C8B-B14F-4D97-AF65-F5344CB8AC3E}">
        <p14:creationId xmlns:p14="http://schemas.microsoft.com/office/powerpoint/2010/main" val="70832990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14116-29B4-AED1-8181-7C243D4BA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B39B7B-3077-C065-0C99-19CBE9056D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Calibri"/>
                <a:cs typeface="Calibri"/>
              </a:rPr>
              <a:t>EXPLAIN </a:t>
            </a:r>
          </a:p>
          <a:p>
            <a:r>
              <a:rPr lang="en-US">
                <a:ea typeface="Calibri"/>
                <a:cs typeface="Calibri"/>
              </a:rPr>
              <a:t>EXPLAIN Analyze</a:t>
            </a:r>
          </a:p>
        </p:txBody>
      </p:sp>
    </p:spTree>
    <p:extLst>
      <p:ext uri="{BB962C8B-B14F-4D97-AF65-F5344CB8AC3E}">
        <p14:creationId xmlns:p14="http://schemas.microsoft.com/office/powerpoint/2010/main" val="1466367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1114752CFC3094F980FAD7CDAC4FA66" ma:contentTypeVersion="18" ma:contentTypeDescription="Create a new document." ma:contentTypeScope="" ma:versionID="32dfdce3e40c9d5c8163c3e36a9b21ca">
  <xsd:schema xmlns:xsd="http://www.w3.org/2001/XMLSchema" xmlns:xs="http://www.w3.org/2001/XMLSchema" xmlns:p="http://schemas.microsoft.com/office/2006/metadata/properties" xmlns:ns3="eba54558-70c8-458e-84bd-8e3810559bd2" xmlns:ns4="fd28b98c-9d4a-4855-a326-788d407ff55a" targetNamespace="http://schemas.microsoft.com/office/2006/metadata/properties" ma:root="true" ma:fieldsID="c08f2c9dfa94df1fd38324790de5c238" ns3:_="" ns4:_="">
    <xsd:import namespace="eba54558-70c8-458e-84bd-8e3810559bd2"/>
    <xsd:import namespace="fd28b98c-9d4a-4855-a326-788d407ff55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  <xsd:element ref="ns3:MediaServiceSearchProperties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a54558-70c8-458e-84bd-8e3810559b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description="" ma:indexed="true" ma:internalName="MediaServiceLocation" ma:readOnly="true">
      <xsd:simpleType>
        <xsd:restriction base="dms:Text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23" nillable="true" ma:displayName="_activity" ma:hidden="true" ma:internalName="_activity">
      <xsd:simpleType>
        <xsd:restriction base="dms:Note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5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d28b98c-9d4a-4855-a326-788d407ff55a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ba54558-70c8-458e-84bd-8e3810559bd2" xsi:nil="true"/>
  </documentManagement>
</p:properties>
</file>

<file path=customXml/itemProps1.xml><?xml version="1.0" encoding="utf-8"?>
<ds:datastoreItem xmlns:ds="http://schemas.openxmlformats.org/officeDocument/2006/customXml" ds:itemID="{0DC83CC4-CF42-4C38-8FC9-85B33B87A29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1278FAA-5346-453F-B750-765B35A83C91}">
  <ds:schemaRefs>
    <ds:schemaRef ds:uri="eba54558-70c8-458e-84bd-8e3810559bd2"/>
    <ds:schemaRef ds:uri="fd28b98c-9d4a-4855-a326-788d407ff55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117A262-6E7B-4778-AD81-42515FE480C6}">
  <ds:schemaRefs>
    <ds:schemaRef ds:uri="eba54558-70c8-458e-84bd-8e3810559bd2"/>
    <ds:schemaRef ds:uri="fd28b98c-9d4a-4855-a326-788d407ff55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67</Slides>
  <Notes>22</Notes>
  <HiddenSlides>1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68" baseType="lpstr">
      <vt:lpstr>Office Theme</vt:lpstr>
      <vt:lpstr>The Relational Model</vt:lpstr>
      <vt:lpstr>1. The Relational Model &amp; Relational Algebra</vt:lpstr>
      <vt:lpstr>What you will learn about in this section</vt:lpstr>
      <vt:lpstr>Motivation</vt:lpstr>
      <vt:lpstr>A Little History</vt:lpstr>
      <vt:lpstr>The Relational Model: Schemata</vt:lpstr>
      <vt:lpstr>The Relational Model: Data</vt:lpstr>
      <vt:lpstr>The Relational Model: Data</vt:lpstr>
      <vt:lpstr>The Relational Model: Data</vt:lpstr>
      <vt:lpstr>To Reiterate</vt:lpstr>
      <vt:lpstr>One More Time</vt:lpstr>
      <vt:lpstr>A relational database</vt:lpstr>
      <vt:lpstr>Remember the CMS</vt:lpstr>
      <vt:lpstr>2nd Part of the Model: Querying</vt:lpstr>
      <vt:lpstr>Virtues of the model</vt:lpstr>
      <vt:lpstr>Relational Algebra</vt:lpstr>
      <vt:lpstr>RDBMS Architecture</vt:lpstr>
      <vt:lpstr>RDBMS Architecture</vt:lpstr>
      <vt:lpstr>PowerPoint Presentation</vt:lpstr>
      <vt:lpstr>Keep in mind: RA operates on sets!</vt:lpstr>
      <vt:lpstr>PowerPoint Presentation</vt:lpstr>
      <vt:lpstr>PowerPoint Presentation</vt:lpstr>
      <vt:lpstr>PowerPoint Presentation</vt:lpstr>
      <vt:lpstr>PowerPoint Presentation</vt:lpstr>
      <vt:lpstr>Note that RA Operators are Compositional!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Natural Join</vt:lpstr>
      <vt:lpstr>PowerPoint Presentation</vt:lpstr>
      <vt:lpstr>Natural Join</vt:lpstr>
      <vt:lpstr>Example: Converting SFW Query -&gt; RA</vt:lpstr>
      <vt:lpstr>Logical Equivalence of RA Plans</vt:lpstr>
      <vt:lpstr>RelaX</vt:lpstr>
      <vt:lpstr>RDBMS Architecture</vt:lpstr>
      <vt:lpstr>RDBMS Architecture</vt:lpstr>
      <vt:lpstr>RDBMS Architecture</vt:lpstr>
      <vt:lpstr>RA Plan Execution</vt:lpstr>
      <vt:lpstr>2. Adv. Relational Algebra</vt:lpstr>
      <vt:lpstr>What you will learn about in this section</vt:lpstr>
      <vt:lpstr>PowerPoint Presentation</vt:lpstr>
      <vt:lpstr>1. Union () and 2. Difference (–)</vt:lpstr>
      <vt:lpstr>What about Intersection () ?</vt:lpstr>
      <vt:lpstr>Fancier RA</vt:lpstr>
      <vt:lpstr>Theta Join (⋈q)</vt:lpstr>
      <vt:lpstr>Equi-join (⋈ A=B)</vt:lpstr>
      <vt:lpstr>Semijoin (⋉)</vt:lpstr>
      <vt:lpstr>Semijoins in Distributed Databases</vt:lpstr>
      <vt:lpstr>Anti Join (▷)</vt:lpstr>
      <vt:lpstr>Example </vt:lpstr>
      <vt:lpstr>RA Expressions Can Get Complex!</vt:lpstr>
      <vt:lpstr>Multisets</vt:lpstr>
      <vt:lpstr>Recall that SQL uses Multisets</vt:lpstr>
      <vt:lpstr>Generalizing Set Operations to Multiset Operations</vt:lpstr>
      <vt:lpstr>Generalizing Set Operations to Multiset Operations</vt:lpstr>
      <vt:lpstr>Operations on Multisets</vt:lpstr>
      <vt:lpstr>RA has Limitations !</vt:lpstr>
      <vt:lpstr>DIVISION  ÷ </vt:lpstr>
      <vt:lpstr>R ÷ S</vt:lpstr>
      <vt:lpstr>Example</vt:lpstr>
      <vt:lpstr>Example</vt:lpstr>
      <vt:lpstr>Example</vt:lpstr>
      <vt:lpstr>SQL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Relational Model</dc:title>
  <dc:creator>Alex Ratner</dc:creator>
  <cp:revision>2</cp:revision>
  <dcterms:created xsi:type="dcterms:W3CDTF">2015-11-11T19:16:09Z</dcterms:created>
  <dcterms:modified xsi:type="dcterms:W3CDTF">2026-10-13T04:28:09Z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0x01010011114752CFC3094F980FAD7CDAC4FA66</vt:lpwstr>
  </property>
</Properties>
</file>