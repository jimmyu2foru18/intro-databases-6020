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97"/>
  </p:notesMasterIdLst>
  <p:sldIdLst>
    <p:sldId id="367" r:id="rId5"/>
    <p:sldId id="461" r:id="rId6"/>
    <p:sldId id="368" r:id="rId7"/>
    <p:sldId id="369" r:id="rId8"/>
    <p:sldId id="370" r:id="rId9"/>
    <p:sldId id="371" r:id="rId10"/>
    <p:sldId id="467" r:id="rId11"/>
    <p:sldId id="468" r:id="rId12"/>
    <p:sldId id="470" r:id="rId13"/>
    <p:sldId id="469" r:id="rId14"/>
    <p:sldId id="373" r:id="rId15"/>
    <p:sldId id="520" r:id="rId16"/>
    <p:sldId id="374" r:id="rId17"/>
    <p:sldId id="471" r:id="rId18"/>
    <p:sldId id="473" r:id="rId19"/>
    <p:sldId id="474" r:id="rId20"/>
    <p:sldId id="476" r:id="rId21"/>
    <p:sldId id="375" r:id="rId22"/>
    <p:sldId id="380" r:id="rId23"/>
    <p:sldId id="477" r:id="rId24"/>
    <p:sldId id="383" r:id="rId25"/>
    <p:sldId id="384" r:id="rId26"/>
    <p:sldId id="385" r:id="rId27"/>
    <p:sldId id="541" r:id="rId28"/>
    <p:sldId id="516" r:id="rId29"/>
    <p:sldId id="387" r:id="rId30"/>
    <p:sldId id="478" r:id="rId31"/>
    <p:sldId id="390" r:id="rId32"/>
    <p:sldId id="479" r:id="rId33"/>
    <p:sldId id="480" r:id="rId34"/>
    <p:sldId id="391" r:id="rId35"/>
    <p:sldId id="482" r:id="rId36"/>
    <p:sldId id="394" r:id="rId37"/>
    <p:sldId id="395" r:id="rId38"/>
    <p:sldId id="396" r:id="rId39"/>
    <p:sldId id="547" r:id="rId40"/>
    <p:sldId id="398" r:id="rId41"/>
    <p:sldId id="553" r:id="rId42"/>
    <p:sldId id="400" r:id="rId43"/>
    <p:sldId id="401" r:id="rId44"/>
    <p:sldId id="554" r:id="rId45"/>
    <p:sldId id="483" r:id="rId46"/>
    <p:sldId id="484" r:id="rId47"/>
    <p:sldId id="485" r:id="rId48"/>
    <p:sldId id="522" r:id="rId49"/>
    <p:sldId id="407" r:id="rId50"/>
    <p:sldId id="408" r:id="rId51"/>
    <p:sldId id="486" r:id="rId52"/>
    <p:sldId id="487" r:id="rId53"/>
    <p:sldId id="488" r:id="rId54"/>
    <p:sldId id="489" r:id="rId55"/>
    <p:sldId id="523" r:id="rId56"/>
    <p:sldId id="518" r:id="rId57"/>
    <p:sldId id="410" r:id="rId58"/>
    <p:sldId id="490" r:id="rId59"/>
    <p:sldId id="491" r:id="rId60"/>
    <p:sldId id="492" r:id="rId61"/>
    <p:sldId id="493" r:id="rId62"/>
    <p:sldId id="414" r:id="rId63"/>
    <p:sldId id="415" r:id="rId64"/>
    <p:sldId id="416" r:id="rId65"/>
    <p:sldId id="417" r:id="rId66"/>
    <p:sldId id="494" r:id="rId67"/>
    <p:sldId id="548" r:id="rId68"/>
    <p:sldId id="463" r:id="rId69"/>
    <p:sldId id="542" r:id="rId70"/>
    <p:sldId id="544" r:id="rId71"/>
    <p:sldId id="258" r:id="rId72"/>
    <p:sldId id="543" r:id="rId73"/>
    <p:sldId id="545" r:id="rId74"/>
    <p:sldId id="335" r:id="rId75"/>
    <p:sldId id="552" r:id="rId76"/>
    <p:sldId id="546" r:id="rId77"/>
    <p:sldId id="337" r:id="rId78"/>
    <p:sldId id="423" r:id="rId79"/>
    <p:sldId id="496" r:id="rId80"/>
    <p:sldId id="425" r:id="rId81"/>
    <p:sldId id="429" r:id="rId82"/>
    <p:sldId id="430" r:id="rId83"/>
    <p:sldId id="497" r:id="rId84"/>
    <p:sldId id="499" r:id="rId85"/>
    <p:sldId id="500" r:id="rId86"/>
    <p:sldId id="498" r:id="rId87"/>
    <p:sldId id="501" r:id="rId88"/>
    <p:sldId id="502" r:id="rId89"/>
    <p:sldId id="503" r:id="rId90"/>
    <p:sldId id="432" r:id="rId91"/>
    <p:sldId id="433" r:id="rId92"/>
    <p:sldId id="549" r:id="rId93"/>
    <p:sldId id="550" r:id="rId94"/>
    <p:sldId id="458" r:id="rId95"/>
    <p:sldId id="551" r:id="rId9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4CADFF-FA10-0FC7-CEF8-E6A226CCC80B}" v="32" dt="2026-09-24T04:54:58.492"/>
    <p1510:client id="{6CA52446-2CD8-F9EB-D34F-031DD4658FB4}" v="71" dt="2026-09-22T21:45:41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microsoft.com/office/2015/10/relationships/revisionInfo" Target="revisionInfo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presProps" Target="presProps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B99DE-D43D-8F40-BB2B-C87FB37B3B6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FB9FA-6C0A-B04C-8A7E-9DB303EF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90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Some examples:</a:t>
            </a:r>
            <a:endParaRPr lang="en-US"/>
          </a:p>
          <a:p>
            <a:r>
              <a:rPr lang="en-US"/>
              <a:t>A</a:t>
            </a:r>
            <a:r>
              <a:rPr lang="en-US" baseline="0"/>
              <a:t> -&gt; D, B</a:t>
            </a:r>
            <a:r>
              <a:rPr lang="en-US" baseline="0">
                <a:sym typeface="Wingdings"/>
              </a:rPr>
              <a:t> C, C-&gt;D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C-&gt;E , B-&gt; D</a:t>
            </a:r>
            <a:endParaRPr lang="en-US" baseline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A-&gt;E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FB9FA-6C0A-B04C-8A7E-9DB303EFE20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83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C4EF24-3929-824E-9849-DDE04188B633}" type="slidenum">
              <a:rPr lang="en-US">
                <a:solidFill>
                  <a:prstClr val="black"/>
                </a:solidFill>
                <a:latin typeface="Calibri"/>
              </a:rPr>
              <a:pPr/>
              <a:t>46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1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04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09CC32-ECFA-DE4E-8C1E-3CFC32AC2635}" type="slidenum">
              <a:rPr lang="en-US">
                <a:solidFill>
                  <a:prstClr val="black"/>
                </a:solidFill>
                <a:latin typeface="Calibri"/>
              </a:rPr>
              <a:pPr/>
              <a:t>47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2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06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09CC32-ECFA-DE4E-8C1E-3CFC32AC2635}" type="slidenum">
              <a:rPr lang="en-US">
                <a:solidFill>
                  <a:prstClr val="black"/>
                </a:solidFill>
                <a:latin typeface="Calibri"/>
              </a:rPr>
              <a:pPr/>
              <a:t>48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2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16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09CC32-ECFA-DE4E-8C1E-3CFC32AC2635}" type="slidenum">
              <a:rPr lang="en-US">
                <a:solidFill>
                  <a:prstClr val="black"/>
                </a:solidFill>
                <a:latin typeface="Calibri"/>
              </a:rPr>
              <a:pPr/>
              <a:t>49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2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75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09CC32-ECFA-DE4E-8C1E-3CFC32AC2635}" type="slidenum">
              <a:rPr lang="en-US">
                <a:solidFill>
                  <a:prstClr val="black"/>
                </a:solidFill>
                <a:latin typeface="Calibri"/>
              </a:rPr>
              <a:pPr/>
              <a:t>50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2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71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09CC32-ECFA-DE4E-8C1E-3CFC32AC2635}" type="slidenum">
              <a:rPr lang="en-US">
                <a:solidFill>
                  <a:prstClr val="black"/>
                </a:solidFill>
                <a:latin typeface="Calibri"/>
              </a:rPr>
              <a:pPr/>
              <a:t>51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2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87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F516A3-725B-7B45-A471-88ECDEC9BBD8}" type="slidenum">
              <a:rPr lang="en-US">
                <a:solidFill>
                  <a:prstClr val="black"/>
                </a:solidFill>
                <a:latin typeface="Calibri"/>
              </a:rPr>
              <a:pPr/>
              <a:t>54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32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0D38B7-8773-BF43-AD69-D9D1143F450D}" type="slidenum">
              <a:rPr lang="en-US">
                <a:solidFill>
                  <a:prstClr val="black"/>
                </a:solidFill>
                <a:latin typeface="Calibri"/>
              </a:rPr>
              <a:pPr/>
              <a:t>55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61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0D38B7-8773-BF43-AD69-D9D1143F450D}" type="slidenum">
              <a:rPr lang="en-US">
                <a:solidFill>
                  <a:prstClr val="black"/>
                </a:solidFill>
                <a:latin typeface="Calibri"/>
              </a:rPr>
              <a:pPr/>
              <a:t>56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136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0D38B7-8773-BF43-AD69-D9D1143F450D}" type="slidenum">
              <a:rPr lang="en-US">
                <a:solidFill>
                  <a:prstClr val="black"/>
                </a:solidFill>
                <a:latin typeface="Calibri"/>
              </a:rPr>
              <a:pPr/>
              <a:t>57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3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0D38B7-8773-BF43-AD69-D9D1143F450D}" type="slidenum">
              <a:rPr lang="en-US">
                <a:solidFill>
                  <a:prstClr val="black"/>
                </a:solidFill>
                <a:latin typeface="Calibri"/>
              </a:rPr>
              <a:pPr/>
              <a:t>58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05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Use the same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8FB9FA-6C0A-B04C-8A7E-9DB303EFE20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12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7F2386-BC4D-D046-8DF5-D59CC1ADB016}" type="slidenum">
              <a:rPr lang="en-US">
                <a:solidFill>
                  <a:prstClr val="black"/>
                </a:solidFill>
                <a:latin typeface="Calibri"/>
              </a:rPr>
              <a:pPr/>
              <a:t>77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418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C5E5CB-5F45-D94E-AFB2-F9C286A59B43}" type="slidenum">
              <a:rPr lang="en-US">
                <a:solidFill>
                  <a:prstClr val="black"/>
                </a:solidFill>
                <a:latin typeface="Calibri"/>
              </a:rPr>
              <a:pPr/>
              <a:t>78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38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66C9E6-BEBB-FF45-8CC3-D18AED2B0331}" type="slidenum">
              <a:rPr lang="en-US">
                <a:solidFill>
                  <a:prstClr val="black"/>
                </a:solidFill>
                <a:latin typeface="Calibri"/>
              </a:rPr>
              <a:pPr/>
              <a:t>79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5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275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9168F0-1357-084C-8AE3-7898B24C39CD}" type="slidenum">
              <a:rPr lang="en-US">
                <a:solidFill>
                  <a:prstClr val="black"/>
                </a:solidFill>
                <a:latin typeface="Calibri"/>
              </a:rPr>
              <a:pPr/>
              <a:t>80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599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9168F0-1357-084C-8AE3-7898B24C39CD}" type="slidenum">
              <a:rPr lang="en-US">
                <a:solidFill>
                  <a:prstClr val="black"/>
                </a:solidFill>
                <a:latin typeface="Calibri"/>
              </a:rPr>
              <a:pPr/>
              <a:t>81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542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9168F0-1357-084C-8AE3-7898B24C39CD}" type="slidenum">
              <a:rPr lang="en-US">
                <a:solidFill>
                  <a:prstClr val="black"/>
                </a:solidFill>
                <a:latin typeface="Calibri"/>
              </a:rPr>
              <a:pPr/>
              <a:t>82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826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9168F0-1357-084C-8AE3-7898B24C39CD}" type="slidenum">
              <a:rPr lang="en-US">
                <a:solidFill>
                  <a:prstClr val="black"/>
                </a:solidFill>
                <a:latin typeface="Calibri"/>
              </a:rPr>
              <a:pPr/>
              <a:t>83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370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9168F0-1357-084C-8AE3-7898B24C39CD}" type="slidenum">
              <a:rPr lang="en-US">
                <a:solidFill>
                  <a:prstClr val="black"/>
                </a:solidFill>
                <a:latin typeface="Calibri"/>
              </a:rPr>
              <a:pPr/>
              <a:t>84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393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9168F0-1357-084C-8AE3-7898B24C39CD}" type="slidenum">
              <a:rPr lang="en-US">
                <a:solidFill>
                  <a:prstClr val="black"/>
                </a:solidFill>
                <a:latin typeface="Calibri"/>
              </a:rPr>
              <a:pPr/>
              <a:t>85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256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9168F0-1357-084C-8AE3-7898B24C39CD}" type="slidenum">
              <a:rPr lang="en-US">
                <a:solidFill>
                  <a:prstClr val="black"/>
                </a:solidFill>
                <a:latin typeface="Calibri"/>
              </a:rPr>
              <a:pPr/>
              <a:t>86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356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9DAFF6-4638-284E-B728-F3EF0CE8A1E0}" type="slidenum">
              <a:rPr lang="en-US">
                <a:solidFill>
                  <a:prstClr val="black"/>
                </a:solidFill>
                <a:latin typeface="Calibri"/>
              </a:rPr>
              <a:pPr/>
              <a:t>88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67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D3C6-C129-4CDD-907D-556411E354A5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45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8BFB4-E92C-4420-A1CA-27795B055CA2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5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26229-89F7-4D1F-8F8D-B9649A000B03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01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3E4B8-2FA7-4D21-9F0C-52EA0E4A7952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85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B718-6294-4691-B62F-ABA31E62ABEB}" type="datetime1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1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84283-03C6-4D88-B057-657F67FE3820}" type="datetime1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11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A3D-905E-49F7-A098-56D189696F16}" type="datetime1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89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EE19-9A75-4D76-A80F-AE19870FABF5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3FA65-D424-471F-A323-3A41176F50C5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7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DBFB-71E4-4E6E-ACA3-CEA45067A49B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634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C86CA-53BE-4FF1-919B-AB293AEF4448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4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15D15-3AE8-4BE1-A8E0-1153E0B80D5A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D90B07-AD28-5747-9B73-288F5357B022}"/>
              </a:ext>
            </a:extLst>
          </p:cNvPr>
          <p:cNvSpPr/>
          <p:nvPr userDrawn="1"/>
        </p:nvSpPr>
        <p:spPr>
          <a:xfrm>
            <a:off x="0" y="-49167"/>
            <a:ext cx="12192000" cy="26275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 Spring 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FE4DAA-039B-ED4A-AA72-44818C475C0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1900"/>
            <a:ext cx="866825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106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73263"/>
            <a:ext cx="9144000" cy="2387600"/>
          </a:xfrm>
        </p:spPr>
        <p:txBody>
          <a:bodyPr/>
          <a:lstStyle/>
          <a:p>
            <a:r>
              <a:rPr lang="en-US"/>
              <a:t>Design Theory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88780" y="-22510"/>
              <a:ext cx="12050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1B339-9E92-4CA7-9060-39DE13AD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9967" y="6173787"/>
            <a:ext cx="2743200" cy="365125"/>
          </a:xfrm>
        </p:spPr>
        <p:txBody>
          <a:bodyPr/>
          <a:lstStyle/>
          <a:p>
            <a:fld id="{641C0F02-33DC-3A41-9F51-431B7FE03A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15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Normal forms &amp; functional dependencies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1585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Design theory is about how to represent your data to avoid </a:t>
            </a:r>
            <a:r>
              <a:rPr lang="en-US" b="1" i="1"/>
              <a:t>anomalies</a:t>
            </a:r>
            <a:r>
              <a:rPr lang="en-US"/>
              <a:t>. </a:t>
            </a:r>
          </a:p>
          <a:p>
            <a:endParaRPr lang="en-US"/>
          </a:p>
          <a:p>
            <a:r>
              <a:rPr lang="en-US"/>
              <a:t>It is a mostly mechanical process</a:t>
            </a:r>
          </a:p>
          <a:p>
            <a:pPr lvl="1"/>
            <a:r>
              <a:rPr lang="en-US"/>
              <a:t>Tools can carry out routine portions</a:t>
            </a:r>
          </a:p>
          <a:p>
            <a:pPr marL="457200" lvl="1" indent="0">
              <a:buNone/>
            </a:pPr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88780" y="-22510"/>
              <a:ext cx="30301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Overview</a:t>
              </a: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7A5C1-CBD4-4FEE-AA93-305D8D22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3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Normal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4480"/>
            <a:ext cx="10515600" cy="4622483"/>
          </a:xfrm>
        </p:spPr>
        <p:txBody>
          <a:bodyPr>
            <a:normAutofit fontScale="92500" lnSpcReduction="10000"/>
          </a:bodyPr>
          <a:lstStyle/>
          <a:p>
            <a:r>
              <a:rPr lang="en-US" u="sng"/>
              <a:t>1</a:t>
            </a:r>
            <a:r>
              <a:rPr lang="en-US" u="sng" baseline="30000"/>
              <a:t>st</a:t>
            </a:r>
            <a:r>
              <a:rPr lang="en-US" u="sng"/>
              <a:t> Normal Form (1NF)</a:t>
            </a:r>
            <a:r>
              <a:rPr lang="en-US"/>
              <a:t> = All tables are flat</a:t>
            </a:r>
          </a:p>
          <a:p>
            <a:endParaRPr lang="en-US" i="1" u="sng"/>
          </a:p>
          <a:p>
            <a:r>
              <a:rPr lang="en-US" i="1" u="sng"/>
              <a:t>2</a:t>
            </a:r>
            <a:r>
              <a:rPr lang="en-US" i="1" u="sng" baseline="30000"/>
              <a:t>nd</a:t>
            </a:r>
            <a:r>
              <a:rPr lang="en-US" i="1" u="sng"/>
              <a:t> Normal Form</a:t>
            </a:r>
            <a:endParaRPr lang="en-US" i="1"/>
          </a:p>
          <a:p>
            <a:endParaRPr lang="en-US" b="1" u="sng"/>
          </a:p>
          <a:p>
            <a:r>
              <a:rPr lang="en-US" b="1" u="sng"/>
              <a:t>3</a:t>
            </a:r>
            <a:r>
              <a:rPr lang="en-US" b="1" u="sng" baseline="30000"/>
              <a:t>rd</a:t>
            </a:r>
            <a:r>
              <a:rPr lang="en-US" b="1" u="sng"/>
              <a:t> Normal Form (3NF)</a:t>
            </a:r>
          </a:p>
          <a:p>
            <a:pPr marL="0" indent="0">
              <a:buNone/>
            </a:pPr>
            <a:endParaRPr lang="en-US" b="1" u="sng"/>
          </a:p>
          <a:p>
            <a:r>
              <a:rPr lang="en-US" b="1" u="sng"/>
              <a:t>Boyce-Codd Normal Form (BCNF)</a:t>
            </a:r>
          </a:p>
          <a:p>
            <a:endParaRPr lang="en-US" b="1" u="sng"/>
          </a:p>
          <a:p>
            <a:endParaRPr lang="en-US" i="1"/>
          </a:p>
          <a:p>
            <a:r>
              <a:rPr lang="en-US" i="1" u="sng"/>
              <a:t>4</a:t>
            </a:r>
            <a:r>
              <a:rPr lang="en-US" i="1" u="sng" baseline="30000"/>
              <a:t>th </a:t>
            </a:r>
            <a:r>
              <a:rPr lang="en-US" i="1" u="sng"/>
              <a:t>and 5</a:t>
            </a:r>
            <a:r>
              <a:rPr lang="en-US" i="1" u="sng" baseline="30000"/>
              <a:t>th</a:t>
            </a:r>
            <a:r>
              <a:rPr lang="en-US" i="1" u="sng"/>
              <a:t> Normal Forms</a:t>
            </a:r>
            <a:r>
              <a:rPr lang="en-US" i="1"/>
              <a:t> = see text books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94042" y="2223911"/>
            <a:ext cx="9290304" cy="2893734"/>
            <a:chOff x="1292353" y="627628"/>
            <a:chExt cx="9290304" cy="2893734"/>
          </a:xfrm>
        </p:grpSpPr>
        <p:sp>
          <p:nvSpPr>
            <p:cNvPr id="10" name="Rounded Rectangle 9"/>
            <p:cNvSpPr/>
            <p:nvPr/>
          </p:nvSpPr>
          <p:spPr>
            <a:xfrm>
              <a:off x="1292353" y="627628"/>
              <a:ext cx="9290304" cy="2893734"/>
            </a:xfrm>
            <a:prstGeom prst="round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Brace 6"/>
            <p:cNvSpPr/>
            <p:nvPr/>
          </p:nvSpPr>
          <p:spPr>
            <a:xfrm>
              <a:off x="6441948" y="1028045"/>
              <a:ext cx="374904" cy="231923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076780" y="1517874"/>
              <a:ext cx="2862071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/>
                <a:t>DB designs based on </a:t>
              </a:r>
              <a:r>
                <a:rPr lang="en-US" sz="2400" i="1"/>
                <a:t>functional dependencies</a:t>
              </a:r>
              <a:r>
                <a:rPr lang="en-US" sz="2400"/>
                <a:t>, intended to prevent data </a:t>
              </a:r>
              <a:r>
                <a:rPr lang="en-US" sz="2400" b="1" i="1"/>
                <a:t>anomalies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0128504" y="3743235"/>
            <a:ext cx="1700783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i="1"/>
              <a:t>Our focus in this lecture + next one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8780" y="-22510"/>
              <a:ext cx="30301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Overview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4928D-9E94-461E-9AB3-06FBE7A21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9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Normal Form (1NF)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360336"/>
              </p:ext>
            </p:extLst>
          </p:nvPr>
        </p:nvGraphicFramePr>
        <p:xfrm>
          <a:off x="1192992" y="1949768"/>
          <a:ext cx="4226820" cy="207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2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Courses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Mary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{CS145,CS229}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Joe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{CS145,CS106}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30300" y="4474090"/>
            <a:ext cx="3152205" cy="6155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400" b="1" i="1">
                <a:latin typeface="+mj-lt"/>
              </a:rPr>
              <a:t>Violates 1NF.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7250" y="5875424"/>
            <a:ext cx="8212667" cy="6155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400" b="1">
                <a:latin typeface="+mj-lt"/>
              </a:rPr>
              <a:t>1NF Constraint: </a:t>
            </a:r>
            <a:r>
              <a:rPr lang="en-US" sz="3400">
                <a:latin typeface="+mj-lt"/>
              </a:rPr>
              <a:t>Types must be atomic!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169415"/>
              </p:ext>
            </p:extLst>
          </p:nvPr>
        </p:nvGraphicFramePr>
        <p:xfrm>
          <a:off x="6927689" y="1690688"/>
          <a:ext cx="3833446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9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Courses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Mary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Mary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CS229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Joe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Joe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CS106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38570" y="4474090"/>
            <a:ext cx="1811683" cy="6155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400"/>
              <a:t>In 1</a:t>
            </a:r>
            <a:r>
              <a:rPr lang="en-US" sz="3400" baseline="30000"/>
              <a:t>st</a:t>
            </a:r>
            <a:r>
              <a:rPr lang="en-US" sz="3400"/>
              <a:t> NF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8780" y="-22510"/>
              <a:ext cx="30301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Overview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96D522-ECE3-4ACD-BA0A-0162186BF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0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218433"/>
            <a:ext cx="8229600" cy="1143000"/>
          </a:xfrm>
        </p:spPr>
        <p:txBody>
          <a:bodyPr/>
          <a:lstStyle/>
          <a:p>
            <a:r>
              <a:rPr lang="en-US"/>
              <a:t>Data Anomalies &amp; Constraints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Data anomalies &amp; constraints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3FB46-B8D9-4BF5-A753-DBAB1E36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20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Constraints Prevent (some) </a:t>
            </a:r>
            <a:br>
              <a:rPr lang="en-US"/>
            </a:br>
            <a:r>
              <a:rPr lang="en-US"/>
              <a:t>Anomalies in the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841371"/>
              </p:ext>
            </p:extLst>
          </p:nvPr>
        </p:nvGraphicFramePr>
        <p:xfrm>
          <a:off x="3943513" y="2907831"/>
          <a:ext cx="4304974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Mary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CS4450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Joe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CS4450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Sam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CS4450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982389" y="3720327"/>
            <a:ext cx="2575627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If every course is in only one room, contains </a:t>
            </a:r>
            <a:r>
              <a:rPr lang="en-US" sz="2400" b="1" i="1" u="sng">
                <a:latin typeface="+mj-lt"/>
              </a:rPr>
              <a:t>redundant</a:t>
            </a:r>
            <a:r>
              <a:rPr lang="en-US" sz="2400">
                <a:latin typeface="+mj-lt"/>
              </a:rPr>
              <a:t> information!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62736" y="2053038"/>
            <a:ext cx="6466527" cy="492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600">
                <a:latin typeface="+mj-lt"/>
              </a:rPr>
              <a:t>A poorly designed database causes </a:t>
            </a:r>
            <a:r>
              <a:rPr lang="en-US" sz="2600" b="1" i="1">
                <a:latin typeface="+mj-lt"/>
              </a:rPr>
              <a:t>anomalies</a:t>
            </a:r>
            <a:r>
              <a:rPr lang="en-US" sz="2600">
                <a:latin typeface="+mj-lt"/>
              </a:rPr>
              <a:t>: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94576" y="2734056"/>
            <a:ext cx="1444752" cy="247802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Data anomalies &amp; constraints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80006-CAC2-4C24-A618-22CCC312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92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Constraints Prevent (some) </a:t>
            </a:r>
            <a:br>
              <a:rPr lang="en-US"/>
            </a:br>
            <a:r>
              <a:rPr lang="en-US"/>
              <a:t>Anomalies in the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020717"/>
              </p:ext>
            </p:extLst>
          </p:nvPr>
        </p:nvGraphicFramePr>
        <p:xfrm>
          <a:off x="3943513" y="2907831"/>
          <a:ext cx="4304974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Mary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Joe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C12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Sam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80577" y="3233735"/>
            <a:ext cx="2575560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If we update the room number for one tuple, we get inconsistent data = an </a:t>
            </a:r>
            <a:r>
              <a:rPr lang="en-US" sz="2400" b="1" i="1" u="sng">
                <a:latin typeface="+mj-lt"/>
              </a:rPr>
              <a:t>update</a:t>
            </a:r>
            <a:r>
              <a:rPr lang="en-US" sz="2400" b="1" u="sng">
                <a:latin typeface="+mj-lt"/>
              </a:rPr>
              <a:t> anomaly</a:t>
            </a:r>
            <a:endParaRPr lang="en-US" sz="240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62736" y="2053038"/>
            <a:ext cx="6466527" cy="492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600">
                <a:latin typeface="+mj-lt"/>
              </a:rPr>
              <a:t>A poorly designed database causes </a:t>
            </a:r>
            <a:r>
              <a:rPr lang="en-US" sz="2600" b="1" i="1">
                <a:latin typeface="+mj-lt"/>
              </a:rPr>
              <a:t>anomalies</a:t>
            </a:r>
            <a:r>
              <a:rPr lang="en-US" sz="2600">
                <a:latin typeface="+mj-lt"/>
              </a:rPr>
              <a:t>: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67144" y="3924339"/>
            <a:ext cx="822960" cy="55778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Data anomalies &amp; constraints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80C93-64DA-4DAC-B3D6-07DD9BE91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0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Constraints Prevent (some) </a:t>
            </a:r>
            <a:br>
              <a:rPr lang="en-US"/>
            </a:br>
            <a:r>
              <a:rPr lang="en-US"/>
              <a:t>Anomalies in the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63598"/>
              </p:ext>
            </p:extLst>
          </p:nvPr>
        </p:nvGraphicFramePr>
        <p:xfrm>
          <a:off x="3943513" y="2907831"/>
          <a:ext cx="4304974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323842" y="4541327"/>
            <a:ext cx="5544313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+mj-lt"/>
              </a:rPr>
              <a:t>If everyone drops the class, we lose what room the class is in! = a </a:t>
            </a:r>
            <a:r>
              <a:rPr lang="en-US" sz="2400" b="1" i="1" u="sng">
                <a:latin typeface="+mj-lt"/>
              </a:rPr>
              <a:t>delete</a:t>
            </a:r>
            <a:r>
              <a:rPr lang="en-US" sz="2400" b="1" u="sng">
                <a:latin typeface="+mj-lt"/>
              </a:rPr>
              <a:t> anomaly</a:t>
            </a:r>
            <a:endParaRPr lang="en-US" sz="240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62736" y="2053038"/>
            <a:ext cx="6466527" cy="492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600">
                <a:latin typeface="+mj-lt"/>
              </a:rPr>
              <a:t>A poorly designed database causes </a:t>
            </a:r>
            <a:r>
              <a:rPr lang="en-US" sz="2600" b="1" i="1">
                <a:latin typeface="+mj-lt"/>
              </a:rPr>
              <a:t>anomalies</a:t>
            </a:r>
            <a:r>
              <a:rPr lang="en-US" sz="2600">
                <a:latin typeface="+mj-lt"/>
              </a:rPr>
              <a:t>: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88983" y="3386367"/>
            <a:ext cx="822960" cy="55778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Data anomalies &amp; constraints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DEF5D0-044F-4157-B9E4-2D82D58E6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4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Constraints Prevent (some) </a:t>
            </a:r>
            <a:br>
              <a:rPr lang="en-US"/>
            </a:br>
            <a:r>
              <a:rPr lang="en-US"/>
              <a:t>Anomalies in the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839490"/>
              </p:ext>
            </p:extLst>
          </p:nvPr>
        </p:nvGraphicFramePr>
        <p:xfrm>
          <a:off x="3943513" y="2907831"/>
          <a:ext cx="4304974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Mary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Joe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Sam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982389" y="3411507"/>
            <a:ext cx="2371411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Similarly, we can’t reserve a room without students = an </a:t>
            </a:r>
            <a:r>
              <a:rPr lang="en-US" sz="2400" b="1" i="1" u="sng">
                <a:latin typeface="+mj-lt"/>
              </a:rPr>
              <a:t>insert </a:t>
            </a:r>
            <a:r>
              <a:rPr lang="en-US" sz="2400" b="1" u="sng">
                <a:latin typeface="+mj-lt"/>
              </a:rPr>
              <a:t>anomaly</a:t>
            </a:r>
            <a:endParaRPr lang="en-US" sz="240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62736" y="2053038"/>
            <a:ext cx="6466527" cy="492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600">
                <a:latin typeface="+mj-lt"/>
              </a:rPr>
              <a:t>A poorly designed database causes </a:t>
            </a:r>
            <a:r>
              <a:rPr lang="en-US" sz="2600" b="1" i="1">
                <a:latin typeface="+mj-lt"/>
              </a:rPr>
              <a:t>anomalies</a:t>
            </a:r>
            <a:r>
              <a:rPr lang="en-US" sz="2600">
                <a:latin typeface="+mj-lt"/>
              </a:rPr>
              <a:t>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738775"/>
              </p:ext>
            </p:extLst>
          </p:nvPr>
        </p:nvGraphicFramePr>
        <p:xfrm>
          <a:off x="374305" y="4980471"/>
          <a:ext cx="2835306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2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5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CS229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C12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ight Arrow 4"/>
          <p:cNvSpPr/>
          <p:nvPr/>
        </p:nvSpPr>
        <p:spPr>
          <a:xfrm>
            <a:off x="3346704" y="5102352"/>
            <a:ext cx="475488" cy="27432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283464" y="4950518"/>
            <a:ext cx="824151" cy="523123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Data anomalies &amp; constraints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8AC2EA-12F4-4BDA-A514-F1DE7FFA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1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Constraints Prevent (some) </a:t>
            </a:r>
            <a:br>
              <a:rPr lang="en-US"/>
            </a:br>
            <a:r>
              <a:rPr lang="en-US"/>
              <a:t>Anomalies in the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117278"/>
              </p:ext>
            </p:extLst>
          </p:nvPr>
        </p:nvGraphicFramePr>
        <p:xfrm>
          <a:off x="1562765" y="2340121"/>
          <a:ext cx="2976358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Mary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Joe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Sam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320942"/>
              </p:ext>
            </p:extLst>
          </p:nvPr>
        </p:nvGraphicFramePr>
        <p:xfrm>
          <a:off x="5023705" y="2762415"/>
          <a:ext cx="2650717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CS229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C12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973385" y="5388622"/>
            <a:ext cx="8245230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latin typeface="+mj-lt"/>
              </a:rPr>
              <a:t>Today: develop theory to understand why this design may be  better </a:t>
            </a:r>
            <a:r>
              <a:rPr lang="en-US" sz="2800" b="1">
                <a:latin typeface="+mj-lt"/>
              </a:rPr>
              <a:t>and</a:t>
            </a:r>
            <a:r>
              <a:rPr lang="en-US" sz="2800">
                <a:latin typeface="+mj-lt"/>
              </a:rPr>
              <a:t> how to find this </a:t>
            </a:r>
            <a:r>
              <a:rPr lang="en-US" sz="2800" i="1">
                <a:latin typeface="+mj-lt"/>
              </a:rPr>
              <a:t>decomposition</a:t>
            </a:r>
            <a:r>
              <a:rPr lang="en-US" sz="2800">
                <a:latin typeface="+mj-lt"/>
              </a:rPr>
              <a:t>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07917" y="2198688"/>
            <a:ext cx="3258437" cy="2492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600">
                <a:latin typeface="+mj-lt"/>
              </a:rPr>
              <a:t>Is this form better?</a:t>
            </a:r>
          </a:p>
          <a:p>
            <a:endParaRPr lang="en-US" sz="2600">
              <a:latin typeface="+mj-lt"/>
            </a:endParaRPr>
          </a:p>
          <a:p>
            <a:pPr marL="285750" indent="-285750">
              <a:buFont typeface="Arial"/>
              <a:buChar char="•"/>
            </a:pPr>
            <a:r>
              <a:rPr lang="en-US" sz="2600">
                <a:latin typeface="+mj-lt"/>
              </a:rPr>
              <a:t>Redundancy? </a:t>
            </a:r>
          </a:p>
          <a:p>
            <a:pPr marL="285750" indent="-285750">
              <a:buFont typeface="Arial"/>
              <a:buChar char="•"/>
            </a:pPr>
            <a:r>
              <a:rPr lang="en-US" sz="2600">
                <a:latin typeface="+mj-lt"/>
              </a:rPr>
              <a:t>Update anomaly? </a:t>
            </a:r>
          </a:p>
          <a:p>
            <a:pPr marL="285750" indent="-285750">
              <a:buFont typeface="Arial"/>
              <a:buChar char="•"/>
            </a:pPr>
            <a:r>
              <a:rPr lang="en-US" sz="2600">
                <a:latin typeface="+mj-lt"/>
              </a:rPr>
              <a:t>Delete anomaly?</a:t>
            </a:r>
          </a:p>
          <a:p>
            <a:pPr marL="285750" indent="-285750">
              <a:buFont typeface="Arial"/>
              <a:buChar char="•"/>
            </a:pPr>
            <a:r>
              <a:rPr lang="en-US" sz="2600">
                <a:latin typeface="+mj-lt"/>
              </a:rPr>
              <a:t>Insert anomaly?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Data anomalies &amp; constraints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6E7F5-F082-4A7B-8FCA-413635266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3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218433"/>
            <a:ext cx="8229600" cy="1143000"/>
          </a:xfrm>
        </p:spPr>
        <p:txBody>
          <a:bodyPr/>
          <a:lstStyle/>
          <a:p>
            <a:r>
              <a:rPr lang="en-US"/>
              <a:t>Functional Dependencies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Functional dependencies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5C2BB-C20D-4B28-9807-84792A0C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09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Dependency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331301"/>
            <a:ext cx="8229599" cy="8925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600" i="1">
                <a:latin typeface="+mj-lt"/>
              </a:rPr>
              <a:t>A-&gt;B means that </a:t>
            </a:r>
          </a:p>
          <a:p>
            <a:pPr algn="ctr"/>
            <a:r>
              <a:rPr lang="en-US" sz="2600" i="1">
                <a:latin typeface="+mj-lt"/>
              </a:rPr>
              <a:t>“whenever two tuples agree on A then they agree on B.”</a:t>
            </a:r>
            <a:endParaRPr lang="en-US" i="1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35351" y="1793054"/>
            <a:ext cx="7321296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b="1" err="1">
                <a:latin typeface="+mj-lt"/>
              </a:rPr>
              <a:t>Def</a:t>
            </a:r>
            <a:r>
              <a:rPr lang="en-US" sz="2800" b="1">
                <a:latin typeface="+mj-lt"/>
              </a:rPr>
              <a:t>: </a:t>
            </a:r>
            <a:r>
              <a:rPr lang="en-US" sz="2800">
                <a:latin typeface="+mj-lt"/>
              </a:rPr>
              <a:t>Let A,B be </a:t>
            </a:r>
            <a:r>
              <a:rPr lang="en-US" sz="2800" i="1">
                <a:latin typeface="+mj-lt"/>
              </a:rPr>
              <a:t>sets</a:t>
            </a:r>
            <a:r>
              <a:rPr lang="en-US" sz="2800">
                <a:latin typeface="+mj-lt"/>
              </a:rPr>
              <a:t> of attributes</a:t>
            </a:r>
          </a:p>
          <a:p>
            <a:r>
              <a:rPr lang="en-US" sz="2800">
                <a:latin typeface="+mj-lt"/>
              </a:rPr>
              <a:t>We write A </a:t>
            </a:r>
            <a:r>
              <a:rPr lang="en-US" sz="2800">
                <a:latin typeface="+mj-lt"/>
                <a:sym typeface="Wingdings"/>
              </a:rPr>
              <a:t></a:t>
            </a:r>
            <a:r>
              <a:rPr lang="en-US" sz="2800">
                <a:latin typeface="+mj-lt"/>
              </a:rPr>
              <a:t> B or say A </a:t>
            </a:r>
            <a:r>
              <a:rPr lang="en-US" sz="2800" b="1" i="1">
                <a:latin typeface="+mj-lt"/>
              </a:rPr>
              <a:t>functionally determines </a:t>
            </a:r>
            <a:r>
              <a:rPr lang="en-US" sz="2800">
                <a:latin typeface="+mj-lt"/>
              </a:rPr>
              <a:t>B if, for any tuples t</a:t>
            </a:r>
            <a:r>
              <a:rPr lang="en-US" sz="2800" baseline="-25000">
                <a:latin typeface="+mj-lt"/>
              </a:rPr>
              <a:t>1</a:t>
            </a:r>
            <a:r>
              <a:rPr lang="en-US" sz="2800">
                <a:latin typeface="+mj-lt"/>
              </a:rPr>
              <a:t> and t</a:t>
            </a:r>
            <a:r>
              <a:rPr lang="en-US" sz="2800" baseline="-25000">
                <a:latin typeface="+mj-lt"/>
              </a:rPr>
              <a:t>2</a:t>
            </a:r>
            <a:r>
              <a:rPr lang="en-US" sz="2800">
                <a:latin typeface="+mj-lt"/>
              </a:rPr>
              <a:t>: </a:t>
            </a: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sz="2800">
                <a:latin typeface="+mj-lt"/>
              </a:rPr>
              <a:t>t</a:t>
            </a:r>
            <a:r>
              <a:rPr lang="en-US" sz="2800" baseline="-25000">
                <a:latin typeface="+mj-lt"/>
              </a:rPr>
              <a:t>1</a:t>
            </a:r>
            <a:r>
              <a:rPr lang="en-US" sz="2800">
                <a:latin typeface="+mj-lt"/>
              </a:rPr>
              <a:t>[A] = t</a:t>
            </a:r>
            <a:r>
              <a:rPr lang="en-US" sz="2800" baseline="-25000">
                <a:latin typeface="+mj-lt"/>
              </a:rPr>
              <a:t>2</a:t>
            </a:r>
            <a:r>
              <a:rPr lang="en-US" sz="2800">
                <a:latin typeface="+mj-lt"/>
              </a:rPr>
              <a:t>[A] implies t</a:t>
            </a:r>
            <a:r>
              <a:rPr lang="en-US" sz="2800" baseline="-25000">
                <a:latin typeface="+mj-lt"/>
              </a:rPr>
              <a:t>1</a:t>
            </a:r>
            <a:r>
              <a:rPr lang="en-US" sz="2800">
                <a:latin typeface="+mj-lt"/>
              </a:rPr>
              <a:t>[B] = t</a:t>
            </a:r>
            <a:r>
              <a:rPr lang="en-US" sz="2800" baseline="-25000">
                <a:latin typeface="+mj-lt"/>
              </a:rPr>
              <a:t>2</a:t>
            </a:r>
            <a:r>
              <a:rPr lang="en-US" sz="2800">
                <a:latin typeface="+mj-lt"/>
              </a:rPr>
              <a:t>[B]</a:t>
            </a:r>
          </a:p>
          <a:p>
            <a:r>
              <a:rPr lang="en-US" sz="2800">
                <a:latin typeface="+mj-lt"/>
              </a:rPr>
              <a:t>and we call A </a:t>
            </a:r>
            <a:r>
              <a:rPr lang="en-US" sz="2800">
                <a:latin typeface="+mj-lt"/>
                <a:sym typeface="Wingdings"/>
              </a:rPr>
              <a:t></a:t>
            </a:r>
            <a:r>
              <a:rPr lang="en-US" sz="2800">
                <a:latin typeface="+mj-lt"/>
              </a:rPr>
              <a:t> B a </a:t>
            </a:r>
            <a:r>
              <a:rPr lang="en-US" sz="2800" b="1" u="sng">
                <a:latin typeface="+mj-lt"/>
              </a:rPr>
              <a:t>functional dependency</a:t>
            </a:r>
            <a:endParaRPr lang="en-US" sz="2800" b="1">
              <a:latin typeface="+mj-lt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Functional dependencies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7DB5C3-6840-4225-97E1-3527C155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4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57551"/>
            <a:ext cx="10515600" cy="1325563"/>
          </a:xfrm>
        </p:spPr>
        <p:txBody>
          <a:bodyPr/>
          <a:lstStyle/>
          <a:p>
            <a:r>
              <a:rPr lang="en-US"/>
              <a:t>A Picture Of FDs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88630"/>
              </p:ext>
            </p:extLst>
          </p:nvPr>
        </p:nvGraphicFramePr>
        <p:xfrm>
          <a:off x="838199" y="2211684"/>
          <a:ext cx="54864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B</a:t>
                      </a:r>
                      <a:r>
                        <a:rPr lang="en-US" b="1" baseline="-25000" err="1"/>
                        <a:t>n</a:t>
                      </a:r>
                      <a:endParaRPr lang="en-US" b="1" baseline="-25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676702" y="994334"/>
            <a:ext cx="5169409" cy="12926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600" u="sng" err="1">
                <a:latin typeface="+mj-lt"/>
              </a:rPr>
              <a:t>Defn</a:t>
            </a:r>
            <a:r>
              <a:rPr lang="en-US" sz="2600" u="sng">
                <a:latin typeface="+mj-lt"/>
              </a:rPr>
              <a:t> (again):</a:t>
            </a:r>
          </a:p>
          <a:p>
            <a:r>
              <a:rPr lang="en-US" sz="2600">
                <a:latin typeface="+mj-lt"/>
              </a:rPr>
              <a:t>Given attribute sets </a:t>
            </a:r>
            <a:r>
              <a:rPr lang="en-US" sz="2600" b="1">
                <a:latin typeface="+mj-lt"/>
                <a:sym typeface="Wingdings"/>
              </a:rPr>
              <a:t>A={A</a:t>
            </a:r>
            <a:r>
              <a:rPr lang="en-US" sz="2600" b="1" baseline="-25000">
                <a:latin typeface="+mj-lt"/>
                <a:sym typeface="Wingdings"/>
              </a:rPr>
              <a:t>1</a:t>
            </a:r>
            <a:r>
              <a:rPr lang="en-US" sz="2600" b="1">
                <a:latin typeface="+mj-lt"/>
                <a:sym typeface="Wingdings"/>
              </a:rPr>
              <a:t>,…,A</a:t>
            </a:r>
            <a:r>
              <a:rPr lang="en-US" sz="2600" b="1" baseline="-25000">
                <a:latin typeface="+mj-lt"/>
                <a:sym typeface="Wingdings"/>
              </a:rPr>
              <a:t>m</a:t>
            </a:r>
            <a:r>
              <a:rPr lang="en-US" sz="2600" b="1">
                <a:latin typeface="+mj-lt"/>
                <a:sym typeface="Wingdings"/>
              </a:rPr>
              <a:t>}</a:t>
            </a:r>
            <a:r>
              <a:rPr lang="en-US" sz="2600">
                <a:latin typeface="+mj-lt"/>
                <a:sym typeface="Wingdings"/>
              </a:rPr>
              <a:t> and </a:t>
            </a:r>
            <a:r>
              <a:rPr lang="en-US" sz="2600" b="1">
                <a:latin typeface="+mj-lt"/>
                <a:sym typeface="Wingdings"/>
              </a:rPr>
              <a:t>B = {B</a:t>
            </a:r>
            <a:r>
              <a:rPr lang="en-US" sz="2600" b="1" baseline="-25000">
                <a:latin typeface="+mj-lt"/>
                <a:sym typeface="Wingdings"/>
              </a:rPr>
              <a:t>1</a:t>
            </a:r>
            <a:r>
              <a:rPr lang="en-US" sz="2600" b="1">
                <a:latin typeface="+mj-lt"/>
                <a:sym typeface="Wingdings"/>
              </a:rPr>
              <a:t>,…</a:t>
            </a:r>
            <a:r>
              <a:rPr lang="en-US" sz="2600" b="1" err="1">
                <a:latin typeface="+mj-lt"/>
                <a:sym typeface="Wingdings"/>
              </a:rPr>
              <a:t>B</a:t>
            </a:r>
            <a:r>
              <a:rPr lang="en-US" sz="2600" b="1" baseline="-25000" err="1">
                <a:latin typeface="+mj-lt"/>
                <a:sym typeface="Wingdings"/>
              </a:rPr>
              <a:t>n</a:t>
            </a:r>
            <a:r>
              <a:rPr lang="en-US" sz="2600" b="1">
                <a:latin typeface="+mj-lt"/>
                <a:sym typeface="Wingdings"/>
              </a:rPr>
              <a:t>} </a:t>
            </a:r>
            <a:r>
              <a:rPr lang="en-US" sz="2600">
                <a:latin typeface="+mj-lt"/>
                <a:sym typeface="Wingdings"/>
              </a:rPr>
              <a:t>in </a:t>
            </a:r>
            <a:r>
              <a:rPr lang="en-US" sz="2600" b="1">
                <a:latin typeface="+mj-lt"/>
                <a:sym typeface="Wingdings"/>
              </a:rPr>
              <a:t>R,</a:t>
            </a:r>
            <a:endParaRPr lang="en-US" sz="2600" b="1" u="sng">
              <a:latin typeface="+mj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399032" y="2140954"/>
            <a:ext cx="1848916" cy="504084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861815" y="2140954"/>
            <a:ext cx="1848916" cy="504084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Functional dependencies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8CD2E-E7EC-4F2A-8678-A862ECDB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35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517327"/>
              </p:ext>
            </p:extLst>
          </p:nvPr>
        </p:nvGraphicFramePr>
        <p:xfrm>
          <a:off x="838199" y="2211684"/>
          <a:ext cx="54864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B</a:t>
                      </a:r>
                      <a:r>
                        <a:rPr lang="en-US" b="1" baseline="-25000" err="1"/>
                        <a:t>n</a:t>
                      </a:r>
                      <a:endParaRPr lang="en-US" b="1" baseline="-25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57551"/>
            <a:ext cx="10515600" cy="1325563"/>
          </a:xfrm>
        </p:spPr>
        <p:txBody>
          <a:bodyPr/>
          <a:lstStyle/>
          <a:p>
            <a:r>
              <a:rPr lang="en-US"/>
              <a:t>A Picture Of FDs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019" y="2938163"/>
            <a:ext cx="599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err="1"/>
              <a:t>t</a:t>
            </a:r>
            <a:r>
              <a:rPr lang="en-US" baseline="-25000" err="1"/>
              <a:t>i</a:t>
            </a:r>
            <a:endParaRPr lang="en-US" baseline="-25000"/>
          </a:p>
        </p:txBody>
      </p:sp>
      <p:sp>
        <p:nvSpPr>
          <p:cNvPr id="8" name="TextBox 7"/>
          <p:cNvSpPr txBox="1"/>
          <p:nvPr/>
        </p:nvSpPr>
        <p:spPr>
          <a:xfrm>
            <a:off x="239019" y="3702768"/>
            <a:ext cx="599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err="1"/>
              <a:t>t</a:t>
            </a:r>
            <a:r>
              <a:rPr lang="en-US" baseline="-25000" err="1"/>
              <a:t>j</a:t>
            </a:r>
            <a:endParaRPr lang="en-US" baseline="-25000"/>
          </a:p>
        </p:txBody>
      </p:sp>
      <p:sp>
        <p:nvSpPr>
          <p:cNvPr id="14" name="TextBox 13"/>
          <p:cNvSpPr txBox="1"/>
          <p:nvPr/>
        </p:nvSpPr>
        <p:spPr>
          <a:xfrm>
            <a:off x="6676702" y="994334"/>
            <a:ext cx="5169409" cy="289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600" u="sng" err="1">
                <a:latin typeface="+mj-lt"/>
              </a:rPr>
              <a:t>Defn</a:t>
            </a:r>
            <a:r>
              <a:rPr lang="en-US" sz="2600" u="sng">
                <a:latin typeface="+mj-lt"/>
              </a:rPr>
              <a:t> (again):</a:t>
            </a:r>
          </a:p>
          <a:p>
            <a:r>
              <a:rPr lang="en-US" sz="2600">
                <a:latin typeface="+mj-lt"/>
              </a:rPr>
              <a:t>Given attribute sets </a:t>
            </a:r>
            <a:r>
              <a:rPr lang="en-US" sz="2600" b="1">
                <a:latin typeface="+mj-lt"/>
                <a:sym typeface="Wingdings"/>
              </a:rPr>
              <a:t>A={A</a:t>
            </a:r>
            <a:r>
              <a:rPr lang="en-US" sz="2600" b="1" baseline="-25000">
                <a:latin typeface="+mj-lt"/>
                <a:sym typeface="Wingdings"/>
              </a:rPr>
              <a:t>1</a:t>
            </a:r>
            <a:r>
              <a:rPr lang="en-US" sz="2600" b="1">
                <a:latin typeface="+mj-lt"/>
                <a:sym typeface="Wingdings"/>
              </a:rPr>
              <a:t>,…,A</a:t>
            </a:r>
            <a:r>
              <a:rPr lang="en-US" sz="2600" b="1" baseline="-25000">
                <a:latin typeface="+mj-lt"/>
                <a:sym typeface="Wingdings"/>
              </a:rPr>
              <a:t>m</a:t>
            </a:r>
            <a:r>
              <a:rPr lang="en-US" sz="2600" b="1">
                <a:latin typeface="+mj-lt"/>
                <a:sym typeface="Wingdings"/>
              </a:rPr>
              <a:t>}</a:t>
            </a:r>
            <a:r>
              <a:rPr lang="en-US" sz="2600">
                <a:latin typeface="+mj-lt"/>
                <a:sym typeface="Wingdings"/>
              </a:rPr>
              <a:t> and </a:t>
            </a:r>
            <a:r>
              <a:rPr lang="en-US" sz="2600" b="1">
                <a:latin typeface="+mj-lt"/>
                <a:sym typeface="Wingdings"/>
              </a:rPr>
              <a:t>B = {B</a:t>
            </a:r>
            <a:r>
              <a:rPr lang="en-US" sz="2600" b="1" baseline="-25000">
                <a:latin typeface="+mj-lt"/>
                <a:sym typeface="Wingdings"/>
              </a:rPr>
              <a:t>1</a:t>
            </a:r>
            <a:r>
              <a:rPr lang="en-US" sz="2600" b="1">
                <a:latin typeface="+mj-lt"/>
                <a:sym typeface="Wingdings"/>
              </a:rPr>
              <a:t>,…</a:t>
            </a:r>
            <a:r>
              <a:rPr lang="en-US" sz="2600" b="1" err="1">
                <a:latin typeface="+mj-lt"/>
                <a:sym typeface="Wingdings"/>
              </a:rPr>
              <a:t>B</a:t>
            </a:r>
            <a:r>
              <a:rPr lang="en-US" sz="2600" b="1" baseline="-25000" err="1">
                <a:latin typeface="+mj-lt"/>
                <a:sym typeface="Wingdings"/>
              </a:rPr>
              <a:t>n</a:t>
            </a:r>
            <a:r>
              <a:rPr lang="en-US" sz="2600" b="1">
                <a:latin typeface="+mj-lt"/>
                <a:sym typeface="Wingdings"/>
              </a:rPr>
              <a:t>} </a:t>
            </a:r>
            <a:r>
              <a:rPr lang="en-US" sz="2600">
                <a:latin typeface="+mj-lt"/>
                <a:sym typeface="Wingdings"/>
              </a:rPr>
              <a:t>in </a:t>
            </a:r>
            <a:r>
              <a:rPr lang="en-US" sz="2600" b="1">
                <a:latin typeface="+mj-lt"/>
                <a:sym typeface="Wingdings"/>
              </a:rPr>
              <a:t>R,</a:t>
            </a:r>
          </a:p>
          <a:p>
            <a:endParaRPr lang="en-US" sz="2600" b="1" u="sng">
              <a:latin typeface="+mj-lt"/>
              <a:sym typeface="Wingdings"/>
            </a:endParaRPr>
          </a:p>
          <a:p>
            <a:r>
              <a:rPr lang="en-US" sz="2600">
                <a:latin typeface="+mj-lt"/>
              </a:rPr>
              <a:t>The </a:t>
            </a:r>
            <a:r>
              <a:rPr lang="en-US" sz="2600" b="1" i="1">
                <a:latin typeface="+mj-lt"/>
              </a:rPr>
              <a:t>functional dependency</a:t>
            </a:r>
            <a:r>
              <a:rPr lang="en-US" sz="2600">
                <a:latin typeface="+mj-lt"/>
              </a:rPr>
              <a:t> </a:t>
            </a:r>
            <a:r>
              <a:rPr lang="en-US" sz="2600" b="1">
                <a:latin typeface="+mj-lt"/>
              </a:rPr>
              <a:t>A</a:t>
            </a:r>
            <a:r>
              <a:rPr lang="en-US" sz="2600" b="1">
                <a:latin typeface="+mj-lt"/>
                <a:sym typeface="Wingdings"/>
              </a:rPr>
              <a:t> B on R </a:t>
            </a:r>
            <a:r>
              <a:rPr lang="en-US" sz="2600">
                <a:latin typeface="+mj-lt"/>
                <a:sym typeface="Wingdings"/>
              </a:rPr>
              <a:t>holds if for </a:t>
            </a:r>
            <a:r>
              <a:rPr lang="en-US" sz="2600" b="1" i="1">
                <a:latin typeface="+mj-lt"/>
                <a:sym typeface="Wingdings"/>
              </a:rPr>
              <a:t>any </a:t>
            </a:r>
            <a:r>
              <a:rPr lang="en-US" sz="2600" err="1">
                <a:latin typeface="+mj-lt"/>
              </a:rPr>
              <a:t>t</a:t>
            </a:r>
            <a:r>
              <a:rPr lang="en-US" sz="2600" baseline="-25000" err="1">
                <a:latin typeface="+mj-lt"/>
              </a:rPr>
              <a:t>i</a:t>
            </a:r>
            <a:r>
              <a:rPr lang="en-US" sz="2600" err="1">
                <a:latin typeface="+mj-lt"/>
              </a:rPr>
              <a:t>,t</a:t>
            </a:r>
            <a:r>
              <a:rPr lang="en-US" sz="2600" baseline="-25000" err="1">
                <a:latin typeface="+mj-lt"/>
              </a:rPr>
              <a:t>j</a:t>
            </a:r>
            <a:r>
              <a:rPr lang="en-US" sz="2600">
                <a:latin typeface="+mj-lt"/>
              </a:rPr>
              <a:t> in R:</a:t>
            </a:r>
          </a:p>
          <a:p>
            <a:endParaRPr lang="en-US" sz="2600" b="1" u="sng">
              <a:latin typeface="+mj-lt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399032" y="2140954"/>
            <a:ext cx="1848916" cy="504084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3861815" y="2140954"/>
            <a:ext cx="1848916" cy="504084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/>
          <p:cNvSpPr/>
          <p:nvPr/>
        </p:nvSpPr>
        <p:spPr>
          <a:xfrm>
            <a:off x="3208660" y="2269552"/>
            <a:ext cx="748407" cy="2468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8" name="Rectangle 1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Functional dependencies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71837C-9DA2-4336-8FBA-ED2B86EFD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9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57551"/>
            <a:ext cx="10515600" cy="1325563"/>
          </a:xfrm>
        </p:spPr>
        <p:txBody>
          <a:bodyPr/>
          <a:lstStyle/>
          <a:p>
            <a:r>
              <a:rPr lang="en-US"/>
              <a:t>A Picture Of FDs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6702" y="994334"/>
            <a:ext cx="5169409" cy="36933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600" u="sng" err="1">
                <a:latin typeface="+mj-lt"/>
              </a:rPr>
              <a:t>Defn</a:t>
            </a:r>
            <a:r>
              <a:rPr lang="en-US" sz="2600" u="sng">
                <a:latin typeface="+mj-lt"/>
              </a:rPr>
              <a:t> (again):</a:t>
            </a:r>
          </a:p>
          <a:p>
            <a:r>
              <a:rPr lang="en-US" sz="2600">
                <a:latin typeface="+mj-lt"/>
              </a:rPr>
              <a:t>Given attribute sets </a:t>
            </a:r>
            <a:r>
              <a:rPr lang="en-US" sz="2600" b="1">
                <a:latin typeface="+mj-lt"/>
                <a:sym typeface="Wingdings"/>
              </a:rPr>
              <a:t>A={A</a:t>
            </a:r>
            <a:r>
              <a:rPr lang="en-US" sz="2600" b="1" baseline="-25000">
                <a:latin typeface="+mj-lt"/>
                <a:sym typeface="Wingdings"/>
              </a:rPr>
              <a:t>1</a:t>
            </a:r>
            <a:r>
              <a:rPr lang="en-US" sz="2600" b="1">
                <a:latin typeface="+mj-lt"/>
                <a:sym typeface="Wingdings"/>
              </a:rPr>
              <a:t>,…,A</a:t>
            </a:r>
            <a:r>
              <a:rPr lang="en-US" sz="2600" b="1" baseline="-25000">
                <a:latin typeface="+mj-lt"/>
                <a:sym typeface="Wingdings"/>
              </a:rPr>
              <a:t>m</a:t>
            </a:r>
            <a:r>
              <a:rPr lang="en-US" sz="2600" b="1">
                <a:latin typeface="+mj-lt"/>
                <a:sym typeface="Wingdings"/>
              </a:rPr>
              <a:t>}</a:t>
            </a:r>
            <a:r>
              <a:rPr lang="en-US" sz="2600">
                <a:latin typeface="+mj-lt"/>
                <a:sym typeface="Wingdings"/>
              </a:rPr>
              <a:t> and </a:t>
            </a:r>
            <a:r>
              <a:rPr lang="en-US" sz="2600" b="1">
                <a:latin typeface="+mj-lt"/>
                <a:sym typeface="Wingdings"/>
              </a:rPr>
              <a:t>B = {B</a:t>
            </a:r>
            <a:r>
              <a:rPr lang="en-US" sz="2600" b="1" baseline="-25000">
                <a:latin typeface="+mj-lt"/>
                <a:sym typeface="Wingdings"/>
              </a:rPr>
              <a:t>1</a:t>
            </a:r>
            <a:r>
              <a:rPr lang="en-US" sz="2600" b="1">
                <a:latin typeface="+mj-lt"/>
                <a:sym typeface="Wingdings"/>
              </a:rPr>
              <a:t>,…</a:t>
            </a:r>
            <a:r>
              <a:rPr lang="en-US" sz="2600" b="1" err="1">
                <a:latin typeface="+mj-lt"/>
                <a:sym typeface="Wingdings"/>
              </a:rPr>
              <a:t>B</a:t>
            </a:r>
            <a:r>
              <a:rPr lang="en-US" sz="2600" b="1" baseline="-25000" err="1">
                <a:latin typeface="+mj-lt"/>
                <a:sym typeface="Wingdings"/>
              </a:rPr>
              <a:t>n</a:t>
            </a:r>
            <a:r>
              <a:rPr lang="en-US" sz="2600" b="1">
                <a:latin typeface="+mj-lt"/>
                <a:sym typeface="Wingdings"/>
              </a:rPr>
              <a:t>} </a:t>
            </a:r>
            <a:r>
              <a:rPr lang="en-US" sz="2600">
                <a:latin typeface="+mj-lt"/>
                <a:sym typeface="Wingdings"/>
              </a:rPr>
              <a:t>in </a:t>
            </a:r>
            <a:r>
              <a:rPr lang="en-US" sz="2600" b="1">
                <a:latin typeface="+mj-lt"/>
                <a:sym typeface="Wingdings"/>
              </a:rPr>
              <a:t>R,</a:t>
            </a:r>
          </a:p>
          <a:p>
            <a:endParaRPr lang="en-US" sz="2600" b="1" u="sng">
              <a:latin typeface="+mj-lt"/>
              <a:sym typeface="Wingdings"/>
            </a:endParaRPr>
          </a:p>
          <a:p>
            <a:r>
              <a:rPr lang="en-US" sz="2600">
                <a:latin typeface="+mj-lt"/>
              </a:rPr>
              <a:t>The </a:t>
            </a:r>
            <a:r>
              <a:rPr lang="en-US" sz="2600" b="1" i="1">
                <a:latin typeface="+mj-lt"/>
              </a:rPr>
              <a:t>functional dependency</a:t>
            </a:r>
            <a:r>
              <a:rPr lang="en-US" sz="2600">
                <a:latin typeface="+mj-lt"/>
              </a:rPr>
              <a:t> </a:t>
            </a:r>
            <a:r>
              <a:rPr lang="en-US" sz="2600" b="1">
                <a:latin typeface="+mj-lt"/>
              </a:rPr>
              <a:t>A</a:t>
            </a:r>
            <a:r>
              <a:rPr lang="en-US" sz="2600" b="1">
                <a:latin typeface="+mj-lt"/>
                <a:sym typeface="Wingdings"/>
              </a:rPr>
              <a:t> B on R </a:t>
            </a:r>
            <a:r>
              <a:rPr lang="en-US" sz="2600">
                <a:latin typeface="+mj-lt"/>
                <a:sym typeface="Wingdings"/>
              </a:rPr>
              <a:t>holds if for </a:t>
            </a:r>
            <a:r>
              <a:rPr lang="en-US" sz="2600" b="1" i="1">
                <a:latin typeface="+mj-lt"/>
                <a:sym typeface="Wingdings"/>
              </a:rPr>
              <a:t>any </a:t>
            </a:r>
            <a:r>
              <a:rPr lang="en-US" sz="2600" err="1">
                <a:latin typeface="+mj-lt"/>
              </a:rPr>
              <a:t>t</a:t>
            </a:r>
            <a:r>
              <a:rPr lang="en-US" sz="2600" baseline="-25000" err="1">
                <a:latin typeface="+mj-lt"/>
              </a:rPr>
              <a:t>i</a:t>
            </a:r>
            <a:r>
              <a:rPr lang="en-US" sz="2600" err="1">
                <a:latin typeface="+mj-lt"/>
              </a:rPr>
              <a:t>,t</a:t>
            </a:r>
            <a:r>
              <a:rPr lang="en-US" sz="2600" baseline="-25000" err="1">
                <a:latin typeface="+mj-lt"/>
              </a:rPr>
              <a:t>j</a:t>
            </a:r>
            <a:r>
              <a:rPr lang="en-US" sz="2600">
                <a:latin typeface="+mj-lt"/>
              </a:rPr>
              <a:t> in R:</a:t>
            </a:r>
          </a:p>
          <a:p>
            <a:endParaRPr lang="en-US" sz="2600">
              <a:latin typeface="+mj-lt"/>
            </a:endParaRPr>
          </a:p>
          <a:p>
            <a:r>
              <a:rPr lang="en-US" sz="2600" err="1"/>
              <a:t>t</a:t>
            </a:r>
            <a:r>
              <a:rPr lang="en-US" sz="2600" baseline="-25000" err="1"/>
              <a:t>i</a:t>
            </a:r>
            <a:r>
              <a:rPr lang="en-US" sz="2600"/>
              <a:t>[A</a:t>
            </a:r>
            <a:r>
              <a:rPr lang="en-US" sz="2600" baseline="-25000"/>
              <a:t>1</a:t>
            </a:r>
            <a:r>
              <a:rPr lang="en-US" sz="2600"/>
              <a:t>] = </a:t>
            </a:r>
            <a:r>
              <a:rPr lang="en-US" sz="2600" err="1"/>
              <a:t>t</a:t>
            </a:r>
            <a:r>
              <a:rPr lang="en-US" sz="2600" baseline="-25000" err="1"/>
              <a:t>j</a:t>
            </a:r>
            <a:r>
              <a:rPr lang="en-US" sz="2600"/>
              <a:t>[A</a:t>
            </a:r>
            <a:r>
              <a:rPr lang="en-US" sz="2600" baseline="-25000"/>
              <a:t>1</a:t>
            </a:r>
            <a:r>
              <a:rPr lang="en-US" sz="2600"/>
              <a:t>] AND </a:t>
            </a:r>
            <a:r>
              <a:rPr lang="en-US" sz="2600" err="1"/>
              <a:t>t</a:t>
            </a:r>
            <a:r>
              <a:rPr lang="en-US" sz="2600" baseline="-25000" err="1"/>
              <a:t>i</a:t>
            </a:r>
            <a:r>
              <a:rPr lang="en-US" sz="2600"/>
              <a:t>[A</a:t>
            </a:r>
            <a:r>
              <a:rPr lang="en-US" sz="2600" baseline="-25000"/>
              <a:t>2</a:t>
            </a:r>
            <a:r>
              <a:rPr lang="en-US" sz="2600"/>
              <a:t>]=</a:t>
            </a:r>
            <a:r>
              <a:rPr lang="en-US" sz="2600" err="1"/>
              <a:t>t</a:t>
            </a:r>
            <a:r>
              <a:rPr lang="en-US" sz="2600" baseline="-25000" err="1"/>
              <a:t>j</a:t>
            </a:r>
            <a:r>
              <a:rPr lang="en-US" sz="2600"/>
              <a:t>[A</a:t>
            </a:r>
            <a:r>
              <a:rPr lang="en-US" sz="2600" baseline="-25000"/>
              <a:t>2</a:t>
            </a:r>
            <a:r>
              <a:rPr lang="en-US" sz="2600"/>
              <a:t>] AND … AND </a:t>
            </a:r>
            <a:r>
              <a:rPr lang="en-US" sz="2600" err="1"/>
              <a:t>t</a:t>
            </a:r>
            <a:r>
              <a:rPr lang="en-US" sz="2600" baseline="-25000" err="1"/>
              <a:t>i</a:t>
            </a:r>
            <a:r>
              <a:rPr lang="en-US" sz="2600"/>
              <a:t>[A</a:t>
            </a:r>
            <a:r>
              <a:rPr lang="en-US" sz="2600" baseline="-25000"/>
              <a:t>m</a:t>
            </a:r>
            <a:r>
              <a:rPr lang="en-US" sz="2600"/>
              <a:t>] = </a:t>
            </a:r>
            <a:r>
              <a:rPr lang="en-US" sz="2600" err="1"/>
              <a:t>t</a:t>
            </a:r>
            <a:r>
              <a:rPr lang="en-US" sz="2600" baseline="-25000" err="1"/>
              <a:t>j</a:t>
            </a:r>
            <a:r>
              <a:rPr lang="en-US" sz="2600"/>
              <a:t>[A</a:t>
            </a:r>
            <a:r>
              <a:rPr lang="en-US" sz="2600" baseline="-25000"/>
              <a:t>m</a:t>
            </a:r>
            <a:r>
              <a:rPr lang="en-US" sz="2600"/>
              <a:t>]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222915"/>
              </p:ext>
            </p:extLst>
          </p:nvPr>
        </p:nvGraphicFramePr>
        <p:xfrm>
          <a:off x="838199" y="2211684"/>
          <a:ext cx="54864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B</a:t>
                      </a:r>
                      <a:r>
                        <a:rPr lang="en-US" b="1" baseline="-25000" err="1"/>
                        <a:t>n</a:t>
                      </a:r>
                      <a:endParaRPr lang="en-US" b="1" baseline="-25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39019" y="2938163"/>
            <a:ext cx="599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err="1"/>
              <a:t>t</a:t>
            </a:r>
            <a:r>
              <a:rPr lang="en-US" baseline="-25000" err="1"/>
              <a:t>i</a:t>
            </a:r>
            <a:endParaRPr lang="en-US" baseline="-25000"/>
          </a:p>
        </p:txBody>
      </p:sp>
      <p:sp>
        <p:nvSpPr>
          <p:cNvPr id="21" name="TextBox 20"/>
          <p:cNvSpPr txBox="1"/>
          <p:nvPr/>
        </p:nvSpPr>
        <p:spPr>
          <a:xfrm>
            <a:off x="239019" y="3702768"/>
            <a:ext cx="599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err="1"/>
              <a:t>t</a:t>
            </a:r>
            <a:r>
              <a:rPr lang="en-US" baseline="-25000" err="1"/>
              <a:t>j</a:t>
            </a:r>
            <a:endParaRPr lang="en-US" baseline="-25000"/>
          </a:p>
        </p:txBody>
      </p:sp>
      <p:sp>
        <p:nvSpPr>
          <p:cNvPr id="10" name="Left Bracket 9"/>
          <p:cNvSpPr/>
          <p:nvPr/>
        </p:nvSpPr>
        <p:spPr>
          <a:xfrm rot="16200000">
            <a:off x="2164188" y="3808342"/>
            <a:ext cx="390770" cy="1758461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91465" y="5032750"/>
            <a:ext cx="20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If t1,t2 agree here..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89887" y="2860423"/>
            <a:ext cx="1940095" cy="127568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8" name="Rectangle 1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Functional dependencies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D5C3D-C7DA-48DD-A209-1D8165FCA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77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57551"/>
            <a:ext cx="10515600" cy="1325563"/>
          </a:xfrm>
        </p:spPr>
        <p:txBody>
          <a:bodyPr/>
          <a:lstStyle/>
          <a:p>
            <a:r>
              <a:rPr lang="en-US"/>
              <a:t>A Picture Of FDs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6702" y="994334"/>
            <a:ext cx="5169409" cy="4893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600" u="sng" err="1">
                <a:latin typeface="+mj-lt"/>
              </a:rPr>
              <a:t>Defn</a:t>
            </a:r>
            <a:r>
              <a:rPr lang="en-US" sz="2600" u="sng">
                <a:latin typeface="+mj-lt"/>
              </a:rPr>
              <a:t> (again):</a:t>
            </a:r>
          </a:p>
          <a:p>
            <a:r>
              <a:rPr lang="en-US" sz="2600">
                <a:latin typeface="+mj-lt"/>
              </a:rPr>
              <a:t>Given attribute sets </a:t>
            </a:r>
            <a:r>
              <a:rPr lang="en-US" sz="2600" b="1">
                <a:latin typeface="+mj-lt"/>
                <a:sym typeface="Wingdings"/>
              </a:rPr>
              <a:t>A={A</a:t>
            </a:r>
            <a:r>
              <a:rPr lang="en-US" sz="2600" b="1" baseline="-25000">
                <a:latin typeface="+mj-lt"/>
                <a:sym typeface="Wingdings"/>
              </a:rPr>
              <a:t>1</a:t>
            </a:r>
            <a:r>
              <a:rPr lang="en-US" sz="2600" b="1">
                <a:latin typeface="+mj-lt"/>
                <a:sym typeface="Wingdings"/>
              </a:rPr>
              <a:t>,…,A</a:t>
            </a:r>
            <a:r>
              <a:rPr lang="en-US" sz="2600" b="1" baseline="-25000">
                <a:latin typeface="+mj-lt"/>
                <a:sym typeface="Wingdings"/>
              </a:rPr>
              <a:t>m</a:t>
            </a:r>
            <a:r>
              <a:rPr lang="en-US" sz="2600" b="1">
                <a:latin typeface="+mj-lt"/>
                <a:sym typeface="Wingdings"/>
              </a:rPr>
              <a:t>}</a:t>
            </a:r>
            <a:r>
              <a:rPr lang="en-US" sz="2600">
                <a:latin typeface="+mj-lt"/>
                <a:sym typeface="Wingdings"/>
              </a:rPr>
              <a:t> and </a:t>
            </a:r>
            <a:r>
              <a:rPr lang="en-US" sz="2600" b="1">
                <a:latin typeface="+mj-lt"/>
                <a:sym typeface="Wingdings"/>
              </a:rPr>
              <a:t>B = {B</a:t>
            </a:r>
            <a:r>
              <a:rPr lang="en-US" sz="2600" b="1" baseline="-25000">
                <a:latin typeface="+mj-lt"/>
                <a:sym typeface="Wingdings"/>
              </a:rPr>
              <a:t>1</a:t>
            </a:r>
            <a:r>
              <a:rPr lang="en-US" sz="2600" b="1">
                <a:latin typeface="+mj-lt"/>
                <a:sym typeface="Wingdings"/>
              </a:rPr>
              <a:t>,…</a:t>
            </a:r>
            <a:r>
              <a:rPr lang="en-US" sz="2600" b="1" err="1">
                <a:latin typeface="+mj-lt"/>
                <a:sym typeface="Wingdings"/>
              </a:rPr>
              <a:t>B</a:t>
            </a:r>
            <a:r>
              <a:rPr lang="en-US" sz="2600" b="1" baseline="-25000" err="1">
                <a:latin typeface="+mj-lt"/>
                <a:sym typeface="Wingdings"/>
              </a:rPr>
              <a:t>n</a:t>
            </a:r>
            <a:r>
              <a:rPr lang="en-US" sz="2600" b="1">
                <a:latin typeface="+mj-lt"/>
                <a:sym typeface="Wingdings"/>
              </a:rPr>
              <a:t>} </a:t>
            </a:r>
            <a:r>
              <a:rPr lang="en-US" sz="2600">
                <a:latin typeface="+mj-lt"/>
                <a:sym typeface="Wingdings"/>
              </a:rPr>
              <a:t>in </a:t>
            </a:r>
            <a:r>
              <a:rPr lang="en-US" sz="2600" b="1">
                <a:latin typeface="+mj-lt"/>
                <a:sym typeface="Wingdings"/>
              </a:rPr>
              <a:t>R,</a:t>
            </a:r>
          </a:p>
          <a:p>
            <a:endParaRPr lang="en-US" sz="2600" b="1" u="sng">
              <a:latin typeface="+mj-lt"/>
              <a:sym typeface="Wingdings"/>
            </a:endParaRPr>
          </a:p>
          <a:p>
            <a:r>
              <a:rPr lang="en-US" sz="2600">
                <a:latin typeface="+mj-lt"/>
              </a:rPr>
              <a:t>The </a:t>
            </a:r>
            <a:r>
              <a:rPr lang="en-US" sz="2600" b="1" i="1">
                <a:latin typeface="+mj-lt"/>
              </a:rPr>
              <a:t>functional dependency</a:t>
            </a:r>
            <a:r>
              <a:rPr lang="en-US" sz="2600">
                <a:latin typeface="+mj-lt"/>
              </a:rPr>
              <a:t> </a:t>
            </a:r>
            <a:r>
              <a:rPr lang="en-US" sz="2600" b="1">
                <a:latin typeface="+mj-lt"/>
              </a:rPr>
              <a:t>A</a:t>
            </a:r>
            <a:r>
              <a:rPr lang="en-US" sz="2600" b="1">
                <a:latin typeface="+mj-lt"/>
                <a:sym typeface="Wingdings"/>
              </a:rPr>
              <a:t> B on R </a:t>
            </a:r>
            <a:r>
              <a:rPr lang="en-US" sz="2600">
                <a:latin typeface="+mj-lt"/>
                <a:sym typeface="Wingdings"/>
              </a:rPr>
              <a:t>holds if for </a:t>
            </a:r>
            <a:r>
              <a:rPr lang="en-US" sz="2600" b="1" i="1">
                <a:latin typeface="+mj-lt"/>
                <a:sym typeface="Wingdings"/>
              </a:rPr>
              <a:t>any </a:t>
            </a:r>
            <a:r>
              <a:rPr lang="en-US" sz="2600" err="1">
                <a:latin typeface="+mj-lt"/>
              </a:rPr>
              <a:t>t</a:t>
            </a:r>
            <a:r>
              <a:rPr lang="en-US" sz="2600" baseline="-25000" err="1">
                <a:latin typeface="+mj-lt"/>
              </a:rPr>
              <a:t>i</a:t>
            </a:r>
            <a:r>
              <a:rPr lang="en-US" sz="2600" err="1">
                <a:latin typeface="+mj-lt"/>
              </a:rPr>
              <a:t>,t</a:t>
            </a:r>
            <a:r>
              <a:rPr lang="en-US" sz="2600" baseline="-25000" err="1">
                <a:latin typeface="+mj-lt"/>
              </a:rPr>
              <a:t>j</a:t>
            </a:r>
            <a:r>
              <a:rPr lang="en-US" sz="2600">
                <a:latin typeface="+mj-lt"/>
              </a:rPr>
              <a:t> in R:</a:t>
            </a:r>
          </a:p>
          <a:p>
            <a:endParaRPr lang="en-US" sz="2600">
              <a:latin typeface="+mj-lt"/>
            </a:endParaRPr>
          </a:p>
          <a:p>
            <a:r>
              <a:rPr lang="en-US" sz="2600" b="1" u="sng">
                <a:latin typeface="+mj-lt"/>
              </a:rPr>
              <a:t>if</a:t>
            </a:r>
            <a:r>
              <a:rPr lang="en-US" sz="2600">
                <a:latin typeface="+mj-lt"/>
              </a:rPr>
              <a:t> </a:t>
            </a:r>
            <a:r>
              <a:rPr lang="en-US" sz="2600" err="1">
                <a:latin typeface="+mj-lt"/>
              </a:rPr>
              <a:t>t</a:t>
            </a:r>
            <a:r>
              <a:rPr lang="en-US" sz="2600" baseline="-25000" err="1">
                <a:latin typeface="+mj-lt"/>
              </a:rPr>
              <a:t>i</a:t>
            </a:r>
            <a:r>
              <a:rPr lang="en-US" sz="2600">
                <a:latin typeface="+mj-lt"/>
              </a:rPr>
              <a:t>[A</a:t>
            </a:r>
            <a:r>
              <a:rPr lang="en-US" sz="2600" baseline="-25000">
                <a:latin typeface="+mj-lt"/>
              </a:rPr>
              <a:t>1</a:t>
            </a:r>
            <a:r>
              <a:rPr lang="en-US" sz="2600">
                <a:latin typeface="+mj-lt"/>
              </a:rPr>
              <a:t>] = </a:t>
            </a:r>
            <a:r>
              <a:rPr lang="en-US" sz="2600" err="1">
                <a:latin typeface="+mj-lt"/>
              </a:rPr>
              <a:t>t</a:t>
            </a:r>
            <a:r>
              <a:rPr lang="en-US" sz="2600" baseline="-25000" err="1">
                <a:latin typeface="+mj-lt"/>
              </a:rPr>
              <a:t>j</a:t>
            </a:r>
            <a:r>
              <a:rPr lang="en-US" sz="2600">
                <a:latin typeface="+mj-lt"/>
              </a:rPr>
              <a:t>[A</a:t>
            </a:r>
            <a:r>
              <a:rPr lang="en-US" sz="2600" baseline="-25000">
                <a:latin typeface="+mj-lt"/>
              </a:rPr>
              <a:t>1</a:t>
            </a:r>
            <a:r>
              <a:rPr lang="en-US" sz="2600">
                <a:latin typeface="+mj-lt"/>
              </a:rPr>
              <a:t>] AND </a:t>
            </a:r>
            <a:r>
              <a:rPr lang="en-US" sz="2600" err="1">
                <a:latin typeface="+mj-lt"/>
              </a:rPr>
              <a:t>t</a:t>
            </a:r>
            <a:r>
              <a:rPr lang="en-US" sz="2600" baseline="-25000" err="1">
                <a:latin typeface="+mj-lt"/>
              </a:rPr>
              <a:t>i</a:t>
            </a:r>
            <a:r>
              <a:rPr lang="en-US" sz="2600">
                <a:latin typeface="+mj-lt"/>
              </a:rPr>
              <a:t>[A</a:t>
            </a:r>
            <a:r>
              <a:rPr lang="en-US" sz="2600" baseline="-25000">
                <a:latin typeface="+mj-lt"/>
              </a:rPr>
              <a:t>2</a:t>
            </a:r>
            <a:r>
              <a:rPr lang="en-US" sz="2600">
                <a:latin typeface="+mj-lt"/>
              </a:rPr>
              <a:t>]=</a:t>
            </a:r>
            <a:r>
              <a:rPr lang="en-US" sz="2600" err="1">
                <a:latin typeface="+mj-lt"/>
              </a:rPr>
              <a:t>t</a:t>
            </a:r>
            <a:r>
              <a:rPr lang="en-US" sz="2600" baseline="-25000" err="1">
                <a:latin typeface="+mj-lt"/>
              </a:rPr>
              <a:t>j</a:t>
            </a:r>
            <a:r>
              <a:rPr lang="en-US" sz="2600">
                <a:latin typeface="+mj-lt"/>
              </a:rPr>
              <a:t>[A</a:t>
            </a:r>
            <a:r>
              <a:rPr lang="en-US" sz="2600" baseline="-25000">
                <a:latin typeface="+mj-lt"/>
              </a:rPr>
              <a:t>2</a:t>
            </a:r>
            <a:r>
              <a:rPr lang="en-US" sz="2600">
                <a:latin typeface="+mj-lt"/>
              </a:rPr>
              <a:t>] AND … AND </a:t>
            </a:r>
            <a:r>
              <a:rPr lang="en-US" sz="2600" err="1">
                <a:latin typeface="+mj-lt"/>
              </a:rPr>
              <a:t>t</a:t>
            </a:r>
            <a:r>
              <a:rPr lang="en-US" sz="2600" baseline="-25000" err="1">
                <a:latin typeface="+mj-lt"/>
              </a:rPr>
              <a:t>i</a:t>
            </a:r>
            <a:r>
              <a:rPr lang="en-US" sz="2600">
                <a:latin typeface="+mj-lt"/>
              </a:rPr>
              <a:t>[A</a:t>
            </a:r>
            <a:r>
              <a:rPr lang="en-US" sz="2600" baseline="-25000">
                <a:latin typeface="+mj-lt"/>
              </a:rPr>
              <a:t>m</a:t>
            </a:r>
            <a:r>
              <a:rPr lang="en-US" sz="2600">
                <a:latin typeface="+mj-lt"/>
              </a:rPr>
              <a:t>] = </a:t>
            </a:r>
            <a:r>
              <a:rPr lang="en-US" sz="2600" err="1">
                <a:latin typeface="+mj-lt"/>
              </a:rPr>
              <a:t>t</a:t>
            </a:r>
            <a:r>
              <a:rPr lang="en-US" sz="2600" baseline="-25000" err="1">
                <a:latin typeface="+mj-lt"/>
              </a:rPr>
              <a:t>j</a:t>
            </a:r>
            <a:r>
              <a:rPr lang="en-US" sz="2600">
                <a:latin typeface="+mj-lt"/>
              </a:rPr>
              <a:t>[A</a:t>
            </a:r>
            <a:r>
              <a:rPr lang="en-US" sz="2600" baseline="-25000">
                <a:latin typeface="+mj-lt"/>
              </a:rPr>
              <a:t>m</a:t>
            </a:r>
            <a:r>
              <a:rPr lang="en-US" sz="2600">
                <a:latin typeface="+mj-lt"/>
              </a:rPr>
              <a:t>]</a:t>
            </a:r>
          </a:p>
          <a:p>
            <a:endParaRPr lang="en-US" sz="2600">
              <a:latin typeface="+mj-lt"/>
            </a:endParaRPr>
          </a:p>
          <a:p>
            <a:r>
              <a:rPr lang="en-US" sz="2600" b="1" u="sng">
                <a:latin typeface="+mj-lt"/>
              </a:rPr>
              <a:t>then</a:t>
            </a:r>
            <a:r>
              <a:rPr lang="en-US" sz="2600" b="1">
                <a:latin typeface="+mj-lt"/>
              </a:rPr>
              <a:t> </a:t>
            </a:r>
            <a:r>
              <a:rPr lang="en-US" sz="2600" err="1">
                <a:latin typeface="+mj-lt"/>
              </a:rPr>
              <a:t>t</a:t>
            </a:r>
            <a:r>
              <a:rPr lang="en-US" sz="2600" baseline="-25000" err="1">
                <a:latin typeface="+mj-lt"/>
              </a:rPr>
              <a:t>i</a:t>
            </a:r>
            <a:r>
              <a:rPr lang="en-US" sz="2600">
                <a:latin typeface="+mj-lt"/>
              </a:rPr>
              <a:t>[B</a:t>
            </a:r>
            <a:r>
              <a:rPr lang="en-US" sz="2600" baseline="-25000">
                <a:latin typeface="+mj-lt"/>
              </a:rPr>
              <a:t>1</a:t>
            </a:r>
            <a:r>
              <a:rPr lang="en-US" sz="2600">
                <a:latin typeface="+mj-lt"/>
              </a:rPr>
              <a:t>] = </a:t>
            </a:r>
            <a:r>
              <a:rPr lang="en-US" sz="2600" err="1">
                <a:latin typeface="+mj-lt"/>
              </a:rPr>
              <a:t>t</a:t>
            </a:r>
            <a:r>
              <a:rPr lang="en-US" sz="2600" baseline="-25000" err="1">
                <a:latin typeface="+mj-lt"/>
              </a:rPr>
              <a:t>j</a:t>
            </a:r>
            <a:r>
              <a:rPr lang="en-US" sz="2600">
                <a:latin typeface="+mj-lt"/>
              </a:rPr>
              <a:t>[B</a:t>
            </a:r>
            <a:r>
              <a:rPr lang="en-US" sz="2600" baseline="-25000">
                <a:latin typeface="+mj-lt"/>
              </a:rPr>
              <a:t>1</a:t>
            </a:r>
            <a:r>
              <a:rPr lang="en-US" sz="2600">
                <a:latin typeface="+mj-lt"/>
              </a:rPr>
              <a:t>] AND </a:t>
            </a:r>
            <a:r>
              <a:rPr lang="en-US" sz="2600" err="1">
                <a:latin typeface="+mj-lt"/>
              </a:rPr>
              <a:t>t</a:t>
            </a:r>
            <a:r>
              <a:rPr lang="en-US" sz="2600" baseline="-25000" err="1">
                <a:latin typeface="+mj-lt"/>
              </a:rPr>
              <a:t>i</a:t>
            </a:r>
            <a:r>
              <a:rPr lang="en-US" sz="2600">
                <a:latin typeface="+mj-lt"/>
              </a:rPr>
              <a:t>[B</a:t>
            </a:r>
            <a:r>
              <a:rPr lang="en-US" sz="2600" baseline="-25000">
                <a:latin typeface="+mj-lt"/>
              </a:rPr>
              <a:t>2</a:t>
            </a:r>
            <a:r>
              <a:rPr lang="en-US" sz="2600">
                <a:latin typeface="+mj-lt"/>
              </a:rPr>
              <a:t>]=</a:t>
            </a:r>
            <a:r>
              <a:rPr lang="en-US" sz="2600" err="1">
                <a:latin typeface="+mj-lt"/>
              </a:rPr>
              <a:t>t</a:t>
            </a:r>
            <a:r>
              <a:rPr lang="en-US" sz="2600" baseline="-25000" err="1">
                <a:latin typeface="+mj-lt"/>
              </a:rPr>
              <a:t>j</a:t>
            </a:r>
            <a:r>
              <a:rPr lang="en-US" sz="2600">
                <a:latin typeface="+mj-lt"/>
              </a:rPr>
              <a:t>[B</a:t>
            </a:r>
            <a:r>
              <a:rPr lang="en-US" sz="2600" baseline="-25000">
                <a:latin typeface="+mj-lt"/>
              </a:rPr>
              <a:t>2</a:t>
            </a:r>
            <a:r>
              <a:rPr lang="en-US" sz="2600">
                <a:latin typeface="+mj-lt"/>
              </a:rPr>
              <a:t>] AND … AND </a:t>
            </a:r>
            <a:r>
              <a:rPr lang="en-US" sz="2600" err="1">
                <a:latin typeface="+mj-lt"/>
              </a:rPr>
              <a:t>t</a:t>
            </a:r>
            <a:r>
              <a:rPr lang="en-US" sz="2600" baseline="-25000" err="1">
                <a:latin typeface="+mj-lt"/>
              </a:rPr>
              <a:t>i</a:t>
            </a:r>
            <a:r>
              <a:rPr lang="en-US" sz="2600">
                <a:latin typeface="+mj-lt"/>
              </a:rPr>
              <a:t>[</a:t>
            </a:r>
            <a:r>
              <a:rPr lang="en-US" sz="2600" err="1">
                <a:latin typeface="+mj-lt"/>
              </a:rPr>
              <a:t>B</a:t>
            </a:r>
            <a:r>
              <a:rPr lang="en-US" sz="2600" baseline="-25000" err="1">
                <a:latin typeface="+mj-lt"/>
              </a:rPr>
              <a:t>n</a:t>
            </a:r>
            <a:r>
              <a:rPr lang="en-US" sz="2600">
                <a:latin typeface="+mj-lt"/>
              </a:rPr>
              <a:t>] = </a:t>
            </a:r>
            <a:r>
              <a:rPr lang="en-US" sz="2600" err="1">
                <a:latin typeface="+mj-lt"/>
              </a:rPr>
              <a:t>t</a:t>
            </a:r>
            <a:r>
              <a:rPr lang="en-US" sz="2600" baseline="-25000" err="1">
                <a:latin typeface="+mj-lt"/>
              </a:rPr>
              <a:t>j</a:t>
            </a:r>
            <a:r>
              <a:rPr lang="en-US" sz="2600">
                <a:latin typeface="+mj-lt"/>
              </a:rPr>
              <a:t>[</a:t>
            </a:r>
            <a:r>
              <a:rPr lang="en-US" sz="2600" err="1">
                <a:latin typeface="+mj-lt"/>
              </a:rPr>
              <a:t>B</a:t>
            </a:r>
            <a:r>
              <a:rPr lang="en-US" sz="2600" baseline="-25000" err="1">
                <a:latin typeface="+mj-lt"/>
              </a:rPr>
              <a:t>n</a:t>
            </a:r>
            <a:r>
              <a:rPr lang="en-US" sz="2600">
                <a:latin typeface="+mj-lt"/>
              </a:rPr>
              <a:t>]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222915"/>
              </p:ext>
            </p:extLst>
          </p:nvPr>
        </p:nvGraphicFramePr>
        <p:xfrm>
          <a:off x="838199" y="2211684"/>
          <a:ext cx="54864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B</a:t>
                      </a:r>
                      <a:r>
                        <a:rPr lang="en-US" b="1" baseline="-25000" err="1"/>
                        <a:t>n</a:t>
                      </a:r>
                      <a:endParaRPr lang="en-US" b="1" baseline="-25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39019" y="2938163"/>
            <a:ext cx="599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err="1"/>
              <a:t>t</a:t>
            </a:r>
            <a:r>
              <a:rPr lang="en-US" baseline="-25000" err="1"/>
              <a:t>i</a:t>
            </a:r>
            <a:endParaRPr lang="en-US" baseline="-25000"/>
          </a:p>
        </p:txBody>
      </p:sp>
      <p:sp>
        <p:nvSpPr>
          <p:cNvPr id="21" name="TextBox 20"/>
          <p:cNvSpPr txBox="1"/>
          <p:nvPr/>
        </p:nvSpPr>
        <p:spPr>
          <a:xfrm>
            <a:off x="239019" y="3702768"/>
            <a:ext cx="599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err="1"/>
              <a:t>t</a:t>
            </a:r>
            <a:r>
              <a:rPr lang="en-US" baseline="-25000" err="1"/>
              <a:t>j</a:t>
            </a:r>
            <a:endParaRPr lang="en-US" baseline="-25000"/>
          </a:p>
        </p:txBody>
      </p:sp>
      <p:sp>
        <p:nvSpPr>
          <p:cNvPr id="10" name="Left Bracket 9"/>
          <p:cNvSpPr/>
          <p:nvPr/>
        </p:nvSpPr>
        <p:spPr>
          <a:xfrm rot="16200000">
            <a:off x="2164188" y="3808342"/>
            <a:ext cx="390770" cy="1758461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91465" y="5032750"/>
            <a:ext cx="20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If t1,t2 agree here..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89887" y="2860423"/>
            <a:ext cx="1940095" cy="127568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540022" y="5045749"/>
            <a:ext cx="2534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…they also </a:t>
            </a:r>
            <a:r>
              <a:rPr lang="en-US" b="1"/>
              <a:t>must </a:t>
            </a:r>
            <a:r>
              <a:rPr lang="en-US"/>
              <a:t>agree here!</a:t>
            </a:r>
          </a:p>
        </p:txBody>
      </p:sp>
      <p:sp>
        <p:nvSpPr>
          <p:cNvPr id="18" name="Left Bracket 17"/>
          <p:cNvSpPr/>
          <p:nvPr/>
        </p:nvSpPr>
        <p:spPr>
          <a:xfrm rot="16200000">
            <a:off x="4612285" y="3872161"/>
            <a:ext cx="390770" cy="1758461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3837984" y="2860423"/>
            <a:ext cx="1938943" cy="1287401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3224018" y="3271425"/>
            <a:ext cx="821684" cy="4653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Functional dependencies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08B07-0CF7-4A1D-90D0-5F800DAA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1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FDs for Relational Schema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High-level idea: </a:t>
            </a:r>
            <a:r>
              <a:rPr lang="en-US" b="1"/>
              <a:t>why do we care about FDs?</a:t>
            </a:r>
          </a:p>
          <a:p>
            <a:pPr lvl="1"/>
            <a:endParaRPr lang="en-US"/>
          </a:p>
          <a:p>
            <a:pPr marL="971550" lvl="1" indent="-514350">
              <a:buFont typeface="+mj-lt"/>
              <a:buAutoNum type="arabicPeriod"/>
            </a:pPr>
            <a:r>
              <a:rPr lang="en-US"/>
              <a:t>Start with some relational </a:t>
            </a:r>
            <a:r>
              <a:rPr lang="en-US" i="1"/>
              <a:t>schema</a:t>
            </a:r>
          </a:p>
          <a:p>
            <a:pPr marL="971550" lvl="1" indent="-514350">
              <a:buFont typeface="+mj-lt"/>
              <a:buAutoNum type="arabicPeriod"/>
            </a:pPr>
            <a:endParaRPr lang="en-US"/>
          </a:p>
          <a:p>
            <a:pPr marL="971550" lvl="1" indent="-514350">
              <a:buFont typeface="+mj-lt"/>
              <a:buAutoNum type="arabicPeriod"/>
            </a:pPr>
            <a:r>
              <a:rPr lang="en-US"/>
              <a:t>Find out its </a:t>
            </a:r>
            <a:r>
              <a:rPr lang="en-US" i="1"/>
              <a:t>functional dependencies (FDs)</a:t>
            </a:r>
          </a:p>
          <a:p>
            <a:pPr marL="971550" lvl="1" indent="-514350">
              <a:buFont typeface="+mj-lt"/>
              <a:buAutoNum type="arabicPeriod"/>
            </a:pPr>
            <a:endParaRPr lang="en-US"/>
          </a:p>
          <a:p>
            <a:pPr marL="971550" lvl="1" indent="-514350">
              <a:buFont typeface="+mj-lt"/>
              <a:buAutoNum type="arabicPeriod"/>
            </a:pPr>
            <a:r>
              <a:rPr lang="en-US"/>
              <a:t>Use these to </a:t>
            </a:r>
            <a:r>
              <a:rPr lang="en-US" i="1"/>
              <a:t>design a better schema</a:t>
            </a:r>
            <a:endParaRPr lang="en-US"/>
          </a:p>
          <a:p>
            <a:pPr marL="1428750" lvl="2" indent="-514350">
              <a:buFont typeface="+mj-lt"/>
              <a:buAutoNum type="arabicPeriod"/>
            </a:pPr>
            <a:r>
              <a:rPr lang="en-US"/>
              <a:t>One which minimizes the possibility of anomalies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Functional dependencies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FBEC9-B504-4964-B703-5B64E994A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38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Functional Dependencies as Constraints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703483"/>
              </p:ext>
            </p:extLst>
          </p:nvPr>
        </p:nvGraphicFramePr>
        <p:xfrm>
          <a:off x="7048826" y="2018982"/>
          <a:ext cx="4304974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Mary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Joe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Sam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63191" y="4938076"/>
            <a:ext cx="3282761" cy="12926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600">
                <a:latin typeface="+mj-lt"/>
              </a:rPr>
              <a:t>Note: The FD {Course} -&gt; {Room} </a:t>
            </a:r>
            <a:r>
              <a:rPr lang="en-US" sz="2600" b="1" i="1">
                <a:latin typeface="+mj-lt"/>
              </a:rPr>
              <a:t>holds on this instance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690688"/>
            <a:ext cx="5215128" cy="4006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/>
              <a:t>A </a:t>
            </a:r>
            <a:r>
              <a:rPr lang="en-US" b="1"/>
              <a:t>functional dependency </a:t>
            </a:r>
            <a:r>
              <a:rPr lang="en-US"/>
              <a:t>is a form of </a:t>
            </a:r>
            <a:r>
              <a:rPr lang="en-US" b="1"/>
              <a:t>constraint</a:t>
            </a:r>
            <a:r>
              <a:rPr lang="en-US"/>
              <a:t> </a:t>
            </a:r>
          </a:p>
          <a:p>
            <a:pPr lvl="1"/>
            <a:endParaRPr lang="en-US" i="1"/>
          </a:p>
          <a:p>
            <a:pPr lvl="1"/>
            <a:r>
              <a:rPr lang="en-US" i="1"/>
              <a:t>Holds</a:t>
            </a:r>
            <a:r>
              <a:rPr lang="en-US"/>
              <a:t> on some instances (but not others) </a:t>
            </a:r>
            <a:r>
              <a:rPr lang="mr-IN"/>
              <a:t>–</a:t>
            </a:r>
            <a:r>
              <a:rPr lang="en-US"/>
              <a:t> can check whether there are violations</a:t>
            </a:r>
          </a:p>
          <a:p>
            <a:pPr lvl="1"/>
            <a:endParaRPr lang="en-US"/>
          </a:p>
          <a:p>
            <a:pPr lvl="1"/>
            <a:r>
              <a:rPr lang="en-US"/>
              <a:t>Part of the schema, helps define a </a:t>
            </a:r>
            <a:r>
              <a:rPr lang="en-US" i="1"/>
              <a:t>valid</a:t>
            </a:r>
            <a:r>
              <a:rPr lang="en-US"/>
              <a:t> instance</a:t>
            </a:r>
          </a:p>
          <a:p>
            <a:pPr marL="457200" lvl="1" indent="0">
              <a:buFont typeface="Arial"/>
              <a:buNone/>
            </a:pPr>
            <a:endParaRPr lang="en-US" b="1"/>
          </a:p>
          <a:p>
            <a:pPr marL="0" indent="0">
              <a:buFont typeface="Arial"/>
              <a:buNone/>
            </a:pPr>
            <a:endParaRPr lang="en-US">
              <a:sym typeface="Wingdings"/>
            </a:endParaRPr>
          </a:p>
          <a:p>
            <a:pPr marL="0" indent="0">
              <a:buFont typeface="Arial"/>
              <a:buNone/>
            </a:pPr>
            <a:endParaRPr lang="en-US"/>
          </a:p>
          <a:p>
            <a:pPr marL="0" indent="0">
              <a:buFont typeface="Arial"/>
              <a:buNone/>
            </a:pPr>
            <a:endParaRPr lang="en-US" b="1"/>
          </a:p>
        </p:txBody>
      </p:sp>
      <p:grpSp>
        <p:nvGrpSpPr>
          <p:cNvPr id="6" name="Group 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12906" y="5697602"/>
            <a:ext cx="6065716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i="1">
                <a:latin typeface="+mj-lt"/>
              </a:rPr>
              <a:t>Recall: an </a:t>
            </a:r>
            <a:r>
              <a:rPr lang="en-US" sz="2400" b="1" i="1" u="sng">
                <a:latin typeface="+mj-lt"/>
              </a:rPr>
              <a:t>instance</a:t>
            </a:r>
            <a:r>
              <a:rPr lang="en-US" sz="2400" i="1">
                <a:latin typeface="+mj-lt"/>
              </a:rPr>
              <a:t> of a schema is a </a:t>
            </a:r>
            <a:r>
              <a:rPr lang="en-US" sz="2400" i="1" err="1">
                <a:latin typeface="+mj-lt"/>
              </a:rPr>
              <a:t>multiset</a:t>
            </a:r>
            <a:r>
              <a:rPr lang="en-US" sz="2400" i="1">
                <a:latin typeface="+mj-lt"/>
              </a:rPr>
              <a:t> of tuples conforming to that schema, </a:t>
            </a:r>
            <a:r>
              <a:rPr lang="en-US" sz="2400" b="1" i="1">
                <a:latin typeface="+mj-lt"/>
              </a:rPr>
              <a:t>i.e. a table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D3EAD6-413E-4B6A-98B1-C285C30E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2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Functional Dependencies as Constraints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703483"/>
              </p:ext>
            </p:extLst>
          </p:nvPr>
        </p:nvGraphicFramePr>
        <p:xfrm>
          <a:off x="7048826" y="2018982"/>
          <a:ext cx="4304974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Mary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Joe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Sam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63191" y="4938076"/>
            <a:ext cx="3590609" cy="16927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600">
                <a:latin typeface="+mj-lt"/>
              </a:rPr>
              <a:t>However, cannot </a:t>
            </a:r>
            <a:r>
              <a:rPr lang="en-US" sz="2600" i="1">
                <a:latin typeface="+mj-lt"/>
              </a:rPr>
              <a:t>prove </a:t>
            </a:r>
            <a:r>
              <a:rPr lang="en-US" sz="2600">
                <a:latin typeface="+mj-lt"/>
              </a:rPr>
              <a:t>that the FD {Course} -&gt; {Room} is </a:t>
            </a:r>
            <a:r>
              <a:rPr lang="en-US" sz="2600" b="1" i="1">
                <a:latin typeface="+mj-lt"/>
              </a:rPr>
              <a:t>part of the schema</a:t>
            </a:r>
            <a:endParaRPr lang="en-US" sz="260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690688"/>
            <a:ext cx="5215128" cy="47101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Note that:</a:t>
            </a:r>
          </a:p>
          <a:p>
            <a:pPr marL="457200" indent="-457200">
              <a:buFont typeface="Arial" charset="0"/>
              <a:buChar char="•"/>
            </a:pPr>
            <a:r>
              <a:rPr lang="en-US"/>
              <a:t>You can check if an FD is </a:t>
            </a:r>
            <a:r>
              <a:rPr lang="en-US" b="1"/>
              <a:t>violated</a:t>
            </a:r>
            <a:r>
              <a:rPr lang="en-US"/>
              <a:t> by examining a single instance;</a:t>
            </a:r>
          </a:p>
          <a:p>
            <a:pPr marL="457200" indent="-457200">
              <a:buFont typeface="Arial" charset="0"/>
              <a:buChar char="•"/>
            </a:pPr>
            <a:endParaRPr lang="en-US"/>
          </a:p>
          <a:p>
            <a:pPr marL="457200" indent="-457200">
              <a:buFont typeface="Arial" charset="0"/>
              <a:buChar char="•"/>
            </a:pPr>
            <a:r>
              <a:rPr lang="en-US"/>
              <a:t>However, you </a:t>
            </a:r>
            <a:r>
              <a:rPr lang="en-US" b="1"/>
              <a:t>cannot prove</a:t>
            </a:r>
            <a:r>
              <a:rPr lang="en-US"/>
              <a:t> that an FD is part of the schema by examining a single instance. 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2800" i="1"/>
              <a:t>This would require checking every valid instance</a:t>
            </a:r>
          </a:p>
          <a:p>
            <a:pPr marL="0" indent="0">
              <a:buFont typeface="Arial"/>
              <a:buNone/>
            </a:pPr>
            <a:endParaRPr lang="en-US">
              <a:sym typeface="Wingdings"/>
            </a:endParaRPr>
          </a:p>
          <a:p>
            <a:pPr marL="0" indent="0">
              <a:buFont typeface="Arial"/>
              <a:buNone/>
            </a:pPr>
            <a:endParaRPr lang="en-US"/>
          </a:p>
          <a:p>
            <a:pPr marL="0" indent="0">
              <a:buFont typeface="Arial"/>
              <a:buNone/>
            </a:pPr>
            <a:endParaRPr lang="en-US" b="1"/>
          </a:p>
        </p:txBody>
      </p:sp>
      <p:grpSp>
        <p:nvGrpSpPr>
          <p:cNvPr id="6" name="Group 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FFB1CD-2923-41E1-85FE-AD5EDC35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Examples</a:t>
            </a:r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F60CA-56B3-FF4A-997F-6A421DC88797}" type="slidenum">
              <a:rPr lang="en-US"/>
              <a:pPr/>
              <a:t>21</a:t>
            </a:fld>
            <a:endParaRPr lang="en-US"/>
          </a:p>
        </p:txBody>
      </p:sp>
      <p:sp>
        <p:nvSpPr>
          <p:cNvPr id="323588" name="Rectangle 4"/>
          <p:cNvSpPr>
            <a:spLocks noChangeArrowheads="1"/>
          </p:cNvSpPr>
          <p:nvPr/>
        </p:nvSpPr>
        <p:spPr bwMode="auto">
          <a:xfrm>
            <a:off x="1939925" y="1533525"/>
            <a:ext cx="8093374" cy="962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800"/>
              <a:t>An FD is a constraint which </a:t>
            </a:r>
            <a:r>
              <a:rPr lang="en-US" sz="2800" u="sng"/>
              <a:t>holds</a:t>
            </a:r>
            <a:r>
              <a:rPr lang="en-US" sz="2800"/>
              <a:t>, or </a:t>
            </a:r>
            <a:r>
              <a:rPr lang="en-US" sz="2800" u="sng"/>
              <a:t>does not hold</a:t>
            </a:r>
            <a:r>
              <a:rPr lang="en-US" sz="2800"/>
              <a:t> on an instance:</a:t>
            </a:r>
          </a:p>
        </p:txBody>
      </p:sp>
      <p:graphicFrame>
        <p:nvGraphicFramePr>
          <p:cNvPr id="323589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610395"/>
              </p:ext>
            </p:extLst>
          </p:nvPr>
        </p:nvGraphicFramePr>
        <p:xfrm>
          <a:off x="2671912" y="2579832"/>
          <a:ext cx="6629400" cy="2590800"/>
        </p:xfrm>
        <a:graphic>
          <a:graphicData uri="http://schemas.openxmlformats.org/drawingml/2006/table">
            <a:tbl>
              <a:tblPr/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EmpID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Position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E0045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Clerk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E3542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Mike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Salesrep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Salesrep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E9999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Lawyer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Functional dependencies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7158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Examples</a:t>
            </a:r>
          </a:p>
        </p:txBody>
      </p:sp>
      <p:sp>
        <p:nvSpPr>
          <p:cNvPr id="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02BEC-9D06-BE4B-A2C5-7F502B174E52}" type="slidenum">
              <a:rPr lang="en-US"/>
              <a:pPr/>
              <a:t>22</a:t>
            </a:fld>
            <a:endParaRPr lang="en-US"/>
          </a:p>
        </p:txBody>
      </p:sp>
      <p:sp>
        <p:nvSpPr>
          <p:cNvPr id="324611" name="Rectangle 3"/>
          <p:cNvSpPr>
            <a:spLocks noChangeArrowheads="1"/>
          </p:cNvSpPr>
          <p:nvPr/>
        </p:nvSpPr>
        <p:spPr bwMode="auto">
          <a:xfrm>
            <a:off x="3194050" y="2319339"/>
            <a:ext cx="1525588" cy="1587"/>
          </a:xfrm>
          <a:prstGeom prst="rect">
            <a:avLst/>
          </a:prstGeom>
          <a:solidFill>
            <a:srgbClr val="D9D9D9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12" name="Rectangle 4"/>
          <p:cNvSpPr>
            <a:spLocks noChangeArrowheads="1"/>
          </p:cNvSpPr>
          <p:nvPr/>
        </p:nvSpPr>
        <p:spPr bwMode="auto">
          <a:xfrm>
            <a:off x="4729164" y="2319339"/>
            <a:ext cx="9525" cy="1587"/>
          </a:xfrm>
          <a:prstGeom prst="rect">
            <a:avLst/>
          </a:prstGeom>
          <a:solidFill>
            <a:srgbClr val="D9D9D9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13" name="Rectangle 5"/>
          <p:cNvSpPr>
            <a:spLocks noChangeArrowheads="1"/>
          </p:cNvSpPr>
          <p:nvPr/>
        </p:nvSpPr>
        <p:spPr bwMode="auto">
          <a:xfrm>
            <a:off x="4719639" y="2319339"/>
            <a:ext cx="9525" cy="15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14" name="Rectangle 6"/>
          <p:cNvSpPr>
            <a:spLocks noChangeArrowheads="1"/>
          </p:cNvSpPr>
          <p:nvPr/>
        </p:nvSpPr>
        <p:spPr bwMode="auto">
          <a:xfrm>
            <a:off x="4738688" y="2319339"/>
            <a:ext cx="1295400" cy="1587"/>
          </a:xfrm>
          <a:prstGeom prst="rect">
            <a:avLst/>
          </a:prstGeom>
          <a:solidFill>
            <a:srgbClr val="D9D9D9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15" name="Rectangle 7"/>
          <p:cNvSpPr>
            <a:spLocks noChangeArrowheads="1"/>
          </p:cNvSpPr>
          <p:nvPr/>
        </p:nvSpPr>
        <p:spPr bwMode="auto">
          <a:xfrm>
            <a:off x="6034089" y="2319339"/>
            <a:ext cx="7937" cy="15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16" name="Rectangle 8"/>
          <p:cNvSpPr>
            <a:spLocks noChangeArrowheads="1"/>
          </p:cNvSpPr>
          <p:nvPr/>
        </p:nvSpPr>
        <p:spPr bwMode="auto">
          <a:xfrm>
            <a:off x="7391400" y="2319339"/>
            <a:ext cx="7938" cy="15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17" name="Rectangle 9"/>
          <p:cNvSpPr>
            <a:spLocks noChangeArrowheads="1"/>
          </p:cNvSpPr>
          <p:nvPr/>
        </p:nvSpPr>
        <p:spPr bwMode="auto">
          <a:xfrm>
            <a:off x="6034089" y="2319339"/>
            <a:ext cx="7937" cy="4667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18" name="Rectangle 10"/>
          <p:cNvSpPr>
            <a:spLocks noChangeArrowheads="1"/>
          </p:cNvSpPr>
          <p:nvPr/>
        </p:nvSpPr>
        <p:spPr bwMode="auto">
          <a:xfrm>
            <a:off x="3194050" y="2805114"/>
            <a:ext cx="1525588" cy="1587"/>
          </a:xfrm>
          <a:prstGeom prst="rect">
            <a:avLst/>
          </a:prstGeom>
          <a:solidFill>
            <a:srgbClr val="D9D9D9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19" name="Rectangle 11"/>
          <p:cNvSpPr>
            <a:spLocks noChangeArrowheads="1"/>
          </p:cNvSpPr>
          <p:nvPr/>
        </p:nvSpPr>
        <p:spPr bwMode="auto">
          <a:xfrm>
            <a:off x="4729164" y="2805114"/>
            <a:ext cx="9525" cy="1587"/>
          </a:xfrm>
          <a:prstGeom prst="rect">
            <a:avLst/>
          </a:prstGeom>
          <a:solidFill>
            <a:srgbClr val="D9D9D9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20" name="Rectangle 12"/>
          <p:cNvSpPr>
            <a:spLocks noChangeArrowheads="1"/>
          </p:cNvSpPr>
          <p:nvPr/>
        </p:nvSpPr>
        <p:spPr bwMode="auto">
          <a:xfrm>
            <a:off x="4719639" y="2805114"/>
            <a:ext cx="9525" cy="15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21" name="Rectangle 13"/>
          <p:cNvSpPr>
            <a:spLocks noChangeArrowheads="1"/>
          </p:cNvSpPr>
          <p:nvPr/>
        </p:nvSpPr>
        <p:spPr bwMode="auto">
          <a:xfrm>
            <a:off x="4738688" y="2805114"/>
            <a:ext cx="1295400" cy="1587"/>
          </a:xfrm>
          <a:prstGeom prst="rect">
            <a:avLst/>
          </a:prstGeom>
          <a:solidFill>
            <a:srgbClr val="D9D9D9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22" name="Rectangle 14"/>
          <p:cNvSpPr>
            <a:spLocks noChangeArrowheads="1"/>
          </p:cNvSpPr>
          <p:nvPr/>
        </p:nvSpPr>
        <p:spPr bwMode="auto">
          <a:xfrm>
            <a:off x="6034089" y="2805114"/>
            <a:ext cx="7937" cy="15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23" name="Rectangle 15"/>
          <p:cNvSpPr>
            <a:spLocks noChangeArrowheads="1"/>
          </p:cNvSpPr>
          <p:nvPr/>
        </p:nvSpPr>
        <p:spPr bwMode="auto">
          <a:xfrm>
            <a:off x="7391400" y="2805114"/>
            <a:ext cx="7938" cy="15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24" name="Rectangle 16"/>
          <p:cNvSpPr>
            <a:spLocks noChangeArrowheads="1"/>
          </p:cNvSpPr>
          <p:nvPr/>
        </p:nvSpPr>
        <p:spPr bwMode="auto">
          <a:xfrm>
            <a:off x="6034089" y="2806701"/>
            <a:ext cx="7937" cy="4667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25" name="Rectangle 17"/>
          <p:cNvSpPr>
            <a:spLocks noChangeArrowheads="1"/>
          </p:cNvSpPr>
          <p:nvPr/>
        </p:nvSpPr>
        <p:spPr bwMode="auto">
          <a:xfrm>
            <a:off x="6034089" y="3273426"/>
            <a:ext cx="7937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26" name="Rectangle 18"/>
          <p:cNvSpPr>
            <a:spLocks noChangeArrowheads="1"/>
          </p:cNvSpPr>
          <p:nvPr/>
        </p:nvSpPr>
        <p:spPr bwMode="auto">
          <a:xfrm>
            <a:off x="6034089" y="3282951"/>
            <a:ext cx="7937" cy="4667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27" name="Rectangle 19"/>
          <p:cNvSpPr>
            <a:spLocks noChangeArrowheads="1"/>
          </p:cNvSpPr>
          <p:nvPr/>
        </p:nvSpPr>
        <p:spPr bwMode="auto">
          <a:xfrm>
            <a:off x="6034089" y="3749676"/>
            <a:ext cx="7937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28" name="Rectangle 20"/>
          <p:cNvSpPr>
            <a:spLocks noChangeArrowheads="1"/>
          </p:cNvSpPr>
          <p:nvPr/>
        </p:nvSpPr>
        <p:spPr bwMode="auto">
          <a:xfrm>
            <a:off x="6034089" y="3759201"/>
            <a:ext cx="7937" cy="46831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29" name="Rectangle 21"/>
          <p:cNvSpPr>
            <a:spLocks noChangeArrowheads="1"/>
          </p:cNvSpPr>
          <p:nvPr/>
        </p:nvSpPr>
        <p:spPr bwMode="auto">
          <a:xfrm>
            <a:off x="3176588" y="4227514"/>
            <a:ext cx="17462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30" name="Rectangle 22"/>
          <p:cNvSpPr>
            <a:spLocks noChangeArrowheads="1"/>
          </p:cNvSpPr>
          <p:nvPr/>
        </p:nvSpPr>
        <p:spPr bwMode="auto">
          <a:xfrm>
            <a:off x="3194050" y="4227514"/>
            <a:ext cx="1525588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31" name="Rectangle 23"/>
          <p:cNvSpPr>
            <a:spLocks noChangeArrowheads="1"/>
          </p:cNvSpPr>
          <p:nvPr/>
        </p:nvSpPr>
        <p:spPr bwMode="auto">
          <a:xfrm>
            <a:off x="4719639" y="4227514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32" name="Rectangle 24"/>
          <p:cNvSpPr>
            <a:spLocks noChangeArrowheads="1"/>
          </p:cNvSpPr>
          <p:nvPr/>
        </p:nvSpPr>
        <p:spPr bwMode="auto">
          <a:xfrm>
            <a:off x="4729164" y="4227514"/>
            <a:ext cx="13049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33" name="Rectangle 25"/>
          <p:cNvSpPr>
            <a:spLocks noChangeArrowheads="1"/>
          </p:cNvSpPr>
          <p:nvPr/>
        </p:nvSpPr>
        <p:spPr bwMode="auto">
          <a:xfrm>
            <a:off x="6034089" y="4227514"/>
            <a:ext cx="7937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34" name="Rectangle 26"/>
          <p:cNvSpPr>
            <a:spLocks noChangeArrowheads="1"/>
          </p:cNvSpPr>
          <p:nvPr/>
        </p:nvSpPr>
        <p:spPr bwMode="auto">
          <a:xfrm>
            <a:off x="6042026" y="4227514"/>
            <a:ext cx="134937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35" name="Rectangle 27"/>
          <p:cNvSpPr>
            <a:spLocks noChangeArrowheads="1"/>
          </p:cNvSpPr>
          <p:nvPr/>
        </p:nvSpPr>
        <p:spPr bwMode="auto">
          <a:xfrm>
            <a:off x="7391400" y="4227514"/>
            <a:ext cx="7938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36" name="Rectangle 28"/>
          <p:cNvSpPr>
            <a:spLocks noChangeArrowheads="1"/>
          </p:cNvSpPr>
          <p:nvPr/>
        </p:nvSpPr>
        <p:spPr bwMode="auto">
          <a:xfrm>
            <a:off x="7399338" y="4227514"/>
            <a:ext cx="1706562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37" name="Rectangle 29"/>
          <p:cNvSpPr>
            <a:spLocks noChangeArrowheads="1"/>
          </p:cNvSpPr>
          <p:nvPr/>
        </p:nvSpPr>
        <p:spPr bwMode="auto">
          <a:xfrm>
            <a:off x="9105901" y="4227514"/>
            <a:ext cx="17463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639" name="Rectangle 31"/>
          <p:cNvSpPr>
            <a:spLocks noChangeArrowheads="1"/>
          </p:cNvSpPr>
          <p:nvPr/>
        </p:nvSpPr>
        <p:spPr bwMode="auto">
          <a:xfrm>
            <a:off x="4429903" y="5610882"/>
            <a:ext cx="333219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800"/>
              <a:t>{Position}  </a:t>
            </a:r>
            <a:r>
              <a:rPr lang="en-US" sz="2800">
                <a:sym typeface="Wingdings" charset="2"/>
              </a:rPr>
              <a:t> {</a:t>
            </a:r>
            <a:r>
              <a:rPr lang="en-US" sz="2800"/>
              <a:t>Phone}</a:t>
            </a:r>
          </a:p>
        </p:txBody>
      </p:sp>
      <p:graphicFrame>
        <p:nvGraphicFramePr>
          <p:cNvPr id="324640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835723"/>
              </p:ext>
            </p:extLst>
          </p:nvPr>
        </p:nvGraphicFramePr>
        <p:xfrm>
          <a:off x="2710244" y="2014601"/>
          <a:ext cx="6629400" cy="2590800"/>
        </p:xfrm>
        <a:graphic>
          <a:graphicData uri="http://schemas.openxmlformats.org/drawingml/2006/table">
            <a:tbl>
              <a:tblPr/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EmpID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Position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E0045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Clerk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E3542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Mike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9876   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charset="2"/>
                        </a:rPr>
                        <a:t>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Salesrep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9876   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charset="2"/>
                        </a:rPr>
                        <a:t>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Salesrep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E9999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Lawyer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Rounded Rectangle 37"/>
          <p:cNvSpPr/>
          <p:nvPr/>
        </p:nvSpPr>
        <p:spPr>
          <a:xfrm>
            <a:off x="5897879" y="2931192"/>
            <a:ext cx="3538729" cy="127568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0" name="Rectangle 3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Functional dependencies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89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Examples</a:t>
            </a:r>
          </a:p>
        </p:txBody>
      </p:sp>
      <p:sp>
        <p:nvSpPr>
          <p:cNvPr id="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B3F8A-F28B-714D-8BF1-454F387264E7}" type="slidenum">
              <a:rPr lang="en-US"/>
              <a:pPr/>
              <a:t>23</a:t>
            </a:fld>
            <a:endParaRPr lang="en-US"/>
          </a:p>
        </p:txBody>
      </p:sp>
      <p:graphicFrame>
        <p:nvGraphicFramePr>
          <p:cNvPr id="325663" name="Group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99227"/>
              </p:ext>
            </p:extLst>
          </p:nvPr>
        </p:nvGraphicFramePr>
        <p:xfrm>
          <a:off x="2781300" y="2042319"/>
          <a:ext cx="6629400" cy="2590800"/>
        </p:xfrm>
        <a:graphic>
          <a:graphicData uri="http://schemas.openxmlformats.org/drawingml/2006/table">
            <a:tbl>
              <a:tblPr/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EmpID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Position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E0045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1234    </a:t>
                      </a:r>
                      <a:r>
                        <a:rPr kumimoji="0" lang="en-US" sz="2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charset="2"/>
                        </a:rPr>
                        <a:t>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Clerk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E3542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Mike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Salesrep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Salesrep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E9999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1234   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Lawyer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5695" name="Rectangle 63"/>
          <p:cNvSpPr>
            <a:spLocks noChangeArrowheads="1"/>
          </p:cNvSpPr>
          <p:nvPr/>
        </p:nvSpPr>
        <p:spPr bwMode="auto">
          <a:xfrm>
            <a:off x="3743976" y="5257800"/>
            <a:ext cx="46178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7C80"/>
                </a:solidFill>
              </a:rPr>
              <a:t> </a:t>
            </a:r>
            <a:r>
              <a:rPr lang="en-US" sz="2800"/>
              <a:t>but </a:t>
            </a:r>
            <a:r>
              <a:rPr lang="en-US" sz="2800" i="1"/>
              <a:t>not</a:t>
            </a:r>
            <a:r>
              <a:rPr lang="en-US" sz="2800"/>
              <a:t> {Phone}  </a:t>
            </a:r>
            <a:r>
              <a:rPr lang="en-US" sz="2800">
                <a:sym typeface="Wingdings" charset="2"/>
              </a:rPr>
              <a:t></a:t>
            </a:r>
            <a:r>
              <a:rPr lang="en-US" sz="2800"/>
              <a:t>  {Position}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599" y="2467231"/>
            <a:ext cx="3593593" cy="660017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5925311" y="4066176"/>
            <a:ext cx="3593593" cy="660017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Functional dependencies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0005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2" y="707922"/>
            <a:ext cx="10515600" cy="1032695"/>
          </a:xfrm>
        </p:spPr>
        <p:txBody>
          <a:bodyPr/>
          <a:lstStyle/>
          <a:p>
            <a:r>
              <a:rPr lang="en-US"/>
              <a:t>ACTIVITY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24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8780" y="-22510"/>
              <a:ext cx="29953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1  &gt;  ACTIVITY</a:t>
              </a:r>
            </a:p>
          </p:txBody>
        </p:sp>
      </p:grpSp>
      <p:graphicFrame>
        <p:nvGraphicFramePr>
          <p:cNvPr id="8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761652"/>
              </p:ext>
            </p:extLst>
          </p:nvPr>
        </p:nvGraphicFramePr>
        <p:xfrm>
          <a:off x="449909" y="2009900"/>
          <a:ext cx="5646091" cy="3059398"/>
        </p:xfrm>
        <a:graphic>
          <a:graphicData uri="http://schemas.openxmlformats.org/drawingml/2006/table">
            <a:tbl>
              <a:tblPr/>
              <a:tblGrid>
                <a:gridCol w="1084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57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6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1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1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1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1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917673" y="1740617"/>
            <a:ext cx="46292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+mj-lt"/>
              </a:rPr>
              <a:t>Find at least </a:t>
            </a:r>
            <a:r>
              <a:rPr lang="en-US" sz="2800" i="1">
                <a:latin typeface="+mj-lt"/>
              </a:rPr>
              <a:t>three</a:t>
            </a:r>
            <a:r>
              <a:rPr lang="en-US" sz="2800">
                <a:latin typeface="+mj-lt"/>
              </a:rPr>
              <a:t> FDs which are </a:t>
            </a:r>
            <a:r>
              <a:rPr lang="en-US" sz="2800" b="1">
                <a:latin typeface="+mj-lt"/>
              </a:rPr>
              <a:t>violated</a:t>
            </a:r>
            <a:r>
              <a:rPr lang="en-US" sz="2800">
                <a:latin typeface="+mj-lt"/>
              </a:rPr>
              <a:t> on this instance: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6917673" y="2939434"/>
            <a:ext cx="3087565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    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    }</a:t>
            </a: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    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    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    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 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    }</a:t>
            </a:r>
          </a:p>
        </p:txBody>
      </p:sp>
    </p:spTree>
    <p:extLst>
      <p:ext uri="{BB962C8B-B14F-4D97-AF65-F5344CB8AC3E}">
        <p14:creationId xmlns:p14="http://schemas.microsoft.com/office/powerpoint/2010/main" val="16711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Finding functional dependencies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25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6269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99169" y="365125"/>
            <a:ext cx="10654631" cy="1325563"/>
          </a:xfrm>
        </p:spPr>
        <p:txBody>
          <a:bodyPr/>
          <a:lstStyle/>
          <a:p>
            <a:r>
              <a:rPr lang="en-US"/>
              <a:t>“Good” vs. “Bad” FDs</a:t>
            </a:r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F60CA-56B3-FF4A-997F-6A421DC88797}" type="slidenum">
              <a:rPr lang="en-US"/>
              <a:pPr/>
              <a:t>26</a:t>
            </a:fld>
            <a:endParaRPr lang="en-US"/>
          </a:p>
        </p:txBody>
      </p:sp>
      <p:sp>
        <p:nvSpPr>
          <p:cNvPr id="323588" name="Rectangle 4"/>
          <p:cNvSpPr>
            <a:spLocks noChangeArrowheads="1"/>
          </p:cNvSpPr>
          <p:nvPr/>
        </p:nvSpPr>
        <p:spPr bwMode="auto">
          <a:xfrm>
            <a:off x="699169" y="1743578"/>
            <a:ext cx="7967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/>
              <a:t>We can start to develop a notion of </a:t>
            </a:r>
            <a:r>
              <a:rPr lang="en-US" sz="2800" b="1"/>
              <a:t>good </a:t>
            </a:r>
            <a:r>
              <a:rPr lang="en-US" sz="2800"/>
              <a:t>vs. </a:t>
            </a:r>
            <a:r>
              <a:rPr lang="en-US" sz="2800" b="1"/>
              <a:t>bad</a:t>
            </a:r>
            <a:r>
              <a:rPr lang="en-US" sz="2800"/>
              <a:t> FDs:</a:t>
            </a:r>
          </a:p>
        </p:txBody>
      </p:sp>
      <p:graphicFrame>
        <p:nvGraphicFramePr>
          <p:cNvPr id="323589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188286"/>
              </p:ext>
            </p:extLst>
          </p:nvPr>
        </p:nvGraphicFramePr>
        <p:xfrm>
          <a:off x="699169" y="2539730"/>
          <a:ext cx="5802216" cy="2590800"/>
        </p:xfrm>
        <a:graphic>
          <a:graphicData uri="http://schemas.openxmlformats.org/drawingml/2006/table">
            <a:tbl>
              <a:tblPr/>
              <a:tblGrid>
                <a:gridCol w="1450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0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0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EmpID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Position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E0045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Clerk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E3542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Mike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Salesrep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Salesrep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E9999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Lawyer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621871" y="2539730"/>
            <a:ext cx="3731929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600" u="sng">
                <a:latin typeface="+mj-lt"/>
              </a:rPr>
              <a:t>Intuitively:</a:t>
            </a:r>
          </a:p>
          <a:p>
            <a:endParaRPr lang="en-US" sz="2600">
              <a:latin typeface="+mj-lt"/>
            </a:endParaRPr>
          </a:p>
          <a:p>
            <a:r>
              <a:rPr lang="en-US" sz="2600" err="1">
                <a:latin typeface="+mj-lt"/>
              </a:rPr>
              <a:t>EmpID</a:t>
            </a:r>
            <a:r>
              <a:rPr lang="en-US" sz="2600">
                <a:latin typeface="+mj-lt"/>
              </a:rPr>
              <a:t> -&gt; Name, Phone, Position i</a:t>
            </a:r>
            <a:r>
              <a:rPr lang="en-US" sz="2600" i="1">
                <a:latin typeface="+mj-lt"/>
              </a:rPr>
              <a:t>s “good FD”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600" b="1" i="1">
                <a:latin typeface="+mj-lt"/>
              </a:rPr>
              <a:t>Minimal redundancy, less possibility of anomalies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8780" y="-22510"/>
              <a:ext cx="35958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Good vs. Bad FDs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630935" y="2986056"/>
            <a:ext cx="5943601" cy="2144474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44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99169" y="365125"/>
            <a:ext cx="10654631" cy="1325563"/>
          </a:xfrm>
        </p:spPr>
        <p:txBody>
          <a:bodyPr/>
          <a:lstStyle/>
          <a:p>
            <a:r>
              <a:rPr lang="en-US"/>
              <a:t>“Good” vs. “Bad” FDs</a:t>
            </a:r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F60CA-56B3-FF4A-997F-6A421DC88797}" type="slidenum">
              <a:rPr lang="en-US"/>
              <a:pPr/>
              <a:t>27</a:t>
            </a:fld>
            <a:endParaRPr lang="en-US"/>
          </a:p>
        </p:txBody>
      </p:sp>
      <p:sp>
        <p:nvSpPr>
          <p:cNvPr id="323588" name="Rectangle 4"/>
          <p:cNvSpPr>
            <a:spLocks noChangeArrowheads="1"/>
          </p:cNvSpPr>
          <p:nvPr/>
        </p:nvSpPr>
        <p:spPr bwMode="auto">
          <a:xfrm>
            <a:off x="699169" y="1743578"/>
            <a:ext cx="7967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/>
              <a:t>We can start to develop a notion of </a:t>
            </a:r>
            <a:r>
              <a:rPr lang="en-US" sz="2800" b="1"/>
              <a:t>good </a:t>
            </a:r>
            <a:r>
              <a:rPr lang="en-US" sz="2800"/>
              <a:t>vs. </a:t>
            </a:r>
            <a:r>
              <a:rPr lang="en-US" sz="2800" b="1"/>
              <a:t>bad</a:t>
            </a:r>
            <a:r>
              <a:rPr lang="en-US" sz="2800"/>
              <a:t> FDs:</a:t>
            </a:r>
          </a:p>
        </p:txBody>
      </p:sp>
      <p:graphicFrame>
        <p:nvGraphicFramePr>
          <p:cNvPr id="323589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188286"/>
              </p:ext>
            </p:extLst>
          </p:nvPr>
        </p:nvGraphicFramePr>
        <p:xfrm>
          <a:off x="699169" y="2539730"/>
          <a:ext cx="5802216" cy="2590800"/>
        </p:xfrm>
        <a:graphic>
          <a:graphicData uri="http://schemas.openxmlformats.org/drawingml/2006/table">
            <a:tbl>
              <a:tblPr/>
              <a:tblGrid>
                <a:gridCol w="1450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0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0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EmpID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Position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E0045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Clerk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E3542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Mike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Salesrep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Salesrep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E9999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Lawyer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621871" y="2539730"/>
            <a:ext cx="3731929" cy="40934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600" u="sng">
                <a:latin typeface="+mj-lt"/>
              </a:rPr>
              <a:t>Intuitively:</a:t>
            </a:r>
          </a:p>
          <a:p>
            <a:endParaRPr lang="en-US" sz="2600">
              <a:latin typeface="+mj-lt"/>
            </a:endParaRPr>
          </a:p>
          <a:p>
            <a:r>
              <a:rPr lang="en-US" sz="2600" err="1">
                <a:latin typeface="+mj-lt"/>
              </a:rPr>
              <a:t>EmpID</a:t>
            </a:r>
            <a:r>
              <a:rPr lang="en-US" sz="2600">
                <a:latin typeface="+mj-lt"/>
              </a:rPr>
              <a:t> -&gt; Name, Phone, Position i</a:t>
            </a:r>
            <a:r>
              <a:rPr lang="en-US" sz="2600" i="1">
                <a:latin typeface="+mj-lt"/>
              </a:rPr>
              <a:t>s “good FD”</a:t>
            </a:r>
          </a:p>
          <a:p>
            <a:endParaRPr lang="en-US" sz="2600">
              <a:latin typeface="+mj-lt"/>
            </a:endParaRPr>
          </a:p>
          <a:p>
            <a:r>
              <a:rPr lang="en-US" sz="2600">
                <a:latin typeface="+mj-lt"/>
              </a:rPr>
              <a:t>But Position -&gt; Phone </a:t>
            </a:r>
            <a:r>
              <a:rPr lang="en-US" sz="2600" i="1">
                <a:latin typeface="+mj-lt"/>
              </a:rPr>
              <a:t>is a “bad FD”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600" b="1" i="1">
                <a:latin typeface="+mj-lt"/>
              </a:rPr>
              <a:t>Redundancy!  Possibility of data anomalies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8036" y="3435240"/>
            <a:ext cx="3033350" cy="1255632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8780" y="-22510"/>
              <a:ext cx="35958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Good vs. Bad FDs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96869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466254"/>
              </p:ext>
            </p:extLst>
          </p:nvPr>
        </p:nvGraphicFramePr>
        <p:xfrm>
          <a:off x="1090302" y="1690688"/>
          <a:ext cx="4304974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Mary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Joe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Sam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32000" y="5099539"/>
            <a:ext cx="7842249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000">
                <a:latin typeface="+mj-lt"/>
              </a:rPr>
              <a:t>Given a set of FDs (from user) our goal is to:</a:t>
            </a:r>
          </a:p>
          <a:p>
            <a:pPr marL="514350" indent="-514350">
              <a:buAutoNum type="arabicPeriod"/>
            </a:pPr>
            <a:r>
              <a:rPr lang="en-US" sz="3000" b="1">
                <a:latin typeface="+mj-lt"/>
              </a:rPr>
              <a:t>Find all FDs, and </a:t>
            </a:r>
          </a:p>
          <a:p>
            <a:pPr marL="514350" indent="-514350">
              <a:buAutoNum type="arabicPeriod"/>
            </a:pPr>
            <a:r>
              <a:rPr lang="en-US" sz="3000" b="1">
                <a:latin typeface="+mj-lt"/>
              </a:rPr>
              <a:t>Eliminate the “Bad Ones".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0" y="1562672"/>
            <a:ext cx="495604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Returning to our original example… can you see how the “bad FD” {Course} -&gt; {Room} could lead to an:</a:t>
            </a:r>
          </a:p>
          <a:p>
            <a:pPr marL="742950" lvl="1" indent="-285750">
              <a:buFont typeface="Arial"/>
              <a:buChar char="•"/>
            </a:pPr>
            <a:r>
              <a:rPr lang="en-US" sz="2600"/>
              <a:t>Update Anomaly</a:t>
            </a:r>
          </a:p>
          <a:p>
            <a:pPr marL="742950" lvl="1" indent="-285750">
              <a:buFont typeface="Arial"/>
              <a:buChar char="•"/>
            </a:pPr>
            <a:r>
              <a:rPr lang="en-US" sz="2600"/>
              <a:t>Insert Anomaly</a:t>
            </a:r>
          </a:p>
          <a:p>
            <a:pPr marL="742950" lvl="1" indent="-285750">
              <a:buFont typeface="Arial"/>
              <a:buChar char="•"/>
            </a:pPr>
            <a:r>
              <a:rPr lang="en-US" sz="2600"/>
              <a:t>Delete Anomaly</a:t>
            </a:r>
          </a:p>
          <a:p>
            <a:pPr marL="742950" lvl="1" indent="-285750">
              <a:buFont typeface="Arial"/>
              <a:buChar char="•"/>
            </a:pPr>
            <a:r>
              <a:rPr lang="en-US" sz="2600"/>
              <a:t>…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699169" y="365125"/>
            <a:ext cx="10654631" cy="1325563"/>
          </a:xfrm>
        </p:spPr>
        <p:txBody>
          <a:bodyPr/>
          <a:lstStyle/>
          <a:p>
            <a:r>
              <a:rPr lang="en-US"/>
              <a:t>“Good” vs. “Bad” FDs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8780" y="-22510"/>
              <a:ext cx="35958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Good vs. Bad FDs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86A936-1218-49C0-BECA-FC32B6B2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8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FDs for Relational Schema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High-level idea: </a:t>
            </a:r>
            <a:r>
              <a:rPr lang="en-US" b="1"/>
              <a:t>why do we care about FDs?</a:t>
            </a:r>
          </a:p>
          <a:p>
            <a:pPr lvl="1"/>
            <a:endParaRPr lang="en-US"/>
          </a:p>
          <a:p>
            <a:pPr marL="971550" lvl="1" indent="-514350">
              <a:buFont typeface="+mj-lt"/>
              <a:buAutoNum type="arabicPeriod"/>
            </a:pPr>
            <a:r>
              <a:rPr lang="en-US"/>
              <a:t>Start with some relational </a:t>
            </a:r>
            <a:r>
              <a:rPr lang="en-US" i="1"/>
              <a:t>schema</a:t>
            </a:r>
          </a:p>
          <a:p>
            <a:pPr marL="971550" lvl="1" indent="-514350">
              <a:buFont typeface="+mj-lt"/>
              <a:buAutoNum type="arabicPeriod"/>
            </a:pPr>
            <a:endParaRPr lang="en-US"/>
          </a:p>
          <a:p>
            <a:pPr marL="971550" lvl="1" indent="-514350">
              <a:buFont typeface="+mj-lt"/>
              <a:buAutoNum type="arabicPeriod"/>
            </a:pPr>
            <a:r>
              <a:rPr lang="en-US"/>
              <a:t>Find out its </a:t>
            </a:r>
            <a:r>
              <a:rPr lang="en-US" i="1"/>
              <a:t>functional dependencies (FDs)</a:t>
            </a:r>
          </a:p>
          <a:p>
            <a:pPr marL="971550" lvl="1" indent="-514350">
              <a:buFont typeface="+mj-lt"/>
              <a:buAutoNum type="arabicPeriod"/>
            </a:pPr>
            <a:endParaRPr lang="en-US"/>
          </a:p>
          <a:p>
            <a:pPr marL="971550" lvl="1" indent="-514350">
              <a:buFont typeface="+mj-lt"/>
              <a:buAutoNum type="arabicPeriod"/>
            </a:pPr>
            <a:r>
              <a:rPr lang="en-US"/>
              <a:t>Use these to </a:t>
            </a:r>
            <a:r>
              <a:rPr lang="en-US" i="1"/>
              <a:t>design a better schema</a:t>
            </a:r>
            <a:endParaRPr lang="en-US"/>
          </a:p>
          <a:p>
            <a:pPr marL="1428750" lvl="2" indent="-514350">
              <a:buFont typeface="+mj-lt"/>
              <a:buAutoNum type="arabicPeriod"/>
            </a:pPr>
            <a:r>
              <a:rPr lang="en-US"/>
              <a:t>One which minimizes possibility of anomalies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Finding FDs</a:t>
              </a:r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133856" y="3273552"/>
            <a:ext cx="6254496" cy="722376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180832" y="3401568"/>
            <a:ext cx="317296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i="1"/>
              <a:t>This part can be tricky!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D55C9-8BA3-4973-84A5-CE2B8E2EA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81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Finding Functional Dependencies</a:t>
            </a:r>
            <a:endParaRPr lang="en-US" sz="2200" i="1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838200" y="2072513"/>
            <a:ext cx="10515600" cy="4351338"/>
          </a:xfrm>
        </p:spPr>
        <p:txBody>
          <a:bodyPr/>
          <a:lstStyle/>
          <a:p>
            <a:r>
              <a:rPr lang="en-US"/>
              <a:t>There can be a very </a:t>
            </a:r>
            <a:r>
              <a:rPr lang="en-US" b="1"/>
              <a:t>large number</a:t>
            </a:r>
            <a:r>
              <a:rPr lang="en-US"/>
              <a:t> of FDs…</a:t>
            </a:r>
          </a:p>
          <a:p>
            <a:pPr lvl="1"/>
            <a:r>
              <a:rPr lang="en-US" i="1"/>
              <a:t>How to find them all efficiently?</a:t>
            </a:r>
          </a:p>
          <a:p>
            <a:pPr lvl="1"/>
            <a:endParaRPr lang="en-US" i="1"/>
          </a:p>
          <a:p>
            <a:r>
              <a:rPr lang="en-US"/>
              <a:t>We can’t necessarily show that any FD will hold </a:t>
            </a:r>
            <a:r>
              <a:rPr lang="en-US" b="1"/>
              <a:t>on all instances…</a:t>
            </a:r>
          </a:p>
          <a:p>
            <a:pPr lvl="1"/>
            <a:r>
              <a:rPr lang="en-US" i="1"/>
              <a:t>How to do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7816" y="4875384"/>
            <a:ext cx="7516368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>
                <a:latin typeface="+mj-lt"/>
              </a:rPr>
              <a:t>We will start with this problem:</a:t>
            </a:r>
          </a:p>
          <a:p>
            <a:r>
              <a:rPr lang="en-US" sz="2800">
                <a:latin typeface="+mj-lt"/>
              </a:rPr>
              <a:t>Given a set of FDs, F, what other FDs </a:t>
            </a:r>
            <a:r>
              <a:rPr lang="en-US" sz="2800" b="1" i="1">
                <a:latin typeface="+mj-lt"/>
              </a:rPr>
              <a:t>must </a:t>
            </a:r>
            <a:r>
              <a:rPr lang="en-US" sz="2800">
                <a:latin typeface="+mj-lt"/>
              </a:rPr>
              <a:t>hold?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Finding FDs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95C19D-A84B-4555-A318-A174C76D5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178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Finding Functional Dependencies</a:t>
            </a:r>
            <a:endParaRPr lang="en-US" sz="2200" i="1"/>
          </a:p>
        </p:txBody>
      </p:sp>
      <p:sp>
        <p:nvSpPr>
          <p:cNvPr id="5" name="TextBox 4"/>
          <p:cNvSpPr txBox="1"/>
          <p:nvPr/>
        </p:nvSpPr>
        <p:spPr>
          <a:xfrm>
            <a:off x="7251192" y="2702413"/>
            <a:ext cx="4617720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>
                <a:latin typeface="+mj-lt"/>
              </a:rPr>
              <a:t>1. {Name} </a:t>
            </a:r>
            <a:r>
              <a:rPr lang="en-US" sz="2800">
                <a:latin typeface="+mj-lt"/>
                <a:sym typeface="Wingdings"/>
              </a:rPr>
              <a:t></a:t>
            </a:r>
            <a:r>
              <a:rPr lang="en-US" sz="2800">
                <a:latin typeface="+mj-lt"/>
              </a:rPr>
              <a:t> {Color}</a:t>
            </a:r>
          </a:p>
          <a:p>
            <a:r>
              <a:rPr lang="en-US" sz="2800">
                <a:latin typeface="+mj-lt"/>
              </a:rPr>
              <a:t>2. {Category} </a:t>
            </a:r>
            <a:r>
              <a:rPr lang="en-US" sz="2800">
                <a:latin typeface="+mj-lt"/>
                <a:sym typeface="Wingdings"/>
              </a:rPr>
              <a:t> {Department}</a:t>
            </a:r>
          </a:p>
          <a:p>
            <a:r>
              <a:rPr lang="en-US" sz="2800">
                <a:latin typeface="+mj-lt"/>
                <a:sym typeface="Wingdings"/>
              </a:rPr>
              <a:t>3. {Color, Category}  {Price}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160966"/>
              </p:ext>
            </p:extLst>
          </p:nvPr>
        </p:nvGraphicFramePr>
        <p:xfrm>
          <a:off x="838200" y="2679856"/>
          <a:ext cx="60960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4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6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Color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Category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err="1"/>
                        <a:t>Dep</a:t>
                      </a:r>
                      <a:endParaRPr lang="en-US" sz="2400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Price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Gizmo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Green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Gadget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Toys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49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237">
                <a:tc>
                  <a:txBody>
                    <a:bodyPr/>
                    <a:lstStyle/>
                    <a:p>
                      <a:r>
                        <a:rPr lang="en-US" sz="2400"/>
                        <a:t>Widget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Black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Gadget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Toys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59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Gizmo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Green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Whatsit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Garden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99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461922" y="6034619"/>
            <a:ext cx="5268155" cy="492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600">
                <a:latin typeface="+mj-lt"/>
                <a:sym typeface="Wingdings"/>
              </a:rPr>
              <a:t>Which / how many other FDs do?!? </a:t>
            </a:r>
            <a:endParaRPr lang="en-US" sz="260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41570" y="2209971"/>
            <a:ext cx="247487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/>
              <a:t>Provided FDs: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780" y="2209970"/>
            <a:ext cx="247487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/>
              <a:t>Products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4791197"/>
            <a:ext cx="91379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/>
              <a:t>Given the provided FDs, we can see that {Name, Category} </a:t>
            </a:r>
            <a:r>
              <a:rPr lang="en-US" sz="2400">
                <a:sym typeface="Wingdings"/>
              </a:rPr>
              <a:t> {Price} must also hold on </a:t>
            </a:r>
            <a:r>
              <a:rPr lang="en-US" sz="2400" b="1">
                <a:sym typeface="Wingdings"/>
              </a:rPr>
              <a:t>any instance</a:t>
            </a:r>
            <a:r>
              <a:rPr lang="en-US" sz="2400">
                <a:sym typeface="Wingdings"/>
              </a:rPr>
              <a:t>… </a:t>
            </a:r>
            <a:endParaRPr lang="en-US" sz="2400"/>
          </a:p>
        </p:txBody>
      </p:sp>
      <p:sp>
        <p:nvSpPr>
          <p:cNvPr id="4" name="TextBox 3"/>
          <p:cNvSpPr txBox="1"/>
          <p:nvPr/>
        </p:nvSpPr>
        <p:spPr>
          <a:xfrm>
            <a:off x="838200" y="1479578"/>
            <a:ext cx="1305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>
                <a:latin typeface="+mj-lt"/>
              </a:rPr>
              <a:t>Example: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Finding FDs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679FA-084E-4A04-860B-150A4330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7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Finding Functional Dependencies</a:t>
            </a:r>
            <a:endParaRPr lang="en-US" sz="2200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Equivalent to asking: Given a set of FDs, F = {f</a:t>
            </a:r>
            <a:r>
              <a:rPr lang="en-US" baseline="-25000"/>
              <a:t>1</a:t>
            </a:r>
            <a:r>
              <a:rPr lang="en-US"/>
              <a:t>,…</a:t>
            </a:r>
            <a:r>
              <a:rPr lang="en-US" err="1"/>
              <a:t>f</a:t>
            </a:r>
            <a:r>
              <a:rPr lang="en-US" baseline="-25000" err="1"/>
              <a:t>n</a:t>
            </a:r>
            <a:r>
              <a:rPr lang="en-US"/>
              <a:t>}, does an FD g hold?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Inference problem</a:t>
            </a:r>
            <a:r>
              <a:rPr lang="en-US"/>
              <a:t>: How do we decide?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9012" y="3862104"/>
            <a:ext cx="8182992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000">
                <a:latin typeface="+mj-lt"/>
              </a:rPr>
              <a:t>Answer: Three simple rules called </a:t>
            </a:r>
            <a:r>
              <a:rPr lang="en-US" sz="3000" b="1">
                <a:latin typeface="+mj-lt"/>
              </a:rPr>
              <a:t>Armstrong’s Rules.</a:t>
            </a:r>
          </a:p>
          <a:p>
            <a:pPr marL="514350" indent="-514350">
              <a:buAutoNum type="arabicPeriod"/>
            </a:pPr>
            <a:r>
              <a:rPr lang="en-US" sz="3000" b="1">
                <a:latin typeface="+mj-lt"/>
              </a:rPr>
              <a:t>Split/Combine,</a:t>
            </a:r>
          </a:p>
          <a:p>
            <a:pPr marL="514350" indent="-514350">
              <a:buFontTx/>
              <a:buAutoNum type="arabicPeriod"/>
            </a:pPr>
            <a:r>
              <a:rPr lang="en-US" sz="3000" b="1">
                <a:latin typeface="+mj-lt"/>
              </a:rPr>
              <a:t>Reduction, and</a:t>
            </a:r>
          </a:p>
          <a:p>
            <a:pPr marL="514350" indent="-514350">
              <a:buAutoNum type="arabicPeriod"/>
            </a:pPr>
            <a:r>
              <a:rPr lang="en-US" sz="3000" b="1">
                <a:latin typeface="+mj-lt"/>
              </a:rPr>
              <a:t>Transitivity… </a:t>
            </a:r>
            <a:r>
              <a:rPr lang="en-US" sz="3000" i="1">
                <a:latin typeface="+mj-lt"/>
              </a:rPr>
              <a:t>ideas by picture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Finding FDs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269E4F-DF41-4DD9-A726-F96F808D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4000"/>
            <a:ext cx="8229600" cy="1143000"/>
          </a:xfrm>
        </p:spPr>
        <p:txBody>
          <a:bodyPr/>
          <a:lstStyle/>
          <a:p>
            <a:r>
              <a:rPr lang="en-US"/>
              <a:t>1. Split/Combine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34794"/>
              </p:ext>
            </p:extLst>
          </p:nvPr>
        </p:nvGraphicFramePr>
        <p:xfrm>
          <a:off x="3048000" y="1755205"/>
          <a:ext cx="6096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B</a:t>
                      </a:r>
                      <a:r>
                        <a:rPr lang="en-US" b="1" baseline="-25000" err="1"/>
                        <a:t>n</a:t>
                      </a:r>
                      <a:endParaRPr lang="en-US" b="1" baseline="-25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91000" y="4304974"/>
            <a:ext cx="381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</a:t>
            </a:r>
            <a:r>
              <a:rPr lang="en-US" sz="2800" baseline="-25000"/>
              <a:t>1</a:t>
            </a:r>
            <a:r>
              <a:rPr lang="en-US" sz="2800"/>
              <a:t>, …, A</a:t>
            </a:r>
            <a:r>
              <a:rPr lang="en-US" sz="2800" baseline="-25000"/>
              <a:t>m</a:t>
            </a:r>
            <a:r>
              <a:rPr lang="en-US" sz="2800"/>
              <a:t> </a:t>
            </a:r>
            <a:r>
              <a:rPr lang="en-US" sz="2800">
                <a:sym typeface="Wingdings"/>
              </a:rPr>
              <a:t> B</a:t>
            </a:r>
            <a:r>
              <a:rPr lang="en-US" sz="2800" baseline="-25000">
                <a:sym typeface="Wingdings"/>
              </a:rPr>
              <a:t>1</a:t>
            </a:r>
            <a:r>
              <a:rPr lang="en-US" sz="2800">
                <a:sym typeface="Wingdings"/>
              </a:rPr>
              <a:t>,…,</a:t>
            </a:r>
            <a:r>
              <a:rPr lang="en-US" sz="2800" err="1">
                <a:sym typeface="Wingdings"/>
              </a:rPr>
              <a:t>B</a:t>
            </a:r>
            <a:r>
              <a:rPr lang="en-US" sz="2800" baseline="-25000" err="1">
                <a:sym typeface="Wingdings"/>
              </a:rPr>
              <a:t>n</a:t>
            </a:r>
            <a:endParaRPr lang="en-US" sz="2800" baseline="-25000"/>
          </a:p>
        </p:txBody>
      </p:sp>
      <p:sp>
        <p:nvSpPr>
          <p:cNvPr id="8" name="Rounded Rectangle 7"/>
          <p:cNvSpPr/>
          <p:nvPr/>
        </p:nvSpPr>
        <p:spPr>
          <a:xfrm>
            <a:off x="3567954" y="2383987"/>
            <a:ext cx="1968650" cy="1280160"/>
          </a:xfrm>
          <a:prstGeom prst="roundRect">
            <a:avLst/>
          </a:prstGeom>
          <a:gradFill>
            <a:gsLst>
              <a:gs pos="0">
                <a:schemeClr val="accent2">
                  <a:tint val="50000"/>
                  <a:satMod val="300000"/>
                  <a:alpha val="50000"/>
                </a:schemeClr>
              </a:gs>
              <a:gs pos="35000">
                <a:schemeClr val="accent2">
                  <a:tint val="37000"/>
                  <a:satMod val="300000"/>
                  <a:alpha val="50000"/>
                </a:schemeClr>
              </a:gs>
              <a:gs pos="100000">
                <a:schemeClr val="accent2">
                  <a:tint val="15000"/>
                  <a:satMod val="350000"/>
                  <a:alpha val="50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032350" y="2383987"/>
            <a:ext cx="1968650" cy="1280160"/>
          </a:xfrm>
          <a:prstGeom prst="roundRect">
            <a:avLst/>
          </a:prstGeom>
          <a:gradFill>
            <a:gsLst>
              <a:gs pos="0">
                <a:schemeClr val="accent2">
                  <a:tint val="50000"/>
                  <a:satMod val="300000"/>
                  <a:alpha val="50000"/>
                </a:schemeClr>
              </a:gs>
              <a:gs pos="35000">
                <a:schemeClr val="accent2">
                  <a:tint val="37000"/>
                  <a:satMod val="300000"/>
                  <a:alpha val="50000"/>
                </a:schemeClr>
              </a:gs>
              <a:gs pos="100000">
                <a:schemeClr val="accent2">
                  <a:tint val="15000"/>
                  <a:satMod val="350000"/>
                  <a:alpha val="50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5206426" y="2687890"/>
            <a:ext cx="1156102" cy="67235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Finding FDs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AFCA4D-1CB0-4EA3-B982-BFD81F1DF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608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4000"/>
            <a:ext cx="8229600" cy="1143000"/>
          </a:xfrm>
        </p:spPr>
        <p:txBody>
          <a:bodyPr/>
          <a:lstStyle/>
          <a:p>
            <a:r>
              <a:rPr lang="en-US"/>
              <a:t>1. Split/Combine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34794"/>
              </p:ext>
            </p:extLst>
          </p:nvPr>
        </p:nvGraphicFramePr>
        <p:xfrm>
          <a:off x="3048000" y="1755205"/>
          <a:ext cx="6096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B</a:t>
                      </a:r>
                      <a:r>
                        <a:rPr lang="en-US" b="1" baseline="-25000" err="1"/>
                        <a:t>n</a:t>
                      </a:r>
                      <a:endParaRPr lang="en-US" b="1" baseline="-25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91000" y="4304974"/>
            <a:ext cx="381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</a:t>
            </a:r>
            <a:r>
              <a:rPr lang="en-US" sz="2800" baseline="-25000"/>
              <a:t>1</a:t>
            </a:r>
            <a:r>
              <a:rPr lang="en-US" sz="2800"/>
              <a:t>, …, A</a:t>
            </a:r>
            <a:r>
              <a:rPr lang="en-US" sz="2800" baseline="-25000"/>
              <a:t>m</a:t>
            </a:r>
            <a:r>
              <a:rPr lang="en-US" sz="2800"/>
              <a:t> </a:t>
            </a:r>
            <a:r>
              <a:rPr lang="en-US" sz="2800">
                <a:sym typeface="Wingdings"/>
              </a:rPr>
              <a:t> B</a:t>
            </a:r>
            <a:r>
              <a:rPr lang="en-US" sz="2800" baseline="-25000">
                <a:sym typeface="Wingdings"/>
              </a:rPr>
              <a:t>1</a:t>
            </a:r>
            <a:r>
              <a:rPr lang="en-US" sz="2800">
                <a:sym typeface="Wingdings"/>
              </a:rPr>
              <a:t>,…,</a:t>
            </a:r>
            <a:r>
              <a:rPr lang="en-US" sz="2800" err="1">
                <a:sym typeface="Wingdings"/>
              </a:rPr>
              <a:t>B</a:t>
            </a:r>
            <a:r>
              <a:rPr lang="en-US" sz="2800" baseline="-25000" err="1">
                <a:sym typeface="Wingdings"/>
              </a:rPr>
              <a:t>n</a:t>
            </a:r>
            <a:endParaRPr lang="en-US" sz="2800" baseline="-25000"/>
          </a:p>
        </p:txBody>
      </p:sp>
      <p:sp>
        <p:nvSpPr>
          <p:cNvPr id="6" name="TextBox 5"/>
          <p:cNvSpPr txBox="1"/>
          <p:nvPr/>
        </p:nvSpPr>
        <p:spPr>
          <a:xfrm>
            <a:off x="3048002" y="5082604"/>
            <a:ext cx="6095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… is equivalent to the following </a:t>
            </a:r>
            <a:r>
              <a:rPr lang="en-US" sz="2800" i="1"/>
              <a:t>n</a:t>
            </a:r>
            <a:r>
              <a:rPr lang="en-US" sz="2800"/>
              <a:t> FDs…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1786" y="5866747"/>
            <a:ext cx="6095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A</a:t>
            </a:r>
            <a:r>
              <a:rPr lang="en-US" sz="2800" baseline="-25000"/>
              <a:t>1</a:t>
            </a:r>
            <a:r>
              <a:rPr lang="en-US" sz="2800"/>
              <a:t>,…,A</a:t>
            </a:r>
            <a:r>
              <a:rPr lang="en-US" sz="2800" baseline="-25000"/>
              <a:t>m</a:t>
            </a:r>
            <a:r>
              <a:rPr lang="en-US" sz="2800"/>
              <a:t> </a:t>
            </a:r>
            <a:r>
              <a:rPr lang="en-US" sz="2800">
                <a:sym typeface="Wingdings"/>
              </a:rPr>
              <a:t> B</a:t>
            </a:r>
            <a:r>
              <a:rPr lang="en-US" sz="2800" baseline="-25000">
                <a:sym typeface="Wingdings"/>
              </a:rPr>
              <a:t>i</a:t>
            </a:r>
            <a:r>
              <a:rPr lang="en-US" sz="2800">
                <a:sym typeface="Wingdings"/>
              </a:rPr>
              <a:t> for </a:t>
            </a:r>
            <a:r>
              <a:rPr lang="en-US" sz="2800" err="1">
                <a:sym typeface="Wingdings"/>
              </a:rPr>
              <a:t>i</a:t>
            </a:r>
            <a:r>
              <a:rPr lang="en-US" sz="2800">
                <a:sym typeface="Wingdings"/>
              </a:rPr>
              <a:t>=1,…,n</a:t>
            </a:r>
            <a:endParaRPr lang="en-US" sz="2800"/>
          </a:p>
        </p:txBody>
      </p:sp>
      <p:sp>
        <p:nvSpPr>
          <p:cNvPr id="8" name="Rounded Rectangle 7"/>
          <p:cNvSpPr/>
          <p:nvPr/>
        </p:nvSpPr>
        <p:spPr>
          <a:xfrm>
            <a:off x="3567954" y="2383987"/>
            <a:ext cx="1968650" cy="1280160"/>
          </a:xfrm>
          <a:prstGeom prst="roundRect">
            <a:avLst/>
          </a:prstGeom>
          <a:gradFill>
            <a:gsLst>
              <a:gs pos="0">
                <a:schemeClr val="accent2">
                  <a:tint val="50000"/>
                  <a:satMod val="300000"/>
                  <a:alpha val="50000"/>
                </a:schemeClr>
              </a:gs>
              <a:gs pos="35000">
                <a:schemeClr val="accent2">
                  <a:tint val="37000"/>
                  <a:satMod val="300000"/>
                  <a:alpha val="50000"/>
                </a:schemeClr>
              </a:gs>
              <a:gs pos="100000">
                <a:schemeClr val="accent2">
                  <a:tint val="15000"/>
                  <a:satMod val="350000"/>
                  <a:alpha val="50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666155" y="2383987"/>
            <a:ext cx="720764" cy="1280160"/>
          </a:xfrm>
          <a:prstGeom prst="roundRect">
            <a:avLst/>
          </a:prstGeom>
          <a:gradFill>
            <a:gsLst>
              <a:gs pos="0">
                <a:schemeClr val="accent2">
                  <a:tint val="50000"/>
                  <a:satMod val="300000"/>
                  <a:alpha val="50000"/>
                </a:schemeClr>
              </a:gs>
              <a:gs pos="35000">
                <a:schemeClr val="accent2">
                  <a:tint val="37000"/>
                  <a:satMod val="300000"/>
                  <a:alpha val="50000"/>
                </a:schemeClr>
              </a:gs>
              <a:gs pos="100000">
                <a:schemeClr val="accent2">
                  <a:tint val="15000"/>
                  <a:satMod val="350000"/>
                  <a:alpha val="50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5206426" y="2687890"/>
            <a:ext cx="1642609" cy="67235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Finding FDs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17DEA7-9FFB-45DD-A973-7ACA4378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6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4000"/>
            <a:ext cx="8229600" cy="1143000"/>
          </a:xfrm>
        </p:spPr>
        <p:txBody>
          <a:bodyPr/>
          <a:lstStyle/>
          <a:p>
            <a:r>
              <a:rPr lang="en-US"/>
              <a:t>1. Split/Combine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34794"/>
              </p:ext>
            </p:extLst>
          </p:nvPr>
        </p:nvGraphicFramePr>
        <p:xfrm>
          <a:off x="3048000" y="1755205"/>
          <a:ext cx="6096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B</a:t>
                      </a:r>
                      <a:r>
                        <a:rPr lang="en-US" b="1" baseline="-25000" err="1"/>
                        <a:t>n</a:t>
                      </a:r>
                      <a:endParaRPr lang="en-US" b="1" baseline="-25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49183" y="5960801"/>
            <a:ext cx="381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</a:t>
            </a:r>
            <a:r>
              <a:rPr lang="en-US" sz="2800" baseline="-25000"/>
              <a:t>1</a:t>
            </a:r>
            <a:r>
              <a:rPr lang="en-US" sz="2800"/>
              <a:t>, …, A</a:t>
            </a:r>
            <a:r>
              <a:rPr lang="en-US" sz="2800" baseline="-25000"/>
              <a:t>m</a:t>
            </a:r>
            <a:r>
              <a:rPr lang="en-US" sz="2800"/>
              <a:t> </a:t>
            </a:r>
            <a:r>
              <a:rPr lang="en-US" sz="2800">
                <a:sym typeface="Wingdings"/>
              </a:rPr>
              <a:t> B</a:t>
            </a:r>
            <a:r>
              <a:rPr lang="en-US" sz="2800" baseline="-25000">
                <a:sym typeface="Wingdings"/>
              </a:rPr>
              <a:t>1</a:t>
            </a:r>
            <a:r>
              <a:rPr lang="en-US" sz="2800">
                <a:sym typeface="Wingdings"/>
              </a:rPr>
              <a:t>,…,</a:t>
            </a:r>
            <a:r>
              <a:rPr lang="en-US" sz="2800" err="1">
                <a:sym typeface="Wingdings"/>
              </a:rPr>
              <a:t>B</a:t>
            </a:r>
            <a:r>
              <a:rPr lang="en-US" sz="2800" baseline="-25000" err="1">
                <a:sym typeface="Wingdings"/>
              </a:rPr>
              <a:t>n</a:t>
            </a:r>
            <a:endParaRPr lang="en-US" sz="2800" baseline="-25000"/>
          </a:p>
        </p:txBody>
      </p:sp>
      <p:sp>
        <p:nvSpPr>
          <p:cNvPr id="6" name="TextBox 5"/>
          <p:cNvSpPr txBox="1"/>
          <p:nvPr/>
        </p:nvSpPr>
        <p:spPr>
          <a:xfrm>
            <a:off x="3048002" y="5082604"/>
            <a:ext cx="6095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… is equivalent to 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1" y="4335222"/>
            <a:ext cx="6095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/>
              <a:t>And vice-versa, </a:t>
            </a:r>
            <a:r>
              <a:rPr lang="en-US" sz="2800"/>
              <a:t>A</a:t>
            </a:r>
            <a:r>
              <a:rPr lang="en-US" sz="2800" baseline="-25000"/>
              <a:t>1</a:t>
            </a:r>
            <a:r>
              <a:rPr lang="en-US" sz="2800"/>
              <a:t>,…,A</a:t>
            </a:r>
            <a:r>
              <a:rPr lang="en-US" sz="2800" baseline="-25000"/>
              <a:t>m</a:t>
            </a:r>
            <a:r>
              <a:rPr lang="en-US" sz="2800"/>
              <a:t> </a:t>
            </a:r>
            <a:r>
              <a:rPr lang="en-US" sz="2800">
                <a:sym typeface="Wingdings"/>
              </a:rPr>
              <a:t> B</a:t>
            </a:r>
            <a:r>
              <a:rPr lang="en-US" sz="2800" baseline="-25000">
                <a:sym typeface="Wingdings"/>
              </a:rPr>
              <a:t>i</a:t>
            </a:r>
            <a:r>
              <a:rPr lang="en-US" sz="2800">
                <a:sym typeface="Wingdings"/>
              </a:rPr>
              <a:t> for </a:t>
            </a:r>
            <a:r>
              <a:rPr lang="en-US" sz="2800" err="1">
                <a:sym typeface="Wingdings"/>
              </a:rPr>
              <a:t>i</a:t>
            </a:r>
            <a:r>
              <a:rPr lang="en-US" sz="2800">
                <a:sym typeface="Wingdings"/>
              </a:rPr>
              <a:t>=1,…,n</a:t>
            </a:r>
            <a:endParaRPr lang="en-US" sz="2800"/>
          </a:p>
        </p:txBody>
      </p:sp>
      <p:sp>
        <p:nvSpPr>
          <p:cNvPr id="8" name="Rounded Rectangle 7"/>
          <p:cNvSpPr/>
          <p:nvPr/>
        </p:nvSpPr>
        <p:spPr>
          <a:xfrm>
            <a:off x="3567954" y="2383987"/>
            <a:ext cx="1968650" cy="1280160"/>
          </a:xfrm>
          <a:prstGeom prst="roundRect">
            <a:avLst/>
          </a:prstGeom>
          <a:gradFill>
            <a:gsLst>
              <a:gs pos="0">
                <a:schemeClr val="accent2">
                  <a:tint val="50000"/>
                  <a:satMod val="300000"/>
                  <a:alpha val="50000"/>
                </a:schemeClr>
              </a:gs>
              <a:gs pos="35000">
                <a:schemeClr val="accent2">
                  <a:tint val="37000"/>
                  <a:satMod val="300000"/>
                  <a:alpha val="50000"/>
                </a:schemeClr>
              </a:gs>
              <a:gs pos="100000">
                <a:schemeClr val="accent2">
                  <a:tint val="15000"/>
                  <a:satMod val="350000"/>
                  <a:alpha val="50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666155" y="2383987"/>
            <a:ext cx="720764" cy="1280160"/>
          </a:xfrm>
          <a:prstGeom prst="roundRect">
            <a:avLst/>
          </a:prstGeom>
          <a:gradFill>
            <a:gsLst>
              <a:gs pos="0">
                <a:schemeClr val="accent2">
                  <a:tint val="50000"/>
                  <a:satMod val="300000"/>
                  <a:alpha val="50000"/>
                </a:schemeClr>
              </a:gs>
              <a:gs pos="35000">
                <a:schemeClr val="accent2">
                  <a:tint val="37000"/>
                  <a:satMod val="300000"/>
                  <a:alpha val="50000"/>
                </a:schemeClr>
              </a:gs>
              <a:gs pos="100000">
                <a:schemeClr val="accent2">
                  <a:tint val="15000"/>
                  <a:satMod val="350000"/>
                  <a:alpha val="50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5206426" y="2687890"/>
            <a:ext cx="1642609" cy="67235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Finding FDs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B5B2A2-65F9-43EB-AED3-36A5C1247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24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7BBA3-32B9-45EB-8E7F-E749C2559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CBDA3-85F1-4D52-8E73-4DDC49936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Name, Color -&gt; price, Dept</a:t>
            </a:r>
          </a:p>
          <a:p>
            <a:r>
              <a:rPr lang="en-US"/>
              <a:t>Split:</a:t>
            </a:r>
          </a:p>
          <a:p>
            <a:pPr lvl="1"/>
            <a:r>
              <a:rPr lang="en-US"/>
              <a:t>Name, Color -&gt; Price</a:t>
            </a:r>
          </a:p>
          <a:p>
            <a:pPr lvl="1"/>
            <a:r>
              <a:rPr lang="en-US"/>
              <a:t>Name, Color -&gt; Dept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31BA1-B75D-4F9D-9C9D-0EC10E93A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647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Reduction/Trivial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766354"/>
              </p:ext>
            </p:extLst>
          </p:nvPr>
        </p:nvGraphicFramePr>
        <p:xfrm>
          <a:off x="3048000" y="1755205"/>
          <a:ext cx="3048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4309" y="4611078"/>
            <a:ext cx="524933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/>
              <a:t>A</a:t>
            </a:r>
            <a:r>
              <a:rPr lang="en-US" sz="2600" baseline="-25000"/>
              <a:t>1</a:t>
            </a:r>
            <a:r>
              <a:rPr lang="en-US" sz="2600"/>
              <a:t>,…,A</a:t>
            </a:r>
            <a:r>
              <a:rPr lang="en-US" sz="2600" baseline="-25000"/>
              <a:t>m</a:t>
            </a:r>
            <a:r>
              <a:rPr lang="en-US" sz="2600"/>
              <a:t> </a:t>
            </a:r>
            <a:r>
              <a:rPr lang="en-US" sz="2600">
                <a:sym typeface="Wingdings"/>
              </a:rPr>
              <a:t> </a:t>
            </a:r>
            <a:r>
              <a:rPr lang="en-US" sz="2600" err="1">
                <a:sym typeface="Wingdings"/>
              </a:rPr>
              <a:t>A</a:t>
            </a:r>
            <a:r>
              <a:rPr lang="en-US" sz="2600" baseline="-25000" err="1">
                <a:sym typeface="Wingdings"/>
              </a:rPr>
              <a:t>j</a:t>
            </a:r>
            <a:r>
              <a:rPr lang="en-US" sz="2600">
                <a:sym typeface="Wingdings"/>
              </a:rPr>
              <a:t> for any j=1,…,m</a:t>
            </a:r>
            <a:endParaRPr lang="en-US" sz="2600"/>
          </a:p>
        </p:txBody>
      </p:sp>
      <p:sp>
        <p:nvSpPr>
          <p:cNvPr id="7" name="Rounded Rectangle 6"/>
          <p:cNvSpPr/>
          <p:nvPr/>
        </p:nvSpPr>
        <p:spPr>
          <a:xfrm>
            <a:off x="3567954" y="2383987"/>
            <a:ext cx="1968650" cy="1280160"/>
          </a:xfrm>
          <a:prstGeom prst="roundRect">
            <a:avLst/>
          </a:prstGeom>
          <a:gradFill>
            <a:gsLst>
              <a:gs pos="0">
                <a:schemeClr val="accent2">
                  <a:tint val="50000"/>
                  <a:satMod val="300000"/>
                  <a:alpha val="50000"/>
                </a:schemeClr>
              </a:gs>
              <a:gs pos="35000">
                <a:schemeClr val="accent2">
                  <a:tint val="37000"/>
                  <a:satMod val="300000"/>
                  <a:alpha val="50000"/>
                </a:schemeClr>
              </a:gs>
              <a:gs pos="100000">
                <a:schemeClr val="accent2">
                  <a:tint val="15000"/>
                  <a:satMod val="350000"/>
                  <a:alpha val="50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159625" y="2374277"/>
            <a:ext cx="785309" cy="1280160"/>
          </a:xfrm>
          <a:prstGeom prst="roundRect">
            <a:avLst/>
          </a:prstGeom>
          <a:gradFill>
            <a:gsLst>
              <a:gs pos="0">
                <a:schemeClr val="accent2">
                  <a:tint val="50000"/>
                  <a:satMod val="300000"/>
                  <a:alpha val="50000"/>
                </a:schemeClr>
              </a:gs>
              <a:gs pos="35000">
                <a:schemeClr val="accent2">
                  <a:tint val="37000"/>
                  <a:satMod val="300000"/>
                  <a:alpha val="50000"/>
                </a:schemeClr>
              </a:gs>
              <a:gs pos="100000">
                <a:schemeClr val="accent2">
                  <a:tint val="15000"/>
                  <a:satMod val="350000"/>
                  <a:alpha val="50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3605328" y="2687890"/>
            <a:ext cx="545330" cy="67235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Finding FDs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87CF38-6737-4342-97B7-3571E5EA1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37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368308-665A-412A-8E1E-283FA048E728}"/>
              </a:ext>
            </a:extLst>
          </p:cNvPr>
          <p:cNvSpPr txBox="1"/>
          <p:nvPr/>
        </p:nvSpPr>
        <p:spPr>
          <a:xfrm>
            <a:off x="7207625" y="1678083"/>
            <a:ext cx="61072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Reduction:</a:t>
            </a:r>
          </a:p>
          <a:p>
            <a:pPr lvl="1"/>
            <a:r>
              <a:rPr lang="en-US"/>
              <a:t>Name, Color -&gt; Name</a:t>
            </a:r>
          </a:p>
          <a:p>
            <a:pPr lvl="1"/>
            <a:r>
              <a:rPr lang="en-US"/>
              <a:t>Name, Color -&gt; Color</a:t>
            </a:r>
          </a:p>
        </p:txBody>
      </p:sp>
    </p:spTree>
    <p:extLst>
      <p:ext uri="{BB962C8B-B14F-4D97-AF65-F5344CB8AC3E}">
        <p14:creationId xmlns:p14="http://schemas.microsoft.com/office/powerpoint/2010/main" val="20512725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8D8B-7F85-E76D-FD88-4E086A72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Example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96640-FDF7-8EDE-82C7-628F73C03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>
                <a:ea typeface="Calibri"/>
                <a:cs typeface="Calibri"/>
              </a:rPr>
              <a:t>Reduction:</a:t>
            </a:r>
          </a:p>
          <a:p>
            <a:pPr lvl="1"/>
            <a:r>
              <a:rPr lang="en-US">
                <a:ea typeface="Calibri"/>
                <a:cs typeface="Calibri"/>
              </a:rPr>
              <a:t>Name, Color -&gt; Name</a:t>
            </a:r>
          </a:p>
          <a:p>
            <a:pPr lvl="1"/>
            <a:r>
              <a:rPr lang="en-US">
                <a:ea typeface="Calibri"/>
                <a:cs typeface="Calibri"/>
              </a:rPr>
              <a:t>Name, Color -&gt; Color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2123F-CA14-05D7-70B4-4DD2F2D5B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648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4000"/>
            <a:ext cx="8229600" cy="1143000"/>
          </a:xfrm>
        </p:spPr>
        <p:txBody>
          <a:bodyPr/>
          <a:lstStyle/>
          <a:p>
            <a:r>
              <a:rPr lang="en-US"/>
              <a:t>3. Transitive Closure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329316"/>
              </p:ext>
            </p:extLst>
          </p:nvPr>
        </p:nvGraphicFramePr>
        <p:xfrm>
          <a:off x="3048000" y="1755205"/>
          <a:ext cx="6096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B</a:t>
                      </a:r>
                      <a:r>
                        <a:rPr lang="en-US" b="1" baseline="-25000" err="1"/>
                        <a:t>n</a:t>
                      </a:r>
                      <a:endParaRPr lang="en-US" b="1" baseline="-25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/>
                        <a:t>C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 err="1"/>
                        <a:t>C</a:t>
                      </a:r>
                      <a:r>
                        <a:rPr lang="en-US" b="1" baseline="-25000" err="1"/>
                        <a:t>k</a:t>
                      </a:r>
                      <a:endParaRPr lang="en-US" b="1" baseline="-25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0" y="4304975"/>
            <a:ext cx="609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</a:t>
            </a:r>
            <a:r>
              <a:rPr lang="en-US" sz="2800" baseline="-25000"/>
              <a:t>1</a:t>
            </a:r>
            <a:r>
              <a:rPr lang="en-US" sz="2800"/>
              <a:t>, …, A</a:t>
            </a:r>
            <a:r>
              <a:rPr lang="en-US" sz="2800" baseline="-25000"/>
              <a:t>m</a:t>
            </a:r>
            <a:r>
              <a:rPr lang="en-US" sz="2800"/>
              <a:t> </a:t>
            </a:r>
            <a:r>
              <a:rPr lang="en-US" sz="2800">
                <a:sym typeface="Wingdings"/>
              </a:rPr>
              <a:t> B</a:t>
            </a:r>
            <a:r>
              <a:rPr lang="en-US" sz="2800" baseline="-25000">
                <a:sym typeface="Wingdings"/>
              </a:rPr>
              <a:t>1</a:t>
            </a:r>
            <a:r>
              <a:rPr lang="en-US" sz="2800">
                <a:sym typeface="Wingdings"/>
              </a:rPr>
              <a:t>,…,</a:t>
            </a:r>
            <a:r>
              <a:rPr lang="en-US" sz="2800" err="1">
                <a:sym typeface="Wingdings"/>
              </a:rPr>
              <a:t>B</a:t>
            </a:r>
            <a:r>
              <a:rPr lang="en-US" sz="2800" baseline="-25000" err="1">
                <a:sym typeface="Wingdings"/>
              </a:rPr>
              <a:t>n</a:t>
            </a:r>
            <a:r>
              <a:rPr lang="en-US" sz="2800" baseline="-25000">
                <a:sym typeface="Wingdings"/>
              </a:rPr>
              <a:t> </a:t>
            </a:r>
            <a:r>
              <a:rPr lang="en-US" sz="2800">
                <a:sym typeface="Wingdings"/>
              </a:rPr>
              <a:t>and</a:t>
            </a:r>
          </a:p>
          <a:p>
            <a:r>
              <a:rPr lang="en-US" sz="2800">
                <a:sym typeface="Wingdings"/>
              </a:rPr>
              <a:t>B</a:t>
            </a:r>
            <a:r>
              <a:rPr lang="en-US" sz="2800" baseline="-25000">
                <a:sym typeface="Wingdings"/>
              </a:rPr>
              <a:t>1</a:t>
            </a:r>
            <a:r>
              <a:rPr lang="en-US" sz="2800">
                <a:sym typeface="Wingdings"/>
              </a:rPr>
              <a:t>,…,</a:t>
            </a:r>
            <a:r>
              <a:rPr lang="en-US" sz="2800" err="1">
                <a:sym typeface="Wingdings"/>
              </a:rPr>
              <a:t>B</a:t>
            </a:r>
            <a:r>
              <a:rPr lang="en-US" sz="2800" baseline="-25000" err="1">
                <a:sym typeface="Wingdings"/>
              </a:rPr>
              <a:t>n</a:t>
            </a:r>
            <a:r>
              <a:rPr lang="en-US" sz="2800">
                <a:sym typeface="Wingdings"/>
              </a:rPr>
              <a:t>  C</a:t>
            </a:r>
            <a:r>
              <a:rPr lang="en-US" sz="2800" baseline="-25000">
                <a:sym typeface="Wingdings"/>
              </a:rPr>
              <a:t>1</a:t>
            </a:r>
            <a:r>
              <a:rPr lang="en-US" sz="2800">
                <a:sym typeface="Wingdings"/>
              </a:rPr>
              <a:t>,…,</a:t>
            </a:r>
            <a:r>
              <a:rPr lang="en-US" sz="2800" err="1">
                <a:sym typeface="Wingdings"/>
              </a:rPr>
              <a:t>C</a:t>
            </a:r>
            <a:r>
              <a:rPr lang="en-US" sz="2800" baseline="-25000" err="1">
                <a:sym typeface="Wingdings"/>
              </a:rPr>
              <a:t>k</a:t>
            </a:r>
            <a:endParaRPr lang="en-US" sz="2800" baseline="-25000"/>
          </a:p>
        </p:txBody>
      </p:sp>
      <p:sp>
        <p:nvSpPr>
          <p:cNvPr id="9" name="Rounded Rectangle 8"/>
          <p:cNvSpPr/>
          <p:nvPr/>
        </p:nvSpPr>
        <p:spPr>
          <a:xfrm>
            <a:off x="3524922" y="2383987"/>
            <a:ext cx="1553582" cy="1280160"/>
          </a:xfrm>
          <a:prstGeom prst="roundRect">
            <a:avLst/>
          </a:prstGeom>
          <a:gradFill>
            <a:gsLst>
              <a:gs pos="0">
                <a:schemeClr val="accent2">
                  <a:tint val="50000"/>
                  <a:satMod val="300000"/>
                  <a:alpha val="50000"/>
                </a:schemeClr>
              </a:gs>
              <a:gs pos="35000">
                <a:schemeClr val="accent2">
                  <a:tint val="37000"/>
                  <a:satMod val="300000"/>
                  <a:alpha val="50000"/>
                </a:schemeClr>
              </a:gs>
              <a:gs pos="100000">
                <a:schemeClr val="accent2">
                  <a:tint val="15000"/>
                  <a:satMod val="350000"/>
                  <a:alpha val="50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5515983" y="2383987"/>
            <a:ext cx="1645024" cy="1280160"/>
          </a:xfrm>
          <a:prstGeom prst="roundRect">
            <a:avLst/>
          </a:prstGeom>
          <a:gradFill>
            <a:gsLst>
              <a:gs pos="0">
                <a:schemeClr val="accent2">
                  <a:tint val="50000"/>
                  <a:satMod val="300000"/>
                  <a:alpha val="50000"/>
                </a:schemeClr>
              </a:gs>
              <a:gs pos="35000">
                <a:schemeClr val="accent2">
                  <a:tint val="37000"/>
                  <a:satMod val="300000"/>
                  <a:alpha val="50000"/>
                </a:schemeClr>
              </a:gs>
              <a:gs pos="100000">
                <a:schemeClr val="accent2">
                  <a:tint val="15000"/>
                  <a:satMod val="350000"/>
                  <a:alpha val="50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4723504" y="2687890"/>
            <a:ext cx="1156102" cy="67235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7562937" y="2383987"/>
            <a:ext cx="1645024" cy="1280160"/>
          </a:xfrm>
          <a:prstGeom prst="roundRect">
            <a:avLst/>
          </a:prstGeom>
          <a:gradFill>
            <a:gsLst>
              <a:gs pos="0">
                <a:schemeClr val="accent2">
                  <a:tint val="50000"/>
                  <a:satMod val="300000"/>
                  <a:alpha val="50000"/>
                </a:schemeClr>
              </a:gs>
              <a:gs pos="35000">
                <a:schemeClr val="accent2">
                  <a:tint val="37000"/>
                  <a:satMod val="300000"/>
                  <a:alpha val="50000"/>
                </a:schemeClr>
              </a:gs>
              <a:gs pos="100000">
                <a:schemeClr val="accent2">
                  <a:tint val="15000"/>
                  <a:satMod val="350000"/>
                  <a:alpha val="50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6780920" y="2687890"/>
            <a:ext cx="1156102" cy="67235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8" name="Rectangle 1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Finding FDs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E59A02-0BD5-46A3-9AAB-D0840DC8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784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4000"/>
            <a:ext cx="8229600" cy="1143000"/>
          </a:xfrm>
        </p:spPr>
        <p:txBody>
          <a:bodyPr/>
          <a:lstStyle/>
          <a:p>
            <a:r>
              <a:rPr lang="en-US"/>
              <a:t>3. Transitive Closure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329316"/>
              </p:ext>
            </p:extLst>
          </p:nvPr>
        </p:nvGraphicFramePr>
        <p:xfrm>
          <a:off x="3048000" y="1755205"/>
          <a:ext cx="6096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  <a:r>
                        <a:rPr lang="en-US" b="1" baseline="-25000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B</a:t>
                      </a:r>
                      <a:r>
                        <a:rPr lang="en-US" b="1" baseline="-25000" err="1"/>
                        <a:t>n</a:t>
                      </a:r>
                      <a:endParaRPr lang="en-US" b="1" baseline="-25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/>
                        <a:t>C</a:t>
                      </a:r>
                      <a:r>
                        <a:rPr lang="en-US" b="1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 err="1"/>
                        <a:t>C</a:t>
                      </a:r>
                      <a:r>
                        <a:rPr lang="en-US" b="1" baseline="-25000" err="1"/>
                        <a:t>k</a:t>
                      </a:r>
                      <a:endParaRPr lang="en-US" b="1" baseline="-25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0" y="4304975"/>
            <a:ext cx="609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</a:t>
            </a:r>
            <a:r>
              <a:rPr lang="en-US" sz="2800" baseline="-25000"/>
              <a:t>1</a:t>
            </a:r>
            <a:r>
              <a:rPr lang="en-US" sz="2800"/>
              <a:t>, …, A</a:t>
            </a:r>
            <a:r>
              <a:rPr lang="en-US" sz="2800" baseline="-25000"/>
              <a:t>m</a:t>
            </a:r>
            <a:r>
              <a:rPr lang="en-US" sz="2800"/>
              <a:t> </a:t>
            </a:r>
            <a:r>
              <a:rPr lang="en-US" sz="2800">
                <a:sym typeface="Wingdings"/>
              </a:rPr>
              <a:t> B</a:t>
            </a:r>
            <a:r>
              <a:rPr lang="en-US" sz="2800" baseline="-25000">
                <a:sym typeface="Wingdings"/>
              </a:rPr>
              <a:t>1</a:t>
            </a:r>
            <a:r>
              <a:rPr lang="en-US" sz="2800">
                <a:sym typeface="Wingdings"/>
              </a:rPr>
              <a:t>,…,</a:t>
            </a:r>
            <a:r>
              <a:rPr lang="en-US" sz="2800" err="1">
                <a:sym typeface="Wingdings"/>
              </a:rPr>
              <a:t>B</a:t>
            </a:r>
            <a:r>
              <a:rPr lang="en-US" sz="2800" baseline="-25000" err="1">
                <a:sym typeface="Wingdings"/>
              </a:rPr>
              <a:t>n</a:t>
            </a:r>
            <a:r>
              <a:rPr lang="en-US" sz="2800" baseline="-25000">
                <a:sym typeface="Wingdings"/>
              </a:rPr>
              <a:t> </a:t>
            </a:r>
            <a:r>
              <a:rPr lang="en-US" sz="2800">
                <a:sym typeface="Wingdings"/>
              </a:rPr>
              <a:t>and</a:t>
            </a:r>
          </a:p>
          <a:p>
            <a:r>
              <a:rPr lang="en-US" sz="2800">
                <a:sym typeface="Wingdings"/>
              </a:rPr>
              <a:t>B</a:t>
            </a:r>
            <a:r>
              <a:rPr lang="en-US" sz="2800" baseline="-25000">
                <a:sym typeface="Wingdings"/>
              </a:rPr>
              <a:t>1</a:t>
            </a:r>
            <a:r>
              <a:rPr lang="en-US" sz="2800">
                <a:sym typeface="Wingdings"/>
              </a:rPr>
              <a:t>,…,</a:t>
            </a:r>
            <a:r>
              <a:rPr lang="en-US" sz="2800" err="1">
                <a:sym typeface="Wingdings"/>
              </a:rPr>
              <a:t>B</a:t>
            </a:r>
            <a:r>
              <a:rPr lang="en-US" sz="2800" baseline="-25000" err="1">
                <a:sym typeface="Wingdings"/>
              </a:rPr>
              <a:t>n</a:t>
            </a:r>
            <a:r>
              <a:rPr lang="en-US" sz="2800">
                <a:sym typeface="Wingdings"/>
              </a:rPr>
              <a:t>  C</a:t>
            </a:r>
            <a:r>
              <a:rPr lang="en-US" sz="2800" baseline="-25000">
                <a:sym typeface="Wingdings"/>
              </a:rPr>
              <a:t>1</a:t>
            </a:r>
            <a:r>
              <a:rPr lang="en-US" sz="2800">
                <a:sym typeface="Wingdings"/>
              </a:rPr>
              <a:t>,…,</a:t>
            </a:r>
            <a:r>
              <a:rPr lang="en-US" sz="2800" err="1">
                <a:sym typeface="Wingdings"/>
              </a:rPr>
              <a:t>C</a:t>
            </a:r>
            <a:r>
              <a:rPr lang="en-US" sz="2800" baseline="-25000" err="1">
                <a:sym typeface="Wingdings"/>
              </a:rPr>
              <a:t>k</a:t>
            </a:r>
            <a:endParaRPr lang="en-US" sz="2800" baseline="-25000"/>
          </a:p>
        </p:txBody>
      </p:sp>
      <p:sp>
        <p:nvSpPr>
          <p:cNvPr id="6" name="TextBox 5"/>
          <p:cNvSpPr txBox="1"/>
          <p:nvPr/>
        </p:nvSpPr>
        <p:spPr>
          <a:xfrm>
            <a:off x="3048001" y="5344214"/>
            <a:ext cx="6095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implies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1786" y="5866747"/>
            <a:ext cx="6095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A</a:t>
            </a:r>
            <a:r>
              <a:rPr lang="en-US" sz="2800" baseline="-25000"/>
              <a:t>1</a:t>
            </a:r>
            <a:r>
              <a:rPr lang="en-US" sz="2800"/>
              <a:t>,…,A</a:t>
            </a:r>
            <a:r>
              <a:rPr lang="en-US" sz="2800" baseline="-25000"/>
              <a:t>m</a:t>
            </a:r>
            <a:r>
              <a:rPr lang="en-US" sz="2800"/>
              <a:t> </a:t>
            </a:r>
            <a:r>
              <a:rPr lang="en-US" sz="2800">
                <a:sym typeface="Wingdings"/>
              </a:rPr>
              <a:t> C</a:t>
            </a:r>
            <a:r>
              <a:rPr lang="en-US" sz="2800" baseline="-25000">
                <a:sym typeface="Wingdings"/>
              </a:rPr>
              <a:t>1</a:t>
            </a:r>
            <a:r>
              <a:rPr lang="en-US" sz="2800">
                <a:sym typeface="Wingdings"/>
              </a:rPr>
              <a:t>,…,</a:t>
            </a:r>
            <a:r>
              <a:rPr lang="en-US" sz="2800" err="1">
                <a:sym typeface="Wingdings"/>
              </a:rPr>
              <a:t>C</a:t>
            </a:r>
            <a:r>
              <a:rPr lang="en-US" sz="2800" baseline="-25000" err="1">
                <a:sym typeface="Wingdings"/>
              </a:rPr>
              <a:t>k</a:t>
            </a:r>
            <a:endParaRPr lang="en-US" sz="2800" baseline="-25000"/>
          </a:p>
        </p:txBody>
      </p:sp>
      <p:sp>
        <p:nvSpPr>
          <p:cNvPr id="9" name="Rounded Rectangle 8"/>
          <p:cNvSpPr/>
          <p:nvPr/>
        </p:nvSpPr>
        <p:spPr>
          <a:xfrm>
            <a:off x="3524922" y="2383987"/>
            <a:ext cx="1553582" cy="1280160"/>
          </a:xfrm>
          <a:prstGeom prst="roundRect">
            <a:avLst/>
          </a:prstGeom>
          <a:gradFill>
            <a:gsLst>
              <a:gs pos="0">
                <a:schemeClr val="accent2">
                  <a:tint val="50000"/>
                  <a:satMod val="300000"/>
                  <a:alpha val="50000"/>
                </a:schemeClr>
              </a:gs>
              <a:gs pos="35000">
                <a:schemeClr val="accent2">
                  <a:tint val="37000"/>
                  <a:satMod val="300000"/>
                  <a:alpha val="50000"/>
                </a:schemeClr>
              </a:gs>
              <a:gs pos="100000">
                <a:schemeClr val="accent2">
                  <a:tint val="15000"/>
                  <a:satMod val="350000"/>
                  <a:alpha val="50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7562937" y="2383987"/>
            <a:ext cx="1645024" cy="1280160"/>
          </a:xfrm>
          <a:prstGeom prst="roundRect">
            <a:avLst/>
          </a:prstGeom>
          <a:gradFill>
            <a:gsLst>
              <a:gs pos="0">
                <a:schemeClr val="accent2">
                  <a:tint val="50000"/>
                  <a:satMod val="300000"/>
                  <a:alpha val="50000"/>
                </a:schemeClr>
              </a:gs>
              <a:gs pos="35000">
                <a:schemeClr val="accent2">
                  <a:tint val="37000"/>
                  <a:satMod val="300000"/>
                  <a:alpha val="50000"/>
                </a:schemeClr>
              </a:gs>
              <a:gs pos="100000">
                <a:schemeClr val="accent2">
                  <a:tint val="15000"/>
                  <a:satMod val="350000"/>
                  <a:alpha val="50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4723504" y="2687890"/>
            <a:ext cx="3147509" cy="67235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Finding FDs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2343D-D7AC-4451-9542-ECDF8321C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097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0837F-0FA5-F85B-1573-54174BACF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Example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18283-B384-5A3E-FB69-D6B4D9DDF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{Name} -&gt; {color}</a:t>
            </a:r>
          </a:p>
          <a:p>
            <a:r>
              <a:rPr lang="en-US">
                <a:ea typeface="Calibri"/>
                <a:cs typeface="Calibri"/>
              </a:rPr>
              <a:t>{color, category} --&gt; {price}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Then, </a:t>
            </a:r>
          </a:p>
          <a:p>
            <a:r>
              <a:rPr lang="en-US">
                <a:ea typeface="Calibri"/>
                <a:cs typeface="Calibri"/>
              </a:rPr>
              <a:t>{Name, category} -&gt; {price}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D1B22-2E42-784A-6A93-D939E6B6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8003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Finding Functional Dependencies</a:t>
            </a:r>
            <a:endParaRPr lang="en-US" sz="2200" i="1"/>
          </a:p>
        </p:txBody>
      </p:sp>
      <p:sp>
        <p:nvSpPr>
          <p:cNvPr id="5" name="TextBox 4"/>
          <p:cNvSpPr txBox="1"/>
          <p:nvPr/>
        </p:nvSpPr>
        <p:spPr>
          <a:xfrm>
            <a:off x="7251192" y="2702413"/>
            <a:ext cx="4617720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>
                <a:latin typeface="+mj-lt"/>
              </a:rPr>
              <a:t>1. {Name} </a:t>
            </a:r>
            <a:r>
              <a:rPr lang="en-US" sz="2800">
                <a:latin typeface="+mj-lt"/>
                <a:sym typeface="Wingdings"/>
              </a:rPr>
              <a:t></a:t>
            </a:r>
            <a:r>
              <a:rPr lang="en-US" sz="2800">
                <a:latin typeface="+mj-lt"/>
              </a:rPr>
              <a:t> {Color}</a:t>
            </a:r>
          </a:p>
          <a:p>
            <a:r>
              <a:rPr lang="en-US" sz="2800">
                <a:latin typeface="+mj-lt"/>
              </a:rPr>
              <a:t>2. {Category} </a:t>
            </a:r>
            <a:r>
              <a:rPr lang="en-US" sz="2800">
                <a:latin typeface="+mj-lt"/>
                <a:sym typeface="Wingdings"/>
              </a:rPr>
              <a:t> {Department}</a:t>
            </a:r>
          </a:p>
          <a:p>
            <a:r>
              <a:rPr lang="en-US" sz="2800">
                <a:latin typeface="+mj-lt"/>
                <a:sym typeface="Wingdings"/>
              </a:rPr>
              <a:t>3. {Color, Category}  {Price}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200" y="2679856"/>
          <a:ext cx="60960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4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6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Color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Category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err="1"/>
                        <a:t>Dep</a:t>
                      </a:r>
                      <a:endParaRPr lang="en-US" sz="2400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Price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Gizmo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Green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Gadget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Toys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49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237">
                <a:tc>
                  <a:txBody>
                    <a:bodyPr/>
                    <a:lstStyle/>
                    <a:p>
                      <a:r>
                        <a:rPr lang="en-US" sz="2400"/>
                        <a:t>Widget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Black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Gadget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Toys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59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Gizmo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Green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Whatsit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Garden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99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461922" y="5374862"/>
            <a:ext cx="5268155" cy="492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600">
                <a:latin typeface="+mj-lt"/>
                <a:sym typeface="Wingdings"/>
              </a:rPr>
              <a:t>Which / how many other FDs hold?</a:t>
            </a:r>
            <a:endParaRPr lang="en-US" sz="260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41570" y="2209971"/>
            <a:ext cx="247487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/>
              <a:t>Provided FDs: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780" y="2209970"/>
            <a:ext cx="247487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/>
              <a:t>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479578"/>
            <a:ext cx="1305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>
                <a:latin typeface="+mj-lt"/>
              </a:rPr>
              <a:t>Example: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Finding FDs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F35FE9-A83F-4864-A1F8-1BA9321C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8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Finding Functional Dependencies</a:t>
            </a:r>
            <a:endParaRPr lang="en-US" sz="2200" i="1"/>
          </a:p>
        </p:txBody>
      </p:sp>
      <p:sp>
        <p:nvSpPr>
          <p:cNvPr id="5" name="TextBox 4"/>
          <p:cNvSpPr txBox="1"/>
          <p:nvPr/>
        </p:nvSpPr>
        <p:spPr>
          <a:xfrm>
            <a:off x="8730076" y="2702413"/>
            <a:ext cx="3138835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1. {Name} </a:t>
            </a:r>
            <a:r>
              <a:rPr lang="en-US" sz="2400">
                <a:latin typeface="+mj-lt"/>
                <a:sym typeface="Wingdings"/>
              </a:rPr>
              <a:t></a:t>
            </a:r>
            <a:r>
              <a:rPr lang="en-US" sz="2400">
                <a:latin typeface="+mj-lt"/>
              </a:rPr>
              <a:t> {Color}</a:t>
            </a:r>
          </a:p>
          <a:p>
            <a:r>
              <a:rPr lang="en-US" sz="2400">
                <a:latin typeface="+mj-lt"/>
              </a:rPr>
              <a:t>2. {Category} </a:t>
            </a:r>
            <a:r>
              <a:rPr lang="en-US" sz="2400">
                <a:latin typeface="+mj-lt"/>
                <a:sym typeface="Wingdings"/>
              </a:rPr>
              <a:t> {Dept.}</a:t>
            </a:r>
          </a:p>
          <a:p>
            <a:r>
              <a:rPr lang="en-US" sz="2400">
                <a:latin typeface="+mj-lt"/>
                <a:sym typeface="Wingdings"/>
              </a:rPr>
              <a:t>3. {Color, Category}  {Price}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61921" y="5851696"/>
            <a:ext cx="5268155" cy="492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600">
                <a:latin typeface="+mj-lt"/>
                <a:sym typeface="Wingdings"/>
              </a:rPr>
              <a:t>Which / how many other FDs hold?</a:t>
            </a:r>
            <a:endParaRPr lang="en-US" sz="260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91636" y="2209969"/>
            <a:ext cx="247487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/>
              <a:t>Provided FDs: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928" y="2209970"/>
            <a:ext cx="247487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/>
              <a:t>Inferred FDs: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479578"/>
            <a:ext cx="1305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>
                <a:latin typeface="+mj-lt"/>
              </a:rPr>
              <a:t>Example: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838040"/>
              </p:ext>
            </p:extLst>
          </p:nvPr>
        </p:nvGraphicFramePr>
        <p:xfrm>
          <a:off x="351928" y="2702413"/>
          <a:ext cx="8039708" cy="2656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274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Inferred</a:t>
                      </a:r>
                      <a:r>
                        <a:rPr lang="en-US" baseline="0"/>
                        <a:t> FD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Rule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4.</a:t>
                      </a:r>
                      <a:r>
                        <a:rPr lang="en-US" sz="2400" baseline="0"/>
                        <a:t> {Name, Category} -&gt; {Name}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5. {Name, Category} -&gt; {Color}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6. {Name, Category}</a:t>
                      </a:r>
                      <a:r>
                        <a:rPr lang="en-US" sz="2400" baseline="0"/>
                        <a:t> -&gt; {Category}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7. {Name, Category}</a:t>
                      </a:r>
                      <a:r>
                        <a:rPr lang="en-US" sz="2400" baseline="0"/>
                        <a:t> -&gt; {Color, Category}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8. {Name, Category} -&gt; {Price}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Finding FDs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76F0DA-70CD-4217-9D4F-3CC5745E4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35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Finding Functional Dependencies</a:t>
            </a:r>
            <a:endParaRPr lang="en-US" sz="2200" i="1"/>
          </a:p>
        </p:txBody>
      </p:sp>
      <p:sp>
        <p:nvSpPr>
          <p:cNvPr id="5" name="TextBox 4"/>
          <p:cNvSpPr txBox="1"/>
          <p:nvPr/>
        </p:nvSpPr>
        <p:spPr>
          <a:xfrm>
            <a:off x="8730076" y="2702413"/>
            <a:ext cx="3138835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1. {Name} </a:t>
            </a:r>
            <a:r>
              <a:rPr lang="en-US" sz="2400">
                <a:latin typeface="+mj-lt"/>
                <a:sym typeface="Wingdings"/>
              </a:rPr>
              <a:t></a:t>
            </a:r>
            <a:r>
              <a:rPr lang="en-US" sz="2400">
                <a:latin typeface="+mj-lt"/>
              </a:rPr>
              <a:t> {Color}</a:t>
            </a:r>
          </a:p>
          <a:p>
            <a:r>
              <a:rPr lang="en-US" sz="2400">
                <a:latin typeface="+mj-lt"/>
              </a:rPr>
              <a:t>2. {Category} </a:t>
            </a:r>
            <a:r>
              <a:rPr lang="en-US" sz="2400">
                <a:latin typeface="+mj-lt"/>
                <a:sym typeface="Wingdings"/>
              </a:rPr>
              <a:t> {Dept.}</a:t>
            </a:r>
          </a:p>
          <a:p>
            <a:r>
              <a:rPr lang="en-US" sz="2400">
                <a:latin typeface="+mj-lt"/>
                <a:sym typeface="Wingdings"/>
              </a:rPr>
              <a:t>3. {Color, Category}  {Price}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3937" y="5851696"/>
            <a:ext cx="5844125" cy="492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600">
                <a:latin typeface="+mj-lt"/>
                <a:sym typeface="Wingdings"/>
              </a:rPr>
              <a:t>Can we find an algorithmic way to do this?</a:t>
            </a:r>
            <a:endParaRPr lang="en-US" sz="260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91636" y="2209969"/>
            <a:ext cx="247487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/>
              <a:t>Provided FDs: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928" y="2209970"/>
            <a:ext cx="247487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/>
              <a:t>Inferred FDs: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479578"/>
            <a:ext cx="1305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>
                <a:latin typeface="+mj-lt"/>
              </a:rPr>
              <a:t>Example: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527695"/>
              </p:ext>
            </p:extLst>
          </p:nvPr>
        </p:nvGraphicFramePr>
        <p:xfrm>
          <a:off x="351928" y="2702413"/>
          <a:ext cx="8039708" cy="2656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274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Inferred</a:t>
                      </a:r>
                      <a:r>
                        <a:rPr lang="en-US" baseline="0"/>
                        <a:t> FD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Rule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4.</a:t>
                      </a:r>
                      <a:r>
                        <a:rPr lang="en-US" sz="2400" baseline="0"/>
                        <a:t> {Name, Category} -&gt; {Name}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Trivial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5. {Name, Category} -&gt; {Color}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Transitive</a:t>
                      </a:r>
                      <a:r>
                        <a:rPr lang="en-US" sz="2400" baseline="0"/>
                        <a:t> (4 -&gt; 1)</a:t>
                      </a: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6. {Name, Category}</a:t>
                      </a:r>
                      <a:r>
                        <a:rPr lang="en-US" sz="2400" baseline="0"/>
                        <a:t> -&gt; {Category}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Trivial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7. {Name, Category}</a:t>
                      </a:r>
                      <a:r>
                        <a:rPr lang="en-US" sz="2400" baseline="0"/>
                        <a:t> -&gt; {Color, Category}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Split/combine</a:t>
                      </a:r>
                      <a:r>
                        <a:rPr lang="en-US" sz="2400" baseline="0"/>
                        <a:t> (5 + 6)</a:t>
                      </a: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8. {Name, Category} -&gt; {Price}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Transitive (7 -&gt;</a:t>
                      </a:r>
                      <a:r>
                        <a:rPr lang="en-US" sz="2400" baseline="0"/>
                        <a:t> 3)</a:t>
                      </a: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Finding FDs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477864-71CE-453E-9A5F-43A199E90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8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218433"/>
            <a:ext cx="8229600" cy="1143000"/>
          </a:xfrm>
        </p:spPr>
        <p:txBody>
          <a:bodyPr/>
          <a:lstStyle/>
          <a:p>
            <a:r>
              <a:rPr lang="en-US"/>
              <a:t>Closures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Closures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E8B2A-4CC8-43DB-8D9E-78E4E1212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3871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Closure of a set of Attributes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82A76-1978-E744-848C-DEB1AB600577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43043" name="Text Box 3"/>
          <p:cNvSpPr txBox="1">
            <a:spLocks noChangeArrowheads="1"/>
          </p:cNvSpPr>
          <p:nvPr/>
        </p:nvSpPr>
        <p:spPr bwMode="auto">
          <a:xfrm>
            <a:off x="838200" y="1761732"/>
            <a:ext cx="10678610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800" b="1">
                <a:solidFill>
                  <a:prstClr val="black"/>
                </a:solidFill>
                <a:latin typeface="+mj-lt"/>
              </a:rPr>
              <a:t>Given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 a set of attributes  </a:t>
            </a:r>
            <a:r>
              <a:rPr lang="en-US" sz="2800" b="1">
                <a:solidFill>
                  <a:prstClr val="black"/>
                </a:solidFill>
                <a:latin typeface="+mj-lt"/>
              </a:rPr>
              <a:t>A</a:t>
            </a:r>
            <a:r>
              <a:rPr lang="en-US" sz="2800" b="1" baseline="-25000">
                <a:solidFill>
                  <a:prstClr val="black"/>
                </a:solidFill>
                <a:latin typeface="+mj-lt"/>
              </a:rPr>
              <a:t>1</a:t>
            </a:r>
            <a:r>
              <a:rPr lang="en-US" sz="2800" b="1">
                <a:solidFill>
                  <a:prstClr val="black"/>
                </a:solidFill>
                <a:latin typeface="+mj-lt"/>
              </a:rPr>
              <a:t>, …, A</a:t>
            </a:r>
            <a:r>
              <a:rPr lang="en-US" sz="2800" b="1" baseline="-25000">
                <a:solidFill>
                  <a:prstClr val="black"/>
                </a:solidFill>
                <a:latin typeface="+mj-lt"/>
              </a:rPr>
              <a:t>n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 and a set of FDs </a:t>
            </a:r>
            <a:r>
              <a:rPr lang="en-US" sz="2800" b="1">
                <a:solidFill>
                  <a:prstClr val="black"/>
                </a:solidFill>
                <a:latin typeface="+mj-lt"/>
              </a:rPr>
              <a:t>F:</a:t>
            </a:r>
          </a:p>
          <a:p>
            <a:pPr eaLnBrk="0" hangingPunct="0"/>
            <a:r>
              <a:rPr lang="en-US" sz="2800" b="1">
                <a:solidFill>
                  <a:prstClr val="black"/>
                </a:solidFill>
                <a:latin typeface="+mj-lt"/>
              </a:rPr>
              <a:t>Then 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the </a:t>
            </a:r>
            <a:r>
              <a:rPr lang="en-US" sz="2800" b="1" u="sng">
                <a:solidFill>
                  <a:prstClr val="black"/>
                </a:solidFill>
                <a:latin typeface="+mj-lt"/>
              </a:rPr>
              <a:t>closure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, </a:t>
            </a:r>
            <a:r>
              <a:rPr lang="en-US" sz="2800" b="1">
                <a:solidFill>
                  <a:prstClr val="black"/>
                </a:solidFill>
                <a:latin typeface="+mj-lt"/>
              </a:rPr>
              <a:t>{A</a:t>
            </a:r>
            <a:r>
              <a:rPr lang="en-US" sz="2800" b="1" baseline="-25000">
                <a:solidFill>
                  <a:prstClr val="black"/>
                </a:solidFill>
                <a:latin typeface="+mj-lt"/>
              </a:rPr>
              <a:t>1</a:t>
            </a:r>
            <a:r>
              <a:rPr lang="en-US" sz="2800" b="1">
                <a:solidFill>
                  <a:prstClr val="black"/>
                </a:solidFill>
                <a:latin typeface="+mj-lt"/>
              </a:rPr>
              <a:t>, …, A</a:t>
            </a:r>
            <a:r>
              <a:rPr lang="en-US" sz="2800" b="1" baseline="-25000">
                <a:solidFill>
                  <a:prstClr val="black"/>
                </a:solidFill>
                <a:latin typeface="+mj-lt"/>
              </a:rPr>
              <a:t>n</a:t>
            </a:r>
            <a:r>
              <a:rPr lang="en-US" sz="2800" b="1">
                <a:solidFill>
                  <a:prstClr val="black"/>
                </a:solidFill>
                <a:latin typeface="+mj-lt"/>
              </a:rPr>
              <a:t>}</a:t>
            </a:r>
            <a:r>
              <a:rPr lang="en-US" sz="2800" b="1" baseline="30000">
                <a:solidFill>
                  <a:prstClr val="black"/>
                </a:solidFill>
                <a:latin typeface="+mj-lt"/>
              </a:rPr>
              <a:t>+</a:t>
            </a:r>
            <a:r>
              <a:rPr lang="en-US" sz="2800" b="1">
                <a:solidFill>
                  <a:prstClr val="black"/>
                </a:solidFill>
                <a:latin typeface="+mj-lt"/>
              </a:rPr>
              <a:t> 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is the set of attributes </a:t>
            </a:r>
            <a:r>
              <a:rPr lang="en-US" sz="2800" b="1">
                <a:solidFill>
                  <a:prstClr val="black"/>
                </a:solidFill>
                <a:latin typeface="+mj-lt"/>
              </a:rPr>
              <a:t>B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+mj-lt"/>
              </a:rPr>
              <a:t>s.t.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 {</a:t>
            </a:r>
            <a:r>
              <a:rPr lang="en-US" sz="2800" b="1">
                <a:solidFill>
                  <a:prstClr val="black"/>
                </a:solidFill>
                <a:latin typeface="+mj-lt"/>
              </a:rPr>
              <a:t>A</a:t>
            </a:r>
            <a:r>
              <a:rPr lang="en-US" sz="2800" b="1" baseline="-25000">
                <a:solidFill>
                  <a:prstClr val="black"/>
                </a:solidFill>
                <a:latin typeface="+mj-lt"/>
              </a:rPr>
              <a:t>1</a:t>
            </a:r>
            <a:r>
              <a:rPr lang="en-US" sz="2800" b="1">
                <a:solidFill>
                  <a:prstClr val="black"/>
                </a:solidFill>
                <a:latin typeface="+mj-lt"/>
              </a:rPr>
              <a:t>, …, A</a:t>
            </a:r>
            <a:r>
              <a:rPr lang="en-US" sz="2800" b="1" baseline="-25000">
                <a:solidFill>
                  <a:prstClr val="black"/>
                </a:solidFill>
                <a:latin typeface="+mj-lt"/>
              </a:rPr>
              <a:t>n</a:t>
            </a:r>
            <a:r>
              <a:rPr lang="en-US" sz="2800" b="1">
                <a:solidFill>
                  <a:prstClr val="black"/>
                </a:solidFill>
                <a:latin typeface="+mj-lt"/>
              </a:rPr>
              <a:t>} </a:t>
            </a:r>
            <a:r>
              <a:rPr lang="en-US" sz="2800" b="1">
                <a:solidFill>
                  <a:prstClr val="black"/>
                </a:solidFill>
                <a:latin typeface="+mj-lt"/>
                <a:sym typeface="Wingdings" charset="2"/>
              </a:rPr>
              <a:t> B</a:t>
            </a:r>
            <a:endParaRPr lang="en-US" sz="2800" b="1">
              <a:solidFill>
                <a:prstClr val="black"/>
              </a:solidFill>
              <a:latin typeface="+mj-lt"/>
            </a:endParaRPr>
          </a:p>
        </p:txBody>
      </p:sp>
      <p:sp>
        <p:nvSpPr>
          <p:cNvPr id="343044" name="Text Box 4"/>
          <p:cNvSpPr txBox="1">
            <a:spLocks noChangeArrowheads="1"/>
          </p:cNvSpPr>
          <p:nvPr/>
        </p:nvSpPr>
        <p:spPr bwMode="auto">
          <a:xfrm>
            <a:off x="3366397" y="3307747"/>
            <a:ext cx="3457998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{color}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{category}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{dept}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{color, category}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{price}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343045" name="Text Box 5"/>
          <p:cNvSpPr txBox="1">
            <a:spLocks noChangeArrowheads="1"/>
          </p:cNvSpPr>
          <p:nvPr/>
        </p:nvSpPr>
        <p:spPr bwMode="auto">
          <a:xfrm>
            <a:off x="838200" y="3215414"/>
            <a:ext cx="24288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u="sng">
                <a:solidFill>
                  <a:prstClr val="black"/>
                </a:solidFill>
                <a:latin typeface="+mj-lt"/>
              </a:rPr>
              <a:t>Example: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      </a:t>
            </a:r>
            <a:r>
              <a:rPr lang="en-US" sz="2800">
                <a:solidFill>
                  <a:prstClr val="black"/>
                </a:solidFill>
                <a:latin typeface="Calibri"/>
              </a:rPr>
              <a:t>F =</a:t>
            </a:r>
          </a:p>
        </p:txBody>
      </p:sp>
      <p:sp>
        <p:nvSpPr>
          <p:cNvPr id="343046" name="Text Box 6"/>
          <p:cNvSpPr txBox="1">
            <a:spLocks noChangeArrowheads="1"/>
          </p:cNvSpPr>
          <p:nvPr/>
        </p:nvSpPr>
        <p:spPr bwMode="auto">
          <a:xfrm>
            <a:off x="838200" y="4812453"/>
            <a:ext cx="173708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800" b="1" i="1">
                <a:solidFill>
                  <a:prstClr val="black"/>
                </a:solidFill>
                <a:latin typeface="+mj-lt"/>
              </a:rPr>
              <a:t>Example Closures:</a:t>
            </a:r>
            <a:endParaRPr lang="en-US" sz="2400" b="1" i="1">
              <a:solidFill>
                <a:prstClr val="black"/>
              </a:solidFill>
              <a:latin typeface="+mj-lt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366397" y="4812453"/>
            <a:ext cx="6935071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{name}</a:t>
            </a:r>
            <a:r>
              <a:rPr lang="en-US" sz="2400" baseline="300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=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color}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category}</a:t>
            </a:r>
            <a:r>
              <a:rPr lang="en-US" sz="2400" baseline="300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=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category, color, </a:t>
            </a:r>
            <a:r>
              <a:rPr lang="en-US" sz="2400" err="1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dept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, price}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{color}</a:t>
            </a:r>
            <a:r>
              <a:rPr lang="en-US" sz="2400" baseline="300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=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{color}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Closures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256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44" grpId="0" animBg="1"/>
      <p:bldP spid="343045" grpId="0"/>
      <p:bldP spid="343046" grpId="0"/>
      <p:bldP spid="1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Closure Algorithm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FEF2-21A1-FB4C-B5C2-3D84646BF1A2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47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4067" name="Text Box 3"/>
              <p:cNvSpPr txBox="1">
                <a:spLocks noChangeArrowheads="1"/>
              </p:cNvSpPr>
              <p:nvPr/>
            </p:nvSpPr>
            <p:spPr bwMode="auto">
              <a:xfrm>
                <a:off x="1950474" y="2291845"/>
                <a:ext cx="8291052" cy="452431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eaLnBrk="0" hangingPunct="0">
                  <a:lnSpc>
                    <a:spcPct val="150000"/>
                  </a:lnSpc>
                </a:pPr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Start with X = {A</a:t>
                </a:r>
                <a:r>
                  <a:rPr lang="en-US" sz="32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1</a:t>
                </a:r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, …, A</a:t>
                </a:r>
                <a:r>
                  <a:rPr lang="en-US" sz="32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n</a:t>
                </a:r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} and set of FDs F.</a:t>
                </a:r>
              </a:p>
              <a:p>
                <a:pPr eaLnBrk="0" hangingPunct="0">
                  <a:lnSpc>
                    <a:spcPct val="150000"/>
                  </a:lnSpc>
                </a:pPr>
                <a:r>
                  <a:rPr lang="en-US" sz="32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Repeat until</a:t>
                </a:r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X doesn’t change; </a:t>
                </a:r>
                <a:r>
                  <a:rPr lang="en-US" sz="32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do</a:t>
                </a:r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:</a:t>
                </a:r>
              </a:p>
              <a:p>
                <a:pPr eaLnBrk="0" hangingPunct="0">
                  <a:lnSpc>
                    <a:spcPct val="150000"/>
                  </a:lnSpc>
                </a:pPr>
                <a:r>
                  <a:rPr lang="en-US" sz="32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	if</a:t>
                </a:r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{B</a:t>
                </a:r>
                <a:r>
                  <a:rPr lang="en-US" sz="32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1</a:t>
                </a:r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, …, </a:t>
                </a:r>
                <a:r>
                  <a:rPr lang="en-US" sz="32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B</a:t>
                </a:r>
                <a:r>
                  <a:rPr lang="en-US" sz="3200" baseline="-250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n</a:t>
                </a:r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} </a:t>
                </a:r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  <a:sym typeface="Wingdings" charset="2"/>
                  </a:rPr>
                  <a:t> C </a:t>
                </a:r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is entailed by F </a:t>
                </a:r>
              </a:p>
              <a:p>
                <a:pPr eaLnBrk="0" hangingPunct="0">
                  <a:lnSpc>
                    <a:spcPct val="150000"/>
                  </a:lnSpc>
                </a:pPr>
                <a:r>
                  <a:rPr lang="en-US" sz="32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    and</a:t>
                </a:r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{B</a:t>
                </a:r>
                <a:r>
                  <a:rPr lang="en-US" sz="32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1</a:t>
                </a:r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, …, </a:t>
                </a:r>
                <a:r>
                  <a:rPr lang="en-US" sz="32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B</a:t>
                </a:r>
                <a:r>
                  <a:rPr lang="en-US" sz="3200" baseline="-250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n</a:t>
                </a:r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}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prstClr val="black"/>
                        </a:solidFill>
                        <a:latin typeface="Cambria Math" charset="0"/>
                        <a:ea typeface="Menlo" charset="0"/>
                        <a:cs typeface="Menlo" charset="0"/>
                      </a:rPr>
                      <m:t>⊆</m:t>
                    </m:r>
                  </m:oMath>
                </a14:m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X</a:t>
                </a:r>
              </a:p>
              <a:p>
                <a:pPr eaLnBrk="0" hangingPunct="0">
                  <a:lnSpc>
                    <a:spcPct val="150000"/>
                  </a:lnSpc>
                </a:pPr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  		</a:t>
                </a:r>
                <a:r>
                  <a:rPr lang="en-US" sz="32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then</a:t>
                </a:r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add C to X.</a:t>
                </a:r>
              </a:p>
              <a:p>
                <a:pPr eaLnBrk="0" hangingPunct="0">
                  <a:lnSpc>
                    <a:spcPct val="150000"/>
                  </a:lnSpc>
                </a:pPr>
                <a:r>
                  <a:rPr lang="en-US" sz="32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Return</a:t>
                </a:r>
                <a:r>
                  <a:rPr lang="en-US" sz="32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X as X</a:t>
                </a:r>
                <a:r>
                  <a:rPr lang="en-US" sz="3200" baseline="30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+</a:t>
                </a:r>
              </a:p>
            </p:txBody>
          </p:sp>
        </mc:Choice>
        <mc:Fallback xmlns="">
          <p:sp>
            <p:nvSpPr>
              <p:cNvPr id="34406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50474" y="2291845"/>
                <a:ext cx="8291052" cy="45243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Closures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78498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Closure Algorithm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FEF2-21A1-FB4C-B5C2-3D84646BF1A2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48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4067" name="Text Box 3"/>
              <p:cNvSpPr txBox="1">
                <a:spLocks noChangeArrowheads="1"/>
              </p:cNvSpPr>
              <p:nvPr/>
            </p:nvSpPr>
            <p:spPr bwMode="auto">
              <a:xfrm>
                <a:off x="838200" y="1463936"/>
                <a:ext cx="4441723" cy="230832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eaLnBrk="0" hangingPunct="0"/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Start with X = {A</a:t>
                </a:r>
                <a:r>
                  <a:rPr lang="en-US" sz="24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1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, …, A</a:t>
                </a:r>
                <a:r>
                  <a:rPr lang="en-US" sz="24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}, FDs F.</a:t>
                </a:r>
              </a:p>
              <a:p>
                <a:pPr eaLnBrk="0" hangingPunct="0"/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Repeat until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X doesn’t change; </a:t>
                </a:r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do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:</a:t>
                </a:r>
              </a:p>
              <a:p>
                <a:pPr eaLnBrk="0" hangingPunct="0"/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 if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{B</a:t>
                </a:r>
                <a:r>
                  <a:rPr lang="en-US" sz="24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1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, …, </a:t>
                </a:r>
                <a:r>
                  <a:rPr lang="en-US" sz="24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B</a:t>
                </a:r>
                <a:r>
                  <a:rPr lang="en-US" sz="2400" baseline="-250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} 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  <a:sym typeface="Wingdings" charset="2"/>
                  </a:rPr>
                  <a:t> C 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is in F </a:t>
                </a:r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and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{B</a:t>
                </a:r>
                <a:r>
                  <a:rPr lang="en-US" sz="24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1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, …, </a:t>
                </a:r>
                <a:r>
                  <a:rPr lang="en-US" sz="24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B</a:t>
                </a:r>
                <a:r>
                  <a:rPr lang="en-US" sz="2400" baseline="-250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}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charset="0"/>
                        <a:ea typeface="Menlo" charset="0"/>
                        <a:cs typeface="Menlo" charset="0"/>
                      </a:rPr>
                      <m:t>⊆</m:t>
                    </m:r>
                  </m:oMath>
                </a14:m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X:</a:t>
                </a:r>
              </a:p>
              <a:p>
                <a:pPr eaLnBrk="0" hangingPunct="0"/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    then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add C to X.</a:t>
                </a:r>
              </a:p>
              <a:p>
                <a:pPr eaLnBrk="0" hangingPunct="0"/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Return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X as X</a:t>
                </a:r>
                <a:r>
                  <a:rPr lang="en-US" sz="2400" baseline="30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+</a:t>
                </a:r>
              </a:p>
            </p:txBody>
          </p:sp>
        </mc:Choice>
        <mc:Fallback xmlns="">
          <p:sp>
            <p:nvSpPr>
              <p:cNvPr id="34406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1463936"/>
                <a:ext cx="4441723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838200" y="4228485"/>
            <a:ext cx="4441723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{color}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  <a:p>
            <a:endParaRPr lang="en-US" sz="2400">
              <a:solidFill>
                <a:srgbClr val="C0504D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{category}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</a:t>
            </a:r>
            <a:r>
              <a:rPr lang="en-US" sz="2400" err="1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dept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  <a:p>
            <a:endParaRPr lang="en-US" sz="2400">
              <a:solidFill>
                <a:srgbClr val="C0504D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{color, category}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{price}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8780" y="4043819"/>
            <a:ext cx="548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j-lt"/>
              </a:rPr>
              <a:t>F =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5667147" y="1462894"/>
            <a:ext cx="6052906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category}</a:t>
            </a:r>
            <a:r>
              <a:rPr lang="en-US" sz="2400" baseline="300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=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Closures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58474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Closure Algorithm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FEF2-21A1-FB4C-B5C2-3D84646BF1A2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4067" name="Text Box 3"/>
              <p:cNvSpPr txBox="1">
                <a:spLocks noChangeArrowheads="1"/>
              </p:cNvSpPr>
              <p:nvPr/>
            </p:nvSpPr>
            <p:spPr bwMode="auto">
              <a:xfrm>
                <a:off x="838200" y="1463936"/>
                <a:ext cx="4441723" cy="230832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eaLnBrk="0" hangingPunct="0"/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Start with X = {A</a:t>
                </a:r>
                <a:r>
                  <a:rPr lang="en-US" sz="24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1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, …, A</a:t>
                </a:r>
                <a:r>
                  <a:rPr lang="en-US" sz="24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}, FDs F.</a:t>
                </a:r>
              </a:p>
              <a:p>
                <a:pPr eaLnBrk="0" hangingPunct="0"/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Repeat until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X doesn’t change; </a:t>
                </a:r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do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:</a:t>
                </a:r>
              </a:p>
              <a:p>
                <a:pPr eaLnBrk="0" hangingPunct="0"/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 if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{B</a:t>
                </a:r>
                <a:r>
                  <a:rPr lang="en-US" sz="24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1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, …, </a:t>
                </a:r>
                <a:r>
                  <a:rPr lang="en-US" sz="24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B</a:t>
                </a:r>
                <a:r>
                  <a:rPr lang="en-US" sz="2400" baseline="-250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} 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  <a:sym typeface="Wingdings" charset="2"/>
                  </a:rPr>
                  <a:t> C 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is in F </a:t>
                </a:r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and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{B</a:t>
                </a:r>
                <a:r>
                  <a:rPr lang="en-US" sz="24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1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, …, </a:t>
                </a:r>
                <a:r>
                  <a:rPr lang="en-US" sz="24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B</a:t>
                </a:r>
                <a:r>
                  <a:rPr lang="en-US" sz="2400" baseline="-250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}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charset="0"/>
                        <a:ea typeface="Menlo" charset="0"/>
                        <a:cs typeface="Menlo" charset="0"/>
                      </a:rPr>
                      <m:t>⊆</m:t>
                    </m:r>
                  </m:oMath>
                </a14:m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X:</a:t>
                </a:r>
              </a:p>
              <a:p>
                <a:pPr eaLnBrk="0" hangingPunct="0"/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    then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add C to X.</a:t>
                </a:r>
              </a:p>
              <a:p>
                <a:pPr eaLnBrk="0" hangingPunct="0"/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Return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X as X</a:t>
                </a:r>
                <a:r>
                  <a:rPr lang="en-US" sz="2400" baseline="30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+</a:t>
                </a:r>
              </a:p>
            </p:txBody>
          </p:sp>
        </mc:Choice>
        <mc:Fallback xmlns="">
          <p:sp>
            <p:nvSpPr>
              <p:cNvPr id="34406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1463936"/>
                <a:ext cx="4441723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838199" y="4228485"/>
            <a:ext cx="4441723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{color}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  <a:p>
            <a:endParaRPr lang="en-US" sz="2400">
              <a:solidFill>
                <a:srgbClr val="C0504D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{category}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</a:t>
            </a:r>
            <a:r>
              <a:rPr lang="en-US" sz="2400" err="1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dept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  <a:p>
            <a:endParaRPr lang="en-US" sz="2400">
              <a:solidFill>
                <a:srgbClr val="C0504D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{color, category}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{price}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8780" y="4043819"/>
            <a:ext cx="548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j-lt"/>
              </a:rPr>
              <a:t>F =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5667147" y="1462894"/>
            <a:ext cx="6052906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category}</a:t>
            </a:r>
            <a:r>
              <a:rPr lang="en-US" sz="2400" baseline="300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=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5667147" y="2693936"/>
            <a:ext cx="6052906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category}</a:t>
            </a:r>
            <a:r>
              <a:rPr lang="en-US" sz="2400" baseline="300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=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category, color}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38200" y="4373614"/>
            <a:ext cx="3301182" cy="62926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Closures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5535561" y="1248697"/>
            <a:ext cx="6390968" cy="1248697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668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Closure Algorithm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FEF2-21A1-FB4C-B5C2-3D84646BF1A2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50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4067" name="Text Box 3"/>
              <p:cNvSpPr txBox="1">
                <a:spLocks noChangeArrowheads="1"/>
              </p:cNvSpPr>
              <p:nvPr/>
            </p:nvSpPr>
            <p:spPr bwMode="auto">
              <a:xfrm>
                <a:off x="838200" y="1463936"/>
                <a:ext cx="4441723" cy="230832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eaLnBrk="0" hangingPunct="0"/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Start with X = {A</a:t>
                </a:r>
                <a:r>
                  <a:rPr lang="en-US" sz="24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1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, …, A</a:t>
                </a:r>
                <a:r>
                  <a:rPr lang="en-US" sz="24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}, FDs F.</a:t>
                </a:r>
              </a:p>
              <a:p>
                <a:pPr eaLnBrk="0" hangingPunct="0"/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Repeat until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X doesn’t change; </a:t>
                </a:r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do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:</a:t>
                </a:r>
              </a:p>
              <a:p>
                <a:pPr eaLnBrk="0" hangingPunct="0"/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 if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{B</a:t>
                </a:r>
                <a:r>
                  <a:rPr lang="en-US" sz="24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1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, …, </a:t>
                </a:r>
                <a:r>
                  <a:rPr lang="en-US" sz="24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B</a:t>
                </a:r>
                <a:r>
                  <a:rPr lang="en-US" sz="2400" baseline="-250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} 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  <a:sym typeface="Wingdings" charset="2"/>
                  </a:rPr>
                  <a:t> C 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is in F </a:t>
                </a:r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and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{B</a:t>
                </a:r>
                <a:r>
                  <a:rPr lang="en-US" sz="24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1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, …, </a:t>
                </a:r>
                <a:r>
                  <a:rPr lang="en-US" sz="24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B</a:t>
                </a:r>
                <a:r>
                  <a:rPr lang="en-US" sz="2400" baseline="-250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}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charset="0"/>
                        <a:ea typeface="Menlo" charset="0"/>
                        <a:cs typeface="Menlo" charset="0"/>
                      </a:rPr>
                      <m:t>⊆</m:t>
                    </m:r>
                  </m:oMath>
                </a14:m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X:</a:t>
                </a:r>
              </a:p>
              <a:p>
                <a:pPr eaLnBrk="0" hangingPunct="0"/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    then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add C to X.</a:t>
                </a:r>
              </a:p>
              <a:p>
                <a:pPr eaLnBrk="0" hangingPunct="0"/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Return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X as X</a:t>
                </a:r>
                <a:r>
                  <a:rPr lang="en-US" sz="2400" baseline="30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+</a:t>
                </a:r>
              </a:p>
            </p:txBody>
          </p:sp>
        </mc:Choice>
        <mc:Fallback xmlns="">
          <p:sp>
            <p:nvSpPr>
              <p:cNvPr id="34406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1463936"/>
                <a:ext cx="4441723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838199" y="4228485"/>
            <a:ext cx="4441723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{color}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  <a:p>
            <a:endParaRPr lang="en-US" sz="2400">
              <a:solidFill>
                <a:srgbClr val="C0504D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{category}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</a:t>
            </a:r>
            <a:r>
              <a:rPr lang="en-US" sz="2400" err="1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dept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  <a:p>
            <a:endParaRPr lang="en-US" sz="2400">
              <a:solidFill>
                <a:srgbClr val="C0504D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{color, category}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{price}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8780" y="4043819"/>
            <a:ext cx="548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j-lt"/>
              </a:rPr>
              <a:t>F =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5667147" y="1462894"/>
            <a:ext cx="6052906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category}</a:t>
            </a:r>
            <a:r>
              <a:rPr lang="en-US" sz="2400" baseline="300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=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5667147" y="2693936"/>
            <a:ext cx="6052906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category}</a:t>
            </a:r>
            <a:r>
              <a:rPr lang="en-US" sz="2400" baseline="300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=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category, color}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5667147" y="3924978"/>
            <a:ext cx="6052906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category}</a:t>
            </a:r>
            <a:r>
              <a:rPr lang="en-US" sz="2400" baseline="300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=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category, color, </a:t>
            </a:r>
            <a:r>
              <a:rPr lang="en-US" sz="2400" err="1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dept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38200" y="5079431"/>
            <a:ext cx="3782962" cy="62926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9" name="Rectangle 1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Closures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5535561" y="1248697"/>
            <a:ext cx="6390968" cy="252356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300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Closure Algorithm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FEF2-21A1-FB4C-B5C2-3D84646BF1A2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4067" name="Text Box 3"/>
              <p:cNvSpPr txBox="1">
                <a:spLocks noChangeArrowheads="1"/>
              </p:cNvSpPr>
              <p:nvPr/>
            </p:nvSpPr>
            <p:spPr bwMode="auto">
              <a:xfrm>
                <a:off x="838200" y="1463936"/>
                <a:ext cx="4441723" cy="230832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eaLnBrk="0" hangingPunct="0"/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Start with X = {A</a:t>
                </a:r>
                <a:r>
                  <a:rPr lang="en-US" sz="24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1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, …, A</a:t>
                </a:r>
                <a:r>
                  <a:rPr lang="en-US" sz="24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}, FDs F.</a:t>
                </a:r>
              </a:p>
              <a:p>
                <a:pPr eaLnBrk="0" hangingPunct="0"/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Repeat until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X doesn’t change; </a:t>
                </a:r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do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:</a:t>
                </a:r>
              </a:p>
              <a:p>
                <a:pPr eaLnBrk="0" hangingPunct="0"/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 if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{B</a:t>
                </a:r>
                <a:r>
                  <a:rPr lang="en-US" sz="24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1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, …, </a:t>
                </a:r>
                <a:r>
                  <a:rPr lang="en-US" sz="24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B</a:t>
                </a:r>
                <a:r>
                  <a:rPr lang="en-US" sz="2400" baseline="-250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} 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  <a:sym typeface="Wingdings" charset="2"/>
                  </a:rPr>
                  <a:t> C 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is in F </a:t>
                </a:r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and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{B</a:t>
                </a:r>
                <a:r>
                  <a:rPr lang="en-US" sz="2400" baseline="-25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1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, …, </a:t>
                </a:r>
                <a:r>
                  <a:rPr lang="en-US" sz="24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B</a:t>
                </a:r>
                <a:r>
                  <a:rPr lang="en-US" sz="2400" baseline="-25000" err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}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charset="0"/>
                        <a:ea typeface="Menlo" charset="0"/>
                        <a:cs typeface="Menlo" charset="0"/>
                      </a:rPr>
                      <m:t>⊆</m:t>
                    </m:r>
                  </m:oMath>
                </a14:m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X:</a:t>
                </a:r>
              </a:p>
              <a:p>
                <a:pPr eaLnBrk="0" hangingPunct="0"/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    then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 add C to X.</a:t>
                </a:r>
              </a:p>
              <a:p>
                <a:pPr eaLnBrk="0" hangingPunct="0"/>
                <a:r>
                  <a:rPr lang="en-US" sz="2400" b="1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Return</a:t>
                </a:r>
                <a:r>
                  <a:rPr lang="en-US" sz="24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 X as X</a:t>
                </a:r>
                <a:r>
                  <a:rPr lang="en-US" sz="2400" baseline="30000">
                    <a:solidFill>
                      <a:prstClr val="black"/>
                    </a:solidFill>
                    <a:latin typeface="+mj-lt"/>
                    <a:ea typeface="Menlo" charset="0"/>
                    <a:cs typeface="Menlo" charset="0"/>
                  </a:rPr>
                  <a:t>+</a:t>
                </a:r>
              </a:p>
            </p:txBody>
          </p:sp>
        </mc:Choice>
        <mc:Fallback xmlns="">
          <p:sp>
            <p:nvSpPr>
              <p:cNvPr id="34406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1463936"/>
                <a:ext cx="4441723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88780" y="4043819"/>
            <a:ext cx="548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j-lt"/>
              </a:rPr>
              <a:t>F =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5667147" y="1462894"/>
            <a:ext cx="6052906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category}</a:t>
            </a:r>
            <a:r>
              <a:rPr lang="en-US" sz="2400" baseline="300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=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5667147" y="5156021"/>
            <a:ext cx="6052906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category}</a:t>
            </a:r>
            <a:r>
              <a:rPr lang="en-US" sz="2400" baseline="300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=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category, color, </a:t>
            </a:r>
            <a:r>
              <a:rPr lang="en-US" sz="2400" err="1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dept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, price}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5667147" y="2693936"/>
            <a:ext cx="6052906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category}</a:t>
            </a:r>
            <a:r>
              <a:rPr lang="en-US" sz="2400" baseline="300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=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category, color}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5667147" y="3924978"/>
            <a:ext cx="6052906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category}</a:t>
            </a:r>
            <a:r>
              <a:rPr lang="en-US" sz="2400" baseline="300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=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{name, category, color, </a:t>
            </a:r>
            <a:r>
              <a:rPr lang="en-US" sz="2400" err="1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dept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838199" y="4228485"/>
            <a:ext cx="4441723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{name}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{color}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  <a:p>
            <a:endParaRPr lang="en-US" sz="2400">
              <a:solidFill>
                <a:srgbClr val="C0504D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{category}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</a:t>
            </a:r>
            <a:r>
              <a:rPr lang="en-US" sz="2400" err="1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dept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  <a:p>
            <a:endParaRPr lang="en-US" sz="2400">
              <a:solidFill>
                <a:srgbClr val="C0504D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{color, category}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{price}</a:t>
            </a:r>
            <a:endParaRPr lang="en-US" sz="2400">
              <a:solidFill>
                <a:prstClr val="black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38199" y="5633906"/>
            <a:ext cx="3782962" cy="90290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2" name="Rectangle 2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Closures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5535561" y="1248697"/>
            <a:ext cx="6390968" cy="372642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387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2" y="707922"/>
            <a:ext cx="10515600" cy="1032695"/>
          </a:xfrm>
        </p:spPr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52</a:t>
            </a:fld>
            <a:endParaRPr lang="en-US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526973" y="4687162"/>
            <a:ext cx="6810198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3200">
                <a:solidFill>
                  <a:prstClr val="black"/>
                </a:solidFill>
                <a:latin typeface="+mj-lt"/>
              </a:rPr>
              <a:t>Compute {A,B}</a:t>
            </a:r>
            <a:r>
              <a:rPr lang="en-US" sz="3200" baseline="30000">
                <a:solidFill>
                  <a:prstClr val="black"/>
                </a:solidFill>
                <a:latin typeface="+mj-lt"/>
              </a:rPr>
              <a:t>+</a:t>
            </a:r>
            <a:r>
              <a:rPr lang="en-US" sz="3200">
                <a:solidFill>
                  <a:prstClr val="black"/>
                </a:solidFill>
                <a:latin typeface="+mj-lt"/>
              </a:rPr>
              <a:t> = {A, B,                             }</a:t>
            </a:r>
          </a:p>
          <a:p>
            <a:pPr eaLnBrk="0" hangingPunct="0"/>
            <a:r>
              <a:rPr lang="en-US" sz="3200">
                <a:solidFill>
                  <a:prstClr val="black"/>
                </a:solidFill>
                <a:latin typeface="+mj-lt"/>
              </a:rPr>
              <a:t>Compute {A, F}</a:t>
            </a:r>
            <a:r>
              <a:rPr lang="en-US" sz="3200" baseline="30000">
                <a:solidFill>
                  <a:prstClr val="black"/>
                </a:solidFill>
                <a:latin typeface="+mj-lt"/>
              </a:rPr>
              <a:t>+</a:t>
            </a:r>
            <a:r>
              <a:rPr lang="en-US" sz="3200">
                <a:solidFill>
                  <a:prstClr val="black"/>
                </a:solidFill>
                <a:latin typeface="+mj-lt"/>
              </a:rPr>
              <a:t> = {A, F,                             }</a:t>
            </a:r>
          </a:p>
          <a:p>
            <a:pPr eaLnBrk="0" hangingPunct="0"/>
            <a:r>
              <a:rPr lang="en-US" sz="3200">
                <a:solidFill>
                  <a:prstClr val="black"/>
                </a:solidFill>
                <a:latin typeface="+mj-lt"/>
              </a:rPr>
              <a:t>Compute {A, C}</a:t>
            </a:r>
            <a:r>
              <a:rPr lang="en-US" sz="3200" baseline="30000">
                <a:solidFill>
                  <a:prstClr val="black"/>
                </a:solidFill>
                <a:latin typeface="+mj-lt"/>
              </a:rPr>
              <a:t>+</a:t>
            </a:r>
            <a:r>
              <a:rPr lang="en-US" sz="3200">
                <a:solidFill>
                  <a:prstClr val="black"/>
                </a:solidFill>
                <a:latin typeface="+mj-lt"/>
              </a:rPr>
              <a:t> = {                             }</a:t>
            </a:r>
          </a:p>
          <a:p>
            <a:pPr eaLnBrk="0" hangingPunct="0"/>
            <a:endParaRPr lang="en-US" sz="32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526973" y="2185780"/>
            <a:ext cx="2549480" cy="5232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R(A,B,C,D,E,F, H)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5391050" y="1970337"/>
            <a:ext cx="1844800" cy="224676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{A,B} </a:t>
            </a:r>
            <a:r>
              <a:rPr lang="en-US" sz="28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8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 {C}</a:t>
            </a:r>
          </a:p>
          <a:p>
            <a:r>
              <a:rPr lang="en-US" sz="28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{A,D} </a:t>
            </a:r>
            <a:r>
              <a:rPr lang="en-US" sz="28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8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 {E}</a:t>
            </a:r>
          </a:p>
          <a:p>
            <a:r>
              <a:rPr lang="en-US" sz="28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{B} </a:t>
            </a:r>
            <a:r>
              <a:rPr lang="en-US" sz="28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8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 {D}</a:t>
            </a:r>
          </a:p>
          <a:p>
            <a:r>
              <a:rPr lang="en-US" sz="28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{F} </a:t>
            </a:r>
            <a:r>
              <a:rPr lang="en-US" sz="28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  <a:sym typeface="Wingdings" panose="05000000000000000000" pitchFamily="2" charset="2"/>
              </a:rPr>
              <a:t> {H}</a:t>
            </a:r>
            <a:endParaRPr lang="en-US" sz="2800">
              <a:solidFill>
                <a:srgbClr val="C0504D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28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{A,F} </a:t>
            </a:r>
            <a:r>
              <a:rPr lang="en-US" sz="28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8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 {B}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2  &gt;  Closures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1865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Closures, </a:t>
            </a:r>
            <a:r>
              <a:rPr lang="en-US" err="1"/>
              <a:t>Superkeys</a:t>
            </a:r>
            <a:r>
              <a:rPr lang="en-US"/>
              <a:t> &amp; Keys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53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04089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 We Need the Closure?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With closure we can find all FD’s easily</a:t>
            </a:r>
          </a:p>
          <a:p>
            <a:endParaRPr lang="en-US"/>
          </a:p>
          <a:p>
            <a:r>
              <a:rPr lang="en-US"/>
              <a:t>To check if X </a:t>
            </a:r>
            <a:r>
              <a:rPr lang="en-US">
                <a:latin typeface="Symbol" charset="2"/>
              </a:rPr>
              <a:t>®</a:t>
            </a:r>
            <a:r>
              <a:rPr lang="en-US"/>
              <a:t> A</a:t>
            </a:r>
          </a:p>
          <a:p>
            <a:pPr lvl="1"/>
            <a:endParaRPr lang="en-US"/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Compute X</a:t>
            </a:r>
            <a:r>
              <a:rPr lang="en-US" baseline="30000"/>
              <a:t>+</a:t>
            </a:r>
            <a:endParaRPr lang="en-US"/>
          </a:p>
          <a:p>
            <a:pPr marL="914400" lvl="1" indent="-457200">
              <a:buFont typeface="+mj-lt"/>
              <a:buAutoNum type="arabicPeriod"/>
            </a:pPr>
            <a:endParaRPr lang="en-US"/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Check if A </a:t>
            </a:r>
            <a:r>
              <a:rPr lang="en-US">
                <a:latin typeface="Symbol" charset="2"/>
              </a:rPr>
              <a:t>Î</a:t>
            </a:r>
            <a:r>
              <a:rPr lang="en-US"/>
              <a:t> X</a:t>
            </a:r>
            <a:r>
              <a:rPr lang="en-US" baseline="30000"/>
              <a:t>+</a:t>
            </a:r>
          </a:p>
          <a:p>
            <a:pPr lvl="1"/>
            <a:endParaRPr lang="en-US" baseline="30000"/>
          </a:p>
          <a:p>
            <a:pPr lvl="1"/>
            <a:endParaRPr lang="en-US" baseline="30000"/>
          </a:p>
          <a:p>
            <a:pPr lvl="1"/>
            <a:endParaRPr lang="en-US" baseline="3000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45DFB-DB85-184A-8FB9-05D4C2550EA6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43253" y="2654709"/>
            <a:ext cx="4365522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Note here that </a:t>
            </a:r>
            <a:r>
              <a:rPr lang="en-US" sz="2400" b="1">
                <a:latin typeface="+mj-lt"/>
              </a:rPr>
              <a:t>X</a:t>
            </a:r>
            <a:r>
              <a:rPr lang="en-US" sz="2400">
                <a:latin typeface="+mj-lt"/>
              </a:rPr>
              <a:t> is a </a:t>
            </a:r>
            <a:r>
              <a:rPr lang="en-US" sz="2400" i="1">
                <a:latin typeface="+mj-lt"/>
              </a:rPr>
              <a:t>set</a:t>
            </a:r>
            <a:r>
              <a:rPr lang="en-US" sz="2400">
                <a:latin typeface="+mj-lt"/>
              </a:rPr>
              <a:t> of attributes, but </a:t>
            </a:r>
            <a:r>
              <a:rPr lang="en-US" sz="2400" b="1">
                <a:latin typeface="+mj-lt"/>
              </a:rPr>
              <a:t>A</a:t>
            </a:r>
            <a:r>
              <a:rPr lang="en-US" sz="2400">
                <a:latin typeface="+mj-lt"/>
              </a:rPr>
              <a:t> is a </a:t>
            </a:r>
            <a:r>
              <a:rPr lang="en-US" sz="2400" i="1">
                <a:latin typeface="+mj-lt"/>
              </a:rPr>
              <a:t>single</a:t>
            </a:r>
            <a:r>
              <a:rPr lang="en-US" sz="2400">
                <a:latin typeface="+mj-lt"/>
              </a:rPr>
              <a:t> attribute.  Why does considering FDs of this form suffice?</a:t>
            </a:r>
          </a:p>
        </p:txBody>
      </p:sp>
      <p:sp>
        <p:nvSpPr>
          <p:cNvPr id="3" name="Oval 2"/>
          <p:cNvSpPr/>
          <p:nvPr/>
        </p:nvSpPr>
        <p:spPr>
          <a:xfrm>
            <a:off x="3057832" y="4493342"/>
            <a:ext cx="363794" cy="363794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421627" y="3439539"/>
            <a:ext cx="3323302" cy="10538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43253" y="4493342"/>
            <a:ext cx="4365522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Recall the </a:t>
            </a:r>
            <a:r>
              <a:rPr lang="en-US" sz="2400" b="1" u="sng">
                <a:latin typeface="+mj-lt"/>
              </a:rPr>
              <a:t>Split/combine</a:t>
            </a:r>
            <a:r>
              <a:rPr lang="en-US" sz="2400">
                <a:latin typeface="+mj-lt"/>
              </a:rPr>
              <a:t> rule:</a:t>
            </a:r>
          </a:p>
          <a:p>
            <a:r>
              <a:rPr lang="en-US" sz="2400">
                <a:latin typeface="+mj-lt"/>
              </a:rPr>
              <a:t>X </a:t>
            </a:r>
            <a:r>
              <a:rPr lang="en-US" sz="2400">
                <a:latin typeface="+mj-lt"/>
                <a:sym typeface="Wingdings"/>
              </a:rPr>
              <a:t> A</a:t>
            </a:r>
            <a:r>
              <a:rPr lang="en-US" sz="2400" baseline="-25000">
                <a:latin typeface="+mj-lt"/>
                <a:sym typeface="Wingdings"/>
              </a:rPr>
              <a:t>1</a:t>
            </a:r>
            <a:r>
              <a:rPr lang="en-US" sz="2400">
                <a:latin typeface="+mj-lt"/>
                <a:sym typeface="Wingdings"/>
              </a:rPr>
              <a:t>, …, X  A</a:t>
            </a:r>
            <a:r>
              <a:rPr lang="en-US" sz="2400" baseline="-25000">
                <a:latin typeface="+mj-lt"/>
                <a:sym typeface="Wingdings"/>
              </a:rPr>
              <a:t>n</a:t>
            </a:r>
          </a:p>
          <a:p>
            <a:r>
              <a:rPr lang="en-US" sz="2400" i="1">
                <a:latin typeface="+mj-lt"/>
                <a:sym typeface="Wingdings"/>
              </a:rPr>
              <a:t>implies</a:t>
            </a:r>
          </a:p>
          <a:p>
            <a:r>
              <a:rPr lang="en-US" sz="2400">
                <a:latin typeface="+mj-lt"/>
              </a:rPr>
              <a:t>X </a:t>
            </a:r>
            <a:r>
              <a:rPr lang="en-US" sz="2400">
                <a:latin typeface="+mj-lt"/>
                <a:sym typeface="Wingdings"/>
              </a:rPr>
              <a:t> {A</a:t>
            </a:r>
            <a:r>
              <a:rPr lang="en-US" sz="2400" baseline="-25000">
                <a:latin typeface="+mj-lt"/>
                <a:sym typeface="Wingdings"/>
              </a:rPr>
              <a:t>1</a:t>
            </a:r>
            <a:r>
              <a:rPr lang="en-US" sz="2400">
                <a:latin typeface="+mj-lt"/>
                <a:sym typeface="Wingdings"/>
              </a:rPr>
              <a:t>, …, A</a:t>
            </a:r>
            <a:r>
              <a:rPr lang="en-US" sz="2400" baseline="-25000">
                <a:latin typeface="+mj-lt"/>
                <a:sym typeface="Wingdings"/>
              </a:rPr>
              <a:t>n</a:t>
            </a:r>
            <a:r>
              <a:rPr lang="en-US" sz="2400">
                <a:latin typeface="+mj-lt"/>
                <a:sym typeface="Wingdings"/>
              </a:rPr>
              <a:t>}</a:t>
            </a:r>
            <a:endParaRPr lang="en-US" sz="2400">
              <a:latin typeface="+mj-lt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8780" y="-22510"/>
              <a:ext cx="33219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3  &gt;  Closures Pt. II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9562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5" grpId="0" build="p"/>
      <p:bldP spid="2" grpId="0" animBg="1"/>
      <p:bldP spid="1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46968"/>
            <a:ext cx="10515600" cy="1325563"/>
          </a:xfrm>
        </p:spPr>
        <p:txBody>
          <a:bodyPr/>
          <a:lstStyle/>
          <a:p>
            <a:r>
              <a:rPr lang="en-US"/>
              <a:t>Using Closure to Infer ALL FDs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8BF55-C934-964E-B123-12970A1453E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47139" name="Rectangle 3"/>
          <p:cNvSpPr>
            <a:spLocks noChangeArrowheads="1"/>
          </p:cNvSpPr>
          <p:nvPr/>
        </p:nvSpPr>
        <p:spPr bwMode="auto">
          <a:xfrm>
            <a:off x="9719763" y="1135453"/>
            <a:ext cx="1973617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{A,B}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C</a:t>
            </a:r>
            <a:b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{A,D}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 B</a:t>
            </a: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{B}  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 D</a:t>
            </a:r>
          </a:p>
        </p:txBody>
      </p:sp>
      <p:sp>
        <p:nvSpPr>
          <p:cNvPr id="347140" name="Text Box 4"/>
          <p:cNvSpPr txBox="1">
            <a:spLocks noChangeArrowheads="1"/>
          </p:cNvSpPr>
          <p:nvPr/>
        </p:nvSpPr>
        <p:spPr bwMode="auto">
          <a:xfrm>
            <a:off x="8165168" y="1053657"/>
            <a:ext cx="133446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u="sng">
                <a:solidFill>
                  <a:prstClr val="black"/>
                </a:solidFill>
                <a:latin typeface="Calibri"/>
              </a:rPr>
              <a:t>Example:</a:t>
            </a:r>
          </a:p>
          <a:p>
            <a:r>
              <a:rPr lang="en-US" sz="2400">
                <a:solidFill>
                  <a:prstClr val="black"/>
                </a:solidFill>
                <a:latin typeface="Calibri"/>
              </a:rPr>
              <a:t>Given F =</a:t>
            </a:r>
          </a:p>
        </p:txBody>
      </p:sp>
      <p:sp>
        <p:nvSpPr>
          <p:cNvPr id="347141" name="Text Box 5"/>
          <p:cNvSpPr txBox="1">
            <a:spLocks noChangeArrowheads="1"/>
          </p:cNvSpPr>
          <p:nvPr/>
        </p:nvSpPr>
        <p:spPr bwMode="auto">
          <a:xfrm>
            <a:off x="814917" y="1293575"/>
            <a:ext cx="7240187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prstClr val="black"/>
                </a:solidFill>
                <a:latin typeface="Calibri"/>
              </a:rPr>
              <a:t>For table R(A, B, C, D)</a:t>
            </a:r>
          </a:p>
          <a:p>
            <a:r>
              <a:rPr lang="en-US" sz="2800">
                <a:solidFill>
                  <a:prstClr val="black"/>
                </a:solidFill>
                <a:latin typeface="Calibri"/>
              </a:rPr>
              <a:t>Step 1: Compute X</a:t>
            </a:r>
            <a:r>
              <a:rPr lang="en-US" sz="2800" baseline="30000">
                <a:solidFill>
                  <a:prstClr val="black"/>
                </a:solidFill>
                <a:latin typeface="Calibri"/>
              </a:rPr>
              <a:t>+</a:t>
            </a:r>
            <a:r>
              <a:rPr lang="en-US" sz="2800">
                <a:solidFill>
                  <a:prstClr val="black"/>
                </a:solidFill>
                <a:latin typeface="Calibri"/>
              </a:rPr>
              <a:t>, for every set of attributes X:</a:t>
            </a:r>
          </a:p>
        </p:txBody>
      </p:sp>
      <p:sp>
        <p:nvSpPr>
          <p:cNvPr id="347142" name="Text Box 6"/>
          <p:cNvSpPr txBox="1">
            <a:spLocks noChangeArrowheads="1"/>
          </p:cNvSpPr>
          <p:nvPr/>
        </p:nvSpPr>
        <p:spPr bwMode="auto">
          <a:xfrm>
            <a:off x="838200" y="1809432"/>
            <a:ext cx="8304698" cy="489364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{A}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= {A}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{B}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= {B,D}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{C}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= {C}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= {D}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{A,B}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= {A,B,C,D}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{A,C}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= {A,C}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{A,D}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= {A,B,C,D}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{B,C}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+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= {B,C,D}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{B,D}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+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= {B,D}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{C,D}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+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= {C,D}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{A,B,C}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= {A,B,D}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= {A,C,D}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{A,B,C,D} 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{B,C,D}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{B,C,D}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{A,B,C,D}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= {A,B,C,D}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499636" y="4543254"/>
            <a:ext cx="2133600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No need to compute all of these- why?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8780" y="-22510"/>
              <a:ext cx="33219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3  &gt;  Closures Pt. II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814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39" grpId="0" animBg="1"/>
      <p:bldP spid="347140" grpId="0"/>
      <p:bldP spid="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46968"/>
            <a:ext cx="10515600" cy="1325563"/>
          </a:xfrm>
        </p:spPr>
        <p:txBody>
          <a:bodyPr/>
          <a:lstStyle/>
          <a:p>
            <a:r>
              <a:rPr lang="en-US"/>
              <a:t>Using Closure to Infer ALL FDs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8BF55-C934-964E-B123-12970A1453E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47139" name="Rectangle 3"/>
          <p:cNvSpPr>
            <a:spLocks noChangeArrowheads="1"/>
          </p:cNvSpPr>
          <p:nvPr/>
        </p:nvSpPr>
        <p:spPr bwMode="auto">
          <a:xfrm>
            <a:off x="9719763" y="1135453"/>
            <a:ext cx="1973617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{A,B}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C</a:t>
            </a:r>
            <a:b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{A,D}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 B</a:t>
            </a: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{B}  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 D</a:t>
            </a:r>
          </a:p>
        </p:txBody>
      </p:sp>
      <p:sp>
        <p:nvSpPr>
          <p:cNvPr id="347140" name="Text Box 4"/>
          <p:cNvSpPr txBox="1">
            <a:spLocks noChangeArrowheads="1"/>
          </p:cNvSpPr>
          <p:nvPr/>
        </p:nvSpPr>
        <p:spPr bwMode="auto">
          <a:xfrm>
            <a:off x="8165168" y="1053657"/>
            <a:ext cx="133446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u="sng">
                <a:solidFill>
                  <a:prstClr val="black"/>
                </a:solidFill>
                <a:latin typeface="Calibri"/>
              </a:rPr>
              <a:t>Example:</a:t>
            </a:r>
          </a:p>
          <a:p>
            <a:r>
              <a:rPr lang="en-US" sz="2400">
                <a:solidFill>
                  <a:prstClr val="black"/>
                </a:solidFill>
                <a:latin typeface="Calibri"/>
              </a:rPr>
              <a:t>Given F =</a:t>
            </a:r>
          </a:p>
        </p:txBody>
      </p:sp>
      <p:sp>
        <p:nvSpPr>
          <p:cNvPr id="347141" name="Text Box 5"/>
          <p:cNvSpPr txBox="1">
            <a:spLocks noChangeArrowheads="1"/>
          </p:cNvSpPr>
          <p:nvPr/>
        </p:nvSpPr>
        <p:spPr bwMode="auto">
          <a:xfrm>
            <a:off x="849257" y="1549446"/>
            <a:ext cx="72419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prstClr val="black"/>
                </a:solidFill>
                <a:latin typeface="Calibri"/>
              </a:rPr>
              <a:t>Step 1: Compute X</a:t>
            </a:r>
            <a:r>
              <a:rPr lang="en-US" sz="2800" baseline="30000">
                <a:solidFill>
                  <a:prstClr val="black"/>
                </a:solidFill>
                <a:latin typeface="Calibri"/>
              </a:rPr>
              <a:t>+</a:t>
            </a:r>
            <a:r>
              <a:rPr lang="en-US" sz="2800">
                <a:solidFill>
                  <a:prstClr val="black"/>
                </a:solidFill>
                <a:latin typeface="Calibri"/>
              </a:rPr>
              <a:t>, for every set of attributes X:</a:t>
            </a:r>
          </a:p>
        </p:txBody>
      </p:sp>
      <p:sp>
        <p:nvSpPr>
          <p:cNvPr id="347142" name="Text Box 6"/>
          <p:cNvSpPr txBox="1">
            <a:spLocks noChangeArrowheads="1"/>
          </p:cNvSpPr>
          <p:nvPr/>
        </p:nvSpPr>
        <p:spPr bwMode="auto">
          <a:xfrm>
            <a:off x="849257" y="2248720"/>
            <a:ext cx="8304698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{A}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{A}, {B}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{B,D}, {C}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{C}, {D}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{D}, {A,B}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{A,B,C,D}, {A,C}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{A,C}, {A,D}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{A,B,C,D}, {A,B,C}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{A,B,D}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{A,C,D}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{A,B,C,D}, {B,C,D}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{B,C,D},    {A,B,C,D}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= {A,B,C,D}</a:t>
            </a:r>
          </a:p>
        </p:txBody>
      </p:sp>
      <p:sp>
        <p:nvSpPr>
          <p:cNvPr id="347143" name="Text Box 7"/>
          <p:cNvSpPr txBox="1">
            <a:spLocks noChangeArrowheads="1"/>
          </p:cNvSpPr>
          <p:nvPr/>
        </p:nvSpPr>
        <p:spPr bwMode="auto">
          <a:xfrm>
            <a:off x="838200" y="4585478"/>
            <a:ext cx="863621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prstClr val="black"/>
                </a:solidFill>
                <a:latin typeface="Calibri"/>
              </a:rPr>
              <a:t>Step 2: Enumerate all FDs X </a:t>
            </a:r>
            <a:r>
              <a:rPr lang="en-US" sz="2800">
                <a:solidFill>
                  <a:prstClr val="black"/>
                </a:solidFill>
                <a:latin typeface="Calibri"/>
                <a:sym typeface="Wingdings" charset="2"/>
              </a:rPr>
              <a:t> Y, </a:t>
            </a:r>
            <a:r>
              <a:rPr lang="en-US" sz="2800" err="1">
                <a:solidFill>
                  <a:prstClr val="black"/>
                </a:solidFill>
                <a:latin typeface="Calibri"/>
                <a:sym typeface="Wingdings" charset="2"/>
              </a:rPr>
              <a:t>s.t.</a:t>
            </a:r>
            <a:r>
              <a:rPr lang="en-US" sz="2800">
                <a:solidFill>
                  <a:prstClr val="black"/>
                </a:solidFill>
                <a:latin typeface="Calibri"/>
                <a:sym typeface="Wingdings" charset="2"/>
              </a:rPr>
              <a:t> Y </a:t>
            </a:r>
            <a:r>
              <a:rPr lang="en-US" sz="2800">
                <a:solidFill>
                  <a:prstClr val="black"/>
                </a:solidFill>
                <a:latin typeface="Calibri"/>
                <a:sym typeface="Symbol" charset="2"/>
              </a:rPr>
              <a:t></a:t>
            </a:r>
            <a:r>
              <a:rPr lang="en-US" sz="2800">
                <a:solidFill>
                  <a:prstClr val="black"/>
                </a:solidFill>
                <a:latin typeface="Calibri"/>
                <a:sym typeface="Wingdings" charset="2"/>
              </a:rPr>
              <a:t> </a:t>
            </a:r>
            <a:r>
              <a:rPr lang="en-US" sz="280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800" baseline="30000">
                <a:solidFill>
                  <a:prstClr val="black"/>
                </a:solidFill>
                <a:latin typeface="Calibri"/>
              </a:rPr>
              <a:t>+</a:t>
            </a:r>
            <a:r>
              <a:rPr lang="en-US" sz="2800">
                <a:solidFill>
                  <a:prstClr val="black"/>
                </a:solidFill>
                <a:latin typeface="Calibri"/>
              </a:rPr>
              <a:t> and X </a:t>
            </a:r>
            <a:r>
              <a:rPr lang="en-US" sz="2800">
                <a:solidFill>
                  <a:prstClr val="black"/>
                </a:solidFill>
                <a:latin typeface="Calibri"/>
                <a:sym typeface="Symbol" charset="2"/>
              </a:rPr>
              <a:t> Y = :</a:t>
            </a:r>
          </a:p>
        </p:txBody>
      </p:sp>
      <p:sp>
        <p:nvSpPr>
          <p:cNvPr id="347144" name="Text Box 8"/>
          <p:cNvSpPr txBox="1">
            <a:spLocks noChangeArrowheads="1"/>
          </p:cNvSpPr>
          <p:nvPr/>
        </p:nvSpPr>
        <p:spPr bwMode="auto">
          <a:xfrm>
            <a:off x="838200" y="5305057"/>
            <a:ext cx="8304697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{A,B}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{C,D}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,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A,D}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{B,C}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,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{A,B,C}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{D}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,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{A,B,D}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{C}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,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{A,C,D}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{B}</a:t>
            </a:r>
            <a:endParaRPr lang="en-US" sz="2400">
              <a:solidFill>
                <a:srgbClr val="C00000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78425" y="2182464"/>
            <a:ext cx="8475529" cy="2123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5329" y="1495336"/>
            <a:ext cx="7169712" cy="63144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8780" y="-22510"/>
              <a:ext cx="33219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3  &gt;  Closures Pt. II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96551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46968"/>
            <a:ext cx="10515600" cy="1325563"/>
          </a:xfrm>
        </p:spPr>
        <p:txBody>
          <a:bodyPr/>
          <a:lstStyle/>
          <a:p>
            <a:r>
              <a:rPr lang="en-US"/>
              <a:t>Using Closure to Infer ALL FDs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8BF55-C934-964E-B123-12970A1453E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57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47139" name="Rectangle 3"/>
          <p:cNvSpPr>
            <a:spLocks noChangeArrowheads="1"/>
          </p:cNvSpPr>
          <p:nvPr/>
        </p:nvSpPr>
        <p:spPr bwMode="auto">
          <a:xfrm>
            <a:off x="9719763" y="1135453"/>
            <a:ext cx="1973617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{A,B}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C</a:t>
            </a:r>
            <a:b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{A,D}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 B</a:t>
            </a: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{B}  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 D</a:t>
            </a:r>
          </a:p>
        </p:txBody>
      </p:sp>
      <p:sp>
        <p:nvSpPr>
          <p:cNvPr id="347140" name="Text Box 4"/>
          <p:cNvSpPr txBox="1">
            <a:spLocks noChangeArrowheads="1"/>
          </p:cNvSpPr>
          <p:nvPr/>
        </p:nvSpPr>
        <p:spPr bwMode="auto">
          <a:xfrm>
            <a:off x="8165168" y="1053657"/>
            <a:ext cx="133446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u="sng">
                <a:solidFill>
                  <a:prstClr val="black"/>
                </a:solidFill>
                <a:latin typeface="Calibri"/>
              </a:rPr>
              <a:t>Example:</a:t>
            </a:r>
          </a:p>
          <a:p>
            <a:r>
              <a:rPr lang="en-US" sz="2400">
                <a:solidFill>
                  <a:prstClr val="black"/>
                </a:solidFill>
                <a:latin typeface="Calibri"/>
              </a:rPr>
              <a:t>Given F =</a:t>
            </a:r>
          </a:p>
        </p:txBody>
      </p:sp>
      <p:sp>
        <p:nvSpPr>
          <p:cNvPr id="347142" name="Text Box 6"/>
          <p:cNvSpPr txBox="1">
            <a:spLocks noChangeArrowheads="1"/>
          </p:cNvSpPr>
          <p:nvPr/>
        </p:nvSpPr>
        <p:spPr bwMode="auto">
          <a:xfrm>
            <a:off x="849257" y="2248720"/>
            <a:ext cx="8304698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{A}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{A}, {B}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{B,D}, {C}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{C}, {D}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{D}, {A,B}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{A,B,C,D}, {A,C}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{A,C}, {A,D}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{A,B,C,D}, {A,B,C}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{A,B,D}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{A,C,D}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{A,B,C,D}, {B,C,D}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{B,C,D},    {A,B,C,D}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= {A,B,C,D}</a:t>
            </a:r>
          </a:p>
        </p:txBody>
      </p:sp>
      <p:sp>
        <p:nvSpPr>
          <p:cNvPr id="347143" name="Text Box 7"/>
          <p:cNvSpPr txBox="1">
            <a:spLocks noChangeArrowheads="1"/>
          </p:cNvSpPr>
          <p:nvPr/>
        </p:nvSpPr>
        <p:spPr bwMode="auto">
          <a:xfrm>
            <a:off x="838200" y="4585478"/>
            <a:ext cx="863621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prstClr val="black"/>
                </a:solidFill>
                <a:latin typeface="Calibri"/>
              </a:rPr>
              <a:t>Step 2: Enumerate all FDs X </a:t>
            </a:r>
            <a:r>
              <a:rPr lang="en-US" sz="2800">
                <a:solidFill>
                  <a:prstClr val="black"/>
                </a:solidFill>
                <a:latin typeface="Calibri"/>
                <a:sym typeface="Wingdings" charset="2"/>
              </a:rPr>
              <a:t> Y, </a:t>
            </a:r>
            <a:r>
              <a:rPr lang="en-US" sz="2800" err="1">
                <a:solidFill>
                  <a:prstClr val="black"/>
                </a:solidFill>
                <a:latin typeface="Calibri"/>
                <a:sym typeface="Wingdings" charset="2"/>
              </a:rPr>
              <a:t>s.t.</a:t>
            </a:r>
            <a:r>
              <a:rPr lang="en-US" sz="2800">
                <a:solidFill>
                  <a:prstClr val="black"/>
                </a:solidFill>
                <a:latin typeface="Calibri"/>
                <a:sym typeface="Wingdings" charset="2"/>
              </a:rPr>
              <a:t> Y </a:t>
            </a:r>
            <a:r>
              <a:rPr lang="en-US" sz="2800">
                <a:solidFill>
                  <a:prstClr val="black"/>
                </a:solidFill>
                <a:latin typeface="Calibri"/>
                <a:sym typeface="Symbol" charset="2"/>
              </a:rPr>
              <a:t></a:t>
            </a:r>
            <a:r>
              <a:rPr lang="en-US" sz="2800">
                <a:solidFill>
                  <a:prstClr val="black"/>
                </a:solidFill>
                <a:latin typeface="Calibri"/>
                <a:sym typeface="Wingdings" charset="2"/>
              </a:rPr>
              <a:t> </a:t>
            </a:r>
            <a:r>
              <a:rPr lang="en-US" sz="280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800" baseline="30000">
                <a:solidFill>
                  <a:prstClr val="black"/>
                </a:solidFill>
                <a:latin typeface="Calibri"/>
              </a:rPr>
              <a:t>+</a:t>
            </a:r>
            <a:r>
              <a:rPr lang="en-US" sz="2800">
                <a:solidFill>
                  <a:prstClr val="black"/>
                </a:solidFill>
                <a:latin typeface="Calibri"/>
              </a:rPr>
              <a:t> and X </a:t>
            </a:r>
            <a:r>
              <a:rPr lang="en-US" sz="2800">
                <a:solidFill>
                  <a:prstClr val="black"/>
                </a:solidFill>
                <a:latin typeface="Calibri"/>
                <a:sym typeface="Symbol" charset="2"/>
              </a:rPr>
              <a:t> Y = :</a:t>
            </a:r>
          </a:p>
        </p:txBody>
      </p:sp>
      <p:sp>
        <p:nvSpPr>
          <p:cNvPr id="347144" name="Text Box 8"/>
          <p:cNvSpPr txBox="1">
            <a:spLocks noChangeArrowheads="1"/>
          </p:cNvSpPr>
          <p:nvPr/>
        </p:nvSpPr>
        <p:spPr bwMode="auto">
          <a:xfrm>
            <a:off x="838200" y="5305057"/>
            <a:ext cx="8304697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{A,B}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{C,D}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,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A,D}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{B,C}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,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{A,B,C}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{D}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,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{A,B,D}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{C}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,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{A,C,D}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{B}</a:t>
            </a:r>
            <a:endParaRPr lang="en-US" sz="2400">
              <a:solidFill>
                <a:srgbClr val="C00000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78425" y="2182464"/>
            <a:ext cx="8475529" cy="2123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6105832" y="4585478"/>
            <a:ext cx="1042220" cy="52322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719763" y="4585478"/>
            <a:ext cx="1986116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i="1">
                <a:latin typeface="+mj-lt"/>
              </a:rPr>
              <a:t>“Y is in the closure of X”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8" name="Rectangle 1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88780" y="-22510"/>
              <a:ext cx="33219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3  &gt;  Closures Pt. II</a:t>
              </a:r>
            </a:p>
          </p:txBody>
        </p:sp>
      </p:grp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849257" y="1549446"/>
            <a:ext cx="72419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prstClr val="black"/>
                </a:solidFill>
                <a:latin typeface="Calibri"/>
              </a:rPr>
              <a:t>Step 1: Compute X</a:t>
            </a:r>
            <a:r>
              <a:rPr lang="en-US" sz="2800" baseline="30000">
                <a:solidFill>
                  <a:prstClr val="black"/>
                </a:solidFill>
                <a:latin typeface="Calibri"/>
              </a:rPr>
              <a:t>+</a:t>
            </a:r>
            <a:r>
              <a:rPr lang="en-US" sz="2800">
                <a:solidFill>
                  <a:prstClr val="black"/>
                </a:solidFill>
                <a:latin typeface="Calibri"/>
              </a:rPr>
              <a:t>, for every set of attributes X: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329" y="1495336"/>
            <a:ext cx="7169712" cy="63144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148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46968"/>
            <a:ext cx="10515600" cy="1325563"/>
          </a:xfrm>
        </p:spPr>
        <p:txBody>
          <a:bodyPr/>
          <a:lstStyle/>
          <a:p>
            <a:r>
              <a:rPr lang="en-US"/>
              <a:t>Using Closure to Infer ALL FDs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8BF55-C934-964E-B123-12970A1453E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58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47139" name="Rectangle 3"/>
          <p:cNvSpPr>
            <a:spLocks noChangeArrowheads="1"/>
          </p:cNvSpPr>
          <p:nvPr/>
        </p:nvSpPr>
        <p:spPr bwMode="auto">
          <a:xfrm>
            <a:off x="9719763" y="1135453"/>
            <a:ext cx="1973617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{A,B}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C</a:t>
            </a:r>
            <a:b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{A,D}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 B</a:t>
            </a:r>
          </a:p>
          <a:p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{B}  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 D</a:t>
            </a:r>
          </a:p>
        </p:txBody>
      </p:sp>
      <p:sp>
        <p:nvSpPr>
          <p:cNvPr id="347140" name="Text Box 4"/>
          <p:cNvSpPr txBox="1">
            <a:spLocks noChangeArrowheads="1"/>
          </p:cNvSpPr>
          <p:nvPr/>
        </p:nvSpPr>
        <p:spPr bwMode="auto">
          <a:xfrm>
            <a:off x="8165168" y="1053657"/>
            <a:ext cx="133446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u="sng">
                <a:solidFill>
                  <a:prstClr val="black"/>
                </a:solidFill>
                <a:latin typeface="Calibri"/>
              </a:rPr>
              <a:t>Example:</a:t>
            </a:r>
          </a:p>
          <a:p>
            <a:r>
              <a:rPr lang="en-US" sz="2400">
                <a:solidFill>
                  <a:prstClr val="black"/>
                </a:solidFill>
                <a:latin typeface="Calibri"/>
              </a:rPr>
              <a:t>Given F =</a:t>
            </a:r>
          </a:p>
        </p:txBody>
      </p:sp>
      <p:sp>
        <p:nvSpPr>
          <p:cNvPr id="347142" name="Text Box 6"/>
          <p:cNvSpPr txBox="1">
            <a:spLocks noChangeArrowheads="1"/>
          </p:cNvSpPr>
          <p:nvPr/>
        </p:nvSpPr>
        <p:spPr bwMode="auto">
          <a:xfrm>
            <a:off x="849257" y="2248720"/>
            <a:ext cx="8304698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{A}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{A}, {B}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{B,D}, {C}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{C}, {D}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{D}, {A,B}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{A,B,C,D}, {A,C}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{A,C}, {A,D}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{A,B,C,D}, {A,B,C}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{A,B,D}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{A,C,D}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{A,B,C,D}, {B,C,D}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= {B,C,D},    {A,B,C,D}</a:t>
            </a:r>
            <a:r>
              <a:rPr lang="en-US" sz="2400" baseline="30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+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= {A,B,C,D}</a:t>
            </a:r>
          </a:p>
        </p:txBody>
      </p:sp>
      <p:sp>
        <p:nvSpPr>
          <p:cNvPr id="347143" name="Text Box 7"/>
          <p:cNvSpPr txBox="1">
            <a:spLocks noChangeArrowheads="1"/>
          </p:cNvSpPr>
          <p:nvPr/>
        </p:nvSpPr>
        <p:spPr bwMode="auto">
          <a:xfrm>
            <a:off x="838200" y="4585478"/>
            <a:ext cx="863621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prstClr val="black"/>
                </a:solidFill>
                <a:latin typeface="Calibri"/>
              </a:rPr>
              <a:t>Step 2: Enumerate all FDs X </a:t>
            </a:r>
            <a:r>
              <a:rPr lang="en-US" sz="2800">
                <a:solidFill>
                  <a:prstClr val="black"/>
                </a:solidFill>
                <a:latin typeface="Calibri"/>
                <a:sym typeface="Wingdings" charset="2"/>
              </a:rPr>
              <a:t> Y, </a:t>
            </a:r>
            <a:r>
              <a:rPr lang="en-US" sz="2800" err="1">
                <a:solidFill>
                  <a:prstClr val="black"/>
                </a:solidFill>
                <a:latin typeface="Calibri"/>
                <a:sym typeface="Wingdings" charset="2"/>
              </a:rPr>
              <a:t>s.t.</a:t>
            </a:r>
            <a:r>
              <a:rPr lang="en-US" sz="2800">
                <a:solidFill>
                  <a:prstClr val="black"/>
                </a:solidFill>
                <a:latin typeface="Calibri"/>
                <a:sym typeface="Wingdings" charset="2"/>
              </a:rPr>
              <a:t> Y </a:t>
            </a:r>
            <a:r>
              <a:rPr lang="en-US" sz="2800">
                <a:solidFill>
                  <a:prstClr val="black"/>
                </a:solidFill>
                <a:latin typeface="Calibri"/>
                <a:sym typeface="Symbol" charset="2"/>
              </a:rPr>
              <a:t></a:t>
            </a:r>
            <a:r>
              <a:rPr lang="en-US" sz="2800">
                <a:solidFill>
                  <a:prstClr val="black"/>
                </a:solidFill>
                <a:latin typeface="Calibri"/>
                <a:sym typeface="Wingdings" charset="2"/>
              </a:rPr>
              <a:t> </a:t>
            </a:r>
            <a:r>
              <a:rPr lang="en-US" sz="280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800" baseline="30000">
                <a:solidFill>
                  <a:prstClr val="black"/>
                </a:solidFill>
                <a:latin typeface="Calibri"/>
              </a:rPr>
              <a:t>+</a:t>
            </a:r>
            <a:r>
              <a:rPr lang="en-US" sz="2800">
                <a:solidFill>
                  <a:prstClr val="black"/>
                </a:solidFill>
                <a:latin typeface="Calibri"/>
              </a:rPr>
              <a:t> and X </a:t>
            </a:r>
            <a:r>
              <a:rPr lang="en-US" sz="2800">
                <a:solidFill>
                  <a:prstClr val="black"/>
                </a:solidFill>
                <a:latin typeface="Calibri"/>
                <a:sym typeface="Symbol" charset="2"/>
              </a:rPr>
              <a:t> Y = :</a:t>
            </a:r>
          </a:p>
        </p:txBody>
      </p:sp>
      <p:sp>
        <p:nvSpPr>
          <p:cNvPr id="347144" name="Text Box 8"/>
          <p:cNvSpPr txBox="1">
            <a:spLocks noChangeArrowheads="1"/>
          </p:cNvSpPr>
          <p:nvPr/>
        </p:nvSpPr>
        <p:spPr bwMode="auto">
          <a:xfrm>
            <a:off x="838200" y="5305057"/>
            <a:ext cx="8304697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{A,B}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{C,D}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,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A,D}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{B,C}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,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{A,B,C}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{D}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,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{A,B,D}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{C}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,</a:t>
            </a:r>
          </a:p>
          <a:p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{A,C,D} </a:t>
            </a:r>
            <a:r>
              <a:rPr lang="en-US" sz="2400">
                <a:solidFill>
                  <a:prstClr val="black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 </a:t>
            </a:r>
            <a:r>
              <a:rPr lang="en-US" sz="24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{B}</a:t>
            </a:r>
            <a:endParaRPr lang="en-US" sz="2400">
              <a:solidFill>
                <a:srgbClr val="C00000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78425" y="2182464"/>
            <a:ext cx="8475529" cy="2123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7718322" y="4603645"/>
            <a:ext cx="1514168" cy="52322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719763" y="4585478"/>
            <a:ext cx="2216598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i="1">
                <a:latin typeface="+mj-lt"/>
              </a:rPr>
              <a:t>The FD X </a:t>
            </a:r>
            <a:r>
              <a:rPr lang="en-US" sz="2800" i="1">
                <a:latin typeface="+mj-lt"/>
                <a:sym typeface="Wingdings"/>
              </a:rPr>
              <a:t> Y is non-trivial</a:t>
            </a:r>
            <a:endParaRPr lang="en-US" sz="2800" i="1">
              <a:latin typeface="+mj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8" name="Rectangle 1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88780" y="-22510"/>
              <a:ext cx="33219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3  &gt;  Closures Pt. II</a:t>
              </a:r>
            </a:p>
          </p:txBody>
        </p:sp>
      </p:grp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849257" y="1549446"/>
            <a:ext cx="72419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prstClr val="black"/>
                </a:solidFill>
                <a:latin typeface="Calibri"/>
              </a:rPr>
              <a:t>Step 1: Compute X</a:t>
            </a:r>
            <a:r>
              <a:rPr lang="en-US" sz="2800" baseline="30000">
                <a:solidFill>
                  <a:prstClr val="black"/>
                </a:solidFill>
                <a:latin typeface="Calibri"/>
              </a:rPr>
              <a:t>+</a:t>
            </a:r>
            <a:r>
              <a:rPr lang="en-US" sz="2800">
                <a:solidFill>
                  <a:prstClr val="black"/>
                </a:solidFill>
                <a:latin typeface="Calibri"/>
              </a:rPr>
              <a:t>, for every set of attributes X: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329" y="1495336"/>
            <a:ext cx="7169712" cy="63144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645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94689"/>
            <a:ext cx="8229600" cy="1143000"/>
          </a:xfrm>
        </p:spPr>
        <p:txBody>
          <a:bodyPr/>
          <a:lstStyle/>
          <a:p>
            <a:r>
              <a:rPr lang="en-US" err="1"/>
              <a:t>Superkeys</a:t>
            </a:r>
            <a:r>
              <a:rPr lang="en-US"/>
              <a:t> and Keys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88780" y="-22510"/>
              <a:ext cx="35907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3  &gt;  </a:t>
              </a:r>
              <a:r>
                <a:rPr lang="en-US" sz="1400" b="1" i="1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Superkeys</a:t>
              </a:r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 &amp; Keys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EE7C0-DBD9-49CC-8978-7609E1796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1448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Keys and </a:t>
            </a:r>
            <a:r>
              <a:rPr lang="en-US" err="1"/>
              <a:t>Superkeys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199" y="2055681"/>
            <a:ext cx="7578214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3200">
                <a:latin typeface="+mj-lt"/>
              </a:rPr>
              <a:t>A </a:t>
            </a:r>
            <a:r>
              <a:rPr lang="en-US" sz="3200" b="1" u="sng" err="1">
                <a:latin typeface="+mj-lt"/>
              </a:rPr>
              <a:t>superkey</a:t>
            </a:r>
            <a:r>
              <a:rPr lang="en-US" sz="3200">
                <a:latin typeface="+mj-lt"/>
              </a:rPr>
              <a:t> is a set of attributes </a:t>
            </a:r>
            <a:r>
              <a:rPr lang="en-US" sz="3200" b="1">
                <a:latin typeface="+mj-lt"/>
              </a:rPr>
              <a:t>A</a:t>
            </a:r>
            <a:r>
              <a:rPr lang="en-US" sz="3200" b="1" baseline="-25000">
                <a:latin typeface="+mj-lt"/>
              </a:rPr>
              <a:t>1</a:t>
            </a:r>
            <a:r>
              <a:rPr lang="en-US" sz="3200" b="1">
                <a:latin typeface="+mj-lt"/>
              </a:rPr>
              <a:t>, …, A</a:t>
            </a:r>
            <a:r>
              <a:rPr lang="en-US" sz="3200" b="1" baseline="-25000">
                <a:latin typeface="+mj-lt"/>
              </a:rPr>
              <a:t>n</a:t>
            </a:r>
            <a:r>
              <a:rPr lang="en-US" sz="3200" b="1">
                <a:latin typeface="+mj-lt"/>
              </a:rPr>
              <a:t> </a:t>
            </a:r>
            <a:r>
              <a:rPr lang="en-US" sz="3200" err="1">
                <a:latin typeface="+mj-lt"/>
              </a:rPr>
              <a:t>s.t.</a:t>
            </a:r>
            <a:r>
              <a:rPr lang="en-US" sz="3200">
                <a:latin typeface="+mj-lt"/>
              </a:rPr>
              <a:t> </a:t>
            </a:r>
          </a:p>
          <a:p>
            <a:r>
              <a:rPr lang="en-US" sz="3200">
                <a:latin typeface="+mj-lt"/>
              </a:rPr>
              <a:t>for </a:t>
            </a:r>
            <a:r>
              <a:rPr lang="en-US" sz="3200" i="1">
                <a:latin typeface="+mj-lt"/>
              </a:rPr>
              <a:t>any other</a:t>
            </a:r>
            <a:r>
              <a:rPr lang="en-US" sz="3200">
                <a:latin typeface="+mj-lt"/>
              </a:rPr>
              <a:t> attribute </a:t>
            </a:r>
            <a:r>
              <a:rPr lang="en-US" sz="3200" b="1">
                <a:latin typeface="+mj-lt"/>
              </a:rPr>
              <a:t>B</a:t>
            </a:r>
            <a:r>
              <a:rPr lang="en-US" sz="3200">
                <a:latin typeface="+mj-lt"/>
              </a:rPr>
              <a:t> in R,</a:t>
            </a:r>
          </a:p>
          <a:p>
            <a:r>
              <a:rPr lang="en-US" sz="3200">
                <a:latin typeface="+mj-lt"/>
              </a:rPr>
              <a:t>we have  </a:t>
            </a:r>
            <a:r>
              <a:rPr lang="en-US" sz="3200" b="1">
                <a:latin typeface="+mj-lt"/>
              </a:rPr>
              <a:t>{A</a:t>
            </a:r>
            <a:r>
              <a:rPr lang="en-US" sz="3200" b="1" baseline="-25000">
                <a:latin typeface="+mj-lt"/>
              </a:rPr>
              <a:t>1</a:t>
            </a:r>
            <a:r>
              <a:rPr lang="en-US" sz="3200" b="1">
                <a:latin typeface="+mj-lt"/>
              </a:rPr>
              <a:t>, …, A</a:t>
            </a:r>
            <a:r>
              <a:rPr lang="en-US" sz="3200" b="1" baseline="-25000">
                <a:latin typeface="+mj-lt"/>
              </a:rPr>
              <a:t>n</a:t>
            </a:r>
            <a:r>
              <a:rPr lang="en-US" sz="3200" b="1">
                <a:latin typeface="+mj-lt"/>
              </a:rPr>
              <a:t>} </a:t>
            </a:r>
            <a:r>
              <a:rPr lang="en-US" sz="3200" b="1">
                <a:latin typeface="+mj-lt"/>
                <a:sym typeface="Wingdings"/>
              </a:rPr>
              <a:t> B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199" y="5267606"/>
            <a:ext cx="4874343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3200">
                <a:latin typeface="+mj-lt"/>
                <a:sym typeface="Wingdings"/>
              </a:rPr>
              <a:t>A </a:t>
            </a:r>
            <a:r>
              <a:rPr lang="en-US" sz="3200" b="1" u="sng">
                <a:latin typeface="+mj-lt"/>
                <a:sym typeface="Wingdings"/>
              </a:rPr>
              <a:t>key</a:t>
            </a:r>
            <a:r>
              <a:rPr lang="en-US" sz="3200" b="1">
                <a:latin typeface="+mj-lt"/>
                <a:sym typeface="Wingdings"/>
              </a:rPr>
              <a:t> </a:t>
            </a:r>
            <a:r>
              <a:rPr lang="en-US" sz="3200">
                <a:latin typeface="+mj-lt"/>
                <a:sym typeface="Wingdings"/>
              </a:rPr>
              <a:t>is a </a:t>
            </a:r>
            <a:r>
              <a:rPr lang="en-US" sz="3200" i="1">
                <a:latin typeface="+mj-lt"/>
                <a:sym typeface="Wingdings"/>
              </a:rPr>
              <a:t>minimal</a:t>
            </a:r>
            <a:r>
              <a:rPr lang="en-US" sz="3200">
                <a:latin typeface="+mj-lt"/>
                <a:sym typeface="Wingdings"/>
              </a:rPr>
              <a:t> </a:t>
            </a:r>
            <a:r>
              <a:rPr lang="en-US" sz="3200" err="1">
                <a:latin typeface="+mj-lt"/>
                <a:sym typeface="Wingdings"/>
              </a:rPr>
              <a:t>superkey</a:t>
            </a:r>
            <a:endParaRPr lang="en-US" sz="3200">
              <a:latin typeface="+mj-lt"/>
              <a:sym typeface="Wingding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99870" y="2240346"/>
            <a:ext cx="3106994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I.e. all attributes are </a:t>
            </a:r>
            <a:r>
              <a:rPr lang="en-US" sz="2400" i="1">
                <a:latin typeface="+mj-lt"/>
              </a:rPr>
              <a:t>functionally determined</a:t>
            </a:r>
            <a:r>
              <a:rPr lang="en-US" sz="2400">
                <a:latin typeface="+mj-lt"/>
              </a:rPr>
              <a:t> by a </a:t>
            </a:r>
            <a:r>
              <a:rPr lang="en-US" sz="2400" err="1">
                <a:latin typeface="+mj-lt"/>
              </a:rPr>
              <a:t>superkey</a:t>
            </a:r>
            <a:endParaRPr lang="en-US" sz="240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02025" y="4758429"/>
            <a:ext cx="4302684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This means that no subset of a key is also a </a:t>
            </a:r>
            <a:r>
              <a:rPr lang="en-US" sz="2400" err="1">
                <a:latin typeface="+mj-lt"/>
              </a:rPr>
              <a:t>superkey</a:t>
            </a:r>
            <a:r>
              <a:rPr lang="en-US" sz="2400">
                <a:latin typeface="+mj-lt"/>
              </a:rPr>
              <a:t> (i.e., dropping any attribute from the key makes it no longer a </a:t>
            </a:r>
            <a:r>
              <a:rPr lang="en-US" sz="2400" err="1">
                <a:latin typeface="+mj-lt"/>
              </a:rPr>
              <a:t>superkey</a:t>
            </a:r>
            <a:r>
              <a:rPr lang="en-US" sz="2400">
                <a:latin typeface="+mj-lt"/>
              </a:rPr>
              <a:t>)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88780" y="-22510"/>
              <a:ext cx="35907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3  &gt;  </a:t>
              </a:r>
              <a:r>
                <a:rPr lang="en-US" sz="1400" b="1" i="1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Superkeys</a:t>
              </a:r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 &amp; Keys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20050-89E7-4B5E-97B2-9DED0F93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60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32CD995-A41C-4C3B-A3F3-52A75D2560A9}"/>
                  </a:ext>
                </a:extLst>
              </p:cNvPr>
              <p:cNvSpPr/>
              <p:nvPr/>
            </p:nvSpPr>
            <p:spPr>
              <a:xfrm>
                <a:off x="990599" y="3899497"/>
                <a:ext cx="5940779" cy="58477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en-US" sz="3200">
                    <a:sym typeface="Wingdings"/>
                  </a:rPr>
                  <a:t>i.e., 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sym typeface="Wingdings"/>
                      </a:rPr>
                      <m:t>𝐵</m:t>
                    </m:r>
                    <m:r>
                      <a:rPr lang="en-US" sz="3200" i="1">
                        <a:latin typeface="Cambria Math" panose="02040503050406030204" pitchFamily="18" charset="0"/>
                        <a:sym typeface="Wingdings"/>
                      </a:rPr>
                      <m:t>∈</m:t>
                    </m:r>
                    <m:r>
                      <m:rPr>
                        <m:lit/>
                      </m:rPr>
                      <a:rPr lang="en-US" sz="3200" i="1">
                        <a:latin typeface="Cambria Math" panose="02040503050406030204" pitchFamily="18" charset="0"/>
                        <a:sym typeface="Wingdings"/>
                      </a:rPr>
                      <m:t>{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sym typeface="Wingdings"/>
                          </a:rPr>
                          <m:t>𝐴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sym typeface="Wingdings"/>
                          </a:rPr>
                          <m:t>1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  <a:sym typeface="Wingdings"/>
                      </a:rPr>
                      <m:t>,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sym typeface="Wingdings"/>
                          </a:rPr>
                          <m:t>𝐴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sym typeface="Wingdings"/>
                          </a:rPr>
                          <m:t>2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  <a:sym typeface="Wingdings"/>
                      </a:rPr>
                      <m:t>,…, 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sym typeface="Wingdings"/>
                          </a:rPr>
                          <m:t>𝐴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sym typeface="Wingdings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sz="3200" i="1">
                            <a:latin typeface="Cambria Math" panose="02040503050406030204" pitchFamily="18" charset="0"/>
                            <a:sym typeface="Wingdings"/>
                          </a:rPr>
                          <m:t>}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sym typeface="Wingdings"/>
                          </a:rPr>
                          <m:t>+</m:t>
                        </m:r>
                      </m:sup>
                    </m:sSup>
                  </m:oMath>
                </a14:m>
                <a:endParaRPr lang="en-US" sz="3200" b="1">
                  <a:sym typeface="Wingdings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32CD995-A41C-4C3B-A3F3-52A75D2560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9" y="3899497"/>
                <a:ext cx="5940779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737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Finding Keys and </a:t>
            </a:r>
            <a:r>
              <a:rPr lang="en-US" err="1"/>
              <a:t>Superkeys</a:t>
            </a:r>
            <a:r>
              <a:rPr lang="en-US"/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For each set of attributes X</a:t>
            </a:r>
          </a:p>
          <a:p>
            <a:pPr marL="914400" lvl="1" indent="-457200">
              <a:buFont typeface="+mj-lt"/>
              <a:buAutoNum type="arabicPeriod"/>
            </a:pPr>
            <a:endParaRPr lang="en-US" sz="3200"/>
          </a:p>
          <a:p>
            <a:pPr marL="914400" lvl="1" indent="-457200">
              <a:buFont typeface="+mj-lt"/>
              <a:buAutoNum type="arabicPeriod"/>
            </a:pPr>
            <a:r>
              <a:rPr lang="en-US" sz="3200"/>
              <a:t>Compute X</a:t>
            </a:r>
            <a:r>
              <a:rPr lang="en-US" sz="3200" baseline="30000"/>
              <a:t>+</a:t>
            </a:r>
            <a:endParaRPr lang="en-US" sz="3200"/>
          </a:p>
          <a:p>
            <a:pPr marL="914400" lvl="1" indent="-457200">
              <a:buFont typeface="+mj-lt"/>
              <a:buAutoNum type="arabicPeriod"/>
            </a:pPr>
            <a:endParaRPr lang="en-US" sz="3200"/>
          </a:p>
          <a:p>
            <a:pPr marL="914400" lvl="1" indent="-457200">
              <a:buFont typeface="+mj-lt"/>
              <a:buAutoNum type="arabicPeriod"/>
            </a:pPr>
            <a:r>
              <a:rPr lang="en-US" sz="3200"/>
              <a:t>If X</a:t>
            </a:r>
            <a:r>
              <a:rPr lang="en-US" sz="3200" baseline="30000"/>
              <a:t>+ </a:t>
            </a:r>
            <a:r>
              <a:rPr lang="en-US" sz="3200"/>
              <a:t>= set of all attributes then X is a </a:t>
            </a:r>
            <a:r>
              <a:rPr lang="en-US" sz="3200" b="1" err="1"/>
              <a:t>superkey</a:t>
            </a:r>
            <a:endParaRPr lang="en-US" sz="3200" b="1"/>
          </a:p>
          <a:p>
            <a:pPr marL="914400" lvl="1" indent="-457200">
              <a:buFont typeface="+mj-lt"/>
              <a:buAutoNum type="arabicPeriod"/>
            </a:pPr>
            <a:endParaRPr lang="en-US" sz="3200"/>
          </a:p>
          <a:p>
            <a:pPr marL="914400" lvl="1" indent="-457200">
              <a:buFont typeface="+mj-lt"/>
              <a:buAutoNum type="arabicPeriod"/>
            </a:pPr>
            <a:r>
              <a:rPr lang="en-US" sz="3200"/>
              <a:t>If X is minimal, then it is a </a:t>
            </a:r>
            <a:r>
              <a:rPr lang="en-US" sz="3200" b="1"/>
              <a:t>key</a:t>
            </a:r>
          </a:p>
          <a:p>
            <a:pPr lvl="1"/>
            <a:endParaRPr lang="en-US" sz="3200"/>
          </a:p>
        </p:txBody>
      </p:sp>
      <p:grpSp>
        <p:nvGrpSpPr>
          <p:cNvPr id="8" name="Group 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8780" y="-22510"/>
              <a:ext cx="35907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3  &gt;  </a:t>
              </a:r>
              <a:r>
                <a:rPr lang="en-US" sz="1400" b="1" i="1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Superkeys</a:t>
              </a:r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 &amp; Keys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DA39A-D421-4DE5-9FE8-698BFA0D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292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Finding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635740"/>
            <a:ext cx="811898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Product(name, price, category, color)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658682"/>
            <a:ext cx="6093542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{name, category} </a:t>
            </a:r>
            <a:r>
              <a:rPr lang="en-US" sz="3000">
                <a:latin typeface="Menlo" charset="0"/>
                <a:ea typeface="Menlo" charset="0"/>
                <a:cs typeface="Menlo" charset="0"/>
                <a:sym typeface="Wingdings"/>
              </a:rPr>
              <a:t> </a:t>
            </a:r>
            <a:r>
              <a:rPr lang="en-US" sz="3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/>
              </a:rPr>
              <a:t>price</a:t>
            </a:r>
          </a:p>
          <a:p>
            <a:r>
              <a:rPr lang="en-US" sz="3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/>
              </a:rPr>
              <a:t>{category} </a:t>
            </a:r>
            <a:r>
              <a:rPr lang="en-US" sz="3000">
                <a:latin typeface="Menlo" charset="0"/>
                <a:ea typeface="Menlo" charset="0"/>
                <a:cs typeface="Menlo" charset="0"/>
                <a:sym typeface="Wingdings"/>
              </a:rPr>
              <a:t> </a:t>
            </a:r>
            <a:r>
              <a:rPr lang="en-US" sz="3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/>
              </a:rPr>
              <a:t>color</a:t>
            </a:r>
            <a:endParaRPr lang="en-US" sz="3000">
              <a:solidFill>
                <a:srgbClr val="C00000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03231" y="4577189"/>
            <a:ext cx="7385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+mj-lt"/>
              </a:rPr>
              <a:t>What is a key?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8780" y="-22510"/>
              <a:ext cx="35907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3  &gt;  </a:t>
              </a:r>
              <a:r>
                <a:rPr lang="en-US" sz="1400" b="1" i="1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Superkeys</a:t>
              </a:r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 &amp; Keys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142C3C-7020-4E93-A186-E1CA3C59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62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E0E720-B221-47DE-88F1-BD95D40D0B05}"/>
              </a:ext>
            </a:extLst>
          </p:cNvPr>
          <p:cNvSpPr txBox="1"/>
          <p:nvPr/>
        </p:nvSpPr>
        <p:spPr>
          <a:xfrm>
            <a:off x="4323644" y="6062133"/>
            <a:ext cx="54055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{name, category}+ = {name, category, color, price}</a:t>
            </a:r>
          </a:p>
          <a:p>
            <a:r>
              <a:rPr lang="en-US"/>
              <a:t>{name, category, color}+ = {name, category, color, price}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96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635740"/>
            <a:ext cx="811898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Product(name, price, category, color)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658682"/>
            <a:ext cx="6093542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{name, category} </a:t>
            </a:r>
            <a:r>
              <a:rPr lang="en-US" sz="3000">
                <a:latin typeface="Menlo" charset="0"/>
                <a:ea typeface="Menlo" charset="0"/>
                <a:cs typeface="Menlo" charset="0"/>
                <a:sym typeface="Wingdings"/>
              </a:rPr>
              <a:t> </a:t>
            </a:r>
            <a:r>
              <a:rPr lang="en-US" sz="3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/>
              </a:rPr>
              <a:t>price</a:t>
            </a:r>
          </a:p>
          <a:p>
            <a:r>
              <a:rPr lang="en-US" sz="3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/>
              </a:rPr>
              <a:t>{category} </a:t>
            </a:r>
            <a:r>
              <a:rPr lang="en-US" sz="3000">
                <a:latin typeface="Menlo" charset="0"/>
                <a:ea typeface="Menlo" charset="0"/>
                <a:cs typeface="Menlo" charset="0"/>
                <a:sym typeface="Wingdings"/>
              </a:rPr>
              <a:t> </a:t>
            </a:r>
            <a:r>
              <a:rPr lang="en-US" sz="30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/>
              </a:rPr>
              <a:t>color</a:t>
            </a:r>
            <a:endParaRPr lang="en-US" sz="3000">
              <a:solidFill>
                <a:srgbClr val="C00000"/>
              </a:solidFill>
              <a:latin typeface="Menlo" charset="0"/>
              <a:ea typeface="Menlo" charset="0"/>
              <a:cs typeface="Menlo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38200" y="4174067"/>
                <a:ext cx="10515600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rgbClr val="C00000"/>
                    </a:solidFill>
                    <a:latin typeface="Menlo" charset="0"/>
                    <a:ea typeface="Menlo" charset="0"/>
                    <a:cs typeface="Menlo" charset="0"/>
                  </a:rPr>
                  <a:t>{name, category}</a:t>
                </a:r>
                <a:r>
                  <a:rPr lang="en-US" sz="2400" baseline="30000">
                    <a:solidFill>
                      <a:srgbClr val="C00000"/>
                    </a:solidFill>
                    <a:latin typeface="Menlo" charset="0"/>
                    <a:ea typeface="Menlo" charset="0"/>
                    <a:cs typeface="Menlo" charset="0"/>
                  </a:rPr>
                  <a:t>+</a:t>
                </a:r>
                <a:r>
                  <a:rPr lang="en-US" sz="2400">
                    <a:latin typeface="Menlo" charset="0"/>
                    <a:ea typeface="Menlo" charset="0"/>
                    <a:cs typeface="Menlo" charset="0"/>
                  </a:rPr>
                  <a:t> = </a:t>
                </a:r>
                <a:r>
                  <a:rPr lang="en-US" sz="2400">
                    <a:solidFill>
                      <a:srgbClr val="C00000"/>
                    </a:solidFill>
                    <a:latin typeface="Menlo" charset="0"/>
                    <a:ea typeface="Menlo" charset="0"/>
                    <a:cs typeface="Menlo" charset="0"/>
                  </a:rPr>
                  <a:t>{name, price, category, color}</a:t>
                </a:r>
              </a:p>
              <a:p>
                <a:pPr lvl="7"/>
                <a:r>
                  <a:rPr lang="en-US" sz="2400">
                    <a:latin typeface="Menlo" charset="0"/>
                    <a:ea typeface="Menlo" charset="0"/>
                    <a:cs typeface="Menlo" charset="0"/>
                  </a:rPr>
                  <a:t>= </a:t>
                </a:r>
                <a:r>
                  <a:rPr lang="en-US" sz="2800">
                    <a:latin typeface="+mj-lt"/>
                    <a:ea typeface="Menlo" charset="0"/>
                    <a:cs typeface="Menlo" charset="0"/>
                  </a:rPr>
                  <a:t>the set of all attributes</a:t>
                </a:r>
              </a:p>
              <a:p>
                <a:pPr lvl="7"/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en-US" sz="2400" b="1">
                    <a:latin typeface="Menlo" charset="0"/>
                    <a:ea typeface="Menlo" charset="0"/>
                    <a:cs typeface="Menlo" charset="0"/>
                  </a:rPr>
                  <a:t> </a:t>
                </a:r>
                <a:r>
                  <a:rPr lang="en-US" sz="2800">
                    <a:latin typeface="+mj-lt"/>
                    <a:ea typeface="Menlo" charset="0"/>
                    <a:cs typeface="Menlo" charset="0"/>
                  </a:rPr>
                  <a:t>this is a </a:t>
                </a:r>
                <a:r>
                  <a:rPr lang="en-US" sz="2800" b="1" err="1">
                    <a:latin typeface="+mj-lt"/>
                    <a:ea typeface="Menlo" charset="0"/>
                    <a:cs typeface="Menlo" charset="0"/>
                  </a:rPr>
                  <a:t>superkey</a:t>
                </a:r>
                <a:endParaRPr lang="en-US" sz="2800" b="1">
                  <a:latin typeface="+mj-lt"/>
                  <a:ea typeface="Menlo" charset="0"/>
                  <a:cs typeface="Menlo" charset="0"/>
                </a:endParaRPr>
              </a:p>
              <a:p>
                <a:pPr lvl="7"/>
                <a14:m>
                  <m:oMath xmlns:m="http://schemas.openxmlformats.org/officeDocument/2006/math">
                    <m:r>
                      <a:rPr lang="en-US" sz="2800" b="0" i="1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en-US" sz="2800">
                    <a:latin typeface="+mj-lt"/>
                    <a:ea typeface="Menlo" charset="0"/>
                    <a:cs typeface="Menlo" charset="0"/>
                  </a:rPr>
                  <a:t> this is a </a:t>
                </a:r>
                <a:r>
                  <a:rPr lang="en-US" sz="2800" b="1">
                    <a:latin typeface="+mj-lt"/>
                    <a:ea typeface="Menlo" charset="0"/>
                    <a:cs typeface="Menlo" charset="0"/>
                  </a:rPr>
                  <a:t>key</a:t>
                </a:r>
                <a:r>
                  <a:rPr lang="en-US" sz="2800">
                    <a:latin typeface="+mj-lt"/>
                    <a:ea typeface="Menlo" charset="0"/>
                    <a:cs typeface="Menlo" charset="0"/>
                  </a:rPr>
                  <a:t>, since neither </a:t>
                </a:r>
                <a:r>
                  <a:rPr lang="en-US" sz="2400">
                    <a:solidFill>
                      <a:srgbClr val="C00000"/>
                    </a:solidFill>
                    <a:latin typeface="Menlo" charset="0"/>
                    <a:ea typeface="Menlo" charset="0"/>
                    <a:cs typeface="Menlo" charset="0"/>
                  </a:rPr>
                  <a:t>name</a:t>
                </a:r>
                <a:r>
                  <a:rPr lang="en-US" sz="2800">
                    <a:latin typeface="+mj-lt"/>
                    <a:ea typeface="Menlo" charset="0"/>
                    <a:cs typeface="Menlo" charset="0"/>
                  </a:rPr>
                  <a:t> nor </a:t>
                </a:r>
                <a:r>
                  <a:rPr lang="en-US" sz="2400">
                    <a:solidFill>
                      <a:srgbClr val="C00000"/>
                    </a:solidFill>
                    <a:latin typeface="Menlo" charset="0"/>
                    <a:ea typeface="Menlo" charset="0"/>
                    <a:cs typeface="Menlo" charset="0"/>
                  </a:rPr>
                  <a:t>category</a:t>
                </a:r>
                <a:r>
                  <a:rPr lang="en-US" sz="2800">
                    <a:solidFill>
                      <a:srgbClr val="C00000"/>
                    </a:solidFill>
                    <a:latin typeface="+mj-lt"/>
                    <a:ea typeface="Menlo" charset="0"/>
                    <a:cs typeface="Menlo" charset="0"/>
                  </a:rPr>
                  <a:t> </a:t>
                </a:r>
                <a:r>
                  <a:rPr lang="en-US" sz="2800">
                    <a:latin typeface="+mj-lt"/>
                    <a:ea typeface="Menlo" charset="0"/>
                    <a:cs typeface="Menlo" charset="0"/>
                  </a:rPr>
                  <a:t>alone is a </a:t>
                </a:r>
                <a:r>
                  <a:rPr lang="en-US" sz="2800" err="1">
                    <a:latin typeface="+mj-lt"/>
                    <a:ea typeface="Menlo" charset="0"/>
                    <a:cs typeface="Menlo" charset="0"/>
                  </a:rPr>
                  <a:t>superkey</a:t>
                </a:r>
                <a:endParaRPr lang="en-US" sz="2800">
                  <a:latin typeface="+mj-lt"/>
                  <a:ea typeface="Menlo" charset="0"/>
                  <a:cs typeface="Menlo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74067"/>
                <a:ext cx="10515600" cy="2185214"/>
              </a:xfrm>
              <a:prstGeom prst="rect">
                <a:avLst/>
              </a:prstGeom>
              <a:blipFill>
                <a:blip r:embed="rId2"/>
                <a:stretch>
                  <a:fillRect l="-928" t="-2235" b="-7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88780" y="-22510"/>
              <a:ext cx="35907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 &gt;  Section 3  &gt;  </a:t>
              </a:r>
              <a:r>
                <a:rPr lang="en-US" sz="1400" b="1" i="1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Superkeys</a:t>
              </a:r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 &amp; Keys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B71E06-1D12-435A-BB73-BF5F77BF2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313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307EC-F4BC-404C-99E7-9CD9262D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Superkey</a:t>
            </a:r>
            <a:r>
              <a:rPr lang="en-US"/>
              <a:t> vs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E6046-1D2C-42F7-A2A0-D994B87F3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{name, category}+ = {name, category, color, price}               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superkey</a:t>
            </a:r>
            <a:r>
              <a:rPr lang="en-US">
                <a:sym typeface="Wingdings" panose="05000000000000000000" pitchFamily="2" charset="2"/>
              </a:rPr>
              <a:t> and key</a:t>
            </a:r>
            <a:endParaRPr lang="en-US"/>
          </a:p>
          <a:p>
            <a:r>
              <a:rPr lang="en-US"/>
              <a:t>{name, category, color}+ = {name, category, color, price} </a:t>
            </a:r>
          </a:p>
          <a:p>
            <a:pPr marL="0" indent="0">
              <a:buNone/>
            </a:pPr>
            <a:r>
              <a:rPr lang="en-US"/>
              <a:t>	 </a:t>
            </a:r>
            <a:r>
              <a:rPr lang="en-US" err="1"/>
              <a:t>Superkey</a:t>
            </a:r>
            <a:r>
              <a:rPr lang="en-US"/>
              <a:t> but not key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0D4C9-A75F-4863-938B-32B35402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64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57857-2FED-4EFE-91B0-9B135728A06E}"/>
              </a:ext>
            </a:extLst>
          </p:cNvPr>
          <p:cNvSpPr txBox="1"/>
          <p:nvPr/>
        </p:nvSpPr>
        <p:spPr>
          <a:xfrm>
            <a:off x="3860799" y="23706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477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73263"/>
            <a:ext cx="9144000" cy="2387600"/>
          </a:xfrm>
        </p:spPr>
        <p:txBody>
          <a:bodyPr/>
          <a:lstStyle/>
          <a:p>
            <a:r>
              <a:rPr lang="en-US"/>
              <a:t>Design Theory II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88780" y="-22510"/>
              <a:ext cx="13589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Design Theory II</a:t>
              </a:r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8FEA0E-E145-4A8C-BD7D-685ED9BF0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074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825332"/>
            <a:ext cx="8229600" cy="1143000"/>
          </a:xfrm>
        </p:spPr>
        <p:txBody>
          <a:bodyPr/>
          <a:lstStyle/>
          <a:p>
            <a:r>
              <a:rPr lang="en-US"/>
              <a:t>Normal Forms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88780" y="-22510"/>
              <a:ext cx="26050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II  &gt;  Normal Forms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A1E99-D0F2-44E4-BEF4-3CB7907E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0193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EAD0-B063-0322-BDE7-C93F913AA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8550A-5223-B9A3-F528-086091D7E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Definition</a:t>
            </a:r>
          </a:p>
          <a:p>
            <a:pPr lvl="1"/>
            <a:r>
              <a:rPr lang="en-US"/>
              <a:t>A relation schema </a:t>
            </a:r>
            <a:r>
              <a:rPr lang="en-US" b="1"/>
              <a:t>R</a:t>
            </a:r>
            <a:r>
              <a:rPr lang="en-US"/>
              <a:t> is in </a:t>
            </a:r>
            <a:r>
              <a:rPr lang="en-US" b="1"/>
              <a:t>Second Normal Form (2NF)</a:t>
            </a:r>
            <a:r>
              <a:rPr lang="en-US"/>
              <a:t> if every non-prime attribute </a:t>
            </a:r>
            <a:r>
              <a:rPr lang="en-US" b="1"/>
              <a:t>A</a:t>
            </a:r>
            <a:r>
              <a:rPr lang="en-US"/>
              <a:t> in </a:t>
            </a:r>
            <a:r>
              <a:rPr lang="en-US" b="1"/>
              <a:t>R</a:t>
            </a:r>
            <a:r>
              <a:rPr lang="en-US"/>
              <a:t> is not </a:t>
            </a:r>
            <a:r>
              <a:rPr lang="en-US" b="1" i="1" u="sng"/>
              <a:t>partially</a:t>
            </a:r>
            <a:r>
              <a:rPr lang="en-US"/>
              <a:t> dependent on </a:t>
            </a:r>
            <a:r>
              <a:rPr lang="en-US" b="1"/>
              <a:t>any</a:t>
            </a:r>
            <a:r>
              <a:rPr lang="en-US"/>
              <a:t> key of </a:t>
            </a:r>
            <a:r>
              <a:rPr lang="en-US" b="1"/>
              <a:t>R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lvl="1"/>
            <a:endParaRPr lang="en-US"/>
          </a:p>
          <a:p>
            <a:pPr marL="457200" lvl="1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/>
              <a:t>Prime attribute: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Is an attribute that is part of </a:t>
            </a:r>
            <a:r>
              <a:rPr lang="en-US" i="1"/>
              <a:t>any</a:t>
            </a:r>
            <a:r>
              <a:rPr lang="en-US"/>
              <a:t> key</a:t>
            </a:r>
          </a:p>
          <a:p>
            <a:r>
              <a:rPr lang="en-US"/>
              <a:t>Partially dependent </a:t>
            </a:r>
            <a:r>
              <a:rPr lang="en-US">
                <a:sym typeface="Wingdings" panose="05000000000000000000" pitchFamily="2" charset="2"/>
              </a:rPr>
              <a:t> depends on subset of the key </a:t>
            </a:r>
            <a:r>
              <a:rPr lang="en-US"/>
              <a:t> </a:t>
            </a:r>
            <a:endParaRPr lang="en-US">
              <a:ea typeface="Calibri"/>
              <a:cs typeface="Calibri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67052-CAF4-11A0-1953-F9B16685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47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EA376-379D-2345-9258-D062E7DF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397"/>
            <a:ext cx="10515600" cy="1325563"/>
          </a:xfrm>
        </p:spPr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D9061-E417-A846-A461-4E0F177D4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53331"/>
            <a:ext cx="6855691" cy="4351338"/>
          </a:xfrm>
        </p:spPr>
        <p:txBody>
          <a:bodyPr>
            <a:normAutofit fontScale="55000" lnSpcReduction="20000"/>
          </a:bodyPr>
          <a:lstStyle/>
          <a:p>
            <a:r>
              <a:rPr lang="en-US"/>
              <a:t>LOTS(</a:t>
            </a:r>
            <a:r>
              <a:rPr lang="en-US" err="1"/>
              <a:t>p_id</a:t>
            </a:r>
            <a:r>
              <a:rPr lang="en-US"/>
              <a:t>, </a:t>
            </a:r>
            <a:r>
              <a:rPr lang="en-US" err="1"/>
              <a:t>county_name</a:t>
            </a:r>
            <a:r>
              <a:rPr lang="en-US"/>
              <a:t>, lot#, Area, price, </a:t>
            </a:r>
            <a:r>
              <a:rPr lang="en-US" err="1"/>
              <a:t>tax_rate</a:t>
            </a:r>
            <a:r>
              <a:rPr lang="en-US"/>
              <a:t>)</a:t>
            </a:r>
          </a:p>
          <a:p>
            <a:r>
              <a:rPr lang="en-US"/>
              <a:t>FD1: </a:t>
            </a:r>
            <a:r>
              <a:rPr lang="en-US" err="1"/>
              <a:t>p_id</a:t>
            </a:r>
            <a:r>
              <a:rPr lang="en-US"/>
              <a:t> -&gt; {</a:t>
            </a:r>
            <a:r>
              <a:rPr lang="en-US" err="1"/>
              <a:t>county_name</a:t>
            </a:r>
            <a:r>
              <a:rPr lang="en-US"/>
              <a:t>, lot#, Area, price, </a:t>
            </a:r>
            <a:r>
              <a:rPr lang="en-US" err="1"/>
              <a:t>tax_rate</a:t>
            </a:r>
            <a:r>
              <a:rPr lang="en-US"/>
              <a:t>}</a:t>
            </a:r>
          </a:p>
          <a:p>
            <a:r>
              <a:rPr lang="en-US"/>
              <a:t>FD2: </a:t>
            </a:r>
            <a:r>
              <a:rPr lang="en-US" err="1"/>
              <a:t>county_name</a:t>
            </a:r>
            <a:r>
              <a:rPr lang="en-US"/>
              <a:t>, lot#}-&gt;{</a:t>
            </a:r>
            <a:r>
              <a:rPr lang="en-US" err="1"/>
              <a:t>p_id</a:t>
            </a:r>
            <a:r>
              <a:rPr lang="en-US"/>
              <a:t>, area, price, </a:t>
            </a:r>
            <a:r>
              <a:rPr lang="en-US" err="1"/>
              <a:t>tax_rate</a:t>
            </a:r>
            <a:r>
              <a:rPr lang="en-US"/>
              <a:t>}</a:t>
            </a:r>
          </a:p>
          <a:p>
            <a:r>
              <a:rPr lang="en-US"/>
              <a:t>FD3:  </a:t>
            </a:r>
            <a:r>
              <a:rPr lang="en-US" err="1"/>
              <a:t>county_name</a:t>
            </a:r>
            <a:r>
              <a:rPr lang="en-US"/>
              <a:t> -&gt; </a:t>
            </a:r>
            <a:r>
              <a:rPr lang="en-US" err="1"/>
              <a:t>Tax_rate</a:t>
            </a:r>
            <a:endParaRPr lang="en-US"/>
          </a:p>
          <a:p>
            <a:r>
              <a:rPr lang="en-US"/>
              <a:t>FD4: area -&gt; price	</a:t>
            </a:r>
          </a:p>
          <a:p>
            <a:r>
              <a:rPr lang="en-US"/>
              <a:t>(</a:t>
            </a:r>
            <a:r>
              <a:rPr lang="en-US" err="1"/>
              <a:t>p_id</a:t>
            </a:r>
            <a:r>
              <a:rPr lang="en-US"/>
              <a:t>)+={ </a:t>
            </a:r>
            <a:r>
              <a:rPr lang="en-US" err="1"/>
              <a:t>p_id</a:t>
            </a:r>
            <a:r>
              <a:rPr lang="en-US"/>
              <a:t>, </a:t>
            </a:r>
            <a:r>
              <a:rPr lang="en-US" err="1"/>
              <a:t>county_name</a:t>
            </a:r>
            <a:r>
              <a:rPr lang="en-US"/>
              <a:t>, lot#, area, price, </a:t>
            </a:r>
            <a:r>
              <a:rPr lang="en-US" err="1"/>
              <a:t>tax_rate</a:t>
            </a:r>
            <a:r>
              <a:rPr lang="en-US"/>
              <a:t>}</a:t>
            </a:r>
          </a:p>
          <a:p>
            <a:r>
              <a:rPr lang="en-US"/>
              <a:t>{</a:t>
            </a:r>
            <a:r>
              <a:rPr lang="en-US" err="1"/>
              <a:t>county_name</a:t>
            </a:r>
            <a:r>
              <a:rPr lang="en-US"/>
              <a:t>, lot#}+={ </a:t>
            </a:r>
            <a:r>
              <a:rPr lang="en-US" err="1"/>
              <a:t>p_id</a:t>
            </a:r>
            <a:r>
              <a:rPr lang="en-US"/>
              <a:t>, </a:t>
            </a:r>
            <a:r>
              <a:rPr lang="en-US" err="1"/>
              <a:t>county_name</a:t>
            </a:r>
            <a:r>
              <a:rPr lang="en-US"/>
              <a:t>, lot#, area, price, </a:t>
            </a:r>
            <a:r>
              <a:rPr lang="en-US" err="1"/>
              <a:t>tax_rate</a:t>
            </a:r>
            <a:r>
              <a:rPr lang="en-US"/>
              <a:t>}</a:t>
            </a:r>
          </a:p>
          <a:p>
            <a:r>
              <a:rPr lang="en-US"/>
              <a:t>{</a:t>
            </a:r>
            <a:r>
              <a:rPr lang="en-US" err="1"/>
              <a:t>county_name</a:t>
            </a:r>
            <a:r>
              <a:rPr lang="en-US"/>
              <a:t>}+ ={</a:t>
            </a:r>
            <a:r>
              <a:rPr lang="en-US" err="1"/>
              <a:t>county_name</a:t>
            </a:r>
            <a:r>
              <a:rPr lang="en-US"/>
              <a:t>, </a:t>
            </a:r>
            <a:r>
              <a:rPr lang="en-US" err="1"/>
              <a:t>tax_rate</a:t>
            </a:r>
            <a:r>
              <a:rPr lang="en-US"/>
              <a:t>}</a:t>
            </a:r>
          </a:p>
          <a:p>
            <a:r>
              <a:rPr lang="en-US"/>
              <a:t>{area}+={price, area}</a:t>
            </a:r>
          </a:p>
          <a:p>
            <a:r>
              <a:rPr lang="en-US"/>
              <a:t>Prime attributes:</a:t>
            </a:r>
          </a:p>
          <a:p>
            <a:pPr lvl="1"/>
            <a:r>
              <a:rPr lang="en-US" err="1"/>
              <a:t>p_id</a:t>
            </a:r>
            <a:endParaRPr lang="en-US"/>
          </a:p>
          <a:p>
            <a:pPr lvl="1"/>
            <a:r>
              <a:rPr lang="en-US" err="1"/>
              <a:t>county_name</a:t>
            </a:r>
            <a:endParaRPr lang="en-US"/>
          </a:p>
          <a:p>
            <a:pPr lvl="1"/>
            <a:r>
              <a:rPr lang="en-US"/>
              <a:t>lot#</a:t>
            </a:r>
          </a:p>
          <a:p>
            <a:r>
              <a:rPr lang="en-US"/>
              <a:t>non-prime attributes:</a:t>
            </a:r>
          </a:p>
          <a:p>
            <a:pPr lvl="1"/>
            <a:r>
              <a:rPr lang="en-US"/>
              <a:t>Area, Price, Tax rate</a:t>
            </a:r>
          </a:p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E223B83-6988-7443-BF9F-F370ED4FC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162"/>
          <a:stretch/>
        </p:blipFill>
        <p:spPr>
          <a:xfrm>
            <a:off x="154577" y="507197"/>
            <a:ext cx="5797858" cy="26729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4FB6085-520D-2144-B10D-254A56E62DA6}"/>
              </a:ext>
            </a:extLst>
          </p:cNvPr>
          <p:cNvSpPr/>
          <p:nvPr/>
        </p:nvSpPr>
        <p:spPr>
          <a:xfrm>
            <a:off x="8437156" y="3853392"/>
            <a:ext cx="375488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It is not in 2NF as we have </a:t>
            </a:r>
            <a:r>
              <a:rPr lang="en-US" err="1"/>
              <a:t>county_name</a:t>
            </a:r>
            <a:r>
              <a:rPr lang="en-US"/>
              <a:t> -&gt; </a:t>
            </a:r>
            <a:r>
              <a:rPr lang="en-US" err="1"/>
              <a:t>tax_rate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22EC08-845B-7D4B-BE3E-A5232B59E539}"/>
              </a:ext>
            </a:extLst>
          </p:cNvPr>
          <p:cNvSpPr/>
          <p:nvPr/>
        </p:nvSpPr>
        <p:spPr>
          <a:xfrm>
            <a:off x="6096000" y="5604669"/>
            <a:ext cx="445215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r>
              <a:rPr lang="en-US"/>
              <a:t>Lots1( </a:t>
            </a:r>
            <a:r>
              <a:rPr lang="en-US" err="1"/>
              <a:t>p_id</a:t>
            </a:r>
            <a:r>
              <a:rPr lang="en-US"/>
              <a:t>, </a:t>
            </a:r>
            <a:r>
              <a:rPr lang="en-US" err="1"/>
              <a:t>county_name</a:t>
            </a:r>
            <a:r>
              <a:rPr lang="en-US"/>
              <a:t>, lot#, Area, price)</a:t>
            </a:r>
          </a:p>
          <a:p>
            <a:pPr algn="ctr"/>
            <a:r>
              <a:rPr lang="en-US"/>
              <a:t>Lots2(</a:t>
            </a:r>
            <a:r>
              <a:rPr lang="en-US" err="1"/>
              <a:t>county_name</a:t>
            </a:r>
            <a:r>
              <a:rPr lang="en-US"/>
              <a:t>, </a:t>
            </a:r>
            <a:r>
              <a:rPr lang="en-US" err="1"/>
              <a:t>tax_rate</a:t>
            </a:r>
            <a:r>
              <a:rPr lang="en-US"/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AE7FA3-D279-2E44-8ACA-5A0406CBB018}"/>
              </a:ext>
            </a:extLst>
          </p:cNvPr>
          <p:cNvSpPr/>
          <p:nvPr/>
        </p:nvSpPr>
        <p:spPr>
          <a:xfrm>
            <a:off x="0" y="0"/>
            <a:ext cx="12192000" cy="2627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 b="1" i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98A4BC-2FE9-EF4B-B752-F5C941C0587E}"/>
              </a:ext>
            </a:extLst>
          </p:cNvPr>
          <p:cNvSpPr txBox="1"/>
          <p:nvPr/>
        </p:nvSpPr>
        <p:spPr>
          <a:xfrm>
            <a:off x="188780" y="-22510"/>
            <a:ext cx="2564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Design Theory II  &gt;  Normal Forms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7A3AE-8E80-46D5-AC2C-F2B402ADC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68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DE3BC9-6B07-34AF-084F-61949CAFBB50}"/>
              </a:ext>
            </a:extLst>
          </p:cNvPr>
          <p:cNvSpPr txBox="1"/>
          <p:nvPr/>
        </p:nvSpPr>
        <p:spPr>
          <a:xfrm>
            <a:off x="4071152" y="504634"/>
            <a:ext cx="6477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 relation schema </a:t>
            </a:r>
            <a:r>
              <a:rPr lang="en-US" b="1"/>
              <a:t>R</a:t>
            </a:r>
            <a:r>
              <a:rPr lang="en-US"/>
              <a:t> is in </a:t>
            </a:r>
            <a:r>
              <a:rPr lang="en-US" b="1"/>
              <a:t>Second Normal Form (2NF)</a:t>
            </a:r>
            <a:r>
              <a:rPr lang="en-US"/>
              <a:t> if every non-prime attribute </a:t>
            </a:r>
            <a:r>
              <a:rPr lang="en-US" b="1"/>
              <a:t>A</a:t>
            </a:r>
            <a:r>
              <a:rPr lang="en-US"/>
              <a:t> in </a:t>
            </a:r>
            <a:r>
              <a:rPr lang="en-US" b="1"/>
              <a:t>R</a:t>
            </a:r>
            <a:r>
              <a:rPr lang="en-US"/>
              <a:t> is not partially dependent on </a:t>
            </a:r>
            <a:r>
              <a:rPr lang="en-US" b="1"/>
              <a:t>any</a:t>
            </a:r>
            <a:r>
              <a:rPr lang="en-US"/>
              <a:t> key of </a:t>
            </a:r>
            <a:r>
              <a:rPr lang="en-US" b="1"/>
              <a:t>R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6499D2-BB9A-651F-886C-3E1EF59007F2}"/>
              </a:ext>
            </a:extLst>
          </p:cNvPr>
          <p:cNvSpPr txBox="1"/>
          <p:nvPr/>
        </p:nvSpPr>
        <p:spPr>
          <a:xfrm>
            <a:off x="158750" y="3005667"/>
            <a:ext cx="5357283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>
                <a:ea typeface="+mn-lt"/>
                <a:cs typeface="+mn-lt"/>
              </a:rPr>
              <a:t>Non-prime attributes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Area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Pid-&gt;Area                   (OK as PID is a key)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County_name</a:t>
            </a:r>
            <a:r>
              <a:rPr lang="en-US" dirty="0">
                <a:ea typeface="+mn-lt"/>
                <a:cs typeface="+mn-lt"/>
              </a:rPr>
              <a:t>, lot#-&gt; Area (OK as </a:t>
            </a:r>
            <a:r>
              <a:rPr lang="en-US" dirty="0" err="1">
                <a:ea typeface="+mn-lt"/>
                <a:cs typeface="+mn-lt"/>
              </a:rPr>
              <a:t>county_name</a:t>
            </a:r>
            <a:r>
              <a:rPr lang="en-US" dirty="0">
                <a:ea typeface="+mn-lt"/>
                <a:cs typeface="+mn-lt"/>
              </a:rPr>
              <a:t>, lot#  is a key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Price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         Pid-&gt;Price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                </a:t>
            </a:r>
            <a:r>
              <a:rPr lang="en-US" dirty="0" err="1">
                <a:ea typeface="+mn-lt"/>
                <a:cs typeface="+mn-lt"/>
              </a:rPr>
              <a:t>County_name</a:t>
            </a:r>
            <a:r>
              <a:rPr lang="en-US" dirty="0">
                <a:ea typeface="+mn-lt"/>
                <a:cs typeface="+mn-lt"/>
              </a:rPr>
              <a:t>, lot# -- &gt; price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                Area-&gt;price  (Area is not a key, OK)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Tax_rate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                Pid-&gt; </a:t>
            </a:r>
            <a:r>
              <a:rPr lang="en-US" dirty="0" err="1">
                <a:ea typeface="+mn-lt"/>
                <a:cs typeface="+mn-lt"/>
              </a:rPr>
              <a:t>tax_rate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                </a:t>
            </a:r>
            <a:r>
              <a:rPr lang="en-US" dirty="0" err="1">
                <a:ea typeface="+mn-lt"/>
                <a:cs typeface="+mn-lt"/>
              </a:rPr>
              <a:t>County_name</a:t>
            </a:r>
            <a:r>
              <a:rPr lang="en-US" dirty="0">
                <a:ea typeface="+mn-lt"/>
                <a:cs typeface="+mn-lt"/>
              </a:rPr>
              <a:t>, lot#-&gt; </a:t>
            </a:r>
            <a:r>
              <a:rPr lang="en-US" dirty="0" err="1">
                <a:ea typeface="+mn-lt"/>
                <a:cs typeface="+mn-lt"/>
              </a:rPr>
              <a:t>tax_rate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                </a:t>
            </a:r>
            <a:r>
              <a:rPr lang="en-US" dirty="0" err="1">
                <a:ea typeface="+mn-lt"/>
                <a:cs typeface="+mn-lt"/>
              </a:rPr>
              <a:t>County_name</a:t>
            </a:r>
            <a:r>
              <a:rPr lang="en-US" dirty="0">
                <a:ea typeface="+mn-lt"/>
                <a:cs typeface="+mn-lt"/>
              </a:rPr>
              <a:t>-&gt; </a:t>
            </a:r>
            <a:r>
              <a:rPr lang="en-US" dirty="0" err="1">
                <a:ea typeface="+mn-lt"/>
                <a:cs typeface="+mn-lt"/>
              </a:rPr>
              <a:t>tax_rate</a:t>
            </a:r>
            <a:r>
              <a:rPr lang="en-US" dirty="0">
                <a:ea typeface="+mn-lt"/>
                <a:cs typeface="+mn-lt"/>
              </a:rPr>
              <a:t> violates 2NF</a:t>
            </a:r>
            <a:endParaRPr lang="en-US" dirty="0"/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004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1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14FC3-9ED5-42FA-A0AC-476B59A63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2NF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E2F51-AF46-4712-B02C-9E196DF86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69</a:t>
            </a:fld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A6E34C8E-3B40-DC04-49F9-436B91C75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592" y="1850951"/>
            <a:ext cx="10515600" cy="275433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A2C0A7-FA7A-E0F3-FEAB-390360DCBD72}"/>
              </a:ext>
            </a:extLst>
          </p:cNvPr>
          <p:cNvSpPr/>
          <p:nvPr/>
        </p:nvSpPr>
        <p:spPr>
          <a:xfrm>
            <a:off x="1276994" y="1941385"/>
            <a:ext cx="10075333" cy="2566317"/>
          </a:xfrm>
          <a:prstGeom prst="rect">
            <a:avLst/>
          </a:prstGeom>
          <a:solidFill>
            <a:srgbClr val="0432FF">
              <a:alpha val="1098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94B6DE-5AB1-F8CF-331F-C664789E3502}"/>
              </a:ext>
            </a:extLst>
          </p:cNvPr>
          <p:cNvSpPr/>
          <p:nvPr/>
        </p:nvSpPr>
        <p:spPr>
          <a:xfrm>
            <a:off x="5985933" y="4943322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2NF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26D43D-11AF-FB1F-EF80-954BBC8F3B29}"/>
              </a:ext>
            </a:extLst>
          </p:cNvPr>
          <p:cNvSpPr/>
          <p:nvPr/>
        </p:nvSpPr>
        <p:spPr>
          <a:xfrm>
            <a:off x="152400" y="152400"/>
            <a:ext cx="12192000" cy="2627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 b="1" i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3F4090-D371-BFF1-06F7-2C39FD099095}"/>
              </a:ext>
            </a:extLst>
          </p:cNvPr>
          <p:cNvSpPr txBox="1"/>
          <p:nvPr/>
        </p:nvSpPr>
        <p:spPr>
          <a:xfrm>
            <a:off x="341180" y="129890"/>
            <a:ext cx="2564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Design Theory II  &gt;  Normal Forms</a:t>
            </a:r>
          </a:p>
        </p:txBody>
      </p:sp>
    </p:spTree>
    <p:extLst>
      <p:ext uri="{BB962C8B-B14F-4D97-AF65-F5344CB8AC3E}">
        <p14:creationId xmlns:p14="http://schemas.microsoft.com/office/powerpoint/2010/main" val="30409369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3339-0154-FC01-7AF9-3E304BA3B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C1946-F2C9-0111-C011-15D5568FB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Definition:</a:t>
            </a:r>
          </a:p>
          <a:p>
            <a:r>
              <a:rPr lang="en-US"/>
              <a:t>A relation schema </a:t>
            </a:r>
            <a:r>
              <a:rPr lang="en-US" b="1"/>
              <a:t>R</a:t>
            </a:r>
            <a:r>
              <a:rPr lang="en-US"/>
              <a:t> is in </a:t>
            </a:r>
            <a:r>
              <a:rPr lang="en-US" b="1"/>
              <a:t>Third Normal Form (3NF)</a:t>
            </a:r>
            <a:r>
              <a:rPr lang="en-US"/>
              <a:t> if, whenever a </a:t>
            </a:r>
            <a:r>
              <a:rPr lang="en-US" b="1"/>
              <a:t>nontrivial</a:t>
            </a:r>
            <a:r>
              <a:rPr lang="en-US"/>
              <a:t> functional dependency </a:t>
            </a:r>
            <a:r>
              <a:rPr lang="en-US" b="1"/>
              <a:t>X → A</a:t>
            </a:r>
            <a:r>
              <a:rPr lang="en-US"/>
              <a:t> holds in </a:t>
            </a:r>
            <a:r>
              <a:rPr lang="en-US" b="1"/>
              <a:t>R</a:t>
            </a:r>
            <a:r>
              <a:rPr lang="en-US"/>
              <a:t>, either: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(a) </a:t>
            </a:r>
            <a:r>
              <a:rPr lang="en-US" b="1"/>
              <a:t>X</a:t>
            </a:r>
            <a:r>
              <a:rPr lang="en-US"/>
              <a:t> is a </a:t>
            </a:r>
            <a:r>
              <a:rPr lang="en-US" err="1"/>
              <a:t>superkey</a:t>
            </a:r>
            <a:r>
              <a:rPr lang="en-US"/>
              <a:t> of </a:t>
            </a:r>
            <a:r>
              <a:rPr lang="en-US" b="1"/>
              <a:t>R</a:t>
            </a:r>
            <a:r>
              <a:rPr lang="en-US"/>
              <a:t>, 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(b) </a:t>
            </a:r>
            <a:r>
              <a:rPr lang="en-US" b="1"/>
              <a:t>A</a:t>
            </a:r>
            <a:r>
              <a:rPr lang="en-US"/>
              <a:t> is a prime attribute of </a:t>
            </a:r>
            <a:r>
              <a:rPr lang="en-US" b="1"/>
              <a:t>R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A75E7-FE95-4676-11AD-BD1D5C3C3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8544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4782C-37A5-4743-927A-9F6488355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05" y="-156043"/>
            <a:ext cx="10515600" cy="1325563"/>
          </a:xfrm>
        </p:spPr>
        <p:txBody>
          <a:bodyPr/>
          <a:lstStyle/>
          <a:p>
            <a:r>
              <a:rPr lang="en-US"/>
              <a:t>2NF -&gt; 3NF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48E760-DEEF-B443-946D-B5A993E103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484" y="674661"/>
            <a:ext cx="10515600" cy="27543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5949C52-773E-D543-94C0-A5EEE4AB89D1}"/>
              </a:ext>
            </a:extLst>
          </p:cNvPr>
          <p:cNvSpPr/>
          <p:nvPr/>
        </p:nvSpPr>
        <p:spPr>
          <a:xfrm>
            <a:off x="636494" y="3764845"/>
            <a:ext cx="6096000" cy="2862322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/>
          <a:p>
            <a:endParaRPr lang="en-US"/>
          </a:p>
          <a:p>
            <a:r>
              <a:rPr lang="en-US" dirty="0"/>
              <a:t>FD: X-&gt;A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	(a) X is a </a:t>
            </a:r>
            <a:r>
              <a:rPr lang="en-US" dirty="0" err="1"/>
              <a:t>superkey</a:t>
            </a:r>
            <a:endParaRPr lang="en-US" dirty="0"/>
          </a:p>
          <a:p>
            <a:r>
              <a:rPr lang="en-US" dirty="0"/>
              <a:t>	or (b) A is a prime attribute</a:t>
            </a:r>
            <a:endParaRPr lang="en-US" dirty="0">
              <a:ea typeface="Calibri"/>
              <a:cs typeface="Calibri"/>
            </a:endParaRPr>
          </a:p>
          <a:p>
            <a:endParaRPr lang="en-US"/>
          </a:p>
          <a:p>
            <a:r>
              <a:rPr lang="en-US" dirty="0"/>
              <a:t>Lots1(</a:t>
            </a:r>
            <a:r>
              <a:rPr lang="en-US" dirty="0" err="1"/>
              <a:t>p_id</a:t>
            </a:r>
            <a:r>
              <a:rPr lang="en-US" dirty="0"/>
              <a:t>, </a:t>
            </a:r>
            <a:r>
              <a:rPr lang="en-US" dirty="0" err="1"/>
              <a:t>county_name</a:t>
            </a:r>
            <a:r>
              <a:rPr lang="en-US" dirty="0"/>
              <a:t>, lot#, Area, price)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FD1:p_id -&gt; {</a:t>
            </a:r>
            <a:r>
              <a:rPr lang="en-US" dirty="0" err="1"/>
              <a:t>county_name</a:t>
            </a:r>
            <a:r>
              <a:rPr lang="en-US" dirty="0"/>
              <a:t>, lot#, Area, price}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FD2:{</a:t>
            </a:r>
            <a:r>
              <a:rPr lang="en-US" dirty="0" err="1"/>
              <a:t>county_name</a:t>
            </a:r>
            <a:r>
              <a:rPr lang="en-US" dirty="0"/>
              <a:t>, lot#}-&gt;{</a:t>
            </a:r>
            <a:r>
              <a:rPr lang="en-US" dirty="0" err="1"/>
              <a:t>p_id</a:t>
            </a:r>
            <a:r>
              <a:rPr lang="en-US" dirty="0"/>
              <a:t>, area, price}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FD4:area -&gt; price   (</a:t>
            </a:r>
            <a:r>
              <a:rPr lang="en-US" dirty="0" err="1"/>
              <a:t>vioalted</a:t>
            </a:r>
            <a:r>
              <a:rPr lang="en-US" dirty="0"/>
              <a:t> 3NF, as area+={</a:t>
            </a:r>
            <a:r>
              <a:rPr lang="en-US" dirty="0" err="1"/>
              <a:t>area,price</a:t>
            </a:r>
            <a:r>
              <a:rPr lang="en-US" dirty="0"/>
              <a:t>{ </a:t>
            </a:r>
          </a:p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CF78C-29B8-CD42-9721-FB7F6404F019}"/>
              </a:ext>
            </a:extLst>
          </p:cNvPr>
          <p:cNvSpPr/>
          <p:nvPr/>
        </p:nvSpPr>
        <p:spPr>
          <a:xfrm>
            <a:off x="6951316" y="534301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/>
          </a:p>
          <a:p>
            <a:r>
              <a:rPr lang="en-US"/>
              <a:t>Lots1A(</a:t>
            </a:r>
            <a:r>
              <a:rPr lang="en-US" err="1"/>
              <a:t>p_id</a:t>
            </a:r>
            <a:r>
              <a:rPr lang="en-US"/>
              <a:t>, </a:t>
            </a:r>
            <a:r>
              <a:rPr lang="en-US" err="1"/>
              <a:t>county_name</a:t>
            </a:r>
            <a:r>
              <a:rPr lang="en-US"/>
              <a:t>, lot#, Area)</a:t>
            </a:r>
          </a:p>
          <a:p>
            <a:r>
              <a:rPr lang="en-US"/>
              <a:t>Lots1B(area, price)</a:t>
            </a:r>
          </a:p>
          <a:p>
            <a:r>
              <a:rPr lang="en-US"/>
              <a:t>+ LOTS2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880ACF-AC55-1C45-B276-6D547CF82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333" y="3660340"/>
            <a:ext cx="5503333" cy="19158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24CB86B-2145-F041-BFB6-C05C393EB08C}"/>
              </a:ext>
            </a:extLst>
          </p:cNvPr>
          <p:cNvSpPr/>
          <p:nvPr/>
        </p:nvSpPr>
        <p:spPr>
          <a:xfrm>
            <a:off x="559005" y="768742"/>
            <a:ext cx="10075333" cy="2566317"/>
          </a:xfrm>
          <a:prstGeom prst="rect">
            <a:avLst/>
          </a:prstGeom>
          <a:solidFill>
            <a:srgbClr val="0432FF">
              <a:alpha val="1098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2CF4A9-0488-1144-B0D1-3DD3F1D3DFBB}"/>
              </a:ext>
            </a:extLst>
          </p:cNvPr>
          <p:cNvSpPr/>
          <p:nvPr/>
        </p:nvSpPr>
        <p:spPr>
          <a:xfrm>
            <a:off x="4919133" y="820241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2NF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90F4EA-7028-734E-BCB9-F58FA6C009DD}"/>
              </a:ext>
            </a:extLst>
          </p:cNvPr>
          <p:cNvSpPr/>
          <p:nvPr/>
        </p:nvSpPr>
        <p:spPr>
          <a:xfrm>
            <a:off x="6392333" y="4176336"/>
            <a:ext cx="5240866" cy="1399897"/>
          </a:xfrm>
          <a:prstGeom prst="rect">
            <a:avLst/>
          </a:prstGeom>
          <a:solidFill>
            <a:srgbClr val="0432FF">
              <a:alpha val="1098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7CD5FC-7898-9048-A601-FC9C404CCA4C}"/>
              </a:ext>
            </a:extLst>
          </p:cNvPr>
          <p:cNvSpPr/>
          <p:nvPr/>
        </p:nvSpPr>
        <p:spPr>
          <a:xfrm>
            <a:off x="8399680" y="3891216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3NF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797754-B3C2-DD4B-A54F-06ADEF4BAEB8}"/>
              </a:ext>
            </a:extLst>
          </p:cNvPr>
          <p:cNvSpPr/>
          <p:nvPr/>
        </p:nvSpPr>
        <p:spPr>
          <a:xfrm>
            <a:off x="0" y="0"/>
            <a:ext cx="12192000" cy="2627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 b="1" i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5204E0-7600-BE43-823D-21E64831BB25}"/>
              </a:ext>
            </a:extLst>
          </p:cNvPr>
          <p:cNvSpPr txBox="1"/>
          <p:nvPr/>
        </p:nvSpPr>
        <p:spPr>
          <a:xfrm>
            <a:off x="188780" y="-22510"/>
            <a:ext cx="2564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Design Theory II  &gt;  Normal Forms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FE935D-588F-4FD8-ABDC-39F92750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54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C11DD-510C-4A8A-8FB0-EB9B33E31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F3AEA-B157-4CE7-A4FE-E98B559C5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01A37-AAB2-482F-869E-45D7BC1F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72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EB608-6EAC-468E-8768-4BDBA86657B0}"/>
              </a:ext>
            </a:extLst>
          </p:cNvPr>
          <p:cNvSpPr txBox="1"/>
          <p:nvPr/>
        </p:nvSpPr>
        <p:spPr>
          <a:xfrm>
            <a:off x="1095834" y="4180844"/>
            <a:ext cx="6107288" cy="147732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b="1"/>
              <a:t>BCNF:</a:t>
            </a:r>
          </a:p>
          <a:p>
            <a:r>
              <a:rPr lang="en-US"/>
              <a:t>A relation schema </a:t>
            </a:r>
            <a:r>
              <a:rPr lang="en-US" b="1"/>
              <a:t>R</a:t>
            </a:r>
            <a:r>
              <a:rPr lang="en-US"/>
              <a:t> is in </a:t>
            </a:r>
            <a:r>
              <a:rPr lang="en-US" b="1"/>
              <a:t>BCNF</a:t>
            </a:r>
            <a:r>
              <a:rPr lang="en-US"/>
              <a:t> if, whenever a </a:t>
            </a:r>
            <a:r>
              <a:rPr lang="en-US" b="1"/>
              <a:t>nontrivial</a:t>
            </a:r>
            <a:r>
              <a:rPr lang="en-US"/>
              <a:t> functional dependency </a:t>
            </a:r>
            <a:r>
              <a:rPr lang="en-US" b="1"/>
              <a:t>X → A</a:t>
            </a:r>
            <a:r>
              <a:rPr lang="en-US"/>
              <a:t> holds in </a:t>
            </a:r>
            <a:r>
              <a:rPr lang="en-US" b="1"/>
              <a:t>R, then</a:t>
            </a:r>
            <a:r>
              <a:rPr lang="en-US"/>
              <a:t>	 </a:t>
            </a:r>
            <a:r>
              <a:rPr lang="en-US" b="1"/>
              <a:t>X</a:t>
            </a:r>
            <a:r>
              <a:rPr lang="en-US"/>
              <a:t> is a </a:t>
            </a:r>
            <a:r>
              <a:rPr lang="en-US" err="1"/>
              <a:t>superkey</a:t>
            </a:r>
            <a:r>
              <a:rPr lang="en-US"/>
              <a:t> of </a:t>
            </a:r>
            <a:r>
              <a:rPr lang="en-US" b="1"/>
              <a:t>R</a:t>
            </a:r>
            <a:endParaRPr lang="en-US"/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DEE8D-F7A9-4325-A312-087107238089}"/>
              </a:ext>
            </a:extLst>
          </p:cNvPr>
          <p:cNvSpPr txBox="1"/>
          <p:nvPr/>
        </p:nvSpPr>
        <p:spPr>
          <a:xfrm>
            <a:off x="5557938" y="1822613"/>
            <a:ext cx="6107288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/>
              <a:t>3NF:</a:t>
            </a:r>
          </a:p>
          <a:p>
            <a:r>
              <a:rPr lang="en-US"/>
              <a:t>A relation schema </a:t>
            </a:r>
            <a:r>
              <a:rPr lang="en-US" b="1"/>
              <a:t>R</a:t>
            </a:r>
            <a:r>
              <a:rPr lang="en-US"/>
              <a:t> is in </a:t>
            </a:r>
            <a:r>
              <a:rPr lang="en-US" b="1"/>
              <a:t>Third Normal Form (3NF)</a:t>
            </a:r>
            <a:r>
              <a:rPr lang="en-US"/>
              <a:t> if, whenever a </a:t>
            </a:r>
            <a:r>
              <a:rPr lang="en-US" b="1"/>
              <a:t>nontrivial</a:t>
            </a:r>
            <a:r>
              <a:rPr lang="en-US"/>
              <a:t> functional dependency </a:t>
            </a:r>
            <a:r>
              <a:rPr lang="en-US" b="1"/>
              <a:t>X → A</a:t>
            </a:r>
            <a:r>
              <a:rPr lang="en-US"/>
              <a:t> holds in </a:t>
            </a:r>
            <a:r>
              <a:rPr lang="en-US" b="1"/>
              <a:t>R</a:t>
            </a:r>
            <a:r>
              <a:rPr lang="en-US"/>
              <a:t>, either: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(a) </a:t>
            </a:r>
            <a:r>
              <a:rPr lang="en-US" b="1"/>
              <a:t>X</a:t>
            </a:r>
            <a:r>
              <a:rPr lang="en-US"/>
              <a:t> is a </a:t>
            </a:r>
            <a:r>
              <a:rPr lang="en-US" err="1"/>
              <a:t>superkey</a:t>
            </a:r>
            <a:r>
              <a:rPr lang="en-US"/>
              <a:t> of </a:t>
            </a:r>
            <a:r>
              <a:rPr lang="en-US" b="1"/>
              <a:t>R</a:t>
            </a:r>
            <a:r>
              <a:rPr lang="en-US"/>
              <a:t>, 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(b) </a:t>
            </a:r>
            <a:r>
              <a:rPr lang="en-US" b="1"/>
              <a:t>A</a:t>
            </a:r>
            <a:r>
              <a:rPr lang="en-US"/>
              <a:t> is a prime attribute of </a:t>
            </a:r>
            <a:r>
              <a:rPr lang="en-US" b="1"/>
              <a:t>R</a:t>
            </a:r>
            <a:r>
              <a:rPr lang="en-US"/>
              <a:t>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344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4F61B-000B-DDEC-F3D3-2755BFC8D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02E54-4306-6BC9-32B7-5ED68E11B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Definition:</a:t>
            </a:r>
          </a:p>
          <a:p>
            <a:r>
              <a:rPr lang="en-US"/>
              <a:t>A relation schema </a:t>
            </a:r>
            <a:r>
              <a:rPr lang="en-US" b="1"/>
              <a:t>R</a:t>
            </a:r>
            <a:r>
              <a:rPr lang="en-US"/>
              <a:t> is in </a:t>
            </a:r>
            <a:r>
              <a:rPr lang="en-US" b="1"/>
              <a:t>BCNF</a:t>
            </a:r>
            <a:r>
              <a:rPr lang="en-US"/>
              <a:t> if, whenever a </a:t>
            </a:r>
            <a:r>
              <a:rPr lang="en-US" b="1"/>
              <a:t>nontrivial</a:t>
            </a:r>
            <a:r>
              <a:rPr lang="en-US"/>
              <a:t> functional dependency </a:t>
            </a:r>
            <a:r>
              <a:rPr lang="en-US" b="1"/>
              <a:t>X → A</a:t>
            </a:r>
            <a:r>
              <a:rPr lang="en-US"/>
              <a:t> holds in </a:t>
            </a:r>
            <a:r>
              <a:rPr lang="en-US" b="1"/>
              <a:t>R, then</a:t>
            </a:r>
            <a:r>
              <a:rPr lang="en-US"/>
              <a:t>	 </a:t>
            </a:r>
            <a:r>
              <a:rPr lang="en-US" b="1"/>
              <a:t>X</a:t>
            </a:r>
            <a:r>
              <a:rPr lang="en-US"/>
              <a:t> is a </a:t>
            </a:r>
            <a:r>
              <a:rPr lang="en-US" err="1"/>
              <a:t>superkey</a:t>
            </a:r>
            <a:r>
              <a:rPr lang="en-US"/>
              <a:t> of </a:t>
            </a:r>
            <a:r>
              <a:rPr lang="en-US" b="1"/>
              <a:t>R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6411D-734B-ADC6-5F19-18A7FDF0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785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45283-706E-8E42-A9E7-AD3736E1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4" y="250536"/>
            <a:ext cx="10515600" cy="1325563"/>
          </a:xfrm>
        </p:spPr>
        <p:txBody>
          <a:bodyPr/>
          <a:lstStyle/>
          <a:p>
            <a:r>
              <a:rPr lang="en-US"/>
              <a:t>3NF to BCNF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370415-FABF-0F45-B8D8-9092BDC576D3}"/>
              </a:ext>
            </a:extLst>
          </p:cNvPr>
          <p:cNvSpPr/>
          <p:nvPr/>
        </p:nvSpPr>
        <p:spPr>
          <a:xfrm>
            <a:off x="6084822" y="544912"/>
            <a:ext cx="5581409" cy="3031779"/>
          </a:xfrm>
          <a:prstGeom prst="rect">
            <a:avLst/>
          </a:prstGeom>
          <a:solidFill>
            <a:srgbClr val="0432FF">
              <a:alpha val="1098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8DAAAB-BCB5-BD43-8E43-798C62067A2C}"/>
              </a:ext>
            </a:extLst>
          </p:cNvPr>
          <p:cNvSpPr/>
          <p:nvPr/>
        </p:nvSpPr>
        <p:spPr>
          <a:xfrm>
            <a:off x="8394864" y="360763"/>
            <a:ext cx="721658" cy="209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3NF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FB02AE-03BF-F841-A2BF-B84C0CBBC23A}"/>
              </a:ext>
            </a:extLst>
          </p:cNvPr>
          <p:cNvSpPr/>
          <p:nvPr/>
        </p:nvSpPr>
        <p:spPr>
          <a:xfrm>
            <a:off x="5287642" y="4400549"/>
            <a:ext cx="6669006" cy="1776414"/>
          </a:xfrm>
          <a:prstGeom prst="rect">
            <a:avLst/>
          </a:prstGeom>
          <a:solidFill>
            <a:srgbClr val="0432FF">
              <a:alpha val="1098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549694-FE46-0349-ADA0-2FE38B1FCCC6}"/>
              </a:ext>
            </a:extLst>
          </p:cNvPr>
          <p:cNvSpPr/>
          <p:nvPr/>
        </p:nvSpPr>
        <p:spPr>
          <a:xfrm>
            <a:off x="7830705" y="4035202"/>
            <a:ext cx="1080437" cy="352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BCNF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2A54AA-E004-0E47-8EFB-032919B9EE2F}"/>
              </a:ext>
            </a:extLst>
          </p:cNvPr>
          <p:cNvSpPr/>
          <p:nvPr/>
        </p:nvSpPr>
        <p:spPr>
          <a:xfrm>
            <a:off x="0" y="0"/>
            <a:ext cx="12192000" cy="2627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 b="1" i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A4A6C9-2B7D-974A-B95C-99278D78F7FD}"/>
              </a:ext>
            </a:extLst>
          </p:cNvPr>
          <p:cNvSpPr txBox="1"/>
          <p:nvPr/>
        </p:nvSpPr>
        <p:spPr>
          <a:xfrm>
            <a:off x="188780" y="-22510"/>
            <a:ext cx="2564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Design Theory II  &gt;  Normal Forms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BE785-986E-48B2-8026-69BEF41FF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0093" y="6356350"/>
            <a:ext cx="1632982" cy="365125"/>
          </a:xfrm>
        </p:spPr>
        <p:txBody>
          <a:bodyPr/>
          <a:lstStyle/>
          <a:p>
            <a:fld id="{641C0F02-33DC-3A41-9F51-431B7FE03ABE}" type="slidenum">
              <a:rPr lang="en-US" smtClean="0"/>
              <a:t>74</a:t>
            </a:fld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30A6B1E-9818-8276-842D-B86E9CA7E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52820" cy="4351338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BCNF:</a:t>
            </a:r>
          </a:p>
          <a:p>
            <a:r>
              <a:rPr lang="en-US"/>
              <a:t>X-&gt;A</a:t>
            </a:r>
          </a:p>
          <a:p>
            <a:r>
              <a:rPr lang="en-US"/>
              <a:t>X has to be a </a:t>
            </a:r>
            <a:r>
              <a:rPr lang="en-US" err="1"/>
              <a:t>superkey</a:t>
            </a:r>
            <a:endParaRPr lang="en-US"/>
          </a:p>
          <a:p>
            <a:r>
              <a:rPr lang="en-US"/>
              <a:t>FD5:</a:t>
            </a:r>
          </a:p>
          <a:p>
            <a:r>
              <a:rPr lang="en-US"/>
              <a:t>Area- &gt; </a:t>
            </a:r>
            <a:r>
              <a:rPr lang="en-US" err="1"/>
              <a:t>county_name</a:t>
            </a:r>
            <a:endParaRPr lang="en-US"/>
          </a:p>
          <a:p>
            <a:r>
              <a:rPr lang="en-US"/>
              <a:t>Lots1A(</a:t>
            </a:r>
            <a:r>
              <a:rPr lang="en-US" err="1"/>
              <a:t>p_id</a:t>
            </a:r>
            <a:r>
              <a:rPr lang="en-US"/>
              <a:t>, </a:t>
            </a:r>
            <a:r>
              <a:rPr lang="en-US" err="1"/>
              <a:t>county_name</a:t>
            </a:r>
            <a:r>
              <a:rPr lang="en-US"/>
              <a:t>, lot#, Area)</a:t>
            </a:r>
          </a:p>
          <a:p>
            <a:endParaRPr lang="en-US"/>
          </a:p>
          <a:p>
            <a:r>
              <a:rPr lang="en-US"/>
              <a:t>is in 3NF but not in BCNF (county is prime attribute)</a:t>
            </a:r>
          </a:p>
          <a:p>
            <a:endParaRPr lang="en-US"/>
          </a:p>
          <a:p>
            <a:r>
              <a:rPr lang="en-US"/>
              <a:t>Lots1AX(</a:t>
            </a:r>
            <a:r>
              <a:rPr lang="en-US" err="1"/>
              <a:t>p_id</a:t>
            </a:r>
            <a:r>
              <a:rPr lang="en-US"/>
              <a:t>,  lot#, Area)</a:t>
            </a:r>
          </a:p>
          <a:p>
            <a:r>
              <a:rPr lang="en-US"/>
              <a:t>Lots1AY(</a:t>
            </a:r>
            <a:r>
              <a:rPr lang="en-US" err="1"/>
              <a:t>Area,county_name</a:t>
            </a:r>
            <a:r>
              <a:rPr lang="en-US"/>
              <a:t> )</a:t>
            </a:r>
          </a:p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76945AF-49B9-B55F-5F0A-039E21B77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981" y="971574"/>
            <a:ext cx="4820323" cy="208626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046BFD5-3143-80CB-808B-8419C74B5A23}"/>
              </a:ext>
            </a:extLst>
          </p:cNvPr>
          <p:cNvSpPr/>
          <p:nvPr/>
        </p:nvSpPr>
        <p:spPr>
          <a:xfrm>
            <a:off x="7818144" y="2759429"/>
            <a:ext cx="1592074" cy="2984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DD29FF6-06DD-9A21-99A5-A60E74813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997" y="4775288"/>
            <a:ext cx="6382641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4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Boyce-</a:t>
            </a:r>
            <a:r>
              <a:rPr lang="en-US" err="1"/>
              <a:t>Codd</a:t>
            </a:r>
            <a:r>
              <a:rPr lang="en-US"/>
              <a:t> Normal Form (BCNF)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Main idea is that we define “good” and “bad” FDs as follows:</a:t>
            </a:r>
          </a:p>
          <a:p>
            <a:pPr lvl="1"/>
            <a:endParaRPr lang="en-US" sz="2800"/>
          </a:p>
          <a:p>
            <a:pPr lvl="1"/>
            <a:r>
              <a:rPr lang="en-US" sz="2800"/>
              <a:t>X </a:t>
            </a:r>
            <a:r>
              <a:rPr lang="en-US" sz="2800">
                <a:sym typeface="Wingdings"/>
              </a:rPr>
              <a:t> A is a “</a:t>
            </a:r>
            <a:r>
              <a:rPr lang="en-US" sz="2800" i="1">
                <a:sym typeface="Wingdings"/>
              </a:rPr>
              <a:t>good FD”</a:t>
            </a:r>
            <a:r>
              <a:rPr lang="en-US" sz="2800">
                <a:sym typeface="Wingdings"/>
              </a:rPr>
              <a:t> </a:t>
            </a:r>
            <a:r>
              <a:rPr lang="en-US" sz="2800" i="1">
                <a:sym typeface="Wingdings"/>
              </a:rPr>
              <a:t>if X is a (super)key</a:t>
            </a:r>
          </a:p>
          <a:p>
            <a:pPr lvl="2"/>
            <a:r>
              <a:rPr lang="en-US">
                <a:sym typeface="Wingdings"/>
              </a:rPr>
              <a:t>In other words, if A is the set of all attributes</a:t>
            </a:r>
          </a:p>
          <a:p>
            <a:pPr marL="457200" lvl="1" indent="0">
              <a:buNone/>
            </a:pPr>
            <a:endParaRPr lang="en-US" sz="2800">
              <a:sym typeface="Wingdings"/>
            </a:endParaRPr>
          </a:p>
          <a:p>
            <a:pPr lvl="1"/>
            <a:r>
              <a:rPr lang="en-US" sz="2800">
                <a:sym typeface="Wingdings"/>
              </a:rPr>
              <a:t>X  A is a </a:t>
            </a:r>
            <a:r>
              <a:rPr lang="en-US" sz="2800" i="1">
                <a:sym typeface="Wingdings"/>
              </a:rPr>
              <a:t>“bad FD”</a:t>
            </a:r>
            <a:r>
              <a:rPr lang="en-US" sz="2800">
                <a:sym typeface="Wingdings"/>
              </a:rPr>
              <a:t> otherwise</a:t>
            </a:r>
          </a:p>
          <a:p>
            <a:pPr lvl="1"/>
            <a:endParaRPr lang="en-US" sz="2800">
              <a:sym typeface="Wingdings"/>
            </a:endParaRPr>
          </a:p>
          <a:p>
            <a:r>
              <a:rPr lang="en-US" sz="3200">
                <a:sym typeface="Wingdings"/>
              </a:rPr>
              <a:t>We will try to eliminate the “bad” FDs!</a:t>
            </a:r>
            <a:endParaRPr lang="en-US" sz="3200"/>
          </a:p>
        </p:txBody>
      </p:sp>
      <p:grpSp>
        <p:nvGrpSpPr>
          <p:cNvPr id="5" name="Group 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II  &gt;   BCNF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2D04D-897C-4011-A919-525993F94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3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Boyce-</a:t>
            </a:r>
            <a:r>
              <a:rPr lang="en-US" err="1"/>
              <a:t>Codd</a:t>
            </a:r>
            <a:r>
              <a:rPr lang="en-US"/>
              <a:t> Normal Form (BCNF)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Why does this definition of “good” and “bad” FDs make sense?</a:t>
            </a:r>
          </a:p>
          <a:p>
            <a:endParaRPr lang="en-US" sz="3200"/>
          </a:p>
          <a:p>
            <a:r>
              <a:rPr lang="en-US"/>
              <a:t>If X is </a:t>
            </a:r>
            <a:r>
              <a:rPr lang="en-US" i="1"/>
              <a:t>not </a:t>
            </a:r>
            <a:r>
              <a:rPr lang="en-US"/>
              <a:t>a (super)key, it functionally determines </a:t>
            </a:r>
            <a:r>
              <a:rPr lang="en-US" i="1"/>
              <a:t>some</a:t>
            </a:r>
            <a:r>
              <a:rPr lang="en-US"/>
              <a:t> of the attributes; therefore, those other attributes can be duplicated</a:t>
            </a:r>
          </a:p>
          <a:p>
            <a:pPr lvl="1"/>
            <a:endParaRPr lang="en-US"/>
          </a:p>
          <a:p>
            <a:pPr lvl="1"/>
            <a:r>
              <a:rPr lang="en-US"/>
              <a:t>Recall: this means there is </a:t>
            </a:r>
            <a:r>
              <a:rPr lang="en-US" u="sng"/>
              <a:t>redundancy</a:t>
            </a:r>
            <a:endParaRPr lang="en-US"/>
          </a:p>
          <a:p>
            <a:pPr lvl="1"/>
            <a:r>
              <a:rPr lang="en-US"/>
              <a:t>And redundancy like this can lead to data anomalies!</a:t>
            </a:r>
          </a:p>
        </p:txBody>
      </p:sp>
      <p:graphicFrame>
        <p:nvGraphicFramePr>
          <p:cNvPr id="8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650848"/>
              </p:ext>
            </p:extLst>
          </p:nvPr>
        </p:nvGraphicFramePr>
        <p:xfrm>
          <a:off x="6791585" y="4999293"/>
          <a:ext cx="3748352" cy="1676400"/>
        </p:xfrm>
        <a:graphic>
          <a:graphicData uri="http://schemas.openxmlformats.org/drawingml/2006/table">
            <a:tbl>
              <a:tblPr/>
              <a:tblGrid>
                <a:gridCol w="937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6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EmpID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Position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6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E0045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Clerk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6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E3542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Mike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Salesrep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6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Salesrep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6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E9999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Lawyer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46097" y="5620306"/>
            <a:ext cx="1874176" cy="770661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10" name="Group 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II  &gt;   BCNF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79418-7EEE-4357-946A-F530661F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6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Boyce-</a:t>
            </a:r>
            <a:r>
              <a:rPr lang="en-US" err="1"/>
              <a:t>Codd</a:t>
            </a:r>
            <a:r>
              <a:rPr lang="en-US"/>
              <a:t> Normal Form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FE9EF-19FA-2A4A-AA20-DF2C12A960A5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77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38595" name="Text Box 3"/>
          <p:cNvSpPr txBox="1">
            <a:spLocks noChangeArrowheads="1"/>
          </p:cNvSpPr>
          <p:nvPr/>
        </p:nvSpPr>
        <p:spPr bwMode="auto">
          <a:xfrm>
            <a:off x="838200" y="1715949"/>
            <a:ext cx="978729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800">
                <a:solidFill>
                  <a:prstClr val="black"/>
                </a:solidFill>
                <a:latin typeface="Calibri"/>
              </a:rPr>
              <a:t>BCNF is a simple condition for removing anomalies from relations:</a:t>
            </a:r>
          </a:p>
        </p:txBody>
      </p:sp>
      <p:sp>
        <p:nvSpPr>
          <p:cNvPr id="238596" name="Text Box 4"/>
          <p:cNvSpPr txBox="1">
            <a:spLocks noChangeArrowheads="1"/>
          </p:cNvSpPr>
          <p:nvPr/>
        </p:nvSpPr>
        <p:spPr bwMode="auto">
          <a:xfrm>
            <a:off x="3178863" y="5990445"/>
            <a:ext cx="583427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800">
                <a:solidFill>
                  <a:prstClr val="black"/>
                </a:solidFill>
                <a:latin typeface="+mj-lt"/>
              </a:rPr>
              <a:t>In other words: there are no “bad” </a:t>
            </a:r>
            <a:r>
              <a:rPr lang="en-US" sz="2800" err="1">
                <a:solidFill>
                  <a:prstClr val="black"/>
                </a:solidFill>
                <a:latin typeface="+mj-lt"/>
              </a:rPr>
              <a:t>FDs</a:t>
            </a:r>
            <a:endParaRPr lang="en-US" sz="28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238597" name="Rectangle 5"/>
          <p:cNvSpPr>
            <a:spLocks noChangeArrowheads="1"/>
          </p:cNvSpPr>
          <p:nvPr/>
        </p:nvSpPr>
        <p:spPr bwMode="auto">
          <a:xfrm>
            <a:off x="3187992" y="2537585"/>
            <a:ext cx="5816016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>
                <a:latin typeface="+mj-lt"/>
              </a:rPr>
              <a:t>A relation R is </a:t>
            </a:r>
            <a:r>
              <a:rPr lang="en-US" sz="2800" b="1" u="sng">
                <a:latin typeface="+mj-lt"/>
              </a:rPr>
              <a:t>in BCNF</a:t>
            </a:r>
            <a:r>
              <a:rPr lang="en-US" sz="2800">
                <a:latin typeface="+mj-lt"/>
              </a:rPr>
              <a:t> if:</a:t>
            </a:r>
          </a:p>
          <a:p>
            <a:pPr eaLnBrk="0" hangingPunct="0">
              <a:spcBef>
                <a:spcPct val="50000"/>
              </a:spcBef>
            </a:pPr>
            <a:r>
              <a:rPr lang="en-US" sz="2800">
                <a:latin typeface="+mj-lt"/>
              </a:rPr>
              <a:t>if </a:t>
            </a:r>
            <a:r>
              <a:rPr lang="en-US" sz="2800" b="1">
                <a:latin typeface="+mj-lt"/>
              </a:rPr>
              <a:t>{A</a:t>
            </a:r>
            <a:r>
              <a:rPr lang="en-US" sz="2800" b="1" baseline="-25000">
                <a:latin typeface="+mj-lt"/>
              </a:rPr>
              <a:t>1</a:t>
            </a:r>
            <a:r>
              <a:rPr lang="en-US" sz="2800" b="1">
                <a:latin typeface="+mj-lt"/>
              </a:rPr>
              <a:t>, ..., A</a:t>
            </a:r>
            <a:r>
              <a:rPr lang="en-US" sz="2800" b="1" baseline="-25000">
                <a:latin typeface="+mj-lt"/>
              </a:rPr>
              <a:t>n</a:t>
            </a:r>
            <a:r>
              <a:rPr lang="en-US" sz="2800" b="1">
                <a:latin typeface="+mj-lt"/>
              </a:rPr>
              <a:t>} </a:t>
            </a:r>
            <a:r>
              <a:rPr lang="en-US" sz="2800" b="1">
                <a:latin typeface="+mj-lt"/>
                <a:sym typeface="Wingdings" charset="2"/>
              </a:rPr>
              <a:t> B</a:t>
            </a:r>
            <a:r>
              <a:rPr lang="en-US" sz="2800">
                <a:latin typeface="+mj-lt"/>
                <a:sym typeface="Wingdings" charset="2"/>
              </a:rPr>
              <a:t> is a </a:t>
            </a:r>
            <a:r>
              <a:rPr lang="en-US" sz="2800" i="1">
                <a:latin typeface="+mj-lt"/>
                <a:sym typeface="Wingdings" charset="2"/>
              </a:rPr>
              <a:t>non-trivial</a:t>
            </a:r>
            <a:r>
              <a:rPr lang="en-US" sz="2800">
                <a:latin typeface="+mj-lt"/>
                <a:sym typeface="Wingdings" charset="2"/>
              </a:rPr>
              <a:t> FD in R</a:t>
            </a:r>
            <a:endParaRPr lang="en-US" sz="2800">
              <a:latin typeface="+mj-lt"/>
            </a:endParaRPr>
          </a:p>
          <a:p>
            <a:pPr eaLnBrk="0" hangingPunct="0">
              <a:spcBef>
                <a:spcPct val="50000"/>
              </a:spcBef>
            </a:pPr>
            <a:r>
              <a:rPr lang="en-US" sz="2800">
                <a:latin typeface="+mj-lt"/>
              </a:rPr>
              <a:t>then </a:t>
            </a:r>
            <a:r>
              <a:rPr lang="en-US" sz="2800" b="1">
                <a:latin typeface="+mj-lt"/>
              </a:rPr>
              <a:t>{A</a:t>
            </a:r>
            <a:r>
              <a:rPr lang="en-US" sz="2800" b="1" baseline="-25000">
                <a:latin typeface="+mj-lt"/>
              </a:rPr>
              <a:t>1</a:t>
            </a:r>
            <a:r>
              <a:rPr lang="en-US" sz="2800" b="1">
                <a:latin typeface="+mj-lt"/>
              </a:rPr>
              <a:t>, ..., A</a:t>
            </a:r>
            <a:r>
              <a:rPr lang="en-US" sz="2800" b="1" baseline="-25000">
                <a:latin typeface="+mj-lt"/>
              </a:rPr>
              <a:t>n</a:t>
            </a:r>
            <a:r>
              <a:rPr lang="en-US" sz="2800" b="1">
                <a:latin typeface="+mj-lt"/>
              </a:rPr>
              <a:t>}  is a </a:t>
            </a:r>
            <a:r>
              <a:rPr lang="en-US" sz="2800" b="1" err="1">
                <a:latin typeface="+mj-lt"/>
              </a:rPr>
              <a:t>superkey</a:t>
            </a:r>
            <a:r>
              <a:rPr lang="en-US" sz="2800">
                <a:latin typeface="+mj-lt"/>
              </a:rPr>
              <a:t> for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8598" name="Rectangle 6"/>
              <p:cNvSpPr>
                <a:spLocks noChangeArrowheads="1"/>
              </p:cNvSpPr>
              <p:nvPr/>
            </p:nvSpPr>
            <p:spPr bwMode="auto">
              <a:xfrm>
                <a:off x="838200" y="4910346"/>
                <a:ext cx="10387908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noFill/>
                <a:miter lim="800000"/>
                <a:headEnd/>
                <a:tailEnd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800" i="1">
                    <a:solidFill>
                      <a:prstClr val="black"/>
                    </a:solidFill>
                    <a:latin typeface="+mj-lt"/>
                  </a:rPr>
                  <a:t>Equivalently</a:t>
                </a:r>
                <a:r>
                  <a:rPr lang="en-US" sz="2800">
                    <a:solidFill>
                      <a:prstClr val="black"/>
                    </a:solidFill>
                    <a:latin typeface="+mj-lt"/>
                  </a:rPr>
                  <a:t>: 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prstClr val="black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∀</m:t>
                    </m:r>
                  </m:oMath>
                </a14:m>
                <a:r>
                  <a:rPr lang="en-US" sz="2800">
                    <a:solidFill>
                      <a:prstClr val="black"/>
                    </a:solidFill>
                    <a:latin typeface="+mj-lt"/>
                  </a:rPr>
                  <a:t> sets of attributes X, either (X</a:t>
                </a:r>
                <a:r>
                  <a:rPr lang="en-US" sz="2800" baseline="30000">
                    <a:solidFill>
                      <a:prstClr val="black"/>
                    </a:solidFill>
                    <a:latin typeface="+mj-lt"/>
                  </a:rPr>
                  <a:t>+</a:t>
                </a:r>
                <a:r>
                  <a:rPr lang="en-US" sz="2800">
                    <a:solidFill>
                      <a:prstClr val="black"/>
                    </a:solidFill>
                    <a:latin typeface="+mj-lt"/>
                  </a:rPr>
                  <a:t> = X) or (X</a:t>
                </a:r>
                <a:r>
                  <a:rPr lang="en-US" sz="2800" baseline="30000">
                    <a:solidFill>
                      <a:prstClr val="black"/>
                    </a:solidFill>
                    <a:latin typeface="+mj-lt"/>
                  </a:rPr>
                  <a:t>+</a:t>
                </a:r>
                <a:r>
                  <a:rPr lang="en-US" sz="2800">
                    <a:solidFill>
                      <a:prstClr val="black"/>
                    </a:solidFill>
                    <a:latin typeface="+mj-lt"/>
                  </a:rPr>
                  <a:t> = all attributes)</a:t>
                </a:r>
              </a:p>
            </p:txBody>
          </p:sp>
        </mc:Choice>
        <mc:Fallback xmlns="">
          <p:sp>
            <p:nvSpPr>
              <p:cNvPr id="238598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4910346"/>
                <a:ext cx="1038790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II  &gt;   BCNF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509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6" grpId="0" animBg="1"/>
      <p:bldP spid="23859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CE6AF-8C50-BE43-ABE2-E13424232A1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78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63171" name="Text Box 3"/>
          <p:cNvSpPr txBox="1">
            <a:spLocks noChangeArrowheads="1"/>
          </p:cNvSpPr>
          <p:nvPr/>
        </p:nvSpPr>
        <p:spPr bwMode="auto">
          <a:xfrm>
            <a:off x="8415942" y="4778738"/>
            <a:ext cx="3275256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800" i="1">
                <a:solidFill>
                  <a:prstClr val="black"/>
                </a:solidFill>
                <a:latin typeface="+mj-lt"/>
              </a:rPr>
              <a:t>What is the key?</a:t>
            </a:r>
          </a:p>
          <a:p>
            <a:pPr eaLnBrk="0" hangingPunct="0"/>
            <a:r>
              <a:rPr lang="en-US" sz="2800" i="1">
                <a:latin typeface="+mj-lt"/>
              </a:rPr>
              <a:t>{SSN, </a:t>
            </a:r>
            <a:r>
              <a:rPr lang="en-US" sz="2800" i="1" err="1">
                <a:latin typeface="+mj-lt"/>
              </a:rPr>
              <a:t>PhoneNumber</a:t>
            </a:r>
            <a:r>
              <a:rPr lang="en-US" sz="2800" i="1">
                <a:latin typeface="+mj-lt"/>
              </a:rPr>
              <a:t>}</a:t>
            </a:r>
          </a:p>
        </p:txBody>
      </p:sp>
      <p:graphicFrame>
        <p:nvGraphicFramePr>
          <p:cNvPr id="26317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652760"/>
              </p:ext>
            </p:extLst>
          </p:nvPr>
        </p:nvGraphicFramePr>
        <p:xfrm>
          <a:off x="838200" y="1806360"/>
          <a:ext cx="7010400" cy="22860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SSN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PhoneNumber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Fred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123-45-6789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206-555-1234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Seattle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Fred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123-45-6789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206-555-6543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Seattle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Joe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987-65-4321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908-555-2121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Westfield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Joe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987-65-4321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908-555-1234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Westfield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3204" name="Rectangle 36"/>
          <p:cNvSpPr>
            <a:spLocks noChangeArrowheads="1"/>
          </p:cNvSpPr>
          <p:nvPr/>
        </p:nvSpPr>
        <p:spPr bwMode="auto">
          <a:xfrm>
            <a:off x="8175995" y="1806360"/>
            <a:ext cx="3833101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{SSN}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 {</a:t>
            </a:r>
            <a:r>
              <a:rPr lang="en-US" sz="2400" err="1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Name,City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968664" y="4963403"/>
                <a:ext cx="2749471" cy="5847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32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3200" b="1" u="sng">
                    <a:latin typeface="+mj-lt"/>
                  </a:rPr>
                  <a:t>Not</a:t>
                </a:r>
                <a:r>
                  <a:rPr lang="en-US" sz="3200" b="1">
                    <a:latin typeface="+mj-lt"/>
                  </a:rPr>
                  <a:t> </a:t>
                </a:r>
                <a:r>
                  <a:rPr lang="en-US" sz="3200">
                    <a:latin typeface="+mj-lt"/>
                  </a:rPr>
                  <a:t>in BCNF</a:t>
                </a:r>
                <a:endParaRPr lang="en-US" sz="3200" b="1" u="sng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664" y="4963403"/>
                <a:ext cx="274947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8610600" y="2738960"/>
            <a:ext cx="28859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+mj-lt"/>
              </a:rPr>
              <a:t>This FD is </a:t>
            </a:r>
            <a:r>
              <a:rPr lang="en-US" sz="2800" i="1">
                <a:latin typeface="+mj-lt"/>
              </a:rPr>
              <a:t>bad </a:t>
            </a:r>
            <a:r>
              <a:rPr lang="en-US" sz="2800">
                <a:latin typeface="+mj-lt"/>
              </a:rPr>
              <a:t>because it is </a:t>
            </a:r>
            <a:r>
              <a:rPr lang="en-US" sz="2800" b="1" u="sng">
                <a:latin typeface="+mj-lt"/>
              </a:rPr>
              <a:t>not</a:t>
            </a:r>
            <a:r>
              <a:rPr lang="en-US" sz="2800">
                <a:latin typeface="+mj-lt"/>
              </a:rPr>
              <a:t> a </a:t>
            </a:r>
            <a:r>
              <a:rPr lang="en-US" sz="2800" err="1">
                <a:latin typeface="+mj-lt"/>
              </a:rPr>
              <a:t>superkey</a:t>
            </a:r>
            <a:endParaRPr lang="en-US" sz="2800">
              <a:latin typeface="+mj-lt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8780" y="-22510"/>
              <a:ext cx="28754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II  &gt;  Section 2 &gt;  BCNF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938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1" grpId="0" animBg="1"/>
      <p:bldP spid="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108D-D6E0-C94F-A0CD-16CB4AE19413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24166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222432"/>
              </p:ext>
            </p:extLst>
          </p:nvPr>
        </p:nvGraphicFramePr>
        <p:xfrm>
          <a:off x="838200" y="1806360"/>
          <a:ext cx="5007853" cy="1554480"/>
        </p:xfrm>
        <a:graphic>
          <a:graphicData uri="http://schemas.openxmlformats.org/drawingml/2006/table">
            <a:tbl>
              <a:tblPr/>
              <a:tblGrid>
                <a:gridCol w="106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4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SSN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Fred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123-45-6789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Seattle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Joe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987-65-4321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Madison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1685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824326"/>
              </p:ext>
            </p:extLst>
          </p:nvPr>
        </p:nvGraphicFramePr>
        <p:xfrm>
          <a:off x="838200" y="3746092"/>
          <a:ext cx="3962400" cy="1981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PhoneNumber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123-45-6789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206-555-1234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123-45-6789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206-555-6543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987-65-4321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908-555-2121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987-65-4321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908-555-1234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1706" name="Text Box 42"/>
          <p:cNvSpPr txBox="1">
            <a:spLocks noChangeArrowheads="1"/>
          </p:cNvSpPr>
          <p:nvPr/>
        </p:nvSpPr>
        <p:spPr bwMode="auto">
          <a:xfrm>
            <a:off x="7967423" y="4594890"/>
            <a:ext cx="2939651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+mj-lt"/>
              </a:rPr>
              <a:t>Let’s check anomalies:</a:t>
            </a:r>
          </a:p>
          <a:p>
            <a:pPr lvl="1">
              <a:buFontTx/>
              <a:buChar char="•"/>
            </a:pPr>
            <a:r>
              <a:rPr lang="en-US" sz="2400">
                <a:solidFill>
                  <a:prstClr val="black"/>
                </a:solidFill>
                <a:latin typeface="+mj-lt"/>
              </a:rPr>
              <a:t> Redundancy ?</a:t>
            </a:r>
          </a:p>
          <a:p>
            <a:pPr lvl="1">
              <a:buFontTx/>
              <a:buChar char="•"/>
            </a:pPr>
            <a:r>
              <a:rPr lang="en-US" sz="2400">
                <a:solidFill>
                  <a:prstClr val="black"/>
                </a:solidFill>
                <a:latin typeface="+mj-lt"/>
              </a:rPr>
              <a:t> Update ?</a:t>
            </a:r>
          </a:p>
          <a:p>
            <a:pPr lvl="1">
              <a:buFontTx/>
              <a:buChar char="•"/>
            </a:pPr>
            <a:r>
              <a:rPr lang="en-US" sz="2400">
                <a:solidFill>
                  <a:prstClr val="black"/>
                </a:solidFill>
                <a:latin typeface="+mj-lt"/>
              </a:rPr>
              <a:t> Delete ?</a:t>
            </a:r>
          </a:p>
        </p:txBody>
      </p:sp>
      <p:sp>
        <p:nvSpPr>
          <p:cNvPr id="14" name="Rectangle 36"/>
          <p:cNvSpPr>
            <a:spLocks noChangeArrowheads="1"/>
          </p:cNvSpPr>
          <p:nvPr/>
        </p:nvSpPr>
        <p:spPr bwMode="auto">
          <a:xfrm>
            <a:off x="7520699" y="1806360"/>
            <a:ext cx="3833101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{SSN} 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  <a:sym typeface="Wingdings" charset="2"/>
              </a:rPr>
              <a:t>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 {</a:t>
            </a:r>
            <a:r>
              <a:rPr lang="en-US" sz="2400" err="1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Name,City</a:t>
            </a:r>
            <a:r>
              <a:rPr lang="en-US" sz="2400">
                <a:solidFill>
                  <a:srgbClr val="C0504D"/>
                </a:solidFill>
                <a:latin typeface="Menlo" charset="0"/>
                <a:ea typeface="Menlo" charset="0"/>
                <a:cs typeface="Menlo" charset="0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6368" y="5967531"/>
            <a:ext cx="2459263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3200">
                <a:latin typeface="+mj-lt"/>
              </a:rPr>
              <a:t>Now in BCNF!</a:t>
            </a:r>
            <a:endParaRPr lang="en-US" sz="3200" b="1" u="sng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55304" y="2738960"/>
            <a:ext cx="28859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+mj-lt"/>
              </a:rPr>
              <a:t>This FD is now </a:t>
            </a:r>
            <a:r>
              <a:rPr lang="en-US" sz="2800" i="1">
                <a:latin typeface="+mj-lt"/>
              </a:rPr>
              <a:t>good </a:t>
            </a:r>
            <a:r>
              <a:rPr lang="en-US" sz="2800">
                <a:latin typeface="+mj-lt"/>
              </a:rPr>
              <a:t>because it is the key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II  &gt;   BCNF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5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706" grpId="0" animBg="1"/>
      <p:bldP spid="1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BCNF Decomposition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2D9F-FCD1-EB45-83DA-E89AD2CE9F3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80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43715" name="Rectangle 3"/>
          <p:cNvSpPr>
            <a:spLocks noChangeArrowheads="1"/>
          </p:cNvSpPr>
          <p:nvPr/>
        </p:nvSpPr>
        <p:spPr bwMode="auto">
          <a:xfrm>
            <a:off x="838199" y="1837531"/>
            <a:ext cx="6850627" cy="39703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prstClr val="black"/>
                </a:solidFill>
                <a:latin typeface="+mj-lt"/>
              </a:rPr>
              <a:t>BCNFDecomp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(R):</a:t>
            </a:r>
            <a:br>
              <a:rPr lang="en-US" sz="2800">
                <a:solidFill>
                  <a:prstClr val="black"/>
                </a:solidFill>
                <a:latin typeface="+mj-lt"/>
              </a:rPr>
            </a:br>
            <a:r>
              <a:rPr lang="en-US" sz="2800">
                <a:solidFill>
                  <a:prstClr val="black"/>
                </a:solidFill>
                <a:latin typeface="+mj-lt"/>
              </a:rPr>
              <a:t>   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Find X </a:t>
            </a:r>
            <a:r>
              <a:rPr lang="en-US" sz="2800" err="1">
                <a:solidFill>
                  <a:schemeClr val="bg1"/>
                </a:solidFill>
                <a:latin typeface="+mj-lt"/>
              </a:rPr>
              <a:t>s.t.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: X</a:t>
            </a:r>
            <a:r>
              <a:rPr lang="en-US" sz="2800" baseline="30000">
                <a:solidFill>
                  <a:schemeClr val="bg1"/>
                </a:solidFill>
                <a:latin typeface="+mj-lt"/>
              </a:rPr>
              <a:t>+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≠ X and X</a:t>
            </a:r>
            <a:r>
              <a:rPr lang="en-US" sz="2800" baseline="30000">
                <a:solidFill>
                  <a:schemeClr val="bg1"/>
                </a:solidFill>
                <a:latin typeface="+mj-lt"/>
              </a:rPr>
              <a:t>+ 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≠ [all attributes]</a:t>
            </a:r>
            <a:br>
              <a:rPr lang="en-US" sz="2800">
                <a:solidFill>
                  <a:schemeClr val="bg1"/>
                </a:solidFill>
                <a:latin typeface="+mj-lt"/>
              </a:rPr>
            </a:br>
            <a:endParaRPr lang="en-US" sz="2800">
              <a:solidFill>
                <a:schemeClr val="bg1"/>
              </a:solidFill>
              <a:latin typeface="+mj-lt"/>
            </a:endParaRPr>
          </a:p>
          <a:p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 u="sng">
                <a:solidFill>
                  <a:schemeClr val="bg1"/>
                </a:solidFill>
                <a:latin typeface="+mj-lt"/>
              </a:rPr>
              <a:t>if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(not found) </a:t>
            </a:r>
            <a:r>
              <a:rPr lang="en-US" sz="2800" b="1" u="sng">
                <a:solidFill>
                  <a:schemeClr val="bg1"/>
                </a:solidFill>
                <a:latin typeface="+mj-lt"/>
              </a:rPr>
              <a:t>then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Return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R</a:t>
            </a:r>
          </a:p>
          <a:p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</a:p>
          <a:p>
            <a:r>
              <a:rPr lang="en-US" sz="2800" b="1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 u="sng">
                <a:solidFill>
                  <a:schemeClr val="bg1"/>
                </a:solidFill>
                <a:latin typeface="+mj-lt"/>
              </a:rPr>
              <a:t>let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Y = X</a:t>
            </a:r>
            <a:r>
              <a:rPr lang="en-US" sz="2800" baseline="30000">
                <a:solidFill>
                  <a:schemeClr val="bg1"/>
                </a:solidFill>
                <a:latin typeface="+mj-lt"/>
              </a:rPr>
              <a:t>+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- X,  Z = (X</a:t>
            </a:r>
            <a:r>
              <a:rPr lang="en-US" sz="2800" baseline="30000">
                <a:solidFill>
                  <a:schemeClr val="bg1"/>
                </a:solidFill>
                <a:latin typeface="+mj-lt"/>
              </a:rPr>
              <a:t>+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)</a:t>
            </a:r>
            <a:r>
              <a:rPr lang="en-US" sz="2800" baseline="30000">
                <a:solidFill>
                  <a:schemeClr val="bg1"/>
                </a:solidFill>
                <a:latin typeface="+mj-lt"/>
              </a:rPr>
              <a:t>C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</a:t>
            </a:r>
            <a:br>
              <a:rPr lang="en-US" sz="2800">
                <a:solidFill>
                  <a:schemeClr val="bg1"/>
                </a:solidFill>
                <a:latin typeface="+mj-lt"/>
              </a:rPr>
            </a:br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decompose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into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R1(X </a:t>
            </a:r>
            <a:r>
              <a:rPr lang="en-US" sz="2800" b="1">
                <a:solidFill>
                  <a:schemeClr val="bg1"/>
                </a:solidFill>
                <a:latin typeface="+mj-lt"/>
                <a:sym typeface="Symbol" charset="2"/>
              </a:rPr>
              <a:t> Y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) 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and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R2(X </a:t>
            </a:r>
            <a:r>
              <a:rPr lang="en-US" sz="2800" b="1">
                <a:solidFill>
                  <a:schemeClr val="bg1"/>
                </a:solidFill>
                <a:latin typeface="+mj-lt"/>
                <a:sym typeface="Symbol" charset="2"/>
              </a:rPr>
              <a:t> Z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)</a:t>
            </a:r>
            <a:br>
              <a:rPr lang="en-US" sz="2800" b="1">
                <a:solidFill>
                  <a:schemeClr val="bg1"/>
                </a:solidFill>
                <a:latin typeface="+mj-lt"/>
              </a:rPr>
            </a:br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</a:p>
          <a:p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Return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err="1">
                <a:solidFill>
                  <a:schemeClr val="bg1"/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(R1), </a:t>
            </a:r>
            <a:r>
              <a:rPr lang="en-US" sz="2800" err="1">
                <a:solidFill>
                  <a:schemeClr val="bg1"/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(R2)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II  &gt;   BCNF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86831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BCNF Decomposition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2D9F-FCD1-EB45-83DA-E89AD2CE9F3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43715" name="Rectangle 3"/>
          <p:cNvSpPr>
            <a:spLocks noChangeArrowheads="1"/>
          </p:cNvSpPr>
          <p:nvPr/>
        </p:nvSpPr>
        <p:spPr bwMode="auto">
          <a:xfrm>
            <a:off x="838199" y="1837531"/>
            <a:ext cx="6850627" cy="44012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(R):</a:t>
            </a:r>
            <a:br>
              <a:rPr lang="en-US" sz="2800">
                <a:solidFill>
                  <a:prstClr val="black"/>
                </a:solidFill>
                <a:latin typeface="+mj-lt"/>
              </a:rPr>
            </a:br>
            <a:r>
              <a:rPr lang="en-US" sz="2800">
                <a:latin typeface="+mj-lt"/>
              </a:rPr>
              <a:t>   Find </a:t>
            </a:r>
            <a:r>
              <a:rPr lang="en-US" sz="2800" i="1">
                <a:latin typeface="+mj-lt"/>
              </a:rPr>
              <a:t>a set of attributes</a:t>
            </a:r>
            <a:r>
              <a:rPr lang="en-US" sz="2800">
                <a:latin typeface="+mj-lt"/>
              </a:rPr>
              <a:t> X </a:t>
            </a:r>
            <a:r>
              <a:rPr lang="en-US" sz="2800" err="1">
                <a:latin typeface="+mj-lt"/>
              </a:rPr>
              <a:t>s.t.</a:t>
            </a:r>
            <a:r>
              <a:rPr lang="en-US" sz="2800">
                <a:latin typeface="+mj-lt"/>
              </a:rPr>
              <a:t>: X</a:t>
            </a:r>
            <a:r>
              <a:rPr lang="en-US" sz="2800" baseline="30000">
                <a:latin typeface="+mj-lt"/>
              </a:rPr>
              <a:t>+</a:t>
            </a:r>
            <a:r>
              <a:rPr lang="en-US" sz="2800">
                <a:latin typeface="+mj-lt"/>
              </a:rPr>
              <a:t> ≠ X and X</a:t>
            </a:r>
            <a:r>
              <a:rPr lang="en-US" sz="2800" baseline="30000">
                <a:latin typeface="+mj-lt"/>
              </a:rPr>
              <a:t>+ </a:t>
            </a:r>
            <a:r>
              <a:rPr lang="en-US" sz="2800">
                <a:latin typeface="+mj-lt"/>
              </a:rPr>
              <a:t>≠ [all attributes]</a:t>
            </a:r>
            <a:br>
              <a:rPr lang="en-US" sz="2800">
                <a:latin typeface="+mj-lt"/>
              </a:rPr>
            </a:br>
            <a:endParaRPr lang="en-US" sz="2800">
              <a:latin typeface="+mj-lt"/>
            </a:endParaRPr>
          </a:p>
          <a:p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 u="sng">
                <a:solidFill>
                  <a:schemeClr val="bg1"/>
                </a:solidFill>
                <a:latin typeface="+mj-lt"/>
              </a:rPr>
              <a:t>if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(not found) </a:t>
            </a:r>
            <a:r>
              <a:rPr lang="en-US" sz="2800" b="1" u="sng">
                <a:solidFill>
                  <a:schemeClr val="bg1"/>
                </a:solidFill>
                <a:latin typeface="+mj-lt"/>
              </a:rPr>
              <a:t>then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Return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R</a:t>
            </a:r>
          </a:p>
          <a:p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</a:p>
          <a:p>
            <a:r>
              <a:rPr lang="en-US" sz="2800" b="1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 u="sng">
                <a:solidFill>
                  <a:schemeClr val="bg1"/>
                </a:solidFill>
                <a:latin typeface="+mj-lt"/>
              </a:rPr>
              <a:t>let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Y = X</a:t>
            </a:r>
            <a:r>
              <a:rPr lang="en-US" sz="2800" baseline="30000">
                <a:solidFill>
                  <a:schemeClr val="bg1"/>
                </a:solidFill>
                <a:latin typeface="+mj-lt"/>
              </a:rPr>
              <a:t>+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- X,  Z = (X</a:t>
            </a:r>
            <a:r>
              <a:rPr lang="en-US" sz="2800" baseline="30000">
                <a:solidFill>
                  <a:schemeClr val="bg1"/>
                </a:solidFill>
                <a:latin typeface="+mj-lt"/>
              </a:rPr>
              <a:t>+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)</a:t>
            </a:r>
            <a:r>
              <a:rPr lang="en-US" sz="2800" baseline="30000">
                <a:solidFill>
                  <a:schemeClr val="bg1"/>
                </a:solidFill>
                <a:latin typeface="+mj-lt"/>
              </a:rPr>
              <a:t>C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</a:t>
            </a:r>
            <a:br>
              <a:rPr lang="en-US" sz="2800">
                <a:solidFill>
                  <a:schemeClr val="bg1"/>
                </a:solidFill>
                <a:latin typeface="+mj-lt"/>
              </a:rPr>
            </a:br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decompose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into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R1(X </a:t>
            </a:r>
            <a:r>
              <a:rPr lang="en-US" sz="2800" b="1">
                <a:solidFill>
                  <a:schemeClr val="bg1"/>
                </a:solidFill>
                <a:latin typeface="+mj-lt"/>
                <a:sym typeface="Symbol" charset="2"/>
              </a:rPr>
              <a:t> Y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) 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and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R2(X </a:t>
            </a:r>
            <a:r>
              <a:rPr lang="en-US" sz="2800" b="1">
                <a:solidFill>
                  <a:schemeClr val="bg1"/>
                </a:solidFill>
                <a:latin typeface="+mj-lt"/>
                <a:sym typeface="Symbol" charset="2"/>
              </a:rPr>
              <a:t> Z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)</a:t>
            </a:r>
            <a:br>
              <a:rPr lang="en-US" sz="2800" b="1">
                <a:solidFill>
                  <a:schemeClr val="bg1"/>
                </a:solidFill>
                <a:latin typeface="+mj-lt"/>
              </a:rPr>
            </a:br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</a:p>
          <a:p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Return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err="1">
                <a:solidFill>
                  <a:schemeClr val="bg1"/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(R1), </a:t>
            </a:r>
            <a:r>
              <a:rPr lang="en-US" sz="2800" err="1">
                <a:solidFill>
                  <a:schemeClr val="bg1"/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(R2)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032955" y="2369574"/>
            <a:ext cx="3834581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>
                <a:latin typeface="+mj-lt"/>
              </a:rPr>
              <a:t>Find a set of attributes X which has non-trivial “bad” FDs, i.e. is not a </a:t>
            </a:r>
            <a:r>
              <a:rPr lang="en-US" sz="2800" err="1">
                <a:latin typeface="+mj-lt"/>
              </a:rPr>
              <a:t>superkey</a:t>
            </a:r>
            <a:r>
              <a:rPr lang="en-US" sz="2800">
                <a:latin typeface="+mj-lt"/>
              </a:rPr>
              <a:t>, using closures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II  &gt;   BCNF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054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BCNF Decomposition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2D9F-FCD1-EB45-83DA-E89AD2CE9F3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43715" name="Rectangle 3"/>
          <p:cNvSpPr>
            <a:spLocks noChangeArrowheads="1"/>
          </p:cNvSpPr>
          <p:nvPr/>
        </p:nvSpPr>
        <p:spPr bwMode="auto">
          <a:xfrm>
            <a:off x="838199" y="1837531"/>
            <a:ext cx="6850627" cy="44012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(R):</a:t>
            </a:r>
            <a:b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</a:b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  Find a</a:t>
            </a:r>
            <a:r>
              <a:rPr lang="en-US" sz="28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set of attributes 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X </a:t>
            </a:r>
            <a:r>
              <a:rPr lang="en-US" sz="280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s.t.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: X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+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≠ X and X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+ 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≠ [all attributes]</a:t>
            </a:r>
            <a:br>
              <a:rPr lang="en-US" sz="2800">
                <a:latin typeface="+mj-lt"/>
              </a:rPr>
            </a:br>
            <a:endParaRPr lang="en-US" sz="2800">
              <a:latin typeface="+mj-lt"/>
            </a:endParaRPr>
          </a:p>
          <a:p>
            <a:r>
              <a:rPr lang="en-US" sz="2800">
                <a:latin typeface="+mj-lt"/>
              </a:rPr>
              <a:t>   </a:t>
            </a:r>
            <a:r>
              <a:rPr lang="en-US" sz="2800" b="1" u="sng">
                <a:latin typeface="+mj-lt"/>
              </a:rPr>
              <a:t>if</a:t>
            </a:r>
            <a:r>
              <a:rPr lang="en-US" sz="2800">
                <a:latin typeface="+mj-lt"/>
              </a:rPr>
              <a:t> (not found) </a:t>
            </a:r>
            <a:r>
              <a:rPr lang="en-US" sz="2800" b="1" u="sng">
                <a:latin typeface="+mj-lt"/>
              </a:rPr>
              <a:t>then</a:t>
            </a:r>
            <a:r>
              <a:rPr lang="en-US" sz="2800">
                <a:latin typeface="+mj-lt"/>
              </a:rPr>
              <a:t> </a:t>
            </a:r>
            <a:r>
              <a:rPr lang="en-US" sz="2800" b="1">
                <a:latin typeface="+mj-lt"/>
              </a:rPr>
              <a:t>Return</a:t>
            </a:r>
            <a:r>
              <a:rPr lang="en-US" sz="2800">
                <a:latin typeface="+mj-lt"/>
              </a:rPr>
              <a:t> R</a:t>
            </a:r>
          </a:p>
          <a:p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</a:p>
          <a:p>
            <a:r>
              <a:rPr lang="en-US" sz="2800" b="1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 u="sng">
                <a:solidFill>
                  <a:schemeClr val="bg1"/>
                </a:solidFill>
                <a:latin typeface="+mj-lt"/>
              </a:rPr>
              <a:t>let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Y = X</a:t>
            </a:r>
            <a:r>
              <a:rPr lang="en-US" sz="2800" baseline="30000">
                <a:solidFill>
                  <a:schemeClr val="bg1"/>
                </a:solidFill>
                <a:latin typeface="+mj-lt"/>
              </a:rPr>
              <a:t>+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- X,  Z = (X</a:t>
            </a:r>
            <a:r>
              <a:rPr lang="en-US" sz="2800" baseline="30000">
                <a:solidFill>
                  <a:schemeClr val="bg1"/>
                </a:solidFill>
                <a:latin typeface="+mj-lt"/>
              </a:rPr>
              <a:t>+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)</a:t>
            </a:r>
            <a:r>
              <a:rPr lang="en-US" sz="2800" baseline="30000">
                <a:solidFill>
                  <a:schemeClr val="bg1"/>
                </a:solidFill>
                <a:latin typeface="+mj-lt"/>
              </a:rPr>
              <a:t>C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</a:t>
            </a:r>
            <a:br>
              <a:rPr lang="en-US" sz="2800">
                <a:solidFill>
                  <a:schemeClr val="bg1"/>
                </a:solidFill>
                <a:latin typeface="+mj-lt"/>
              </a:rPr>
            </a:br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decompose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into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R1(X </a:t>
            </a:r>
            <a:r>
              <a:rPr lang="en-US" sz="2800" b="1">
                <a:solidFill>
                  <a:schemeClr val="bg1"/>
                </a:solidFill>
                <a:latin typeface="+mj-lt"/>
                <a:sym typeface="Symbol" charset="2"/>
              </a:rPr>
              <a:t> Y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) 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and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R2(X </a:t>
            </a:r>
            <a:r>
              <a:rPr lang="en-US" sz="2800" b="1">
                <a:solidFill>
                  <a:schemeClr val="bg1"/>
                </a:solidFill>
                <a:latin typeface="+mj-lt"/>
                <a:sym typeface="Symbol" charset="2"/>
              </a:rPr>
              <a:t> Z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)</a:t>
            </a:r>
            <a:br>
              <a:rPr lang="en-US" sz="2800" b="1">
                <a:solidFill>
                  <a:schemeClr val="bg1"/>
                </a:solidFill>
                <a:latin typeface="+mj-lt"/>
              </a:rPr>
            </a:br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</a:p>
          <a:p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Return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err="1">
                <a:solidFill>
                  <a:schemeClr val="bg1"/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(R1), </a:t>
            </a:r>
            <a:r>
              <a:rPr lang="en-US" sz="2800" err="1">
                <a:solidFill>
                  <a:schemeClr val="bg1"/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(R2)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064909" y="2949677"/>
            <a:ext cx="3834581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>
                <a:latin typeface="+mj-lt"/>
              </a:rPr>
              <a:t>If no “bad” FDs found, in BCNF!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II  &gt;   BCNF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617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BCNF Decomposition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2D9F-FCD1-EB45-83DA-E89AD2CE9F3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43715" name="Rectangle 3"/>
          <p:cNvSpPr>
            <a:spLocks noChangeArrowheads="1"/>
          </p:cNvSpPr>
          <p:nvPr/>
        </p:nvSpPr>
        <p:spPr bwMode="auto">
          <a:xfrm>
            <a:off x="838199" y="1837531"/>
            <a:ext cx="6850627" cy="44012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(R):</a:t>
            </a:r>
            <a:b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</a:b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  Find a </a:t>
            </a:r>
            <a:r>
              <a:rPr lang="en-US" sz="28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set of attributes 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X </a:t>
            </a:r>
            <a:r>
              <a:rPr lang="en-US" sz="280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s.t.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: X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+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≠ X and X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+ 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≠ [all attributes]</a:t>
            </a:r>
            <a:b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</a:br>
            <a:endParaRPr lang="en-US" sz="280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  </a:t>
            </a:r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if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(not found) </a:t>
            </a:r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then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r>
              <a:rPr lang="en-US" sz="28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Return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R</a:t>
            </a:r>
          </a:p>
          <a:p>
            <a:r>
              <a:rPr lang="en-US" sz="2800">
                <a:solidFill>
                  <a:prstClr val="black"/>
                </a:solidFill>
                <a:latin typeface="+mj-lt"/>
              </a:rPr>
              <a:t>   </a:t>
            </a:r>
          </a:p>
          <a:p>
            <a:r>
              <a:rPr lang="en-US" sz="2800" b="1">
                <a:solidFill>
                  <a:prstClr val="black"/>
                </a:solidFill>
                <a:latin typeface="+mj-lt"/>
              </a:rPr>
              <a:t>   </a:t>
            </a:r>
            <a:r>
              <a:rPr lang="en-US" sz="2800" b="1" u="sng">
                <a:solidFill>
                  <a:prstClr val="black"/>
                </a:solidFill>
                <a:latin typeface="+mj-lt"/>
              </a:rPr>
              <a:t>let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 Y = X</a:t>
            </a:r>
            <a:r>
              <a:rPr lang="en-US" sz="2800" baseline="30000">
                <a:solidFill>
                  <a:prstClr val="black"/>
                </a:solidFill>
                <a:latin typeface="+mj-lt"/>
              </a:rPr>
              <a:t>+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 - X,  Z = (X</a:t>
            </a:r>
            <a:r>
              <a:rPr lang="en-US" sz="2800" baseline="30000">
                <a:solidFill>
                  <a:prstClr val="black"/>
                </a:solidFill>
                <a:latin typeface="+mj-lt"/>
              </a:rPr>
              <a:t>+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)</a:t>
            </a:r>
            <a:r>
              <a:rPr lang="en-US" sz="2800" baseline="30000">
                <a:solidFill>
                  <a:prstClr val="black"/>
                </a:solidFill>
                <a:latin typeface="+mj-lt"/>
              </a:rPr>
              <a:t>C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 </a:t>
            </a:r>
            <a:br>
              <a:rPr lang="en-US" sz="2800">
                <a:solidFill>
                  <a:prstClr val="black"/>
                </a:solidFill>
                <a:latin typeface="+mj-lt"/>
              </a:rPr>
            </a:br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decompose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into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R1(X </a:t>
            </a:r>
            <a:r>
              <a:rPr lang="en-US" sz="2800" b="1">
                <a:solidFill>
                  <a:schemeClr val="bg1"/>
                </a:solidFill>
                <a:latin typeface="+mj-lt"/>
                <a:sym typeface="Symbol" charset="2"/>
              </a:rPr>
              <a:t> Y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) 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and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R2(X </a:t>
            </a:r>
            <a:r>
              <a:rPr lang="en-US" sz="2800" b="1">
                <a:solidFill>
                  <a:schemeClr val="bg1"/>
                </a:solidFill>
                <a:latin typeface="+mj-lt"/>
                <a:sym typeface="Symbol" charset="2"/>
              </a:rPr>
              <a:t> Z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)</a:t>
            </a:r>
            <a:br>
              <a:rPr lang="en-US" sz="2800" b="1">
                <a:solidFill>
                  <a:schemeClr val="bg1"/>
                </a:solidFill>
                <a:latin typeface="+mj-lt"/>
              </a:rPr>
            </a:br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</a:p>
          <a:p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Return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err="1">
                <a:solidFill>
                  <a:schemeClr val="bg1"/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(R1), </a:t>
            </a:r>
            <a:r>
              <a:rPr lang="en-US" sz="2800" err="1">
                <a:solidFill>
                  <a:schemeClr val="bg1"/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(R2)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1612" y="3361025"/>
            <a:ext cx="3470787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Let Y be the attributes that </a:t>
            </a:r>
            <a:r>
              <a:rPr lang="en-US" sz="2400" b="1" i="1">
                <a:latin typeface="+mj-lt"/>
              </a:rPr>
              <a:t>X functionally determines </a:t>
            </a:r>
            <a:r>
              <a:rPr lang="en-US" sz="2400">
                <a:latin typeface="+mj-lt"/>
              </a:rPr>
              <a:t>(+ that are not in X)</a:t>
            </a:r>
          </a:p>
          <a:p>
            <a:endParaRPr lang="en-US" sz="2400">
              <a:latin typeface="+mj-lt"/>
            </a:endParaRPr>
          </a:p>
          <a:p>
            <a:r>
              <a:rPr lang="en-US" sz="2400">
                <a:latin typeface="+mj-lt"/>
              </a:rPr>
              <a:t>And let Z be </a:t>
            </a:r>
            <a:r>
              <a:rPr lang="en-US" sz="2400" b="1">
                <a:latin typeface="+mj-lt"/>
              </a:rPr>
              <a:t>the </a:t>
            </a:r>
            <a:r>
              <a:rPr lang="en-US" sz="2400" b="1" i="1">
                <a:latin typeface="+mj-lt"/>
              </a:rPr>
              <a:t>complement</a:t>
            </a:r>
            <a:r>
              <a:rPr lang="en-US" sz="2400" b="1">
                <a:latin typeface="+mj-lt"/>
              </a:rPr>
              <a:t>, the other attributes that it </a:t>
            </a:r>
            <a:r>
              <a:rPr lang="en-US" sz="2400" b="1" i="1">
                <a:latin typeface="+mj-lt"/>
              </a:rPr>
              <a:t>doesn’t</a:t>
            </a:r>
            <a:endParaRPr lang="en-US" sz="2400" b="1">
              <a:latin typeface="+mj-lt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II  &gt;   BCNF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4225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BCNF Decomposition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2D9F-FCD1-EB45-83DA-E89AD2CE9F3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43715" name="Rectangle 3"/>
          <p:cNvSpPr>
            <a:spLocks noChangeArrowheads="1"/>
          </p:cNvSpPr>
          <p:nvPr/>
        </p:nvSpPr>
        <p:spPr bwMode="auto">
          <a:xfrm>
            <a:off x="838199" y="1837531"/>
            <a:ext cx="6850627" cy="44012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(R):</a:t>
            </a:r>
            <a:b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</a:b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  Find a </a:t>
            </a:r>
            <a:r>
              <a:rPr lang="en-US" sz="28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set of attributes 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X </a:t>
            </a:r>
            <a:r>
              <a:rPr lang="en-US" sz="280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s.t.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: X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+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≠ X and X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+ 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≠ [all attributes]</a:t>
            </a:r>
            <a:b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</a:br>
            <a:endParaRPr lang="en-US" sz="280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  </a:t>
            </a:r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if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(not found) </a:t>
            </a:r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then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r>
              <a:rPr lang="en-US" sz="28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Return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R</a:t>
            </a:r>
          </a:p>
          <a:p>
            <a:r>
              <a:rPr lang="en-US" sz="2800">
                <a:solidFill>
                  <a:prstClr val="black"/>
                </a:solidFill>
                <a:latin typeface="+mj-lt"/>
              </a:rPr>
              <a:t>   </a:t>
            </a:r>
          </a:p>
          <a:p>
            <a:r>
              <a:rPr lang="en-US" sz="2800" b="1">
                <a:solidFill>
                  <a:prstClr val="black"/>
                </a:solidFill>
                <a:latin typeface="+mj-lt"/>
              </a:rPr>
              <a:t>   </a:t>
            </a:r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let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Y = X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+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- X,  Z = (X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+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)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br>
              <a:rPr lang="en-US" sz="2800">
                <a:solidFill>
                  <a:prstClr val="black"/>
                </a:solidFill>
                <a:latin typeface="+mj-lt"/>
              </a:rPr>
            </a:br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>
                <a:latin typeface="+mj-lt"/>
              </a:rPr>
              <a:t>decompose</a:t>
            </a:r>
            <a:r>
              <a:rPr lang="en-US" sz="2800">
                <a:latin typeface="+mj-lt"/>
              </a:rPr>
              <a:t> </a:t>
            </a:r>
            <a:r>
              <a:rPr lang="en-US" sz="2800" b="1">
                <a:latin typeface="+mj-lt"/>
              </a:rPr>
              <a:t>R</a:t>
            </a:r>
            <a:r>
              <a:rPr lang="en-US" sz="2800">
                <a:latin typeface="+mj-lt"/>
              </a:rPr>
              <a:t> into </a:t>
            </a:r>
            <a:r>
              <a:rPr lang="en-US" sz="2800" b="1">
                <a:latin typeface="+mj-lt"/>
              </a:rPr>
              <a:t>R</a:t>
            </a:r>
            <a:r>
              <a:rPr lang="en-US" sz="2800" b="1" baseline="-25000">
                <a:latin typeface="+mj-lt"/>
              </a:rPr>
              <a:t>1</a:t>
            </a:r>
            <a:r>
              <a:rPr lang="en-US" sz="2800" b="1">
                <a:latin typeface="+mj-lt"/>
              </a:rPr>
              <a:t>(X </a:t>
            </a:r>
            <a:r>
              <a:rPr lang="en-US" sz="2800" b="1">
                <a:latin typeface="+mj-lt"/>
                <a:sym typeface="Symbol" charset="2"/>
              </a:rPr>
              <a:t> Y</a:t>
            </a:r>
            <a:r>
              <a:rPr lang="en-US" sz="2800" b="1">
                <a:latin typeface="+mj-lt"/>
              </a:rPr>
              <a:t>) </a:t>
            </a:r>
            <a:r>
              <a:rPr lang="en-US" sz="2800">
                <a:latin typeface="+mj-lt"/>
              </a:rPr>
              <a:t>and </a:t>
            </a:r>
            <a:r>
              <a:rPr lang="en-US" sz="2800" b="1">
                <a:latin typeface="+mj-lt"/>
              </a:rPr>
              <a:t>R</a:t>
            </a:r>
            <a:r>
              <a:rPr lang="en-US" sz="2800" b="1" baseline="-25000">
                <a:latin typeface="+mj-lt"/>
              </a:rPr>
              <a:t>2</a:t>
            </a:r>
            <a:r>
              <a:rPr lang="en-US" sz="2800" b="1">
                <a:latin typeface="+mj-lt"/>
              </a:rPr>
              <a:t>(X </a:t>
            </a:r>
            <a:r>
              <a:rPr lang="en-US" sz="2800" b="1">
                <a:latin typeface="+mj-lt"/>
                <a:sym typeface="Symbol" charset="2"/>
              </a:rPr>
              <a:t> Z</a:t>
            </a:r>
            <a:r>
              <a:rPr lang="en-US" sz="2800" b="1">
                <a:latin typeface="+mj-lt"/>
              </a:rPr>
              <a:t>)</a:t>
            </a:r>
            <a:br>
              <a:rPr lang="en-US" sz="2800" b="1">
                <a:latin typeface="+mj-lt"/>
              </a:rPr>
            </a:br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</a:p>
          <a:p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Return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err="1">
                <a:solidFill>
                  <a:schemeClr val="bg1"/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(R1), </a:t>
            </a:r>
            <a:r>
              <a:rPr lang="en-US" sz="2800" err="1">
                <a:solidFill>
                  <a:schemeClr val="bg1"/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(R2)</a:t>
            </a:r>
          </a:p>
        </p:txBody>
      </p:sp>
      <p:sp>
        <p:nvSpPr>
          <p:cNvPr id="17" name="Oval 3"/>
          <p:cNvSpPr>
            <a:spLocks noChangeArrowheads="1"/>
          </p:cNvSpPr>
          <p:nvPr/>
        </p:nvSpPr>
        <p:spPr bwMode="auto">
          <a:xfrm>
            <a:off x="8001000" y="3095108"/>
            <a:ext cx="2286000" cy="2209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val 4"/>
          <p:cNvSpPr>
            <a:spLocks noChangeArrowheads="1"/>
          </p:cNvSpPr>
          <p:nvPr/>
        </p:nvSpPr>
        <p:spPr bwMode="auto">
          <a:xfrm>
            <a:off x="9448800" y="3171308"/>
            <a:ext cx="2286000" cy="2209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9585325" y="4050784"/>
            <a:ext cx="3449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>
                <a:solidFill>
                  <a:prstClr val="black"/>
                </a:solidFill>
                <a:latin typeface="Calibri"/>
              </a:rPr>
              <a:t>X</a:t>
            </a: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10804525" y="4050784"/>
            <a:ext cx="3289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>
                <a:solidFill>
                  <a:prstClr val="black"/>
                </a:solidFill>
                <a:latin typeface="Calibri"/>
              </a:rPr>
              <a:t>Z</a:t>
            </a:r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8518525" y="4050784"/>
            <a:ext cx="3449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>
                <a:solidFill>
                  <a:prstClr val="black"/>
                </a:solidFill>
                <a:latin typeface="Calibri"/>
              </a:rPr>
              <a:t>Y</a:t>
            </a:r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8899525" y="5346184"/>
            <a:ext cx="4557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>
                <a:solidFill>
                  <a:prstClr val="black"/>
                </a:solidFill>
                <a:latin typeface="Calibri"/>
              </a:rPr>
              <a:t>R</a:t>
            </a:r>
            <a:r>
              <a:rPr lang="en-US" sz="2400" baseline="-25000">
                <a:solidFill>
                  <a:prstClr val="black"/>
                </a:solidFill>
                <a:latin typeface="Calibri"/>
              </a:rPr>
              <a:t>1</a:t>
            </a:r>
            <a:endParaRPr lang="en-US"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0499725" y="5346184"/>
            <a:ext cx="4557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>
                <a:solidFill>
                  <a:prstClr val="black"/>
                </a:solidFill>
                <a:latin typeface="Calibri"/>
              </a:rPr>
              <a:t>R</a:t>
            </a:r>
            <a:r>
              <a:rPr lang="en-US" sz="2400" baseline="-25000">
                <a:solidFill>
                  <a:prstClr val="black"/>
                </a:solidFill>
                <a:latin typeface="Calibri"/>
              </a:rPr>
              <a:t>2</a:t>
            </a:r>
            <a:endParaRPr lang="en-US"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01780" y="1793054"/>
            <a:ext cx="3795252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Split into one relation (table) with X plus the attributes that X determines (Y)…</a:t>
            </a:r>
            <a:endParaRPr lang="en-US" sz="2400" b="1">
              <a:latin typeface="+mj-lt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8" name="Rectangle 1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II  &gt;   BCNF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30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BCNF Decomposition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2D9F-FCD1-EB45-83DA-E89AD2CE9F3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43715" name="Rectangle 3"/>
          <p:cNvSpPr>
            <a:spLocks noChangeArrowheads="1"/>
          </p:cNvSpPr>
          <p:nvPr/>
        </p:nvSpPr>
        <p:spPr bwMode="auto">
          <a:xfrm>
            <a:off x="838199" y="1837531"/>
            <a:ext cx="6850627" cy="44012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(R):</a:t>
            </a:r>
            <a:b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</a:b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  Find a </a:t>
            </a:r>
            <a:r>
              <a:rPr lang="en-US" sz="28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set of attributes 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X </a:t>
            </a:r>
            <a:r>
              <a:rPr lang="en-US" sz="280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s.t.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: X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+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≠ X and X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+ 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≠ [all attributes]</a:t>
            </a:r>
            <a:b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</a:br>
            <a:endParaRPr lang="en-US" sz="280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  </a:t>
            </a:r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if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(not found) </a:t>
            </a:r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then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r>
              <a:rPr lang="en-US" sz="28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Return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R</a:t>
            </a:r>
          </a:p>
          <a:p>
            <a:r>
              <a:rPr lang="en-US" sz="2800">
                <a:solidFill>
                  <a:prstClr val="black"/>
                </a:solidFill>
                <a:latin typeface="+mj-lt"/>
              </a:rPr>
              <a:t>   </a:t>
            </a:r>
          </a:p>
          <a:p>
            <a:r>
              <a:rPr lang="en-US" sz="2800" b="1">
                <a:solidFill>
                  <a:prstClr val="black"/>
                </a:solidFill>
                <a:latin typeface="+mj-lt"/>
              </a:rPr>
              <a:t>   </a:t>
            </a:r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let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Y = X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+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- X,  Z = (X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+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)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br>
              <a:rPr lang="en-US" sz="2800">
                <a:solidFill>
                  <a:prstClr val="black"/>
                </a:solidFill>
                <a:latin typeface="+mj-lt"/>
              </a:rPr>
            </a:br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>
                <a:latin typeface="+mj-lt"/>
              </a:rPr>
              <a:t>decompose</a:t>
            </a:r>
            <a:r>
              <a:rPr lang="en-US" sz="2800">
                <a:latin typeface="+mj-lt"/>
              </a:rPr>
              <a:t> </a:t>
            </a:r>
            <a:r>
              <a:rPr lang="en-US" sz="2800" b="1">
                <a:latin typeface="+mj-lt"/>
              </a:rPr>
              <a:t>R</a:t>
            </a:r>
            <a:r>
              <a:rPr lang="en-US" sz="2800">
                <a:latin typeface="+mj-lt"/>
              </a:rPr>
              <a:t> into </a:t>
            </a:r>
            <a:r>
              <a:rPr lang="en-US" sz="2800" b="1">
                <a:latin typeface="+mj-lt"/>
              </a:rPr>
              <a:t>R</a:t>
            </a:r>
            <a:r>
              <a:rPr lang="en-US" sz="2800" b="1" baseline="-25000">
                <a:latin typeface="+mj-lt"/>
              </a:rPr>
              <a:t>1</a:t>
            </a:r>
            <a:r>
              <a:rPr lang="en-US" sz="2800" b="1">
                <a:latin typeface="+mj-lt"/>
              </a:rPr>
              <a:t>(X </a:t>
            </a:r>
            <a:r>
              <a:rPr lang="en-US" sz="2800" b="1">
                <a:latin typeface="+mj-lt"/>
                <a:sym typeface="Symbol" charset="2"/>
              </a:rPr>
              <a:t> Y</a:t>
            </a:r>
            <a:r>
              <a:rPr lang="en-US" sz="2800" b="1">
                <a:latin typeface="+mj-lt"/>
              </a:rPr>
              <a:t>) </a:t>
            </a:r>
            <a:r>
              <a:rPr lang="en-US" sz="2800">
                <a:latin typeface="+mj-lt"/>
              </a:rPr>
              <a:t>and </a:t>
            </a:r>
            <a:r>
              <a:rPr lang="en-US" sz="2800" b="1">
                <a:latin typeface="+mj-lt"/>
              </a:rPr>
              <a:t>R</a:t>
            </a:r>
            <a:r>
              <a:rPr lang="en-US" sz="2800" b="1" baseline="-25000">
                <a:latin typeface="+mj-lt"/>
              </a:rPr>
              <a:t>2</a:t>
            </a:r>
            <a:r>
              <a:rPr lang="en-US" sz="2800" b="1">
                <a:latin typeface="+mj-lt"/>
              </a:rPr>
              <a:t>(X </a:t>
            </a:r>
            <a:r>
              <a:rPr lang="en-US" sz="2800" b="1">
                <a:latin typeface="+mj-lt"/>
                <a:sym typeface="Symbol" charset="2"/>
              </a:rPr>
              <a:t> Z</a:t>
            </a:r>
            <a:r>
              <a:rPr lang="en-US" sz="2800" b="1">
                <a:latin typeface="+mj-lt"/>
              </a:rPr>
              <a:t>)</a:t>
            </a:r>
            <a:br>
              <a:rPr lang="en-US" sz="2800" b="1">
                <a:latin typeface="+mj-lt"/>
              </a:rPr>
            </a:br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</a:p>
          <a:p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Return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err="1">
                <a:solidFill>
                  <a:schemeClr val="bg1"/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(R1), </a:t>
            </a:r>
            <a:r>
              <a:rPr lang="en-US" sz="2800" err="1">
                <a:solidFill>
                  <a:schemeClr val="bg1"/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(R2)</a:t>
            </a:r>
          </a:p>
        </p:txBody>
      </p:sp>
      <p:sp>
        <p:nvSpPr>
          <p:cNvPr id="19" name="Oval 4"/>
          <p:cNvSpPr>
            <a:spLocks noChangeArrowheads="1"/>
          </p:cNvSpPr>
          <p:nvPr/>
        </p:nvSpPr>
        <p:spPr bwMode="auto">
          <a:xfrm>
            <a:off x="9448800" y="3171308"/>
            <a:ext cx="2286000" cy="2209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9585325" y="4050784"/>
            <a:ext cx="3449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>
                <a:solidFill>
                  <a:prstClr val="black"/>
                </a:solidFill>
                <a:latin typeface="Calibri"/>
              </a:rPr>
              <a:t>X</a:t>
            </a: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10804525" y="4050784"/>
            <a:ext cx="3289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>
                <a:solidFill>
                  <a:prstClr val="black"/>
                </a:solidFill>
                <a:latin typeface="Calibri"/>
              </a:rPr>
              <a:t>Z</a:t>
            </a:r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8518525" y="4050784"/>
            <a:ext cx="3449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>
                <a:solidFill>
                  <a:prstClr val="black"/>
                </a:solidFill>
                <a:latin typeface="Calibri"/>
              </a:rPr>
              <a:t>Y</a:t>
            </a:r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8899525" y="5346184"/>
            <a:ext cx="4557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>
                <a:solidFill>
                  <a:prstClr val="black"/>
                </a:solidFill>
                <a:latin typeface="Calibri"/>
              </a:rPr>
              <a:t>R</a:t>
            </a:r>
            <a:r>
              <a:rPr lang="en-US" sz="2400" baseline="-25000">
                <a:solidFill>
                  <a:prstClr val="black"/>
                </a:solidFill>
                <a:latin typeface="Calibri"/>
              </a:rPr>
              <a:t>1</a:t>
            </a:r>
            <a:endParaRPr lang="en-US"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0499725" y="5346184"/>
            <a:ext cx="4557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400">
                <a:solidFill>
                  <a:prstClr val="black"/>
                </a:solidFill>
                <a:latin typeface="Calibri"/>
              </a:rPr>
              <a:t>R</a:t>
            </a:r>
            <a:r>
              <a:rPr lang="en-US" sz="2400" baseline="-25000">
                <a:solidFill>
                  <a:prstClr val="black"/>
                </a:solidFill>
                <a:latin typeface="Calibri"/>
              </a:rPr>
              <a:t>2</a:t>
            </a:r>
            <a:endParaRPr lang="en-US"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01780" y="1793054"/>
            <a:ext cx="3795252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And one relation with X plus the attributes it </a:t>
            </a:r>
            <a:r>
              <a:rPr lang="en-US" sz="2400" i="1">
                <a:latin typeface="+mj-lt"/>
              </a:rPr>
              <a:t>does not </a:t>
            </a:r>
            <a:r>
              <a:rPr lang="en-US" sz="2400">
                <a:latin typeface="+mj-lt"/>
              </a:rPr>
              <a:t>determine (Z)</a:t>
            </a:r>
            <a:endParaRPr lang="en-US" sz="2400" b="1">
              <a:latin typeface="+mj-lt"/>
            </a:endParaRPr>
          </a:p>
        </p:txBody>
      </p:sp>
      <p:sp>
        <p:nvSpPr>
          <p:cNvPr id="17" name="Oval 3"/>
          <p:cNvSpPr>
            <a:spLocks noChangeArrowheads="1"/>
          </p:cNvSpPr>
          <p:nvPr/>
        </p:nvSpPr>
        <p:spPr bwMode="auto">
          <a:xfrm>
            <a:off x="8001000" y="3095108"/>
            <a:ext cx="2286000" cy="2209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8" name="Rectangle 1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II  &gt;   BCNF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446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BCNF Decomposition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2D9F-FCD1-EB45-83DA-E89AD2CE9F3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43715" name="Rectangle 3"/>
          <p:cNvSpPr>
            <a:spLocks noChangeArrowheads="1"/>
          </p:cNvSpPr>
          <p:nvPr/>
        </p:nvSpPr>
        <p:spPr bwMode="auto">
          <a:xfrm>
            <a:off x="838199" y="1837531"/>
            <a:ext cx="6850627" cy="44012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BCNFDecomp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(R):</a:t>
            </a:r>
            <a:b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</a:b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  Find a </a:t>
            </a:r>
            <a:r>
              <a:rPr lang="en-US" sz="28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set of attributes 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X </a:t>
            </a:r>
            <a:r>
              <a:rPr lang="en-US" sz="280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s.t.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: X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+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≠ X and X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+ 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≠ [all attributes]</a:t>
            </a:r>
            <a:b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</a:br>
            <a:endParaRPr lang="en-US" sz="280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  </a:t>
            </a:r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if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(not found) </a:t>
            </a:r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then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r>
              <a:rPr lang="en-US" sz="28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Return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R</a:t>
            </a:r>
          </a:p>
          <a:p>
            <a:r>
              <a:rPr lang="en-US" sz="2800">
                <a:solidFill>
                  <a:prstClr val="black"/>
                </a:solidFill>
                <a:latin typeface="+mj-lt"/>
              </a:rPr>
              <a:t>   </a:t>
            </a:r>
          </a:p>
          <a:p>
            <a:r>
              <a:rPr lang="en-US" sz="2800" b="1">
                <a:solidFill>
                  <a:prstClr val="black"/>
                </a:solidFill>
                <a:latin typeface="+mj-lt"/>
              </a:rPr>
              <a:t>   </a:t>
            </a:r>
            <a:r>
              <a:rPr lang="en-US" sz="2800" b="1" u="sng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let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Y = X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+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- X,  Z = (X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+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)</a:t>
            </a:r>
            <a:r>
              <a:rPr lang="en-US" sz="2800" baseline="30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br>
              <a:rPr lang="en-US" sz="2800">
                <a:solidFill>
                  <a:prstClr val="black"/>
                </a:solidFill>
                <a:latin typeface="+mj-lt"/>
              </a:rPr>
            </a:br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  <a:r>
              <a:rPr lang="en-US" sz="28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decompose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r>
              <a:rPr lang="en-US" sz="28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R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into </a:t>
            </a:r>
            <a:r>
              <a:rPr lang="en-US" sz="28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R</a:t>
            </a:r>
            <a:r>
              <a:rPr lang="en-US" sz="2800" b="1" baseline="-25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1</a:t>
            </a:r>
            <a:r>
              <a:rPr lang="en-US" sz="28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(X </a:t>
            </a:r>
            <a:r>
              <a:rPr lang="en-US" sz="28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sym typeface="Symbol" charset="2"/>
              </a:rPr>
              <a:t> Y</a:t>
            </a:r>
            <a:r>
              <a:rPr lang="en-US" sz="28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) </a:t>
            </a:r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and </a:t>
            </a:r>
            <a:r>
              <a:rPr lang="en-US" sz="28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R</a:t>
            </a:r>
            <a:r>
              <a:rPr lang="en-US" sz="2800" b="1" baseline="-25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2</a:t>
            </a:r>
            <a:r>
              <a:rPr lang="en-US" sz="28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(X </a:t>
            </a:r>
            <a:r>
              <a:rPr lang="en-US" sz="28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sym typeface="Symbol" charset="2"/>
              </a:rPr>
              <a:t> Z</a:t>
            </a:r>
            <a:r>
              <a:rPr lang="en-US" sz="28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)</a:t>
            </a:r>
            <a:br>
              <a:rPr lang="en-US" sz="2800" b="1">
                <a:latin typeface="+mj-lt"/>
              </a:rPr>
            </a:br>
            <a:r>
              <a:rPr lang="en-US" sz="2800">
                <a:solidFill>
                  <a:schemeClr val="bg1"/>
                </a:solidFill>
                <a:latin typeface="+mj-lt"/>
              </a:rPr>
              <a:t>   </a:t>
            </a:r>
            <a:endParaRPr lang="en-US" sz="280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  </a:t>
            </a:r>
            <a:r>
              <a:rPr lang="en-US" sz="2800" b="1">
                <a:latin typeface="+mj-lt"/>
              </a:rPr>
              <a:t>Return</a:t>
            </a:r>
            <a:r>
              <a:rPr lang="en-US" sz="2800">
                <a:latin typeface="+mj-lt"/>
              </a:rPr>
              <a:t> </a:t>
            </a:r>
            <a:r>
              <a:rPr lang="en-US" sz="2800" err="1">
                <a:latin typeface="+mj-lt"/>
              </a:rPr>
              <a:t>BCNFDecomp</a:t>
            </a:r>
            <a:r>
              <a:rPr lang="en-US" sz="2800">
                <a:latin typeface="+mj-lt"/>
              </a:rPr>
              <a:t>(R</a:t>
            </a:r>
            <a:r>
              <a:rPr lang="en-US" sz="2800" baseline="-25000">
                <a:latin typeface="+mj-lt"/>
              </a:rPr>
              <a:t>1</a:t>
            </a:r>
            <a:r>
              <a:rPr lang="en-US" sz="2800">
                <a:latin typeface="+mj-lt"/>
              </a:rPr>
              <a:t>), </a:t>
            </a:r>
            <a:r>
              <a:rPr lang="en-US" sz="2800" err="1">
                <a:latin typeface="+mj-lt"/>
              </a:rPr>
              <a:t>BCNFDecomp</a:t>
            </a:r>
            <a:r>
              <a:rPr lang="en-US" sz="2800">
                <a:latin typeface="+mj-lt"/>
              </a:rPr>
              <a:t>(R</a:t>
            </a:r>
            <a:r>
              <a:rPr lang="en-US" sz="2800" baseline="-25000">
                <a:latin typeface="+mj-lt"/>
              </a:rPr>
              <a:t>2</a:t>
            </a:r>
            <a:r>
              <a:rPr lang="en-US" sz="2800"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4574" y="5116357"/>
            <a:ext cx="379525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Proceed recursively until no more “bad” FDs!</a:t>
            </a:r>
            <a:endParaRPr lang="en-US" sz="2400" b="1">
              <a:latin typeface="+mj-lt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II  &gt;   BCNF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867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22444" y="2003453"/>
            <a:ext cx="286209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R(A,B,C,D,E)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2003453"/>
            <a:ext cx="5837904" cy="378565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latin typeface="+mj-lt"/>
              </a:rPr>
              <a:t>BCNFDecomp</a:t>
            </a:r>
            <a:r>
              <a:rPr lang="en-US" sz="2400">
                <a:latin typeface="+mj-lt"/>
              </a:rPr>
              <a:t>(R):</a:t>
            </a:r>
            <a:br>
              <a:rPr lang="en-US" sz="2400">
                <a:latin typeface="+mj-lt"/>
              </a:rPr>
            </a:br>
            <a:r>
              <a:rPr lang="en-US" sz="2400">
                <a:latin typeface="+mj-lt"/>
              </a:rPr>
              <a:t>   Find a </a:t>
            </a:r>
            <a:r>
              <a:rPr lang="en-US" sz="2400" i="1">
                <a:latin typeface="+mj-lt"/>
              </a:rPr>
              <a:t>set of attributes </a:t>
            </a:r>
            <a:r>
              <a:rPr lang="en-US" sz="2400">
                <a:latin typeface="+mj-lt"/>
              </a:rPr>
              <a:t>X </a:t>
            </a:r>
            <a:r>
              <a:rPr lang="en-US" sz="2400" err="1">
                <a:latin typeface="+mj-lt"/>
              </a:rPr>
              <a:t>s.t.</a:t>
            </a:r>
            <a:r>
              <a:rPr lang="en-US" sz="2400">
                <a:latin typeface="+mj-lt"/>
              </a:rPr>
              <a:t>: X</a:t>
            </a:r>
            <a:r>
              <a:rPr lang="en-US" sz="2400" baseline="30000">
                <a:latin typeface="+mj-lt"/>
              </a:rPr>
              <a:t>+</a:t>
            </a:r>
            <a:r>
              <a:rPr lang="en-US" sz="2400">
                <a:latin typeface="+mj-lt"/>
              </a:rPr>
              <a:t> ≠ X and X</a:t>
            </a:r>
            <a:r>
              <a:rPr lang="en-US" sz="2400" baseline="30000">
                <a:latin typeface="+mj-lt"/>
              </a:rPr>
              <a:t>+ </a:t>
            </a:r>
            <a:r>
              <a:rPr lang="en-US" sz="2400">
                <a:latin typeface="+mj-lt"/>
              </a:rPr>
              <a:t>≠ [all attributes]</a:t>
            </a:r>
            <a:br>
              <a:rPr lang="en-US" sz="2400">
                <a:latin typeface="+mj-lt"/>
              </a:rPr>
            </a:br>
            <a:endParaRPr lang="en-US" sz="2400">
              <a:latin typeface="+mj-lt"/>
            </a:endParaRPr>
          </a:p>
          <a:p>
            <a:r>
              <a:rPr lang="en-US" sz="2400">
                <a:latin typeface="+mj-lt"/>
              </a:rPr>
              <a:t>   </a:t>
            </a:r>
            <a:r>
              <a:rPr lang="en-US" sz="2400" b="1" u="sng">
                <a:latin typeface="+mj-lt"/>
              </a:rPr>
              <a:t>if</a:t>
            </a:r>
            <a:r>
              <a:rPr lang="en-US" sz="2400">
                <a:latin typeface="+mj-lt"/>
              </a:rPr>
              <a:t> (not found) </a:t>
            </a:r>
            <a:r>
              <a:rPr lang="en-US" sz="2400" b="1" u="sng">
                <a:latin typeface="+mj-lt"/>
              </a:rPr>
              <a:t>then</a:t>
            </a:r>
            <a:r>
              <a:rPr lang="en-US" sz="2400">
                <a:latin typeface="+mj-lt"/>
              </a:rPr>
              <a:t> </a:t>
            </a:r>
            <a:r>
              <a:rPr lang="en-US" sz="2400" b="1">
                <a:latin typeface="+mj-lt"/>
              </a:rPr>
              <a:t>Return</a:t>
            </a:r>
            <a:r>
              <a:rPr lang="en-US" sz="2400">
                <a:latin typeface="+mj-lt"/>
              </a:rPr>
              <a:t> R</a:t>
            </a:r>
          </a:p>
          <a:p>
            <a:r>
              <a:rPr lang="en-US" sz="2400">
                <a:latin typeface="+mj-lt"/>
              </a:rPr>
              <a:t>   </a:t>
            </a:r>
          </a:p>
          <a:p>
            <a:r>
              <a:rPr lang="en-US" sz="2400" b="1">
                <a:latin typeface="+mj-lt"/>
              </a:rPr>
              <a:t>   </a:t>
            </a:r>
            <a:r>
              <a:rPr lang="en-US" sz="2400" b="1" u="sng">
                <a:latin typeface="+mj-lt"/>
              </a:rPr>
              <a:t>let</a:t>
            </a:r>
            <a:r>
              <a:rPr lang="en-US" sz="2400">
                <a:latin typeface="+mj-lt"/>
              </a:rPr>
              <a:t> Y = X</a:t>
            </a:r>
            <a:r>
              <a:rPr lang="en-US" sz="2400" baseline="30000">
                <a:latin typeface="+mj-lt"/>
              </a:rPr>
              <a:t>+</a:t>
            </a:r>
            <a:r>
              <a:rPr lang="en-US" sz="2400">
                <a:latin typeface="+mj-lt"/>
              </a:rPr>
              <a:t> - X,  Z = (X</a:t>
            </a:r>
            <a:r>
              <a:rPr lang="en-US" sz="2400" baseline="30000">
                <a:latin typeface="+mj-lt"/>
              </a:rPr>
              <a:t>+</a:t>
            </a:r>
            <a:r>
              <a:rPr lang="en-US" sz="2400">
                <a:latin typeface="+mj-lt"/>
              </a:rPr>
              <a:t>)</a:t>
            </a:r>
            <a:r>
              <a:rPr lang="en-US" sz="2400" baseline="30000">
                <a:latin typeface="+mj-lt"/>
              </a:rPr>
              <a:t>C</a:t>
            </a:r>
            <a:r>
              <a:rPr lang="en-US" sz="2400">
                <a:latin typeface="+mj-lt"/>
              </a:rPr>
              <a:t> </a:t>
            </a:r>
            <a:br>
              <a:rPr lang="en-US" sz="2400">
                <a:latin typeface="+mj-lt"/>
              </a:rPr>
            </a:br>
            <a:r>
              <a:rPr lang="en-US" sz="2400">
                <a:latin typeface="+mj-lt"/>
              </a:rPr>
              <a:t>   </a:t>
            </a:r>
            <a:r>
              <a:rPr lang="en-US" sz="2400" b="1">
                <a:latin typeface="+mj-lt"/>
              </a:rPr>
              <a:t>decompose</a:t>
            </a:r>
            <a:r>
              <a:rPr lang="en-US" sz="2400">
                <a:latin typeface="+mj-lt"/>
              </a:rPr>
              <a:t> </a:t>
            </a:r>
            <a:r>
              <a:rPr lang="en-US" sz="2400" b="1">
                <a:latin typeface="+mj-lt"/>
              </a:rPr>
              <a:t>R</a:t>
            </a:r>
            <a:r>
              <a:rPr lang="en-US" sz="2400">
                <a:latin typeface="+mj-lt"/>
              </a:rPr>
              <a:t> into </a:t>
            </a:r>
            <a:r>
              <a:rPr lang="en-US" sz="2400" b="1">
                <a:latin typeface="+mj-lt"/>
              </a:rPr>
              <a:t>R</a:t>
            </a:r>
            <a:r>
              <a:rPr lang="en-US" sz="2400" b="1" baseline="-25000">
                <a:latin typeface="+mj-lt"/>
              </a:rPr>
              <a:t>1</a:t>
            </a:r>
            <a:r>
              <a:rPr lang="en-US" sz="2400" b="1">
                <a:latin typeface="+mj-lt"/>
              </a:rPr>
              <a:t>(X </a:t>
            </a:r>
            <a:r>
              <a:rPr lang="en-US" sz="2400" b="1">
                <a:latin typeface="+mj-lt"/>
                <a:sym typeface="Symbol" charset="2"/>
              </a:rPr>
              <a:t> Y</a:t>
            </a:r>
            <a:r>
              <a:rPr lang="en-US" sz="2400" b="1">
                <a:latin typeface="+mj-lt"/>
              </a:rPr>
              <a:t>) </a:t>
            </a:r>
            <a:r>
              <a:rPr lang="en-US" sz="2400">
                <a:latin typeface="+mj-lt"/>
              </a:rPr>
              <a:t>and </a:t>
            </a:r>
            <a:r>
              <a:rPr lang="en-US" sz="2400" b="1">
                <a:latin typeface="+mj-lt"/>
              </a:rPr>
              <a:t>R</a:t>
            </a:r>
            <a:r>
              <a:rPr lang="en-US" sz="2400" b="1" baseline="-25000">
                <a:latin typeface="+mj-lt"/>
              </a:rPr>
              <a:t>2</a:t>
            </a:r>
            <a:r>
              <a:rPr lang="en-US" sz="2400" b="1">
                <a:latin typeface="+mj-lt"/>
              </a:rPr>
              <a:t>(X </a:t>
            </a:r>
            <a:r>
              <a:rPr lang="en-US" sz="2400" b="1">
                <a:latin typeface="+mj-lt"/>
                <a:sym typeface="Symbol" charset="2"/>
              </a:rPr>
              <a:t> Z</a:t>
            </a:r>
            <a:r>
              <a:rPr lang="en-US" sz="2400" b="1">
                <a:latin typeface="+mj-lt"/>
              </a:rPr>
              <a:t>)</a:t>
            </a:r>
            <a:br>
              <a:rPr lang="en-US" sz="2400" b="1">
                <a:latin typeface="+mj-lt"/>
              </a:rPr>
            </a:br>
            <a:r>
              <a:rPr lang="en-US" sz="2400">
                <a:latin typeface="+mj-lt"/>
              </a:rPr>
              <a:t>   </a:t>
            </a:r>
          </a:p>
          <a:p>
            <a:r>
              <a:rPr lang="en-US" sz="2400">
                <a:latin typeface="+mj-lt"/>
              </a:rPr>
              <a:t>   </a:t>
            </a:r>
            <a:r>
              <a:rPr lang="en-US" sz="2400" b="1">
                <a:latin typeface="+mj-lt"/>
              </a:rPr>
              <a:t>Return</a:t>
            </a:r>
            <a:r>
              <a:rPr lang="en-US" sz="2400">
                <a:latin typeface="+mj-lt"/>
              </a:rPr>
              <a:t> </a:t>
            </a:r>
            <a:r>
              <a:rPr lang="en-US" sz="2400" err="1">
                <a:latin typeface="+mj-lt"/>
              </a:rPr>
              <a:t>BCNFDecomp</a:t>
            </a:r>
            <a:r>
              <a:rPr lang="en-US" sz="2400">
                <a:latin typeface="+mj-lt"/>
              </a:rPr>
              <a:t>(R</a:t>
            </a:r>
            <a:r>
              <a:rPr lang="en-US" sz="2400" baseline="-25000">
                <a:latin typeface="+mj-lt"/>
              </a:rPr>
              <a:t>1</a:t>
            </a:r>
            <a:r>
              <a:rPr lang="en-US" sz="2400">
                <a:latin typeface="+mj-lt"/>
              </a:rPr>
              <a:t>), </a:t>
            </a:r>
            <a:r>
              <a:rPr lang="en-US" sz="2400" err="1">
                <a:latin typeface="+mj-lt"/>
              </a:rPr>
              <a:t>BCNFDecomp</a:t>
            </a:r>
            <a:r>
              <a:rPr lang="en-US" sz="2400">
                <a:latin typeface="+mj-lt"/>
              </a:rPr>
              <a:t>(R</a:t>
            </a:r>
            <a:r>
              <a:rPr lang="en-US" sz="2400" baseline="-25000">
                <a:latin typeface="+mj-lt"/>
              </a:rPr>
              <a:t>2</a:t>
            </a:r>
            <a:r>
              <a:rPr lang="en-US" sz="2400">
                <a:latin typeface="+mj-lt"/>
              </a:rPr>
              <a:t>)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22444" y="3115667"/>
            <a:ext cx="286209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{A} </a:t>
            </a:r>
            <a:r>
              <a:rPr lang="en-US" sz="28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/>
              </a:rPr>
              <a:t></a:t>
            </a:r>
            <a:r>
              <a:rPr lang="en-US" sz="28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{B,C}</a:t>
            </a:r>
          </a:p>
          <a:p>
            <a:r>
              <a:rPr lang="en-US" sz="28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{C} </a:t>
            </a:r>
            <a:r>
              <a:rPr lang="en-US" sz="28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/>
              </a:rPr>
              <a:t></a:t>
            </a:r>
            <a:r>
              <a:rPr lang="en-US" sz="28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{D}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II  &gt;   BCNF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242FB5-156E-45FA-BA8F-4E0689A6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833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3D04-EE70-B349-A33E-80782C59E7D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88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45766" name="Oval 6"/>
          <p:cNvSpPr>
            <a:spLocks noChangeArrowheads="1"/>
          </p:cNvSpPr>
          <p:nvPr/>
        </p:nvSpPr>
        <p:spPr bwMode="auto">
          <a:xfrm>
            <a:off x="2161526" y="1811870"/>
            <a:ext cx="6146732" cy="1220474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2800">
                <a:solidFill>
                  <a:schemeClr val="accent2"/>
                </a:solidFill>
                <a:latin typeface="Calibri"/>
              </a:rPr>
              <a:t>R(A,B,C,D,E)</a:t>
            </a:r>
            <a:br>
              <a:rPr lang="en-US" sz="2800">
                <a:solidFill>
                  <a:prstClr val="black"/>
                </a:solidFill>
                <a:latin typeface="Calibri"/>
              </a:rPr>
            </a:br>
            <a:r>
              <a:rPr lang="en-US" sz="280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800">
                <a:solidFill>
                  <a:srgbClr val="C00000"/>
                </a:solidFill>
                <a:latin typeface="Calibri"/>
              </a:rPr>
              <a:t>{A}</a:t>
            </a:r>
            <a:r>
              <a:rPr lang="en-US" sz="2800" baseline="30000">
                <a:solidFill>
                  <a:srgbClr val="C00000"/>
                </a:solidFill>
                <a:latin typeface="Calibri"/>
              </a:rPr>
              <a:t>+</a:t>
            </a:r>
            <a:r>
              <a:rPr lang="en-US" sz="2800">
                <a:solidFill>
                  <a:srgbClr val="C00000"/>
                </a:solidFill>
                <a:latin typeface="Calibri"/>
              </a:rPr>
              <a:t> = {A,B,C,D} ≠ {A,B,C,D,E}</a:t>
            </a:r>
          </a:p>
        </p:txBody>
      </p:sp>
      <p:sp>
        <p:nvSpPr>
          <p:cNvPr id="245768" name="Oval 8"/>
          <p:cNvSpPr>
            <a:spLocks noChangeArrowheads="1"/>
          </p:cNvSpPr>
          <p:nvPr/>
        </p:nvSpPr>
        <p:spPr bwMode="auto">
          <a:xfrm>
            <a:off x="523769" y="3659138"/>
            <a:ext cx="4945734" cy="1341656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800">
                <a:solidFill>
                  <a:schemeClr val="accent2"/>
                </a:solidFill>
                <a:latin typeface="Calibri"/>
              </a:rPr>
              <a:t>R</a:t>
            </a:r>
            <a:r>
              <a:rPr lang="en-US" sz="2800" baseline="-25000">
                <a:solidFill>
                  <a:schemeClr val="accent2"/>
                </a:solidFill>
                <a:latin typeface="Calibri"/>
              </a:rPr>
              <a:t>1</a:t>
            </a:r>
            <a:r>
              <a:rPr lang="en-US" sz="2800">
                <a:solidFill>
                  <a:schemeClr val="accent2"/>
                </a:solidFill>
                <a:latin typeface="Calibri"/>
              </a:rPr>
              <a:t>(A,B,C,D)</a:t>
            </a:r>
            <a:br>
              <a:rPr lang="en-US" sz="2800">
                <a:solidFill>
                  <a:prstClr val="black"/>
                </a:solidFill>
                <a:latin typeface="Calibri"/>
              </a:rPr>
            </a:br>
            <a:r>
              <a:rPr lang="en-US" sz="280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800">
                <a:solidFill>
                  <a:srgbClr val="C00000"/>
                </a:solidFill>
                <a:latin typeface="Calibri"/>
              </a:rPr>
              <a:t>{C}</a:t>
            </a:r>
            <a:r>
              <a:rPr lang="en-US" sz="2800" baseline="30000">
                <a:solidFill>
                  <a:srgbClr val="C00000"/>
                </a:solidFill>
                <a:latin typeface="Calibri"/>
              </a:rPr>
              <a:t>+</a:t>
            </a:r>
            <a:r>
              <a:rPr lang="en-US" sz="2800">
                <a:solidFill>
                  <a:srgbClr val="C00000"/>
                </a:solidFill>
                <a:latin typeface="Calibri"/>
              </a:rPr>
              <a:t> = {C,D} ≠ {A,B,C,D}</a:t>
            </a:r>
          </a:p>
        </p:txBody>
      </p:sp>
      <p:sp>
        <p:nvSpPr>
          <p:cNvPr id="245769" name="Oval 9"/>
          <p:cNvSpPr>
            <a:spLocks noChangeArrowheads="1"/>
          </p:cNvSpPr>
          <p:nvPr/>
        </p:nvSpPr>
        <p:spPr bwMode="auto">
          <a:xfrm>
            <a:off x="8456735" y="5607049"/>
            <a:ext cx="1681037" cy="73574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800">
                <a:solidFill>
                  <a:schemeClr val="accent2"/>
                </a:solidFill>
                <a:latin typeface="Calibri"/>
              </a:rPr>
              <a:t>R</a:t>
            </a:r>
            <a:r>
              <a:rPr lang="en-US" sz="2800" baseline="-25000">
                <a:solidFill>
                  <a:schemeClr val="accent2"/>
                </a:solidFill>
                <a:latin typeface="Calibri"/>
              </a:rPr>
              <a:t>2</a:t>
            </a:r>
            <a:r>
              <a:rPr lang="en-US" sz="2800">
                <a:solidFill>
                  <a:schemeClr val="accent2"/>
                </a:solidFill>
                <a:latin typeface="Calibri"/>
              </a:rPr>
              <a:t>(A,E)</a:t>
            </a:r>
          </a:p>
        </p:txBody>
      </p:sp>
      <p:cxnSp>
        <p:nvCxnSpPr>
          <p:cNvPr id="245773" name="AutoShape 13"/>
          <p:cNvCxnSpPr>
            <a:cxnSpLocks noChangeShapeType="1"/>
            <a:stCxn id="245766" idx="4"/>
            <a:endCxn id="245768" idx="0"/>
          </p:cNvCxnSpPr>
          <p:nvPr/>
        </p:nvCxnSpPr>
        <p:spPr bwMode="auto">
          <a:xfrm flipH="1">
            <a:off x="2996636" y="3032344"/>
            <a:ext cx="2238256" cy="62679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45774" name="AutoShape 14"/>
          <p:cNvCxnSpPr>
            <a:cxnSpLocks noChangeShapeType="1"/>
            <a:stCxn id="245766" idx="4"/>
            <a:endCxn id="245769" idx="0"/>
          </p:cNvCxnSpPr>
          <p:nvPr/>
        </p:nvCxnSpPr>
        <p:spPr bwMode="auto">
          <a:xfrm>
            <a:off x="5234892" y="3032344"/>
            <a:ext cx="4062362" cy="25747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45770" name="Oval 10"/>
          <p:cNvSpPr>
            <a:spLocks noChangeArrowheads="1"/>
          </p:cNvSpPr>
          <p:nvPr/>
        </p:nvSpPr>
        <p:spPr bwMode="auto">
          <a:xfrm>
            <a:off x="539808" y="5607049"/>
            <a:ext cx="1765703" cy="73574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800">
                <a:solidFill>
                  <a:schemeClr val="accent2"/>
                </a:solidFill>
                <a:latin typeface="Calibri"/>
              </a:rPr>
              <a:t>R</a:t>
            </a:r>
            <a:r>
              <a:rPr lang="en-US" baseline="-25000">
                <a:solidFill>
                  <a:schemeClr val="accent2"/>
                </a:solidFill>
                <a:latin typeface="Calibri"/>
              </a:rPr>
              <a:t>11</a:t>
            </a:r>
            <a:r>
              <a:rPr lang="en-US" sz="2800">
                <a:solidFill>
                  <a:schemeClr val="accent2"/>
                </a:solidFill>
                <a:latin typeface="Calibri"/>
              </a:rPr>
              <a:t>(C,D)</a:t>
            </a:r>
          </a:p>
        </p:txBody>
      </p:sp>
      <p:sp>
        <p:nvSpPr>
          <p:cNvPr id="245771" name="Oval 11"/>
          <p:cNvSpPr>
            <a:spLocks noChangeArrowheads="1"/>
          </p:cNvSpPr>
          <p:nvPr/>
        </p:nvSpPr>
        <p:spPr bwMode="auto">
          <a:xfrm>
            <a:off x="3793625" y="5606683"/>
            <a:ext cx="2147822" cy="73574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800">
                <a:solidFill>
                  <a:schemeClr val="accent2"/>
                </a:solidFill>
                <a:latin typeface="Calibri"/>
              </a:rPr>
              <a:t>R</a:t>
            </a:r>
            <a:r>
              <a:rPr lang="en-US" baseline="-25000">
                <a:solidFill>
                  <a:schemeClr val="accent2"/>
                </a:solidFill>
                <a:latin typeface="Calibri"/>
              </a:rPr>
              <a:t>12</a:t>
            </a:r>
            <a:r>
              <a:rPr lang="en-US" sz="2800">
                <a:solidFill>
                  <a:schemeClr val="accent2"/>
                </a:solidFill>
                <a:latin typeface="Calibri"/>
              </a:rPr>
              <a:t>(A,B,C)</a:t>
            </a:r>
          </a:p>
        </p:txBody>
      </p:sp>
      <p:cxnSp>
        <p:nvCxnSpPr>
          <p:cNvPr id="245775" name="AutoShape 15"/>
          <p:cNvCxnSpPr>
            <a:cxnSpLocks noChangeShapeType="1"/>
            <a:stCxn id="245768" idx="4"/>
            <a:endCxn id="245770" idx="0"/>
          </p:cNvCxnSpPr>
          <p:nvPr/>
        </p:nvCxnSpPr>
        <p:spPr bwMode="auto">
          <a:xfrm flipH="1">
            <a:off x="1422660" y="5000794"/>
            <a:ext cx="1573976" cy="6062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45776" name="AutoShape 16"/>
          <p:cNvCxnSpPr>
            <a:cxnSpLocks noChangeShapeType="1"/>
            <a:stCxn id="245768" idx="4"/>
            <a:endCxn id="245771" idx="0"/>
          </p:cNvCxnSpPr>
          <p:nvPr/>
        </p:nvCxnSpPr>
        <p:spPr bwMode="auto">
          <a:xfrm>
            <a:off x="2996636" y="5000794"/>
            <a:ext cx="1870900" cy="60588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8798960" y="716586"/>
            <a:ext cx="286209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R(A,B,C,D,E)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98960" y="1523981"/>
            <a:ext cx="286209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{A} </a:t>
            </a:r>
            <a:r>
              <a:rPr lang="en-US" sz="28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/>
              </a:rPr>
              <a:t></a:t>
            </a:r>
            <a:r>
              <a:rPr lang="en-US" sz="28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{B,C}</a:t>
            </a:r>
          </a:p>
          <a:p>
            <a:r>
              <a:rPr lang="en-US" sz="28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{C} </a:t>
            </a:r>
            <a:r>
              <a:rPr lang="en-US" sz="28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Wingdings"/>
              </a:rPr>
              <a:t></a:t>
            </a:r>
            <a:r>
              <a:rPr lang="en-US" sz="280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</a:rPr>
              <a:t> {D}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Design Theory II  &gt;   BCNF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141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6" grpId="0" animBg="1" autoUpdateAnimBg="0"/>
      <p:bldP spid="245768" grpId="0" animBg="1"/>
      <p:bldP spid="245769" grpId="0" animBg="1"/>
      <p:bldP spid="245770" grpId="0" animBg="1"/>
      <p:bldP spid="245771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A34CF-3C92-A58B-5BFE-84381C9D7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Lossless join decomposition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7695D1-C6F6-865D-84FE-93F579A5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89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7">
                <a:extLst>
                  <a:ext uri="{FF2B5EF4-FFF2-40B4-BE49-F238E27FC236}">
                    <a16:creationId xmlns:a16="http://schemas.microsoft.com/office/drawing/2014/main" id="{38C94443-0F56-2861-34AC-43C8372364B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595132" y="1612325"/>
                <a:ext cx="10238124" cy="2185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Definition: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Lossless Join Decomposition</a:t>
                </a:r>
                <a:r>
                  <a: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divides a relation R into smaller relations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0" lang="en-US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Guarantees </a:t>
                </a:r>
                <a:r>
                  <a:rPr kumimoji="0" lang="en-US" alt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no data loss</a:t>
                </a:r>
                <a:r>
                  <a: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by allowing the original relation to be restored from the join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800">
                    <a:latin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Also called </a:t>
                </a:r>
                <a:r>
                  <a:rPr kumimoji="0" lang="en-US" alt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non-additive decomposition</a:t>
                </a:r>
                <a:r>
                  <a: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Condition for Lossless Join: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The decomposition is lossless if the </a:t>
                </a:r>
                <a:r>
                  <a:rPr kumimoji="0" lang="en-US" alt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natural join</a:t>
                </a:r>
                <a:r>
                  <a: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restores the original relation: </a:t>
                </a:r>
              </a:p>
              <a:p>
                <a:pPr marL="914400" lvl="2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0" lang="en-US" altLang="en-US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kumimoji="0" lang="en-US" altLang="en-US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kumimoji="0" lang="en-US" altLang="en-US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altLang="en-US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kumimoji="0" lang="en-US" altLang="en-US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Rectangle 27">
                <a:extLst>
                  <a:ext uri="{FF2B5EF4-FFF2-40B4-BE49-F238E27FC236}">
                    <a16:creationId xmlns:a16="http://schemas.microsoft.com/office/drawing/2014/main" id="{38C94443-0F56-2861-34AC-43C8372364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595132" y="1612325"/>
                <a:ext cx="10238124" cy="2185214"/>
              </a:xfrm>
              <a:prstGeom prst="rect">
                <a:avLst/>
              </a:prstGeom>
              <a:blipFill>
                <a:blip r:embed="rId2"/>
                <a:stretch>
                  <a:fillRect l="-417" t="-83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450255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1D9C-BBA6-30F0-6CD9-6F2E337C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Lossless join decomposition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7F786-DC11-9B1C-6BB4-D6CD1C4F1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Criteria for Lossless Join: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 decomposition R=R1∪R2 ​ is lossless with respect to functional dependencies F if one of the following holds: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(R1​∩R2​)→(R1​∖R2​)∈F+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(R1​∩R2​)→(R2​∖R1​)∈F+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250D9D-AF81-2324-7D7E-1494BEF4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0294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Constraints allow one to reason about </a:t>
            </a:r>
            <a:r>
              <a:rPr lang="en-US" b="1"/>
              <a:t>redundancy</a:t>
            </a:r>
            <a:r>
              <a:rPr lang="en-US"/>
              <a:t> in the data</a:t>
            </a:r>
          </a:p>
          <a:p>
            <a:endParaRPr lang="en-US"/>
          </a:p>
          <a:p>
            <a:r>
              <a:rPr lang="en-US"/>
              <a:t>Normal forms describe how to </a:t>
            </a:r>
            <a:r>
              <a:rPr lang="en-US" b="1"/>
              <a:t>remove</a:t>
            </a:r>
            <a:r>
              <a:rPr lang="en-US"/>
              <a:t> this redundancy by </a:t>
            </a:r>
            <a:r>
              <a:rPr lang="en-US" b="1"/>
              <a:t>decomposing </a:t>
            </a:r>
            <a:r>
              <a:rPr lang="en-US"/>
              <a:t>relations</a:t>
            </a:r>
          </a:p>
          <a:p>
            <a:pPr lvl="1"/>
            <a:r>
              <a:rPr lang="en-US"/>
              <a:t>Elegant—by representing data appropriately certain errors are essentially impossible</a:t>
            </a:r>
          </a:p>
          <a:p>
            <a:pPr lvl="1"/>
            <a:r>
              <a:rPr lang="en-US"/>
              <a:t>For FDs, BCNF is the normal form.</a:t>
            </a:r>
          </a:p>
          <a:p>
            <a:pPr lvl="1"/>
            <a:endParaRPr lang="en-US"/>
          </a:p>
          <a:p>
            <a:r>
              <a:rPr lang="en-US"/>
              <a:t>A tradeoff for insert performance: 3NF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88780" y="-22510"/>
              <a:ext cx="10419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  SUMMARY</a:t>
              </a: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24880-78D9-451E-B572-A3017158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2202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077E2-BAE4-4C61-A42C-1C1F5C5AE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923" y="-174137"/>
            <a:ext cx="10515600" cy="1325563"/>
          </a:xfrm>
        </p:spPr>
        <p:txBody>
          <a:bodyPr/>
          <a:lstStyle/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07972-5AF4-404E-886A-91DBB9B53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85" y="641915"/>
            <a:ext cx="11699630" cy="510161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600" kern="100" dirty="0">
                <a:effectLst/>
                <a:latin typeface="Calibri"/>
                <a:ea typeface="Calibri"/>
                <a:cs typeface="Calibri"/>
              </a:rPr>
              <a:t>Find all candidate keys.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600" kern="100" dirty="0">
                <a:effectLst/>
                <a:latin typeface="Calibri"/>
                <a:ea typeface="Calibri"/>
                <a:cs typeface="Calibri"/>
              </a:rPr>
              <a:t>Identify the normal forms that R satisfy (1NF, 2NF, 3NF,BCNF).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600" kern="100" dirty="0">
                <a:effectLst/>
                <a:latin typeface="Calibri"/>
                <a:ea typeface="Calibri"/>
                <a:cs typeface="Calibri"/>
              </a:rPr>
              <a:t>If the relation is not in BNCF, decompose it until it becomes BCNF.    At each step, identify a new relation, decompose and re-compute the keys and the normal forms they satisfy.</a:t>
            </a:r>
          </a:p>
          <a:p>
            <a:pPr marL="0" marR="0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Calibri"/>
                <a:ea typeface="Calibri"/>
                <a:cs typeface="Calibri"/>
              </a:rPr>
              <a:t>Question 1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effectLst/>
                <a:latin typeface="Calibri"/>
                <a:ea typeface="Calibri"/>
                <a:cs typeface="Calibri"/>
              </a:rPr>
              <a:t>Consider relation: R = (A, B  , C, D, E) with the set of functional dependencies: {CE → D, D → B, C → A}</a:t>
            </a:r>
          </a:p>
          <a:p>
            <a:pPr marL="0" marR="0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Calibri"/>
                <a:ea typeface="Calibri"/>
                <a:cs typeface="Calibri"/>
              </a:rPr>
              <a:t>Question 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975860" algn="l"/>
              </a:tabLst>
            </a:pPr>
            <a:r>
              <a:rPr lang="en-US" sz="1600" kern="100" dirty="0">
                <a:effectLst/>
                <a:latin typeface="Calibri"/>
                <a:ea typeface="Calibri"/>
                <a:cs typeface="Calibri"/>
              </a:rPr>
              <a:t>Consider relation: R = (A, B, C, D, E, F, G, H, I, J)	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effectLst/>
                <a:latin typeface="Calibri"/>
                <a:ea typeface="Calibri"/>
                <a:cs typeface="Calibri"/>
              </a:rPr>
              <a:t>with the set of functional dependencies: {AB → C, A → DE, B → F, F → GH, D → IJ}</a:t>
            </a:r>
          </a:p>
          <a:p>
            <a:pPr marL="0" marR="0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Calibri"/>
                <a:ea typeface="Calibri"/>
                <a:cs typeface="Calibri"/>
              </a:rPr>
              <a:t>Question 3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effectLst/>
                <a:latin typeface="Calibri"/>
                <a:ea typeface="Calibri"/>
                <a:cs typeface="Calibri"/>
              </a:rPr>
              <a:t>Consider relation: R = {A, B, C, D, E, F, G, H, I, J}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effectLst/>
                <a:latin typeface="Calibri"/>
                <a:ea typeface="Calibri"/>
                <a:cs typeface="Calibri"/>
              </a:rPr>
              <a:t>and the set of functional dependencies: {AB → C, BD → EF, AD → GH, A → I, H → J}</a:t>
            </a:r>
          </a:p>
          <a:p>
            <a:r>
              <a:rPr lang="en-US" sz="1600" b="1" kern="100" dirty="0">
                <a:ea typeface="+mn-lt"/>
                <a:cs typeface="+mn-lt"/>
              </a:rPr>
              <a:t>Question 4</a:t>
            </a:r>
            <a:r>
              <a:rPr lang="en-US" sz="1600" kern="100" dirty="0">
                <a:ea typeface="+mn-lt"/>
                <a:cs typeface="+mn-lt"/>
              </a:rPr>
              <a:t>: Consider the relation: R=(A,B,C,D,E)R=(A,B,C,D,E) 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100" dirty="0">
                <a:ea typeface="+mn-lt"/>
                <a:cs typeface="+mn-lt"/>
              </a:rPr>
              <a:t>with the following functional dependencies: F={A→B,B→A,C→D,D→C,AC→E,E→A}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b="1" dirty="0">
                <a:ea typeface="+mn-lt"/>
                <a:cs typeface="+mn-lt"/>
              </a:rPr>
              <a:t>Question 5 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r>
              <a:rPr lang="en-US" sz="1600" dirty="0">
                <a:ea typeface="+mn-lt"/>
                <a:cs typeface="+mn-lt"/>
              </a:rPr>
              <a:t>Consider the relation: R=(A,B,C,D)R=(A,B,C,D)  with the functional dependencies: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F={A→B,B→A,C→D}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A09F3-C51D-480B-9BEC-F1AC0BB3C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2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114752CFC3094F980FAD7CDAC4FA66" ma:contentTypeVersion="18" ma:contentTypeDescription="Create a new document." ma:contentTypeScope="" ma:versionID="32dfdce3e40c9d5c8163c3e36a9b21ca">
  <xsd:schema xmlns:xsd="http://www.w3.org/2001/XMLSchema" xmlns:xs="http://www.w3.org/2001/XMLSchema" xmlns:p="http://schemas.microsoft.com/office/2006/metadata/properties" xmlns:ns3="eba54558-70c8-458e-84bd-8e3810559bd2" xmlns:ns4="fd28b98c-9d4a-4855-a326-788d407ff55a" targetNamespace="http://schemas.microsoft.com/office/2006/metadata/properties" ma:root="true" ma:fieldsID="c08f2c9dfa94df1fd38324790de5c238" ns3:_="" ns4:_="">
    <xsd:import namespace="eba54558-70c8-458e-84bd-8e3810559bd2"/>
    <xsd:import namespace="fd28b98c-9d4a-4855-a326-788d407ff55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a54558-70c8-458e-84bd-8e3810559b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description="" ma:indexed="true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28b98c-9d4a-4855-a326-788d407ff55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ba54558-70c8-458e-84bd-8e3810559bd2" xsi:nil="true"/>
  </documentManagement>
</p:properties>
</file>

<file path=customXml/itemProps1.xml><?xml version="1.0" encoding="utf-8"?>
<ds:datastoreItem xmlns:ds="http://schemas.openxmlformats.org/officeDocument/2006/customXml" ds:itemID="{69B939CD-E446-4E03-84E9-E6B5959F3C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2E834A-F2A4-4A1A-8270-537D4D124A43}">
  <ds:schemaRefs>
    <ds:schemaRef ds:uri="eba54558-70c8-458e-84bd-8e3810559bd2"/>
    <ds:schemaRef ds:uri="fd28b98c-9d4a-4855-a326-788d407ff5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1A51630-46F5-4AB8-B589-319C6F3F4C8B}">
  <ds:schemaRefs>
    <ds:schemaRef ds:uri="eba54558-70c8-458e-84bd-8e3810559bd2"/>
    <ds:schemaRef ds:uri="fd28b98c-9d4a-4855-a326-788d407ff5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92</Slides>
  <Notes>24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3" baseType="lpstr">
      <vt:lpstr>1_Office Theme</vt:lpstr>
      <vt:lpstr>Design Theory</vt:lpstr>
      <vt:lpstr>1. Normal forms &amp; functional dependencies</vt:lpstr>
      <vt:lpstr>Design Theory</vt:lpstr>
      <vt:lpstr>Normal Forms</vt:lpstr>
      <vt:lpstr>1st Normal Form (1NF)</vt:lpstr>
      <vt:lpstr>Data Anomalies &amp; Constraints</vt:lpstr>
      <vt:lpstr>Constraints Prevent (some)  Anomalies in the Data</vt:lpstr>
      <vt:lpstr>Constraints Prevent (some)  Anomalies in the Data</vt:lpstr>
      <vt:lpstr>Constraints Prevent (some)  Anomalies in the Data</vt:lpstr>
      <vt:lpstr>Constraints Prevent (some)  Anomalies in the Data</vt:lpstr>
      <vt:lpstr>Constraints Prevent (some)  Anomalies in the Data</vt:lpstr>
      <vt:lpstr>Functional Dependencies</vt:lpstr>
      <vt:lpstr>Functional Dependency</vt:lpstr>
      <vt:lpstr>A Picture Of FDs</vt:lpstr>
      <vt:lpstr>A Picture Of FDs</vt:lpstr>
      <vt:lpstr>A Picture Of FDs</vt:lpstr>
      <vt:lpstr>A Picture Of FDs</vt:lpstr>
      <vt:lpstr>FDs for Relational Schema Design</vt:lpstr>
      <vt:lpstr>Functional Dependencies as Constraints</vt:lpstr>
      <vt:lpstr>Functional Dependencies as Constraints</vt:lpstr>
      <vt:lpstr>More Examples</vt:lpstr>
      <vt:lpstr>More Examples</vt:lpstr>
      <vt:lpstr>More Examples</vt:lpstr>
      <vt:lpstr>ACTIVITY</vt:lpstr>
      <vt:lpstr>2. Finding functional dependencies</vt:lpstr>
      <vt:lpstr>“Good” vs. “Bad” FDs</vt:lpstr>
      <vt:lpstr>“Good” vs. “Bad” FDs</vt:lpstr>
      <vt:lpstr>“Good” vs. “Bad” FDs</vt:lpstr>
      <vt:lpstr>FDs for Relational Schema Design</vt:lpstr>
      <vt:lpstr>Finding Functional Dependencies</vt:lpstr>
      <vt:lpstr>Finding Functional Dependencies</vt:lpstr>
      <vt:lpstr>Finding Functional Dependencies</vt:lpstr>
      <vt:lpstr>1. Split/Combine</vt:lpstr>
      <vt:lpstr>1. Split/Combine</vt:lpstr>
      <vt:lpstr>1. Split/Combine</vt:lpstr>
      <vt:lpstr>Example</vt:lpstr>
      <vt:lpstr>Reduction/Trivial</vt:lpstr>
      <vt:lpstr>Example</vt:lpstr>
      <vt:lpstr>3. Transitive Closure</vt:lpstr>
      <vt:lpstr>3. Transitive Closure</vt:lpstr>
      <vt:lpstr>Example</vt:lpstr>
      <vt:lpstr>Finding Functional Dependencies</vt:lpstr>
      <vt:lpstr>Finding Functional Dependencies</vt:lpstr>
      <vt:lpstr>Finding Functional Dependencies</vt:lpstr>
      <vt:lpstr>Closures</vt:lpstr>
      <vt:lpstr>Closure of a set of Attributes</vt:lpstr>
      <vt:lpstr>Closure Algorithm</vt:lpstr>
      <vt:lpstr>Closure Algorithm</vt:lpstr>
      <vt:lpstr>Closure Algorithm</vt:lpstr>
      <vt:lpstr>Closure Algorithm</vt:lpstr>
      <vt:lpstr>Closure Algorithm</vt:lpstr>
      <vt:lpstr>Example</vt:lpstr>
      <vt:lpstr>3. Closures, Superkeys &amp; Keys</vt:lpstr>
      <vt:lpstr>Why Do We Need the Closure?</vt:lpstr>
      <vt:lpstr>Using Closure to Infer ALL FDs</vt:lpstr>
      <vt:lpstr>Using Closure to Infer ALL FDs</vt:lpstr>
      <vt:lpstr>Using Closure to Infer ALL FDs</vt:lpstr>
      <vt:lpstr>Using Closure to Infer ALL FDs</vt:lpstr>
      <vt:lpstr>Superkeys and Keys</vt:lpstr>
      <vt:lpstr>Keys and Superkeys</vt:lpstr>
      <vt:lpstr>Finding Keys and Superkeys </vt:lpstr>
      <vt:lpstr>Example of Finding Keys</vt:lpstr>
      <vt:lpstr>Example of Keys</vt:lpstr>
      <vt:lpstr>Superkey vs Key</vt:lpstr>
      <vt:lpstr>Design Theory II</vt:lpstr>
      <vt:lpstr>Normal Forms</vt:lpstr>
      <vt:lpstr>2NF</vt:lpstr>
      <vt:lpstr>Example</vt:lpstr>
      <vt:lpstr>2NF</vt:lpstr>
      <vt:lpstr>3NF</vt:lpstr>
      <vt:lpstr>2NF -&gt; 3NF</vt:lpstr>
      <vt:lpstr>PowerPoint Presentation</vt:lpstr>
      <vt:lpstr>BCNF</vt:lpstr>
      <vt:lpstr>3NF to BCNF</vt:lpstr>
      <vt:lpstr>Boyce-Codd Normal Form (BCNF)</vt:lpstr>
      <vt:lpstr>Boyce-Codd Normal Form (BCNF)</vt:lpstr>
      <vt:lpstr>Boyce-Codd Normal Form</vt:lpstr>
      <vt:lpstr>Example</vt:lpstr>
      <vt:lpstr>Example</vt:lpstr>
      <vt:lpstr>BCNF Decomposition Algorithm</vt:lpstr>
      <vt:lpstr>BCNF Decomposition Algorithm</vt:lpstr>
      <vt:lpstr>BCNF Decomposition Algorithm</vt:lpstr>
      <vt:lpstr>BCNF Decomposition Algorithm</vt:lpstr>
      <vt:lpstr>BCNF Decomposition Algorithm</vt:lpstr>
      <vt:lpstr>BCNF Decomposition Algorithm</vt:lpstr>
      <vt:lpstr>BCNF Decomposition Algorithm</vt:lpstr>
      <vt:lpstr>PowerPoint Presentation</vt:lpstr>
      <vt:lpstr>Example</vt:lpstr>
      <vt:lpstr>Lossless join decomposition</vt:lpstr>
      <vt:lpstr>Lossless join decomposition</vt:lpstr>
      <vt:lpstr>Summary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The ER Model</dc:title>
  <dc:creator>Alex Ratner</dc:creator>
  <cp:revision>36</cp:revision>
  <dcterms:created xsi:type="dcterms:W3CDTF">2015-09-18T05:48:25Z</dcterms:created>
  <dcterms:modified xsi:type="dcterms:W3CDTF">2026-10-13T04:28:41Z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0x01010011114752CFC3094F980FAD7CDAC4FA66</vt:lpwstr>
  </property>
</Properties>
</file>