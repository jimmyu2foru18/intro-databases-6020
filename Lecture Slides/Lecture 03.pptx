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1"/>
  </p:notesMasterIdLst>
  <p:sldIdLst>
    <p:sldId id="256" r:id="rId5"/>
    <p:sldId id="335" r:id="rId6"/>
    <p:sldId id="258" r:id="rId7"/>
    <p:sldId id="337" r:id="rId8"/>
    <p:sldId id="260" r:id="rId9"/>
    <p:sldId id="261" r:id="rId10"/>
    <p:sldId id="338" r:id="rId11"/>
    <p:sldId id="262" r:id="rId12"/>
    <p:sldId id="265" r:id="rId13"/>
    <p:sldId id="266" r:id="rId14"/>
    <p:sldId id="359" r:id="rId15"/>
    <p:sldId id="267" r:id="rId16"/>
    <p:sldId id="381" r:id="rId17"/>
    <p:sldId id="269" r:id="rId18"/>
    <p:sldId id="272" r:id="rId19"/>
    <p:sldId id="273" r:id="rId20"/>
    <p:sldId id="274" r:id="rId21"/>
    <p:sldId id="276" r:id="rId22"/>
    <p:sldId id="360" r:id="rId23"/>
    <p:sldId id="361" r:id="rId24"/>
    <p:sldId id="363" r:id="rId25"/>
    <p:sldId id="362" r:id="rId26"/>
    <p:sldId id="280" r:id="rId27"/>
    <p:sldId id="279" r:id="rId28"/>
    <p:sldId id="367" r:id="rId29"/>
    <p:sldId id="368" r:id="rId30"/>
    <p:sldId id="369" r:id="rId31"/>
    <p:sldId id="370" r:id="rId32"/>
    <p:sldId id="284" r:id="rId33"/>
    <p:sldId id="377" r:id="rId34"/>
    <p:sldId id="365" r:id="rId35"/>
    <p:sldId id="270" r:id="rId36"/>
    <p:sldId id="285" r:id="rId37"/>
    <p:sldId id="282" r:id="rId38"/>
    <p:sldId id="287" r:id="rId39"/>
    <p:sldId id="288" r:id="rId40"/>
    <p:sldId id="290" r:id="rId41"/>
    <p:sldId id="292" r:id="rId42"/>
    <p:sldId id="293" r:id="rId43"/>
    <p:sldId id="348" r:id="rId44"/>
    <p:sldId id="281" r:id="rId45"/>
    <p:sldId id="297" r:id="rId46"/>
    <p:sldId id="299" r:id="rId47"/>
    <p:sldId id="301" r:id="rId48"/>
    <p:sldId id="352" r:id="rId49"/>
    <p:sldId id="354" r:id="rId50"/>
    <p:sldId id="355" r:id="rId51"/>
    <p:sldId id="339" r:id="rId52"/>
    <p:sldId id="319" r:id="rId53"/>
    <p:sldId id="321" r:id="rId54"/>
    <p:sldId id="384" r:id="rId55"/>
    <p:sldId id="385" r:id="rId56"/>
    <p:sldId id="386" r:id="rId57"/>
    <p:sldId id="388" r:id="rId58"/>
    <p:sldId id="442" r:id="rId59"/>
    <p:sldId id="387" r:id="rId60"/>
    <p:sldId id="389" r:id="rId61"/>
    <p:sldId id="393" r:id="rId62"/>
    <p:sldId id="333" r:id="rId63"/>
    <p:sldId id="306" r:id="rId64"/>
    <p:sldId id="307" r:id="rId65"/>
    <p:sldId id="308" r:id="rId66"/>
    <p:sldId id="309" r:id="rId67"/>
    <p:sldId id="310" r:id="rId68"/>
    <p:sldId id="311" r:id="rId69"/>
    <p:sldId id="425" r:id="rId70"/>
    <p:sldId id="444" r:id="rId71"/>
    <p:sldId id="439" r:id="rId72"/>
    <p:sldId id="303" r:id="rId73"/>
    <p:sldId id="412" r:id="rId74"/>
    <p:sldId id="413" r:id="rId75"/>
    <p:sldId id="414" r:id="rId76"/>
    <p:sldId id="416" r:id="rId77"/>
    <p:sldId id="417" r:id="rId78"/>
    <p:sldId id="418" r:id="rId79"/>
    <p:sldId id="312" r:id="rId80"/>
    <p:sldId id="304" r:id="rId81"/>
    <p:sldId id="426" r:id="rId82"/>
    <p:sldId id="430" r:id="rId83"/>
    <p:sldId id="427" r:id="rId84"/>
    <p:sldId id="428" r:id="rId85"/>
    <p:sldId id="429" r:id="rId86"/>
    <p:sldId id="345" r:id="rId87"/>
    <p:sldId id="314" r:id="rId88"/>
    <p:sldId id="315" r:id="rId89"/>
    <p:sldId id="316" r:id="rId90"/>
    <p:sldId id="317" r:id="rId91"/>
    <p:sldId id="323" r:id="rId92"/>
    <p:sldId id="324" r:id="rId93"/>
    <p:sldId id="325" r:id="rId94"/>
    <p:sldId id="326" r:id="rId95"/>
    <p:sldId id="327" r:id="rId96"/>
    <p:sldId id="313" r:id="rId97"/>
    <p:sldId id="328" r:id="rId98"/>
    <p:sldId id="329" r:id="rId99"/>
    <p:sldId id="330" r:id="rId100"/>
    <p:sldId id="331" r:id="rId101"/>
    <p:sldId id="358" r:id="rId102"/>
    <p:sldId id="382" r:id="rId103"/>
    <p:sldId id="434" r:id="rId104"/>
    <p:sldId id="435" r:id="rId105"/>
    <p:sldId id="390" r:id="rId106"/>
    <p:sldId id="391" r:id="rId107"/>
    <p:sldId id="332" r:id="rId108"/>
    <p:sldId id="392" r:id="rId109"/>
    <p:sldId id="305" r:id="rId110"/>
    <p:sldId id="440" r:id="rId111"/>
    <p:sldId id="302" r:id="rId112"/>
    <p:sldId id="420" r:id="rId113"/>
    <p:sldId id="421" r:id="rId114"/>
    <p:sldId id="422" r:id="rId115"/>
    <p:sldId id="423" r:id="rId116"/>
    <p:sldId id="424" r:id="rId117"/>
    <p:sldId id="397" r:id="rId118"/>
    <p:sldId id="438" r:id="rId119"/>
    <p:sldId id="411" r:id="rId120"/>
    <p:sldId id="404" r:id="rId121"/>
    <p:sldId id="405" r:id="rId122"/>
    <p:sldId id="406" r:id="rId123"/>
    <p:sldId id="407" r:id="rId124"/>
    <p:sldId id="408" r:id="rId125"/>
    <p:sldId id="409" r:id="rId126"/>
    <p:sldId id="289" r:id="rId127"/>
    <p:sldId id="399" r:id="rId128"/>
    <p:sldId id="257" r:id="rId129"/>
    <p:sldId id="259" r:id="rId130"/>
    <p:sldId id="400" r:id="rId131"/>
    <p:sldId id="441" r:id="rId132"/>
    <p:sldId id="401" r:id="rId133"/>
    <p:sldId id="402" r:id="rId134"/>
    <p:sldId id="263" r:id="rId135"/>
    <p:sldId id="403" r:id="rId136"/>
    <p:sldId id="437" r:id="rId137"/>
    <p:sldId id="264" r:id="rId138"/>
    <p:sldId id="431" r:id="rId139"/>
    <p:sldId id="436" r:id="rId1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3D1878-D22B-1D4F-AA6D-FDEDD797A1D7}">
          <p14:sldIdLst>
            <p14:sldId id="256"/>
          </p14:sldIdLst>
        </p14:section>
        <p14:section name="Chen ERD" id="{36FC1865-4DA7-2D44-9FE6-1DD4F939D3E6}">
          <p14:sldIdLst>
            <p14:sldId id="335"/>
            <p14:sldId id="258"/>
            <p14:sldId id="337"/>
            <p14:sldId id="260"/>
            <p14:sldId id="261"/>
            <p14:sldId id="338"/>
            <p14:sldId id="262"/>
            <p14:sldId id="265"/>
            <p14:sldId id="266"/>
            <p14:sldId id="359"/>
            <p14:sldId id="267"/>
            <p14:sldId id="381"/>
            <p14:sldId id="269"/>
            <p14:sldId id="272"/>
            <p14:sldId id="273"/>
            <p14:sldId id="274"/>
            <p14:sldId id="276"/>
            <p14:sldId id="360"/>
            <p14:sldId id="361"/>
            <p14:sldId id="363"/>
            <p14:sldId id="362"/>
            <p14:sldId id="280"/>
            <p14:sldId id="279"/>
            <p14:sldId id="367"/>
            <p14:sldId id="368"/>
            <p14:sldId id="369"/>
            <p14:sldId id="370"/>
            <p14:sldId id="284"/>
            <p14:sldId id="377"/>
            <p14:sldId id="365"/>
            <p14:sldId id="270"/>
            <p14:sldId id="285"/>
            <p14:sldId id="282"/>
            <p14:sldId id="287"/>
            <p14:sldId id="288"/>
            <p14:sldId id="290"/>
            <p14:sldId id="292"/>
            <p14:sldId id="293"/>
            <p14:sldId id="348"/>
            <p14:sldId id="281"/>
            <p14:sldId id="297"/>
            <p14:sldId id="299"/>
            <p14:sldId id="301"/>
            <p14:sldId id="352"/>
            <p14:sldId id="354"/>
            <p14:sldId id="355"/>
          </p14:sldIdLst>
        </p14:section>
        <p14:section name="ERD Footbal Example" id="{E106A965-399E-C24A-9E47-4DFFD954954C}">
          <p14:sldIdLst>
            <p14:sldId id="339"/>
            <p14:sldId id="319"/>
            <p14:sldId id="321"/>
            <p14:sldId id="384"/>
            <p14:sldId id="385"/>
            <p14:sldId id="386"/>
            <p14:sldId id="388"/>
            <p14:sldId id="442"/>
            <p14:sldId id="387"/>
            <p14:sldId id="389"/>
          </p14:sldIdLst>
        </p14:section>
        <p14:section name="Untitled Section" id="{3FC6B63E-610F-6D42-BA7B-760105159C8E}">
          <p14:sldIdLst>
            <p14:sldId id="393"/>
            <p14:sldId id="333"/>
          </p14:sldIdLst>
        </p14:section>
        <p14:section name="ER to Relational Schema" id="{B5C19E6E-0FDB-9943-BB60-20D40423D10E}">
          <p14:sldIdLst>
            <p14:sldId id="306"/>
            <p14:sldId id="307"/>
            <p14:sldId id="308"/>
            <p14:sldId id="309"/>
            <p14:sldId id="310"/>
            <p14:sldId id="311"/>
            <p14:sldId id="425"/>
            <p14:sldId id="444"/>
            <p14:sldId id="439"/>
            <p14:sldId id="303"/>
            <p14:sldId id="412"/>
            <p14:sldId id="413"/>
            <p14:sldId id="414"/>
            <p14:sldId id="416"/>
            <p14:sldId id="417"/>
          </p14:sldIdLst>
        </p14:section>
        <p14:section name="Improve" id="{1BED0275-CDD9-4A95-AE46-95E5B21BB4A0}">
          <p14:sldIdLst>
            <p14:sldId id="418"/>
            <p14:sldId id="312"/>
            <p14:sldId id="304"/>
            <p14:sldId id="426"/>
            <p14:sldId id="430"/>
            <p14:sldId id="427"/>
            <p14:sldId id="428"/>
            <p14:sldId id="429"/>
          </p14:sldIdLst>
        </p14:section>
        <p14:section name="Advanced ERD" id="{24B6AD81-072F-0A4C-8CCD-0FB3F970868F}">
          <p14:sldIdLst>
            <p14:sldId id="345"/>
            <p14:sldId id="314"/>
            <p14:sldId id="315"/>
            <p14:sldId id="316"/>
            <p14:sldId id="317"/>
            <p14:sldId id="323"/>
            <p14:sldId id="324"/>
            <p14:sldId id="325"/>
            <p14:sldId id="326"/>
            <p14:sldId id="327"/>
            <p14:sldId id="313"/>
            <p14:sldId id="328"/>
            <p14:sldId id="329"/>
            <p14:sldId id="330"/>
            <p14:sldId id="331"/>
            <p14:sldId id="358"/>
            <p14:sldId id="382"/>
            <p14:sldId id="434"/>
            <p14:sldId id="435"/>
            <p14:sldId id="390"/>
            <p14:sldId id="391"/>
            <p14:sldId id="332"/>
            <p14:sldId id="392"/>
          </p14:sldIdLst>
        </p14:section>
        <p14:section name="Mapping" id="{2058ED3E-F0B9-504B-82E4-8906D0A50672}">
          <p14:sldIdLst>
            <p14:sldId id="305"/>
            <p14:sldId id="440"/>
            <p14:sldId id="302"/>
            <p14:sldId id="420"/>
            <p14:sldId id="421"/>
            <p14:sldId id="422"/>
            <p14:sldId id="423"/>
            <p14:sldId id="424"/>
          </p14:sldIdLst>
        </p14:section>
        <p14:section name="Other Notations" id="{53222F3A-8620-1D4D-9345-9A93AF6F4A43}">
          <p14:sldIdLst>
            <p14:sldId id="397"/>
            <p14:sldId id="438"/>
          </p14:sldIdLst>
        </p14:section>
        <p14:section name="Examples" id="{12E968C7-93C8-5346-9202-A6C092127C16}">
          <p14:sldIdLst>
            <p14:sldId id="411"/>
            <p14:sldId id="404"/>
            <p14:sldId id="405"/>
            <p14:sldId id="406"/>
            <p14:sldId id="407"/>
            <p14:sldId id="408"/>
            <p14:sldId id="409"/>
            <p14:sldId id="289"/>
          </p14:sldIdLst>
        </p14:section>
        <p14:section name="ERD Problems" id="{C34CCC3A-C605-A641-AFC9-716D28F52BDB}">
          <p14:sldIdLst>
            <p14:sldId id="399"/>
            <p14:sldId id="257"/>
            <p14:sldId id="259"/>
            <p14:sldId id="400"/>
            <p14:sldId id="441"/>
            <p14:sldId id="401"/>
            <p14:sldId id="402"/>
            <p14:sldId id="263"/>
            <p14:sldId id="403"/>
            <p14:sldId id="437"/>
            <p14:sldId id="264"/>
            <p14:sldId id="431"/>
            <p14:sldId id="43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EDE7D-CEE1-6597-CBC9-341DC127F883}" v="89" dt="2026-09-17T21:36:29.045"/>
    <p1510:client id="{B5AA5B3D-2A25-5534-F279-1F28C7EB9A70}" v="92" dt="2026-09-16T22:54:01.4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notesMaster" Target="notesMasters/notesMaster1.xml"/><Relationship Id="rId14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4-09-26T21:38:20.307"/>
    </inkml:context>
    <inkml:brush xml:id="br0">
      <inkml:brushProperty name="width" value="0.05292" units="cm"/>
      <inkml:brushProperty name="height" value="0.05292" units="cm"/>
      <inkml:brushProperty name="color" value="#FF0000"/>
    </inkml:brush>
  </inkml:definitions>
  <inkml:trace contextRef="#ctx0" brushRef="#br0">17515 14517 0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3T21:51:24.340"/>
    </inkml:context>
    <inkml:brush xml:id="br0">
      <inkml:brushProperty name="width" value="0.05292" units="cm"/>
      <inkml:brushProperty name="height" value="0.05292" units="cm"/>
      <inkml:brushProperty name="color" value="#FF0000"/>
    </inkml:brush>
  </inkml:definitions>
  <inkml:trace contextRef="#ctx0" brushRef="#br0">23654 8318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B99DE-D43D-8F40-BB2B-C87FB37B3B64}"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8FB9FA-6C0A-B04C-8A7E-9DB303EFE20B}" type="slidenum">
              <a:rPr lang="en-US" smtClean="0"/>
              <a:t>‹#›</a:t>
            </a:fld>
            <a:endParaRPr lang="en-US"/>
          </a:p>
        </p:txBody>
      </p:sp>
    </p:spTree>
    <p:extLst>
      <p:ext uri="{BB962C8B-B14F-4D97-AF65-F5344CB8AC3E}">
        <p14:creationId xmlns:p14="http://schemas.microsoft.com/office/powerpoint/2010/main" val="1900490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E5FC4937-F54A-7D4B-BBFA-633C1A801FD1}" type="slidenum">
              <a:rPr lang="en-US">
                <a:solidFill>
                  <a:srgbClr val="000000"/>
                </a:solidFill>
              </a:rPr>
              <a:pPr/>
              <a:t>3</a:t>
            </a:fld>
            <a:endParaRPr lang="en-US">
              <a:solidFill>
                <a:srgbClr val="000000"/>
              </a:solidFill>
            </a:endParaRPr>
          </a:p>
        </p:txBody>
      </p:sp>
      <p:sp>
        <p:nvSpPr>
          <p:cNvPr id="18435" name="Rectangle 2"/>
          <p:cNvSpPr>
            <a:spLocks noGrp="1" noRot="1" noChangeAspect="1" noChangeArrowheads="1"/>
          </p:cNvSpPr>
          <p:nvPr>
            <p:ph type="sldImg"/>
          </p:nvPr>
        </p:nvSpPr>
        <p:spPr>
          <a:solidFill>
            <a:srgbClr val="FFFFFF"/>
          </a:solidFill>
          <a:ln/>
        </p:spPr>
      </p:sp>
      <p:sp>
        <p:nvSpPr>
          <p:cNvPr id="18436"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2123178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12</a:t>
            </a:fld>
            <a:endParaRPr lang="en-US"/>
          </a:p>
        </p:txBody>
      </p:sp>
    </p:spTree>
    <p:extLst>
      <p:ext uri="{BB962C8B-B14F-4D97-AF65-F5344CB8AC3E}">
        <p14:creationId xmlns:p14="http://schemas.microsoft.com/office/powerpoint/2010/main" val="362367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13</a:t>
            </a:fld>
            <a:endParaRPr lang="en-US"/>
          </a:p>
        </p:txBody>
      </p:sp>
    </p:spTree>
    <p:extLst>
      <p:ext uri="{BB962C8B-B14F-4D97-AF65-F5344CB8AC3E}">
        <p14:creationId xmlns:p14="http://schemas.microsoft.com/office/powerpoint/2010/main" val="3174506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442CBD16-D9F7-904D-A831-D5287B888F16}" type="slidenum">
              <a:rPr lang="en-US">
                <a:solidFill>
                  <a:srgbClr val="000000"/>
                </a:solidFill>
              </a:rPr>
              <a:pPr/>
              <a:t>15</a:t>
            </a:fld>
            <a:endParaRPr lang="en-US">
              <a:solidFill>
                <a:srgbClr val="000000"/>
              </a:solidFill>
            </a:endParaRPr>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37527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442CBD16-D9F7-904D-A831-D5287B888F16}" type="slidenum">
              <a:rPr lang="en-US">
                <a:solidFill>
                  <a:srgbClr val="000000"/>
                </a:solidFill>
              </a:rPr>
              <a:pPr/>
              <a:t>16</a:t>
            </a:fld>
            <a:endParaRPr lang="en-US">
              <a:solidFill>
                <a:srgbClr val="000000"/>
              </a:solidFill>
            </a:endParaRPr>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1785257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442CBD16-D9F7-904D-A831-D5287B888F16}" type="slidenum">
              <a:rPr lang="en-US">
                <a:solidFill>
                  <a:srgbClr val="000000"/>
                </a:solidFill>
              </a:rPr>
              <a:pPr/>
              <a:t>17</a:t>
            </a:fld>
            <a:endParaRPr lang="en-US">
              <a:solidFill>
                <a:srgbClr val="000000"/>
              </a:solidFill>
            </a:endParaRPr>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1060189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442CBD16-D9F7-904D-A831-D5287B888F16}" type="slidenum">
              <a:rPr lang="en-US">
                <a:solidFill>
                  <a:srgbClr val="000000"/>
                </a:solidFill>
              </a:rPr>
              <a:pPr/>
              <a:t>18</a:t>
            </a:fld>
            <a:endParaRPr lang="en-US">
              <a:solidFill>
                <a:srgbClr val="000000"/>
              </a:solidFill>
            </a:endParaRPr>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216235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1F16CECD-C88D-BF4A-96B9-BF49F7956A97}" type="slidenum">
              <a:rPr lang="en-US">
                <a:solidFill>
                  <a:srgbClr val="000000"/>
                </a:solidFill>
              </a:rPr>
              <a:pPr/>
              <a:t>29</a:t>
            </a:fld>
            <a:endParaRPr lang="en-US">
              <a:solidFill>
                <a:srgbClr val="000000"/>
              </a:solidFill>
            </a:endParaRPr>
          </a:p>
        </p:txBody>
      </p:sp>
      <p:sp>
        <p:nvSpPr>
          <p:cNvPr id="28675" name="Rectangle 2"/>
          <p:cNvSpPr>
            <a:spLocks noGrp="1" noRot="1" noChangeAspect="1" noChangeArrowheads="1"/>
          </p:cNvSpPr>
          <p:nvPr>
            <p:ph type="sldImg"/>
          </p:nvPr>
        </p:nvSpPr>
        <p:spPr>
          <a:solidFill>
            <a:srgbClr val="FFFFFF"/>
          </a:solidFill>
          <a:ln/>
        </p:spPr>
      </p:sp>
      <p:sp>
        <p:nvSpPr>
          <p:cNvPr id="28676"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1917041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D1A75D2-F6C3-BC46-928F-8C7D88A3BDF8}" type="slidenum">
              <a:rPr lang="en-US">
                <a:solidFill>
                  <a:srgbClr val="000000"/>
                </a:solidFill>
              </a:rPr>
              <a:pPr/>
              <a:t>32</a:t>
            </a:fld>
            <a:endParaRPr lang="en-US">
              <a:solidFill>
                <a:srgbClr val="000000"/>
              </a:solidFill>
            </a:endParaRPr>
          </a:p>
        </p:txBody>
      </p:sp>
      <p:sp>
        <p:nvSpPr>
          <p:cNvPr id="22531"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1565013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444796DE-7C73-AD41-B5F9-8F8FF625268A}" type="slidenum">
              <a:rPr lang="en-US">
                <a:solidFill>
                  <a:srgbClr val="000000"/>
                </a:solidFill>
              </a:rPr>
              <a:pPr/>
              <a:t>33</a:t>
            </a:fld>
            <a:endParaRPr lang="en-US">
              <a:solidFill>
                <a:srgbClr val="000000"/>
              </a:solidFill>
            </a:endParaRPr>
          </a:p>
        </p:txBody>
      </p:sp>
      <p:sp>
        <p:nvSpPr>
          <p:cNvPr id="30723" name="Rectangle 2"/>
          <p:cNvSpPr>
            <a:spLocks noGrp="1" noRot="1" noChangeAspect="1" noChangeArrowheads="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ln>
        </p:spPr>
        <p:txBody>
          <a:bodyPr/>
          <a:lstStyle/>
          <a:p>
            <a:r>
              <a:rPr lang="en-US"/>
              <a:t>a person may be employed by</a:t>
            </a:r>
            <a:r>
              <a:rPr lang="en-US" baseline="0"/>
              <a:t> at most one company</a:t>
            </a:r>
          </a:p>
          <a:p>
            <a:r>
              <a:rPr lang="en-US" baseline="0"/>
              <a:t>a product may be made by at most one company</a:t>
            </a:r>
            <a:endParaRPr lang="en-US"/>
          </a:p>
        </p:txBody>
      </p:sp>
    </p:spTree>
    <p:extLst>
      <p:ext uri="{BB962C8B-B14F-4D97-AF65-F5344CB8AC3E}">
        <p14:creationId xmlns:p14="http://schemas.microsoft.com/office/powerpoint/2010/main" val="740495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CC20D41D-840F-3841-AF8F-068F0F9D8C17}" type="slidenum">
              <a:rPr lang="en-US">
                <a:solidFill>
                  <a:srgbClr val="000000"/>
                </a:solidFill>
              </a:rPr>
              <a:pPr/>
              <a:t>35</a:t>
            </a:fld>
            <a:endParaRPr lang="en-US">
              <a:solidFill>
                <a:srgbClr val="000000"/>
              </a:solidFill>
            </a:endParaRPr>
          </a:p>
        </p:txBody>
      </p:sp>
      <p:sp>
        <p:nvSpPr>
          <p:cNvPr id="32771" name="Rectangle 2"/>
          <p:cNvSpPr>
            <a:spLocks noGrp="1" noRot="1" noChangeAspect="1" noChangeArrowheads="1"/>
          </p:cNvSpPr>
          <p:nvPr>
            <p:ph type="sldImg"/>
          </p:nvPr>
        </p:nvSpPr>
        <p:spPr>
          <a:solidFill>
            <a:srgbClr val="FFFFFF"/>
          </a:solidFill>
          <a:ln/>
        </p:spPr>
      </p:sp>
      <p:sp>
        <p:nvSpPr>
          <p:cNvPr id="32772" name="Rectangle 3"/>
          <p:cNvSpPr>
            <a:spLocks noGrp="1" noChangeArrowheads="1"/>
          </p:cNvSpPr>
          <p:nvPr>
            <p:ph type="body" idx="1"/>
          </p:nvPr>
        </p:nvSpPr>
        <p:spPr>
          <a:solidFill>
            <a:srgbClr val="FFFFFF"/>
          </a:solidFill>
          <a:ln>
            <a:solidFill>
              <a:srgbClr val="000000"/>
            </a:solidFill>
          </a:ln>
        </p:spPr>
        <p:txBody>
          <a:bodyPr/>
          <a:lstStyle/>
          <a:p>
            <a:r>
              <a:rPr lang="en-US"/>
              <a:t>need</a:t>
            </a:r>
            <a:r>
              <a:rPr lang="en-US" baseline="0"/>
              <a:t> to identify purchases by all three keys</a:t>
            </a:r>
            <a:endParaRPr lang="en-US"/>
          </a:p>
        </p:txBody>
      </p:sp>
    </p:spTree>
    <p:extLst>
      <p:ext uri="{BB962C8B-B14F-4D97-AF65-F5344CB8AC3E}">
        <p14:creationId xmlns:p14="http://schemas.microsoft.com/office/powerpoint/2010/main" val="1085804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0D27A20D-1383-6949-AA90-38ACFC9369F0}" type="slidenum">
              <a:rPr lang="en-US">
                <a:solidFill>
                  <a:srgbClr val="000000"/>
                </a:solidFill>
              </a:rPr>
              <a:pPr/>
              <a:t>36</a:t>
            </a:fld>
            <a:endParaRPr lang="en-US">
              <a:solidFill>
                <a:srgbClr val="000000"/>
              </a:solidFill>
            </a:endParaRPr>
          </a:p>
        </p:txBody>
      </p:sp>
      <p:sp>
        <p:nvSpPr>
          <p:cNvPr id="34819" name="Rectangle 2"/>
          <p:cNvSpPr>
            <a:spLocks noGrp="1" noRot="1" noChangeAspect="1" noChangeArrowheads="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ln>
        </p:spPr>
        <p:txBody>
          <a:bodyPr/>
          <a:lstStyle/>
          <a:p>
            <a:r>
              <a:rPr lang="en-US"/>
              <a:t>given a person, can determine what they bought and the store where they bought it</a:t>
            </a:r>
          </a:p>
        </p:txBody>
      </p:sp>
    </p:spTree>
    <p:extLst>
      <p:ext uri="{BB962C8B-B14F-4D97-AF65-F5344CB8AC3E}">
        <p14:creationId xmlns:p14="http://schemas.microsoft.com/office/powerpoint/2010/main" val="1104276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0D27A20D-1383-6949-AA90-38ACFC9369F0}" type="slidenum">
              <a:rPr lang="en-US">
                <a:solidFill>
                  <a:srgbClr val="000000"/>
                </a:solidFill>
              </a:rPr>
              <a:pPr/>
              <a:t>37</a:t>
            </a:fld>
            <a:endParaRPr lang="en-US">
              <a:solidFill>
                <a:srgbClr val="000000"/>
              </a:solidFill>
            </a:endParaRPr>
          </a:p>
        </p:txBody>
      </p:sp>
      <p:sp>
        <p:nvSpPr>
          <p:cNvPr id="34819" name="Rectangle 2"/>
          <p:cNvSpPr>
            <a:spLocks noGrp="1" noRot="1" noChangeAspect="1" noChangeArrowheads="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ln>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given a store, can determine who shopped</a:t>
            </a:r>
            <a:r>
              <a:rPr lang="en-US" baseline="0"/>
              <a:t> there </a:t>
            </a:r>
            <a:r>
              <a:rPr lang="en-US"/>
              <a:t>and the product they bought</a:t>
            </a:r>
          </a:p>
          <a:p>
            <a:r>
              <a:rPr lang="en-US"/>
              <a:t>each store sells one product and to one person, ever</a:t>
            </a:r>
          </a:p>
        </p:txBody>
      </p:sp>
    </p:spTree>
    <p:extLst>
      <p:ext uri="{BB962C8B-B14F-4D97-AF65-F5344CB8AC3E}">
        <p14:creationId xmlns:p14="http://schemas.microsoft.com/office/powerpoint/2010/main" val="23332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919E74C-75A4-F94C-9D3F-2B86319C9834}" type="slidenum">
              <a:rPr lang="en-US">
                <a:solidFill>
                  <a:srgbClr val="000000"/>
                </a:solidFill>
              </a:rPr>
              <a:pPr/>
              <a:t>38</a:t>
            </a:fld>
            <a:endParaRPr lang="en-US">
              <a:solidFill>
                <a:srgbClr val="000000"/>
              </a:solidFill>
            </a:endParaRPr>
          </a:p>
        </p:txBody>
      </p:sp>
      <p:sp>
        <p:nvSpPr>
          <p:cNvPr id="38915" name="Rectangle 2"/>
          <p:cNvSpPr>
            <a:spLocks noGrp="1" noRot="1" noChangeAspect="1" noChangeArrowheads="1"/>
          </p:cNvSpPr>
          <p:nvPr>
            <p:ph type="sldImg"/>
          </p:nvPr>
        </p:nvSpPr>
        <p:spPr>
          <a:solidFill>
            <a:srgbClr val="FFFFFF"/>
          </a:solidFill>
          <a:ln/>
        </p:spPr>
      </p:sp>
      <p:sp>
        <p:nvSpPr>
          <p:cNvPr id="38916" name="Rectangle 3"/>
          <p:cNvSpPr>
            <a:spLocks noGrp="1" noChangeArrowheads="1"/>
          </p:cNvSpPr>
          <p:nvPr>
            <p:ph type="body" idx="1"/>
          </p:nvPr>
        </p:nvSpPr>
        <p:spPr>
          <a:solidFill>
            <a:srgbClr val="FFFFFF"/>
          </a:solidFill>
          <a:ln>
            <a:solidFill>
              <a:srgbClr val="000000"/>
            </a:solidFill>
          </a:ln>
        </p:spPr>
        <p:txBody>
          <a:bodyPr/>
          <a:lstStyle/>
          <a:p>
            <a:r>
              <a:rPr lang="en-US"/>
              <a:t>our representation is not complete! trade-off between</a:t>
            </a:r>
            <a:r>
              <a:rPr lang="en-US" baseline="0"/>
              <a:t> complexity and abstraction</a:t>
            </a:r>
            <a:endParaRPr lang="en-US"/>
          </a:p>
        </p:txBody>
      </p:sp>
    </p:spTree>
    <p:extLst>
      <p:ext uri="{BB962C8B-B14F-4D97-AF65-F5344CB8AC3E}">
        <p14:creationId xmlns:p14="http://schemas.microsoft.com/office/powerpoint/2010/main" val="334858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product</a:t>
            </a:r>
            <a:r>
              <a:rPr lang="en-US" baseline="0"/>
              <a:t> buys only one product, then out</a:t>
            </a:r>
          </a:p>
          <a:p>
            <a:endParaRPr lang="en-US" baseline="0"/>
          </a:p>
          <a:p>
            <a:r>
              <a:rPr lang="en-US" baseline="0"/>
              <a:t>multiple presidents, also may want to require country to have president</a:t>
            </a:r>
            <a:endParaRPr lang="en-US"/>
          </a:p>
        </p:txBody>
      </p:sp>
      <p:sp>
        <p:nvSpPr>
          <p:cNvPr id="4" name="Slide Number Placeholder 3"/>
          <p:cNvSpPr>
            <a:spLocks noGrp="1"/>
          </p:cNvSpPr>
          <p:nvPr>
            <p:ph type="sldNum" sz="quarter" idx="10"/>
          </p:nvPr>
        </p:nvSpPr>
        <p:spPr/>
        <p:txBody>
          <a:bodyPr/>
          <a:lstStyle/>
          <a:p>
            <a:fld id="{6D8FB9FA-6C0A-B04C-8A7E-9DB303EFE20B}" type="slidenum">
              <a:rPr lang="en-US" smtClean="0"/>
              <a:t>42</a:t>
            </a:fld>
            <a:endParaRPr lang="en-US"/>
          </a:p>
        </p:txBody>
      </p:sp>
    </p:spTree>
    <p:extLst>
      <p:ext uri="{BB962C8B-B14F-4D97-AF65-F5344CB8AC3E}">
        <p14:creationId xmlns:p14="http://schemas.microsoft.com/office/powerpoint/2010/main" val="803945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maybe</a:t>
            </a:r>
            <a:r>
              <a:rPr lang="en-US" baseline="0"/>
              <a:t> people should be </a:t>
            </a:r>
            <a:r>
              <a:rPr lang="en-US" baseline="0" err="1"/>
              <a:t>entitites</a:t>
            </a:r>
            <a:r>
              <a:rPr lang="en-US" baseline="0"/>
              <a:t>!</a:t>
            </a:r>
            <a:endParaRPr lang="en-US"/>
          </a:p>
        </p:txBody>
      </p:sp>
      <p:sp>
        <p:nvSpPr>
          <p:cNvPr id="4" name="Slide Number Placeholder 3"/>
          <p:cNvSpPr>
            <a:spLocks noGrp="1"/>
          </p:cNvSpPr>
          <p:nvPr>
            <p:ph type="sldNum" sz="quarter" idx="10"/>
          </p:nvPr>
        </p:nvSpPr>
        <p:spPr/>
        <p:txBody>
          <a:bodyPr/>
          <a:lstStyle/>
          <a:p>
            <a:fld id="{6D8FB9FA-6C0A-B04C-8A7E-9DB303EFE20B}" type="slidenum">
              <a:rPr lang="en-US" smtClean="0"/>
              <a:t>43</a:t>
            </a:fld>
            <a:endParaRPr lang="en-US"/>
          </a:p>
        </p:txBody>
      </p:sp>
    </p:spTree>
    <p:extLst>
      <p:ext uri="{BB962C8B-B14F-4D97-AF65-F5344CB8AC3E}">
        <p14:creationId xmlns:p14="http://schemas.microsoft.com/office/powerpoint/2010/main" val="350127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dates don’t need to</a:t>
            </a:r>
            <a:r>
              <a:rPr lang="en-US" baseline="0"/>
              <a:t> be an entity by themselves</a:t>
            </a:r>
            <a:endParaRPr lang="en-US"/>
          </a:p>
        </p:txBody>
      </p:sp>
      <p:sp>
        <p:nvSpPr>
          <p:cNvPr id="4" name="Slide Number Placeholder 3"/>
          <p:cNvSpPr>
            <a:spLocks noGrp="1"/>
          </p:cNvSpPr>
          <p:nvPr>
            <p:ph type="sldNum" sz="quarter" idx="10"/>
          </p:nvPr>
        </p:nvSpPr>
        <p:spPr/>
        <p:txBody>
          <a:bodyPr/>
          <a:lstStyle/>
          <a:p>
            <a:fld id="{6D8FB9FA-6C0A-B04C-8A7E-9DB303EFE20B}" type="slidenum">
              <a:rPr lang="en-US" smtClean="0"/>
              <a:t>44</a:t>
            </a:fld>
            <a:endParaRPr lang="en-US"/>
          </a:p>
        </p:txBody>
      </p:sp>
    </p:spTree>
    <p:extLst>
      <p:ext uri="{BB962C8B-B14F-4D97-AF65-F5344CB8AC3E}">
        <p14:creationId xmlns:p14="http://schemas.microsoft.com/office/powerpoint/2010/main" val="945683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employee has</a:t>
            </a:r>
            <a:r>
              <a:rPr lang="en-US" baseline="0"/>
              <a:t> _exactly_ two addresses!</a:t>
            </a:r>
            <a:endParaRPr lang="en-US"/>
          </a:p>
        </p:txBody>
      </p:sp>
      <p:sp>
        <p:nvSpPr>
          <p:cNvPr id="4" name="Slide Number Placeholder 3"/>
          <p:cNvSpPr>
            <a:spLocks noGrp="1"/>
          </p:cNvSpPr>
          <p:nvPr>
            <p:ph type="sldNum" sz="quarter" idx="10"/>
          </p:nvPr>
        </p:nvSpPr>
        <p:spPr/>
        <p:txBody>
          <a:bodyPr/>
          <a:lstStyle/>
          <a:p>
            <a:fld id="{6D8FB9FA-6C0A-B04C-8A7E-9DB303EFE20B}" type="slidenum">
              <a:rPr lang="en-US" smtClean="0"/>
              <a:t>45</a:t>
            </a:fld>
            <a:endParaRPr lang="en-US"/>
          </a:p>
        </p:txBody>
      </p:sp>
    </p:spTree>
    <p:extLst>
      <p:ext uri="{BB962C8B-B14F-4D97-AF65-F5344CB8AC3E}">
        <p14:creationId xmlns:p14="http://schemas.microsoft.com/office/powerpoint/2010/main" val="6199947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64</a:t>
            </a:fld>
            <a:endParaRPr lang="en-US"/>
          </a:p>
        </p:txBody>
      </p:sp>
    </p:spTree>
    <p:extLst>
      <p:ext uri="{BB962C8B-B14F-4D97-AF65-F5344CB8AC3E}">
        <p14:creationId xmlns:p14="http://schemas.microsoft.com/office/powerpoint/2010/main" val="1651739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https://lucid.app/lucidchart/5fe930d0-f318-48fb-bf7d-afcdb68bb8df/edit?invitationId=inv_bd1fdd51-cc4e-4f0d-a9ba-b60c4288c492&amp;page=0_0#</a:t>
            </a:r>
          </a:p>
        </p:txBody>
      </p:sp>
      <p:sp>
        <p:nvSpPr>
          <p:cNvPr id="4" name="Slide Number Placeholder 3"/>
          <p:cNvSpPr>
            <a:spLocks noGrp="1"/>
          </p:cNvSpPr>
          <p:nvPr>
            <p:ph type="sldNum" sz="quarter" idx="5"/>
          </p:nvPr>
        </p:nvSpPr>
        <p:spPr/>
        <p:txBody>
          <a:bodyPr/>
          <a:lstStyle/>
          <a:p>
            <a:fld id="{6D8FB9FA-6C0A-B04C-8A7E-9DB303EFE20B}" type="slidenum">
              <a:rPr lang="en-US" smtClean="0"/>
              <a:t>66</a:t>
            </a:fld>
            <a:endParaRPr lang="en-US"/>
          </a:p>
        </p:txBody>
      </p:sp>
    </p:spTree>
    <p:extLst>
      <p:ext uri="{BB962C8B-B14F-4D97-AF65-F5344CB8AC3E}">
        <p14:creationId xmlns:p14="http://schemas.microsoft.com/office/powerpoint/2010/main" val="1160107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create table Employee(</a:t>
            </a:r>
          </a:p>
          <a:p>
            <a:endParaRPr lang="en-US"/>
          </a:p>
          <a:p>
            <a:endParaRPr lang="en-US"/>
          </a:p>
          <a:p>
            <a:r>
              <a:rPr lang="en-US" err="1"/>
              <a:t>ssn</a:t>
            </a:r>
            <a:r>
              <a:rPr lang="en-US"/>
              <a:t> primary key</a:t>
            </a:r>
          </a:p>
          <a:p>
            <a:r>
              <a:rPr lang="en-US" err="1"/>
              <a:t>bdate</a:t>
            </a:r>
            <a:endParaRPr lang="en-US"/>
          </a:p>
          <a:p>
            <a:r>
              <a:rPr lang="en-US" err="1"/>
              <a:t>fname</a:t>
            </a:r>
            <a:endParaRPr lang="en-US"/>
          </a:p>
          <a:p>
            <a:r>
              <a:rPr lang="en-US" err="1"/>
              <a:t>midint</a:t>
            </a:r>
            <a:endParaRPr lang="en-US"/>
          </a:p>
          <a:p>
            <a:r>
              <a:rPr lang="en-US" err="1"/>
              <a:t>laname</a:t>
            </a:r>
            <a:endParaRPr lang="en-US"/>
          </a:p>
          <a:p>
            <a:r>
              <a:rPr lang="en-US"/>
              <a:t>address</a:t>
            </a:r>
          </a:p>
          <a:p>
            <a:r>
              <a:rPr lang="en-US"/>
              <a:t>salary</a:t>
            </a:r>
          </a:p>
          <a:p>
            <a:r>
              <a:rPr lang="en-US"/>
              <a:t>gender</a:t>
            </a:r>
          </a:p>
          <a:p>
            <a:endParaRPr lang="en-US"/>
          </a:p>
          <a:p>
            <a:r>
              <a:rPr lang="en-US" err="1"/>
              <a:t>supervisor_ssn</a:t>
            </a:r>
            <a:endParaRPr lang="en-US"/>
          </a:p>
          <a:p>
            <a:r>
              <a:rPr lang="en-US" err="1"/>
              <a:t>dnumber</a:t>
            </a:r>
            <a:r>
              <a:rPr lang="en-US"/>
              <a:t> NOT NULL</a:t>
            </a:r>
          </a:p>
          <a:p>
            <a:endParaRPr lang="en-US"/>
          </a:p>
          <a:p>
            <a:r>
              <a:rPr lang="en-US"/>
              <a:t>foreign key </a:t>
            </a:r>
            <a:r>
              <a:rPr lang="en-US" err="1"/>
              <a:t>supervisor_ssn</a:t>
            </a:r>
            <a:r>
              <a:rPr lang="en-US"/>
              <a:t> references employee(</a:t>
            </a:r>
            <a:r>
              <a:rPr lang="en-US" err="1"/>
              <a:t>ssn</a:t>
            </a:r>
            <a:r>
              <a:rPr lang="en-US"/>
              <a:t>)</a:t>
            </a:r>
          </a:p>
          <a:p>
            <a:r>
              <a:rPr lang="en-US"/>
              <a:t>foreign key </a:t>
            </a:r>
            <a:r>
              <a:rPr lang="en-US" err="1"/>
              <a:t>dnumber</a:t>
            </a:r>
            <a:r>
              <a:rPr lang="en-US"/>
              <a:t> references Department(number)</a:t>
            </a:r>
          </a:p>
          <a:p>
            <a:r>
              <a:rPr lang="en-US"/>
              <a:t>);</a:t>
            </a:r>
          </a:p>
          <a:p>
            <a:endParaRPr lang="en-US"/>
          </a:p>
          <a:p>
            <a:r>
              <a:rPr lang="en-US"/>
              <a:t>CREATE TABLE Dept (</a:t>
            </a:r>
          </a:p>
          <a:p>
            <a:endParaRPr lang="en-US"/>
          </a:p>
          <a:p>
            <a:endParaRPr lang="en-US"/>
          </a:p>
          <a:p>
            <a:r>
              <a:rPr lang="en-US"/>
              <a:t>Name</a:t>
            </a:r>
          </a:p>
          <a:p>
            <a:r>
              <a:rPr lang="en-US"/>
              <a:t>Number primary key</a:t>
            </a:r>
          </a:p>
          <a:p>
            <a:r>
              <a:rPr lang="en-US" err="1"/>
              <a:t>mgrssn</a:t>
            </a:r>
            <a:r>
              <a:rPr lang="en-US"/>
              <a:t>  NOT NULL</a:t>
            </a:r>
          </a:p>
          <a:p>
            <a:r>
              <a:rPr lang="en-US" err="1"/>
              <a:t>mgr_sdate</a:t>
            </a:r>
            <a:endParaRPr lang="en-US"/>
          </a:p>
          <a:p>
            <a:endParaRPr lang="en-US"/>
          </a:p>
          <a:p>
            <a:r>
              <a:rPr lang="en-US"/>
              <a:t>foreign key </a:t>
            </a:r>
            <a:r>
              <a:rPr lang="en-US" err="1"/>
              <a:t>mgrss</a:t>
            </a:r>
            <a:r>
              <a:rPr lang="en-US"/>
              <a:t> REFERENCES Employee(</a:t>
            </a:r>
            <a:r>
              <a:rPr lang="en-US" err="1"/>
              <a:t>ssn</a:t>
            </a:r>
            <a:r>
              <a:rPr lang="en-US"/>
              <a:t>)</a:t>
            </a:r>
          </a:p>
          <a:p>
            <a:r>
              <a:rPr lang="en-US"/>
              <a:t>unique(</a:t>
            </a:r>
            <a:r>
              <a:rPr lang="en-US" err="1"/>
              <a:t>mgrssn</a:t>
            </a:r>
            <a:r>
              <a:rPr lang="en-US"/>
              <a:t> )</a:t>
            </a:r>
          </a:p>
          <a:p>
            <a:r>
              <a:rPr lang="en-US"/>
              <a:t>);</a:t>
            </a:r>
          </a:p>
          <a:p>
            <a:endParaRPr lang="en-US"/>
          </a:p>
          <a:p>
            <a:r>
              <a:rPr lang="en-US"/>
              <a:t>CREATE TABLE </a:t>
            </a:r>
            <a:r>
              <a:rPr lang="en-US" err="1"/>
              <a:t>Dept_location</a:t>
            </a:r>
            <a:r>
              <a:rPr lang="en-US"/>
              <a:t>(</a:t>
            </a:r>
          </a:p>
          <a:p>
            <a:r>
              <a:rPr lang="en-US" err="1"/>
              <a:t>dnumber</a:t>
            </a:r>
            <a:r>
              <a:rPr lang="en-US"/>
              <a:t> ,</a:t>
            </a:r>
          </a:p>
          <a:p>
            <a:r>
              <a:rPr lang="en-US"/>
              <a:t>location ,</a:t>
            </a:r>
          </a:p>
          <a:p>
            <a:r>
              <a:rPr lang="en-US"/>
              <a:t>Primary key (number, location),</a:t>
            </a:r>
          </a:p>
          <a:p>
            <a:r>
              <a:rPr lang="en-US"/>
              <a:t>foreign key </a:t>
            </a:r>
            <a:r>
              <a:rPr lang="en-US" err="1"/>
              <a:t>dnumber</a:t>
            </a:r>
            <a:r>
              <a:rPr lang="en-US"/>
              <a:t> references Dept(Number)</a:t>
            </a:r>
          </a:p>
          <a:p>
            <a:r>
              <a:rPr lang="en-US"/>
              <a:t>);</a:t>
            </a:r>
          </a:p>
          <a:p>
            <a:endParaRPr lang="en-US"/>
          </a:p>
          <a:p>
            <a:r>
              <a:rPr lang="en-US"/>
              <a:t>CREATE TABLE Project(</a:t>
            </a:r>
          </a:p>
          <a:p>
            <a:endParaRPr lang="en-US"/>
          </a:p>
          <a:p>
            <a:endParaRPr lang="en-US"/>
          </a:p>
          <a:p>
            <a:r>
              <a:rPr lang="en-US"/>
              <a:t>Name</a:t>
            </a:r>
          </a:p>
          <a:p>
            <a:r>
              <a:rPr lang="en-US"/>
              <a:t>Number primary key</a:t>
            </a:r>
          </a:p>
          <a:p>
            <a:r>
              <a:rPr lang="en-US"/>
              <a:t>Location</a:t>
            </a:r>
          </a:p>
          <a:p>
            <a:endParaRPr lang="en-US"/>
          </a:p>
          <a:p>
            <a:r>
              <a:rPr lang="en-US" err="1"/>
              <a:t>cdept</a:t>
            </a:r>
            <a:r>
              <a:rPr lang="en-US"/>
              <a:t> NOT NULL</a:t>
            </a:r>
          </a:p>
          <a:p>
            <a:endParaRPr lang="en-US"/>
          </a:p>
          <a:p>
            <a:r>
              <a:rPr lang="en-US"/>
              <a:t>foreign key </a:t>
            </a:r>
            <a:r>
              <a:rPr lang="en-US" err="1"/>
              <a:t>cdept</a:t>
            </a:r>
            <a:r>
              <a:rPr lang="en-US"/>
              <a:t> references Dept(number)</a:t>
            </a:r>
          </a:p>
          <a:p>
            <a:r>
              <a:rPr lang="en-US"/>
              <a:t>);</a:t>
            </a:r>
          </a:p>
          <a:p>
            <a:endParaRPr lang="en-US"/>
          </a:p>
          <a:p>
            <a:endParaRPr lang="en-US"/>
          </a:p>
          <a:p>
            <a:r>
              <a:rPr lang="en-US"/>
              <a:t>create TABLE </a:t>
            </a:r>
            <a:r>
              <a:rPr lang="en-US" err="1"/>
              <a:t>works_on</a:t>
            </a:r>
            <a:r>
              <a:rPr lang="en-US"/>
              <a:t>(</a:t>
            </a:r>
          </a:p>
          <a:p>
            <a:endParaRPr lang="en-US"/>
          </a:p>
          <a:p>
            <a:r>
              <a:rPr lang="en-US" err="1"/>
              <a:t>Pnumber</a:t>
            </a:r>
            <a:r>
              <a:rPr lang="en-US"/>
              <a:t> </a:t>
            </a:r>
          </a:p>
          <a:p>
            <a:r>
              <a:rPr lang="en-US" err="1"/>
              <a:t>essn</a:t>
            </a:r>
            <a:r>
              <a:rPr lang="en-US"/>
              <a:t> </a:t>
            </a:r>
          </a:p>
          <a:p>
            <a:r>
              <a:rPr lang="en-US"/>
              <a:t>hours</a:t>
            </a:r>
          </a:p>
          <a:p>
            <a:endParaRPr lang="en-US"/>
          </a:p>
          <a:p>
            <a:r>
              <a:rPr lang="en-US"/>
              <a:t>primary key (</a:t>
            </a:r>
            <a:r>
              <a:rPr lang="en-US" err="1"/>
              <a:t>pnumber</a:t>
            </a:r>
            <a:r>
              <a:rPr lang="en-US"/>
              <a:t>, </a:t>
            </a:r>
            <a:r>
              <a:rPr lang="en-US" err="1"/>
              <a:t>essn</a:t>
            </a:r>
            <a:r>
              <a:rPr lang="en-US"/>
              <a:t>),</a:t>
            </a:r>
          </a:p>
          <a:p>
            <a:r>
              <a:rPr lang="en-US" err="1"/>
              <a:t>foregin</a:t>
            </a:r>
            <a:r>
              <a:rPr lang="en-US"/>
              <a:t> key </a:t>
            </a:r>
            <a:r>
              <a:rPr lang="en-US" err="1"/>
              <a:t>pnumber</a:t>
            </a:r>
            <a:r>
              <a:rPr lang="en-US"/>
              <a:t> references Project(number),</a:t>
            </a:r>
          </a:p>
          <a:p>
            <a:r>
              <a:rPr lang="en-US"/>
              <a:t>foreign key </a:t>
            </a:r>
            <a:r>
              <a:rPr lang="en-US" err="1"/>
              <a:t>essn</a:t>
            </a:r>
            <a:r>
              <a:rPr lang="en-US"/>
              <a:t> references Employee(</a:t>
            </a:r>
            <a:r>
              <a:rPr lang="en-US" err="1"/>
              <a:t>ssn</a:t>
            </a:r>
            <a:r>
              <a:rPr lang="en-US"/>
              <a:t>)</a:t>
            </a:r>
          </a:p>
          <a:p>
            <a:endParaRPr lang="en-US"/>
          </a:p>
          <a:p>
            <a:r>
              <a:rPr lang="en-US"/>
              <a:t>);</a:t>
            </a:r>
          </a:p>
          <a:p>
            <a:endParaRPr lang="en-US"/>
          </a:p>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68</a:t>
            </a:fld>
            <a:endParaRPr lang="en-US"/>
          </a:p>
        </p:txBody>
      </p:sp>
    </p:spTree>
    <p:extLst>
      <p:ext uri="{BB962C8B-B14F-4D97-AF65-F5344CB8AC3E}">
        <p14:creationId xmlns:p14="http://schemas.microsoft.com/office/powerpoint/2010/main" val="433016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Move it before</a:t>
            </a:r>
          </a:p>
        </p:txBody>
      </p:sp>
      <p:sp>
        <p:nvSpPr>
          <p:cNvPr id="4" name="Slide Number Placeholder 3"/>
          <p:cNvSpPr>
            <a:spLocks noGrp="1"/>
          </p:cNvSpPr>
          <p:nvPr>
            <p:ph type="sldNum" sz="quarter" idx="5"/>
          </p:nvPr>
        </p:nvSpPr>
        <p:spPr/>
        <p:txBody>
          <a:bodyPr/>
          <a:lstStyle/>
          <a:p>
            <a:fld id="{6D8FB9FA-6C0A-B04C-8A7E-9DB303EFE20B}" type="slidenum">
              <a:rPr lang="en-US" smtClean="0"/>
              <a:t>93</a:t>
            </a:fld>
            <a:endParaRPr lang="en-US"/>
          </a:p>
        </p:txBody>
      </p:sp>
    </p:spTree>
    <p:extLst>
      <p:ext uri="{BB962C8B-B14F-4D97-AF65-F5344CB8AC3E}">
        <p14:creationId xmlns:p14="http://schemas.microsoft.com/office/powerpoint/2010/main" val="3542125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Make weight weak entity </a:t>
            </a:r>
          </a:p>
        </p:txBody>
      </p:sp>
      <p:sp>
        <p:nvSpPr>
          <p:cNvPr id="4" name="Slide Number Placeholder 3"/>
          <p:cNvSpPr>
            <a:spLocks noGrp="1"/>
          </p:cNvSpPr>
          <p:nvPr>
            <p:ph type="sldNum" sz="quarter" idx="5"/>
          </p:nvPr>
        </p:nvSpPr>
        <p:spPr/>
        <p:txBody>
          <a:bodyPr/>
          <a:lstStyle/>
          <a:p>
            <a:fld id="{7D9889AA-CD4B-5744-AE5A-36CF2BF65E37}" type="slidenum">
              <a:rPr lang="en-US" smtClean="0"/>
              <a:t>102</a:t>
            </a:fld>
            <a:endParaRPr lang="en-US"/>
          </a:p>
        </p:txBody>
      </p:sp>
    </p:spTree>
    <p:extLst>
      <p:ext uri="{BB962C8B-B14F-4D97-AF65-F5344CB8AC3E}">
        <p14:creationId xmlns:p14="http://schemas.microsoft.com/office/powerpoint/2010/main" val="3855725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Fix </a:t>
            </a:r>
            <a:r>
              <a:rPr lang="en-US" dirty="0" err="1">
                <a:ea typeface="Calibri"/>
                <a:cs typeface="Calibri"/>
              </a:rPr>
              <a:t>TEAM_Name</a:t>
            </a:r>
            <a:r>
              <a:rPr lang="en-US" dirty="0">
                <a:ea typeface="Calibri"/>
                <a:cs typeface="Calibri"/>
              </a:rPr>
              <a:t> to be dotted</a:t>
            </a:r>
          </a:p>
        </p:txBody>
      </p:sp>
      <p:sp>
        <p:nvSpPr>
          <p:cNvPr id="4" name="Slide Number Placeholder 3"/>
          <p:cNvSpPr>
            <a:spLocks noGrp="1"/>
          </p:cNvSpPr>
          <p:nvPr>
            <p:ph type="sldNum" sz="quarter" idx="5"/>
          </p:nvPr>
        </p:nvSpPr>
        <p:spPr/>
        <p:txBody>
          <a:bodyPr/>
          <a:lstStyle/>
          <a:p>
            <a:fld id="{6D8FB9FA-6C0A-B04C-8A7E-9DB303EFE20B}" type="slidenum">
              <a:rPr lang="en-US" smtClean="0"/>
              <a:t>105</a:t>
            </a:fld>
            <a:endParaRPr lang="en-US"/>
          </a:p>
        </p:txBody>
      </p:sp>
    </p:spTree>
    <p:extLst>
      <p:ext uri="{BB962C8B-B14F-4D97-AF65-F5344CB8AC3E}">
        <p14:creationId xmlns:p14="http://schemas.microsoft.com/office/powerpoint/2010/main" val="1427917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8-b and 8-c and 8-d</a:t>
            </a:r>
          </a:p>
        </p:txBody>
      </p:sp>
      <p:sp>
        <p:nvSpPr>
          <p:cNvPr id="4" name="Slide Number Placeholder 3"/>
          <p:cNvSpPr>
            <a:spLocks noGrp="1"/>
          </p:cNvSpPr>
          <p:nvPr>
            <p:ph type="sldNum" sz="quarter" idx="5"/>
          </p:nvPr>
        </p:nvSpPr>
        <p:spPr/>
        <p:txBody>
          <a:bodyPr/>
          <a:lstStyle/>
          <a:p>
            <a:fld id="{6D8FB9FA-6C0A-B04C-8A7E-9DB303EFE20B}" type="slidenum">
              <a:rPr lang="en-US" smtClean="0"/>
              <a:t>111</a:t>
            </a:fld>
            <a:endParaRPr lang="en-US"/>
          </a:p>
        </p:txBody>
      </p:sp>
    </p:spTree>
    <p:extLst>
      <p:ext uri="{BB962C8B-B14F-4D97-AF65-F5344CB8AC3E}">
        <p14:creationId xmlns:p14="http://schemas.microsoft.com/office/powerpoint/2010/main" val="4151462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Option 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owner(</a:t>
            </a:r>
            <a:r>
              <a:rPr lang="en-US" sz="1800" u="sng"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Company(</a:t>
            </a:r>
            <a:r>
              <a:rPr lang="en-US" sz="1800" u="sng" err="1">
                <a:effectLst/>
                <a:latin typeface="Calibri" panose="020F0502020204030204" pitchFamily="34" charset="0"/>
                <a:ea typeface="Calibri" panose="020F0502020204030204" pitchFamily="34" charset="0"/>
                <a:cs typeface="Times New Roman" panose="02020603050405020304" pitchFamily="18" charset="0"/>
              </a:rPr>
              <a:t>cname</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Bank(</a:t>
            </a:r>
            <a:r>
              <a:rPr lang="en-US" sz="1800" u="sng" err="1">
                <a:effectLst/>
                <a:latin typeface="Calibri" panose="020F0502020204030204" pitchFamily="34" charset="0"/>
                <a:ea typeface="Calibri" panose="020F0502020204030204" pitchFamily="34" charset="0"/>
                <a:cs typeface="Times New Roman" panose="02020603050405020304" pitchFamily="18" charset="0"/>
              </a:rPr>
              <a:t>bname</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Person(</a:t>
            </a:r>
            <a:r>
              <a:rPr lang="en-US" sz="1800" u="sng" err="1">
                <a:effectLst/>
                <a:latin typeface="Calibri" panose="020F0502020204030204" pitchFamily="34" charset="0"/>
                <a:ea typeface="Calibri" panose="020F0502020204030204" pitchFamily="34" charset="0"/>
                <a:cs typeface="Times New Roman" panose="02020603050405020304" pitchFamily="18" charset="0"/>
              </a:rPr>
              <a:t>ssn</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err="1">
                <a:effectLst/>
                <a:latin typeface="Calibri" panose="020F0502020204030204" pitchFamily="34" charset="0"/>
                <a:ea typeface="Calibri" panose="020F0502020204030204" pitchFamily="34" charset="0"/>
                <a:cs typeface="Times New Roman" panose="02020603050405020304" pitchFamily="18" charset="0"/>
              </a:rPr>
              <a:t>registered_vechile</a:t>
            </a:r>
            <a:r>
              <a:rPr lang="en-US" sz="1800">
                <a:effectLst/>
                <a:latin typeface="Calibri" panose="020F0502020204030204" pitchFamily="34" charset="0"/>
                <a:ea typeface="Calibri" panose="020F0502020204030204" pitchFamily="34" charset="0"/>
                <a:cs typeface="Times New Roman" panose="02020603050405020304" pitchFamily="18" charset="0"/>
              </a:rPr>
              <a:t>(</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platenumber</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car(</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style)</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trunk(</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tonnage)</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Owns(</a:t>
            </a:r>
            <a:r>
              <a:rPr lang="en-US" sz="1800" u="sng"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u="sng">
                <a:effectLst/>
                <a:latin typeface="Calibri" panose="020F0502020204030204" pitchFamily="34" charset="0"/>
                <a:ea typeface="Calibri" panose="020F0502020204030204" pitchFamily="34" charset="0"/>
                <a:cs typeface="Times New Roman" panose="02020603050405020304" pitchFamily="18" charset="0"/>
              </a:rPr>
              <a:t>, vid,</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purchase_date</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Option 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Company(</a:t>
            </a:r>
            <a:r>
              <a:rPr lang="en-US" sz="1800" u="sng" err="1">
                <a:effectLst/>
                <a:latin typeface="Calibri" panose="020F0502020204030204" pitchFamily="34" charset="0"/>
                <a:ea typeface="Calibri" panose="020F0502020204030204" pitchFamily="34" charset="0"/>
                <a:cs typeface="Times New Roman" panose="02020603050405020304" pitchFamily="18" charset="0"/>
              </a:rPr>
              <a:t>cname</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Bank(</a:t>
            </a:r>
            <a:r>
              <a:rPr lang="en-US" sz="1800" u="sng" err="1">
                <a:effectLst/>
                <a:latin typeface="Calibri" panose="020F0502020204030204" pitchFamily="34" charset="0"/>
                <a:ea typeface="Calibri" panose="020F0502020204030204" pitchFamily="34" charset="0"/>
                <a:cs typeface="Times New Roman" panose="02020603050405020304" pitchFamily="18" charset="0"/>
              </a:rPr>
              <a:t>bname</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Person(</a:t>
            </a:r>
            <a:r>
              <a:rPr lang="en-US" sz="1800" u="sng" err="1">
                <a:effectLst/>
                <a:latin typeface="Calibri" panose="020F0502020204030204" pitchFamily="34" charset="0"/>
                <a:ea typeface="Calibri" panose="020F0502020204030204" pitchFamily="34" charset="0"/>
                <a:cs typeface="Times New Roman" panose="02020603050405020304" pitchFamily="18" charset="0"/>
              </a:rPr>
              <a:t>ssn</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err="1">
                <a:effectLst/>
                <a:latin typeface="Calibri" panose="020F0502020204030204" pitchFamily="34" charset="0"/>
                <a:ea typeface="Calibri" panose="020F0502020204030204" pitchFamily="34" charset="0"/>
                <a:cs typeface="Times New Roman" panose="02020603050405020304" pitchFamily="18" charset="0"/>
              </a:rPr>
              <a:t>registered_vechile</a:t>
            </a:r>
            <a:r>
              <a:rPr lang="en-US" sz="1800">
                <a:effectLst/>
                <a:latin typeface="Calibri" panose="020F0502020204030204" pitchFamily="34" charset="0"/>
                <a:ea typeface="Calibri" panose="020F0502020204030204" pitchFamily="34" charset="0"/>
                <a:cs typeface="Times New Roman" panose="02020603050405020304" pitchFamily="18" charset="0"/>
              </a:rPr>
              <a:t>(</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platenumber</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car(</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style)</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trunk(</a:t>
            </a:r>
            <a:r>
              <a:rPr lang="en-US" sz="1800" u="sng">
                <a:effectLst/>
                <a:latin typeface="Calibri" panose="020F0502020204030204" pitchFamily="34" charset="0"/>
                <a:ea typeface="Calibri" panose="020F0502020204030204" pitchFamily="34" charset="0"/>
                <a:cs typeface="Times New Roman" panose="02020603050405020304" pitchFamily="18" charset="0"/>
              </a:rPr>
              <a:t>vid</a:t>
            </a:r>
            <a:r>
              <a:rPr lang="en-US" sz="1800">
                <a:effectLst/>
                <a:latin typeface="Calibri" panose="020F0502020204030204" pitchFamily="34" charset="0"/>
                <a:ea typeface="Calibri" panose="020F0502020204030204" pitchFamily="34" charset="0"/>
                <a:cs typeface="Times New Roman" panose="02020603050405020304" pitchFamily="18" charset="0"/>
              </a:rPr>
              <a:t>, tonnage)</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Owns(</a:t>
            </a:r>
            <a:r>
              <a:rPr lang="en-US" sz="1800" u="sng" err="1">
                <a:effectLst/>
                <a:latin typeface="Calibri" panose="020F0502020204030204" pitchFamily="34" charset="0"/>
                <a:ea typeface="Calibri" panose="020F0502020204030204" pitchFamily="34" charset="0"/>
                <a:cs typeface="Times New Roman" panose="02020603050405020304" pitchFamily="18" charset="0"/>
              </a:rPr>
              <a:t>owner_id</a:t>
            </a:r>
            <a:r>
              <a:rPr lang="en-US" sz="1800" u="sng">
                <a:effectLst/>
                <a:latin typeface="Calibri" panose="020F0502020204030204" pitchFamily="34" charset="0"/>
                <a:ea typeface="Calibri" panose="020F0502020204030204" pitchFamily="34" charset="0"/>
                <a:cs typeface="Times New Roman" panose="02020603050405020304" pitchFamily="18" charset="0"/>
              </a:rPr>
              <a:t>, vid,</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err="1">
                <a:effectLst/>
                <a:latin typeface="Calibri" panose="020F0502020204030204" pitchFamily="34" charset="0"/>
                <a:ea typeface="Calibri" panose="020F0502020204030204" pitchFamily="34" charset="0"/>
                <a:cs typeface="Times New Roman" panose="02020603050405020304" pitchFamily="18" charset="0"/>
              </a:rPr>
              <a:t>purchase_date</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 </a:t>
            </a:r>
          </a:p>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113</a:t>
            </a:fld>
            <a:endParaRPr lang="en-US"/>
          </a:p>
        </p:txBody>
      </p:sp>
    </p:spTree>
    <p:extLst>
      <p:ext uri="{BB962C8B-B14F-4D97-AF65-F5344CB8AC3E}">
        <p14:creationId xmlns:p14="http://schemas.microsoft.com/office/powerpoint/2010/main" val="2149068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 the example</a:t>
            </a:r>
          </a:p>
        </p:txBody>
      </p:sp>
      <p:sp>
        <p:nvSpPr>
          <p:cNvPr id="4" name="Slide Number Placeholder 3"/>
          <p:cNvSpPr>
            <a:spLocks noGrp="1"/>
          </p:cNvSpPr>
          <p:nvPr>
            <p:ph type="sldNum" sz="quarter" idx="5"/>
          </p:nvPr>
        </p:nvSpPr>
        <p:spPr/>
        <p:txBody>
          <a:bodyPr/>
          <a:lstStyle/>
          <a:p>
            <a:fld id="{6D8FB9FA-6C0A-B04C-8A7E-9DB303EFE20B}" type="slidenum">
              <a:rPr lang="en-US" smtClean="0"/>
              <a:t>123</a:t>
            </a:fld>
            <a:endParaRPr lang="en-US"/>
          </a:p>
        </p:txBody>
      </p:sp>
    </p:spTree>
    <p:extLst>
      <p:ext uri="{BB962C8B-B14F-4D97-AF65-F5344CB8AC3E}">
        <p14:creationId xmlns:p14="http://schemas.microsoft.com/office/powerpoint/2010/main" val="863190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C678DD"/>
                </a:solidFill>
              </a:rPr>
              <a:t>entity</a:t>
            </a:r>
            <a:r>
              <a:rPr lang="en-US">
                <a:solidFill>
                  <a:srgbClr val="D4D4D4"/>
                </a:solidFill>
              </a:rPr>
              <a:t> airplane{</a:t>
            </a:r>
            <a:endParaRPr lang="en-US"/>
          </a:p>
          <a:p>
            <a:r>
              <a:rPr lang="en-US" err="1">
                <a:solidFill>
                  <a:srgbClr val="D4D4D4"/>
                </a:solidFill>
              </a:rPr>
              <a:t>regNo</a:t>
            </a:r>
            <a:r>
              <a:rPr lang="en-US">
                <a:solidFill>
                  <a:srgbClr val="D4D4D4"/>
                </a:solidFill>
              </a:rPr>
              <a:t> </a:t>
            </a:r>
            <a:r>
              <a:rPr lang="en-US">
                <a:solidFill>
                  <a:srgbClr val="98C379"/>
                </a:solidFill>
              </a:rPr>
              <a:t>key</a:t>
            </a:r>
            <a:endParaRPr lang="en-US"/>
          </a:p>
          <a:p>
            <a:br>
              <a:rPr lang="en-US"/>
            </a:br>
            <a:br>
              <a:rPr lang="en-US"/>
            </a:br>
            <a:endParaRPr lang="en-US"/>
          </a:p>
          <a:p>
            <a:r>
              <a:rPr lang="en-US">
                <a:solidFill>
                  <a:srgbClr val="D4D4D4"/>
                </a:solidFill>
              </a:rPr>
              <a:t>}</a:t>
            </a:r>
            <a:endParaRPr lang="en-US"/>
          </a:p>
          <a:p>
            <a:r>
              <a:rPr lang="en-US">
                <a:solidFill>
                  <a:srgbClr val="C678DD"/>
                </a:solidFill>
              </a:rPr>
              <a:t>entity</a:t>
            </a:r>
            <a:r>
              <a:rPr lang="en-US">
                <a:solidFill>
                  <a:srgbClr val="D4D4D4"/>
                </a:solidFill>
              </a:rPr>
              <a:t> Model{</a:t>
            </a:r>
            <a:endParaRPr lang="en-US"/>
          </a:p>
          <a:p>
            <a:r>
              <a:rPr lang="en-US" err="1">
                <a:solidFill>
                  <a:srgbClr val="D4D4D4"/>
                </a:solidFill>
              </a:rPr>
              <a:t>modelNumber</a:t>
            </a:r>
            <a:r>
              <a:rPr lang="en-US">
                <a:solidFill>
                  <a:srgbClr val="D4D4D4"/>
                </a:solidFill>
              </a:rPr>
              <a:t> </a:t>
            </a:r>
            <a:r>
              <a:rPr lang="en-US">
                <a:solidFill>
                  <a:srgbClr val="98C379"/>
                </a:solidFill>
              </a:rPr>
              <a:t>key</a:t>
            </a:r>
            <a:endParaRPr lang="en-US"/>
          </a:p>
          <a:p>
            <a:r>
              <a:rPr lang="en-US">
                <a:solidFill>
                  <a:srgbClr val="D4D4D4"/>
                </a:solidFill>
              </a:rPr>
              <a:t>capacity</a:t>
            </a:r>
            <a:endParaRPr lang="en-US"/>
          </a:p>
          <a:p>
            <a:r>
              <a:rPr lang="en-US">
                <a:solidFill>
                  <a:srgbClr val="D4D4D4"/>
                </a:solidFill>
              </a:rPr>
              <a:t>weight</a:t>
            </a:r>
            <a:endParaRPr lang="en-US"/>
          </a:p>
          <a:p>
            <a:r>
              <a:rPr lang="en-US">
                <a:solidFill>
                  <a:srgbClr val="D4D4D4"/>
                </a:solidFill>
              </a:rPr>
              <a:t>}</a:t>
            </a:r>
            <a:endParaRPr lang="en-US"/>
          </a:p>
          <a:p>
            <a:br>
              <a:rPr lang="en-US"/>
            </a:br>
            <a:endParaRPr lang="en-US"/>
          </a:p>
          <a:p>
            <a:r>
              <a:rPr lang="en-US">
                <a:solidFill>
                  <a:srgbClr val="C678DD"/>
                </a:solidFill>
              </a:rPr>
              <a:t>relation</a:t>
            </a:r>
            <a:r>
              <a:rPr lang="en-US">
                <a:solidFill>
                  <a:srgbClr val="D4D4D4"/>
                </a:solidFill>
              </a:rPr>
              <a:t> </a:t>
            </a:r>
            <a:r>
              <a:rPr lang="en-US" err="1">
                <a:solidFill>
                  <a:srgbClr val="D4D4D4"/>
                </a:solidFill>
              </a:rPr>
              <a:t>modelof</a:t>
            </a:r>
            <a:r>
              <a:rPr lang="en-US">
                <a:solidFill>
                  <a:srgbClr val="D4D4D4"/>
                </a:solidFill>
              </a:rPr>
              <a:t> (airplane 1, Model)</a:t>
            </a:r>
            <a:endParaRPr lang="en-US"/>
          </a:p>
          <a:p>
            <a:br>
              <a:rPr lang="en-US"/>
            </a:br>
            <a:br>
              <a:rPr lang="en-US"/>
            </a:br>
            <a:endParaRPr lang="en-US"/>
          </a:p>
          <a:p>
            <a:r>
              <a:rPr lang="en-US">
                <a:solidFill>
                  <a:srgbClr val="C678DD"/>
                </a:solidFill>
              </a:rPr>
              <a:t>entity</a:t>
            </a:r>
            <a:r>
              <a:rPr lang="en-US">
                <a:solidFill>
                  <a:srgbClr val="D4D4D4"/>
                </a:solidFill>
              </a:rPr>
              <a:t> technician {</a:t>
            </a:r>
            <a:endParaRPr lang="en-US"/>
          </a:p>
          <a:p>
            <a:r>
              <a:rPr lang="en-US">
                <a:solidFill>
                  <a:srgbClr val="D4D4D4"/>
                </a:solidFill>
              </a:rPr>
              <a:t>name</a:t>
            </a:r>
            <a:endParaRPr lang="en-US"/>
          </a:p>
          <a:p>
            <a:r>
              <a:rPr lang="en-US" err="1">
                <a:solidFill>
                  <a:srgbClr val="D4D4D4"/>
                </a:solidFill>
              </a:rPr>
              <a:t>ssn</a:t>
            </a:r>
            <a:r>
              <a:rPr lang="en-US">
                <a:solidFill>
                  <a:srgbClr val="D4D4D4"/>
                </a:solidFill>
              </a:rPr>
              <a:t> </a:t>
            </a:r>
            <a:r>
              <a:rPr lang="en-US">
                <a:solidFill>
                  <a:srgbClr val="98C379"/>
                </a:solidFill>
              </a:rPr>
              <a:t>key</a:t>
            </a:r>
            <a:endParaRPr lang="en-US"/>
          </a:p>
          <a:p>
            <a:r>
              <a:rPr lang="en-US">
                <a:solidFill>
                  <a:srgbClr val="D4D4D4"/>
                </a:solidFill>
              </a:rPr>
              <a:t>address</a:t>
            </a:r>
            <a:endParaRPr lang="en-US"/>
          </a:p>
          <a:p>
            <a:r>
              <a:rPr lang="en-US" err="1">
                <a:solidFill>
                  <a:srgbClr val="D4D4D4"/>
                </a:solidFill>
              </a:rPr>
              <a:t>phonenumber</a:t>
            </a:r>
            <a:endParaRPr lang="en-US"/>
          </a:p>
          <a:p>
            <a:r>
              <a:rPr lang="en-US">
                <a:solidFill>
                  <a:srgbClr val="D4D4D4"/>
                </a:solidFill>
              </a:rPr>
              <a:t>salary</a:t>
            </a:r>
            <a:endParaRPr lang="en-US"/>
          </a:p>
          <a:p>
            <a:r>
              <a:rPr lang="en-US" err="1">
                <a:solidFill>
                  <a:srgbClr val="D4D4D4"/>
                </a:solidFill>
              </a:rPr>
              <a:t>union_memership</a:t>
            </a:r>
            <a:endParaRPr lang="en-US"/>
          </a:p>
          <a:p>
            <a:r>
              <a:rPr lang="en-US">
                <a:solidFill>
                  <a:srgbClr val="D4D4D4"/>
                </a:solidFill>
              </a:rPr>
              <a:t>} </a:t>
            </a:r>
            <a:endParaRPr lang="en-US"/>
          </a:p>
          <a:p>
            <a:br>
              <a:rPr lang="en-US"/>
            </a:br>
            <a:br>
              <a:rPr lang="en-US"/>
            </a:br>
            <a:endParaRPr lang="en-US"/>
          </a:p>
          <a:p>
            <a:r>
              <a:rPr lang="en-US">
                <a:solidFill>
                  <a:srgbClr val="C678DD"/>
                </a:solidFill>
              </a:rPr>
              <a:t>relation</a:t>
            </a:r>
            <a:r>
              <a:rPr lang="en-US">
                <a:solidFill>
                  <a:srgbClr val="D4D4D4"/>
                </a:solidFill>
              </a:rPr>
              <a:t> expert (technician, Model){}</a:t>
            </a:r>
            <a:endParaRPr lang="en-US"/>
          </a:p>
          <a:p>
            <a:br>
              <a:rPr lang="en-US"/>
            </a:br>
            <a:endParaRPr lang="en-US"/>
          </a:p>
          <a:p>
            <a:r>
              <a:rPr lang="en-US">
                <a:solidFill>
                  <a:srgbClr val="C678DD"/>
                </a:solidFill>
              </a:rPr>
              <a:t>entity</a:t>
            </a:r>
            <a:r>
              <a:rPr lang="en-US">
                <a:solidFill>
                  <a:srgbClr val="D4D4D4"/>
                </a:solidFill>
              </a:rPr>
              <a:t> </a:t>
            </a:r>
            <a:r>
              <a:rPr lang="en-US" err="1">
                <a:solidFill>
                  <a:srgbClr val="D4D4D4"/>
                </a:solidFill>
              </a:rPr>
              <a:t>TrafficController</a:t>
            </a:r>
            <a:r>
              <a:rPr lang="en-US">
                <a:solidFill>
                  <a:srgbClr val="D4D4D4"/>
                </a:solidFill>
              </a:rPr>
              <a:t>{</a:t>
            </a:r>
            <a:endParaRPr lang="en-US"/>
          </a:p>
          <a:p>
            <a:r>
              <a:rPr lang="en-US" err="1">
                <a:solidFill>
                  <a:srgbClr val="D4D4D4"/>
                </a:solidFill>
              </a:rPr>
              <a:t>ssn</a:t>
            </a:r>
            <a:r>
              <a:rPr lang="en-US">
                <a:solidFill>
                  <a:srgbClr val="D4D4D4"/>
                </a:solidFill>
              </a:rPr>
              <a:t> </a:t>
            </a:r>
            <a:r>
              <a:rPr lang="en-US">
                <a:solidFill>
                  <a:srgbClr val="98C379"/>
                </a:solidFill>
              </a:rPr>
              <a:t>key</a:t>
            </a:r>
            <a:endParaRPr lang="en-US"/>
          </a:p>
          <a:p>
            <a:r>
              <a:rPr lang="en-US" err="1">
                <a:solidFill>
                  <a:srgbClr val="D4D4D4"/>
                </a:solidFill>
              </a:rPr>
              <a:t>annual_medical_exam_date</a:t>
            </a:r>
            <a:endParaRPr lang="en-US"/>
          </a:p>
          <a:p>
            <a:r>
              <a:rPr lang="en-US" err="1">
                <a:solidFill>
                  <a:srgbClr val="D4D4D4"/>
                </a:solidFill>
              </a:rPr>
              <a:t>union_memership</a:t>
            </a:r>
            <a:endParaRPr lang="en-US"/>
          </a:p>
          <a:p>
            <a:r>
              <a:rPr lang="en-US">
                <a:solidFill>
                  <a:srgbClr val="D4D4D4"/>
                </a:solidFill>
              </a:rPr>
              <a:t>}</a:t>
            </a:r>
            <a:endParaRPr lang="en-US"/>
          </a:p>
          <a:p>
            <a:br>
              <a:rPr lang="en-US"/>
            </a:br>
            <a:endParaRPr lang="en-US"/>
          </a:p>
          <a:p>
            <a:r>
              <a:rPr lang="en-US">
                <a:solidFill>
                  <a:srgbClr val="C678DD"/>
                </a:solidFill>
              </a:rPr>
              <a:t>entity</a:t>
            </a:r>
            <a:r>
              <a:rPr lang="en-US">
                <a:solidFill>
                  <a:srgbClr val="D4D4D4"/>
                </a:solidFill>
              </a:rPr>
              <a:t> Test{</a:t>
            </a:r>
            <a:endParaRPr lang="en-US"/>
          </a:p>
          <a:p>
            <a:r>
              <a:rPr lang="en-US" err="1">
                <a:solidFill>
                  <a:srgbClr val="D4D4D4"/>
                </a:solidFill>
              </a:rPr>
              <a:t>FAA_test_no</a:t>
            </a:r>
            <a:r>
              <a:rPr lang="en-US">
                <a:solidFill>
                  <a:srgbClr val="D4D4D4"/>
                </a:solidFill>
              </a:rPr>
              <a:t> </a:t>
            </a:r>
            <a:r>
              <a:rPr lang="en-US">
                <a:solidFill>
                  <a:srgbClr val="98C379"/>
                </a:solidFill>
              </a:rPr>
              <a:t>key</a:t>
            </a:r>
            <a:endParaRPr lang="en-US"/>
          </a:p>
          <a:p>
            <a:r>
              <a:rPr lang="en-US" err="1">
                <a:solidFill>
                  <a:srgbClr val="D4D4D4"/>
                </a:solidFill>
              </a:rPr>
              <a:t>max_score</a:t>
            </a:r>
            <a:endParaRPr lang="en-US"/>
          </a:p>
          <a:p>
            <a:r>
              <a:rPr lang="en-US">
                <a:solidFill>
                  <a:srgbClr val="D4D4D4"/>
                </a:solidFill>
              </a:rPr>
              <a:t>name</a:t>
            </a:r>
            <a:endParaRPr lang="en-US"/>
          </a:p>
          <a:p>
            <a:br>
              <a:rPr lang="en-US"/>
            </a:br>
            <a:endParaRPr lang="en-US"/>
          </a:p>
          <a:p>
            <a:r>
              <a:rPr lang="en-US">
                <a:solidFill>
                  <a:srgbClr val="D4D4D4"/>
                </a:solidFill>
              </a:rPr>
              <a:t>}</a:t>
            </a:r>
            <a:endParaRPr lang="en-US"/>
          </a:p>
          <a:p>
            <a:br>
              <a:rPr lang="en-US"/>
            </a:br>
            <a:br>
              <a:rPr lang="en-US"/>
            </a:br>
            <a:endParaRPr lang="en-US"/>
          </a:p>
          <a:p>
            <a:r>
              <a:rPr lang="en-US">
                <a:solidFill>
                  <a:srgbClr val="C678DD"/>
                </a:solidFill>
              </a:rPr>
              <a:t>entity</a:t>
            </a:r>
            <a:r>
              <a:rPr lang="en-US">
                <a:solidFill>
                  <a:srgbClr val="D4D4D4"/>
                </a:solidFill>
              </a:rPr>
              <a:t> </a:t>
            </a:r>
            <a:r>
              <a:rPr lang="en-US" err="1">
                <a:solidFill>
                  <a:srgbClr val="D4D4D4"/>
                </a:solidFill>
              </a:rPr>
              <a:t>test_event</a:t>
            </a:r>
            <a:r>
              <a:rPr lang="en-US">
                <a:solidFill>
                  <a:srgbClr val="D4D4D4"/>
                </a:solidFill>
              </a:rPr>
              <a:t> </a:t>
            </a:r>
            <a:endParaRPr lang="en-US"/>
          </a:p>
          <a:p>
            <a:r>
              <a:rPr lang="en-US">
                <a:solidFill>
                  <a:srgbClr val="D4D4D4"/>
                </a:solidFill>
              </a:rPr>
              <a:t>{</a:t>
            </a:r>
            <a:endParaRPr lang="en-US"/>
          </a:p>
          <a:p>
            <a:r>
              <a:rPr lang="en-US" err="1">
                <a:solidFill>
                  <a:srgbClr val="D4D4D4"/>
                </a:solidFill>
              </a:rPr>
              <a:t>test_event_key</a:t>
            </a:r>
            <a:r>
              <a:rPr lang="en-US">
                <a:solidFill>
                  <a:srgbClr val="D4D4D4"/>
                </a:solidFill>
              </a:rPr>
              <a:t> </a:t>
            </a:r>
            <a:r>
              <a:rPr lang="en-US">
                <a:solidFill>
                  <a:srgbClr val="98C379"/>
                </a:solidFill>
              </a:rPr>
              <a:t>key</a:t>
            </a:r>
            <a:endParaRPr lang="en-US"/>
          </a:p>
          <a:p>
            <a:r>
              <a:rPr lang="en-US">
                <a:solidFill>
                  <a:srgbClr val="D4D4D4"/>
                </a:solidFill>
              </a:rPr>
              <a:t>date</a:t>
            </a:r>
            <a:endParaRPr lang="en-US"/>
          </a:p>
          <a:p>
            <a:r>
              <a:rPr lang="en-US">
                <a:solidFill>
                  <a:srgbClr val="D4D4D4"/>
                </a:solidFill>
              </a:rPr>
              <a:t>    score</a:t>
            </a:r>
            <a:endParaRPr lang="en-US"/>
          </a:p>
          <a:p>
            <a:r>
              <a:rPr lang="en-US">
                <a:solidFill>
                  <a:srgbClr val="D4D4D4"/>
                </a:solidFill>
              </a:rPr>
              <a:t> hours</a:t>
            </a:r>
            <a:endParaRPr lang="en-US"/>
          </a:p>
          <a:p>
            <a:r>
              <a:rPr lang="en-US">
                <a:solidFill>
                  <a:srgbClr val="D4D4D4"/>
                </a:solidFill>
              </a:rPr>
              <a:t>}</a:t>
            </a:r>
            <a:endParaRPr lang="en-US"/>
          </a:p>
          <a:p>
            <a:r>
              <a:rPr lang="en-US">
                <a:solidFill>
                  <a:srgbClr val="C678DD"/>
                </a:solidFill>
              </a:rPr>
              <a:t>relation</a:t>
            </a:r>
            <a:r>
              <a:rPr lang="en-US">
                <a:solidFill>
                  <a:srgbClr val="D4D4D4"/>
                </a:solidFill>
              </a:rPr>
              <a:t> tested(</a:t>
            </a:r>
            <a:r>
              <a:rPr lang="en-US" err="1">
                <a:solidFill>
                  <a:srgbClr val="D4D4D4"/>
                </a:solidFill>
              </a:rPr>
              <a:t>test_event</a:t>
            </a:r>
            <a:r>
              <a:rPr lang="en-US">
                <a:solidFill>
                  <a:srgbClr val="D4D4D4"/>
                </a:solidFill>
              </a:rPr>
              <a:t> 1, airplane)</a:t>
            </a:r>
            <a:endParaRPr lang="en-US"/>
          </a:p>
          <a:p>
            <a:r>
              <a:rPr lang="en-US">
                <a:solidFill>
                  <a:srgbClr val="C678DD"/>
                </a:solidFill>
              </a:rPr>
              <a:t>relation</a:t>
            </a:r>
            <a:r>
              <a:rPr lang="en-US">
                <a:solidFill>
                  <a:srgbClr val="D4D4D4"/>
                </a:solidFill>
              </a:rPr>
              <a:t> </a:t>
            </a:r>
            <a:r>
              <a:rPr lang="en-US" err="1">
                <a:solidFill>
                  <a:srgbClr val="D4D4D4"/>
                </a:solidFill>
              </a:rPr>
              <a:t>typeof</a:t>
            </a:r>
            <a:r>
              <a:rPr lang="en-US">
                <a:solidFill>
                  <a:srgbClr val="D4D4D4"/>
                </a:solidFill>
              </a:rPr>
              <a:t>(</a:t>
            </a:r>
            <a:r>
              <a:rPr lang="en-US" err="1">
                <a:solidFill>
                  <a:srgbClr val="D4D4D4"/>
                </a:solidFill>
              </a:rPr>
              <a:t>test_event</a:t>
            </a:r>
            <a:r>
              <a:rPr lang="en-US">
                <a:solidFill>
                  <a:srgbClr val="D4D4D4"/>
                </a:solidFill>
              </a:rPr>
              <a:t> 1, Test)</a:t>
            </a:r>
            <a:endParaRPr lang="en-US"/>
          </a:p>
          <a:p>
            <a:r>
              <a:rPr lang="en-US">
                <a:solidFill>
                  <a:srgbClr val="C678DD"/>
                </a:solidFill>
              </a:rPr>
              <a:t>relation</a:t>
            </a:r>
            <a:r>
              <a:rPr lang="en-US">
                <a:solidFill>
                  <a:srgbClr val="D4D4D4"/>
                </a:solidFill>
              </a:rPr>
              <a:t> tests(</a:t>
            </a:r>
            <a:r>
              <a:rPr lang="en-US" err="1">
                <a:solidFill>
                  <a:srgbClr val="D4D4D4"/>
                </a:solidFill>
              </a:rPr>
              <a:t>test_event</a:t>
            </a:r>
            <a:r>
              <a:rPr lang="en-US">
                <a:solidFill>
                  <a:srgbClr val="D4D4D4"/>
                </a:solidFill>
              </a:rPr>
              <a:t> 1, technician)</a:t>
            </a:r>
            <a:endParaRPr lang="en-US"/>
          </a:p>
          <a:p>
            <a:br>
              <a:rPr lang="en-US"/>
            </a:br>
            <a:br>
              <a:rPr lang="en-US"/>
            </a:br>
            <a:br>
              <a:rPr lang="en-US"/>
            </a:b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6D8FB9FA-6C0A-B04C-8A7E-9DB303EFE20B}" type="slidenum">
              <a:rPr lang="en-US" smtClean="0"/>
              <a:t>128</a:t>
            </a:fld>
            <a:endParaRPr lang="en-US"/>
          </a:p>
        </p:txBody>
      </p:sp>
    </p:spTree>
    <p:extLst>
      <p:ext uri="{BB962C8B-B14F-4D97-AF65-F5344CB8AC3E}">
        <p14:creationId xmlns:p14="http://schemas.microsoft.com/office/powerpoint/2010/main" val="30061751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digraph </a:t>
            </a:r>
            <a:r>
              <a:rPr lang="en-US" err="1"/>
              <a:t>BankER</a:t>
            </a:r>
            <a:r>
              <a:rPr lang="en-US"/>
              <a:t> {</a:t>
            </a:r>
          </a:p>
          <a:p>
            <a:r>
              <a:rPr lang="en-US"/>
              <a:t>  // Entity style</a:t>
            </a:r>
          </a:p>
          <a:p>
            <a:r>
              <a:rPr lang="en-US"/>
              <a:t>  node [shape=box,  </a:t>
            </a:r>
            <a:r>
              <a:rPr lang="en-US" err="1"/>
              <a:t>fontcolor</a:t>
            </a:r>
            <a:r>
              <a:rPr lang="en-US"/>
              <a:t>=black, </a:t>
            </a:r>
            <a:r>
              <a:rPr lang="en-US" err="1"/>
              <a:t>fontsize</a:t>
            </a:r>
            <a:r>
              <a:rPr lang="en-US"/>
              <a:t>=12];</a:t>
            </a:r>
          </a:p>
          <a:p>
            <a:endParaRPr lang="en-US"/>
          </a:p>
          <a:p>
            <a:r>
              <a:rPr lang="en-US"/>
              <a:t>  // Entities</a:t>
            </a:r>
          </a:p>
          <a:p>
            <a:r>
              <a:rPr lang="en-US"/>
              <a:t>  BANK [label="BANK", </a:t>
            </a:r>
            <a:r>
              <a:rPr lang="en-US" err="1"/>
              <a:t>penwidth</a:t>
            </a:r>
            <a:r>
              <a:rPr lang="en-US"/>
              <a:t>=1];</a:t>
            </a:r>
          </a:p>
          <a:p>
            <a:r>
              <a:rPr lang="en-US"/>
              <a:t>  BRANCHES [label="BRANCHES", shape=diamond];</a:t>
            </a:r>
          </a:p>
          <a:p>
            <a:r>
              <a:rPr lang="en-US"/>
              <a:t>  BANK_BRANCH [label="BANK_BRANCH", </a:t>
            </a:r>
            <a:r>
              <a:rPr lang="en-US" err="1"/>
              <a:t>penwidth</a:t>
            </a:r>
            <a:r>
              <a:rPr lang="en-US"/>
              <a:t>=3];</a:t>
            </a:r>
          </a:p>
          <a:p>
            <a:r>
              <a:rPr lang="en-US"/>
              <a:t>  ACCTS [label="ACCTS", shape=diamond];</a:t>
            </a:r>
          </a:p>
          <a:p>
            <a:r>
              <a:rPr lang="en-US"/>
              <a:t>  ACCOUNT [label="ACCOUNT"];</a:t>
            </a:r>
          </a:p>
          <a:p>
            <a:r>
              <a:rPr lang="en-US"/>
              <a:t>  LOANS [label="LOANS", shape=diamond];</a:t>
            </a:r>
          </a:p>
          <a:p>
            <a:r>
              <a:rPr lang="en-US"/>
              <a:t>  LOAN [label="LOAN"];</a:t>
            </a:r>
          </a:p>
          <a:p>
            <a:r>
              <a:rPr lang="en-US"/>
              <a:t>  CUSTOMER [label="CUSTOMER"];</a:t>
            </a:r>
          </a:p>
          <a:p>
            <a:r>
              <a:rPr lang="en-US"/>
              <a:t>  A_C [label="A_C", shape=diamond];</a:t>
            </a:r>
          </a:p>
          <a:p>
            <a:r>
              <a:rPr lang="en-US"/>
              <a:t>  L_C [label="L_C", shape=diamond];</a:t>
            </a:r>
          </a:p>
          <a:p>
            <a:endParaRPr lang="en-US"/>
          </a:p>
          <a:p>
            <a:r>
              <a:rPr lang="en-US"/>
              <a:t>  // Attributes (ellipses)</a:t>
            </a:r>
          </a:p>
          <a:p>
            <a:r>
              <a:rPr lang="en-US"/>
              <a:t>  BANK_CODE [label="Code", shape=ellipse];</a:t>
            </a:r>
          </a:p>
          <a:p>
            <a:r>
              <a:rPr lang="en-US"/>
              <a:t>  BANK_NAME [label="Name", shape=ellipse];</a:t>
            </a:r>
          </a:p>
          <a:p>
            <a:r>
              <a:rPr lang="en-US"/>
              <a:t>  BANK_ADDR [label="</a:t>
            </a:r>
            <a:r>
              <a:rPr lang="en-US" err="1"/>
              <a:t>Addr</a:t>
            </a:r>
            <a:r>
              <a:rPr lang="en-US"/>
              <a:t>", shape=ellipse];</a:t>
            </a:r>
          </a:p>
          <a:p>
            <a:endParaRPr lang="en-US"/>
          </a:p>
          <a:p>
            <a:r>
              <a:rPr lang="en-US"/>
              <a:t>  BRANCH_NO [label="</a:t>
            </a:r>
            <a:r>
              <a:rPr lang="en-US" err="1"/>
              <a:t>Branch_no</a:t>
            </a:r>
            <a:r>
              <a:rPr lang="en-US"/>
              <a:t>", shape=ellipse];</a:t>
            </a:r>
          </a:p>
          <a:p>
            <a:r>
              <a:rPr lang="en-US"/>
              <a:t>  BRANCH_ADDR [label="</a:t>
            </a:r>
            <a:r>
              <a:rPr lang="en-US" err="1"/>
              <a:t>Addr</a:t>
            </a:r>
            <a:r>
              <a:rPr lang="en-US"/>
              <a:t>", shape=ellipse];</a:t>
            </a:r>
          </a:p>
          <a:p>
            <a:endParaRPr lang="en-US"/>
          </a:p>
          <a:p>
            <a:r>
              <a:rPr lang="en-US"/>
              <a:t>  ACCT_NO [label="</a:t>
            </a:r>
            <a:r>
              <a:rPr lang="en-US" err="1"/>
              <a:t>Acct_no</a:t>
            </a:r>
            <a:r>
              <a:rPr lang="en-US"/>
              <a:t>", shape=ellipse];</a:t>
            </a:r>
          </a:p>
          <a:p>
            <a:r>
              <a:rPr lang="en-US"/>
              <a:t>  BALANCE [label="Balance", shape=ellipse];</a:t>
            </a:r>
          </a:p>
          <a:p>
            <a:endParaRPr lang="en-US"/>
          </a:p>
          <a:p>
            <a:r>
              <a:rPr lang="en-US"/>
              <a:t>  LOAN_NO [label="</a:t>
            </a:r>
            <a:r>
              <a:rPr lang="en-US" err="1"/>
              <a:t>Loan_no</a:t>
            </a:r>
            <a:r>
              <a:rPr lang="en-US"/>
              <a:t>", shape=ellipse];</a:t>
            </a:r>
          </a:p>
          <a:p>
            <a:r>
              <a:rPr lang="en-US"/>
              <a:t>  AMOUNT [label="Amount", shape=ellipse];</a:t>
            </a:r>
          </a:p>
          <a:p>
            <a:endParaRPr lang="en-US"/>
          </a:p>
          <a:p>
            <a:r>
              <a:rPr lang="en-US"/>
              <a:t>  ACCT_TYPE [label="Type", shape=ellipse];</a:t>
            </a:r>
          </a:p>
          <a:p>
            <a:r>
              <a:rPr lang="en-US"/>
              <a:t>  LOAN_TYPE [label="Type", shape=ellipse];</a:t>
            </a:r>
          </a:p>
          <a:p>
            <a:endParaRPr lang="en-US"/>
          </a:p>
          <a:p>
            <a:r>
              <a:rPr lang="en-US"/>
              <a:t>  CUSTOMER_SSN [label="</a:t>
            </a:r>
            <a:r>
              <a:rPr lang="en-US" err="1"/>
              <a:t>Ssn</a:t>
            </a:r>
            <a:r>
              <a:rPr lang="en-US"/>
              <a:t>", shape=ellipse];</a:t>
            </a:r>
          </a:p>
          <a:p>
            <a:r>
              <a:rPr lang="en-US"/>
              <a:t>  CUSTOMER_NAME [label="Name", shape=ellipse];</a:t>
            </a:r>
          </a:p>
          <a:p>
            <a:r>
              <a:rPr lang="en-US"/>
              <a:t>  CUSTOMER_PHONE [label="Phone", shape=ellipse];</a:t>
            </a:r>
          </a:p>
          <a:p>
            <a:r>
              <a:rPr lang="en-US"/>
              <a:t>  CUSTOMER_ADDR [label="</a:t>
            </a:r>
            <a:r>
              <a:rPr lang="en-US" err="1"/>
              <a:t>Addr</a:t>
            </a:r>
            <a:r>
              <a:rPr lang="en-US"/>
              <a:t>", shape=ellipse];</a:t>
            </a:r>
          </a:p>
          <a:p>
            <a:endParaRPr lang="en-US"/>
          </a:p>
          <a:p>
            <a:r>
              <a:rPr lang="en-US"/>
              <a:t>  // Relationships</a:t>
            </a:r>
          </a:p>
          <a:p>
            <a:r>
              <a:rPr lang="en-US"/>
              <a:t>  BANK -&gt; BANK_CODE [</a:t>
            </a:r>
            <a:r>
              <a:rPr lang="en-US" err="1"/>
              <a:t>dir</a:t>
            </a:r>
            <a:r>
              <a:rPr lang="en-US"/>
              <a:t>="none"];</a:t>
            </a:r>
          </a:p>
          <a:p>
            <a:r>
              <a:rPr lang="en-US"/>
              <a:t>  BANK -&gt; BANK_NAME [</a:t>
            </a:r>
            <a:r>
              <a:rPr lang="en-US" err="1"/>
              <a:t>dir</a:t>
            </a:r>
            <a:r>
              <a:rPr lang="en-US"/>
              <a:t>="none"];</a:t>
            </a:r>
          </a:p>
          <a:p>
            <a:r>
              <a:rPr lang="en-US"/>
              <a:t>  BANK -&gt; BANK_ADDR [</a:t>
            </a:r>
            <a:r>
              <a:rPr lang="en-US" err="1"/>
              <a:t>dir</a:t>
            </a:r>
            <a:r>
              <a:rPr lang="en-US"/>
              <a:t>="none"];</a:t>
            </a:r>
          </a:p>
          <a:p>
            <a:endParaRPr lang="en-US"/>
          </a:p>
          <a:p>
            <a:r>
              <a:rPr lang="en-US"/>
              <a:t>  BANK_BRANCH -&gt; BRANCH_NO [</a:t>
            </a:r>
            <a:r>
              <a:rPr lang="en-US" err="1"/>
              <a:t>dir</a:t>
            </a:r>
            <a:r>
              <a:rPr lang="en-US"/>
              <a:t>="none"];</a:t>
            </a:r>
          </a:p>
          <a:p>
            <a:r>
              <a:rPr lang="en-US"/>
              <a:t>  BANK_BRANCH -&gt; BRANCH_ADDR [</a:t>
            </a:r>
            <a:r>
              <a:rPr lang="en-US" err="1"/>
              <a:t>dir</a:t>
            </a:r>
            <a:r>
              <a:rPr lang="en-US"/>
              <a:t>="none"];</a:t>
            </a:r>
          </a:p>
          <a:p>
            <a:endParaRPr lang="en-US"/>
          </a:p>
          <a:p>
            <a:r>
              <a:rPr lang="en-US"/>
              <a:t>  ACCOUNT -&gt; ACCT_NO [</a:t>
            </a:r>
            <a:r>
              <a:rPr lang="en-US" err="1"/>
              <a:t>dir</a:t>
            </a:r>
            <a:r>
              <a:rPr lang="en-US"/>
              <a:t>="none"];</a:t>
            </a:r>
          </a:p>
          <a:p>
            <a:r>
              <a:rPr lang="en-US"/>
              <a:t>  ACCOUNT -&gt; BALANCE [</a:t>
            </a:r>
            <a:r>
              <a:rPr lang="en-US" err="1"/>
              <a:t>dir</a:t>
            </a:r>
            <a:r>
              <a:rPr lang="en-US"/>
              <a:t>="none"];</a:t>
            </a:r>
          </a:p>
          <a:p>
            <a:r>
              <a:rPr lang="en-US"/>
              <a:t>  ACCOUNT -&gt; ACCT_TYPE [</a:t>
            </a:r>
            <a:r>
              <a:rPr lang="en-US" err="1"/>
              <a:t>dir</a:t>
            </a:r>
            <a:r>
              <a:rPr lang="en-US"/>
              <a:t>="none"];</a:t>
            </a:r>
          </a:p>
          <a:p>
            <a:endParaRPr lang="en-US"/>
          </a:p>
          <a:p>
            <a:r>
              <a:rPr lang="en-US"/>
              <a:t>  LOAN -&gt; LOAN_NO [</a:t>
            </a:r>
            <a:r>
              <a:rPr lang="en-US" err="1"/>
              <a:t>dir</a:t>
            </a:r>
            <a:r>
              <a:rPr lang="en-US"/>
              <a:t>="none"];</a:t>
            </a:r>
          </a:p>
          <a:p>
            <a:r>
              <a:rPr lang="en-US"/>
              <a:t>  LOAN -&gt; AMOUNT [</a:t>
            </a:r>
            <a:r>
              <a:rPr lang="en-US" err="1"/>
              <a:t>dir</a:t>
            </a:r>
            <a:r>
              <a:rPr lang="en-US"/>
              <a:t>="none"];</a:t>
            </a:r>
          </a:p>
          <a:p>
            <a:r>
              <a:rPr lang="en-US"/>
              <a:t>  LOAN -&gt; LOAN_TYPE [</a:t>
            </a:r>
            <a:r>
              <a:rPr lang="en-US" err="1"/>
              <a:t>dir</a:t>
            </a:r>
            <a:r>
              <a:rPr lang="en-US"/>
              <a:t>="none"];</a:t>
            </a:r>
          </a:p>
          <a:p>
            <a:endParaRPr lang="en-US"/>
          </a:p>
          <a:p>
            <a:r>
              <a:rPr lang="en-US"/>
              <a:t>  CUSTOMER -&gt; CUSTOMER_SSN [</a:t>
            </a:r>
            <a:r>
              <a:rPr lang="en-US" err="1"/>
              <a:t>dir</a:t>
            </a:r>
            <a:r>
              <a:rPr lang="en-US"/>
              <a:t>="none"];</a:t>
            </a:r>
          </a:p>
          <a:p>
            <a:r>
              <a:rPr lang="en-US"/>
              <a:t>  CUSTOMER -&gt; CUSTOMER_NAME [</a:t>
            </a:r>
            <a:r>
              <a:rPr lang="en-US" err="1"/>
              <a:t>dir</a:t>
            </a:r>
            <a:r>
              <a:rPr lang="en-US"/>
              <a:t>="none"];</a:t>
            </a:r>
          </a:p>
          <a:p>
            <a:r>
              <a:rPr lang="en-US"/>
              <a:t>  CUSTOMER -&gt; CUSTOMER_PHONE [</a:t>
            </a:r>
            <a:r>
              <a:rPr lang="en-US" err="1"/>
              <a:t>dir</a:t>
            </a:r>
            <a:r>
              <a:rPr lang="en-US"/>
              <a:t>="none"];</a:t>
            </a:r>
          </a:p>
          <a:p>
            <a:r>
              <a:rPr lang="en-US"/>
              <a:t>  CUSTOMER -&gt; CUSTOMER_ADDR [</a:t>
            </a:r>
            <a:r>
              <a:rPr lang="en-US" err="1"/>
              <a:t>dir</a:t>
            </a:r>
            <a:r>
              <a:rPr lang="en-US"/>
              <a:t>="none"];</a:t>
            </a:r>
          </a:p>
          <a:p>
            <a:endParaRPr lang="en-US"/>
          </a:p>
          <a:p>
            <a:r>
              <a:rPr lang="en-US"/>
              <a:t>  // Relationships between entities</a:t>
            </a:r>
          </a:p>
          <a:p>
            <a:r>
              <a:rPr lang="en-US"/>
              <a:t>  BANK -&gt; BRANCHES [];</a:t>
            </a:r>
          </a:p>
          <a:p>
            <a:r>
              <a:rPr lang="en-US"/>
              <a:t>  BRANCHES -&gt; BANK_BRANCH [</a:t>
            </a:r>
            <a:r>
              <a:rPr lang="en-US" err="1"/>
              <a:t>penwidth</a:t>
            </a:r>
            <a:r>
              <a:rPr lang="en-US"/>
              <a:t>=2, </a:t>
            </a:r>
            <a:r>
              <a:rPr lang="en-US" err="1"/>
              <a:t>dir</a:t>
            </a:r>
            <a:r>
              <a:rPr lang="en-US"/>
              <a:t>="none"];</a:t>
            </a:r>
          </a:p>
          <a:p>
            <a:r>
              <a:rPr lang="en-US"/>
              <a:t>  </a:t>
            </a:r>
          </a:p>
          <a:p>
            <a:r>
              <a:rPr lang="en-US"/>
              <a:t>  BANK_BRANCH -&gt; ACCTS [label="1", </a:t>
            </a:r>
            <a:r>
              <a:rPr lang="en-US" err="1"/>
              <a:t>dir</a:t>
            </a:r>
            <a:r>
              <a:rPr lang="en-US"/>
              <a:t>="none"];</a:t>
            </a:r>
          </a:p>
          <a:p>
            <a:r>
              <a:rPr lang="en-US"/>
              <a:t>  ACCTS -&gt; ACCOUNT [label="N", </a:t>
            </a:r>
            <a:r>
              <a:rPr lang="en-US" err="1"/>
              <a:t>dir</a:t>
            </a:r>
            <a:r>
              <a:rPr lang="en-US"/>
              <a:t>="none"];</a:t>
            </a:r>
          </a:p>
          <a:p>
            <a:endParaRPr lang="en-US"/>
          </a:p>
          <a:p>
            <a:r>
              <a:rPr lang="en-US"/>
              <a:t>  BANK_BRANCH -&gt; LOANS [label="1", </a:t>
            </a:r>
            <a:r>
              <a:rPr lang="en-US" err="1"/>
              <a:t>dir</a:t>
            </a:r>
            <a:r>
              <a:rPr lang="en-US"/>
              <a:t>="none"];</a:t>
            </a:r>
          </a:p>
          <a:p>
            <a:r>
              <a:rPr lang="en-US"/>
              <a:t>  LOANS -&gt; LOAN [label="N", </a:t>
            </a:r>
            <a:r>
              <a:rPr lang="en-US" err="1"/>
              <a:t>dir</a:t>
            </a:r>
            <a:r>
              <a:rPr lang="en-US"/>
              <a:t>="none"];</a:t>
            </a:r>
          </a:p>
          <a:p>
            <a:endParaRPr lang="en-US"/>
          </a:p>
          <a:p>
            <a:r>
              <a:rPr lang="en-US"/>
              <a:t>  ACCOUNT -&gt; A_C [label="M", </a:t>
            </a:r>
            <a:r>
              <a:rPr lang="en-US" err="1"/>
              <a:t>dir</a:t>
            </a:r>
            <a:r>
              <a:rPr lang="en-US"/>
              <a:t>="none"];</a:t>
            </a:r>
          </a:p>
          <a:p>
            <a:r>
              <a:rPr lang="en-US"/>
              <a:t>  A_C -&gt; CUSTOMER [label="N", </a:t>
            </a:r>
            <a:r>
              <a:rPr lang="en-US" err="1"/>
              <a:t>dir</a:t>
            </a:r>
            <a:r>
              <a:rPr lang="en-US"/>
              <a:t>="none"];</a:t>
            </a:r>
          </a:p>
          <a:p>
            <a:endParaRPr lang="en-US"/>
          </a:p>
          <a:p>
            <a:r>
              <a:rPr lang="en-US"/>
              <a:t>  LOAN -&gt; L_C [label="M", </a:t>
            </a:r>
            <a:r>
              <a:rPr lang="en-US" err="1"/>
              <a:t>dir</a:t>
            </a:r>
            <a:r>
              <a:rPr lang="en-US"/>
              <a:t>="none"];</a:t>
            </a:r>
          </a:p>
          <a:p>
            <a:r>
              <a:rPr lang="en-US"/>
              <a:t>  L_C -&gt; CUSTOMER [label="N", </a:t>
            </a:r>
            <a:r>
              <a:rPr lang="en-US" err="1"/>
              <a:t>dir</a:t>
            </a:r>
            <a:r>
              <a:rPr lang="en-US"/>
              <a:t>="none"];</a:t>
            </a:r>
          </a:p>
          <a:p>
            <a:r>
              <a:rPr lang="en-US"/>
              <a:t>}</a:t>
            </a:r>
          </a:p>
        </p:txBody>
      </p:sp>
      <p:sp>
        <p:nvSpPr>
          <p:cNvPr id="4" name="Slide Number Placeholder 3"/>
          <p:cNvSpPr>
            <a:spLocks noGrp="1"/>
          </p:cNvSpPr>
          <p:nvPr>
            <p:ph type="sldNum" sz="quarter" idx="5"/>
          </p:nvPr>
        </p:nvSpPr>
        <p:spPr/>
        <p:txBody>
          <a:bodyPr/>
          <a:lstStyle/>
          <a:p>
            <a:fld id="{6D8FB9FA-6C0A-B04C-8A7E-9DB303EFE20B}" type="slidenum">
              <a:rPr lang="en-US" smtClean="0"/>
              <a:t>133</a:t>
            </a:fld>
            <a:endParaRPr lang="en-US"/>
          </a:p>
        </p:txBody>
      </p:sp>
    </p:spTree>
    <p:extLst>
      <p:ext uri="{BB962C8B-B14F-4D97-AF65-F5344CB8AC3E}">
        <p14:creationId xmlns:p14="http://schemas.microsoft.com/office/powerpoint/2010/main" val="1956085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Item. (parts) can be </a:t>
            </a:r>
            <a:r>
              <a:rPr lang="en-US" err="1"/>
              <a:t>persiable</a:t>
            </a:r>
            <a:r>
              <a:rPr lang="en-US"/>
              <a:t> or non perishable</a:t>
            </a:r>
          </a:p>
          <a:p>
            <a:endParaRPr lang="en-US"/>
          </a:p>
          <a:p>
            <a:r>
              <a:rPr lang="en-US"/>
              <a:t>for </a:t>
            </a:r>
            <a:r>
              <a:rPr lang="en-US" err="1"/>
              <a:t>pershiable</a:t>
            </a:r>
            <a:r>
              <a:rPr lang="en-US"/>
              <a:t> item we need to store the expiration date</a:t>
            </a:r>
          </a:p>
          <a:p>
            <a:endParaRPr lang="en-US"/>
          </a:p>
          <a:p>
            <a:endParaRPr lang="en-US"/>
          </a:p>
          <a:p>
            <a:r>
              <a:rPr lang="en-US"/>
              <a:t>parts are stored in data warehouse</a:t>
            </a:r>
          </a:p>
          <a:p>
            <a:endParaRPr lang="en-US"/>
          </a:p>
          <a:p>
            <a:r>
              <a:rPr lang="en-US" err="1"/>
              <a:t>sku</a:t>
            </a:r>
            <a:endParaRPr lang="en-US"/>
          </a:p>
          <a:p>
            <a:endParaRPr lang="en-US"/>
          </a:p>
          <a:p>
            <a:endParaRPr lang="en-US"/>
          </a:p>
        </p:txBody>
      </p:sp>
      <p:sp>
        <p:nvSpPr>
          <p:cNvPr id="4" name="Slide Number Placeholder 3"/>
          <p:cNvSpPr>
            <a:spLocks noGrp="1"/>
          </p:cNvSpPr>
          <p:nvPr>
            <p:ph type="sldNum" sz="quarter" idx="5"/>
          </p:nvPr>
        </p:nvSpPr>
        <p:spPr/>
        <p:txBody>
          <a:bodyPr/>
          <a:lstStyle/>
          <a:p>
            <a:fld id="{6D8FB9FA-6C0A-B04C-8A7E-9DB303EFE20B}" type="slidenum">
              <a:rPr lang="en-US" smtClean="0"/>
              <a:t>135</a:t>
            </a:fld>
            <a:endParaRPr lang="en-US"/>
          </a:p>
        </p:txBody>
      </p:sp>
    </p:spTree>
    <p:extLst>
      <p:ext uri="{BB962C8B-B14F-4D97-AF65-F5344CB8AC3E}">
        <p14:creationId xmlns:p14="http://schemas.microsoft.com/office/powerpoint/2010/main" val="3442747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783F09-AD4E-4235-8F99-FC4E98A2FBBC}"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346283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323F2E-9060-47D9-846D-5A8793CC7708}"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2292588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03EB0D-031E-44F7-B6BF-730561C4E4B5}"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3882011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B0D0DF-3D12-46D0-9C3C-FF3F38405CC0}"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1028969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D48C56-5092-40CC-8431-7CD281B4F938}" type="datetime1">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3229005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231FFE-152E-4B90-9978-0F92C31D8C59}" type="datetime1">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3986967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D9C42D-ED72-4CC7-B262-0FE6C9835823}" type="datetime1">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1882453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65689B-5B33-45FA-87AE-822D08C4F223}"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4160960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A12272-1062-4C1B-BB83-25829CA87A5A}"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1637996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454EEB-5EED-43FB-856C-1614619AB197}"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3157514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6FA18A-4D3C-45B8-B20A-C3B369521C5B}"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1C0F02-33DC-3A41-9F51-431B7FE03ABE}" type="slidenum">
              <a:rPr lang="en-US" smtClean="0"/>
              <a:t>‹#›</a:t>
            </a:fld>
            <a:endParaRPr lang="en-US"/>
          </a:p>
        </p:txBody>
      </p:sp>
    </p:spTree>
    <p:extLst>
      <p:ext uri="{BB962C8B-B14F-4D97-AF65-F5344CB8AC3E}">
        <p14:creationId xmlns:p14="http://schemas.microsoft.com/office/powerpoint/2010/main" val="270365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073FEE-A94F-4148-A242-7B429B1794A3}" type="datetime1">
              <a:rPr lang="en-US" smtClean="0"/>
              <a:t>10/12/2026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1C0F02-33DC-3A41-9F51-431B7FE03ABE}" type="slidenum">
              <a:rPr lang="en-US" smtClean="0"/>
              <a:t>‹#›</a:t>
            </a:fld>
            <a:endParaRPr lang="en-US"/>
          </a:p>
        </p:txBody>
      </p:sp>
      <p:sp>
        <p:nvSpPr>
          <p:cNvPr id="7" name="Rectangle 6">
            <a:extLst>
              <a:ext uri="{FF2B5EF4-FFF2-40B4-BE49-F238E27FC236}">
                <a16:creationId xmlns:a16="http://schemas.microsoft.com/office/drawing/2014/main" id="{01D90B07-AD28-5747-9B73-288F5357B022}"/>
              </a:ext>
            </a:extLst>
          </p:cNvPr>
          <p:cNvSpPr/>
          <p:nvPr userDrawn="1"/>
        </p:nvSpPr>
        <p:spPr>
          <a:xfrm>
            <a:off x="0" y="-49167"/>
            <a:ext cx="12192000" cy="26275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i="1">
                <a:solidFill>
                  <a:schemeClr val="tx1">
                    <a:lumMod val="65000"/>
                    <a:lumOff val="35000"/>
                  </a:schemeClr>
                </a:solidFill>
                <a:latin typeface="+mj-lt"/>
              </a:rPr>
              <a:t>  Spring 2026</a:t>
            </a:r>
          </a:p>
        </p:txBody>
      </p:sp>
      <p:pic>
        <p:nvPicPr>
          <p:cNvPr id="8" name="Picture 7">
            <a:extLst>
              <a:ext uri="{FF2B5EF4-FFF2-40B4-BE49-F238E27FC236}">
                <a16:creationId xmlns:a16="http://schemas.microsoft.com/office/drawing/2014/main" id="{98FE4DAA-039B-ED4A-AA72-44818C475C0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311900"/>
            <a:ext cx="866825" cy="546100"/>
          </a:xfrm>
          <a:prstGeom prst="rect">
            <a:avLst/>
          </a:prstGeom>
        </p:spPr>
      </p:pic>
    </p:spTree>
    <p:extLst>
      <p:ext uri="{BB962C8B-B14F-4D97-AF65-F5344CB8AC3E}">
        <p14:creationId xmlns:p14="http://schemas.microsoft.com/office/powerpoint/2010/main" val="4227335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rdoc.dcc.uchile.c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gist.github.com/oldwestbury/bbc6e38eecc098a485ab402f6c666558"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7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43.tif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0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3.tiff"/><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4.tif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The E/R Model</a:t>
            </a:r>
          </a:p>
        </p:txBody>
      </p:sp>
      <p:sp>
        <p:nvSpPr>
          <p:cNvPr id="3" name="Subtitle 2"/>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7C6753BD-CE3D-4839-8242-4553E34CBB2C}"/>
              </a:ext>
            </a:extLst>
          </p:cNvPr>
          <p:cNvSpPr>
            <a:spLocks noGrp="1"/>
          </p:cNvSpPr>
          <p:nvPr>
            <p:ph type="sldNum" sz="quarter" idx="12"/>
          </p:nvPr>
        </p:nvSpPr>
        <p:spPr/>
        <p:txBody>
          <a:bodyPr/>
          <a:lstStyle/>
          <a:p>
            <a:fld id="{641C0F02-33DC-3A41-9F51-431B7FE03ABE}" type="slidenum">
              <a:rPr lang="en-US" smtClean="0"/>
              <a:t>1</a:t>
            </a:fld>
            <a:endParaRPr lang="en-US"/>
          </a:p>
        </p:txBody>
      </p:sp>
    </p:spTree>
    <p:extLst>
      <p:ext uri="{BB962C8B-B14F-4D97-AF65-F5344CB8AC3E}">
        <p14:creationId xmlns:p14="http://schemas.microsoft.com/office/powerpoint/2010/main" val="901955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E/R Basics: Entities &amp; Relations</a:t>
            </a:r>
          </a:p>
        </p:txBody>
      </p:sp>
      <p:sp>
        <p:nvSpPr>
          <p:cNvPr id="3" name="Slide Number Placeholder 2">
            <a:extLst>
              <a:ext uri="{FF2B5EF4-FFF2-40B4-BE49-F238E27FC236}">
                <a16:creationId xmlns:a16="http://schemas.microsoft.com/office/drawing/2014/main" id="{2E7A7322-CB7E-4C8D-A462-553864CD1ADE}"/>
              </a:ext>
            </a:extLst>
          </p:cNvPr>
          <p:cNvSpPr>
            <a:spLocks noGrp="1"/>
          </p:cNvSpPr>
          <p:nvPr>
            <p:ph type="sldNum" sz="quarter" idx="12"/>
          </p:nvPr>
        </p:nvSpPr>
        <p:spPr/>
        <p:txBody>
          <a:bodyPr/>
          <a:lstStyle/>
          <a:p>
            <a:fld id="{641C0F02-33DC-3A41-9F51-431B7FE03ABE}" type="slidenum">
              <a:rPr lang="en-US" smtClean="0"/>
              <a:t>2</a:t>
            </a:fld>
            <a:endParaRPr lang="en-US"/>
          </a:p>
        </p:txBody>
      </p:sp>
    </p:spTree>
    <p:extLst>
      <p:ext uri="{BB962C8B-B14F-4D97-AF65-F5344CB8AC3E}">
        <p14:creationId xmlns:p14="http://schemas.microsoft.com/office/powerpoint/2010/main" val="1808086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t>Database Design</a:t>
            </a:r>
          </a:p>
        </p:txBody>
      </p:sp>
      <p:sp>
        <p:nvSpPr>
          <p:cNvPr id="17412" name="Rectangle 3"/>
          <p:cNvSpPr>
            <a:spLocks noGrp="1" noChangeArrowheads="1"/>
          </p:cNvSpPr>
          <p:nvPr>
            <p:ph idx="1"/>
          </p:nvPr>
        </p:nvSpPr>
        <p:spPr/>
        <p:txBody>
          <a:bodyPr/>
          <a:lstStyle/>
          <a:p>
            <a:pPr eaLnBrk="1" hangingPunct="1">
              <a:lnSpc>
                <a:spcPct val="90000"/>
              </a:lnSpc>
            </a:pPr>
            <a:r>
              <a:rPr lang="en-US" sz="2400" b="1"/>
              <a:t>Database design: Why do we need it?</a:t>
            </a:r>
          </a:p>
          <a:p>
            <a:pPr lvl="1" eaLnBrk="1" hangingPunct="1">
              <a:lnSpc>
                <a:spcPct val="90000"/>
              </a:lnSpc>
            </a:pPr>
            <a:r>
              <a:rPr lang="en-US" sz="2000"/>
              <a:t> Agree on structure of the database before deciding on a particular implementation</a:t>
            </a:r>
          </a:p>
          <a:p>
            <a:pPr marL="457200" lvl="1" indent="0" eaLnBrk="1" hangingPunct="1">
              <a:lnSpc>
                <a:spcPct val="90000"/>
              </a:lnSpc>
              <a:buNone/>
            </a:pPr>
            <a:endParaRPr lang="en-US" sz="2000"/>
          </a:p>
          <a:p>
            <a:pPr eaLnBrk="1" hangingPunct="1">
              <a:lnSpc>
                <a:spcPct val="90000"/>
              </a:lnSpc>
            </a:pPr>
            <a:r>
              <a:rPr lang="en-US" sz="2400" b="1"/>
              <a:t>Consider issues such as:</a:t>
            </a:r>
          </a:p>
          <a:p>
            <a:pPr lvl="1" eaLnBrk="1" hangingPunct="1">
              <a:lnSpc>
                <a:spcPct val="90000"/>
              </a:lnSpc>
            </a:pPr>
            <a:r>
              <a:rPr lang="en-US" sz="2000"/>
              <a:t>What entities to model</a:t>
            </a:r>
          </a:p>
          <a:p>
            <a:pPr lvl="1" eaLnBrk="1" hangingPunct="1">
              <a:lnSpc>
                <a:spcPct val="90000"/>
              </a:lnSpc>
            </a:pPr>
            <a:r>
              <a:rPr lang="en-US" sz="2000"/>
              <a:t>How entities are related</a:t>
            </a:r>
          </a:p>
          <a:p>
            <a:pPr lvl="1" eaLnBrk="1" hangingPunct="1">
              <a:lnSpc>
                <a:spcPct val="90000"/>
              </a:lnSpc>
            </a:pPr>
            <a:r>
              <a:rPr lang="en-US" sz="2000"/>
              <a:t>What constraints exist in the domain</a:t>
            </a:r>
          </a:p>
          <a:p>
            <a:pPr lvl="1" eaLnBrk="1" hangingPunct="1">
              <a:lnSpc>
                <a:spcPct val="90000"/>
              </a:lnSpc>
            </a:pPr>
            <a:r>
              <a:rPr lang="en-US" sz="2000"/>
              <a:t>How to achieve </a:t>
            </a:r>
            <a:r>
              <a:rPr lang="en-US" sz="2000" u="sng"/>
              <a:t>good</a:t>
            </a:r>
            <a:r>
              <a:rPr lang="en-US" sz="2000"/>
              <a:t> designs</a:t>
            </a:r>
          </a:p>
          <a:p>
            <a:pPr marL="457200" lvl="1" indent="0" eaLnBrk="1" hangingPunct="1">
              <a:lnSpc>
                <a:spcPct val="90000"/>
              </a:lnSpc>
              <a:buNone/>
            </a:pPr>
            <a:endParaRPr lang="en-US" sz="2000"/>
          </a:p>
          <a:p>
            <a:pPr eaLnBrk="1" hangingPunct="1">
              <a:lnSpc>
                <a:spcPct val="90000"/>
              </a:lnSpc>
            </a:pPr>
            <a:r>
              <a:rPr lang="en-US" sz="2400" b="1"/>
              <a:t>Several formalisms exist</a:t>
            </a:r>
          </a:p>
          <a:p>
            <a:pPr lvl="1" eaLnBrk="1" hangingPunct="1">
              <a:lnSpc>
                <a:spcPct val="90000"/>
              </a:lnSpc>
            </a:pPr>
            <a:r>
              <a:rPr lang="en-US" sz="2000"/>
              <a:t>We discuss one flavor of E/R diagrams</a:t>
            </a:r>
          </a:p>
        </p:txBody>
      </p:sp>
      <p:sp>
        <p:nvSpPr>
          <p:cNvPr id="2" name="Slide Number Placeholder 1">
            <a:extLst>
              <a:ext uri="{FF2B5EF4-FFF2-40B4-BE49-F238E27FC236}">
                <a16:creationId xmlns:a16="http://schemas.microsoft.com/office/drawing/2014/main" id="{2A050F51-8B64-4207-A3C9-3123AFAC5A76}"/>
              </a:ext>
            </a:extLst>
          </p:cNvPr>
          <p:cNvSpPr>
            <a:spLocks noGrp="1"/>
          </p:cNvSpPr>
          <p:nvPr>
            <p:ph type="sldNum" sz="quarter" idx="12"/>
          </p:nvPr>
        </p:nvSpPr>
        <p:spPr/>
        <p:txBody>
          <a:bodyPr/>
          <a:lstStyle/>
          <a:p>
            <a:fld id="{641C0F02-33DC-3A41-9F51-431B7FE03ABE}" type="slidenum">
              <a:rPr lang="en-US" smtClean="0"/>
              <a:t>3</a:t>
            </a:fld>
            <a:endParaRPr lang="en-US"/>
          </a:p>
        </p:txBody>
      </p:sp>
    </p:spTree>
    <p:extLst>
      <p:ext uri="{BB962C8B-B14F-4D97-AF65-F5344CB8AC3E}">
        <p14:creationId xmlns:p14="http://schemas.microsoft.com/office/powerpoint/2010/main" val="152893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1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1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1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412">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Database Design Process</a:t>
            </a:r>
          </a:p>
        </p:txBody>
      </p:sp>
      <p:sp>
        <p:nvSpPr>
          <p:cNvPr id="3" name="Content Placeholder 2"/>
          <p:cNvSpPr>
            <a:spLocks noGrp="1"/>
          </p:cNvSpPr>
          <p:nvPr>
            <p:ph idx="1"/>
          </p:nvPr>
        </p:nvSpPr>
        <p:spPr>
          <a:xfrm>
            <a:off x="914400" y="2531360"/>
            <a:ext cx="10363200" cy="4114800"/>
          </a:xfrm>
        </p:spPr>
        <p:txBody>
          <a:bodyPr/>
          <a:lstStyle/>
          <a:p>
            <a:pPr marL="514350" indent="-514350">
              <a:buAutoNum type="arabicPeriod"/>
            </a:pPr>
            <a:r>
              <a:rPr lang="en-US" sz="3200" b="1"/>
              <a:t>Requirements analysis</a:t>
            </a:r>
          </a:p>
          <a:p>
            <a:pPr lvl="1" fontAlgn="base">
              <a:spcBef>
                <a:spcPct val="0"/>
              </a:spcBef>
              <a:spcAft>
                <a:spcPct val="0"/>
              </a:spcAft>
            </a:pPr>
            <a:endParaRPr lang="en-US" sz="2000">
              <a:solidFill>
                <a:srgbClr val="000000"/>
              </a:solidFill>
            </a:endParaRPr>
          </a:p>
          <a:p>
            <a:pPr lvl="1" fontAlgn="base">
              <a:spcBef>
                <a:spcPct val="0"/>
              </a:spcBef>
              <a:spcAft>
                <a:spcPct val="0"/>
              </a:spcAft>
            </a:pPr>
            <a:r>
              <a:rPr lang="en-US" sz="2800">
                <a:solidFill>
                  <a:srgbClr val="000000"/>
                </a:solidFill>
              </a:rPr>
              <a:t>What is going to be stored? </a:t>
            </a:r>
          </a:p>
          <a:p>
            <a:pPr fontAlgn="base">
              <a:spcBef>
                <a:spcPct val="0"/>
              </a:spcBef>
              <a:spcAft>
                <a:spcPct val="0"/>
              </a:spcAft>
            </a:pPr>
            <a:endParaRPr lang="en-US">
              <a:solidFill>
                <a:srgbClr val="000000"/>
              </a:solidFill>
            </a:endParaRPr>
          </a:p>
          <a:p>
            <a:pPr lvl="1" fontAlgn="base">
              <a:spcBef>
                <a:spcPct val="0"/>
              </a:spcBef>
              <a:spcAft>
                <a:spcPct val="0"/>
              </a:spcAft>
            </a:pPr>
            <a:r>
              <a:rPr lang="en-US" sz="2800">
                <a:solidFill>
                  <a:srgbClr val="000000"/>
                </a:solidFill>
              </a:rPr>
              <a:t>How is it going to be used?</a:t>
            </a:r>
          </a:p>
          <a:p>
            <a:pPr fontAlgn="base">
              <a:spcBef>
                <a:spcPct val="0"/>
              </a:spcBef>
              <a:spcAft>
                <a:spcPct val="0"/>
              </a:spcAft>
            </a:pPr>
            <a:endParaRPr lang="en-US">
              <a:solidFill>
                <a:srgbClr val="000000"/>
              </a:solidFill>
            </a:endParaRPr>
          </a:p>
          <a:p>
            <a:pPr lvl="1" fontAlgn="base">
              <a:spcBef>
                <a:spcPct val="0"/>
              </a:spcBef>
              <a:spcAft>
                <a:spcPct val="0"/>
              </a:spcAft>
            </a:pPr>
            <a:r>
              <a:rPr lang="en-US" sz="2800">
                <a:solidFill>
                  <a:srgbClr val="000000"/>
                </a:solidFill>
              </a:rPr>
              <a:t>What are we going to do with the data?</a:t>
            </a:r>
          </a:p>
          <a:p>
            <a:pPr fontAlgn="base">
              <a:spcBef>
                <a:spcPct val="0"/>
              </a:spcBef>
              <a:spcAft>
                <a:spcPct val="0"/>
              </a:spcAft>
            </a:pPr>
            <a:endParaRPr lang="en-US">
              <a:solidFill>
                <a:srgbClr val="000000"/>
              </a:solidFill>
            </a:endParaRPr>
          </a:p>
          <a:p>
            <a:pPr lvl="1" fontAlgn="base">
              <a:spcBef>
                <a:spcPct val="0"/>
              </a:spcBef>
              <a:spcAft>
                <a:spcPct val="0"/>
              </a:spcAft>
            </a:pPr>
            <a:r>
              <a:rPr lang="en-US" sz="2800">
                <a:solidFill>
                  <a:srgbClr val="000000"/>
                </a:solidFill>
              </a:rPr>
              <a:t>Who should access the data?</a:t>
            </a:r>
          </a:p>
          <a:p>
            <a:pPr marL="971550" lvl="1" indent="-514350">
              <a:buAutoNum type="arabicPeriod"/>
            </a:pPr>
            <a:endParaRPr lang="en-US"/>
          </a:p>
          <a:p>
            <a:pPr marL="914400" lvl="1" indent="-514350">
              <a:buAutoNum type="arabicPeriod"/>
            </a:pPr>
            <a:endParaRPr lang="en-US"/>
          </a:p>
          <a:p>
            <a:pPr marL="514350" indent="-514350">
              <a:buAutoNum type="arabicPeriod"/>
            </a:pPr>
            <a:endParaRPr lang="en-US"/>
          </a:p>
          <a:p>
            <a:pPr lvl="1"/>
            <a:endParaRPr lang="en-US"/>
          </a:p>
        </p:txBody>
      </p:sp>
      <p:sp>
        <p:nvSpPr>
          <p:cNvPr id="6" name="TextBox 5"/>
          <p:cNvSpPr txBox="1"/>
          <p:nvPr/>
        </p:nvSpPr>
        <p:spPr>
          <a:xfrm>
            <a:off x="7422776" y="2531360"/>
            <a:ext cx="3429000" cy="120032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Technical and non-technical people are involved</a:t>
            </a:r>
          </a:p>
        </p:txBody>
      </p:sp>
      <p:sp>
        <p:nvSpPr>
          <p:cNvPr id="10" name="Pentagon 9"/>
          <p:cNvSpPr/>
          <p:nvPr/>
        </p:nvSpPr>
        <p:spPr>
          <a:xfrm>
            <a:off x="914400" y="1650182"/>
            <a:ext cx="3411375" cy="460841"/>
          </a:xfrm>
          <a:prstGeom prst="homePlate">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 Requirements Analysis</a:t>
            </a:r>
          </a:p>
        </p:txBody>
      </p:sp>
      <p:sp>
        <p:nvSpPr>
          <p:cNvPr id="11" name="Chevron 10"/>
          <p:cNvSpPr/>
          <p:nvPr/>
        </p:nvSpPr>
        <p:spPr>
          <a:xfrm>
            <a:off x="4177400" y="1650182"/>
            <a:ext cx="3411375" cy="460841"/>
          </a:xfrm>
          <a:prstGeom prst="chevron">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50000"/>
                    <a:lumOff val="50000"/>
                  </a:schemeClr>
                </a:solidFill>
              </a:rPr>
              <a:t>2. Conceptual Design </a:t>
            </a:r>
          </a:p>
        </p:txBody>
      </p:sp>
      <p:sp>
        <p:nvSpPr>
          <p:cNvPr id="13" name="Chevron 12"/>
          <p:cNvSpPr/>
          <p:nvPr/>
        </p:nvSpPr>
        <p:spPr>
          <a:xfrm>
            <a:off x="7440401" y="1650182"/>
            <a:ext cx="3411375" cy="460841"/>
          </a:xfrm>
          <a:prstGeom prst="chevron">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50000"/>
                    <a:lumOff val="50000"/>
                  </a:schemeClr>
                </a:solidFill>
              </a:rPr>
              <a:t>3. Logical, Physical, Security, etc.</a:t>
            </a:r>
          </a:p>
        </p:txBody>
      </p:sp>
      <p:sp>
        <p:nvSpPr>
          <p:cNvPr id="4" name="Slide Number Placeholder 3">
            <a:extLst>
              <a:ext uri="{FF2B5EF4-FFF2-40B4-BE49-F238E27FC236}">
                <a16:creationId xmlns:a16="http://schemas.microsoft.com/office/drawing/2014/main" id="{1155EDFD-5B25-4DB8-A81D-55BB41D1B5B5}"/>
              </a:ext>
            </a:extLst>
          </p:cNvPr>
          <p:cNvSpPr>
            <a:spLocks noGrp="1"/>
          </p:cNvSpPr>
          <p:nvPr>
            <p:ph type="sldNum" sz="quarter" idx="12"/>
          </p:nvPr>
        </p:nvSpPr>
        <p:spPr/>
        <p:txBody>
          <a:bodyPr/>
          <a:lstStyle/>
          <a:p>
            <a:fld id="{641C0F02-33DC-3A41-9F51-431B7FE03ABE}" type="slidenum">
              <a:rPr lang="en-US" smtClean="0"/>
              <a:t>4</a:t>
            </a:fld>
            <a:endParaRPr lang="en-US"/>
          </a:p>
        </p:txBody>
      </p:sp>
    </p:spTree>
    <p:extLst>
      <p:ext uri="{BB962C8B-B14F-4D97-AF65-F5344CB8AC3E}">
        <p14:creationId xmlns:p14="http://schemas.microsoft.com/office/powerpoint/2010/main" val="6658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p:txBody>
          <a:bodyPr/>
          <a:lstStyle/>
          <a:p>
            <a:r>
              <a:rPr lang="en-US"/>
              <a:t>Database Design Process</a:t>
            </a:r>
          </a:p>
        </p:txBody>
      </p:sp>
      <p:sp>
        <p:nvSpPr>
          <p:cNvPr id="3" name="Content Placeholder 2"/>
          <p:cNvSpPr>
            <a:spLocks noGrp="1"/>
          </p:cNvSpPr>
          <p:nvPr>
            <p:ph idx="1"/>
          </p:nvPr>
        </p:nvSpPr>
        <p:spPr>
          <a:xfrm>
            <a:off x="914400" y="2474973"/>
            <a:ext cx="10363200" cy="3750572"/>
          </a:xfrm>
        </p:spPr>
        <p:txBody>
          <a:bodyPr/>
          <a:lstStyle/>
          <a:p>
            <a:pPr marL="0" indent="0">
              <a:buNone/>
            </a:pPr>
            <a:r>
              <a:rPr lang="en-US" b="1"/>
              <a:t>2. Conceptual Design</a:t>
            </a:r>
          </a:p>
          <a:p>
            <a:pPr lvl="1"/>
            <a:endParaRPr lang="en-US" sz="2800">
              <a:solidFill>
                <a:srgbClr val="000000"/>
              </a:solidFill>
            </a:endParaRPr>
          </a:p>
          <a:p>
            <a:pPr lvl="1"/>
            <a:r>
              <a:rPr lang="en-US" sz="2800">
                <a:solidFill>
                  <a:srgbClr val="000000"/>
                </a:solidFill>
              </a:rPr>
              <a:t>A </a:t>
            </a:r>
            <a:r>
              <a:rPr lang="en-US" sz="2800" u="sng">
                <a:solidFill>
                  <a:srgbClr val="000000"/>
                </a:solidFill>
              </a:rPr>
              <a:t>high-level description</a:t>
            </a:r>
            <a:r>
              <a:rPr lang="en-US" sz="2800">
                <a:solidFill>
                  <a:srgbClr val="000000"/>
                </a:solidFill>
              </a:rPr>
              <a:t> of the database</a:t>
            </a:r>
          </a:p>
          <a:p>
            <a:pPr lvl="1"/>
            <a:endParaRPr lang="en-US" sz="2800">
              <a:solidFill>
                <a:srgbClr val="000000"/>
              </a:solidFill>
            </a:endParaRPr>
          </a:p>
          <a:p>
            <a:pPr lvl="1"/>
            <a:r>
              <a:rPr lang="en-US" sz="2800">
                <a:solidFill>
                  <a:srgbClr val="000000"/>
                </a:solidFill>
              </a:rPr>
              <a:t>Sufficiently </a:t>
            </a:r>
            <a:r>
              <a:rPr lang="en-US" sz="2800" u="sng">
                <a:solidFill>
                  <a:srgbClr val="000000"/>
                </a:solidFill>
              </a:rPr>
              <a:t>precise</a:t>
            </a:r>
            <a:r>
              <a:rPr lang="en-US" sz="2800">
                <a:solidFill>
                  <a:srgbClr val="000000"/>
                </a:solidFill>
              </a:rPr>
              <a:t> that technical people can understand it</a:t>
            </a:r>
          </a:p>
          <a:p>
            <a:pPr lvl="1"/>
            <a:endParaRPr lang="en-US" sz="2800">
              <a:solidFill>
                <a:srgbClr val="000000"/>
              </a:solidFill>
            </a:endParaRPr>
          </a:p>
          <a:p>
            <a:pPr lvl="1"/>
            <a:r>
              <a:rPr lang="en-US" sz="2800">
                <a:solidFill>
                  <a:srgbClr val="000000"/>
                </a:solidFill>
              </a:rPr>
              <a:t>But, </a:t>
            </a:r>
            <a:r>
              <a:rPr lang="en-US" sz="2800" u="sng">
                <a:solidFill>
                  <a:srgbClr val="000000"/>
                </a:solidFill>
              </a:rPr>
              <a:t>not so precise that non-technical people can’t participate</a:t>
            </a:r>
          </a:p>
          <a:p>
            <a:endParaRPr lang="en-US"/>
          </a:p>
          <a:p>
            <a:pPr marL="514350" indent="-514350">
              <a:buAutoNum type="arabicPeriod"/>
            </a:pPr>
            <a:endParaRPr lang="en-US"/>
          </a:p>
          <a:p>
            <a:pPr marL="514350" indent="-514350">
              <a:buAutoNum type="arabicPeriod"/>
            </a:pPr>
            <a:endParaRPr lang="en-US"/>
          </a:p>
          <a:p>
            <a:pPr lvl="1"/>
            <a:endParaRPr lang="en-US"/>
          </a:p>
        </p:txBody>
      </p:sp>
      <p:sp>
        <p:nvSpPr>
          <p:cNvPr id="9" name="TextBox 8"/>
          <p:cNvSpPr txBox="1"/>
          <p:nvPr/>
        </p:nvSpPr>
        <p:spPr>
          <a:xfrm>
            <a:off x="3441326" y="6094740"/>
            <a:ext cx="5309347" cy="523220"/>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fontAlgn="base">
              <a:spcBef>
                <a:spcPct val="0"/>
              </a:spcBef>
              <a:spcAft>
                <a:spcPct val="0"/>
              </a:spcAft>
            </a:pPr>
            <a:r>
              <a:rPr lang="en-US" sz="2800">
                <a:solidFill>
                  <a:srgbClr val="000000"/>
                </a:solidFill>
                <a:latin typeface="+mj-lt"/>
              </a:rPr>
              <a:t>This is where E/R fits in.</a:t>
            </a:r>
          </a:p>
        </p:txBody>
      </p:sp>
      <p:sp>
        <p:nvSpPr>
          <p:cNvPr id="14" name="Pentagon 13"/>
          <p:cNvSpPr/>
          <p:nvPr/>
        </p:nvSpPr>
        <p:spPr>
          <a:xfrm>
            <a:off x="914400" y="1650182"/>
            <a:ext cx="3411375" cy="460841"/>
          </a:xfrm>
          <a:prstGeom prst="homePlate">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50000"/>
                    <a:lumOff val="50000"/>
                  </a:schemeClr>
                </a:solidFill>
              </a:rPr>
              <a:t>1. Requirements Analysis</a:t>
            </a:r>
          </a:p>
        </p:txBody>
      </p:sp>
      <p:sp>
        <p:nvSpPr>
          <p:cNvPr id="15" name="Chevron 14"/>
          <p:cNvSpPr/>
          <p:nvPr/>
        </p:nvSpPr>
        <p:spPr>
          <a:xfrm>
            <a:off x="4177400" y="1650182"/>
            <a:ext cx="3411375" cy="460841"/>
          </a:xfrm>
          <a:prstGeom prst="chevron">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2. Conceptual Design </a:t>
            </a:r>
          </a:p>
        </p:txBody>
      </p:sp>
      <p:sp>
        <p:nvSpPr>
          <p:cNvPr id="16" name="Chevron 15"/>
          <p:cNvSpPr/>
          <p:nvPr/>
        </p:nvSpPr>
        <p:spPr>
          <a:xfrm>
            <a:off x="7440401" y="1650182"/>
            <a:ext cx="3411375" cy="460841"/>
          </a:xfrm>
          <a:prstGeom prst="chevron">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50000"/>
                    <a:lumOff val="50000"/>
                  </a:schemeClr>
                </a:solidFill>
              </a:rPr>
              <a:t>3. Logical, Physical, Security, etc.</a:t>
            </a:r>
          </a:p>
        </p:txBody>
      </p:sp>
      <p:sp>
        <p:nvSpPr>
          <p:cNvPr id="2" name="Slide Number Placeholder 1">
            <a:extLst>
              <a:ext uri="{FF2B5EF4-FFF2-40B4-BE49-F238E27FC236}">
                <a16:creationId xmlns:a16="http://schemas.microsoft.com/office/drawing/2014/main" id="{3E547414-033A-4908-A4A7-F2E27672FF65}"/>
              </a:ext>
            </a:extLst>
          </p:cNvPr>
          <p:cNvSpPr>
            <a:spLocks noGrp="1"/>
          </p:cNvSpPr>
          <p:nvPr>
            <p:ph type="sldNum" sz="quarter" idx="12"/>
          </p:nvPr>
        </p:nvSpPr>
        <p:spPr/>
        <p:txBody>
          <a:bodyPr/>
          <a:lstStyle/>
          <a:p>
            <a:fld id="{641C0F02-33DC-3A41-9F51-431B7FE03ABE}" type="slidenum">
              <a:rPr lang="en-US" smtClean="0"/>
              <a:t>5</a:t>
            </a:fld>
            <a:endParaRPr lang="en-US"/>
          </a:p>
        </p:txBody>
      </p:sp>
    </p:spTree>
    <p:extLst>
      <p:ext uri="{BB962C8B-B14F-4D97-AF65-F5344CB8AC3E}">
        <p14:creationId xmlns:p14="http://schemas.microsoft.com/office/powerpoint/2010/main" val="76331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p:txBody>
          <a:bodyPr/>
          <a:lstStyle/>
          <a:p>
            <a:r>
              <a:rPr lang="en-US"/>
              <a:t>Database Design Process</a:t>
            </a:r>
          </a:p>
        </p:txBody>
      </p:sp>
      <p:sp>
        <p:nvSpPr>
          <p:cNvPr id="14" name="Pentagon 13"/>
          <p:cNvSpPr/>
          <p:nvPr/>
        </p:nvSpPr>
        <p:spPr>
          <a:xfrm>
            <a:off x="914400" y="1650182"/>
            <a:ext cx="3411375" cy="460841"/>
          </a:xfrm>
          <a:prstGeom prst="homePlate">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50000"/>
                    <a:lumOff val="50000"/>
                  </a:schemeClr>
                </a:solidFill>
              </a:rPr>
              <a:t>1. Requirements Analysis</a:t>
            </a:r>
          </a:p>
        </p:txBody>
      </p:sp>
      <p:sp>
        <p:nvSpPr>
          <p:cNvPr id="15" name="Chevron 14"/>
          <p:cNvSpPr/>
          <p:nvPr/>
        </p:nvSpPr>
        <p:spPr>
          <a:xfrm>
            <a:off x="4177400" y="1650182"/>
            <a:ext cx="3411375" cy="460841"/>
          </a:xfrm>
          <a:prstGeom prst="chevron">
            <a:avLst/>
          </a:prstGeom>
          <a:solidFill>
            <a:schemeClr val="bg1">
              <a:lumMod val="85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50000"/>
                    <a:lumOff val="50000"/>
                  </a:schemeClr>
                </a:solidFill>
              </a:rPr>
              <a:t>2. Conceptual Design </a:t>
            </a:r>
          </a:p>
        </p:txBody>
      </p:sp>
      <p:sp>
        <p:nvSpPr>
          <p:cNvPr id="16" name="Chevron 15"/>
          <p:cNvSpPr/>
          <p:nvPr/>
        </p:nvSpPr>
        <p:spPr>
          <a:xfrm>
            <a:off x="7440401" y="1650182"/>
            <a:ext cx="3411375" cy="460841"/>
          </a:xfrm>
          <a:prstGeom prst="chevron">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3. Logical, Physical, Security, etc.</a:t>
            </a:r>
          </a:p>
        </p:txBody>
      </p:sp>
      <p:sp>
        <p:nvSpPr>
          <p:cNvPr id="18" name="Content Placeholder 2"/>
          <p:cNvSpPr txBox="1">
            <a:spLocks/>
          </p:cNvSpPr>
          <p:nvPr/>
        </p:nvSpPr>
        <p:spPr>
          <a:xfrm>
            <a:off x="914400" y="2531360"/>
            <a:ext cx="103632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Bef>
                <a:spcPts val="0"/>
              </a:spcBef>
              <a:buNone/>
            </a:pPr>
            <a:r>
              <a:rPr lang="en-US" sz="3200" b="1"/>
              <a:t>3. More: </a:t>
            </a:r>
            <a:endParaRPr lang="en-US" sz="3200"/>
          </a:p>
          <a:p>
            <a:pPr lvl="1">
              <a:spcBef>
                <a:spcPts val="0"/>
              </a:spcBef>
            </a:pPr>
            <a:endParaRPr lang="en-US" sz="2000"/>
          </a:p>
          <a:p>
            <a:pPr lvl="1"/>
            <a:r>
              <a:rPr lang="en-US" sz="2800"/>
              <a:t>Logical Database Design</a:t>
            </a:r>
          </a:p>
          <a:p>
            <a:pPr lvl="1"/>
            <a:endParaRPr lang="en-US" sz="2800"/>
          </a:p>
          <a:p>
            <a:pPr lvl="1"/>
            <a:r>
              <a:rPr lang="en-US" sz="2800"/>
              <a:t>Physical Database Design</a:t>
            </a:r>
          </a:p>
          <a:p>
            <a:pPr lvl="1"/>
            <a:endParaRPr lang="en-US" sz="2800"/>
          </a:p>
          <a:p>
            <a:pPr lvl="1"/>
            <a:r>
              <a:rPr lang="en-US" sz="2800"/>
              <a:t>Security Design</a:t>
            </a:r>
          </a:p>
          <a:p>
            <a:pPr marL="971550" lvl="1" indent="-514350">
              <a:buFont typeface="Arial"/>
              <a:buAutoNum type="arabicPeriod"/>
            </a:pPr>
            <a:endParaRPr lang="en-US"/>
          </a:p>
          <a:p>
            <a:pPr marL="914400" lvl="1" indent="-514350">
              <a:buFont typeface="Arial"/>
              <a:buAutoNum type="arabicPeriod"/>
            </a:pPr>
            <a:endParaRPr lang="en-US"/>
          </a:p>
          <a:p>
            <a:pPr marL="514350" indent="-514350">
              <a:buFont typeface="Arial"/>
              <a:buAutoNum type="arabicPeriod"/>
            </a:pPr>
            <a:endParaRPr lang="en-US"/>
          </a:p>
          <a:p>
            <a:pPr lvl="1"/>
            <a:endParaRPr lang="en-US"/>
          </a:p>
        </p:txBody>
      </p:sp>
      <p:sp>
        <p:nvSpPr>
          <p:cNvPr id="2" name="Slide Number Placeholder 1">
            <a:extLst>
              <a:ext uri="{FF2B5EF4-FFF2-40B4-BE49-F238E27FC236}">
                <a16:creationId xmlns:a16="http://schemas.microsoft.com/office/drawing/2014/main" id="{0A5934DF-1FA2-4AE1-B178-D1BB4448894B}"/>
              </a:ext>
            </a:extLst>
          </p:cNvPr>
          <p:cNvSpPr>
            <a:spLocks noGrp="1"/>
          </p:cNvSpPr>
          <p:nvPr>
            <p:ph type="sldNum" sz="quarter" idx="12"/>
          </p:nvPr>
        </p:nvSpPr>
        <p:spPr/>
        <p:txBody>
          <a:bodyPr/>
          <a:lstStyle/>
          <a:p>
            <a:fld id="{641C0F02-33DC-3A41-9F51-431B7FE03ABE}" type="slidenum">
              <a:rPr lang="en-US" smtClean="0"/>
              <a:t>6</a:t>
            </a:fld>
            <a:endParaRPr lang="en-US"/>
          </a:p>
        </p:txBody>
      </p:sp>
    </p:spTree>
    <p:extLst>
      <p:ext uri="{BB962C8B-B14F-4D97-AF65-F5344CB8AC3E}">
        <p14:creationId xmlns:p14="http://schemas.microsoft.com/office/powerpoint/2010/main" val="208128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491129" y="2480986"/>
            <a:ext cx="2209800" cy="120032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fontAlgn="base">
              <a:spcBef>
                <a:spcPct val="0"/>
              </a:spcBef>
              <a:spcAft>
                <a:spcPct val="0"/>
              </a:spcAft>
            </a:pPr>
            <a:r>
              <a:rPr lang="en-US" sz="2400">
                <a:solidFill>
                  <a:srgbClr val="000000"/>
                </a:solidFill>
                <a:latin typeface="+mj-lt"/>
              </a:rPr>
              <a:t>This process is iterated </a:t>
            </a:r>
            <a:r>
              <a:rPr lang="en-US" sz="2400" b="1">
                <a:solidFill>
                  <a:srgbClr val="000000"/>
                </a:solidFill>
                <a:latin typeface="+mj-lt"/>
              </a:rPr>
              <a:t>many</a:t>
            </a:r>
            <a:r>
              <a:rPr lang="en-US" sz="2400">
                <a:solidFill>
                  <a:srgbClr val="000000"/>
                </a:solidFill>
                <a:latin typeface="+mj-lt"/>
              </a:rPr>
              <a:t> times</a:t>
            </a:r>
          </a:p>
        </p:txBody>
      </p:sp>
      <p:sp>
        <p:nvSpPr>
          <p:cNvPr id="8" name="TextBox 7"/>
          <p:cNvSpPr txBox="1"/>
          <p:nvPr/>
        </p:nvSpPr>
        <p:spPr>
          <a:xfrm>
            <a:off x="1313890" y="5355973"/>
            <a:ext cx="9564219" cy="954107"/>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fontAlgn="base">
              <a:spcBef>
                <a:spcPct val="0"/>
              </a:spcBef>
              <a:spcAft>
                <a:spcPct val="0"/>
              </a:spcAft>
            </a:pPr>
            <a:r>
              <a:rPr lang="en-US" sz="2800">
                <a:solidFill>
                  <a:srgbClr val="000000"/>
                </a:solidFill>
                <a:latin typeface="+mj-lt"/>
              </a:rPr>
              <a:t>E/R is a </a:t>
            </a:r>
            <a:r>
              <a:rPr lang="en-US" sz="2800" i="1">
                <a:solidFill>
                  <a:srgbClr val="000000"/>
                </a:solidFill>
                <a:latin typeface="+mj-lt"/>
              </a:rPr>
              <a:t>visual syntax </a:t>
            </a:r>
            <a:r>
              <a:rPr lang="en-US" sz="2800">
                <a:solidFill>
                  <a:srgbClr val="000000"/>
                </a:solidFill>
                <a:latin typeface="+mj-lt"/>
              </a:rPr>
              <a:t>for DB design which is </a:t>
            </a:r>
            <a:r>
              <a:rPr lang="en-US" sz="2800" b="1" i="1">
                <a:solidFill>
                  <a:srgbClr val="000000"/>
                </a:solidFill>
                <a:latin typeface="+mj-lt"/>
              </a:rPr>
              <a:t>precise enough</a:t>
            </a:r>
            <a:r>
              <a:rPr lang="en-US" sz="2800">
                <a:solidFill>
                  <a:srgbClr val="000000"/>
                </a:solidFill>
                <a:latin typeface="+mj-lt"/>
              </a:rPr>
              <a:t> for technical points, but </a:t>
            </a:r>
            <a:r>
              <a:rPr lang="en-US" sz="2800" b="1" i="1">
                <a:solidFill>
                  <a:srgbClr val="000000"/>
                </a:solidFill>
                <a:latin typeface="+mj-lt"/>
              </a:rPr>
              <a:t>abstracted enough</a:t>
            </a:r>
            <a:r>
              <a:rPr lang="en-US" sz="2800">
                <a:solidFill>
                  <a:srgbClr val="000000"/>
                </a:solidFill>
                <a:latin typeface="+mj-lt"/>
              </a:rPr>
              <a:t> for non-technical people</a:t>
            </a:r>
          </a:p>
        </p:txBody>
      </p:sp>
      <p:sp>
        <p:nvSpPr>
          <p:cNvPr id="13" name="Title 1"/>
          <p:cNvSpPr>
            <a:spLocks noGrp="1"/>
          </p:cNvSpPr>
          <p:nvPr>
            <p:ph type="title"/>
          </p:nvPr>
        </p:nvSpPr>
        <p:spPr/>
        <p:txBody>
          <a:bodyPr/>
          <a:lstStyle/>
          <a:p>
            <a:r>
              <a:rPr lang="en-US"/>
              <a:t>Database Design Process</a:t>
            </a:r>
          </a:p>
        </p:txBody>
      </p:sp>
      <p:sp>
        <p:nvSpPr>
          <p:cNvPr id="14" name="Pentagon 13"/>
          <p:cNvSpPr/>
          <p:nvPr/>
        </p:nvSpPr>
        <p:spPr>
          <a:xfrm>
            <a:off x="914400" y="1650182"/>
            <a:ext cx="3411375" cy="460841"/>
          </a:xfrm>
          <a:prstGeom prst="homePlate">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1. Requirements Analysis</a:t>
            </a:r>
          </a:p>
        </p:txBody>
      </p:sp>
      <p:sp>
        <p:nvSpPr>
          <p:cNvPr id="15" name="Chevron 14"/>
          <p:cNvSpPr/>
          <p:nvPr/>
        </p:nvSpPr>
        <p:spPr>
          <a:xfrm>
            <a:off x="4177400" y="1650182"/>
            <a:ext cx="3411375" cy="460841"/>
          </a:xfrm>
          <a:prstGeom prst="chevron">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2. Conceptual Design </a:t>
            </a:r>
          </a:p>
        </p:txBody>
      </p:sp>
      <p:sp>
        <p:nvSpPr>
          <p:cNvPr id="16" name="Chevron 15"/>
          <p:cNvSpPr/>
          <p:nvPr/>
        </p:nvSpPr>
        <p:spPr>
          <a:xfrm>
            <a:off x="7440401" y="1650182"/>
            <a:ext cx="3411375" cy="460841"/>
          </a:xfrm>
          <a:prstGeom prst="chevron">
            <a:avLst/>
          </a:prstGeom>
          <a:solidFill>
            <a:schemeClr val="accent6">
              <a:lumMod val="60000"/>
              <a:lumOff val="40000"/>
            </a:schemeClr>
          </a:solidFill>
          <a:ln>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3. Logical, Physical, Security, etc.</a:t>
            </a:r>
          </a:p>
        </p:txBody>
      </p:sp>
      <p:grpSp>
        <p:nvGrpSpPr>
          <p:cNvPr id="2" name="Group 1"/>
          <p:cNvGrpSpPr/>
          <p:nvPr/>
        </p:nvGrpSpPr>
        <p:grpSpPr>
          <a:xfrm>
            <a:off x="3253585" y="3303060"/>
            <a:ext cx="5684828" cy="1482998"/>
            <a:chOff x="3408827" y="3320627"/>
            <a:chExt cx="5374343" cy="1402002"/>
          </a:xfrm>
        </p:grpSpPr>
        <p:sp>
          <p:nvSpPr>
            <p:cNvPr id="19" name="AutoShape 8"/>
            <p:cNvSpPr>
              <a:spLocks noChangeArrowheads="1"/>
            </p:cNvSpPr>
            <p:nvPr/>
          </p:nvSpPr>
          <p:spPr bwMode="auto">
            <a:xfrm>
              <a:off x="5932432" y="4208562"/>
              <a:ext cx="1121602" cy="420601"/>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chemeClr val="tx1">
                      <a:lumMod val="50000"/>
                      <a:lumOff val="50000"/>
                    </a:schemeClr>
                  </a:solidFill>
                </a:rPr>
                <a:t>Makes</a:t>
              </a:r>
            </a:p>
          </p:txBody>
        </p:sp>
        <p:sp>
          <p:nvSpPr>
            <p:cNvPr id="20" name="Rectangle 19"/>
            <p:cNvSpPr>
              <a:spLocks noChangeArrowheads="1"/>
            </p:cNvSpPr>
            <p:nvPr/>
          </p:nvSpPr>
          <p:spPr bwMode="auto">
            <a:xfrm>
              <a:off x="4764096" y="4255295"/>
              <a:ext cx="747735" cy="32713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chemeClr val="tx1">
                      <a:lumMod val="50000"/>
                      <a:lumOff val="50000"/>
                    </a:schemeClr>
                  </a:solidFill>
                </a:rPr>
                <a:t>Product</a:t>
              </a:r>
            </a:p>
          </p:txBody>
        </p:sp>
        <p:sp>
          <p:nvSpPr>
            <p:cNvPr id="21" name="Oval 12"/>
            <p:cNvSpPr>
              <a:spLocks noChangeArrowheads="1"/>
            </p:cNvSpPr>
            <p:nvPr/>
          </p:nvSpPr>
          <p:spPr bwMode="auto">
            <a:xfrm>
              <a:off x="4063095" y="3554294"/>
              <a:ext cx="887935" cy="420601"/>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u="sng">
                  <a:solidFill>
                    <a:schemeClr val="tx1">
                      <a:lumMod val="50000"/>
                      <a:lumOff val="50000"/>
                    </a:schemeClr>
                  </a:solidFill>
                </a:rPr>
                <a:t>name</a:t>
              </a:r>
            </a:p>
          </p:txBody>
        </p:sp>
        <p:sp>
          <p:nvSpPr>
            <p:cNvPr id="22" name="Oval 13"/>
            <p:cNvSpPr>
              <a:spLocks noChangeArrowheads="1"/>
            </p:cNvSpPr>
            <p:nvPr/>
          </p:nvSpPr>
          <p:spPr bwMode="auto">
            <a:xfrm>
              <a:off x="5044497" y="3601027"/>
              <a:ext cx="887935" cy="420601"/>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chemeClr val="tx1">
                      <a:lumMod val="50000"/>
                      <a:lumOff val="50000"/>
                    </a:schemeClr>
                  </a:solidFill>
                </a:rPr>
                <a:t>category</a:t>
              </a:r>
            </a:p>
          </p:txBody>
        </p:sp>
        <p:sp>
          <p:nvSpPr>
            <p:cNvPr id="23" name="Oval 16"/>
            <p:cNvSpPr>
              <a:spLocks noChangeArrowheads="1"/>
            </p:cNvSpPr>
            <p:nvPr/>
          </p:nvSpPr>
          <p:spPr bwMode="auto">
            <a:xfrm>
              <a:off x="3408827" y="3928161"/>
              <a:ext cx="887935" cy="420601"/>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chemeClr val="tx1">
                      <a:lumMod val="50000"/>
                      <a:lumOff val="50000"/>
                    </a:schemeClr>
                  </a:solidFill>
                </a:rPr>
                <a:t>price</a:t>
              </a:r>
            </a:p>
          </p:txBody>
        </p:sp>
        <p:cxnSp>
          <p:nvCxnSpPr>
            <p:cNvPr id="24" name="Straight Connector 23"/>
            <p:cNvCxnSpPr>
              <a:stCxn id="28" idx="5"/>
              <a:endCxn id="25" idx="1"/>
            </p:cNvCxnSpPr>
            <p:nvPr/>
          </p:nvCxnSpPr>
          <p:spPr bwMode="auto">
            <a:xfrm rot="16200000" flipH="1">
              <a:off x="4399564" y="4054329"/>
              <a:ext cx="131696" cy="59737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5" name="Straight Connector 24"/>
            <p:cNvCxnSpPr>
              <a:stCxn id="26" idx="5"/>
              <a:endCxn id="25" idx="0"/>
            </p:cNvCxnSpPr>
            <p:nvPr/>
          </p:nvCxnSpPr>
          <p:spPr bwMode="auto">
            <a:xfrm rot="16200000" flipH="1">
              <a:off x="4808482" y="3925812"/>
              <a:ext cx="341996" cy="31696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27" idx="4"/>
              <a:endCxn id="25" idx="0"/>
            </p:cNvCxnSpPr>
            <p:nvPr/>
          </p:nvCxnSpPr>
          <p:spPr bwMode="auto">
            <a:xfrm rot="5400000">
              <a:off x="5196380" y="3963211"/>
              <a:ext cx="233667" cy="35050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7" name="Rectangle 10"/>
            <p:cNvSpPr>
              <a:spLocks noChangeArrowheads="1"/>
            </p:cNvSpPr>
            <p:nvPr/>
          </p:nvSpPr>
          <p:spPr bwMode="auto">
            <a:xfrm>
              <a:off x="7427901" y="4255295"/>
              <a:ext cx="1355269" cy="46733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chemeClr val="tx1">
                      <a:lumMod val="50000"/>
                      <a:lumOff val="50000"/>
                    </a:schemeClr>
                  </a:solidFill>
                </a:rPr>
                <a:t>Company</a:t>
              </a:r>
            </a:p>
          </p:txBody>
        </p:sp>
        <p:sp>
          <p:nvSpPr>
            <p:cNvPr id="28" name="Oval 12"/>
            <p:cNvSpPr>
              <a:spLocks noChangeArrowheads="1"/>
            </p:cNvSpPr>
            <p:nvPr/>
          </p:nvSpPr>
          <p:spPr bwMode="auto">
            <a:xfrm>
              <a:off x="7661568" y="3320627"/>
              <a:ext cx="887935" cy="420601"/>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u="sng">
                  <a:solidFill>
                    <a:schemeClr val="tx1">
                      <a:lumMod val="50000"/>
                      <a:lumOff val="50000"/>
                    </a:schemeClr>
                  </a:solidFill>
                </a:rPr>
                <a:t>name</a:t>
              </a:r>
            </a:p>
          </p:txBody>
        </p:sp>
        <p:cxnSp>
          <p:nvCxnSpPr>
            <p:cNvPr id="29" name="Straight Connector 28"/>
            <p:cNvCxnSpPr/>
            <p:nvPr/>
          </p:nvCxnSpPr>
          <p:spPr bwMode="auto">
            <a:xfrm rot="5400000">
              <a:off x="7974671" y="3810497"/>
              <a:ext cx="575663" cy="313932"/>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0" name="Straight Connector 29"/>
            <p:cNvCxnSpPr>
              <a:stCxn id="25" idx="3"/>
              <a:endCxn id="22" idx="1"/>
            </p:cNvCxnSpPr>
            <p:nvPr/>
          </p:nvCxnSpPr>
          <p:spPr bwMode="auto">
            <a:xfrm>
              <a:off x="5511831" y="4418862"/>
              <a:ext cx="420601" cy="97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1" name="Straight Connector 30"/>
            <p:cNvCxnSpPr>
              <a:stCxn id="22" idx="3"/>
            </p:cNvCxnSpPr>
            <p:nvPr/>
          </p:nvCxnSpPr>
          <p:spPr bwMode="auto">
            <a:xfrm>
              <a:off x="7054034" y="4418862"/>
              <a:ext cx="373867" cy="701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9" name="Right Brace 8"/>
          <p:cNvSpPr/>
          <p:nvPr/>
        </p:nvSpPr>
        <p:spPr>
          <a:xfrm rot="5400000">
            <a:off x="4672881" y="-1233708"/>
            <a:ext cx="484051" cy="73351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3432801" y="2687656"/>
            <a:ext cx="3057184" cy="400110"/>
          </a:xfrm>
          <a:prstGeom prst="rect">
            <a:avLst/>
          </a:prstGeom>
          <a:noFill/>
        </p:spPr>
        <p:txBody>
          <a:bodyPr wrap="none" rtlCol="0">
            <a:spAutoFit/>
          </a:bodyPr>
          <a:lstStyle/>
          <a:p>
            <a:r>
              <a:rPr lang="en-US" sz="2000" b="1">
                <a:latin typeface="+mj-lt"/>
              </a:rPr>
              <a:t>E/R Model &amp; Diagrams used</a:t>
            </a:r>
          </a:p>
        </p:txBody>
      </p:sp>
      <p:sp>
        <p:nvSpPr>
          <p:cNvPr id="3" name="Slide Number Placeholder 2">
            <a:extLst>
              <a:ext uri="{FF2B5EF4-FFF2-40B4-BE49-F238E27FC236}">
                <a16:creationId xmlns:a16="http://schemas.microsoft.com/office/drawing/2014/main" id="{94CB4D63-9DE8-4786-AABD-D288D05570B4}"/>
              </a:ext>
            </a:extLst>
          </p:cNvPr>
          <p:cNvSpPr>
            <a:spLocks noGrp="1"/>
          </p:cNvSpPr>
          <p:nvPr>
            <p:ph type="sldNum" sz="quarter" idx="12"/>
          </p:nvPr>
        </p:nvSpPr>
        <p:spPr/>
        <p:txBody>
          <a:bodyPr/>
          <a:lstStyle/>
          <a:p>
            <a:fld id="{641C0F02-33DC-3A41-9F51-431B7FE03ABE}" type="slidenum">
              <a:rPr lang="en-US" smtClean="0"/>
              <a:t>7</a:t>
            </a:fld>
            <a:endParaRPr lang="en-US"/>
          </a:p>
        </p:txBody>
      </p:sp>
    </p:spTree>
    <p:extLst>
      <p:ext uri="{BB962C8B-B14F-4D97-AF65-F5344CB8AC3E}">
        <p14:creationId xmlns:p14="http://schemas.microsoft.com/office/powerpoint/2010/main" val="180419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Interlude: Impact of the ER model</a:t>
            </a:r>
          </a:p>
        </p:txBody>
      </p:sp>
      <p:sp>
        <p:nvSpPr>
          <p:cNvPr id="3" name="Content Placeholder 2"/>
          <p:cNvSpPr>
            <a:spLocks noGrp="1"/>
          </p:cNvSpPr>
          <p:nvPr>
            <p:ph idx="1"/>
          </p:nvPr>
        </p:nvSpPr>
        <p:spPr/>
        <p:txBody>
          <a:bodyPr/>
          <a:lstStyle/>
          <a:p>
            <a:r>
              <a:rPr lang="en-US" sz="3200"/>
              <a:t>The E/R model is one of the most cited articles in Computer Science </a:t>
            </a:r>
          </a:p>
          <a:p>
            <a:pPr lvl="1"/>
            <a:r>
              <a:rPr lang="en-US" i="1"/>
              <a:t>“The Entity-Relationship model – toward a unified view of data” </a:t>
            </a:r>
            <a:r>
              <a:rPr lang="en-US"/>
              <a:t>Peter Chen, 1976</a:t>
            </a:r>
          </a:p>
          <a:p>
            <a:endParaRPr lang="en-US" sz="3200"/>
          </a:p>
          <a:p>
            <a:r>
              <a:rPr lang="en-US" sz="3200"/>
              <a:t>Used by companies big and small</a:t>
            </a:r>
          </a:p>
          <a:p>
            <a:pPr lvl="1"/>
            <a:r>
              <a:rPr lang="en-US"/>
              <a:t>You’ll know it soon enough</a:t>
            </a:r>
          </a:p>
          <a:p>
            <a:endParaRPr lang="en-US"/>
          </a:p>
          <a:p>
            <a:endParaRPr lang="en-US"/>
          </a:p>
          <a:p>
            <a:endParaRPr lang="en-US"/>
          </a:p>
        </p:txBody>
      </p:sp>
      <p:pic>
        <p:nvPicPr>
          <p:cNvPr id="8" name="Picture 7"/>
          <p:cNvPicPr>
            <a:picLocks noChangeAspect="1"/>
          </p:cNvPicPr>
          <p:nvPr/>
        </p:nvPicPr>
        <p:blipFill>
          <a:blip r:embed="rId2"/>
          <a:stretch>
            <a:fillRect/>
          </a:stretch>
        </p:blipFill>
        <p:spPr>
          <a:xfrm>
            <a:off x="9072380" y="3763963"/>
            <a:ext cx="1819639" cy="2413000"/>
          </a:xfrm>
          <a:prstGeom prst="rect">
            <a:avLst/>
          </a:prstGeom>
        </p:spPr>
      </p:pic>
      <p:sp>
        <p:nvSpPr>
          <p:cNvPr id="4" name="Slide Number Placeholder 3">
            <a:extLst>
              <a:ext uri="{FF2B5EF4-FFF2-40B4-BE49-F238E27FC236}">
                <a16:creationId xmlns:a16="http://schemas.microsoft.com/office/drawing/2014/main" id="{B28FF4BC-6205-4660-BCDD-8504C42CDF97}"/>
              </a:ext>
            </a:extLst>
          </p:cNvPr>
          <p:cNvSpPr>
            <a:spLocks noGrp="1"/>
          </p:cNvSpPr>
          <p:nvPr>
            <p:ph type="sldNum" sz="quarter" idx="12"/>
          </p:nvPr>
        </p:nvSpPr>
        <p:spPr/>
        <p:txBody>
          <a:bodyPr/>
          <a:lstStyle/>
          <a:p>
            <a:fld id="{641C0F02-33DC-3A41-9F51-431B7FE03ABE}" type="slidenum">
              <a:rPr lang="en-US" smtClean="0"/>
              <a:t>8</a:t>
            </a:fld>
            <a:endParaRPr lang="en-US"/>
          </a:p>
        </p:txBody>
      </p:sp>
    </p:spTree>
    <p:extLst>
      <p:ext uri="{BB962C8B-B14F-4D97-AF65-F5344CB8AC3E}">
        <p14:creationId xmlns:p14="http://schemas.microsoft.com/office/powerpoint/2010/main" val="186042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Entities and Entity Sets</a:t>
            </a:r>
          </a:p>
        </p:txBody>
      </p:sp>
      <p:sp>
        <p:nvSpPr>
          <p:cNvPr id="3" name="Content Placeholder 2"/>
          <p:cNvSpPr>
            <a:spLocks noGrp="1"/>
          </p:cNvSpPr>
          <p:nvPr>
            <p:ph idx="1"/>
          </p:nvPr>
        </p:nvSpPr>
        <p:spPr>
          <a:xfrm>
            <a:off x="914400" y="2078182"/>
            <a:ext cx="7016620" cy="4017818"/>
          </a:xfrm>
        </p:spPr>
        <p:txBody>
          <a:bodyPr>
            <a:normAutofit fontScale="92500" lnSpcReduction="10000"/>
          </a:bodyPr>
          <a:lstStyle/>
          <a:p>
            <a:r>
              <a:rPr lang="en-US" b="1"/>
              <a:t>Entities</a:t>
            </a:r>
            <a:r>
              <a:rPr lang="en-US"/>
              <a:t> &amp; </a:t>
            </a:r>
            <a:r>
              <a:rPr lang="en-US" b="1"/>
              <a:t>entity sets</a:t>
            </a:r>
            <a:r>
              <a:rPr lang="en-US"/>
              <a:t> are the primitive unit of the E/R model</a:t>
            </a:r>
          </a:p>
          <a:p>
            <a:pPr lvl="1"/>
            <a:endParaRPr lang="en-US" u="sng"/>
          </a:p>
          <a:p>
            <a:pPr lvl="1"/>
            <a:r>
              <a:rPr lang="en-US" u="sng"/>
              <a:t>Entities</a:t>
            </a:r>
            <a:r>
              <a:rPr lang="en-US"/>
              <a:t> are the individual objects, which are members of entity sets</a:t>
            </a:r>
            <a:endParaRPr lang="en-US" u="sng"/>
          </a:p>
          <a:p>
            <a:pPr lvl="2"/>
            <a:r>
              <a:rPr lang="en-US"/>
              <a:t>Ex: A specific person or product</a:t>
            </a:r>
          </a:p>
          <a:p>
            <a:pPr lvl="1"/>
            <a:endParaRPr lang="en-US" u="sng"/>
          </a:p>
          <a:p>
            <a:pPr lvl="1"/>
            <a:r>
              <a:rPr lang="en-US" u="sng"/>
              <a:t>Entity sets</a:t>
            </a:r>
            <a:r>
              <a:rPr lang="en-US"/>
              <a:t> are the </a:t>
            </a:r>
            <a:r>
              <a:rPr lang="en-US" i="1"/>
              <a:t>classes </a:t>
            </a:r>
            <a:r>
              <a:rPr lang="en-US"/>
              <a:t>or </a:t>
            </a:r>
            <a:r>
              <a:rPr lang="en-US" i="1"/>
              <a:t>types</a:t>
            </a:r>
            <a:r>
              <a:rPr lang="en-US"/>
              <a:t> of objects in our model</a:t>
            </a:r>
          </a:p>
          <a:p>
            <a:pPr lvl="2"/>
            <a:r>
              <a:rPr lang="en-US"/>
              <a:t>Ex: Person, Product</a:t>
            </a:r>
          </a:p>
          <a:p>
            <a:pPr lvl="2"/>
            <a:r>
              <a:rPr lang="en-US" i="1"/>
              <a:t>These are what is shown in E/R diagrams - as rectangles</a:t>
            </a:r>
          </a:p>
          <a:p>
            <a:pPr lvl="2"/>
            <a:r>
              <a:rPr lang="en-US" i="1"/>
              <a:t>Entity sets represent the sets of all possible entities</a:t>
            </a:r>
          </a:p>
          <a:p>
            <a:pPr lvl="2"/>
            <a:endParaRPr lang="en-US" i="1"/>
          </a:p>
          <a:p>
            <a:pPr lvl="2"/>
            <a:endParaRPr lang="en-US" u="sng"/>
          </a:p>
        </p:txBody>
      </p:sp>
      <p:sp>
        <p:nvSpPr>
          <p:cNvPr id="5" name="Rectangle 4"/>
          <p:cNvSpPr>
            <a:spLocks noChangeArrowheads="1"/>
          </p:cNvSpPr>
          <p:nvPr/>
        </p:nvSpPr>
        <p:spPr bwMode="auto">
          <a:xfrm>
            <a:off x="8494760" y="3712971"/>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11" name="Rectangle 10"/>
          <p:cNvSpPr>
            <a:spLocks noChangeArrowheads="1"/>
          </p:cNvSpPr>
          <p:nvPr/>
        </p:nvSpPr>
        <p:spPr bwMode="auto">
          <a:xfrm>
            <a:off x="10277700" y="4194631"/>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7" name="TextBox 6"/>
          <p:cNvSpPr txBox="1"/>
          <p:nvPr/>
        </p:nvSpPr>
        <p:spPr>
          <a:xfrm>
            <a:off x="8494760" y="5116694"/>
            <a:ext cx="2694777" cy="369332"/>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none" rtlCol="0">
            <a:spAutoFit/>
          </a:bodyPr>
          <a:lstStyle/>
          <a:p>
            <a:r>
              <a:rPr lang="en-US">
                <a:latin typeface="+mj-lt"/>
              </a:rPr>
              <a:t>These represent </a:t>
            </a:r>
            <a:r>
              <a:rPr lang="en-US" b="1" u="sng">
                <a:latin typeface="+mj-lt"/>
              </a:rPr>
              <a:t>entity sets</a:t>
            </a:r>
          </a:p>
        </p:txBody>
      </p:sp>
      <p:cxnSp>
        <p:nvCxnSpPr>
          <p:cNvPr id="12" name="Straight Arrow Connector 11"/>
          <p:cNvCxnSpPr/>
          <p:nvPr/>
        </p:nvCxnSpPr>
        <p:spPr>
          <a:xfrm flipV="1">
            <a:off x="7704083" y="4403834"/>
            <a:ext cx="906517" cy="1082192"/>
          </a:xfrm>
          <a:prstGeom prst="straightConnector1">
            <a:avLst/>
          </a:prstGeom>
          <a:ln w="44450">
            <a:tailEnd type="triangle"/>
          </a:ln>
        </p:spPr>
        <p:style>
          <a:lnRef idx="3">
            <a:schemeClr val="accent2"/>
          </a:lnRef>
          <a:fillRef idx="0">
            <a:schemeClr val="accent2"/>
          </a:fillRef>
          <a:effectRef idx="2">
            <a:schemeClr val="accent2"/>
          </a:effectRef>
          <a:fontRef idx="minor">
            <a:schemeClr val="tx1"/>
          </a:fontRef>
        </p:style>
      </p:cxnSp>
      <p:sp>
        <p:nvSpPr>
          <p:cNvPr id="6" name="TextBox 5"/>
          <p:cNvSpPr txBox="1"/>
          <p:nvPr/>
        </p:nvSpPr>
        <p:spPr>
          <a:xfrm>
            <a:off x="9713960" y="5486026"/>
            <a:ext cx="184731" cy="369332"/>
          </a:xfrm>
          <a:prstGeom prst="rect">
            <a:avLst/>
          </a:prstGeom>
          <a:noFill/>
        </p:spPr>
        <p:txBody>
          <a:bodyPr wrap="none" rtlCol="0">
            <a:spAutoFit/>
          </a:bodyPr>
          <a:lstStyle/>
          <a:p>
            <a:endParaRPr lang="en-US"/>
          </a:p>
        </p:txBody>
      </p:sp>
      <p:sp>
        <p:nvSpPr>
          <p:cNvPr id="4" name="Slide Number Placeholder 3">
            <a:extLst>
              <a:ext uri="{FF2B5EF4-FFF2-40B4-BE49-F238E27FC236}">
                <a16:creationId xmlns:a16="http://schemas.microsoft.com/office/drawing/2014/main" id="{630B931C-E3E8-454C-89FF-0F0EF461DD05}"/>
              </a:ext>
            </a:extLst>
          </p:cNvPr>
          <p:cNvSpPr>
            <a:spLocks noGrp="1"/>
          </p:cNvSpPr>
          <p:nvPr>
            <p:ph type="sldNum" sz="quarter" idx="12"/>
          </p:nvPr>
        </p:nvSpPr>
        <p:spPr/>
        <p:txBody>
          <a:bodyPr/>
          <a:lstStyle/>
          <a:p>
            <a:fld id="{641C0F02-33DC-3A41-9F51-431B7FE03ABE}" type="slidenum">
              <a:rPr lang="en-US" smtClean="0"/>
              <a:t>9</a:t>
            </a:fld>
            <a:endParaRPr lang="en-US"/>
          </a:p>
        </p:txBody>
      </p:sp>
    </p:spTree>
    <p:extLst>
      <p:ext uri="{BB962C8B-B14F-4D97-AF65-F5344CB8AC3E}">
        <p14:creationId xmlns:p14="http://schemas.microsoft.com/office/powerpoint/2010/main" val="84615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Entities and Entity Sets</a:t>
            </a:r>
          </a:p>
        </p:txBody>
      </p:sp>
      <p:sp>
        <p:nvSpPr>
          <p:cNvPr id="3" name="Content Placeholder 2"/>
          <p:cNvSpPr>
            <a:spLocks noGrp="1"/>
          </p:cNvSpPr>
          <p:nvPr>
            <p:ph idx="1"/>
          </p:nvPr>
        </p:nvSpPr>
        <p:spPr>
          <a:xfrm>
            <a:off x="914400" y="1818214"/>
            <a:ext cx="6553200" cy="4277786"/>
          </a:xfrm>
        </p:spPr>
        <p:txBody>
          <a:bodyPr>
            <a:normAutofit/>
          </a:bodyPr>
          <a:lstStyle/>
          <a:p>
            <a:r>
              <a:rPr lang="en-US"/>
              <a:t>An entity set has </a:t>
            </a:r>
            <a:r>
              <a:rPr lang="en-US" b="1"/>
              <a:t>attributes</a:t>
            </a:r>
          </a:p>
          <a:p>
            <a:pPr lvl="1"/>
            <a:r>
              <a:rPr lang="en-US" u="sng"/>
              <a:t>Represented by ovals attached to an entity set</a:t>
            </a:r>
          </a:p>
          <a:p>
            <a:pPr marL="0" indent="0">
              <a:buNone/>
            </a:pPr>
            <a:endParaRPr lang="en-US"/>
          </a:p>
        </p:txBody>
      </p:sp>
      <p:grpSp>
        <p:nvGrpSpPr>
          <p:cNvPr id="9" name="Group 8"/>
          <p:cNvGrpSpPr/>
          <p:nvPr/>
        </p:nvGrpSpPr>
        <p:grpSpPr>
          <a:xfrm>
            <a:off x="4038600" y="3649837"/>
            <a:ext cx="4114800" cy="1676400"/>
            <a:chOff x="2133600" y="4648200"/>
            <a:chExt cx="4114800" cy="1676400"/>
          </a:xfrm>
        </p:grpSpPr>
        <p:sp>
          <p:nvSpPr>
            <p:cNvPr id="5" name="Rectangle 4"/>
            <p:cNvSpPr>
              <a:spLocks noChangeArrowheads="1"/>
            </p:cNvSpPr>
            <p:nvPr/>
          </p:nvSpPr>
          <p:spPr bwMode="auto">
            <a:xfrm>
              <a:off x="4343400" y="5791200"/>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 name="Oval 12"/>
            <p:cNvSpPr>
              <a:spLocks noChangeArrowheads="1"/>
            </p:cNvSpPr>
            <p:nvPr/>
          </p:nvSpPr>
          <p:spPr bwMode="auto">
            <a:xfrm>
              <a:off x="3200400" y="46482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7" name="Oval 13"/>
            <p:cNvSpPr>
              <a:spLocks noChangeArrowheads="1"/>
            </p:cNvSpPr>
            <p:nvPr/>
          </p:nvSpPr>
          <p:spPr bwMode="auto">
            <a:xfrm>
              <a:off x="4800600" y="47244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8" name="Oval 16"/>
            <p:cNvSpPr>
              <a:spLocks noChangeArrowheads="1"/>
            </p:cNvSpPr>
            <p:nvPr/>
          </p:nvSpPr>
          <p:spPr bwMode="auto">
            <a:xfrm>
              <a:off x="2133600" y="52578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cxnSp>
          <p:nvCxnSpPr>
            <p:cNvPr id="10" name="Straight Connector 9"/>
            <p:cNvCxnSpPr>
              <a:stCxn id="8" idx="5"/>
              <a:endCxn id="5" idx="1"/>
            </p:cNvCxnSpPr>
            <p:nvPr/>
          </p:nvCxnSpPr>
          <p:spPr bwMode="auto">
            <a:xfrm rot="16200000" flipH="1">
              <a:off x="3749022" y="5463520"/>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1" name="Straight Connector 10"/>
            <p:cNvCxnSpPr>
              <a:stCxn id="6" idx="5"/>
              <a:endCxn id="5" idx="0"/>
            </p:cNvCxnSpPr>
            <p:nvPr/>
          </p:nvCxnSpPr>
          <p:spPr bwMode="auto">
            <a:xfrm rot="16200000" flipH="1">
              <a:off x="4415772" y="5253970"/>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4" name="Straight Connector 13"/>
            <p:cNvCxnSpPr>
              <a:stCxn id="7" idx="4"/>
              <a:endCxn id="5" idx="0"/>
            </p:cNvCxnSpPr>
            <p:nvPr/>
          </p:nvCxnSpPr>
          <p:spPr bwMode="auto">
            <a:xfrm rot="5400000">
              <a:off x="5048250" y="5314950"/>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0" name="TextBox 19"/>
          <p:cNvSpPr txBox="1"/>
          <p:nvPr/>
        </p:nvSpPr>
        <p:spPr>
          <a:xfrm>
            <a:off x="8641406" y="3041923"/>
            <a:ext cx="3048000" cy="830997"/>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Shapes </a:t>
            </a:r>
            <a:r>
              <a:rPr lang="en-US" sz="2400" b="1" u="sng">
                <a:solidFill>
                  <a:srgbClr val="000000"/>
                </a:solidFill>
                <a:latin typeface="+mj-lt"/>
              </a:rPr>
              <a:t>are</a:t>
            </a:r>
            <a:r>
              <a:rPr lang="en-US" sz="2400">
                <a:solidFill>
                  <a:srgbClr val="000000"/>
                </a:solidFill>
                <a:latin typeface="+mj-lt"/>
              </a:rPr>
              <a:t> important. Colors </a:t>
            </a:r>
            <a:r>
              <a:rPr lang="en-US" sz="2400" b="1" u="sng">
                <a:solidFill>
                  <a:srgbClr val="000000"/>
                </a:solidFill>
                <a:latin typeface="+mj-lt"/>
              </a:rPr>
              <a:t>are not</a:t>
            </a:r>
            <a:r>
              <a:rPr lang="en-US" sz="2400" b="1">
                <a:solidFill>
                  <a:srgbClr val="000000"/>
                </a:solidFill>
                <a:latin typeface="+mj-lt"/>
              </a:rPr>
              <a:t>.</a:t>
            </a:r>
          </a:p>
        </p:txBody>
      </p:sp>
      <p:sp>
        <p:nvSpPr>
          <p:cNvPr id="4" name="Slide Number Placeholder 3">
            <a:extLst>
              <a:ext uri="{FF2B5EF4-FFF2-40B4-BE49-F238E27FC236}">
                <a16:creationId xmlns:a16="http://schemas.microsoft.com/office/drawing/2014/main" id="{51E3D50F-70B3-4F75-BCAF-BC6A038843A1}"/>
              </a:ext>
            </a:extLst>
          </p:cNvPr>
          <p:cNvSpPr>
            <a:spLocks noGrp="1"/>
          </p:cNvSpPr>
          <p:nvPr>
            <p:ph type="sldNum" sz="quarter" idx="12"/>
          </p:nvPr>
        </p:nvSpPr>
        <p:spPr/>
        <p:txBody>
          <a:bodyPr/>
          <a:lstStyle/>
          <a:p>
            <a:fld id="{641C0F02-33DC-3A41-9F51-431B7FE03ABE}" type="slidenum">
              <a:rPr lang="en-US" smtClean="0"/>
              <a:t>10</a:t>
            </a:fld>
            <a:endParaRPr lang="en-US"/>
          </a:p>
        </p:txBody>
      </p:sp>
      <p:sp>
        <p:nvSpPr>
          <p:cNvPr id="12" name="TextBox 11">
            <a:extLst>
              <a:ext uri="{FF2B5EF4-FFF2-40B4-BE49-F238E27FC236}">
                <a16:creationId xmlns:a16="http://schemas.microsoft.com/office/drawing/2014/main" id="{49A5D022-0B6E-CCF4-4FDF-6FA3C29A196F}"/>
              </a:ext>
            </a:extLst>
          </p:cNvPr>
          <p:cNvSpPr txBox="1"/>
          <p:nvPr/>
        </p:nvSpPr>
        <p:spPr>
          <a:xfrm>
            <a:off x="2149250" y="6093973"/>
            <a:ext cx="73857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 nice drawing tool is </a:t>
            </a:r>
            <a:r>
              <a:rPr lang="en-US">
                <a:ea typeface="+mn-lt"/>
                <a:cs typeface="+mn-lt"/>
                <a:hlinkClick r:id="rId2"/>
              </a:rPr>
              <a:t>ERdoc Playground</a:t>
            </a:r>
            <a:endParaRPr lang="en-US"/>
          </a:p>
        </p:txBody>
      </p:sp>
    </p:spTree>
    <p:extLst>
      <p:ext uri="{BB962C8B-B14F-4D97-AF65-F5344CB8AC3E}">
        <p14:creationId xmlns:p14="http://schemas.microsoft.com/office/powerpoint/2010/main" val="24836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Entities vs. Entity Sets</a:t>
            </a:r>
          </a:p>
        </p:txBody>
      </p:sp>
      <p:sp>
        <p:nvSpPr>
          <p:cNvPr id="3" name="Content Placeholder 2"/>
          <p:cNvSpPr>
            <a:spLocks noGrp="1"/>
          </p:cNvSpPr>
          <p:nvPr>
            <p:ph idx="1"/>
          </p:nvPr>
        </p:nvSpPr>
        <p:spPr>
          <a:xfrm>
            <a:off x="914400" y="1818214"/>
            <a:ext cx="2286000" cy="610345"/>
          </a:xfrm>
        </p:spPr>
        <p:txBody>
          <a:bodyPr>
            <a:normAutofit/>
          </a:bodyPr>
          <a:lstStyle/>
          <a:p>
            <a:pPr marL="0" indent="0">
              <a:buNone/>
            </a:pPr>
            <a:r>
              <a:rPr lang="en-US" i="1"/>
              <a:t>Example:</a:t>
            </a:r>
          </a:p>
        </p:txBody>
      </p:sp>
      <p:grpSp>
        <p:nvGrpSpPr>
          <p:cNvPr id="9" name="Group 8"/>
          <p:cNvGrpSpPr/>
          <p:nvPr/>
        </p:nvGrpSpPr>
        <p:grpSpPr>
          <a:xfrm>
            <a:off x="7688019" y="2903322"/>
            <a:ext cx="4114800" cy="1676400"/>
            <a:chOff x="2133600" y="4648200"/>
            <a:chExt cx="4114800" cy="1676400"/>
          </a:xfrm>
        </p:grpSpPr>
        <p:sp>
          <p:nvSpPr>
            <p:cNvPr id="5" name="Rectangle 4"/>
            <p:cNvSpPr>
              <a:spLocks noChangeArrowheads="1"/>
            </p:cNvSpPr>
            <p:nvPr/>
          </p:nvSpPr>
          <p:spPr bwMode="auto">
            <a:xfrm>
              <a:off x="4343400" y="5791200"/>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 name="Oval 12"/>
            <p:cNvSpPr>
              <a:spLocks noChangeArrowheads="1"/>
            </p:cNvSpPr>
            <p:nvPr/>
          </p:nvSpPr>
          <p:spPr bwMode="auto">
            <a:xfrm>
              <a:off x="3200400" y="46482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7" name="Oval 13"/>
            <p:cNvSpPr>
              <a:spLocks noChangeArrowheads="1"/>
            </p:cNvSpPr>
            <p:nvPr/>
          </p:nvSpPr>
          <p:spPr bwMode="auto">
            <a:xfrm>
              <a:off x="4800600" y="47244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8" name="Oval 16"/>
            <p:cNvSpPr>
              <a:spLocks noChangeArrowheads="1"/>
            </p:cNvSpPr>
            <p:nvPr/>
          </p:nvSpPr>
          <p:spPr bwMode="auto">
            <a:xfrm>
              <a:off x="2133600" y="52578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cxnSp>
          <p:nvCxnSpPr>
            <p:cNvPr id="10" name="Straight Connector 9"/>
            <p:cNvCxnSpPr>
              <a:stCxn id="8" idx="5"/>
              <a:endCxn id="5" idx="1"/>
            </p:cNvCxnSpPr>
            <p:nvPr/>
          </p:nvCxnSpPr>
          <p:spPr bwMode="auto">
            <a:xfrm rot="16200000" flipH="1">
              <a:off x="3749022" y="5463520"/>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1" name="Straight Connector 10"/>
            <p:cNvCxnSpPr>
              <a:stCxn id="6" idx="5"/>
              <a:endCxn id="5" idx="0"/>
            </p:cNvCxnSpPr>
            <p:nvPr/>
          </p:nvCxnSpPr>
          <p:spPr bwMode="auto">
            <a:xfrm rot="16200000" flipH="1">
              <a:off x="4415772" y="5253970"/>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4" name="Straight Connector 13"/>
            <p:cNvCxnSpPr>
              <a:stCxn id="7" idx="4"/>
              <a:endCxn id="5" idx="0"/>
            </p:cNvCxnSpPr>
            <p:nvPr/>
          </p:nvCxnSpPr>
          <p:spPr bwMode="auto">
            <a:xfrm rot="5400000">
              <a:off x="5048250" y="5314950"/>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12" name="Oval 11"/>
          <p:cNvSpPr/>
          <p:nvPr/>
        </p:nvSpPr>
        <p:spPr>
          <a:xfrm>
            <a:off x="1107450" y="3166579"/>
            <a:ext cx="4593021" cy="1784350"/>
          </a:xfrm>
          <a:prstGeom prst="ellipse">
            <a:avLst/>
          </a:prstGeom>
          <a:solidFill>
            <a:schemeClr val="accent4">
              <a:lumMod val="20000"/>
              <a:lumOff val="80000"/>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085821" y="5435064"/>
            <a:ext cx="1374607" cy="461665"/>
          </a:xfrm>
          <a:prstGeom prst="rect">
            <a:avLst/>
          </a:prstGeom>
          <a:noFill/>
        </p:spPr>
        <p:txBody>
          <a:bodyPr wrap="none" rtlCol="0">
            <a:spAutoFit/>
          </a:bodyPr>
          <a:lstStyle/>
          <a:p>
            <a:r>
              <a:rPr lang="en-US" sz="2400">
                <a:latin typeface="+mj-lt"/>
              </a:rPr>
              <a:t>Entity Set</a:t>
            </a:r>
          </a:p>
        </p:txBody>
      </p:sp>
      <p:sp>
        <p:nvSpPr>
          <p:cNvPr id="15" name="TextBox 14"/>
          <p:cNvSpPr txBox="1"/>
          <p:nvPr/>
        </p:nvSpPr>
        <p:spPr>
          <a:xfrm>
            <a:off x="2894782" y="4899635"/>
            <a:ext cx="1018356" cy="400110"/>
          </a:xfrm>
          <a:prstGeom prst="rect">
            <a:avLst/>
          </a:prstGeom>
          <a:noFill/>
        </p:spPr>
        <p:txBody>
          <a:bodyPr wrap="none" rtlCol="0">
            <a:spAutoFit/>
          </a:bodyPr>
          <a:lstStyle/>
          <a:p>
            <a:r>
              <a:rPr lang="en-US" sz="2000" b="1">
                <a:solidFill>
                  <a:schemeClr val="accent2"/>
                </a:solidFill>
                <a:latin typeface="+mj-lt"/>
              </a:rPr>
              <a:t>Product</a:t>
            </a:r>
          </a:p>
        </p:txBody>
      </p:sp>
      <p:grpSp>
        <p:nvGrpSpPr>
          <p:cNvPr id="25" name="Group 24"/>
          <p:cNvGrpSpPr/>
          <p:nvPr/>
        </p:nvGrpSpPr>
        <p:grpSpPr>
          <a:xfrm>
            <a:off x="1564116" y="3367721"/>
            <a:ext cx="1957952" cy="1436409"/>
            <a:chOff x="5226068" y="5426834"/>
            <a:chExt cx="2792109" cy="2274137"/>
          </a:xfrm>
        </p:grpSpPr>
        <p:pic>
          <p:nvPicPr>
            <p:cNvPr id="16" name="Picture 15"/>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6053512" y="5426834"/>
              <a:ext cx="1137221" cy="630020"/>
            </a:xfrm>
            <a:prstGeom prst="rect">
              <a:avLst/>
            </a:prstGeom>
          </p:spPr>
        </p:pic>
        <p:sp>
          <p:nvSpPr>
            <p:cNvPr id="17" name="TextBox 16"/>
            <p:cNvSpPr txBox="1"/>
            <p:nvPr/>
          </p:nvSpPr>
          <p:spPr>
            <a:xfrm>
              <a:off x="5226068" y="6190419"/>
              <a:ext cx="2792109" cy="1510552"/>
            </a:xfrm>
            <a:prstGeom prst="rect">
              <a:avLst/>
            </a:prstGeom>
            <a:noFill/>
          </p:spPr>
          <p:txBody>
            <a:bodyPr wrap="square" rtlCol="0">
              <a:spAutoFit/>
            </a:bodyPr>
            <a:lstStyle/>
            <a:p>
              <a:pPr algn="ctr"/>
              <a:r>
                <a:rPr lang="en-US" sz="1400" i="1">
                  <a:latin typeface="+mj-lt"/>
                </a:rPr>
                <a:t>Name</a:t>
              </a:r>
              <a:r>
                <a:rPr lang="en-US" sz="1400">
                  <a:latin typeface="+mj-lt"/>
                </a:rPr>
                <a:t>: Xbox</a:t>
              </a:r>
            </a:p>
            <a:p>
              <a:pPr algn="ctr"/>
              <a:r>
                <a:rPr lang="en-US" sz="1400" i="1">
                  <a:latin typeface="+mj-lt"/>
                </a:rPr>
                <a:t>Category</a:t>
              </a:r>
              <a:r>
                <a:rPr lang="en-US" sz="1400">
                  <a:latin typeface="+mj-lt"/>
                </a:rPr>
                <a:t>: Total Multimedia System</a:t>
              </a:r>
            </a:p>
            <a:p>
              <a:pPr algn="ctr"/>
              <a:r>
                <a:rPr lang="en-US" sz="1400" i="1">
                  <a:latin typeface="+mj-lt"/>
                </a:rPr>
                <a:t>Price</a:t>
              </a:r>
              <a:r>
                <a:rPr lang="en-US" sz="1400">
                  <a:latin typeface="+mj-lt"/>
                </a:rPr>
                <a:t>: $250</a:t>
              </a:r>
            </a:p>
          </p:txBody>
        </p:sp>
      </p:grpSp>
      <p:grpSp>
        <p:nvGrpSpPr>
          <p:cNvPr id="24" name="Group 23"/>
          <p:cNvGrpSpPr/>
          <p:nvPr/>
        </p:nvGrpSpPr>
        <p:grpSpPr>
          <a:xfrm>
            <a:off x="3436607" y="3421121"/>
            <a:ext cx="2042483" cy="1354333"/>
            <a:chOff x="8112441" y="5382402"/>
            <a:chExt cx="2862527" cy="1898089"/>
          </a:xfrm>
        </p:grpSpPr>
        <p:pic>
          <p:nvPicPr>
            <p:cNvPr id="18" name="Picture 17"/>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052710" y="5382402"/>
              <a:ext cx="842907" cy="842909"/>
            </a:xfrm>
            <a:prstGeom prst="rect">
              <a:avLst/>
            </a:prstGeom>
          </p:spPr>
        </p:pic>
        <p:sp>
          <p:nvSpPr>
            <p:cNvPr id="23" name="TextBox 22"/>
            <p:cNvSpPr txBox="1"/>
            <p:nvPr/>
          </p:nvSpPr>
          <p:spPr>
            <a:xfrm>
              <a:off x="8112441" y="6245258"/>
              <a:ext cx="2862527" cy="1035233"/>
            </a:xfrm>
            <a:prstGeom prst="rect">
              <a:avLst/>
            </a:prstGeom>
            <a:noFill/>
          </p:spPr>
          <p:txBody>
            <a:bodyPr wrap="none" rtlCol="0">
              <a:spAutoFit/>
            </a:bodyPr>
            <a:lstStyle/>
            <a:p>
              <a:pPr algn="ctr"/>
              <a:r>
                <a:rPr lang="en-US" sz="1400" i="1">
                  <a:latin typeface="+mj-lt"/>
                </a:rPr>
                <a:t>Name</a:t>
              </a:r>
              <a:r>
                <a:rPr lang="en-US" sz="1400">
                  <a:latin typeface="+mj-lt"/>
                </a:rPr>
                <a:t>: My Little Pony Doll</a:t>
              </a:r>
            </a:p>
            <a:p>
              <a:pPr algn="ctr"/>
              <a:r>
                <a:rPr lang="en-US" sz="1400" i="1">
                  <a:latin typeface="+mj-lt"/>
                </a:rPr>
                <a:t>Category</a:t>
              </a:r>
              <a:r>
                <a:rPr lang="en-US" sz="1400">
                  <a:latin typeface="+mj-lt"/>
                </a:rPr>
                <a:t>: Toy</a:t>
              </a:r>
            </a:p>
            <a:p>
              <a:pPr algn="ctr"/>
              <a:r>
                <a:rPr lang="en-US" sz="1400" i="1">
                  <a:latin typeface="+mj-lt"/>
                </a:rPr>
                <a:t>Price</a:t>
              </a:r>
              <a:r>
                <a:rPr lang="en-US" sz="1400">
                  <a:latin typeface="+mj-lt"/>
                </a:rPr>
                <a:t>: $25</a:t>
              </a:r>
            </a:p>
          </p:txBody>
        </p:sp>
      </p:grpSp>
      <p:sp>
        <p:nvSpPr>
          <p:cNvPr id="26" name="TextBox 25"/>
          <p:cNvSpPr txBox="1"/>
          <p:nvPr/>
        </p:nvSpPr>
        <p:spPr>
          <a:xfrm>
            <a:off x="6206248" y="2688923"/>
            <a:ext cx="898451" cy="461665"/>
          </a:xfrm>
          <a:prstGeom prst="rect">
            <a:avLst/>
          </a:prstGeom>
          <a:noFill/>
        </p:spPr>
        <p:txBody>
          <a:bodyPr wrap="none" rtlCol="0">
            <a:spAutoFit/>
          </a:bodyPr>
          <a:lstStyle/>
          <a:p>
            <a:r>
              <a:rPr lang="en-US" sz="2400">
                <a:latin typeface="+mj-lt"/>
              </a:rPr>
              <a:t>Entity</a:t>
            </a:r>
          </a:p>
        </p:txBody>
      </p:sp>
      <p:cxnSp>
        <p:nvCxnSpPr>
          <p:cNvPr id="28" name="Straight Arrow Connector 27"/>
          <p:cNvCxnSpPr/>
          <p:nvPr/>
        </p:nvCxnSpPr>
        <p:spPr>
          <a:xfrm flipH="1">
            <a:off x="4801722" y="3048000"/>
            <a:ext cx="1446678" cy="637111"/>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29" name="TextBox 28"/>
          <p:cNvSpPr txBox="1"/>
          <p:nvPr/>
        </p:nvSpPr>
        <p:spPr>
          <a:xfrm>
            <a:off x="6085821" y="3871879"/>
            <a:ext cx="1773934" cy="830997"/>
          </a:xfrm>
          <a:prstGeom prst="rect">
            <a:avLst/>
          </a:prstGeom>
          <a:noFill/>
        </p:spPr>
        <p:txBody>
          <a:bodyPr wrap="square" rtlCol="0">
            <a:spAutoFit/>
          </a:bodyPr>
          <a:lstStyle/>
          <a:p>
            <a:r>
              <a:rPr lang="en-US" sz="2400">
                <a:latin typeface="+mj-lt"/>
              </a:rPr>
              <a:t>Entity Attribute</a:t>
            </a:r>
          </a:p>
        </p:txBody>
      </p:sp>
      <p:cxnSp>
        <p:nvCxnSpPr>
          <p:cNvPr id="30" name="Straight Arrow Connector 29"/>
          <p:cNvCxnSpPr/>
          <p:nvPr/>
        </p:nvCxnSpPr>
        <p:spPr>
          <a:xfrm flipH="1">
            <a:off x="5021782" y="4314266"/>
            <a:ext cx="1137074" cy="9185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31" name="Straight Arrow Connector 30"/>
          <p:cNvCxnSpPr/>
          <p:nvPr/>
        </p:nvCxnSpPr>
        <p:spPr>
          <a:xfrm flipV="1">
            <a:off x="7066774" y="4007520"/>
            <a:ext cx="551286" cy="279857"/>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32" name="Straight Arrow Connector 31"/>
          <p:cNvCxnSpPr/>
          <p:nvPr/>
        </p:nvCxnSpPr>
        <p:spPr>
          <a:xfrm flipH="1" flipV="1">
            <a:off x="3886200" y="5181600"/>
            <a:ext cx="2203588" cy="451154"/>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p:cNvCxnSpPr>
            <a:stCxn id="13" idx="3"/>
          </p:cNvCxnSpPr>
          <p:nvPr/>
        </p:nvCxnSpPr>
        <p:spPr>
          <a:xfrm flipV="1">
            <a:off x="7460428" y="4474145"/>
            <a:ext cx="2342478" cy="1191752"/>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45" name="TextBox 44"/>
          <p:cNvSpPr txBox="1"/>
          <p:nvPr/>
        </p:nvSpPr>
        <p:spPr>
          <a:xfrm>
            <a:off x="7349682" y="1665206"/>
            <a:ext cx="3820305" cy="830997"/>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400">
                <a:latin typeface="+mj-lt"/>
              </a:rPr>
              <a:t>Entities are </a:t>
            </a:r>
            <a:r>
              <a:rPr lang="en-US" sz="2400" b="1" u="sng">
                <a:latin typeface="+mj-lt"/>
              </a:rPr>
              <a:t>not</a:t>
            </a:r>
            <a:r>
              <a:rPr lang="en-US" sz="2400">
                <a:latin typeface="+mj-lt"/>
              </a:rPr>
              <a:t> explicitly represented in E/R diagrams!</a:t>
            </a:r>
          </a:p>
        </p:txBody>
      </p:sp>
      <p:sp>
        <p:nvSpPr>
          <p:cNvPr id="4" name="Slide Number Placeholder 3">
            <a:extLst>
              <a:ext uri="{FF2B5EF4-FFF2-40B4-BE49-F238E27FC236}">
                <a16:creationId xmlns:a16="http://schemas.microsoft.com/office/drawing/2014/main" id="{0A044F97-8A8D-467F-A488-C77BA41E867C}"/>
              </a:ext>
            </a:extLst>
          </p:cNvPr>
          <p:cNvSpPr>
            <a:spLocks noGrp="1"/>
          </p:cNvSpPr>
          <p:nvPr>
            <p:ph type="sldNum" sz="quarter" idx="12"/>
          </p:nvPr>
        </p:nvSpPr>
        <p:spPr/>
        <p:txBody>
          <a:bodyPr/>
          <a:lstStyle/>
          <a:p>
            <a:fld id="{641C0F02-33DC-3A41-9F51-431B7FE03ABE}" type="slidenum">
              <a:rPr lang="en-US" smtClean="0"/>
              <a:t>11</a:t>
            </a:fld>
            <a:endParaRPr lang="en-US"/>
          </a:p>
        </p:txBody>
      </p:sp>
    </p:spTree>
    <p:extLst>
      <p:ext uri="{BB962C8B-B14F-4D97-AF65-F5344CB8AC3E}">
        <p14:creationId xmlns:p14="http://schemas.microsoft.com/office/powerpoint/2010/main" val="16518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dissolve">
                                      <p:cBhvr>
                                        <p:cTn id="21" dur="500"/>
                                        <p:tgtEl>
                                          <p:spTgt spid="26"/>
                                        </p:tgtEl>
                                      </p:cBhvr>
                                    </p:animEffect>
                                  </p:childTnLst>
                                </p:cTn>
                              </p:par>
                              <p:par>
                                <p:cTn id="22" presetID="9"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dissolv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dissolve">
                                      <p:cBhvr>
                                        <p:cTn id="33" dur="500"/>
                                        <p:tgtEl>
                                          <p:spTgt spid="29"/>
                                        </p:tgtEl>
                                      </p:cBhvr>
                                    </p:animEffect>
                                  </p:childTnLst>
                                </p:cTn>
                              </p:par>
                              <p:par>
                                <p:cTn id="34" presetID="9"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par>
                                <p:cTn id="37" presetID="9"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dissolve">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dissolve">
                                      <p:cBhvr>
                                        <p:cTn id="44" dur="500"/>
                                        <p:tgtEl>
                                          <p:spTgt spid="33"/>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par>
                                <p:cTn id="48" presetID="9"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5" grpId="0"/>
      <p:bldP spid="26" grpId="0"/>
      <p:bldP spid="29" grpId="0"/>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Keys</a:t>
            </a:r>
          </a:p>
        </p:txBody>
      </p:sp>
      <p:sp>
        <p:nvSpPr>
          <p:cNvPr id="3" name="Content Placeholder 2"/>
          <p:cNvSpPr>
            <a:spLocks noGrp="1"/>
          </p:cNvSpPr>
          <p:nvPr>
            <p:ph idx="1"/>
          </p:nvPr>
        </p:nvSpPr>
        <p:spPr>
          <a:xfrm>
            <a:off x="838200" y="1793054"/>
            <a:ext cx="10515600" cy="4351338"/>
          </a:xfrm>
        </p:spPr>
        <p:txBody>
          <a:bodyPr/>
          <a:lstStyle/>
          <a:p>
            <a:r>
              <a:rPr lang="en-US"/>
              <a:t>A </a:t>
            </a:r>
            <a:r>
              <a:rPr lang="en-US" i="1" u="sng"/>
              <a:t>key</a:t>
            </a:r>
            <a:r>
              <a:rPr lang="en-US"/>
              <a:t> is a </a:t>
            </a:r>
            <a:r>
              <a:rPr lang="en-US" b="1"/>
              <a:t>minimal </a:t>
            </a:r>
            <a:r>
              <a:rPr lang="en-US"/>
              <a:t>set of attributes that uniquely identifies an entity.</a:t>
            </a:r>
          </a:p>
        </p:txBody>
      </p:sp>
      <p:grpSp>
        <p:nvGrpSpPr>
          <p:cNvPr id="15" name="Group 14"/>
          <p:cNvGrpSpPr/>
          <p:nvPr/>
        </p:nvGrpSpPr>
        <p:grpSpPr>
          <a:xfrm>
            <a:off x="2111829" y="3735771"/>
            <a:ext cx="4114800" cy="1676400"/>
            <a:chOff x="2111829" y="3735771"/>
            <a:chExt cx="4114800" cy="1676400"/>
          </a:xfrm>
        </p:grpSpPr>
        <p:sp>
          <p:nvSpPr>
            <p:cNvPr id="5" name="Rectangle 4"/>
            <p:cNvSpPr>
              <a:spLocks noChangeArrowheads="1"/>
            </p:cNvSpPr>
            <p:nvPr/>
          </p:nvSpPr>
          <p:spPr bwMode="auto">
            <a:xfrm>
              <a:off x="4321629" y="4878771"/>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 name="Oval 12"/>
            <p:cNvSpPr>
              <a:spLocks noChangeArrowheads="1"/>
            </p:cNvSpPr>
            <p:nvPr/>
          </p:nvSpPr>
          <p:spPr bwMode="auto">
            <a:xfrm>
              <a:off x="3178629" y="3735771"/>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7" name="Oval 13"/>
            <p:cNvSpPr>
              <a:spLocks noChangeArrowheads="1"/>
            </p:cNvSpPr>
            <p:nvPr/>
          </p:nvSpPr>
          <p:spPr bwMode="auto">
            <a:xfrm>
              <a:off x="4778829" y="3811971"/>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8" name="Oval 16"/>
            <p:cNvSpPr>
              <a:spLocks noChangeArrowheads="1"/>
            </p:cNvSpPr>
            <p:nvPr/>
          </p:nvSpPr>
          <p:spPr bwMode="auto">
            <a:xfrm>
              <a:off x="2111829" y="4345371"/>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cxnSp>
          <p:nvCxnSpPr>
            <p:cNvPr id="9" name="Straight Connector 8"/>
            <p:cNvCxnSpPr>
              <a:stCxn id="8" idx="5"/>
              <a:endCxn id="5" idx="1"/>
            </p:cNvCxnSpPr>
            <p:nvPr/>
          </p:nvCxnSpPr>
          <p:spPr bwMode="auto">
            <a:xfrm rot="16200000" flipH="1">
              <a:off x="3727251" y="4551091"/>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0" name="Straight Connector 9"/>
            <p:cNvCxnSpPr>
              <a:stCxn id="6" idx="5"/>
              <a:endCxn id="5" idx="0"/>
            </p:cNvCxnSpPr>
            <p:nvPr/>
          </p:nvCxnSpPr>
          <p:spPr bwMode="auto">
            <a:xfrm rot="16200000" flipH="1">
              <a:off x="4394001" y="4341541"/>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1" name="Straight Connector 10"/>
            <p:cNvCxnSpPr>
              <a:stCxn id="7" idx="4"/>
              <a:endCxn id="5" idx="0"/>
            </p:cNvCxnSpPr>
            <p:nvPr/>
          </p:nvCxnSpPr>
          <p:spPr bwMode="auto">
            <a:xfrm rot="5400000">
              <a:off x="5026479" y="4402521"/>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13" name="TextBox 12"/>
          <p:cNvSpPr txBox="1"/>
          <p:nvPr/>
        </p:nvSpPr>
        <p:spPr>
          <a:xfrm>
            <a:off x="587829" y="2872662"/>
            <a:ext cx="2971800" cy="707886"/>
          </a:xfrm>
          <a:prstGeom prst="rect">
            <a:avLst/>
          </a:prstGeom>
          <a:solidFill>
            <a:schemeClr val="accent1">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000">
                <a:solidFill>
                  <a:srgbClr val="000000"/>
                </a:solidFill>
                <a:latin typeface="+mj-lt"/>
              </a:rPr>
              <a:t>Denote elements of the primary key by </a:t>
            </a:r>
            <a:r>
              <a:rPr lang="en-US" sz="2000" u="sng">
                <a:solidFill>
                  <a:srgbClr val="000000"/>
                </a:solidFill>
                <a:latin typeface="+mj-lt"/>
              </a:rPr>
              <a:t>underlining</a:t>
            </a:r>
            <a:r>
              <a:rPr lang="en-US" sz="2000">
                <a:solidFill>
                  <a:srgbClr val="000000"/>
                </a:solidFill>
                <a:latin typeface="+mj-lt"/>
              </a:rPr>
              <a:t>.</a:t>
            </a:r>
          </a:p>
        </p:txBody>
      </p:sp>
      <p:sp>
        <p:nvSpPr>
          <p:cNvPr id="14" name="TextBox 13"/>
          <p:cNvSpPr txBox="1"/>
          <p:nvPr/>
        </p:nvSpPr>
        <p:spPr>
          <a:xfrm>
            <a:off x="6841426" y="2842159"/>
            <a:ext cx="4876799" cy="1569660"/>
          </a:xfrm>
          <a:prstGeom prst="rect">
            <a:avLst/>
          </a:prstGeom>
          <a:noFill/>
          <a:effectLst/>
        </p:spPr>
        <p:txBody>
          <a:bodyPr wrap="square" rtlCol="0">
            <a:spAutoFit/>
          </a:bodyPr>
          <a:lstStyle/>
          <a:p>
            <a:pPr fontAlgn="base">
              <a:spcBef>
                <a:spcPct val="0"/>
              </a:spcBef>
              <a:spcAft>
                <a:spcPct val="0"/>
              </a:spcAft>
            </a:pPr>
            <a:r>
              <a:rPr lang="en-US" sz="2400">
                <a:solidFill>
                  <a:srgbClr val="000000"/>
                </a:solidFill>
                <a:latin typeface="+mj-lt"/>
              </a:rPr>
              <a:t>Here, {name, category} is </a:t>
            </a:r>
            <a:r>
              <a:rPr lang="en-US" sz="2400" b="1" u="sng">
                <a:solidFill>
                  <a:srgbClr val="000000"/>
                </a:solidFill>
                <a:latin typeface="+mj-lt"/>
              </a:rPr>
              <a:t>not</a:t>
            </a:r>
            <a:r>
              <a:rPr lang="en-US" sz="2400">
                <a:solidFill>
                  <a:srgbClr val="000000"/>
                </a:solidFill>
                <a:latin typeface="+mj-lt"/>
              </a:rPr>
              <a:t> a key (it is not </a:t>
            </a:r>
            <a:r>
              <a:rPr lang="en-US" sz="2400" i="1">
                <a:solidFill>
                  <a:srgbClr val="000000"/>
                </a:solidFill>
                <a:latin typeface="+mj-lt"/>
              </a:rPr>
              <a:t>minimal</a:t>
            </a:r>
            <a:r>
              <a:rPr lang="en-US" sz="2400">
                <a:solidFill>
                  <a:srgbClr val="000000"/>
                </a:solidFill>
                <a:latin typeface="+mj-lt"/>
              </a:rPr>
              <a:t>). </a:t>
            </a:r>
          </a:p>
          <a:p>
            <a:pPr fontAlgn="base">
              <a:spcBef>
                <a:spcPct val="0"/>
              </a:spcBef>
              <a:spcAft>
                <a:spcPct val="0"/>
              </a:spcAft>
            </a:pPr>
            <a:endParaRPr lang="en-US" sz="2400" i="1">
              <a:solidFill>
                <a:srgbClr val="000000"/>
              </a:solidFill>
              <a:latin typeface="+mj-lt"/>
            </a:endParaRPr>
          </a:p>
          <a:p>
            <a:pPr fontAlgn="base">
              <a:spcBef>
                <a:spcPct val="0"/>
              </a:spcBef>
              <a:spcAft>
                <a:spcPct val="0"/>
              </a:spcAft>
            </a:pPr>
            <a:r>
              <a:rPr lang="en-US" sz="2400" i="1">
                <a:solidFill>
                  <a:srgbClr val="000000"/>
                </a:solidFill>
                <a:latin typeface="+mj-lt"/>
              </a:rPr>
              <a:t>If it were, what would it mean?</a:t>
            </a:r>
          </a:p>
        </p:txBody>
      </p:sp>
      <p:sp>
        <p:nvSpPr>
          <p:cNvPr id="12" name="TextBox 11"/>
          <p:cNvSpPr txBox="1"/>
          <p:nvPr/>
        </p:nvSpPr>
        <p:spPr>
          <a:xfrm>
            <a:off x="1481673" y="5721207"/>
            <a:ext cx="9228653" cy="830997"/>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a:r>
              <a:rPr lang="en-US" sz="2400">
                <a:latin typeface="+mj-lt"/>
              </a:rPr>
              <a:t>The E/R model forces us to designate a single </a:t>
            </a:r>
            <a:r>
              <a:rPr lang="en-US" sz="2400" b="1" u="sng">
                <a:latin typeface="+mj-lt"/>
              </a:rPr>
              <a:t>primary</a:t>
            </a:r>
            <a:r>
              <a:rPr lang="en-US" sz="2400" b="1">
                <a:latin typeface="+mj-lt"/>
              </a:rPr>
              <a:t> </a:t>
            </a:r>
            <a:r>
              <a:rPr lang="en-US" sz="2400">
                <a:latin typeface="+mj-lt"/>
              </a:rPr>
              <a:t>key, though there may be multiple candidate keys</a:t>
            </a:r>
          </a:p>
        </p:txBody>
      </p:sp>
      <p:sp>
        <p:nvSpPr>
          <p:cNvPr id="4" name="Slide Number Placeholder 3">
            <a:extLst>
              <a:ext uri="{FF2B5EF4-FFF2-40B4-BE49-F238E27FC236}">
                <a16:creationId xmlns:a16="http://schemas.microsoft.com/office/drawing/2014/main" id="{0C33BF04-6930-4B34-89C0-EAC3D9510DEA}"/>
              </a:ext>
            </a:extLst>
          </p:cNvPr>
          <p:cNvSpPr>
            <a:spLocks noGrp="1"/>
          </p:cNvSpPr>
          <p:nvPr>
            <p:ph type="sldNum" sz="quarter" idx="12"/>
          </p:nvPr>
        </p:nvSpPr>
        <p:spPr/>
        <p:txBody>
          <a:bodyPr/>
          <a:lstStyle/>
          <a:p>
            <a:fld id="{641C0F02-33DC-3A41-9F51-431B7FE03ABE}" type="slidenum">
              <a:rPr lang="en-US" smtClean="0"/>
              <a:t>12</a:t>
            </a:fld>
            <a:endParaRPr lang="en-US"/>
          </a:p>
        </p:txBody>
      </p:sp>
    </p:spTree>
    <p:extLst>
      <p:ext uri="{BB962C8B-B14F-4D97-AF65-F5344CB8AC3E}">
        <p14:creationId xmlns:p14="http://schemas.microsoft.com/office/powerpoint/2010/main" val="180505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P spid="14" grpId="0"/>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01858" y="613230"/>
            <a:ext cx="8342142" cy="693780"/>
          </a:xfrm>
          <a:prstGeom prst="rect">
            <a:avLst/>
          </a:prstGeom>
        </p:spPr>
        <p:txBody>
          <a:bodyPr vert="horz" wrap="square" lIns="0" tIns="16510" rIns="0" bIns="0" rtlCol="0" anchor="ctr">
            <a:spAutoFit/>
          </a:bodyPr>
          <a:lstStyle/>
          <a:p>
            <a:pPr marL="12700">
              <a:lnSpc>
                <a:spcPct val="100000"/>
              </a:lnSpc>
              <a:spcBef>
                <a:spcPts val="130"/>
              </a:spcBef>
            </a:pPr>
            <a:r>
              <a:rPr lang="en-US" spc="-5"/>
              <a:t>Multivalued and Derived Attributes</a:t>
            </a:r>
            <a:endParaRPr/>
          </a:p>
        </p:txBody>
      </p:sp>
      <p:pic>
        <p:nvPicPr>
          <p:cNvPr id="4" name="object 4"/>
          <p:cNvPicPr/>
          <p:nvPr/>
        </p:nvPicPr>
        <p:blipFill>
          <a:blip r:embed="rId3" cstate="print"/>
          <a:stretch>
            <a:fillRect/>
          </a:stretch>
        </p:blipFill>
        <p:spPr>
          <a:xfrm>
            <a:off x="6595534" y="3005666"/>
            <a:ext cx="3420533" cy="1270000"/>
          </a:xfrm>
          <a:prstGeom prst="rect">
            <a:avLst/>
          </a:prstGeom>
        </p:spPr>
      </p:pic>
      <p:pic>
        <p:nvPicPr>
          <p:cNvPr id="5" name="object 5"/>
          <p:cNvPicPr/>
          <p:nvPr/>
        </p:nvPicPr>
        <p:blipFill>
          <a:blip r:embed="rId4" cstate="print"/>
          <a:stretch>
            <a:fillRect/>
          </a:stretch>
        </p:blipFill>
        <p:spPr>
          <a:xfrm>
            <a:off x="2108201" y="2929467"/>
            <a:ext cx="3733799" cy="1380067"/>
          </a:xfrm>
          <a:prstGeom prst="rect">
            <a:avLst/>
          </a:prstGeom>
        </p:spPr>
      </p:pic>
      <p:grpSp>
        <p:nvGrpSpPr>
          <p:cNvPr id="6" name="object 6"/>
          <p:cNvGrpSpPr/>
          <p:nvPr/>
        </p:nvGrpSpPr>
        <p:grpSpPr>
          <a:xfrm>
            <a:off x="2904067" y="4842933"/>
            <a:ext cx="2362200" cy="567690"/>
            <a:chOff x="1380067" y="4842933"/>
            <a:chExt cx="2362200" cy="567690"/>
          </a:xfrm>
        </p:grpSpPr>
        <p:pic>
          <p:nvPicPr>
            <p:cNvPr id="7" name="object 7"/>
            <p:cNvPicPr/>
            <p:nvPr/>
          </p:nvPicPr>
          <p:blipFill>
            <a:blip r:embed="rId5" cstate="print"/>
            <a:stretch>
              <a:fillRect/>
            </a:stretch>
          </p:blipFill>
          <p:spPr>
            <a:xfrm>
              <a:off x="1413932" y="4859866"/>
              <a:ext cx="2294467" cy="474133"/>
            </a:xfrm>
            <a:prstGeom prst="rect">
              <a:avLst/>
            </a:prstGeom>
          </p:spPr>
        </p:pic>
        <p:pic>
          <p:nvPicPr>
            <p:cNvPr id="8" name="object 8"/>
            <p:cNvPicPr/>
            <p:nvPr/>
          </p:nvPicPr>
          <p:blipFill>
            <a:blip r:embed="rId6" cstate="print"/>
            <a:stretch>
              <a:fillRect/>
            </a:stretch>
          </p:blipFill>
          <p:spPr>
            <a:xfrm>
              <a:off x="1380067" y="4842933"/>
              <a:ext cx="2362200" cy="567266"/>
            </a:xfrm>
            <a:prstGeom prst="rect">
              <a:avLst/>
            </a:prstGeom>
          </p:spPr>
        </p:pic>
        <p:pic>
          <p:nvPicPr>
            <p:cNvPr id="9" name="object 9"/>
            <p:cNvPicPr/>
            <p:nvPr/>
          </p:nvPicPr>
          <p:blipFill>
            <a:blip r:embed="rId7" cstate="print"/>
            <a:stretch>
              <a:fillRect/>
            </a:stretch>
          </p:blipFill>
          <p:spPr>
            <a:xfrm>
              <a:off x="1466490" y="4882551"/>
              <a:ext cx="2191109" cy="379561"/>
            </a:xfrm>
            <a:prstGeom prst="rect">
              <a:avLst/>
            </a:prstGeom>
          </p:spPr>
        </p:pic>
      </p:grpSp>
      <p:sp>
        <p:nvSpPr>
          <p:cNvPr id="10" name="object 10"/>
          <p:cNvSpPr txBox="1"/>
          <p:nvPr/>
        </p:nvSpPr>
        <p:spPr>
          <a:xfrm>
            <a:off x="2990491" y="4882551"/>
            <a:ext cx="2191385" cy="313547"/>
          </a:xfrm>
          <a:prstGeom prst="rect">
            <a:avLst/>
          </a:prstGeom>
          <a:ln w="9525">
            <a:solidFill>
              <a:srgbClr val="4A7EBB"/>
            </a:solidFill>
          </a:ln>
        </p:spPr>
        <p:txBody>
          <a:bodyPr vert="horz" wrap="square" lIns="0" tIns="36195" rIns="0" bIns="0" rtlCol="0">
            <a:spAutoFit/>
          </a:bodyPr>
          <a:lstStyle/>
          <a:p>
            <a:pPr marL="93980">
              <a:spcBef>
                <a:spcPts val="285"/>
              </a:spcBef>
            </a:pPr>
            <a:r>
              <a:rPr spc="-5">
                <a:solidFill>
                  <a:srgbClr val="FFFFFF"/>
                </a:solidFill>
                <a:latin typeface="Calibri"/>
                <a:cs typeface="Calibri"/>
              </a:rPr>
              <a:t>Multivalued</a:t>
            </a:r>
            <a:r>
              <a:rPr spc="-20">
                <a:solidFill>
                  <a:srgbClr val="FFFFFF"/>
                </a:solidFill>
                <a:latin typeface="Calibri"/>
                <a:cs typeface="Calibri"/>
              </a:rPr>
              <a:t> </a:t>
            </a:r>
            <a:r>
              <a:rPr spc="-15">
                <a:solidFill>
                  <a:srgbClr val="FFFFFF"/>
                </a:solidFill>
                <a:latin typeface="Calibri"/>
                <a:cs typeface="Calibri"/>
              </a:rPr>
              <a:t>Attribute</a:t>
            </a:r>
            <a:endParaRPr>
              <a:latin typeface="Calibri"/>
              <a:cs typeface="Calibri"/>
            </a:endParaRPr>
          </a:p>
        </p:txBody>
      </p:sp>
      <p:grpSp>
        <p:nvGrpSpPr>
          <p:cNvPr id="11" name="object 11"/>
          <p:cNvGrpSpPr/>
          <p:nvPr/>
        </p:nvGrpSpPr>
        <p:grpSpPr>
          <a:xfrm>
            <a:off x="7128933" y="4961466"/>
            <a:ext cx="2286000" cy="558800"/>
            <a:chOff x="5604933" y="4961466"/>
            <a:chExt cx="2286000" cy="558800"/>
          </a:xfrm>
        </p:grpSpPr>
        <p:pic>
          <p:nvPicPr>
            <p:cNvPr id="12" name="object 12"/>
            <p:cNvPicPr/>
            <p:nvPr/>
          </p:nvPicPr>
          <p:blipFill>
            <a:blip r:embed="rId8" cstate="print"/>
            <a:stretch>
              <a:fillRect/>
            </a:stretch>
          </p:blipFill>
          <p:spPr>
            <a:xfrm>
              <a:off x="5604933" y="4969933"/>
              <a:ext cx="2286000" cy="474133"/>
            </a:xfrm>
            <a:prstGeom prst="rect">
              <a:avLst/>
            </a:prstGeom>
          </p:spPr>
        </p:pic>
        <p:pic>
          <p:nvPicPr>
            <p:cNvPr id="13" name="object 13"/>
            <p:cNvPicPr/>
            <p:nvPr/>
          </p:nvPicPr>
          <p:blipFill>
            <a:blip r:embed="rId9" cstate="print"/>
            <a:stretch>
              <a:fillRect/>
            </a:stretch>
          </p:blipFill>
          <p:spPr>
            <a:xfrm>
              <a:off x="5757333" y="4961466"/>
              <a:ext cx="1972732" cy="558800"/>
            </a:xfrm>
            <a:prstGeom prst="rect">
              <a:avLst/>
            </a:prstGeom>
          </p:spPr>
        </p:pic>
        <p:pic>
          <p:nvPicPr>
            <p:cNvPr id="14" name="object 14"/>
            <p:cNvPicPr/>
            <p:nvPr/>
          </p:nvPicPr>
          <p:blipFill>
            <a:blip r:embed="rId10" cstate="print"/>
            <a:stretch>
              <a:fillRect/>
            </a:stretch>
          </p:blipFill>
          <p:spPr>
            <a:xfrm>
              <a:off x="5650584" y="4994945"/>
              <a:ext cx="2191109" cy="379561"/>
            </a:xfrm>
            <a:prstGeom prst="rect">
              <a:avLst/>
            </a:prstGeom>
          </p:spPr>
        </p:pic>
      </p:grpSp>
      <p:sp>
        <p:nvSpPr>
          <p:cNvPr id="15" name="object 15"/>
          <p:cNvSpPr txBox="1"/>
          <p:nvPr/>
        </p:nvSpPr>
        <p:spPr>
          <a:xfrm>
            <a:off x="7174585" y="4994945"/>
            <a:ext cx="2191385" cy="311624"/>
          </a:xfrm>
          <a:prstGeom prst="rect">
            <a:avLst/>
          </a:prstGeom>
          <a:ln w="9525">
            <a:solidFill>
              <a:srgbClr val="4A7EBB"/>
            </a:solidFill>
          </a:ln>
        </p:spPr>
        <p:txBody>
          <a:bodyPr vert="horz" wrap="square" lIns="0" tIns="34290" rIns="0" bIns="0" rtlCol="0">
            <a:spAutoFit/>
          </a:bodyPr>
          <a:lstStyle/>
          <a:p>
            <a:pPr marL="289560">
              <a:spcBef>
                <a:spcPts val="270"/>
              </a:spcBef>
            </a:pPr>
            <a:r>
              <a:rPr spc="-5">
                <a:solidFill>
                  <a:srgbClr val="FFFFFF"/>
                </a:solidFill>
                <a:latin typeface="Calibri"/>
                <a:cs typeface="Calibri"/>
              </a:rPr>
              <a:t>Derived</a:t>
            </a:r>
            <a:r>
              <a:rPr spc="-30">
                <a:solidFill>
                  <a:srgbClr val="FFFFFF"/>
                </a:solidFill>
                <a:latin typeface="Calibri"/>
                <a:cs typeface="Calibri"/>
              </a:rPr>
              <a:t> </a:t>
            </a:r>
            <a:r>
              <a:rPr spc="-15">
                <a:solidFill>
                  <a:srgbClr val="FFFFFF"/>
                </a:solidFill>
                <a:latin typeface="Calibri"/>
                <a:cs typeface="Calibri"/>
              </a:rPr>
              <a:t>Attribute</a:t>
            </a:r>
            <a:endParaRPr>
              <a:latin typeface="Calibri"/>
              <a:cs typeface="Calibri"/>
            </a:endParaRPr>
          </a:p>
        </p:txBody>
      </p:sp>
      <p:sp>
        <p:nvSpPr>
          <p:cNvPr id="2" name="Slide Number Placeholder 1">
            <a:extLst>
              <a:ext uri="{FF2B5EF4-FFF2-40B4-BE49-F238E27FC236}">
                <a16:creationId xmlns:a16="http://schemas.microsoft.com/office/drawing/2014/main" id="{95033802-A908-4F98-A4D1-4D46128DFD50}"/>
              </a:ext>
            </a:extLst>
          </p:cNvPr>
          <p:cNvSpPr>
            <a:spLocks noGrp="1"/>
          </p:cNvSpPr>
          <p:nvPr>
            <p:ph type="sldNum" sz="quarter" idx="12"/>
          </p:nvPr>
        </p:nvSpPr>
        <p:spPr/>
        <p:txBody>
          <a:bodyPr/>
          <a:lstStyle/>
          <a:p>
            <a:fld id="{641C0F02-33DC-3A41-9F51-431B7FE03ABE}"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R in E/R: </a:t>
            </a:r>
            <a:r>
              <a:rPr lang="en-US" b="1"/>
              <a:t>Relationships</a:t>
            </a:r>
          </a:p>
        </p:txBody>
      </p:sp>
      <p:sp>
        <p:nvSpPr>
          <p:cNvPr id="3" name="Content Placeholder 2"/>
          <p:cNvSpPr>
            <a:spLocks noGrp="1"/>
          </p:cNvSpPr>
          <p:nvPr>
            <p:ph idx="1"/>
          </p:nvPr>
        </p:nvSpPr>
        <p:spPr/>
        <p:txBody>
          <a:bodyPr/>
          <a:lstStyle/>
          <a:p>
            <a:r>
              <a:rPr lang="en-US"/>
              <a:t>A </a:t>
            </a:r>
            <a:r>
              <a:rPr lang="en-US" b="1"/>
              <a:t>relationship</a:t>
            </a:r>
            <a:r>
              <a:rPr lang="en-US"/>
              <a:t> is between two entities</a:t>
            </a:r>
          </a:p>
        </p:txBody>
      </p:sp>
      <p:grpSp>
        <p:nvGrpSpPr>
          <p:cNvPr id="6" name="Group 5"/>
          <p:cNvGrpSpPr/>
          <p:nvPr/>
        </p:nvGrpSpPr>
        <p:grpSpPr>
          <a:xfrm>
            <a:off x="1824318" y="3048000"/>
            <a:ext cx="4114800" cy="1676400"/>
            <a:chOff x="1824318" y="3048000"/>
            <a:chExt cx="4114800" cy="1676400"/>
          </a:xfrm>
        </p:grpSpPr>
        <p:sp>
          <p:nvSpPr>
            <p:cNvPr id="8" name="Rectangle 7"/>
            <p:cNvSpPr>
              <a:spLocks noChangeArrowheads="1"/>
            </p:cNvSpPr>
            <p:nvPr/>
          </p:nvSpPr>
          <p:spPr bwMode="auto">
            <a:xfrm>
              <a:off x="4034118" y="4191000"/>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9" name="Oval 12"/>
            <p:cNvSpPr>
              <a:spLocks noChangeArrowheads="1"/>
            </p:cNvSpPr>
            <p:nvPr/>
          </p:nvSpPr>
          <p:spPr bwMode="auto">
            <a:xfrm>
              <a:off x="2891118" y="30480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10" name="Oval 13"/>
            <p:cNvSpPr>
              <a:spLocks noChangeArrowheads="1"/>
            </p:cNvSpPr>
            <p:nvPr/>
          </p:nvSpPr>
          <p:spPr bwMode="auto">
            <a:xfrm>
              <a:off x="4491318" y="31242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11" name="Oval 16"/>
            <p:cNvSpPr>
              <a:spLocks noChangeArrowheads="1"/>
            </p:cNvSpPr>
            <p:nvPr/>
          </p:nvSpPr>
          <p:spPr bwMode="auto">
            <a:xfrm>
              <a:off x="1824318" y="36576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cxnSp>
          <p:nvCxnSpPr>
            <p:cNvPr id="12" name="Straight Connector 11"/>
            <p:cNvCxnSpPr>
              <a:stCxn id="11" idx="5"/>
              <a:endCxn id="8" idx="1"/>
            </p:cNvCxnSpPr>
            <p:nvPr/>
          </p:nvCxnSpPr>
          <p:spPr bwMode="auto">
            <a:xfrm rot="16200000" flipH="1">
              <a:off x="3439740" y="3863320"/>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3" name="Straight Connector 12"/>
            <p:cNvCxnSpPr>
              <a:stCxn id="9" idx="5"/>
              <a:endCxn id="8" idx="0"/>
            </p:cNvCxnSpPr>
            <p:nvPr/>
          </p:nvCxnSpPr>
          <p:spPr bwMode="auto">
            <a:xfrm rot="16200000" flipH="1">
              <a:off x="4106490" y="3653770"/>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4" name="Straight Connector 13"/>
            <p:cNvCxnSpPr>
              <a:stCxn id="10" idx="4"/>
              <a:endCxn id="8" idx="0"/>
            </p:cNvCxnSpPr>
            <p:nvPr/>
          </p:nvCxnSpPr>
          <p:spPr bwMode="auto">
            <a:xfrm rot="5400000">
              <a:off x="4738968" y="3714750"/>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grpSp>
        <p:nvGrpSpPr>
          <p:cNvPr id="7" name="Group 6"/>
          <p:cNvGrpSpPr/>
          <p:nvPr/>
        </p:nvGrpSpPr>
        <p:grpSpPr>
          <a:xfrm>
            <a:off x="8377518" y="2947566"/>
            <a:ext cx="1828800" cy="1809706"/>
            <a:chOff x="8377518" y="2947566"/>
            <a:chExt cx="1828800" cy="1809706"/>
          </a:xfrm>
        </p:grpSpPr>
        <p:sp>
          <p:nvSpPr>
            <p:cNvPr id="15" name="Rectangle 10"/>
            <p:cNvSpPr>
              <a:spLocks noChangeArrowheads="1"/>
            </p:cNvSpPr>
            <p:nvPr/>
          </p:nvSpPr>
          <p:spPr bwMode="auto">
            <a:xfrm>
              <a:off x="8377518" y="4191000"/>
              <a:ext cx="1642188" cy="566272"/>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sp>
          <p:nvSpPr>
            <p:cNvPr id="16" name="Oval 12"/>
            <p:cNvSpPr>
              <a:spLocks noChangeArrowheads="1"/>
            </p:cNvSpPr>
            <p:nvPr/>
          </p:nvSpPr>
          <p:spPr bwMode="auto">
            <a:xfrm>
              <a:off x="8758518" y="2947566"/>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cxnSp>
          <p:nvCxnSpPr>
            <p:cNvPr id="17" name="Straight Connector 16"/>
            <p:cNvCxnSpPr>
              <a:stCxn id="16" idx="4"/>
              <a:endCxn id="15" idx="0"/>
            </p:cNvCxnSpPr>
            <p:nvPr/>
          </p:nvCxnSpPr>
          <p:spPr bwMode="auto">
            <a:xfrm flipH="1">
              <a:off x="9198612" y="3633366"/>
              <a:ext cx="283806" cy="5576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grpSp>
        <p:nvGrpSpPr>
          <p:cNvPr id="23" name="Group 22"/>
          <p:cNvGrpSpPr/>
          <p:nvPr/>
        </p:nvGrpSpPr>
        <p:grpSpPr>
          <a:xfrm>
            <a:off x="5253318" y="4114800"/>
            <a:ext cx="3124200" cy="685800"/>
            <a:chOff x="5253318" y="4114800"/>
            <a:chExt cx="3124200" cy="685800"/>
          </a:xfrm>
        </p:grpSpPr>
        <p:sp>
          <p:nvSpPr>
            <p:cNvPr id="5" name="AutoShape 8"/>
            <p:cNvSpPr>
              <a:spLocks noChangeArrowheads="1"/>
            </p:cNvSpPr>
            <p:nvPr/>
          </p:nvSpPr>
          <p:spPr bwMode="auto">
            <a:xfrm>
              <a:off x="5939118" y="4114800"/>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ysClr val="windowText" lastClr="000000"/>
                  </a:solidFill>
                </a:rPr>
                <a:t>Makes</a:t>
              </a:r>
            </a:p>
          </p:txBody>
        </p:sp>
        <p:cxnSp>
          <p:nvCxnSpPr>
            <p:cNvPr id="20" name="Straight Connector 19"/>
            <p:cNvCxnSpPr>
              <a:stCxn id="8" idx="3"/>
              <a:endCxn id="5" idx="1"/>
            </p:cNvCxnSpPr>
            <p:nvPr/>
          </p:nvCxnSpPr>
          <p:spPr bwMode="auto">
            <a:xfrm>
              <a:off x="5253318" y="4457700"/>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2" name="Straight Connector 21"/>
            <p:cNvCxnSpPr>
              <a:stCxn id="5" idx="3"/>
              <a:endCxn id="15" idx="1"/>
            </p:cNvCxnSpPr>
            <p:nvPr/>
          </p:nvCxnSpPr>
          <p:spPr bwMode="auto">
            <a:xfrm>
              <a:off x="7767918" y="4457700"/>
              <a:ext cx="609600" cy="1643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4" name="Slide Number Placeholder 3">
            <a:extLst>
              <a:ext uri="{FF2B5EF4-FFF2-40B4-BE49-F238E27FC236}">
                <a16:creationId xmlns:a16="http://schemas.microsoft.com/office/drawing/2014/main" id="{D7C263B7-AF0A-45B4-8130-48A4B29DF928}"/>
              </a:ext>
            </a:extLst>
          </p:cNvPr>
          <p:cNvSpPr>
            <a:spLocks noGrp="1"/>
          </p:cNvSpPr>
          <p:nvPr>
            <p:ph type="sldNum" sz="quarter" idx="12"/>
          </p:nvPr>
        </p:nvSpPr>
        <p:spPr/>
        <p:txBody>
          <a:bodyPr/>
          <a:lstStyle/>
          <a:p>
            <a:fld id="{641C0F02-33DC-3A41-9F51-431B7FE03ABE}" type="slidenum">
              <a:rPr lang="en-US" smtClean="0"/>
              <a:t>14</a:t>
            </a:fld>
            <a:endParaRPr lang="en-US"/>
          </a:p>
        </p:txBody>
      </p:sp>
    </p:spTree>
    <p:extLst>
      <p:ext uri="{BB962C8B-B14F-4D97-AF65-F5344CB8AC3E}">
        <p14:creationId xmlns:p14="http://schemas.microsoft.com/office/powerpoint/2010/main" val="165836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dissolv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What is a Relationship?</a:t>
            </a:r>
          </a:p>
        </p:txBody>
      </p:sp>
      <p:sp>
        <p:nvSpPr>
          <p:cNvPr id="25604" name="Rectangle 3"/>
          <p:cNvSpPr>
            <a:spLocks noGrp="1" noChangeArrowheads="1"/>
          </p:cNvSpPr>
          <p:nvPr>
            <p:ph idx="1"/>
          </p:nvPr>
        </p:nvSpPr>
        <p:spPr>
          <a:xfrm>
            <a:off x="838200" y="1905000"/>
            <a:ext cx="8763000" cy="4114800"/>
          </a:xfrm>
        </p:spPr>
        <p:txBody>
          <a:bodyPr/>
          <a:lstStyle/>
          <a:p>
            <a:pPr eaLnBrk="1" hangingPunct="1">
              <a:lnSpc>
                <a:spcPct val="90000"/>
              </a:lnSpc>
            </a:pPr>
            <a:r>
              <a:rPr lang="en-US" b="1" i="1"/>
              <a:t>A mathematical definition:</a:t>
            </a:r>
          </a:p>
          <a:p>
            <a:pPr lvl="1" eaLnBrk="1" hangingPunct="1">
              <a:lnSpc>
                <a:spcPct val="90000"/>
              </a:lnSpc>
            </a:pPr>
            <a:endParaRPr lang="en-US"/>
          </a:p>
          <a:p>
            <a:pPr lvl="1" eaLnBrk="1" hangingPunct="1">
              <a:lnSpc>
                <a:spcPct val="90000"/>
              </a:lnSpc>
            </a:pPr>
            <a:r>
              <a:rPr lang="en-US"/>
              <a:t>Let A, B be sets</a:t>
            </a:r>
          </a:p>
          <a:p>
            <a:pPr lvl="2"/>
            <a:r>
              <a:rPr lang="en-US" i="1"/>
              <a:t>A={1,2,3},   B={</a:t>
            </a:r>
            <a:r>
              <a:rPr lang="en-US" i="1" err="1"/>
              <a:t>a,b,c,d</a:t>
            </a:r>
            <a:r>
              <a:rPr lang="en-US" i="1"/>
              <a:t>}</a:t>
            </a:r>
          </a:p>
          <a:p>
            <a:pPr lvl="2"/>
            <a:endParaRPr lang="en-US"/>
          </a:p>
        </p:txBody>
      </p:sp>
      <p:grpSp>
        <p:nvGrpSpPr>
          <p:cNvPr id="2" name="Group 1"/>
          <p:cNvGrpSpPr/>
          <p:nvPr/>
        </p:nvGrpSpPr>
        <p:grpSpPr>
          <a:xfrm>
            <a:off x="7895319" y="2364468"/>
            <a:ext cx="3136900" cy="2514600"/>
            <a:chOff x="7895319" y="2364468"/>
            <a:chExt cx="3136900" cy="2514600"/>
          </a:xfrm>
        </p:grpSpPr>
        <p:grpSp>
          <p:nvGrpSpPr>
            <p:cNvPr id="25605" name="Group 4"/>
            <p:cNvGrpSpPr>
              <a:grpSpLocks/>
            </p:cNvGrpSpPr>
            <p:nvPr/>
          </p:nvGrpSpPr>
          <p:grpSpPr bwMode="auto">
            <a:xfrm>
              <a:off x="7895319" y="2558143"/>
              <a:ext cx="3136900" cy="2320925"/>
              <a:chOff x="1144" y="2858"/>
              <a:chExt cx="1976" cy="1462"/>
            </a:xfrm>
          </p:grpSpPr>
          <p:sp>
            <p:nvSpPr>
              <p:cNvPr id="25611" name="Text Box 5"/>
              <p:cNvSpPr txBox="1">
                <a:spLocks noChangeArrowheads="1"/>
              </p:cNvSpPr>
              <p:nvPr/>
            </p:nvSpPr>
            <p:spPr bwMode="auto">
              <a:xfrm>
                <a:off x="1670" y="2858"/>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1</a:t>
                </a:r>
              </a:p>
            </p:txBody>
          </p:sp>
          <p:sp>
            <p:nvSpPr>
              <p:cNvPr id="25612" name="Text Box 6"/>
              <p:cNvSpPr txBox="1">
                <a:spLocks noChangeArrowheads="1"/>
              </p:cNvSpPr>
              <p:nvPr/>
            </p:nvSpPr>
            <p:spPr bwMode="auto">
              <a:xfrm>
                <a:off x="1670" y="3277"/>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2</a:t>
                </a:r>
              </a:p>
            </p:txBody>
          </p:sp>
          <p:sp>
            <p:nvSpPr>
              <p:cNvPr id="25613" name="Text Box 7"/>
              <p:cNvSpPr txBox="1">
                <a:spLocks noChangeArrowheads="1"/>
              </p:cNvSpPr>
              <p:nvPr/>
            </p:nvSpPr>
            <p:spPr bwMode="auto">
              <a:xfrm>
                <a:off x="1670" y="369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3</a:t>
                </a:r>
              </a:p>
            </p:txBody>
          </p:sp>
          <p:sp>
            <p:nvSpPr>
              <p:cNvPr id="25614" name="Text Box 8"/>
              <p:cNvSpPr txBox="1">
                <a:spLocks noChangeArrowheads="1"/>
              </p:cNvSpPr>
              <p:nvPr/>
            </p:nvSpPr>
            <p:spPr bwMode="auto">
              <a:xfrm>
                <a:off x="2726" y="2858"/>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15" name="Text Box 9"/>
              <p:cNvSpPr txBox="1">
                <a:spLocks noChangeArrowheads="1"/>
              </p:cNvSpPr>
              <p:nvPr/>
            </p:nvSpPr>
            <p:spPr bwMode="auto">
              <a:xfrm>
                <a:off x="2726" y="322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sp>
            <p:nvSpPr>
              <p:cNvPr id="25616" name="Text Box 10"/>
              <p:cNvSpPr txBox="1">
                <a:spLocks noChangeArrowheads="1"/>
              </p:cNvSpPr>
              <p:nvPr/>
            </p:nvSpPr>
            <p:spPr bwMode="auto">
              <a:xfrm>
                <a:off x="2726" y="3594"/>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c</a:t>
                </a:r>
              </a:p>
            </p:txBody>
          </p:sp>
          <p:sp>
            <p:nvSpPr>
              <p:cNvPr id="25617" name="Text Box 11"/>
              <p:cNvSpPr txBox="1">
                <a:spLocks noChangeArrowheads="1"/>
              </p:cNvSpPr>
              <p:nvPr/>
            </p:nvSpPr>
            <p:spPr bwMode="auto">
              <a:xfrm>
                <a:off x="2726" y="3962"/>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d</a:t>
                </a:r>
              </a:p>
            </p:txBody>
          </p:sp>
          <p:sp>
            <p:nvSpPr>
              <p:cNvPr id="25618" name="Oval 12"/>
              <p:cNvSpPr>
                <a:spLocks noChangeArrowheads="1"/>
              </p:cNvSpPr>
              <p:nvPr/>
            </p:nvSpPr>
            <p:spPr bwMode="auto">
              <a:xfrm>
                <a:off x="1488" y="2880"/>
                <a:ext cx="576" cy="1152"/>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19" name="Oval 13"/>
              <p:cNvSpPr>
                <a:spLocks noChangeArrowheads="1"/>
              </p:cNvSpPr>
              <p:nvPr/>
            </p:nvSpPr>
            <p:spPr bwMode="auto">
              <a:xfrm>
                <a:off x="2544" y="2880"/>
                <a:ext cx="576" cy="1440"/>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23" name="Text Box 17"/>
              <p:cNvSpPr txBox="1">
                <a:spLocks noChangeArrowheads="1"/>
              </p:cNvSpPr>
              <p:nvPr/>
            </p:nvSpPr>
            <p:spPr bwMode="auto">
              <a:xfrm>
                <a:off x="1144" y="2858"/>
                <a:ext cx="363"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grpSp>
        <p:sp>
          <p:nvSpPr>
            <p:cNvPr id="21" name="Text Box 18"/>
            <p:cNvSpPr txBox="1">
              <a:spLocks noChangeArrowheads="1"/>
            </p:cNvSpPr>
            <p:nvPr/>
          </p:nvSpPr>
          <p:spPr bwMode="auto">
            <a:xfrm>
              <a:off x="9725707" y="2364468"/>
              <a:ext cx="558800" cy="457200"/>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grpSp>
      <p:sp>
        <p:nvSpPr>
          <p:cNvPr id="3" name="Slide Number Placeholder 2">
            <a:extLst>
              <a:ext uri="{FF2B5EF4-FFF2-40B4-BE49-F238E27FC236}">
                <a16:creationId xmlns:a16="http://schemas.microsoft.com/office/drawing/2014/main" id="{79469868-A59C-41D3-9A77-F54813A85DA1}"/>
              </a:ext>
            </a:extLst>
          </p:cNvPr>
          <p:cNvSpPr>
            <a:spLocks noGrp="1"/>
          </p:cNvSpPr>
          <p:nvPr>
            <p:ph type="sldNum" sz="quarter" idx="12"/>
          </p:nvPr>
        </p:nvSpPr>
        <p:spPr/>
        <p:txBody>
          <a:bodyPr/>
          <a:lstStyle/>
          <a:p>
            <a:fld id="{641C0F02-33DC-3A41-9F51-431B7FE03ABE}" type="slidenum">
              <a:rPr lang="en-US" smtClean="0"/>
              <a:t>15</a:t>
            </a:fld>
            <a:endParaRPr lang="en-US"/>
          </a:p>
        </p:txBody>
      </p:sp>
    </p:spTree>
    <p:extLst>
      <p:ext uri="{BB962C8B-B14F-4D97-AF65-F5344CB8AC3E}">
        <p14:creationId xmlns:p14="http://schemas.microsoft.com/office/powerpoint/2010/main" val="61678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0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What is a Relationship?</a:t>
            </a:r>
          </a:p>
        </p:txBody>
      </p:sp>
      <p:sp>
        <p:nvSpPr>
          <p:cNvPr id="25604" name="Rectangle 3"/>
          <p:cNvSpPr>
            <a:spLocks noGrp="1" noChangeArrowheads="1"/>
          </p:cNvSpPr>
          <p:nvPr>
            <p:ph idx="1"/>
          </p:nvPr>
        </p:nvSpPr>
        <p:spPr>
          <a:xfrm>
            <a:off x="838200" y="1905000"/>
            <a:ext cx="6945994" cy="4114800"/>
          </a:xfrm>
        </p:spPr>
        <p:txBody>
          <a:bodyPr/>
          <a:lstStyle/>
          <a:p>
            <a:pPr eaLnBrk="1" hangingPunct="1">
              <a:lnSpc>
                <a:spcPct val="90000"/>
              </a:lnSpc>
            </a:pPr>
            <a:r>
              <a:rPr lang="en-US" b="1" i="1"/>
              <a:t>A mathematical definition:</a:t>
            </a:r>
          </a:p>
          <a:p>
            <a:pPr lvl="1" eaLnBrk="1" hangingPunct="1">
              <a:lnSpc>
                <a:spcPct val="90000"/>
              </a:lnSpc>
            </a:pPr>
            <a:endParaRPr lang="en-US"/>
          </a:p>
          <a:p>
            <a:pPr lvl="1" eaLnBrk="1" hangingPunct="1">
              <a:lnSpc>
                <a:spcPct val="90000"/>
              </a:lnSpc>
            </a:pPr>
            <a:r>
              <a:rPr lang="en-US"/>
              <a:t>Let A, B be sets</a:t>
            </a:r>
          </a:p>
          <a:p>
            <a:pPr lvl="2"/>
            <a:r>
              <a:rPr lang="en-US" i="1"/>
              <a:t>A={1,2,3},   B={</a:t>
            </a:r>
            <a:r>
              <a:rPr lang="en-US" i="1" err="1"/>
              <a:t>a,b,c,d</a:t>
            </a:r>
            <a:r>
              <a:rPr lang="en-US" i="1"/>
              <a:t>}</a:t>
            </a:r>
          </a:p>
          <a:p>
            <a:pPr marL="457200" lvl="1" indent="0" eaLnBrk="1" hangingPunct="1">
              <a:lnSpc>
                <a:spcPct val="90000"/>
              </a:lnSpc>
              <a:buNone/>
            </a:pPr>
            <a:endParaRPr lang="en-US"/>
          </a:p>
          <a:p>
            <a:pPr lvl="1" eaLnBrk="1" hangingPunct="1">
              <a:lnSpc>
                <a:spcPct val="90000"/>
              </a:lnSpc>
            </a:pPr>
            <a:r>
              <a:rPr lang="en-US"/>
              <a:t>A x B (the </a:t>
            </a:r>
            <a:r>
              <a:rPr lang="en-US" b="1" i="1"/>
              <a:t>cross-product</a:t>
            </a:r>
            <a:r>
              <a:rPr lang="en-US"/>
              <a:t>) is the set of all pairs (</a:t>
            </a:r>
            <a:r>
              <a:rPr lang="en-US" err="1"/>
              <a:t>a,b</a:t>
            </a:r>
            <a:r>
              <a:rPr lang="en-US"/>
              <a:t>)</a:t>
            </a:r>
          </a:p>
          <a:p>
            <a:pPr lvl="2"/>
            <a:r>
              <a:rPr lang="en-US" i="1"/>
              <a:t>A </a:t>
            </a:r>
            <a:r>
              <a:rPr lang="en-US" i="1">
                <a:sym typeface="Symbol" charset="2"/>
              </a:rPr>
              <a:t> B = {(1,a), (1,b), (1,c), (1,d), (2,a), (2,b), (2,c), (2,d), (3,a), (3,b), (3,c), (3,d)}</a:t>
            </a:r>
          </a:p>
          <a:p>
            <a:pPr lvl="2"/>
            <a:endParaRPr lang="en-US" i="1"/>
          </a:p>
        </p:txBody>
      </p:sp>
      <p:grpSp>
        <p:nvGrpSpPr>
          <p:cNvPr id="25605" name="Group 4"/>
          <p:cNvGrpSpPr>
            <a:grpSpLocks/>
          </p:cNvGrpSpPr>
          <p:nvPr/>
        </p:nvGrpSpPr>
        <p:grpSpPr bwMode="auto">
          <a:xfrm>
            <a:off x="7895319" y="2364468"/>
            <a:ext cx="3136900" cy="2514600"/>
            <a:chOff x="1144" y="2736"/>
            <a:chExt cx="1976" cy="1584"/>
          </a:xfrm>
        </p:grpSpPr>
        <p:sp>
          <p:nvSpPr>
            <p:cNvPr id="25611" name="Text Box 5"/>
            <p:cNvSpPr txBox="1">
              <a:spLocks noChangeArrowheads="1"/>
            </p:cNvSpPr>
            <p:nvPr/>
          </p:nvSpPr>
          <p:spPr bwMode="auto">
            <a:xfrm>
              <a:off x="1670" y="2858"/>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1</a:t>
              </a:r>
            </a:p>
          </p:txBody>
        </p:sp>
        <p:sp>
          <p:nvSpPr>
            <p:cNvPr id="25612" name="Text Box 6"/>
            <p:cNvSpPr txBox="1">
              <a:spLocks noChangeArrowheads="1"/>
            </p:cNvSpPr>
            <p:nvPr/>
          </p:nvSpPr>
          <p:spPr bwMode="auto">
            <a:xfrm>
              <a:off x="1670" y="3277"/>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2</a:t>
              </a:r>
            </a:p>
          </p:txBody>
        </p:sp>
        <p:sp>
          <p:nvSpPr>
            <p:cNvPr id="25613" name="Text Box 7"/>
            <p:cNvSpPr txBox="1">
              <a:spLocks noChangeArrowheads="1"/>
            </p:cNvSpPr>
            <p:nvPr/>
          </p:nvSpPr>
          <p:spPr bwMode="auto">
            <a:xfrm>
              <a:off x="1670" y="369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3</a:t>
              </a:r>
            </a:p>
          </p:txBody>
        </p:sp>
        <p:sp>
          <p:nvSpPr>
            <p:cNvPr id="25614" name="Text Box 8"/>
            <p:cNvSpPr txBox="1">
              <a:spLocks noChangeArrowheads="1"/>
            </p:cNvSpPr>
            <p:nvPr/>
          </p:nvSpPr>
          <p:spPr bwMode="auto">
            <a:xfrm>
              <a:off x="2726" y="2858"/>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15" name="Text Box 9"/>
            <p:cNvSpPr txBox="1">
              <a:spLocks noChangeArrowheads="1"/>
            </p:cNvSpPr>
            <p:nvPr/>
          </p:nvSpPr>
          <p:spPr bwMode="auto">
            <a:xfrm>
              <a:off x="2726" y="322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sp>
          <p:nvSpPr>
            <p:cNvPr id="25616" name="Text Box 10"/>
            <p:cNvSpPr txBox="1">
              <a:spLocks noChangeArrowheads="1"/>
            </p:cNvSpPr>
            <p:nvPr/>
          </p:nvSpPr>
          <p:spPr bwMode="auto">
            <a:xfrm>
              <a:off x="2726" y="3594"/>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c</a:t>
              </a:r>
            </a:p>
          </p:txBody>
        </p:sp>
        <p:sp>
          <p:nvSpPr>
            <p:cNvPr id="25617" name="Text Box 11"/>
            <p:cNvSpPr txBox="1">
              <a:spLocks noChangeArrowheads="1"/>
            </p:cNvSpPr>
            <p:nvPr/>
          </p:nvSpPr>
          <p:spPr bwMode="auto">
            <a:xfrm>
              <a:off x="2726" y="3962"/>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d</a:t>
              </a:r>
            </a:p>
          </p:txBody>
        </p:sp>
        <p:sp>
          <p:nvSpPr>
            <p:cNvPr id="25618" name="Oval 12"/>
            <p:cNvSpPr>
              <a:spLocks noChangeArrowheads="1"/>
            </p:cNvSpPr>
            <p:nvPr/>
          </p:nvSpPr>
          <p:spPr bwMode="auto">
            <a:xfrm>
              <a:off x="1488" y="2880"/>
              <a:ext cx="576" cy="1152"/>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19" name="Oval 13"/>
            <p:cNvSpPr>
              <a:spLocks noChangeArrowheads="1"/>
            </p:cNvSpPr>
            <p:nvPr/>
          </p:nvSpPr>
          <p:spPr bwMode="auto">
            <a:xfrm>
              <a:off x="2544" y="2880"/>
              <a:ext cx="576" cy="1440"/>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23" name="Text Box 17"/>
            <p:cNvSpPr txBox="1">
              <a:spLocks noChangeArrowheads="1"/>
            </p:cNvSpPr>
            <p:nvPr/>
          </p:nvSpPr>
          <p:spPr bwMode="auto">
            <a:xfrm>
              <a:off x="1144" y="2858"/>
              <a:ext cx="363"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24" name="Text Box 18"/>
            <p:cNvSpPr txBox="1">
              <a:spLocks noChangeArrowheads="1"/>
            </p:cNvSpPr>
            <p:nvPr/>
          </p:nvSpPr>
          <p:spPr bwMode="auto">
            <a:xfrm>
              <a:off x="2297" y="2736"/>
              <a:ext cx="35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grpSp>
      <p:cxnSp>
        <p:nvCxnSpPr>
          <p:cNvPr id="3" name="Straight Connector 2"/>
          <p:cNvCxnSpPr>
            <a:stCxn id="25611" idx="3"/>
            <a:endCxn id="25614" idx="1"/>
          </p:cNvCxnSpPr>
          <p:nvPr/>
        </p:nvCxnSpPr>
        <p:spPr bwMode="auto">
          <a:xfrm>
            <a:off x="9066894" y="2786743"/>
            <a:ext cx="133985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0" name="Straight Connector 19"/>
          <p:cNvCxnSpPr>
            <a:stCxn id="25611" idx="3"/>
            <a:endCxn id="25615" idx="1"/>
          </p:cNvCxnSpPr>
          <p:nvPr/>
        </p:nvCxnSpPr>
        <p:spPr bwMode="auto">
          <a:xfrm>
            <a:off x="9066894" y="2786743"/>
            <a:ext cx="1339850" cy="5842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3" name="Straight Connector 22"/>
          <p:cNvCxnSpPr>
            <a:stCxn id="25611" idx="3"/>
            <a:endCxn id="25616" idx="1"/>
          </p:cNvCxnSpPr>
          <p:nvPr/>
        </p:nvCxnSpPr>
        <p:spPr bwMode="auto">
          <a:xfrm>
            <a:off x="9066894" y="2786743"/>
            <a:ext cx="1339850" cy="11684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25611" idx="3"/>
            <a:endCxn id="25617" idx="1"/>
          </p:cNvCxnSpPr>
          <p:nvPr/>
        </p:nvCxnSpPr>
        <p:spPr bwMode="auto">
          <a:xfrm>
            <a:off x="9066894" y="2786743"/>
            <a:ext cx="1339850" cy="17526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9" name="Straight Connector 28"/>
          <p:cNvCxnSpPr>
            <a:stCxn id="25612" idx="3"/>
            <a:endCxn id="25614" idx="1"/>
          </p:cNvCxnSpPr>
          <p:nvPr/>
        </p:nvCxnSpPr>
        <p:spPr bwMode="auto">
          <a:xfrm flipV="1">
            <a:off x="9066894" y="2786743"/>
            <a:ext cx="1339850" cy="665163"/>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2" name="Straight Connector 31"/>
          <p:cNvCxnSpPr>
            <a:stCxn id="25612" idx="3"/>
            <a:endCxn id="25615" idx="1"/>
          </p:cNvCxnSpPr>
          <p:nvPr/>
        </p:nvCxnSpPr>
        <p:spPr bwMode="auto">
          <a:xfrm flipV="1">
            <a:off x="9066894" y="3370943"/>
            <a:ext cx="1339850" cy="80963"/>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5" name="Straight Connector 34"/>
          <p:cNvCxnSpPr>
            <a:stCxn id="25612" idx="3"/>
            <a:endCxn id="25616" idx="1"/>
          </p:cNvCxnSpPr>
          <p:nvPr/>
        </p:nvCxnSpPr>
        <p:spPr bwMode="auto">
          <a:xfrm>
            <a:off x="9066894" y="3451906"/>
            <a:ext cx="1339850" cy="50323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8" name="Straight Connector 37"/>
          <p:cNvCxnSpPr>
            <a:stCxn id="25613" idx="3"/>
            <a:endCxn id="25614" idx="1"/>
          </p:cNvCxnSpPr>
          <p:nvPr/>
        </p:nvCxnSpPr>
        <p:spPr bwMode="auto">
          <a:xfrm flipV="1">
            <a:off x="9066894" y="2786743"/>
            <a:ext cx="1339850" cy="133032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a:stCxn id="25612" idx="3"/>
            <a:endCxn id="25617" idx="1"/>
          </p:cNvCxnSpPr>
          <p:nvPr/>
        </p:nvCxnSpPr>
        <p:spPr bwMode="auto">
          <a:xfrm>
            <a:off x="9066894" y="3451906"/>
            <a:ext cx="1339850" cy="108743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5" name="Straight Connector 44"/>
          <p:cNvCxnSpPr>
            <a:stCxn id="25613" idx="3"/>
            <a:endCxn id="25615" idx="1"/>
          </p:cNvCxnSpPr>
          <p:nvPr/>
        </p:nvCxnSpPr>
        <p:spPr bwMode="auto">
          <a:xfrm flipV="1">
            <a:off x="9066894" y="3370943"/>
            <a:ext cx="1339850" cy="74612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8" name="Straight Connector 47"/>
          <p:cNvCxnSpPr>
            <a:stCxn id="25613" idx="3"/>
            <a:endCxn id="25616" idx="1"/>
          </p:cNvCxnSpPr>
          <p:nvPr/>
        </p:nvCxnSpPr>
        <p:spPr bwMode="auto">
          <a:xfrm flipV="1">
            <a:off x="9066894" y="3955143"/>
            <a:ext cx="1339850" cy="16192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51" name="Straight Connector 50"/>
          <p:cNvCxnSpPr>
            <a:stCxn id="25613" idx="3"/>
            <a:endCxn id="25617" idx="1"/>
          </p:cNvCxnSpPr>
          <p:nvPr/>
        </p:nvCxnSpPr>
        <p:spPr bwMode="auto">
          <a:xfrm>
            <a:off x="9066894" y="4117068"/>
            <a:ext cx="1339850" cy="42227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 name="Slide Number Placeholder 1">
            <a:extLst>
              <a:ext uri="{FF2B5EF4-FFF2-40B4-BE49-F238E27FC236}">
                <a16:creationId xmlns:a16="http://schemas.microsoft.com/office/drawing/2014/main" id="{06786174-BF73-4761-B071-7254F72E037E}"/>
              </a:ext>
            </a:extLst>
          </p:cNvPr>
          <p:cNvSpPr>
            <a:spLocks noGrp="1"/>
          </p:cNvSpPr>
          <p:nvPr>
            <p:ph type="sldNum" sz="quarter" idx="12"/>
          </p:nvPr>
        </p:nvSpPr>
        <p:spPr/>
        <p:txBody>
          <a:bodyPr/>
          <a:lstStyle/>
          <a:p>
            <a:fld id="{641C0F02-33DC-3A41-9F51-431B7FE03ABE}" type="slidenum">
              <a:rPr lang="en-US" smtClean="0"/>
              <a:t>16</a:t>
            </a:fld>
            <a:endParaRPr lang="en-US"/>
          </a:p>
        </p:txBody>
      </p:sp>
    </p:spTree>
    <p:extLst>
      <p:ext uri="{BB962C8B-B14F-4D97-AF65-F5344CB8AC3E}">
        <p14:creationId xmlns:p14="http://schemas.microsoft.com/office/powerpoint/2010/main" val="1166930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What is a Relationship?</a:t>
            </a:r>
          </a:p>
        </p:txBody>
      </p:sp>
      <p:sp>
        <p:nvSpPr>
          <p:cNvPr id="25604" name="Rectangle 3"/>
          <p:cNvSpPr>
            <a:spLocks noGrp="1" noChangeArrowheads="1"/>
          </p:cNvSpPr>
          <p:nvPr>
            <p:ph idx="1"/>
          </p:nvPr>
        </p:nvSpPr>
        <p:spPr>
          <a:xfrm>
            <a:off x="838201" y="1905000"/>
            <a:ext cx="7266668" cy="4114800"/>
          </a:xfrm>
        </p:spPr>
        <p:txBody>
          <a:bodyPr>
            <a:normAutofit/>
          </a:bodyPr>
          <a:lstStyle/>
          <a:p>
            <a:pPr eaLnBrk="1" hangingPunct="1">
              <a:lnSpc>
                <a:spcPct val="90000"/>
              </a:lnSpc>
            </a:pPr>
            <a:r>
              <a:rPr lang="en-US" b="1" i="1"/>
              <a:t>A mathematical definition:</a:t>
            </a:r>
          </a:p>
          <a:p>
            <a:pPr lvl="1" eaLnBrk="1" hangingPunct="1">
              <a:lnSpc>
                <a:spcPct val="90000"/>
              </a:lnSpc>
            </a:pPr>
            <a:endParaRPr lang="en-US"/>
          </a:p>
          <a:p>
            <a:pPr lvl="1" eaLnBrk="1" hangingPunct="1">
              <a:lnSpc>
                <a:spcPct val="90000"/>
              </a:lnSpc>
            </a:pPr>
            <a:r>
              <a:rPr lang="en-US"/>
              <a:t>Let A, B be sets</a:t>
            </a:r>
          </a:p>
          <a:p>
            <a:pPr lvl="2"/>
            <a:r>
              <a:rPr lang="en-US" i="1"/>
              <a:t>A={1,2,3},   B={</a:t>
            </a:r>
            <a:r>
              <a:rPr lang="en-US" i="1" err="1"/>
              <a:t>a,b,c,d</a:t>
            </a:r>
            <a:r>
              <a:rPr lang="en-US" i="1"/>
              <a:t>},</a:t>
            </a:r>
          </a:p>
          <a:p>
            <a:pPr marL="457200" lvl="1" indent="0" eaLnBrk="1" hangingPunct="1">
              <a:lnSpc>
                <a:spcPct val="90000"/>
              </a:lnSpc>
              <a:buNone/>
            </a:pPr>
            <a:endParaRPr lang="en-US"/>
          </a:p>
          <a:p>
            <a:pPr lvl="1" eaLnBrk="1" hangingPunct="1">
              <a:lnSpc>
                <a:spcPct val="90000"/>
              </a:lnSpc>
            </a:pPr>
            <a:r>
              <a:rPr lang="en-US"/>
              <a:t>A x B (the </a:t>
            </a:r>
            <a:r>
              <a:rPr lang="en-US" b="1" i="1"/>
              <a:t>cross-product</a:t>
            </a:r>
            <a:r>
              <a:rPr lang="en-US"/>
              <a:t>) is the set of all pairs (</a:t>
            </a:r>
            <a:r>
              <a:rPr lang="en-US" err="1"/>
              <a:t>a,b</a:t>
            </a:r>
            <a:r>
              <a:rPr lang="en-US"/>
              <a:t>)</a:t>
            </a:r>
          </a:p>
          <a:p>
            <a:pPr lvl="2"/>
            <a:r>
              <a:rPr lang="en-US" i="1"/>
              <a:t>A </a:t>
            </a:r>
            <a:r>
              <a:rPr lang="en-US" i="1">
                <a:sym typeface="Symbol" charset="2"/>
              </a:rPr>
              <a:t> B = {(1,a), (1,b), (1,c), (1,d), (2,a), (2,b), (2,c), (2,d), (3,a), (3,b), (3,c), (3,d)}</a:t>
            </a:r>
          </a:p>
          <a:p>
            <a:pPr lvl="3"/>
            <a:endParaRPr lang="en-US"/>
          </a:p>
          <a:p>
            <a:pPr lvl="1" eaLnBrk="1" hangingPunct="1">
              <a:lnSpc>
                <a:spcPct val="90000"/>
              </a:lnSpc>
            </a:pPr>
            <a:r>
              <a:rPr lang="en-US" b="1"/>
              <a:t>We define a </a:t>
            </a:r>
            <a:r>
              <a:rPr lang="en-US" b="1" u="sng"/>
              <a:t>relationship</a:t>
            </a:r>
            <a:r>
              <a:rPr lang="en-US" b="1"/>
              <a:t> to be a subset of A x B</a:t>
            </a:r>
          </a:p>
          <a:p>
            <a:pPr lvl="2"/>
            <a:r>
              <a:rPr lang="en-US" i="1"/>
              <a:t>R = {(1,a), (2,c), (2,d), (3,b)}</a:t>
            </a:r>
          </a:p>
          <a:p>
            <a:pPr lvl="3"/>
            <a:endParaRPr lang="en-US" i="1"/>
          </a:p>
        </p:txBody>
      </p:sp>
      <p:grpSp>
        <p:nvGrpSpPr>
          <p:cNvPr id="25605" name="Group 4"/>
          <p:cNvGrpSpPr>
            <a:grpSpLocks/>
          </p:cNvGrpSpPr>
          <p:nvPr/>
        </p:nvGrpSpPr>
        <p:grpSpPr bwMode="auto">
          <a:xfrm>
            <a:off x="7895319" y="2364468"/>
            <a:ext cx="3136900" cy="2514600"/>
            <a:chOff x="1144" y="2736"/>
            <a:chExt cx="1976" cy="1584"/>
          </a:xfrm>
        </p:grpSpPr>
        <p:sp>
          <p:nvSpPr>
            <p:cNvPr id="25611" name="Text Box 5"/>
            <p:cNvSpPr txBox="1">
              <a:spLocks noChangeArrowheads="1"/>
            </p:cNvSpPr>
            <p:nvPr/>
          </p:nvSpPr>
          <p:spPr bwMode="auto">
            <a:xfrm>
              <a:off x="1670" y="2858"/>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1</a:t>
              </a:r>
            </a:p>
          </p:txBody>
        </p:sp>
        <p:sp>
          <p:nvSpPr>
            <p:cNvPr id="25612" name="Text Box 6"/>
            <p:cNvSpPr txBox="1">
              <a:spLocks noChangeArrowheads="1"/>
            </p:cNvSpPr>
            <p:nvPr/>
          </p:nvSpPr>
          <p:spPr bwMode="auto">
            <a:xfrm>
              <a:off x="1670" y="3277"/>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2</a:t>
              </a:r>
            </a:p>
          </p:txBody>
        </p:sp>
        <p:sp>
          <p:nvSpPr>
            <p:cNvPr id="25613" name="Text Box 7"/>
            <p:cNvSpPr txBox="1">
              <a:spLocks noChangeArrowheads="1"/>
            </p:cNvSpPr>
            <p:nvPr/>
          </p:nvSpPr>
          <p:spPr bwMode="auto">
            <a:xfrm>
              <a:off x="1670" y="369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3</a:t>
              </a:r>
            </a:p>
          </p:txBody>
        </p:sp>
        <p:sp>
          <p:nvSpPr>
            <p:cNvPr id="25614" name="Text Box 8"/>
            <p:cNvSpPr txBox="1">
              <a:spLocks noChangeArrowheads="1"/>
            </p:cNvSpPr>
            <p:nvPr/>
          </p:nvSpPr>
          <p:spPr bwMode="auto">
            <a:xfrm>
              <a:off x="2726" y="2858"/>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15" name="Text Box 9"/>
            <p:cNvSpPr txBox="1">
              <a:spLocks noChangeArrowheads="1"/>
            </p:cNvSpPr>
            <p:nvPr/>
          </p:nvSpPr>
          <p:spPr bwMode="auto">
            <a:xfrm>
              <a:off x="2726" y="322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sp>
          <p:nvSpPr>
            <p:cNvPr id="25616" name="Text Box 10"/>
            <p:cNvSpPr txBox="1">
              <a:spLocks noChangeArrowheads="1"/>
            </p:cNvSpPr>
            <p:nvPr/>
          </p:nvSpPr>
          <p:spPr bwMode="auto">
            <a:xfrm>
              <a:off x="2726" y="3594"/>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c</a:t>
              </a:r>
            </a:p>
          </p:txBody>
        </p:sp>
        <p:sp>
          <p:nvSpPr>
            <p:cNvPr id="25617" name="Text Box 11"/>
            <p:cNvSpPr txBox="1">
              <a:spLocks noChangeArrowheads="1"/>
            </p:cNvSpPr>
            <p:nvPr/>
          </p:nvSpPr>
          <p:spPr bwMode="auto">
            <a:xfrm>
              <a:off x="2726" y="3962"/>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d</a:t>
              </a:r>
            </a:p>
          </p:txBody>
        </p:sp>
        <p:sp>
          <p:nvSpPr>
            <p:cNvPr id="25618" name="Oval 12"/>
            <p:cNvSpPr>
              <a:spLocks noChangeArrowheads="1"/>
            </p:cNvSpPr>
            <p:nvPr/>
          </p:nvSpPr>
          <p:spPr bwMode="auto">
            <a:xfrm>
              <a:off x="1488" y="2880"/>
              <a:ext cx="576" cy="1152"/>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19" name="Oval 13"/>
            <p:cNvSpPr>
              <a:spLocks noChangeArrowheads="1"/>
            </p:cNvSpPr>
            <p:nvPr/>
          </p:nvSpPr>
          <p:spPr bwMode="auto">
            <a:xfrm>
              <a:off x="2544" y="2880"/>
              <a:ext cx="576" cy="1440"/>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23" name="Text Box 17"/>
            <p:cNvSpPr txBox="1">
              <a:spLocks noChangeArrowheads="1"/>
            </p:cNvSpPr>
            <p:nvPr/>
          </p:nvSpPr>
          <p:spPr bwMode="auto">
            <a:xfrm>
              <a:off x="1144" y="2858"/>
              <a:ext cx="363"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24" name="Text Box 18"/>
            <p:cNvSpPr txBox="1">
              <a:spLocks noChangeArrowheads="1"/>
            </p:cNvSpPr>
            <p:nvPr/>
          </p:nvSpPr>
          <p:spPr bwMode="auto">
            <a:xfrm>
              <a:off x="2297" y="2736"/>
              <a:ext cx="35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grpSp>
      <p:cxnSp>
        <p:nvCxnSpPr>
          <p:cNvPr id="3" name="Straight Connector 2"/>
          <p:cNvCxnSpPr>
            <a:stCxn id="25611" idx="3"/>
            <a:endCxn id="25614" idx="1"/>
          </p:cNvCxnSpPr>
          <p:nvPr/>
        </p:nvCxnSpPr>
        <p:spPr bwMode="auto">
          <a:xfrm>
            <a:off x="9066894" y="2786743"/>
            <a:ext cx="133985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5" name="Straight Connector 34"/>
          <p:cNvCxnSpPr>
            <a:stCxn id="25612" idx="3"/>
            <a:endCxn id="25616" idx="1"/>
          </p:cNvCxnSpPr>
          <p:nvPr/>
        </p:nvCxnSpPr>
        <p:spPr bwMode="auto">
          <a:xfrm>
            <a:off x="9066894" y="3451906"/>
            <a:ext cx="1339850" cy="503237"/>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41" name="Straight Connector 40"/>
          <p:cNvCxnSpPr>
            <a:stCxn id="25612" idx="3"/>
            <a:endCxn id="25617" idx="1"/>
          </p:cNvCxnSpPr>
          <p:nvPr/>
        </p:nvCxnSpPr>
        <p:spPr bwMode="auto">
          <a:xfrm>
            <a:off x="9066894" y="3451906"/>
            <a:ext cx="1339850" cy="1087437"/>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45" name="Straight Connector 44"/>
          <p:cNvCxnSpPr>
            <a:stCxn id="25613" idx="3"/>
            <a:endCxn id="25615" idx="1"/>
          </p:cNvCxnSpPr>
          <p:nvPr/>
        </p:nvCxnSpPr>
        <p:spPr bwMode="auto">
          <a:xfrm flipV="1">
            <a:off x="9066894" y="3370943"/>
            <a:ext cx="1339850" cy="746125"/>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2" name="Slide Number Placeholder 1">
            <a:extLst>
              <a:ext uri="{FF2B5EF4-FFF2-40B4-BE49-F238E27FC236}">
                <a16:creationId xmlns:a16="http://schemas.microsoft.com/office/drawing/2014/main" id="{68AE567A-B708-40E4-BEB2-F6591344B8C3}"/>
              </a:ext>
            </a:extLst>
          </p:cNvPr>
          <p:cNvSpPr>
            <a:spLocks noGrp="1"/>
          </p:cNvSpPr>
          <p:nvPr>
            <p:ph type="sldNum" sz="quarter" idx="12"/>
          </p:nvPr>
        </p:nvSpPr>
        <p:spPr/>
        <p:txBody>
          <a:bodyPr/>
          <a:lstStyle/>
          <a:p>
            <a:fld id="{641C0F02-33DC-3A41-9F51-431B7FE03ABE}" type="slidenum">
              <a:rPr lang="en-US" smtClean="0"/>
              <a:t>17</a:t>
            </a:fld>
            <a:endParaRPr lang="en-US"/>
          </a:p>
        </p:txBody>
      </p:sp>
    </p:spTree>
    <p:extLst>
      <p:ext uri="{BB962C8B-B14F-4D97-AF65-F5344CB8AC3E}">
        <p14:creationId xmlns:p14="http://schemas.microsoft.com/office/powerpoint/2010/main" val="941879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What is a Relationship?</a:t>
            </a:r>
          </a:p>
        </p:txBody>
      </p:sp>
      <p:sp>
        <p:nvSpPr>
          <p:cNvPr id="25604" name="Rectangle 3"/>
          <p:cNvSpPr>
            <a:spLocks noGrp="1" noChangeArrowheads="1"/>
          </p:cNvSpPr>
          <p:nvPr>
            <p:ph idx="1"/>
          </p:nvPr>
        </p:nvSpPr>
        <p:spPr>
          <a:xfrm>
            <a:off x="838200" y="1904999"/>
            <a:ext cx="6945994" cy="4467749"/>
          </a:xfrm>
        </p:spPr>
        <p:txBody>
          <a:bodyPr/>
          <a:lstStyle/>
          <a:p>
            <a:pPr eaLnBrk="1" hangingPunct="1">
              <a:lnSpc>
                <a:spcPct val="90000"/>
              </a:lnSpc>
            </a:pPr>
            <a:r>
              <a:rPr lang="en-US" b="1" i="1"/>
              <a:t>A mathematical definition:</a:t>
            </a:r>
          </a:p>
          <a:p>
            <a:pPr lvl="1" eaLnBrk="1" hangingPunct="1">
              <a:lnSpc>
                <a:spcPct val="90000"/>
              </a:lnSpc>
            </a:pPr>
            <a:r>
              <a:rPr lang="en-US"/>
              <a:t>Let A, B be sets</a:t>
            </a:r>
          </a:p>
          <a:p>
            <a:pPr lvl="1" eaLnBrk="1" hangingPunct="1">
              <a:lnSpc>
                <a:spcPct val="90000"/>
              </a:lnSpc>
            </a:pPr>
            <a:r>
              <a:rPr lang="en-US"/>
              <a:t>A x B (the </a:t>
            </a:r>
            <a:r>
              <a:rPr lang="en-US" b="1" i="1"/>
              <a:t>cross-product</a:t>
            </a:r>
            <a:r>
              <a:rPr lang="en-US"/>
              <a:t>) is the set of all pairs</a:t>
            </a:r>
          </a:p>
          <a:p>
            <a:pPr lvl="1" eaLnBrk="1" hangingPunct="1">
              <a:lnSpc>
                <a:spcPct val="90000"/>
              </a:lnSpc>
            </a:pPr>
            <a:r>
              <a:rPr lang="en-US"/>
              <a:t>A </a:t>
            </a:r>
            <a:r>
              <a:rPr lang="en-US" u="sng"/>
              <a:t>relationship</a:t>
            </a:r>
            <a:r>
              <a:rPr lang="en-US"/>
              <a:t> is a subset of A x B</a:t>
            </a:r>
          </a:p>
          <a:p>
            <a:pPr lvl="1" eaLnBrk="1" hangingPunct="1">
              <a:lnSpc>
                <a:spcPct val="90000"/>
              </a:lnSpc>
            </a:pPr>
            <a:endParaRPr lang="en-US"/>
          </a:p>
          <a:p>
            <a:pPr eaLnBrk="1" hangingPunct="1">
              <a:lnSpc>
                <a:spcPct val="90000"/>
              </a:lnSpc>
            </a:pPr>
            <a:r>
              <a:rPr lang="en-US" b="1"/>
              <a:t>Makes</a:t>
            </a:r>
            <a:r>
              <a:rPr lang="en-US"/>
              <a:t> is relationship- it is a </a:t>
            </a:r>
            <a:r>
              <a:rPr lang="en-US" b="1" i="1"/>
              <a:t>subset</a:t>
            </a:r>
            <a:r>
              <a:rPr lang="en-US"/>
              <a:t> of </a:t>
            </a:r>
            <a:r>
              <a:rPr lang="en-US" b="1"/>
              <a:t>Product </a:t>
            </a:r>
            <a:r>
              <a:rPr lang="en-US" b="1">
                <a:sym typeface="Symbol" charset="2"/>
              </a:rPr>
              <a:t></a:t>
            </a:r>
            <a:r>
              <a:rPr lang="en-US" b="1"/>
              <a:t> Company</a:t>
            </a:r>
            <a:r>
              <a:rPr lang="en-US"/>
              <a:t>:</a:t>
            </a:r>
          </a:p>
        </p:txBody>
      </p:sp>
      <p:grpSp>
        <p:nvGrpSpPr>
          <p:cNvPr id="2" name="Group 1"/>
          <p:cNvGrpSpPr/>
          <p:nvPr/>
        </p:nvGrpSpPr>
        <p:grpSpPr>
          <a:xfrm>
            <a:off x="7895319" y="2364468"/>
            <a:ext cx="3136900" cy="2514600"/>
            <a:chOff x="7895319" y="2364468"/>
            <a:chExt cx="3136900" cy="2514600"/>
          </a:xfrm>
        </p:grpSpPr>
        <p:grpSp>
          <p:nvGrpSpPr>
            <p:cNvPr id="25605" name="Group 4"/>
            <p:cNvGrpSpPr>
              <a:grpSpLocks/>
            </p:cNvGrpSpPr>
            <p:nvPr/>
          </p:nvGrpSpPr>
          <p:grpSpPr bwMode="auto">
            <a:xfrm>
              <a:off x="7895319" y="2364468"/>
              <a:ext cx="3136900" cy="2514600"/>
              <a:chOff x="1144" y="2736"/>
              <a:chExt cx="1976" cy="1584"/>
            </a:xfrm>
          </p:grpSpPr>
          <p:sp>
            <p:nvSpPr>
              <p:cNvPr id="25611" name="Text Box 5"/>
              <p:cNvSpPr txBox="1">
                <a:spLocks noChangeArrowheads="1"/>
              </p:cNvSpPr>
              <p:nvPr/>
            </p:nvSpPr>
            <p:spPr bwMode="auto">
              <a:xfrm>
                <a:off x="1670" y="2858"/>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1</a:t>
                </a:r>
              </a:p>
            </p:txBody>
          </p:sp>
          <p:sp>
            <p:nvSpPr>
              <p:cNvPr id="25612" name="Text Box 6"/>
              <p:cNvSpPr txBox="1">
                <a:spLocks noChangeArrowheads="1"/>
              </p:cNvSpPr>
              <p:nvPr/>
            </p:nvSpPr>
            <p:spPr bwMode="auto">
              <a:xfrm>
                <a:off x="1670" y="3277"/>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2</a:t>
                </a:r>
              </a:p>
            </p:txBody>
          </p:sp>
          <p:sp>
            <p:nvSpPr>
              <p:cNvPr id="25613" name="Text Box 7"/>
              <p:cNvSpPr txBox="1">
                <a:spLocks noChangeArrowheads="1"/>
              </p:cNvSpPr>
              <p:nvPr/>
            </p:nvSpPr>
            <p:spPr bwMode="auto">
              <a:xfrm>
                <a:off x="1670" y="369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3</a:t>
                </a:r>
              </a:p>
            </p:txBody>
          </p:sp>
          <p:sp>
            <p:nvSpPr>
              <p:cNvPr id="25614" name="Text Box 8"/>
              <p:cNvSpPr txBox="1">
                <a:spLocks noChangeArrowheads="1"/>
              </p:cNvSpPr>
              <p:nvPr/>
            </p:nvSpPr>
            <p:spPr bwMode="auto">
              <a:xfrm>
                <a:off x="2726" y="2858"/>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15" name="Text Box 9"/>
              <p:cNvSpPr txBox="1">
                <a:spLocks noChangeArrowheads="1"/>
              </p:cNvSpPr>
              <p:nvPr/>
            </p:nvSpPr>
            <p:spPr bwMode="auto">
              <a:xfrm>
                <a:off x="2726" y="3226"/>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sp>
            <p:nvSpPr>
              <p:cNvPr id="25616" name="Text Box 10"/>
              <p:cNvSpPr txBox="1">
                <a:spLocks noChangeArrowheads="1"/>
              </p:cNvSpPr>
              <p:nvPr/>
            </p:nvSpPr>
            <p:spPr bwMode="auto">
              <a:xfrm>
                <a:off x="2726" y="3594"/>
                <a:ext cx="201"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c</a:t>
                </a:r>
              </a:p>
            </p:txBody>
          </p:sp>
          <p:sp>
            <p:nvSpPr>
              <p:cNvPr id="25617" name="Text Box 11"/>
              <p:cNvSpPr txBox="1">
                <a:spLocks noChangeArrowheads="1"/>
              </p:cNvSpPr>
              <p:nvPr/>
            </p:nvSpPr>
            <p:spPr bwMode="auto">
              <a:xfrm>
                <a:off x="2726" y="3962"/>
                <a:ext cx="21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d</a:t>
                </a:r>
              </a:p>
            </p:txBody>
          </p:sp>
          <p:sp>
            <p:nvSpPr>
              <p:cNvPr id="25618" name="Oval 12"/>
              <p:cNvSpPr>
                <a:spLocks noChangeArrowheads="1"/>
              </p:cNvSpPr>
              <p:nvPr/>
            </p:nvSpPr>
            <p:spPr bwMode="auto">
              <a:xfrm>
                <a:off x="1488" y="2880"/>
                <a:ext cx="576" cy="1152"/>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19" name="Oval 13"/>
              <p:cNvSpPr>
                <a:spLocks noChangeArrowheads="1"/>
              </p:cNvSpPr>
              <p:nvPr/>
            </p:nvSpPr>
            <p:spPr bwMode="auto">
              <a:xfrm>
                <a:off x="2544" y="2880"/>
                <a:ext cx="576" cy="1440"/>
              </a:xfrm>
              <a:prstGeom prst="ellips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623" name="Text Box 17"/>
              <p:cNvSpPr txBox="1">
                <a:spLocks noChangeArrowheads="1"/>
              </p:cNvSpPr>
              <p:nvPr/>
            </p:nvSpPr>
            <p:spPr bwMode="auto">
              <a:xfrm>
                <a:off x="1144" y="2858"/>
                <a:ext cx="363"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A=</a:t>
                </a:r>
              </a:p>
            </p:txBody>
          </p:sp>
          <p:sp>
            <p:nvSpPr>
              <p:cNvPr id="25624" name="Text Box 18"/>
              <p:cNvSpPr txBox="1">
                <a:spLocks noChangeArrowheads="1"/>
              </p:cNvSpPr>
              <p:nvPr/>
            </p:nvSpPr>
            <p:spPr bwMode="auto">
              <a:xfrm>
                <a:off x="2297" y="2736"/>
                <a:ext cx="352" cy="288"/>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B=</a:t>
                </a:r>
              </a:p>
            </p:txBody>
          </p:sp>
        </p:grpSp>
        <p:cxnSp>
          <p:nvCxnSpPr>
            <p:cNvPr id="3" name="Straight Connector 2"/>
            <p:cNvCxnSpPr>
              <a:stCxn id="25611" idx="3"/>
              <a:endCxn id="25614" idx="1"/>
            </p:cNvCxnSpPr>
            <p:nvPr/>
          </p:nvCxnSpPr>
          <p:spPr bwMode="auto">
            <a:xfrm>
              <a:off x="9066894" y="2786743"/>
              <a:ext cx="133985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5" name="Straight Connector 34"/>
            <p:cNvCxnSpPr>
              <a:stCxn id="25612" idx="3"/>
              <a:endCxn id="25616" idx="1"/>
            </p:cNvCxnSpPr>
            <p:nvPr/>
          </p:nvCxnSpPr>
          <p:spPr bwMode="auto">
            <a:xfrm>
              <a:off x="9066894" y="3451906"/>
              <a:ext cx="1339850" cy="50323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a:stCxn id="25612" idx="3"/>
              <a:endCxn id="25617" idx="1"/>
            </p:cNvCxnSpPr>
            <p:nvPr/>
          </p:nvCxnSpPr>
          <p:spPr bwMode="auto">
            <a:xfrm>
              <a:off x="9066894" y="3451906"/>
              <a:ext cx="1339850" cy="108743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5" name="Straight Connector 44"/>
            <p:cNvCxnSpPr>
              <a:stCxn id="25613" idx="3"/>
              <a:endCxn id="25615" idx="1"/>
            </p:cNvCxnSpPr>
            <p:nvPr/>
          </p:nvCxnSpPr>
          <p:spPr bwMode="auto">
            <a:xfrm flipV="1">
              <a:off x="9066894" y="3370943"/>
              <a:ext cx="1339850" cy="74612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2" name="AutoShape 19"/>
          <p:cNvSpPr>
            <a:spLocks noChangeAspect="1" noChangeArrowheads="1"/>
          </p:cNvSpPr>
          <p:nvPr/>
        </p:nvSpPr>
        <p:spPr bwMode="auto">
          <a:xfrm>
            <a:off x="4422664" y="5265519"/>
            <a:ext cx="746125" cy="671512"/>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makes</a:t>
            </a:r>
          </a:p>
        </p:txBody>
      </p:sp>
      <p:sp>
        <p:nvSpPr>
          <p:cNvPr id="23" name="Rectangle 20"/>
          <p:cNvSpPr>
            <a:spLocks noChangeAspect="1" noChangeArrowheads="1"/>
          </p:cNvSpPr>
          <p:nvPr/>
        </p:nvSpPr>
        <p:spPr bwMode="auto">
          <a:xfrm>
            <a:off x="5767276" y="5414744"/>
            <a:ext cx="1082675" cy="373062"/>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Company</a:t>
            </a:r>
          </a:p>
        </p:txBody>
      </p:sp>
      <p:sp>
        <p:nvSpPr>
          <p:cNvPr id="24" name="Rectangle 21"/>
          <p:cNvSpPr>
            <a:spLocks noChangeAspect="1" noChangeArrowheads="1"/>
          </p:cNvSpPr>
          <p:nvPr/>
        </p:nvSpPr>
        <p:spPr bwMode="auto">
          <a:xfrm>
            <a:off x="3039951" y="5602069"/>
            <a:ext cx="1046163" cy="373062"/>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Product</a:t>
            </a:r>
          </a:p>
        </p:txBody>
      </p:sp>
      <p:sp>
        <p:nvSpPr>
          <p:cNvPr id="26" name="Line 22"/>
          <p:cNvSpPr>
            <a:spLocks noChangeAspect="1" noChangeShapeType="1"/>
          </p:cNvSpPr>
          <p:nvPr/>
        </p:nvSpPr>
        <p:spPr bwMode="auto">
          <a:xfrm>
            <a:off x="5168789" y="5602069"/>
            <a:ext cx="598487" cy="0"/>
          </a:xfrm>
          <a:prstGeom prst="line">
            <a:avLst/>
          </a:prstGeom>
          <a:noFill/>
          <a:ln w="9525">
            <a:solidFill>
              <a:schemeClr val="tx1"/>
            </a:solidFill>
            <a:round/>
            <a:headEnd/>
            <a:tailEnd type="none" w="med"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 name="Line 23"/>
          <p:cNvSpPr>
            <a:spLocks noChangeAspect="1" noChangeShapeType="1"/>
          </p:cNvSpPr>
          <p:nvPr/>
        </p:nvSpPr>
        <p:spPr bwMode="auto">
          <a:xfrm flipH="1">
            <a:off x="4086113" y="5602070"/>
            <a:ext cx="336550" cy="149225"/>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 name="Slide Number Placeholder 3">
            <a:extLst>
              <a:ext uri="{FF2B5EF4-FFF2-40B4-BE49-F238E27FC236}">
                <a16:creationId xmlns:a16="http://schemas.microsoft.com/office/drawing/2014/main" id="{80FEE543-6693-4F5F-8C6D-9FA0D59B0617}"/>
              </a:ext>
            </a:extLst>
          </p:cNvPr>
          <p:cNvSpPr>
            <a:spLocks noGrp="1"/>
          </p:cNvSpPr>
          <p:nvPr>
            <p:ph type="sldNum" sz="quarter" idx="12"/>
          </p:nvPr>
        </p:nvSpPr>
        <p:spPr/>
        <p:txBody>
          <a:bodyPr/>
          <a:lstStyle/>
          <a:p>
            <a:fld id="{641C0F02-33DC-3A41-9F51-431B7FE03ABE}" type="slidenum">
              <a:rPr lang="en-US" smtClean="0"/>
              <a:t>18</a:t>
            </a:fld>
            <a:endParaRPr lang="en-US"/>
          </a:p>
        </p:txBody>
      </p:sp>
    </p:spTree>
    <p:extLst>
      <p:ext uri="{BB962C8B-B14F-4D97-AF65-F5344CB8AC3E}">
        <p14:creationId xmlns:p14="http://schemas.microsoft.com/office/powerpoint/2010/main" val="97849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Relationship?</a:t>
            </a:r>
          </a:p>
        </p:txBody>
      </p:sp>
      <p:grpSp>
        <p:nvGrpSpPr>
          <p:cNvPr id="3" name="Group 2"/>
          <p:cNvGrpSpPr/>
          <p:nvPr/>
        </p:nvGrpSpPr>
        <p:grpSpPr>
          <a:xfrm>
            <a:off x="2475006" y="2270235"/>
            <a:ext cx="7236553" cy="1574970"/>
            <a:chOff x="1849016" y="2994219"/>
            <a:chExt cx="8514183" cy="1853034"/>
          </a:xfrm>
        </p:grpSpPr>
        <p:sp>
          <p:nvSpPr>
            <p:cNvPr id="5" name="AutoShape 8"/>
            <p:cNvSpPr>
              <a:spLocks noChangeArrowheads="1"/>
            </p:cNvSpPr>
            <p:nvPr/>
          </p:nvSpPr>
          <p:spPr bwMode="auto">
            <a:xfrm>
              <a:off x="5963816" y="4161453"/>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Makes</a:t>
              </a:r>
            </a:p>
          </p:txBody>
        </p:sp>
        <p:sp>
          <p:nvSpPr>
            <p:cNvPr id="6" name="Rectangle 5"/>
            <p:cNvSpPr>
              <a:spLocks noChangeArrowheads="1"/>
            </p:cNvSpPr>
            <p:nvPr/>
          </p:nvSpPr>
          <p:spPr bwMode="auto">
            <a:xfrm>
              <a:off x="4058816" y="4237653"/>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Product</a:t>
              </a:r>
            </a:p>
          </p:txBody>
        </p:sp>
        <p:sp>
          <p:nvSpPr>
            <p:cNvPr id="7" name="Oval 12"/>
            <p:cNvSpPr>
              <a:spLocks noChangeArrowheads="1"/>
            </p:cNvSpPr>
            <p:nvPr/>
          </p:nvSpPr>
          <p:spPr bwMode="auto">
            <a:xfrm>
              <a:off x="2915816" y="30946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sp>
          <p:nvSpPr>
            <p:cNvPr id="8" name="Oval 13"/>
            <p:cNvSpPr>
              <a:spLocks noChangeArrowheads="1"/>
            </p:cNvSpPr>
            <p:nvPr/>
          </p:nvSpPr>
          <p:spPr bwMode="auto">
            <a:xfrm>
              <a:off x="4516016" y="31708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category</a:t>
              </a:r>
            </a:p>
          </p:txBody>
        </p:sp>
        <p:sp>
          <p:nvSpPr>
            <p:cNvPr id="9" name="Oval 16"/>
            <p:cNvSpPr>
              <a:spLocks noChangeArrowheads="1"/>
            </p:cNvSpPr>
            <p:nvPr/>
          </p:nvSpPr>
          <p:spPr bwMode="auto">
            <a:xfrm>
              <a:off x="1849016" y="37042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price</a:t>
              </a:r>
            </a:p>
          </p:txBody>
        </p:sp>
        <p:cxnSp>
          <p:nvCxnSpPr>
            <p:cNvPr id="10" name="Straight Connector 9"/>
            <p:cNvCxnSpPr>
              <a:stCxn id="9" idx="5"/>
              <a:endCxn id="6" idx="1"/>
            </p:cNvCxnSpPr>
            <p:nvPr/>
          </p:nvCxnSpPr>
          <p:spPr bwMode="auto">
            <a:xfrm rot="16200000" flipH="1">
              <a:off x="3464438" y="3909973"/>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1" name="Straight Connector 10"/>
            <p:cNvCxnSpPr>
              <a:stCxn id="7" idx="5"/>
              <a:endCxn id="6" idx="0"/>
            </p:cNvCxnSpPr>
            <p:nvPr/>
          </p:nvCxnSpPr>
          <p:spPr bwMode="auto">
            <a:xfrm rot="16200000" flipH="1">
              <a:off x="4131188" y="3700423"/>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2" name="Straight Connector 11"/>
            <p:cNvCxnSpPr>
              <a:stCxn id="8" idx="4"/>
              <a:endCxn id="6" idx="0"/>
            </p:cNvCxnSpPr>
            <p:nvPr/>
          </p:nvCxnSpPr>
          <p:spPr bwMode="auto">
            <a:xfrm rot="5400000">
              <a:off x="4763666" y="3761403"/>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13" name="Rectangle 10"/>
            <p:cNvSpPr>
              <a:spLocks noChangeArrowheads="1"/>
            </p:cNvSpPr>
            <p:nvPr/>
          </p:nvSpPr>
          <p:spPr bwMode="auto">
            <a:xfrm>
              <a:off x="8402216" y="4237653"/>
              <a:ext cx="1539551"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Company</a:t>
              </a:r>
            </a:p>
          </p:txBody>
        </p:sp>
        <p:sp>
          <p:nvSpPr>
            <p:cNvPr id="14" name="Oval 12"/>
            <p:cNvSpPr>
              <a:spLocks noChangeArrowheads="1"/>
            </p:cNvSpPr>
            <p:nvPr/>
          </p:nvSpPr>
          <p:spPr bwMode="auto">
            <a:xfrm>
              <a:off x="8915399" y="299421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cxnSp>
          <p:nvCxnSpPr>
            <p:cNvPr id="15" name="Straight Connector 14"/>
            <p:cNvCxnSpPr>
              <a:stCxn id="14" idx="4"/>
              <a:endCxn id="13" idx="0"/>
            </p:cNvCxnSpPr>
            <p:nvPr/>
          </p:nvCxnSpPr>
          <p:spPr bwMode="auto">
            <a:xfrm flipH="1">
              <a:off x="9171992" y="3680019"/>
              <a:ext cx="467307" cy="5576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6" name="Straight Connector 15"/>
            <p:cNvCxnSpPr>
              <a:stCxn id="6" idx="3"/>
              <a:endCxn id="5" idx="1"/>
            </p:cNvCxnSpPr>
            <p:nvPr/>
          </p:nvCxnSpPr>
          <p:spPr bwMode="auto">
            <a:xfrm>
              <a:off x="5278016" y="4504353"/>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7" name="Straight Connector 16"/>
            <p:cNvCxnSpPr>
              <a:stCxn id="5" idx="3"/>
              <a:endCxn id="13" idx="1"/>
            </p:cNvCxnSpPr>
            <p:nvPr/>
          </p:nvCxnSpPr>
          <p:spPr bwMode="auto">
            <a:xfrm>
              <a:off x="7792616" y="4504353"/>
              <a:ext cx="60960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1" name="TextBox 20"/>
          <p:cNvSpPr txBox="1"/>
          <p:nvPr/>
        </p:nvSpPr>
        <p:spPr>
          <a:xfrm>
            <a:off x="2840556" y="4831443"/>
            <a:ext cx="6512981" cy="1200329"/>
          </a:xfrm>
          <a:prstGeom prst="rect">
            <a:avLst/>
          </a:prstGeom>
          <a:solidFill>
            <a:schemeClr val="accent5">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A </a:t>
            </a:r>
            <a:r>
              <a:rPr lang="en-US" sz="2400" b="1" u="sng">
                <a:solidFill>
                  <a:srgbClr val="000000"/>
                </a:solidFill>
                <a:latin typeface="+mj-lt"/>
              </a:rPr>
              <a:t>relationship</a:t>
            </a:r>
            <a:r>
              <a:rPr lang="en-US" sz="2400">
                <a:solidFill>
                  <a:srgbClr val="000000"/>
                </a:solidFill>
                <a:latin typeface="+mj-lt"/>
              </a:rPr>
              <a:t> between </a:t>
            </a:r>
            <a:r>
              <a:rPr lang="en-US" sz="2400" b="1">
                <a:solidFill>
                  <a:srgbClr val="000000"/>
                </a:solidFill>
                <a:latin typeface="+mj-lt"/>
              </a:rPr>
              <a:t>entity sets P and C </a:t>
            </a:r>
            <a:r>
              <a:rPr lang="en-US" sz="2400">
                <a:solidFill>
                  <a:srgbClr val="000000"/>
                </a:solidFill>
                <a:latin typeface="+mj-lt"/>
              </a:rPr>
              <a:t>is a </a:t>
            </a:r>
            <a:r>
              <a:rPr lang="en-US" sz="2400" b="1" i="1">
                <a:solidFill>
                  <a:srgbClr val="000000"/>
                </a:solidFill>
                <a:latin typeface="+mj-lt"/>
              </a:rPr>
              <a:t>subset of all possible pairs of entities in P and C</a:t>
            </a:r>
            <a:r>
              <a:rPr lang="en-US" sz="2400">
                <a:solidFill>
                  <a:srgbClr val="000000"/>
                </a:solidFill>
                <a:latin typeface="+mj-lt"/>
              </a:rPr>
              <a:t>, with tuples uniquely identified by </a:t>
            </a:r>
            <a:r>
              <a:rPr lang="en-US" sz="2400" b="1" i="1">
                <a:solidFill>
                  <a:srgbClr val="000000"/>
                </a:solidFill>
                <a:latin typeface="+mj-lt"/>
              </a:rPr>
              <a:t>P and C’s keys</a:t>
            </a:r>
          </a:p>
        </p:txBody>
      </p:sp>
      <p:sp>
        <p:nvSpPr>
          <p:cNvPr id="4" name="Slide Number Placeholder 3">
            <a:extLst>
              <a:ext uri="{FF2B5EF4-FFF2-40B4-BE49-F238E27FC236}">
                <a16:creationId xmlns:a16="http://schemas.microsoft.com/office/drawing/2014/main" id="{2BD602C3-45FD-400B-AA54-3A2F9CDAE183}"/>
              </a:ext>
            </a:extLst>
          </p:cNvPr>
          <p:cNvSpPr>
            <a:spLocks noGrp="1"/>
          </p:cNvSpPr>
          <p:nvPr>
            <p:ph type="sldNum" sz="quarter" idx="12"/>
          </p:nvPr>
        </p:nvSpPr>
        <p:spPr/>
        <p:txBody>
          <a:bodyPr/>
          <a:lstStyle/>
          <a:p>
            <a:fld id="{641C0F02-33DC-3A41-9F51-431B7FE03ABE}" type="slidenum">
              <a:rPr lang="en-US" smtClean="0"/>
              <a:t>19</a:t>
            </a:fld>
            <a:endParaRPr lang="en-US"/>
          </a:p>
        </p:txBody>
      </p:sp>
    </p:spTree>
    <p:extLst>
      <p:ext uri="{BB962C8B-B14F-4D97-AF65-F5344CB8AC3E}">
        <p14:creationId xmlns:p14="http://schemas.microsoft.com/office/powerpoint/2010/main" val="52494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Relationship?</a:t>
            </a:r>
          </a:p>
        </p:txBody>
      </p:sp>
      <p:graphicFrame>
        <p:nvGraphicFramePr>
          <p:cNvPr id="18" name="Table 17"/>
          <p:cNvGraphicFramePr>
            <a:graphicFrameLocks noGrp="1"/>
          </p:cNvGraphicFramePr>
          <p:nvPr>
            <p:extLst>
              <p:ext uri="{D42A27DB-BD31-4B8C-83A1-F6EECF244321}">
                <p14:modId xmlns:p14="http://schemas.microsoft.com/office/powerpoint/2010/main" val="3235641002"/>
              </p:ext>
            </p:extLst>
          </p:nvPr>
        </p:nvGraphicFramePr>
        <p:xfrm>
          <a:off x="2505508" y="1789957"/>
          <a:ext cx="3045471" cy="1349168"/>
        </p:xfrm>
        <a:graphic>
          <a:graphicData uri="http://schemas.openxmlformats.org/drawingml/2006/table">
            <a:tbl>
              <a:tblPr firstRow="1" bandRow="1">
                <a:tableStyleId>{17292A2E-F333-43FB-9621-5CBBE7FDCDCB}</a:tableStyleId>
              </a:tblPr>
              <a:tblGrid>
                <a:gridCol w="1015157">
                  <a:extLst>
                    <a:ext uri="{9D8B030D-6E8A-4147-A177-3AD203B41FA5}">
                      <a16:colId xmlns:a16="http://schemas.microsoft.com/office/drawing/2014/main" val="20000"/>
                    </a:ext>
                  </a:extLst>
                </a:gridCol>
                <a:gridCol w="1241402">
                  <a:extLst>
                    <a:ext uri="{9D8B030D-6E8A-4147-A177-3AD203B41FA5}">
                      <a16:colId xmlns:a16="http://schemas.microsoft.com/office/drawing/2014/main" val="20001"/>
                    </a:ext>
                  </a:extLst>
                </a:gridCol>
                <a:gridCol w="788912">
                  <a:extLst>
                    <a:ext uri="{9D8B030D-6E8A-4147-A177-3AD203B41FA5}">
                      <a16:colId xmlns:a16="http://schemas.microsoft.com/office/drawing/2014/main" val="20002"/>
                    </a:ext>
                  </a:extLst>
                </a:gridCol>
              </a:tblGrid>
              <a:tr h="234739">
                <a:tc>
                  <a:txBody>
                    <a:bodyPr/>
                    <a:lstStyle/>
                    <a:p>
                      <a:r>
                        <a:rPr lang="en-US" sz="1600" u="sng"/>
                        <a:t>name</a:t>
                      </a:r>
                    </a:p>
                  </a:txBody>
                  <a:tcPr/>
                </a:tc>
                <a:tc>
                  <a:txBody>
                    <a:bodyPr/>
                    <a:lstStyle/>
                    <a:p>
                      <a:r>
                        <a:rPr lang="en-US" sz="1600"/>
                        <a:t>category</a:t>
                      </a:r>
                    </a:p>
                  </a:txBody>
                  <a:tcPr/>
                </a:tc>
                <a:tc>
                  <a:txBody>
                    <a:bodyPr/>
                    <a:lstStyle/>
                    <a:p>
                      <a:r>
                        <a:rPr lang="en-US" sz="1600"/>
                        <a:t>price</a:t>
                      </a:r>
                    </a:p>
                  </a:txBody>
                  <a:tcPr/>
                </a:tc>
                <a:extLst>
                  <a:ext uri="{0D108BD9-81ED-4DB2-BD59-A6C34878D82A}">
                    <a16:rowId xmlns:a16="http://schemas.microsoft.com/office/drawing/2014/main" val="10000"/>
                  </a:ext>
                </a:extLst>
              </a:tr>
              <a:tr h="234739">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1"/>
                  </a:ext>
                </a:extLst>
              </a:tr>
              <a:tr h="234739">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2"/>
                  </a:ext>
                </a:extLst>
              </a:tr>
              <a:tr h="343328">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3"/>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3073327722"/>
              </p:ext>
            </p:extLst>
          </p:nvPr>
        </p:nvGraphicFramePr>
        <p:xfrm>
          <a:off x="895216" y="1804245"/>
          <a:ext cx="1327310" cy="1010579"/>
        </p:xfrm>
        <a:graphic>
          <a:graphicData uri="http://schemas.openxmlformats.org/drawingml/2006/table">
            <a:tbl>
              <a:tblPr firstRow="1" bandRow="1">
                <a:tableStyleId>{17292A2E-F333-43FB-9621-5CBBE7FDCDCB}</a:tableStyleId>
              </a:tblPr>
              <a:tblGrid>
                <a:gridCol w="1327310">
                  <a:extLst>
                    <a:ext uri="{9D8B030D-6E8A-4147-A177-3AD203B41FA5}">
                      <a16:colId xmlns:a16="http://schemas.microsoft.com/office/drawing/2014/main" val="20000"/>
                    </a:ext>
                  </a:extLst>
                </a:gridCol>
              </a:tblGrid>
              <a:tr h="261641">
                <a:tc>
                  <a:txBody>
                    <a:bodyPr/>
                    <a:lstStyle/>
                    <a:p>
                      <a:r>
                        <a:rPr lang="en-US" sz="1600" u="sng"/>
                        <a:t>name</a:t>
                      </a:r>
                    </a:p>
                  </a:txBody>
                  <a:tcPr/>
                </a:tc>
                <a:extLst>
                  <a:ext uri="{0D108BD9-81ED-4DB2-BD59-A6C34878D82A}">
                    <a16:rowId xmlns:a16="http://schemas.microsoft.com/office/drawing/2014/main" val="10000"/>
                  </a:ext>
                </a:extLst>
              </a:tr>
              <a:tr h="340019">
                <a:tc>
                  <a:txBody>
                    <a:bodyPr/>
                    <a:lstStyle/>
                    <a:p>
                      <a:r>
                        <a:rPr lang="en-US" sz="1600" err="1"/>
                        <a:t>GizmoWorks</a:t>
                      </a:r>
                      <a:endParaRPr lang="en-US" sz="1600"/>
                    </a:p>
                  </a:txBody>
                  <a:tcPr/>
                </a:tc>
                <a:extLst>
                  <a:ext uri="{0D108BD9-81ED-4DB2-BD59-A6C34878D82A}">
                    <a16:rowId xmlns:a16="http://schemas.microsoft.com/office/drawing/2014/main" val="10001"/>
                  </a:ext>
                </a:extLst>
              </a:tr>
              <a:tr h="261641">
                <a:tc>
                  <a:txBody>
                    <a:bodyPr/>
                    <a:lstStyle/>
                    <a:p>
                      <a:r>
                        <a:rPr lang="en-US" sz="1600" err="1"/>
                        <a:t>GadgetCorp</a:t>
                      </a:r>
                      <a:endParaRPr lang="en-US" sz="1600"/>
                    </a:p>
                  </a:txBody>
                  <a:tcPr/>
                </a:tc>
                <a:extLst>
                  <a:ext uri="{0D108BD9-81ED-4DB2-BD59-A6C34878D82A}">
                    <a16:rowId xmlns:a16="http://schemas.microsoft.com/office/drawing/2014/main" val="10002"/>
                  </a:ext>
                </a:extLst>
              </a:tr>
            </a:tbl>
          </a:graphicData>
        </a:graphic>
      </p:graphicFrame>
      <p:sp>
        <p:nvSpPr>
          <p:cNvPr id="19" name="TextBox 18"/>
          <p:cNvSpPr txBox="1"/>
          <p:nvPr/>
        </p:nvSpPr>
        <p:spPr>
          <a:xfrm>
            <a:off x="2505508" y="1420625"/>
            <a:ext cx="933717" cy="369332"/>
          </a:xfrm>
          <a:prstGeom prst="rect">
            <a:avLst/>
          </a:prstGeom>
          <a:noFill/>
        </p:spPr>
        <p:txBody>
          <a:bodyPr wrap="none" rtlCol="0">
            <a:spAutoFit/>
          </a:bodyPr>
          <a:lstStyle/>
          <a:p>
            <a:r>
              <a:rPr lang="en-US" b="1">
                <a:solidFill>
                  <a:schemeClr val="accent2"/>
                </a:solidFill>
              </a:rPr>
              <a:t>Product</a:t>
            </a:r>
          </a:p>
        </p:txBody>
      </p:sp>
      <p:sp>
        <p:nvSpPr>
          <p:cNvPr id="28" name="TextBox 27"/>
          <p:cNvSpPr txBox="1"/>
          <p:nvPr/>
        </p:nvSpPr>
        <p:spPr>
          <a:xfrm>
            <a:off x="833080" y="1434913"/>
            <a:ext cx="1082989" cy="369332"/>
          </a:xfrm>
          <a:prstGeom prst="rect">
            <a:avLst/>
          </a:prstGeom>
          <a:noFill/>
        </p:spPr>
        <p:txBody>
          <a:bodyPr wrap="none" rtlCol="0">
            <a:spAutoFit/>
          </a:bodyPr>
          <a:lstStyle/>
          <a:p>
            <a:r>
              <a:rPr lang="en-US" b="1">
                <a:solidFill>
                  <a:schemeClr val="accent2"/>
                </a:solidFill>
              </a:rPr>
              <a:t>Company</a:t>
            </a:r>
          </a:p>
        </p:txBody>
      </p:sp>
      <p:grpSp>
        <p:nvGrpSpPr>
          <p:cNvPr id="34" name="Group 33"/>
          <p:cNvGrpSpPr/>
          <p:nvPr/>
        </p:nvGrpSpPr>
        <p:grpSpPr>
          <a:xfrm>
            <a:off x="833080" y="3890146"/>
            <a:ext cx="5039891" cy="1096886"/>
            <a:chOff x="1849016" y="2994219"/>
            <a:chExt cx="8514183" cy="1853034"/>
          </a:xfrm>
        </p:grpSpPr>
        <p:sp>
          <p:nvSpPr>
            <p:cNvPr id="35" name="AutoShape 8"/>
            <p:cNvSpPr>
              <a:spLocks noChangeArrowheads="1"/>
            </p:cNvSpPr>
            <p:nvPr/>
          </p:nvSpPr>
          <p:spPr bwMode="auto">
            <a:xfrm>
              <a:off x="5963816" y="4161453"/>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Makes</a:t>
              </a:r>
            </a:p>
          </p:txBody>
        </p:sp>
        <p:sp>
          <p:nvSpPr>
            <p:cNvPr id="36" name="Rectangle 35"/>
            <p:cNvSpPr>
              <a:spLocks noChangeArrowheads="1"/>
            </p:cNvSpPr>
            <p:nvPr/>
          </p:nvSpPr>
          <p:spPr bwMode="auto">
            <a:xfrm>
              <a:off x="4058816" y="4237653"/>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Product</a:t>
              </a:r>
            </a:p>
          </p:txBody>
        </p:sp>
        <p:sp>
          <p:nvSpPr>
            <p:cNvPr id="37" name="Oval 12"/>
            <p:cNvSpPr>
              <a:spLocks noChangeArrowheads="1"/>
            </p:cNvSpPr>
            <p:nvPr/>
          </p:nvSpPr>
          <p:spPr bwMode="auto">
            <a:xfrm>
              <a:off x="2915816" y="30946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sp>
          <p:nvSpPr>
            <p:cNvPr id="38" name="Oval 13"/>
            <p:cNvSpPr>
              <a:spLocks noChangeArrowheads="1"/>
            </p:cNvSpPr>
            <p:nvPr/>
          </p:nvSpPr>
          <p:spPr bwMode="auto">
            <a:xfrm>
              <a:off x="4516016" y="31708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category</a:t>
              </a:r>
            </a:p>
          </p:txBody>
        </p:sp>
        <p:sp>
          <p:nvSpPr>
            <p:cNvPr id="39" name="Oval 16"/>
            <p:cNvSpPr>
              <a:spLocks noChangeArrowheads="1"/>
            </p:cNvSpPr>
            <p:nvPr/>
          </p:nvSpPr>
          <p:spPr bwMode="auto">
            <a:xfrm>
              <a:off x="1849016" y="37042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price</a:t>
              </a:r>
            </a:p>
          </p:txBody>
        </p:sp>
        <p:cxnSp>
          <p:nvCxnSpPr>
            <p:cNvPr id="40" name="Straight Connector 39"/>
            <p:cNvCxnSpPr>
              <a:stCxn id="41" idx="5"/>
              <a:endCxn id="38" idx="1"/>
            </p:cNvCxnSpPr>
            <p:nvPr/>
          </p:nvCxnSpPr>
          <p:spPr bwMode="auto">
            <a:xfrm rot="16200000" flipH="1">
              <a:off x="3464438" y="3909973"/>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a:stCxn id="39" idx="5"/>
              <a:endCxn id="38" idx="0"/>
            </p:cNvCxnSpPr>
            <p:nvPr/>
          </p:nvCxnSpPr>
          <p:spPr bwMode="auto">
            <a:xfrm rot="16200000" flipH="1">
              <a:off x="4131188" y="3700423"/>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2" name="Straight Connector 41"/>
            <p:cNvCxnSpPr>
              <a:stCxn id="40" idx="4"/>
              <a:endCxn id="38" idx="0"/>
            </p:cNvCxnSpPr>
            <p:nvPr/>
          </p:nvCxnSpPr>
          <p:spPr bwMode="auto">
            <a:xfrm rot="5400000">
              <a:off x="4763666" y="3761403"/>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43" name="Rectangle 42"/>
            <p:cNvSpPr>
              <a:spLocks noChangeArrowheads="1"/>
            </p:cNvSpPr>
            <p:nvPr/>
          </p:nvSpPr>
          <p:spPr bwMode="auto">
            <a:xfrm>
              <a:off x="8402216" y="4237653"/>
              <a:ext cx="1539551"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Company</a:t>
              </a:r>
            </a:p>
          </p:txBody>
        </p:sp>
        <p:sp>
          <p:nvSpPr>
            <p:cNvPr id="44" name="Oval 12"/>
            <p:cNvSpPr>
              <a:spLocks noChangeArrowheads="1"/>
            </p:cNvSpPr>
            <p:nvPr/>
          </p:nvSpPr>
          <p:spPr bwMode="auto">
            <a:xfrm>
              <a:off x="8915399" y="299421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cxnSp>
          <p:nvCxnSpPr>
            <p:cNvPr id="45" name="Straight Connector 44"/>
            <p:cNvCxnSpPr>
              <a:stCxn id="46" idx="4"/>
              <a:endCxn id="45" idx="0"/>
            </p:cNvCxnSpPr>
            <p:nvPr/>
          </p:nvCxnSpPr>
          <p:spPr bwMode="auto">
            <a:xfrm flipH="1">
              <a:off x="9171992" y="3680019"/>
              <a:ext cx="467307" cy="5576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6" name="Straight Connector 45"/>
            <p:cNvCxnSpPr>
              <a:stCxn id="38" idx="3"/>
              <a:endCxn id="37" idx="1"/>
            </p:cNvCxnSpPr>
            <p:nvPr/>
          </p:nvCxnSpPr>
          <p:spPr bwMode="auto">
            <a:xfrm>
              <a:off x="5278016" y="4504353"/>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7" name="Straight Connector 46"/>
            <p:cNvCxnSpPr>
              <a:stCxn id="37" idx="3"/>
              <a:endCxn id="45" idx="1"/>
            </p:cNvCxnSpPr>
            <p:nvPr/>
          </p:nvCxnSpPr>
          <p:spPr bwMode="auto">
            <a:xfrm>
              <a:off x="7792616" y="4504353"/>
              <a:ext cx="60960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48" name="TextBox 47"/>
          <p:cNvSpPr txBox="1"/>
          <p:nvPr/>
        </p:nvSpPr>
        <p:spPr>
          <a:xfrm>
            <a:off x="682783" y="5338583"/>
            <a:ext cx="6512981" cy="1200329"/>
          </a:xfrm>
          <a:prstGeom prst="rect">
            <a:avLst/>
          </a:prstGeom>
          <a:solidFill>
            <a:schemeClr val="accent5">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A </a:t>
            </a:r>
            <a:r>
              <a:rPr lang="en-US" sz="2400" b="1" u="sng">
                <a:solidFill>
                  <a:srgbClr val="000000"/>
                </a:solidFill>
                <a:latin typeface="+mj-lt"/>
              </a:rPr>
              <a:t>relationship</a:t>
            </a:r>
            <a:r>
              <a:rPr lang="en-US" sz="2400">
                <a:solidFill>
                  <a:srgbClr val="000000"/>
                </a:solidFill>
                <a:latin typeface="+mj-lt"/>
              </a:rPr>
              <a:t> between </a:t>
            </a:r>
            <a:r>
              <a:rPr lang="en-US" sz="2400" b="1">
                <a:solidFill>
                  <a:srgbClr val="000000"/>
                </a:solidFill>
                <a:latin typeface="+mj-lt"/>
              </a:rPr>
              <a:t>entity sets P and C </a:t>
            </a:r>
            <a:r>
              <a:rPr lang="en-US" sz="2400">
                <a:solidFill>
                  <a:srgbClr val="000000"/>
                </a:solidFill>
                <a:latin typeface="+mj-lt"/>
              </a:rPr>
              <a:t>is a </a:t>
            </a:r>
            <a:r>
              <a:rPr lang="en-US" sz="2400" b="1" i="1">
                <a:solidFill>
                  <a:srgbClr val="000000"/>
                </a:solidFill>
                <a:latin typeface="+mj-lt"/>
              </a:rPr>
              <a:t>subset of all possible pairs of entities in P and C</a:t>
            </a:r>
            <a:r>
              <a:rPr lang="en-US" sz="2400">
                <a:solidFill>
                  <a:srgbClr val="000000"/>
                </a:solidFill>
                <a:latin typeface="+mj-lt"/>
              </a:rPr>
              <a:t>, with tuples uniquely identified by </a:t>
            </a:r>
            <a:r>
              <a:rPr lang="en-US" sz="2400" b="1" i="1">
                <a:solidFill>
                  <a:srgbClr val="000000"/>
                </a:solidFill>
                <a:latin typeface="+mj-lt"/>
              </a:rPr>
              <a:t>P and C’s keys</a:t>
            </a:r>
          </a:p>
        </p:txBody>
      </p:sp>
      <p:sp>
        <p:nvSpPr>
          <p:cNvPr id="3" name="Slide Number Placeholder 2">
            <a:extLst>
              <a:ext uri="{FF2B5EF4-FFF2-40B4-BE49-F238E27FC236}">
                <a16:creationId xmlns:a16="http://schemas.microsoft.com/office/drawing/2014/main" id="{9B9E1C50-EA3B-4EA9-9BF1-BBFE1E25135E}"/>
              </a:ext>
            </a:extLst>
          </p:cNvPr>
          <p:cNvSpPr>
            <a:spLocks noGrp="1"/>
          </p:cNvSpPr>
          <p:nvPr>
            <p:ph type="sldNum" sz="quarter" idx="12"/>
          </p:nvPr>
        </p:nvSpPr>
        <p:spPr/>
        <p:txBody>
          <a:bodyPr/>
          <a:lstStyle/>
          <a:p>
            <a:fld id="{641C0F02-33DC-3A41-9F51-431B7FE03ABE}" type="slidenum">
              <a:rPr lang="en-US" smtClean="0"/>
              <a:t>20</a:t>
            </a:fld>
            <a:endParaRPr lang="en-US"/>
          </a:p>
        </p:txBody>
      </p:sp>
    </p:spTree>
    <p:extLst>
      <p:ext uri="{BB962C8B-B14F-4D97-AF65-F5344CB8AC3E}">
        <p14:creationId xmlns:p14="http://schemas.microsoft.com/office/powerpoint/2010/main" val="90943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p:bldP spid="4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Relationship?</a:t>
            </a:r>
          </a:p>
        </p:txBody>
      </p:sp>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21</a:t>
            </a:fld>
            <a:endParaRPr lang="en-US">
              <a:solidFill>
                <a:srgbClr val="000000"/>
              </a:solidFill>
            </a:endParaRPr>
          </a:p>
        </p:txBody>
      </p:sp>
      <p:graphicFrame>
        <p:nvGraphicFramePr>
          <p:cNvPr id="18" name="Table 17"/>
          <p:cNvGraphicFramePr>
            <a:graphicFrameLocks noGrp="1"/>
          </p:cNvGraphicFramePr>
          <p:nvPr>
            <p:extLst>
              <p:ext uri="{D42A27DB-BD31-4B8C-83A1-F6EECF244321}">
                <p14:modId xmlns:p14="http://schemas.microsoft.com/office/powerpoint/2010/main" val="3021610455"/>
              </p:ext>
            </p:extLst>
          </p:nvPr>
        </p:nvGraphicFramePr>
        <p:xfrm>
          <a:off x="2505508" y="1789957"/>
          <a:ext cx="3045471" cy="1349168"/>
        </p:xfrm>
        <a:graphic>
          <a:graphicData uri="http://schemas.openxmlformats.org/drawingml/2006/table">
            <a:tbl>
              <a:tblPr firstRow="1" bandRow="1">
                <a:tableStyleId>{17292A2E-F333-43FB-9621-5CBBE7FDCDCB}</a:tableStyleId>
              </a:tblPr>
              <a:tblGrid>
                <a:gridCol w="1015157">
                  <a:extLst>
                    <a:ext uri="{9D8B030D-6E8A-4147-A177-3AD203B41FA5}">
                      <a16:colId xmlns:a16="http://schemas.microsoft.com/office/drawing/2014/main" val="20000"/>
                    </a:ext>
                  </a:extLst>
                </a:gridCol>
                <a:gridCol w="1241402">
                  <a:extLst>
                    <a:ext uri="{9D8B030D-6E8A-4147-A177-3AD203B41FA5}">
                      <a16:colId xmlns:a16="http://schemas.microsoft.com/office/drawing/2014/main" val="20001"/>
                    </a:ext>
                  </a:extLst>
                </a:gridCol>
                <a:gridCol w="788912">
                  <a:extLst>
                    <a:ext uri="{9D8B030D-6E8A-4147-A177-3AD203B41FA5}">
                      <a16:colId xmlns:a16="http://schemas.microsoft.com/office/drawing/2014/main" val="20002"/>
                    </a:ext>
                  </a:extLst>
                </a:gridCol>
              </a:tblGrid>
              <a:tr h="234739">
                <a:tc>
                  <a:txBody>
                    <a:bodyPr/>
                    <a:lstStyle/>
                    <a:p>
                      <a:r>
                        <a:rPr lang="en-US" sz="1600" u="sng"/>
                        <a:t>name</a:t>
                      </a:r>
                    </a:p>
                  </a:txBody>
                  <a:tcPr/>
                </a:tc>
                <a:tc>
                  <a:txBody>
                    <a:bodyPr/>
                    <a:lstStyle/>
                    <a:p>
                      <a:r>
                        <a:rPr lang="en-US" sz="1600"/>
                        <a:t>category</a:t>
                      </a:r>
                    </a:p>
                  </a:txBody>
                  <a:tcPr/>
                </a:tc>
                <a:tc>
                  <a:txBody>
                    <a:bodyPr/>
                    <a:lstStyle/>
                    <a:p>
                      <a:r>
                        <a:rPr lang="en-US" sz="1600"/>
                        <a:t>price</a:t>
                      </a:r>
                    </a:p>
                  </a:txBody>
                  <a:tcPr/>
                </a:tc>
                <a:extLst>
                  <a:ext uri="{0D108BD9-81ED-4DB2-BD59-A6C34878D82A}">
                    <a16:rowId xmlns:a16="http://schemas.microsoft.com/office/drawing/2014/main" val="10000"/>
                  </a:ext>
                </a:extLst>
              </a:tr>
              <a:tr h="234739">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1"/>
                  </a:ext>
                </a:extLst>
              </a:tr>
              <a:tr h="234739">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2"/>
                  </a:ext>
                </a:extLst>
              </a:tr>
              <a:tr h="343328">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3"/>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130522381"/>
              </p:ext>
            </p:extLst>
          </p:nvPr>
        </p:nvGraphicFramePr>
        <p:xfrm>
          <a:off x="895216" y="1804245"/>
          <a:ext cx="1327310" cy="1010579"/>
        </p:xfrm>
        <a:graphic>
          <a:graphicData uri="http://schemas.openxmlformats.org/drawingml/2006/table">
            <a:tbl>
              <a:tblPr firstRow="1" bandRow="1">
                <a:tableStyleId>{17292A2E-F333-43FB-9621-5CBBE7FDCDCB}</a:tableStyleId>
              </a:tblPr>
              <a:tblGrid>
                <a:gridCol w="1327310">
                  <a:extLst>
                    <a:ext uri="{9D8B030D-6E8A-4147-A177-3AD203B41FA5}">
                      <a16:colId xmlns:a16="http://schemas.microsoft.com/office/drawing/2014/main" val="20000"/>
                    </a:ext>
                  </a:extLst>
                </a:gridCol>
              </a:tblGrid>
              <a:tr h="261641">
                <a:tc>
                  <a:txBody>
                    <a:bodyPr/>
                    <a:lstStyle/>
                    <a:p>
                      <a:r>
                        <a:rPr lang="en-US" sz="1600" u="sng"/>
                        <a:t>name</a:t>
                      </a:r>
                    </a:p>
                  </a:txBody>
                  <a:tcPr/>
                </a:tc>
                <a:extLst>
                  <a:ext uri="{0D108BD9-81ED-4DB2-BD59-A6C34878D82A}">
                    <a16:rowId xmlns:a16="http://schemas.microsoft.com/office/drawing/2014/main" val="10000"/>
                  </a:ext>
                </a:extLst>
              </a:tr>
              <a:tr h="340019">
                <a:tc>
                  <a:txBody>
                    <a:bodyPr/>
                    <a:lstStyle/>
                    <a:p>
                      <a:r>
                        <a:rPr lang="en-US" sz="1600" err="1"/>
                        <a:t>GizmoWorks</a:t>
                      </a:r>
                      <a:endParaRPr lang="en-US" sz="1600"/>
                    </a:p>
                  </a:txBody>
                  <a:tcPr/>
                </a:tc>
                <a:extLst>
                  <a:ext uri="{0D108BD9-81ED-4DB2-BD59-A6C34878D82A}">
                    <a16:rowId xmlns:a16="http://schemas.microsoft.com/office/drawing/2014/main" val="10001"/>
                  </a:ext>
                </a:extLst>
              </a:tr>
              <a:tr h="261641">
                <a:tc>
                  <a:txBody>
                    <a:bodyPr/>
                    <a:lstStyle/>
                    <a:p>
                      <a:r>
                        <a:rPr lang="en-US" sz="1600" err="1"/>
                        <a:t>GadgetCorp</a:t>
                      </a:r>
                      <a:endParaRPr lang="en-US" sz="1600"/>
                    </a:p>
                  </a:txBody>
                  <a:tcPr/>
                </a:tc>
                <a:extLst>
                  <a:ext uri="{0D108BD9-81ED-4DB2-BD59-A6C34878D82A}">
                    <a16:rowId xmlns:a16="http://schemas.microsoft.com/office/drawing/2014/main" val="10002"/>
                  </a:ext>
                </a:extLst>
              </a:tr>
            </a:tbl>
          </a:graphicData>
        </a:graphic>
      </p:graphicFrame>
      <p:sp>
        <p:nvSpPr>
          <p:cNvPr id="19" name="TextBox 18"/>
          <p:cNvSpPr txBox="1"/>
          <p:nvPr/>
        </p:nvSpPr>
        <p:spPr>
          <a:xfrm>
            <a:off x="2505508" y="1420625"/>
            <a:ext cx="933717" cy="369332"/>
          </a:xfrm>
          <a:prstGeom prst="rect">
            <a:avLst/>
          </a:prstGeom>
          <a:noFill/>
        </p:spPr>
        <p:txBody>
          <a:bodyPr wrap="none" rtlCol="0">
            <a:spAutoFit/>
          </a:bodyPr>
          <a:lstStyle/>
          <a:p>
            <a:r>
              <a:rPr lang="en-US" b="1">
                <a:solidFill>
                  <a:schemeClr val="accent2"/>
                </a:solidFill>
              </a:rPr>
              <a:t>Product</a:t>
            </a:r>
          </a:p>
        </p:txBody>
      </p:sp>
      <p:sp>
        <p:nvSpPr>
          <p:cNvPr id="28" name="TextBox 27"/>
          <p:cNvSpPr txBox="1"/>
          <p:nvPr/>
        </p:nvSpPr>
        <p:spPr>
          <a:xfrm>
            <a:off x="833080" y="1434913"/>
            <a:ext cx="1082989" cy="369332"/>
          </a:xfrm>
          <a:prstGeom prst="rect">
            <a:avLst/>
          </a:prstGeom>
          <a:noFill/>
        </p:spPr>
        <p:txBody>
          <a:bodyPr wrap="none" rtlCol="0">
            <a:spAutoFit/>
          </a:bodyPr>
          <a:lstStyle/>
          <a:p>
            <a:r>
              <a:rPr lang="en-US" b="1">
                <a:solidFill>
                  <a:schemeClr val="accent2"/>
                </a:solidFill>
              </a:rPr>
              <a:t>Company</a:t>
            </a:r>
          </a:p>
        </p:txBody>
      </p:sp>
      <p:sp>
        <p:nvSpPr>
          <p:cNvPr id="20" name="Right Arrow 19"/>
          <p:cNvSpPr/>
          <p:nvPr/>
        </p:nvSpPr>
        <p:spPr>
          <a:xfrm>
            <a:off x="6096000" y="2131519"/>
            <a:ext cx="746234" cy="536027"/>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aphicFrame>
        <p:nvGraphicFramePr>
          <p:cNvPr id="29" name="Table 28"/>
          <p:cNvGraphicFramePr>
            <a:graphicFrameLocks noGrp="1"/>
          </p:cNvGraphicFramePr>
          <p:nvPr>
            <p:extLst>
              <p:ext uri="{D42A27DB-BD31-4B8C-83A1-F6EECF244321}">
                <p14:modId xmlns:p14="http://schemas.microsoft.com/office/powerpoint/2010/main" val="1568778780"/>
              </p:ext>
            </p:extLst>
          </p:nvPr>
        </p:nvGraphicFramePr>
        <p:xfrm>
          <a:off x="7346061" y="1724948"/>
          <a:ext cx="4436035" cy="2379152"/>
        </p:xfrm>
        <a:graphic>
          <a:graphicData uri="http://schemas.openxmlformats.org/drawingml/2006/table">
            <a:tbl>
              <a:tblPr firstRow="1" bandRow="1">
                <a:tableStyleId>{17292A2E-F333-43FB-9621-5CBBE7FDCDCB}</a:tableStyleId>
              </a:tblPr>
              <a:tblGrid>
                <a:gridCol w="1261911">
                  <a:extLst>
                    <a:ext uri="{9D8B030D-6E8A-4147-A177-3AD203B41FA5}">
                      <a16:colId xmlns:a16="http://schemas.microsoft.com/office/drawing/2014/main" val="20000"/>
                    </a:ext>
                  </a:extLst>
                </a:gridCol>
                <a:gridCol w="1061545">
                  <a:extLst>
                    <a:ext uri="{9D8B030D-6E8A-4147-A177-3AD203B41FA5}">
                      <a16:colId xmlns:a16="http://schemas.microsoft.com/office/drawing/2014/main" val="20001"/>
                    </a:ext>
                  </a:extLst>
                </a:gridCol>
                <a:gridCol w="1250732">
                  <a:extLst>
                    <a:ext uri="{9D8B030D-6E8A-4147-A177-3AD203B41FA5}">
                      <a16:colId xmlns:a16="http://schemas.microsoft.com/office/drawing/2014/main" val="20002"/>
                    </a:ext>
                  </a:extLst>
                </a:gridCol>
                <a:gridCol w="861847">
                  <a:extLst>
                    <a:ext uri="{9D8B030D-6E8A-4147-A177-3AD203B41FA5}">
                      <a16:colId xmlns:a16="http://schemas.microsoft.com/office/drawing/2014/main" val="20003"/>
                    </a:ext>
                  </a:extLst>
                </a:gridCol>
              </a:tblGrid>
              <a:tr h="234739">
                <a:tc>
                  <a:txBody>
                    <a:bodyPr/>
                    <a:lstStyle/>
                    <a:p>
                      <a:r>
                        <a:rPr lang="en-US" sz="1600" u="sng" err="1"/>
                        <a:t>C.name</a:t>
                      </a:r>
                      <a:endParaRPr lang="en-US" sz="1600" u="sng"/>
                    </a:p>
                  </a:txBody>
                  <a:tcPr/>
                </a:tc>
                <a:tc>
                  <a:txBody>
                    <a:bodyPr/>
                    <a:lstStyle/>
                    <a:p>
                      <a:r>
                        <a:rPr lang="en-US" sz="1600" u="sng" err="1"/>
                        <a:t>P.name</a:t>
                      </a:r>
                      <a:endParaRPr lang="en-US" sz="1600" u="sng"/>
                    </a:p>
                  </a:txBody>
                  <a:tcPr/>
                </a:tc>
                <a:tc>
                  <a:txBody>
                    <a:bodyPr/>
                    <a:lstStyle/>
                    <a:p>
                      <a:r>
                        <a:rPr lang="en-US" sz="1600" err="1"/>
                        <a:t>P.category</a:t>
                      </a:r>
                      <a:endParaRPr lang="en-US" sz="1600"/>
                    </a:p>
                  </a:txBody>
                  <a:tcPr/>
                </a:tc>
                <a:tc>
                  <a:txBody>
                    <a:bodyPr/>
                    <a:lstStyle/>
                    <a:p>
                      <a:r>
                        <a:rPr lang="en-US" sz="1600" err="1"/>
                        <a:t>P.price</a:t>
                      </a:r>
                      <a:endParaRPr lang="en-US" sz="1600"/>
                    </a:p>
                  </a:txBody>
                  <a:tcPr/>
                </a:tc>
                <a:extLst>
                  <a:ext uri="{0D108BD9-81ED-4DB2-BD59-A6C34878D82A}">
                    <a16:rowId xmlns:a16="http://schemas.microsoft.com/office/drawing/2014/main" val="10000"/>
                  </a:ext>
                </a:extLst>
              </a:tr>
              <a:tr h="234739">
                <a:tc>
                  <a:txBody>
                    <a:bodyPr/>
                    <a:lstStyle/>
                    <a:p>
                      <a:r>
                        <a:rPr lang="en-US" sz="1600" err="1"/>
                        <a:t>GizmoWorks</a:t>
                      </a:r>
                      <a:endParaRPr lang="en-US" sz="1600"/>
                    </a:p>
                  </a:txBody>
                  <a:tcPr/>
                </a:tc>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1"/>
                  </a:ext>
                </a:extLst>
              </a:tr>
              <a:tr h="234739">
                <a:tc>
                  <a:txBody>
                    <a:bodyPr/>
                    <a:lstStyle/>
                    <a:p>
                      <a:r>
                        <a:rPr lang="en-US" sz="1600" err="1"/>
                        <a:t>GizmoWorks</a:t>
                      </a:r>
                      <a:endParaRPr lang="en-US" sz="1600"/>
                    </a:p>
                  </a:txBody>
                  <a:tcPr/>
                </a:tc>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2"/>
                  </a:ext>
                </a:extLst>
              </a:tr>
              <a:tr h="343328">
                <a:tc>
                  <a:txBody>
                    <a:bodyPr/>
                    <a:lstStyle/>
                    <a:p>
                      <a:r>
                        <a:rPr lang="en-US" sz="1600" err="1"/>
                        <a:t>GizmoWorks</a:t>
                      </a:r>
                      <a:endParaRPr lang="en-US" sz="1600"/>
                    </a:p>
                  </a:txBody>
                  <a:tcPr/>
                </a:tc>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3"/>
                  </a:ext>
                </a:extLst>
              </a:tr>
              <a:tr h="343328">
                <a:tc>
                  <a:txBody>
                    <a:bodyPr/>
                    <a:lstStyle/>
                    <a:p>
                      <a:r>
                        <a:rPr lang="en-US" sz="1600" err="1"/>
                        <a:t>GadgetCorp</a:t>
                      </a:r>
                      <a:endParaRPr lang="en-US" sz="1600"/>
                    </a:p>
                  </a:txBody>
                  <a:tcPr/>
                </a:tc>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4"/>
                  </a:ext>
                </a:extLst>
              </a:tr>
              <a:tr h="3433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err="1"/>
                        <a:t>GadgetCorp</a:t>
                      </a:r>
                      <a:endParaRPr lang="en-US" sz="1600"/>
                    </a:p>
                  </a:txBody>
                  <a:tcPr/>
                </a:tc>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5"/>
                  </a:ext>
                </a:extLst>
              </a:tr>
              <a:tr h="3433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err="1"/>
                        <a:t>GadgetCorp</a:t>
                      </a:r>
                      <a:endParaRPr lang="en-US" sz="1600"/>
                    </a:p>
                  </a:txBody>
                  <a:tcPr/>
                </a:tc>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30" name="TextBox 29"/>
              <p:cNvSpPr txBox="1"/>
              <p:nvPr/>
            </p:nvSpPr>
            <p:spPr>
              <a:xfrm>
                <a:off x="7333982" y="1310238"/>
                <a:ext cx="2556597" cy="369332"/>
              </a:xfrm>
              <a:prstGeom prst="rect">
                <a:avLst/>
              </a:prstGeom>
              <a:noFill/>
            </p:spPr>
            <p:txBody>
              <a:bodyPr wrap="none" rtlCol="0">
                <a:spAutoFit/>
              </a:bodyPr>
              <a:lstStyle/>
              <a:p>
                <a:r>
                  <a:rPr lang="en-US" b="1">
                    <a:solidFill>
                      <a:schemeClr val="accent2"/>
                    </a:solidFill>
                  </a:rPr>
                  <a:t>Company C  </a:t>
                </a:r>
                <a14:m>
                  <m:oMath xmlns:m="http://schemas.openxmlformats.org/officeDocument/2006/math">
                    <m:r>
                      <a:rPr lang="en-US" b="1" i="1" smtClean="0">
                        <a:solidFill>
                          <a:schemeClr val="accent2"/>
                        </a:solidFill>
                        <a:latin typeface="Cambria Math" charset="0"/>
                        <a:ea typeface="Cambria Math" charset="0"/>
                        <a:cs typeface="Cambria Math" charset="0"/>
                      </a:rPr>
                      <m:t>×  </m:t>
                    </m:r>
                  </m:oMath>
                </a14:m>
                <a:r>
                  <a:rPr lang="en-US" b="1">
                    <a:solidFill>
                      <a:schemeClr val="accent2"/>
                    </a:solidFill>
                  </a:rPr>
                  <a:t>Product P</a:t>
                </a:r>
              </a:p>
            </p:txBody>
          </p:sp>
        </mc:Choice>
        <mc:Fallback xmlns="">
          <p:sp>
            <p:nvSpPr>
              <p:cNvPr id="30" name="TextBox 29"/>
              <p:cNvSpPr txBox="1">
                <a:spLocks noRot="1" noChangeAspect="1" noMove="1" noResize="1" noEditPoints="1" noAdjustHandles="1" noChangeArrowheads="1" noChangeShapeType="1" noTextEdit="1"/>
              </p:cNvSpPr>
              <p:nvPr/>
            </p:nvSpPr>
            <p:spPr>
              <a:xfrm>
                <a:off x="7333982" y="1310238"/>
                <a:ext cx="2556597" cy="369332"/>
              </a:xfrm>
              <a:prstGeom prst="rect">
                <a:avLst/>
              </a:prstGeom>
              <a:blipFill>
                <a:blip r:embed="rId2"/>
                <a:stretch>
                  <a:fillRect l="-1909" t="-9836" r="-1193" b="-24590"/>
                </a:stretch>
              </a:blipFill>
            </p:spPr>
            <p:txBody>
              <a:bodyPr/>
              <a:lstStyle/>
              <a:p>
                <a:r>
                  <a:rPr lang="en-US">
                    <a:noFill/>
                  </a:rPr>
                  <a:t> </a:t>
                </a:r>
              </a:p>
            </p:txBody>
          </p:sp>
        </mc:Fallback>
      </mc:AlternateContent>
      <p:grpSp>
        <p:nvGrpSpPr>
          <p:cNvPr id="34" name="Group 33"/>
          <p:cNvGrpSpPr/>
          <p:nvPr/>
        </p:nvGrpSpPr>
        <p:grpSpPr>
          <a:xfrm>
            <a:off x="833080" y="3890146"/>
            <a:ext cx="5039891" cy="1096886"/>
            <a:chOff x="1849016" y="2994219"/>
            <a:chExt cx="8514183" cy="1853034"/>
          </a:xfrm>
        </p:grpSpPr>
        <p:sp>
          <p:nvSpPr>
            <p:cNvPr id="35" name="AutoShape 8"/>
            <p:cNvSpPr>
              <a:spLocks noChangeArrowheads="1"/>
            </p:cNvSpPr>
            <p:nvPr/>
          </p:nvSpPr>
          <p:spPr bwMode="auto">
            <a:xfrm>
              <a:off x="5963816" y="4161453"/>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Makes</a:t>
              </a:r>
            </a:p>
          </p:txBody>
        </p:sp>
        <p:sp>
          <p:nvSpPr>
            <p:cNvPr id="36" name="Rectangle 35"/>
            <p:cNvSpPr>
              <a:spLocks noChangeArrowheads="1"/>
            </p:cNvSpPr>
            <p:nvPr/>
          </p:nvSpPr>
          <p:spPr bwMode="auto">
            <a:xfrm>
              <a:off x="4058816" y="4237653"/>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Product</a:t>
              </a:r>
            </a:p>
          </p:txBody>
        </p:sp>
        <p:sp>
          <p:nvSpPr>
            <p:cNvPr id="37" name="Oval 12"/>
            <p:cNvSpPr>
              <a:spLocks noChangeArrowheads="1"/>
            </p:cNvSpPr>
            <p:nvPr/>
          </p:nvSpPr>
          <p:spPr bwMode="auto">
            <a:xfrm>
              <a:off x="2915816" y="30946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sp>
          <p:nvSpPr>
            <p:cNvPr id="38" name="Oval 13"/>
            <p:cNvSpPr>
              <a:spLocks noChangeArrowheads="1"/>
            </p:cNvSpPr>
            <p:nvPr/>
          </p:nvSpPr>
          <p:spPr bwMode="auto">
            <a:xfrm>
              <a:off x="4516016" y="31708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category</a:t>
              </a:r>
            </a:p>
          </p:txBody>
        </p:sp>
        <p:sp>
          <p:nvSpPr>
            <p:cNvPr id="39" name="Oval 16"/>
            <p:cNvSpPr>
              <a:spLocks noChangeArrowheads="1"/>
            </p:cNvSpPr>
            <p:nvPr/>
          </p:nvSpPr>
          <p:spPr bwMode="auto">
            <a:xfrm>
              <a:off x="1849016" y="37042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price</a:t>
              </a:r>
            </a:p>
          </p:txBody>
        </p:sp>
        <p:cxnSp>
          <p:nvCxnSpPr>
            <p:cNvPr id="40" name="Straight Connector 39"/>
            <p:cNvCxnSpPr/>
            <p:nvPr/>
          </p:nvCxnSpPr>
          <p:spPr bwMode="auto">
            <a:xfrm rot="16200000" flipH="1">
              <a:off x="3464438" y="3909973"/>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16200000" flipH="1">
              <a:off x="4131188" y="3700423"/>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5400000">
              <a:off x="4763666" y="3761403"/>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43" name="Rectangle 42"/>
            <p:cNvSpPr>
              <a:spLocks noChangeArrowheads="1"/>
            </p:cNvSpPr>
            <p:nvPr/>
          </p:nvSpPr>
          <p:spPr bwMode="auto">
            <a:xfrm>
              <a:off x="8402216" y="4237653"/>
              <a:ext cx="1539551"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Company</a:t>
              </a:r>
            </a:p>
          </p:txBody>
        </p:sp>
        <p:sp>
          <p:nvSpPr>
            <p:cNvPr id="44" name="Oval 12"/>
            <p:cNvSpPr>
              <a:spLocks noChangeArrowheads="1"/>
            </p:cNvSpPr>
            <p:nvPr/>
          </p:nvSpPr>
          <p:spPr bwMode="auto">
            <a:xfrm>
              <a:off x="8915399" y="299421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cxnSp>
          <p:nvCxnSpPr>
            <p:cNvPr id="45" name="Straight Connector 44"/>
            <p:cNvCxnSpPr/>
            <p:nvPr/>
          </p:nvCxnSpPr>
          <p:spPr bwMode="auto">
            <a:xfrm flipH="1">
              <a:off x="9171992" y="3680019"/>
              <a:ext cx="467307" cy="5576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5278016" y="4504353"/>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7792616" y="4504353"/>
              <a:ext cx="60960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48" name="TextBox 47"/>
          <p:cNvSpPr txBox="1"/>
          <p:nvPr/>
        </p:nvSpPr>
        <p:spPr>
          <a:xfrm>
            <a:off x="682783" y="5338583"/>
            <a:ext cx="6512981" cy="1200329"/>
          </a:xfrm>
          <a:prstGeom prst="rect">
            <a:avLst/>
          </a:prstGeom>
          <a:solidFill>
            <a:schemeClr val="accent5">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A </a:t>
            </a:r>
            <a:r>
              <a:rPr lang="en-US" sz="2400" b="1" u="sng">
                <a:solidFill>
                  <a:srgbClr val="000000"/>
                </a:solidFill>
                <a:latin typeface="+mj-lt"/>
              </a:rPr>
              <a:t>relationship</a:t>
            </a:r>
            <a:r>
              <a:rPr lang="en-US" sz="2400">
                <a:solidFill>
                  <a:srgbClr val="000000"/>
                </a:solidFill>
                <a:latin typeface="+mj-lt"/>
              </a:rPr>
              <a:t> between </a:t>
            </a:r>
            <a:r>
              <a:rPr lang="en-US" sz="2400" b="1">
                <a:solidFill>
                  <a:srgbClr val="000000"/>
                </a:solidFill>
                <a:latin typeface="+mj-lt"/>
              </a:rPr>
              <a:t>entity sets P and C </a:t>
            </a:r>
            <a:r>
              <a:rPr lang="en-US" sz="2400">
                <a:solidFill>
                  <a:srgbClr val="000000"/>
                </a:solidFill>
                <a:latin typeface="+mj-lt"/>
              </a:rPr>
              <a:t>is a </a:t>
            </a:r>
            <a:r>
              <a:rPr lang="en-US" sz="2400" b="1" i="1">
                <a:solidFill>
                  <a:srgbClr val="000000"/>
                </a:solidFill>
                <a:latin typeface="+mj-lt"/>
              </a:rPr>
              <a:t>subset of all possible pairs of entities in P and C</a:t>
            </a:r>
            <a:r>
              <a:rPr lang="en-US" sz="2400">
                <a:solidFill>
                  <a:srgbClr val="000000"/>
                </a:solidFill>
                <a:latin typeface="+mj-lt"/>
              </a:rPr>
              <a:t>, with tuples uniquely identified by </a:t>
            </a:r>
            <a:r>
              <a:rPr lang="en-US" sz="2400" b="1" i="1">
                <a:solidFill>
                  <a:srgbClr val="000000"/>
                </a:solidFill>
                <a:latin typeface="+mj-lt"/>
              </a:rPr>
              <a:t>P and C’s keys</a:t>
            </a:r>
          </a:p>
        </p:txBody>
      </p:sp>
    </p:spTree>
    <p:extLst>
      <p:ext uri="{BB962C8B-B14F-4D97-AF65-F5344CB8AC3E}">
        <p14:creationId xmlns:p14="http://schemas.microsoft.com/office/powerpoint/2010/main" val="1670957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Relationship?</a:t>
            </a:r>
          </a:p>
        </p:txBody>
      </p:sp>
      <p:graphicFrame>
        <p:nvGraphicFramePr>
          <p:cNvPr id="18" name="Table 17"/>
          <p:cNvGraphicFramePr>
            <a:graphicFrameLocks noGrp="1"/>
          </p:cNvGraphicFramePr>
          <p:nvPr>
            <p:extLst>
              <p:ext uri="{D42A27DB-BD31-4B8C-83A1-F6EECF244321}">
                <p14:modId xmlns:p14="http://schemas.microsoft.com/office/powerpoint/2010/main" val="2343969905"/>
              </p:ext>
            </p:extLst>
          </p:nvPr>
        </p:nvGraphicFramePr>
        <p:xfrm>
          <a:off x="2505508" y="1789957"/>
          <a:ext cx="3045471" cy="1349168"/>
        </p:xfrm>
        <a:graphic>
          <a:graphicData uri="http://schemas.openxmlformats.org/drawingml/2006/table">
            <a:tbl>
              <a:tblPr firstRow="1" bandRow="1">
                <a:tableStyleId>{17292A2E-F333-43FB-9621-5CBBE7FDCDCB}</a:tableStyleId>
              </a:tblPr>
              <a:tblGrid>
                <a:gridCol w="1015157">
                  <a:extLst>
                    <a:ext uri="{9D8B030D-6E8A-4147-A177-3AD203B41FA5}">
                      <a16:colId xmlns:a16="http://schemas.microsoft.com/office/drawing/2014/main" val="20000"/>
                    </a:ext>
                  </a:extLst>
                </a:gridCol>
                <a:gridCol w="1241402">
                  <a:extLst>
                    <a:ext uri="{9D8B030D-6E8A-4147-A177-3AD203B41FA5}">
                      <a16:colId xmlns:a16="http://schemas.microsoft.com/office/drawing/2014/main" val="20001"/>
                    </a:ext>
                  </a:extLst>
                </a:gridCol>
                <a:gridCol w="788912">
                  <a:extLst>
                    <a:ext uri="{9D8B030D-6E8A-4147-A177-3AD203B41FA5}">
                      <a16:colId xmlns:a16="http://schemas.microsoft.com/office/drawing/2014/main" val="20002"/>
                    </a:ext>
                  </a:extLst>
                </a:gridCol>
              </a:tblGrid>
              <a:tr h="234739">
                <a:tc>
                  <a:txBody>
                    <a:bodyPr/>
                    <a:lstStyle/>
                    <a:p>
                      <a:r>
                        <a:rPr lang="en-US" sz="1600" u="sng"/>
                        <a:t>name</a:t>
                      </a:r>
                    </a:p>
                  </a:txBody>
                  <a:tcPr/>
                </a:tc>
                <a:tc>
                  <a:txBody>
                    <a:bodyPr/>
                    <a:lstStyle/>
                    <a:p>
                      <a:r>
                        <a:rPr lang="en-US" sz="1600"/>
                        <a:t>category</a:t>
                      </a:r>
                    </a:p>
                  </a:txBody>
                  <a:tcPr/>
                </a:tc>
                <a:tc>
                  <a:txBody>
                    <a:bodyPr/>
                    <a:lstStyle/>
                    <a:p>
                      <a:r>
                        <a:rPr lang="en-US" sz="1600"/>
                        <a:t>price</a:t>
                      </a:r>
                    </a:p>
                  </a:txBody>
                  <a:tcPr/>
                </a:tc>
                <a:extLst>
                  <a:ext uri="{0D108BD9-81ED-4DB2-BD59-A6C34878D82A}">
                    <a16:rowId xmlns:a16="http://schemas.microsoft.com/office/drawing/2014/main" val="10000"/>
                  </a:ext>
                </a:extLst>
              </a:tr>
              <a:tr h="234739">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1"/>
                  </a:ext>
                </a:extLst>
              </a:tr>
              <a:tr h="234739">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2"/>
                  </a:ext>
                </a:extLst>
              </a:tr>
              <a:tr h="343328">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3"/>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1397176201"/>
              </p:ext>
            </p:extLst>
          </p:nvPr>
        </p:nvGraphicFramePr>
        <p:xfrm>
          <a:off x="895216" y="1804245"/>
          <a:ext cx="1327310" cy="1010579"/>
        </p:xfrm>
        <a:graphic>
          <a:graphicData uri="http://schemas.openxmlformats.org/drawingml/2006/table">
            <a:tbl>
              <a:tblPr firstRow="1" bandRow="1">
                <a:tableStyleId>{17292A2E-F333-43FB-9621-5CBBE7FDCDCB}</a:tableStyleId>
              </a:tblPr>
              <a:tblGrid>
                <a:gridCol w="1327310">
                  <a:extLst>
                    <a:ext uri="{9D8B030D-6E8A-4147-A177-3AD203B41FA5}">
                      <a16:colId xmlns:a16="http://schemas.microsoft.com/office/drawing/2014/main" val="20000"/>
                    </a:ext>
                  </a:extLst>
                </a:gridCol>
              </a:tblGrid>
              <a:tr h="261641">
                <a:tc>
                  <a:txBody>
                    <a:bodyPr/>
                    <a:lstStyle/>
                    <a:p>
                      <a:r>
                        <a:rPr lang="en-US" sz="1600" u="sng"/>
                        <a:t>name</a:t>
                      </a:r>
                    </a:p>
                  </a:txBody>
                  <a:tcPr/>
                </a:tc>
                <a:extLst>
                  <a:ext uri="{0D108BD9-81ED-4DB2-BD59-A6C34878D82A}">
                    <a16:rowId xmlns:a16="http://schemas.microsoft.com/office/drawing/2014/main" val="10000"/>
                  </a:ext>
                </a:extLst>
              </a:tr>
              <a:tr h="340019">
                <a:tc>
                  <a:txBody>
                    <a:bodyPr/>
                    <a:lstStyle/>
                    <a:p>
                      <a:r>
                        <a:rPr lang="en-US" sz="1600" err="1"/>
                        <a:t>GizmoWorks</a:t>
                      </a:r>
                      <a:endParaRPr lang="en-US" sz="1600"/>
                    </a:p>
                  </a:txBody>
                  <a:tcPr/>
                </a:tc>
                <a:extLst>
                  <a:ext uri="{0D108BD9-81ED-4DB2-BD59-A6C34878D82A}">
                    <a16:rowId xmlns:a16="http://schemas.microsoft.com/office/drawing/2014/main" val="10001"/>
                  </a:ext>
                </a:extLst>
              </a:tr>
              <a:tr h="261641">
                <a:tc>
                  <a:txBody>
                    <a:bodyPr/>
                    <a:lstStyle/>
                    <a:p>
                      <a:r>
                        <a:rPr lang="en-US" sz="1600" err="1"/>
                        <a:t>GadgetCorp</a:t>
                      </a:r>
                      <a:endParaRPr lang="en-US" sz="1600"/>
                    </a:p>
                  </a:txBody>
                  <a:tcPr/>
                </a:tc>
                <a:extLst>
                  <a:ext uri="{0D108BD9-81ED-4DB2-BD59-A6C34878D82A}">
                    <a16:rowId xmlns:a16="http://schemas.microsoft.com/office/drawing/2014/main" val="10002"/>
                  </a:ext>
                </a:extLst>
              </a:tr>
            </a:tbl>
          </a:graphicData>
        </a:graphic>
      </p:graphicFrame>
      <p:sp>
        <p:nvSpPr>
          <p:cNvPr id="19" name="TextBox 18"/>
          <p:cNvSpPr txBox="1"/>
          <p:nvPr/>
        </p:nvSpPr>
        <p:spPr>
          <a:xfrm>
            <a:off x="2505508" y="1420625"/>
            <a:ext cx="933717" cy="369332"/>
          </a:xfrm>
          <a:prstGeom prst="rect">
            <a:avLst/>
          </a:prstGeom>
          <a:noFill/>
        </p:spPr>
        <p:txBody>
          <a:bodyPr wrap="none" rtlCol="0">
            <a:spAutoFit/>
          </a:bodyPr>
          <a:lstStyle/>
          <a:p>
            <a:r>
              <a:rPr lang="en-US" b="1">
                <a:solidFill>
                  <a:schemeClr val="accent2"/>
                </a:solidFill>
              </a:rPr>
              <a:t>Product</a:t>
            </a:r>
          </a:p>
        </p:txBody>
      </p:sp>
      <p:sp>
        <p:nvSpPr>
          <p:cNvPr id="28" name="TextBox 27"/>
          <p:cNvSpPr txBox="1"/>
          <p:nvPr/>
        </p:nvSpPr>
        <p:spPr>
          <a:xfrm>
            <a:off x="833080" y="1434913"/>
            <a:ext cx="1082989" cy="369332"/>
          </a:xfrm>
          <a:prstGeom prst="rect">
            <a:avLst/>
          </a:prstGeom>
          <a:noFill/>
        </p:spPr>
        <p:txBody>
          <a:bodyPr wrap="none" rtlCol="0">
            <a:spAutoFit/>
          </a:bodyPr>
          <a:lstStyle/>
          <a:p>
            <a:r>
              <a:rPr lang="en-US" b="1">
                <a:solidFill>
                  <a:schemeClr val="accent2"/>
                </a:solidFill>
              </a:rPr>
              <a:t>Company</a:t>
            </a:r>
          </a:p>
        </p:txBody>
      </p:sp>
      <p:sp>
        <p:nvSpPr>
          <p:cNvPr id="20" name="Right Arrow 19"/>
          <p:cNvSpPr/>
          <p:nvPr/>
        </p:nvSpPr>
        <p:spPr>
          <a:xfrm>
            <a:off x="6096000" y="2131519"/>
            <a:ext cx="746234" cy="536027"/>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aphicFrame>
        <p:nvGraphicFramePr>
          <p:cNvPr id="29" name="Table 28"/>
          <p:cNvGraphicFramePr>
            <a:graphicFrameLocks noGrp="1"/>
          </p:cNvGraphicFramePr>
          <p:nvPr>
            <p:extLst>
              <p:ext uri="{D42A27DB-BD31-4B8C-83A1-F6EECF244321}">
                <p14:modId xmlns:p14="http://schemas.microsoft.com/office/powerpoint/2010/main" val="4122349433"/>
              </p:ext>
            </p:extLst>
          </p:nvPr>
        </p:nvGraphicFramePr>
        <p:xfrm>
          <a:off x="7346061" y="1724948"/>
          <a:ext cx="4436035" cy="2379152"/>
        </p:xfrm>
        <a:graphic>
          <a:graphicData uri="http://schemas.openxmlformats.org/drawingml/2006/table">
            <a:tbl>
              <a:tblPr firstRow="1" bandRow="1">
                <a:tableStyleId>{17292A2E-F333-43FB-9621-5CBBE7FDCDCB}</a:tableStyleId>
              </a:tblPr>
              <a:tblGrid>
                <a:gridCol w="1261911">
                  <a:extLst>
                    <a:ext uri="{9D8B030D-6E8A-4147-A177-3AD203B41FA5}">
                      <a16:colId xmlns:a16="http://schemas.microsoft.com/office/drawing/2014/main" val="20000"/>
                    </a:ext>
                  </a:extLst>
                </a:gridCol>
                <a:gridCol w="1061545">
                  <a:extLst>
                    <a:ext uri="{9D8B030D-6E8A-4147-A177-3AD203B41FA5}">
                      <a16:colId xmlns:a16="http://schemas.microsoft.com/office/drawing/2014/main" val="20001"/>
                    </a:ext>
                  </a:extLst>
                </a:gridCol>
                <a:gridCol w="1250732">
                  <a:extLst>
                    <a:ext uri="{9D8B030D-6E8A-4147-A177-3AD203B41FA5}">
                      <a16:colId xmlns:a16="http://schemas.microsoft.com/office/drawing/2014/main" val="20002"/>
                    </a:ext>
                  </a:extLst>
                </a:gridCol>
                <a:gridCol w="861847">
                  <a:extLst>
                    <a:ext uri="{9D8B030D-6E8A-4147-A177-3AD203B41FA5}">
                      <a16:colId xmlns:a16="http://schemas.microsoft.com/office/drawing/2014/main" val="20003"/>
                    </a:ext>
                  </a:extLst>
                </a:gridCol>
              </a:tblGrid>
              <a:tr h="234739">
                <a:tc>
                  <a:txBody>
                    <a:bodyPr/>
                    <a:lstStyle/>
                    <a:p>
                      <a:r>
                        <a:rPr lang="en-US" sz="1600" u="sng" err="1"/>
                        <a:t>C.name</a:t>
                      </a:r>
                      <a:endParaRPr lang="en-US" sz="1600" u="sng"/>
                    </a:p>
                  </a:txBody>
                  <a:tcPr/>
                </a:tc>
                <a:tc>
                  <a:txBody>
                    <a:bodyPr/>
                    <a:lstStyle/>
                    <a:p>
                      <a:r>
                        <a:rPr lang="en-US" sz="1600" u="sng" err="1"/>
                        <a:t>P.name</a:t>
                      </a:r>
                      <a:endParaRPr lang="en-US" sz="1600" u="sng"/>
                    </a:p>
                  </a:txBody>
                  <a:tcPr/>
                </a:tc>
                <a:tc>
                  <a:txBody>
                    <a:bodyPr/>
                    <a:lstStyle/>
                    <a:p>
                      <a:r>
                        <a:rPr lang="en-US" sz="1600" err="1"/>
                        <a:t>P.category</a:t>
                      </a:r>
                      <a:endParaRPr lang="en-US" sz="1600"/>
                    </a:p>
                  </a:txBody>
                  <a:tcPr/>
                </a:tc>
                <a:tc>
                  <a:txBody>
                    <a:bodyPr/>
                    <a:lstStyle/>
                    <a:p>
                      <a:r>
                        <a:rPr lang="en-US" sz="1600" err="1"/>
                        <a:t>P.price</a:t>
                      </a:r>
                      <a:endParaRPr lang="en-US" sz="1600"/>
                    </a:p>
                  </a:txBody>
                  <a:tcPr/>
                </a:tc>
                <a:extLst>
                  <a:ext uri="{0D108BD9-81ED-4DB2-BD59-A6C34878D82A}">
                    <a16:rowId xmlns:a16="http://schemas.microsoft.com/office/drawing/2014/main" val="10000"/>
                  </a:ext>
                </a:extLst>
              </a:tr>
              <a:tr h="234739">
                <a:tc>
                  <a:txBody>
                    <a:bodyPr/>
                    <a:lstStyle/>
                    <a:p>
                      <a:r>
                        <a:rPr lang="en-US" sz="1600" err="1"/>
                        <a:t>GizmoWorks</a:t>
                      </a:r>
                      <a:endParaRPr lang="en-US" sz="1600"/>
                    </a:p>
                  </a:txBody>
                  <a:tcPr/>
                </a:tc>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1"/>
                  </a:ext>
                </a:extLst>
              </a:tr>
              <a:tr h="234739">
                <a:tc>
                  <a:txBody>
                    <a:bodyPr/>
                    <a:lstStyle/>
                    <a:p>
                      <a:r>
                        <a:rPr lang="en-US" sz="1600" err="1"/>
                        <a:t>GizmoWorks</a:t>
                      </a:r>
                      <a:endParaRPr lang="en-US" sz="1600"/>
                    </a:p>
                  </a:txBody>
                  <a:tcPr/>
                </a:tc>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2"/>
                  </a:ext>
                </a:extLst>
              </a:tr>
              <a:tr h="343328">
                <a:tc>
                  <a:txBody>
                    <a:bodyPr/>
                    <a:lstStyle/>
                    <a:p>
                      <a:r>
                        <a:rPr lang="en-US" sz="1600" err="1"/>
                        <a:t>GizmoWorks</a:t>
                      </a:r>
                      <a:endParaRPr lang="en-US" sz="1600"/>
                    </a:p>
                  </a:txBody>
                  <a:tcPr/>
                </a:tc>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3"/>
                  </a:ext>
                </a:extLst>
              </a:tr>
              <a:tr h="343328">
                <a:tc>
                  <a:txBody>
                    <a:bodyPr/>
                    <a:lstStyle/>
                    <a:p>
                      <a:r>
                        <a:rPr lang="en-US" sz="1600" err="1"/>
                        <a:t>GadgetCorp</a:t>
                      </a:r>
                      <a:endParaRPr lang="en-US" sz="1600"/>
                    </a:p>
                  </a:txBody>
                  <a:tcPr/>
                </a:tc>
                <a:tc>
                  <a:txBody>
                    <a:bodyPr/>
                    <a:lstStyle/>
                    <a:p>
                      <a:r>
                        <a:rPr lang="en-US" sz="1600"/>
                        <a:t>Gizmo</a:t>
                      </a:r>
                    </a:p>
                  </a:txBody>
                  <a:tcPr/>
                </a:tc>
                <a:tc>
                  <a:txBody>
                    <a:bodyPr/>
                    <a:lstStyle/>
                    <a:p>
                      <a:r>
                        <a:rPr lang="en-US" sz="1600"/>
                        <a:t>Electronics</a:t>
                      </a:r>
                    </a:p>
                  </a:txBody>
                  <a:tcPr/>
                </a:tc>
                <a:tc>
                  <a:txBody>
                    <a:bodyPr/>
                    <a:lstStyle/>
                    <a:p>
                      <a:r>
                        <a:rPr lang="en-US" sz="1600"/>
                        <a:t>$9.99</a:t>
                      </a:r>
                    </a:p>
                  </a:txBody>
                  <a:tcPr/>
                </a:tc>
                <a:extLst>
                  <a:ext uri="{0D108BD9-81ED-4DB2-BD59-A6C34878D82A}">
                    <a16:rowId xmlns:a16="http://schemas.microsoft.com/office/drawing/2014/main" val="10004"/>
                  </a:ext>
                </a:extLst>
              </a:tr>
              <a:tr h="3433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err="1"/>
                        <a:t>GadgetCorp</a:t>
                      </a:r>
                      <a:endParaRPr lang="en-US" sz="1600"/>
                    </a:p>
                  </a:txBody>
                  <a:tcPr/>
                </a:tc>
                <a:tc>
                  <a:txBody>
                    <a:bodyPr/>
                    <a:lstStyle/>
                    <a:p>
                      <a:r>
                        <a:rPr lang="en-US" sz="1600" err="1"/>
                        <a:t>GizmoLite</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Electronics</a:t>
                      </a:r>
                    </a:p>
                  </a:txBody>
                  <a:tcPr/>
                </a:tc>
                <a:tc>
                  <a:txBody>
                    <a:bodyPr/>
                    <a:lstStyle/>
                    <a:p>
                      <a:r>
                        <a:rPr lang="en-US" sz="1600"/>
                        <a:t>$7.50</a:t>
                      </a:r>
                    </a:p>
                  </a:txBody>
                  <a:tcPr/>
                </a:tc>
                <a:extLst>
                  <a:ext uri="{0D108BD9-81ED-4DB2-BD59-A6C34878D82A}">
                    <a16:rowId xmlns:a16="http://schemas.microsoft.com/office/drawing/2014/main" val="10005"/>
                  </a:ext>
                </a:extLst>
              </a:tr>
              <a:tr h="3433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err="1"/>
                        <a:t>GadgetCorp</a:t>
                      </a:r>
                      <a:endParaRPr lang="en-US" sz="1600"/>
                    </a:p>
                  </a:txBody>
                  <a:tcPr/>
                </a:tc>
                <a:tc>
                  <a:txBody>
                    <a:bodyPr/>
                    <a:lstStyle/>
                    <a:p>
                      <a:r>
                        <a:rPr lang="en-US" sz="1600"/>
                        <a:t>Gadget</a:t>
                      </a:r>
                    </a:p>
                  </a:txBody>
                  <a:tcPr/>
                </a:tc>
                <a:tc>
                  <a:txBody>
                    <a:bodyPr/>
                    <a:lstStyle/>
                    <a:p>
                      <a:r>
                        <a:rPr lang="en-US" sz="1600"/>
                        <a:t>Toys</a:t>
                      </a:r>
                    </a:p>
                  </a:txBody>
                  <a:tcPr/>
                </a:tc>
                <a:tc>
                  <a:txBody>
                    <a:bodyPr/>
                    <a:lstStyle/>
                    <a:p>
                      <a:r>
                        <a:rPr lang="en-US" sz="1600"/>
                        <a:t>$5.50</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30" name="TextBox 29"/>
              <p:cNvSpPr txBox="1"/>
              <p:nvPr/>
            </p:nvSpPr>
            <p:spPr>
              <a:xfrm>
                <a:off x="7333982" y="1310238"/>
                <a:ext cx="2554995" cy="369332"/>
              </a:xfrm>
              <a:prstGeom prst="rect">
                <a:avLst/>
              </a:prstGeom>
              <a:noFill/>
            </p:spPr>
            <p:txBody>
              <a:bodyPr wrap="none" rtlCol="0">
                <a:spAutoFit/>
              </a:bodyPr>
              <a:lstStyle/>
              <a:p>
                <a:r>
                  <a:rPr lang="en-US" b="1">
                    <a:solidFill>
                      <a:schemeClr val="accent2"/>
                    </a:solidFill>
                  </a:rPr>
                  <a:t>Company C </a:t>
                </a:r>
                <a14:m>
                  <m:oMath xmlns:m="http://schemas.openxmlformats.org/officeDocument/2006/math">
                    <m:r>
                      <a:rPr lang="en-US" b="1" i="0" smtClean="0">
                        <a:solidFill>
                          <a:schemeClr val="accent2"/>
                        </a:solidFill>
                        <a:latin typeface="Cambria Math" charset="0"/>
                        <a:ea typeface="Cambria Math" charset="0"/>
                        <a:cs typeface="Cambria Math" charset="0"/>
                      </a:rPr>
                      <m:t> </m:t>
                    </m:r>
                    <m:r>
                      <a:rPr lang="en-US" b="1" i="1" smtClean="0">
                        <a:solidFill>
                          <a:schemeClr val="accent2"/>
                        </a:solidFill>
                        <a:latin typeface="Cambria Math" charset="0"/>
                        <a:ea typeface="Cambria Math" charset="0"/>
                        <a:cs typeface="Cambria Math" charset="0"/>
                      </a:rPr>
                      <m:t>×  </m:t>
                    </m:r>
                  </m:oMath>
                </a14:m>
                <a:r>
                  <a:rPr lang="en-US" b="1">
                    <a:solidFill>
                      <a:schemeClr val="accent2"/>
                    </a:solidFill>
                  </a:rPr>
                  <a:t>Product P</a:t>
                </a:r>
              </a:p>
            </p:txBody>
          </p:sp>
        </mc:Choice>
        <mc:Fallback xmlns="">
          <p:sp>
            <p:nvSpPr>
              <p:cNvPr id="30" name="TextBox 29"/>
              <p:cNvSpPr txBox="1">
                <a:spLocks noRot="1" noChangeAspect="1" noMove="1" noResize="1" noEditPoints="1" noAdjustHandles="1" noChangeArrowheads="1" noChangeShapeType="1" noTextEdit="1"/>
              </p:cNvSpPr>
              <p:nvPr/>
            </p:nvSpPr>
            <p:spPr>
              <a:xfrm>
                <a:off x="7333982" y="1310238"/>
                <a:ext cx="2554995" cy="369332"/>
              </a:xfrm>
              <a:prstGeom prst="rect">
                <a:avLst/>
              </a:prstGeom>
              <a:blipFill>
                <a:blip r:embed="rId2"/>
                <a:stretch>
                  <a:fillRect l="-1909" t="-9836" r="-1193" b="-24590"/>
                </a:stretch>
              </a:blipFill>
            </p:spPr>
            <p:txBody>
              <a:bodyPr/>
              <a:lstStyle/>
              <a:p>
                <a:r>
                  <a:rPr lang="en-US">
                    <a:noFill/>
                  </a:rPr>
                  <a:t> </a:t>
                </a:r>
              </a:p>
            </p:txBody>
          </p:sp>
        </mc:Fallback>
      </mc:AlternateContent>
      <p:sp>
        <p:nvSpPr>
          <p:cNvPr id="23" name="Down Arrow 22"/>
          <p:cNvSpPr/>
          <p:nvPr/>
        </p:nvSpPr>
        <p:spPr>
          <a:xfrm>
            <a:off x="9348617" y="4298731"/>
            <a:ext cx="430922" cy="45060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aphicFrame>
        <p:nvGraphicFramePr>
          <p:cNvPr id="31" name="Table 30"/>
          <p:cNvGraphicFramePr>
            <a:graphicFrameLocks noGrp="1"/>
          </p:cNvGraphicFramePr>
          <p:nvPr>
            <p:extLst>
              <p:ext uri="{D42A27DB-BD31-4B8C-83A1-F6EECF244321}">
                <p14:modId xmlns:p14="http://schemas.microsoft.com/office/powerpoint/2010/main" val="3322540091"/>
              </p:ext>
            </p:extLst>
          </p:nvPr>
        </p:nvGraphicFramePr>
        <p:xfrm>
          <a:off x="8410537" y="5164365"/>
          <a:ext cx="2323456" cy="1349168"/>
        </p:xfrm>
        <a:graphic>
          <a:graphicData uri="http://schemas.openxmlformats.org/drawingml/2006/table">
            <a:tbl>
              <a:tblPr firstRow="1" bandRow="1">
                <a:tableStyleId>{17292A2E-F333-43FB-9621-5CBBE7FDCDCB}</a:tableStyleId>
              </a:tblPr>
              <a:tblGrid>
                <a:gridCol w="1261911">
                  <a:extLst>
                    <a:ext uri="{9D8B030D-6E8A-4147-A177-3AD203B41FA5}">
                      <a16:colId xmlns:a16="http://schemas.microsoft.com/office/drawing/2014/main" val="20000"/>
                    </a:ext>
                  </a:extLst>
                </a:gridCol>
                <a:gridCol w="1061545">
                  <a:extLst>
                    <a:ext uri="{9D8B030D-6E8A-4147-A177-3AD203B41FA5}">
                      <a16:colId xmlns:a16="http://schemas.microsoft.com/office/drawing/2014/main" val="20001"/>
                    </a:ext>
                  </a:extLst>
                </a:gridCol>
              </a:tblGrid>
              <a:tr h="234739">
                <a:tc>
                  <a:txBody>
                    <a:bodyPr/>
                    <a:lstStyle/>
                    <a:p>
                      <a:r>
                        <a:rPr lang="en-US" sz="1600" u="sng" err="1"/>
                        <a:t>C.name</a:t>
                      </a:r>
                      <a:endParaRPr lang="en-US" sz="1600" u="sng"/>
                    </a:p>
                  </a:txBody>
                  <a:tcPr/>
                </a:tc>
                <a:tc>
                  <a:txBody>
                    <a:bodyPr/>
                    <a:lstStyle/>
                    <a:p>
                      <a:r>
                        <a:rPr lang="en-US" sz="1600" u="sng" err="1"/>
                        <a:t>P.name</a:t>
                      </a:r>
                      <a:endParaRPr lang="en-US" sz="1600" u="sng"/>
                    </a:p>
                  </a:txBody>
                  <a:tcPr/>
                </a:tc>
                <a:extLst>
                  <a:ext uri="{0D108BD9-81ED-4DB2-BD59-A6C34878D82A}">
                    <a16:rowId xmlns:a16="http://schemas.microsoft.com/office/drawing/2014/main" val="10000"/>
                  </a:ext>
                </a:extLst>
              </a:tr>
              <a:tr h="234739">
                <a:tc>
                  <a:txBody>
                    <a:bodyPr/>
                    <a:lstStyle/>
                    <a:p>
                      <a:r>
                        <a:rPr lang="en-US" sz="1600" err="1"/>
                        <a:t>GizmoWorks</a:t>
                      </a:r>
                      <a:endParaRPr lang="en-US" sz="1600"/>
                    </a:p>
                  </a:txBody>
                  <a:tcPr/>
                </a:tc>
                <a:tc>
                  <a:txBody>
                    <a:bodyPr/>
                    <a:lstStyle/>
                    <a:p>
                      <a:r>
                        <a:rPr lang="en-US" sz="1600"/>
                        <a:t>Gizmo</a:t>
                      </a:r>
                    </a:p>
                  </a:txBody>
                  <a:tcPr/>
                </a:tc>
                <a:extLst>
                  <a:ext uri="{0D108BD9-81ED-4DB2-BD59-A6C34878D82A}">
                    <a16:rowId xmlns:a16="http://schemas.microsoft.com/office/drawing/2014/main" val="10001"/>
                  </a:ext>
                </a:extLst>
              </a:tr>
              <a:tr h="234739">
                <a:tc>
                  <a:txBody>
                    <a:bodyPr/>
                    <a:lstStyle/>
                    <a:p>
                      <a:r>
                        <a:rPr lang="en-US" sz="1600" err="1"/>
                        <a:t>GizmoWorks</a:t>
                      </a:r>
                      <a:endParaRPr lang="en-US" sz="1600"/>
                    </a:p>
                  </a:txBody>
                  <a:tcPr/>
                </a:tc>
                <a:tc>
                  <a:txBody>
                    <a:bodyPr/>
                    <a:lstStyle/>
                    <a:p>
                      <a:r>
                        <a:rPr lang="en-US" sz="1600" err="1"/>
                        <a:t>GizmoLite</a:t>
                      </a:r>
                      <a:endParaRPr lang="en-US" sz="1600"/>
                    </a:p>
                  </a:txBody>
                  <a:tcPr/>
                </a:tc>
                <a:extLst>
                  <a:ext uri="{0D108BD9-81ED-4DB2-BD59-A6C34878D82A}">
                    <a16:rowId xmlns:a16="http://schemas.microsoft.com/office/drawing/2014/main" val="10002"/>
                  </a:ext>
                </a:extLst>
              </a:tr>
              <a:tr h="3433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err="1"/>
                        <a:t>GadgetCorp</a:t>
                      </a:r>
                      <a:endParaRPr lang="en-US" sz="1600"/>
                    </a:p>
                  </a:txBody>
                  <a:tcPr/>
                </a:tc>
                <a:tc>
                  <a:txBody>
                    <a:bodyPr/>
                    <a:lstStyle/>
                    <a:p>
                      <a:r>
                        <a:rPr lang="en-US" sz="1600"/>
                        <a:t>Gadget</a:t>
                      </a:r>
                    </a:p>
                  </a:txBody>
                  <a:tcPr/>
                </a:tc>
                <a:extLst>
                  <a:ext uri="{0D108BD9-81ED-4DB2-BD59-A6C34878D82A}">
                    <a16:rowId xmlns:a16="http://schemas.microsoft.com/office/drawing/2014/main" val="10003"/>
                  </a:ext>
                </a:extLst>
              </a:tr>
            </a:tbl>
          </a:graphicData>
        </a:graphic>
      </p:graphicFrame>
      <p:sp>
        <p:nvSpPr>
          <p:cNvPr id="32" name="TextBox 31"/>
          <p:cNvSpPr txBox="1"/>
          <p:nvPr/>
        </p:nvSpPr>
        <p:spPr>
          <a:xfrm>
            <a:off x="8398458" y="4749655"/>
            <a:ext cx="811632" cy="369332"/>
          </a:xfrm>
          <a:prstGeom prst="rect">
            <a:avLst/>
          </a:prstGeom>
          <a:noFill/>
        </p:spPr>
        <p:txBody>
          <a:bodyPr wrap="none" rtlCol="0">
            <a:spAutoFit/>
          </a:bodyPr>
          <a:lstStyle/>
          <a:p>
            <a:r>
              <a:rPr lang="en-US" b="1">
                <a:solidFill>
                  <a:schemeClr val="accent2"/>
                </a:solidFill>
              </a:rPr>
              <a:t>Makes</a:t>
            </a:r>
          </a:p>
        </p:txBody>
      </p:sp>
      <p:grpSp>
        <p:nvGrpSpPr>
          <p:cNvPr id="34" name="Group 33"/>
          <p:cNvGrpSpPr/>
          <p:nvPr/>
        </p:nvGrpSpPr>
        <p:grpSpPr>
          <a:xfrm>
            <a:off x="833080" y="3890146"/>
            <a:ext cx="5039891" cy="1096886"/>
            <a:chOff x="1849016" y="2994219"/>
            <a:chExt cx="8514183" cy="1853034"/>
          </a:xfrm>
        </p:grpSpPr>
        <p:sp>
          <p:nvSpPr>
            <p:cNvPr id="35" name="AutoShape 8"/>
            <p:cNvSpPr>
              <a:spLocks noChangeArrowheads="1"/>
            </p:cNvSpPr>
            <p:nvPr/>
          </p:nvSpPr>
          <p:spPr bwMode="auto">
            <a:xfrm>
              <a:off x="5963816" y="4161453"/>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Makes</a:t>
              </a:r>
            </a:p>
          </p:txBody>
        </p:sp>
        <p:sp>
          <p:nvSpPr>
            <p:cNvPr id="36" name="Rectangle 35"/>
            <p:cNvSpPr>
              <a:spLocks noChangeArrowheads="1"/>
            </p:cNvSpPr>
            <p:nvPr/>
          </p:nvSpPr>
          <p:spPr bwMode="auto">
            <a:xfrm>
              <a:off x="4058816" y="4237653"/>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Product</a:t>
              </a:r>
            </a:p>
          </p:txBody>
        </p:sp>
        <p:sp>
          <p:nvSpPr>
            <p:cNvPr id="37" name="Oval 12"/>
            <p:cNvSpPr>
              <a:spLocks noChangeArrowheads="1"/>
            </p:cNvSpPr>
            <p:nvPr/>
          </p:nvSpPr>
          <p:spPr bwMode="auto">
            <a:xfrm>
              <a:off x="2915816" y="30946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sp>
          <p:nvSpPr>
            <p:cNvPr id="38" name="Oval 13"/>
            <p:cNvSpPr>
              <a:spLocks noChangeArrowheads="1"/>
            </p:cNvSpPr>
            <p:nvPr/>
          </p:nvSpPr>
          <p:spPr bwMode="auto">
            <a:xfrm>
              <a:off x="4516016" y="31708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category</a:t>
              </a:r>
            </a:p>
          </p:txBody>
        </p:sp>
        <p:sp>
          <p:nvSpPr>
            <p:cNvPr id="39" name="Oval 16"/>
            <p:cNvSpPr>
              <a:spLocks noChangeArrowheads="1"/>
            </p:cNvSpPr>
            <p:nvPr/>
          </p:nvSpPr>
          <p:spPr bwMode="auto">
            <a:xfrm>
              <a:off x="1849016" y="3704253"/>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price</a:t>
              </a:r>
            </a:p>
          </p:txBody>
        </p:sp>
        <p:cxnSp>
          <p:nvCxnSpPr>
            <p:cNvPr id="40" name="Straight Connector 39"/>
            <p:cNvCxnSpPr/>
            <p:nvPr/>
          </p:nvCxnSpPr>
          <p:spPr bwMode="auto">
            <a:xfrm rot="16200000" flipH="1">
              <a:off x="3464438" y="3909973"/>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16200000" flipH="1">
              <a:off x="4131188" y="3700423"/>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5400000">
              <a:off x="4763666" y="3761403"/>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43" name="Rectangle 42"/>
            <p:cNvSpPr>
              <a:spLocks noChangeArrowheads="1"/>
            </p:cNvSpPr>
            <p:nvPr/>
          </p:nvSpPr>
          <p:spPr bwMode="auto">
            <a:xfrm>
              <a:off x="8402216" y="4237653"/>
              <a:ext cx="1539551"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Company</a:t>
              </a:r>
            </a:p>
          </p:txBody>
        </p:sp>
        <p:sp>
          <p:nvSpPr>
            <p:cNvPr id="44" name="Oval 12"/>
            <p:cNvSpPr>
              <a:spLocks noChangeArrowheads="1"/>
            </p:cNvSpPr>
            <p:nvPr/>
          </p:nvSpPr>
          <p:spPr bwMode="auto">
            <a:xfrm>
              <a:off x="8915399" y="299421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cxnSp>
          <p:nvCxnSpPr>
            <p:cNvPr id="45" name="Straight Connector 44"/>
            <p:cNvCxnSpPr/>
            <p:nvPr/>
          </p:nvCxnSpPr>
          <p:spPr bwMode="auto">
            <a:xfrm flipH="1">
              <a:off x="9171992" y="3680019"/>
              <a:ext cx="467307" cy="5576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5278016" y="4504353"/>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7792616" y="4504353"/>
              <a:ext cx="609600"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48" name="TextBox 47"/>
          <p:cNvSpPr txBox="1"/>
          <p:nvPr/>
        </p:nvSpPr>
        <p:spPr>
          <a:xfrm>
            <a:off x="682783" y="5338583"/>
            <a:ext cx="6512981" cy="1200329"/>
          </a:xfrm>
          <a:prstGeom prst="rect">
            <a:avLst/>
          </a:prstGeom>
          <a:solidFill>
            <a:schemeClr val="accent5">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A </a:t>
            </a:r>
            <a:r>
              <a:rPr lang="en-US" sz="2400" b="1" u="sng">
                <a:solidFill>
                  <a:srgbClr val="000000"/>
                </a:solidFill>
                <a:latin typeface="+mj-lt"/>
              </a:rPr>
              <a:t>relationship</a:t>
            </a:r>
            <a:r>
              <a:rPr lang="en-US" sz="2400">
                <a:solidFill>
                  <a:srgbClr val="000000"/>
                </a:solidFill>
                <a:latin typeface="+mj-lt"/>
              </a:rPr>
              <a:t> between </a:t>
            </a:r>
            <a:r>
              <a:rPr lang="en-US" sz="2400" b="1">
                <a:solidFill>
                  <a:srgbClr val="000000"/>
                </a:solidFill>
                <a:latin typeface="+mj-lt"/>
              </a:rPr>
              <a:t>entity sets P and C </a:t>
            </a:r>
            <a:r>
              <a:rPr lang="en-US" sz="2400">
                <a:solidFill>
                  <a:srgbClr val="000000"/>
                </a:solidFill>
                <a:latin typeface="+mj-lt"/>
              </a:rPr>
              <a:t>is a </a:t>
            </a:r>
            <a:r>
              <a:rPr lang="en-US" sz="2400" b="1" i="1">
                <a:solidFill>
                  <a:srgbClr val="000000"/>
                </a:solidFill>
                <a:latin typeface="+mj-lt"/>
              </a:rPr>
              <a:t>subset of all possible pairs of entities in P and C</a:t>
            </a:r>
            <a:r>
              <a:rPr lang="en-US" sz="2400">
                <a:solidFill>
                  <a:srgbClr val="000000"/>
                </a:solidFill>
                <a:latin typeface="+mj-lt"/>
              </a:rPr>
              <a:t>, with tuples uniquely identified by </a:t>
            </a:r>
            <a:r>
              <a:rPr lang="en-US" sz="2400" b="1" i="1">
                <a:solidFill>
                  <a:srgbClr val="000000"/>
                </a:solidFill>
                <a:latin typeface="+mj-lt"/>
              </a:rPr>
              <a:t>P and C’s keys</a:t>
            </a:r>
          </a:p>
        </p:txBody>
      </p:sp>
      <p:sp>
        <p:nvSpPr>
          <p:cNvPr id="3" name="Slide Number Placeholder 2">
            <a:extLst>
              <a:ext uri="{FF2B5EF4-FFF2-40B4-BE49-F238E27FC236}">
                <a16:creationId xmlns:a16="http://schemas.microsoft.com/office/drawing/2014/main" id="{3BA845AC-DC5D-431A-BA99-D7EAA74C7B98}"/>
              </a:ext>
            </a:extLst>
          </p:cNvPr>
          <p:cNvSpPr>
            <a:spLocks noGrp="1"/>
          </p:cNvSpPr>
          <p:nvPr>
            <p:ph type="sldNum" sz="quarter" idx="12"/>
          </p:nvPr>
        </p:nvSpPr>
        <p:spPr/>
        <p:txBody>
          <a:bodyPr/>
          <a:lstStyle/>
          <a:p>
            <a:fld id="{641C0F02-33DC-3A41-9F51-431B7FE03ABE}" type="slidenum">
              <a:rPr lang="en-US" smtClean="0"/>
              <a:t>22</a:t>
            </a:fld>
            <a:endParaRPr lang="en-US"/>
          </a:p>
        </p:txBody>
      </p:sp>
    </p:spTree>
    <p:extLst>
      <p:ext uri="{BB962C8B-B14F-4D97-AF65-F5344CB8AC3E}">
        <p14:creationId xmlns:p14="http://schemas.microsoft.com/office/powerpoint/2010/main" val="2126936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Relationship?</a:t>
            </a:r>
          </a:p>
        </p:txBody>
      </p:sp>
      <p:sp>
        <p:nvSpPr>
          <p:cNvPr id="3" name="Content Placeholder 2"/>
          <p:cNvSpPr>
            <a:spLocks noGrp="1"/>
          </p:cNvSpPr>
          <p:nvPr>
            <p:ph idx="1"/>
          </p:nvPr>
        </p:nvSpPr>
        <p:spPr>
          <a:xfrm>
            <a:off x="914400" y="1662438"/>
            <a:ext cx="7760090" cy="4114800"/>
          </a:xfrm>
        </p:spPr>
        <p:txBody>
          <a:bodyPr/>
          <a:lstStyle/>
          <a:p>
            <a:r>
              <a:rPr lang="en-US"/>
              <a:t>There can only be </a:t>
            </a:r>
            <a:r>
              <a:rPr lang="en-US" b="1"/>
              <a:t>one relationship for every unique combination of entities</a:t>
            </a:r>
          </a:p>
          <a:p>
            <a:endParaRPr lang="en-US"/>
          </a:p>
          <a:p>
            <a:r>
              <a:rPr lang="en-US"/>
              <a:t>This also means that </a:t>
            </a:r>
            <a:r>
              <a:rPr lang="en-US" b="1"/>
              <a:t>the relationship is uniquely determined by the keys of its entities</a:t>
            </a:r>
          </a:p>
          <a:p>
            <a:endParaRPr lang="en-US" i="1"/>
          </a:p>
          <a:p>
            <a:r>
              <a:rPr lang="en-US" i="1"/>
              <a:t>Example: the “key” for Makes (to right) is </a:t>
            </a:r>
            <a:br>
              <a:rPr lang="en-US" i="1"/>
            </a:br>
            <a:r>
              <a:rPr lang="en-US" i="1"/>
              <a:t>	{</a:t>
            </a:r>
            <a:r>
              <a:rPr lang="en-US" i="1" err="1"/>
              <a:t>Product.name</a:t>
            </a:r>
            <a:r>
              <a:rPr lang="en-US" i="1"/>
              <a:t>, </a:t>
            </a:r>
            <a:r>
              <a:rPr lang="en-US" i="1" err="1"/>
              <a:t>Company.name</a:t>
            </a:r>
            <a:r>
              <a:rPr lang="en-US" i="1"/>
              <a:t>}</a:t>
            </a:r>
          </a:p>
          <a:p>
            <a:endParaRPr lang="en-US"/>
          </a:p>
        </p:txBody>
      </p:sp>
      <p:sp>
        <p:nvSpPr>
          <p:cNvPr id="131" name="TextBox 130"/>
          <p:cNvSpPr txBox="1"/>
          <p:nvPr/>
        </p:nvSpPr>
        <p:spPr>
          <a:xfrm>
            <a:off x="4289736" y="6054398"/>
            <a:ext cx="3612527" cy="461665"/>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none" rtlCol="0">
            <a:spAutoFit/>
          </a:bodyPr>
          <a:lstStyle/>
          <a:p>
            <a:r>
              <a:rPr lang="en-US" sz="2400">
                <a:latin typeface="+mj-lt"/>
              </a:rPr>
              <a:t>Why does this make sense?</a:t>
            </a:r>
          </a:p>
        </p:txBody>
      </p:sp>
      <p:sp>
        <p:nvSpPr>
          <p:cNvPr id="132" name="TextBox 131"/>
          <p:cNvSpPr txBox="1"/>
          <p:nvPr/>
        </p:nvSpPr>
        <p:spPr>
          <a:xfrm>
            <a:off x="9100015" y="1690688"/>
            <a:ext cx="2499275" cy="132343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000">
                <a:latin typeface="+mj-lt"/>
              </a:rPr>
              <a:t>This follows from our mathematical definition of a relationship- it’s a SET!</a:t>
            </a:r>
          </a:p>
        </p:txBody>
      </p:sp>
      <p:grpSp>
        <p:nvGrpSpPr>
          <p:cNvPr id="5" name="Group 4"/>
          <p:cNvGrpSpPr/>
          <p:nvPr/>
        </p:nvGrpSpPr>
        <p:grpSpPr>
          <a:xfrm>
            <a:off x="7682486" y="3928025"/>
            <a:ext cx="3810946" cy="1849213"/>
            <a:chOff x="7669786" y="3928025"/>
            <a:chExt cx="3810946" cy="1849213"/>
          </a:xfrm>
        </p:grpSpPr>
        <p:sp>
          <p:nvSpPr>
            <p:cNvPr id="15" name="AutoShape 8"/>
            <p:cNvSpPr>
              <a:spLocks noChangeArrowheads="1"/>
            </p:cNvSpPr>
            <p:nvPr/>
          </p:nvSpPr>
          <p:spPr bwMode="auto">
            <a:xfrm>
              <a:off x="9540614" y="5465433"/>
              <a:ext cx="831479" cy="311805"/>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Makes</a:t>
              </a:r>
            </a:p>
          </p:txBody>
        </p:sp>
        <p:sp>
          <p:nvSpPr>
            <p:cNvPr id="16" name="Rectangle 15"/>
            <p:cNvSpPr>
              <a:spLocks noChangeArrowheads="1"/>
            </p:cNvSpPr>
            <p:nvPr/>
          </p:nvSpPr>
          <p:spPr bwMode="auto">
            <a:xfrm>
              <a:off x="8674490" y="5500078"/>
              <a:ext cx="554319" cy="24251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7" name="Oval 12"/>
            <p:cNvSpPr>
              <a:spLocks noChangeArrowheads="1"/>
            </p:cNvSpPr>
            <p:nvPr/>
          </p:nvSpPr>
          <p:spPr bwMode="auto">
            <a:xfrm>
              <a:off x="8154816" y="4980404"/>
              <a:ext cx="658254" cy="31180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8" name="Oval 13"/>
            <p:cNvSpPr>
              <a:spLocks noChangeArrowheads="1"/>
            </p:cNvSpPr>
            <p:nvPr/>
          </p:nvSpPr>
          <p:spPr bwMode="auto">
            <a:xfrm>
              <a:off x="8882360" y="5015049"/>
              <a:ext cx="658254" cy="31180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19" name="Oval 16"/>
            <p:cNvSpPr>
              <a:spLocks noChangeArrowheads="1"/>
            </p:cNvSpPr>
            <p:nvPr/>
          </p:nvSpPr>
          <p:spPr bwMode="auto">
            <a:xfrm>
              <a:off x="7669786" y="5257564"/>
              <a:ext cx="658254" cy="31180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0" name="Straight Connector 19"/>
            <p:cNvCxnSpPr>
              <a:stCxn id="21" idx="5"/>
              <a:endCxn id="18" idx="1"/>
            </p:cNvCxnSpPr>
            <p:nvPr/>
          </p:nvCxnSpPr>
          <p:spPr bwMode="auto">
            <a:xfrm rot="16200000" flipH="1">
              <a:off x="8404251" y="5351096"/>
              <a:ext cx="97630" cy="44284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1" name="Straight Connector 20"/>
            <p:cNvCxnSpPr>
              <a:stCxn id="19" idx="5"/>
              <a:endCxn id="18" idx="0"/>
            </p:cNvCxnSpPr>
            <p:nvPr/>
          </p:nvCxnSpPr>
          <p:spPr bwMode="auto">
            <a:xfrm rot="16200000" flipH="1">
              <a:off x="8707395" y="5255822"/>
              <a:ext cx="253533" cy="23497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2" name="Straight Connector 21"/>
            <p:cNvCxnSpPr>
              <a:stCxn id="20" idx="4"/>
              <a:endCxn id="18" idx="0"/>
            </p:cNvCxnSpPr>
            <p:nvPr/>
          </p:nvCxnSpPr>
          <p:spPr bwMode="auto">
            <a:xfrm rot="5400000">
              <a:off x="8994956" y="5283547"/>
              <a:ext cx="173225" cy="25983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3" name="Rectangle 22"/>
            <p:cNvSpPr>
              <a:spLocks noChangeArrowheads="1"/>
            </p:cNvSpPr>
            <p:nvPr/>
          </p:nvSpPr>
          <p:spPr bwMode="auto">
            <a:xfrm>
              <a:off x="10649253" y="5500078"/>
              <a:ext cx="816019" cy="27716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Company</a:t>
              </a:r>
            </a:p>
          </p:txBody>
        </p:sp>
        <p:sp>
          <p:nvSpPr>
            <p:cNvPr id="24" name="Oval 12"/>
            <p:cNvSpPr>
              <a:spLocks noChangeArrowheads="1"/>
            </p:cNvSpPr>
            <p:nvPr/>
          </p:nvSpPr>
          <p:spPr bwMode="auto">
            <a:xfrm>
              <a:off x="10822478" y="4807179"/>
              <a:ext cx="658254" cy="31180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cxnSp>
          <p:nvCxnSpPr>
            <p:cNvPr id="25" name="Straight Connector 24"/>
            <p:cNvCxnSpPr>
              <a:stCxn id="26" idx="5"/>
              <a:endCxn id="25" idx="0"/>
            </p:cNvCxnSpPr>
            <p:nvPr/>
          </p:nvCxnSpPr>
          <p:spPr bwMode="auto">
            <a:xfrm rot="5400000">
              <a:off x="11054591" y="5170336"/>
              <a:ext cx="426757" cy="23272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18" idx="3"/>
              <a:endCxn id="17" idx="1"/>
            </p:cNvCxnSpPr>
            <p:nvPr/>
          </p:nvCxnSpPr>
          <p:spPr bwMode="auto">
            <a:xfrm>
              <a:off x="9228809" y="5621336"/>
              <a:ext cx="311805" cy="722"/>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7" name="Straight Connector 26"/>
            <p:cNvCxnSpPr>
              <a:stCxn id="17" idx="3"/>
              <a:endCxn id="25" idx="1"/>
            </p:cNvCxnSpPr>
            <p:nvPr/>
          </p:nvCxnSpPr>
          <p:spPr bwMode="auto">
            <a:xfrm>
              <a:off x="10372093" y="5621336"/>
              <a:ext cx="277160" cy="5196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Oval 13"/>
            <p:cNvSpPr>
              <a:spLocks noChangeArrowheads="1"/>
            </p:cNvSpPr>
            <p:nvPr/>
          </p:nvSpPr>
          <p:spPr bwMode="auto">
            <a:xfrm>
              <a:off x="9713839" y="4737889"/>
              <a:ext cx="658254" cy="31180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since</a:t>
              </a:r>
            </a:p>
          </p:txBody>
        </p:sp>
        <p:cxnSp>
          <p:nvCxnSpPr>
            <p:cNvPr id="29" name="Straight Connector 28"/>
            <p:cNvCxnSpPr>
              <a:endCxn id="17" idx="0"/>
            </p:cNvCxnSpPr>
            <p:nvPr/>
          </p:nvCxnSpPr>
          <p:spPr bwMode="auto">
            <a:xfrm rot="5400000">
              <a:off x="9791790" y="5214257"/>
              <a:ext cx="415740" cy="86612"/>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33" name="TextBox 132"/>
                <p:cNvSpPr txBox="1"/>
                <p:nvPr/>
              </p:nvSpPr>
              <p:spPr>
                <a:xfrm>
                  <a:off x="8071317" y="3928025"/>
                  <a:ext cx="3315716" cy="369332"/>
                </a:xfrm>
                <a:prstGeom prst="rect">
                  <a:avLst/>
                </a:prstGeom>
                <a:noFill/>
              </p:spPr>
              <p:txBody>
                <a:bodyPr wrap="none" rtlCol="0">
                  <a:spAutoFit/>
                </a:bodyPr>
                <a:lstStyle/>
                <a:p>
                  <a:r>
                    <a:rPr lang="en-US"/>
                    <a:t>Key</a:t>
                  </a:r>
                  <a:r>
                    <a:rPr lang="en-US" baseline="-25000" err="1"/>
                    <a:t>Makes</a:t>
                  </a:r>
                  <a:r>
                    <a:rPr lang="en-US"/>
                    <a:t> = </a:t>
                  </a:r>
                  <a:r>
                    <a:rPr lang="en-US" err="1"/>
                    <a:t>Key</a:t>
                  </a:r>
                  <a:r>
                    <a:rPr lang="en-US" baseline="-25000" err="1"/>
                    <a:t>Product</a:t>
                  </a:r>
                  <a:r>
                    <a:rPr lang="en-US"/>
                    <a:t>  </a:t>
                  </a:r>
                  <a14:m>
                    <m:oMath xmlns:m="http://schemas.openxmlformats.org/officeDocument/2006/math">
                      <m:r>
                        <a:rPr lang="en-US" i="1" smtClean="0">
                          <a:latin typeface="Cambria Math" charset="0"/>
                          <a:ea typeface="Cambria Math" charset="0"/>
                          <a:cs typeface="Cambria Math" charset="0"/>
                        </a:rPr>
                        <m:t>∪</m:t>
                      </m:r>
                    </m:oMath>
                  </a14:m>
                  <a:r>
                    <a:rPr lang="en-US"/>
                    <a:t>   Key</a:t>
                  </a:r>
                  <a:r>
                    <a:rPr lang="en-US" baseline="-25000"/>
                    <a:t>Company</a:t>
                  </a:r>
                  <a:endParaRPr lang="en-US"/>
                </a:p>
              </p:txBody>
            </p:sp>
          </mc:Choice>
          <mc:Fallback xmlns="">
            <p:sp>
              <p:nvSpPr>
                <p:cNvPr id="133" name="TextBox 132"/>
                <p:cNvSpPr txBox="1">
                  <a:spLocks noRot="1" noChangeAspect="1" noMove="1" noResize="1" noEditPoints="1" noAdjustHandles="1" noChangeArrowheads="1" noChangeShapeType="1" noTextEdit="1"/>
                </p:cNvSpPr>
                <p:nvPr/>
              </p:nvSpPr>
              <p:spPr>
                <a:xfrm>
                  <a:off x="8071317" y="3928025"/>
                  <a:ext cx="3315716" cy="369332"/>
                </a:xfrm>
                <a:prstGeom prst="rect">
                  <a:avLst/>
                </a:prstGeom>
                <a:blipFill>
                  <a:blip r:embed="rId2"/>
                  <a:stretch>
                    <a:fillRect l="-1471" t="-8197" b="-24590"/>
                  </a:stretch>
                </a:blipFill>
              </p:spPr>
              <p:txBody>
                <a:bodyPr/>
                <a:lstStyle/>
                <a:p>
                  <a:r>
                    <a:rPr lang="en-US">
                      <a:noFill/>
                    </a:rPr>
                    <a:t> </a:t>
                  </a:r>
                </a:p>
              </p:txBody>
            </p:sp>
          </mc:Fallback>
        </mc:AlternateContent>
        <p:cxnSp>
          <p:nvCxnSpPr>
            <p:cNvPr id="135" name="Straight Arrow Connector 134"/>
            <p:cNvCxnSpPr/>
            <p:nvPr/>
          </p:nvCxnSpPr>
          <p:spPr>
            <a:xfrm flipH="1">
              <a:off x="8610600" y="4297357"/>
              <a:ext cx="850641" cy="59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p:nvPr/>
          </p:nvCxnSpPr>
          <p:spPr>
            <a:xfrm>
              <a:off x="10822478" y="4297357"/>
              <a:ext cx="234784" cy="440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 name="Slide Number Placeholder 3">
            <a:extLst>
              <a:ext uri="{FF2B5EF4-FFF2-40B4-BE49-F238E27FC236}">
                <a16:creationId xmlns:a16="http://schemas.microsoft.com/office/drawing/2014/main" id="{EE653FD8-65F4-41EF-AF1B-9D6DBDDF8FB2}"/>
              </a:ext>
            </a:extLst>
          </p:cNvPr>
          <p:cNvSpPr>
            <a:spLocks noGrp="1"/>
          </p:cNvSpPr>
          <p:nvPr>
            <p:ph type="sldNum" sz="quarter" idx="12"/>
          </p:nvPr>
        </p:nvSpPr>
        <p:spPr/>
        <p:txBody>
          <a:bodyPr/>
          <a:lstStyle/>
          <a:p>
            <a:fld id="{641C0F02-33DC-3A41-9F51-431B7FE03ABE}" type="slidenum">
              <a:rPr lang="en-US" smtClean="0"/>
              <a:t>23</a:t>
            </a:fld>
            <a:endParaRPr lang="en-US"/>
          </a:p>
        </p:txBody>
      </p:sp>
    </p:spTree>
    <p:extLst>
      <p:ext uri="{BB962C8B-B14F-4D97-AF65-F5344CB8AC3E}">
        <p14:creationId xmlns:p14="http://schemas.microsoft.com/office/powerpoint/2010/main" val="114271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1" grpId="0" animBg="1"/>
      <p:bldP spid="1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676400" y="2804455"/>
            <a:ext cx="4114800" cy="1676400"/>
            <a:chOff x="1676400" y="2804455"/>
            <a:chExt cx="4114800" cy="1676400"/>
          </a:xfrm>
        </p:grpSpPr>
        <p:sp>
          <p:nvSpPr>
            <p:cNvPr id="6" name="Rectangle 5"/>
            <p:cNvSpPr>
              <a:spLocks noChangeArrowheads="1"/>
            </p:cNvSpPr>
            <p:nvPr/>
          </p:nvSpPr>
          <p:spPr bwMode="auto">
            <a:xfrm>
              <a:off x="3886200" y="3947455"/>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7" name="Oval 12"/>
            <p:cNvSpPr>
              <a:spLocks noChangeArrowheads="1"/>
            </p:cNvSpPr>
            <p:nvPr/>
          </p:nvSpPr>
          <p:spPr bwMode="auto">
            <a:xfrm>
              <a:off x="2743200" y="28044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8" name="Oval 13"/>
            <p:cNvSpPr>
              <a:spLocks noChangeArrowheads="1"/>
            </p:cNvSpPr>
            <p:nvPr/>
          </p:nvSpPr>
          <p:spPr bwMode="auto">
            <a:xfrm>
              <a:off x="4343400" y="28806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9" name="Oval 16"/>
            <p:cNvSpPr>
              <a:spLocks noChangeArrowheads="1"/>
            </p:cNvSpPr>
            <p:nvPr/>
          </p:nvSpPr>
          <p:spPr bwMode="auto">
            <a:xfrm>
              <a:off x="1676400" y="3414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cxnSp>
          <p:nvCxnSpPr>
            <p:cNvPr id="10" name="Straight Connector 9"/>
            <p:cNvCxnSpPr>
              <a:stCxn id="9" idx="5"/>
              <a:endCxn id="6" idx="1"/>
            </p:cNvCxnSpPr>
            <p:nvPr/>
          </p:nvCxnSpPr>
          <p:spPr bwMode="auto">
            <a:xfrm rot="16200000" flipH="1">
              <a:off x="3291822" y="3619775"/>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1" name="Straight Connector 10"/>
            <p:cNvCxnSpPr>
              <a:stCxn id="7" idx="5"/>
              <a:endCxn id="6" idx="0"/>
            </p:cNvCxnSpPr>
            <p:nvPr/>
          </p:nvCxnSpPr>
          <p:spPr bwMode="auto">
            <a:xfrm rot="16200000" flipH="1">
              <a:off x="3958572" y="3410225"/>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2" name="Straight Connector 11"/>
            <p:cNvCxnSpPr>
              <a:stCxn id="8" idx="4"/>
              <a:endCxn id="6" idx="0"/>
            </p:cNvCxnSpPr>
            <p:nvPr/>
          </p:nvCxnSpPr>
          <p:spPr bwMode="auto">
            <a:xfrm rot="5400000">
              <a:off x="4591050" y="3471205"/>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grpSp>
        <p:nvGrpSpPr>
          <p:cNvPr id="3" name="Group 2"/>
          <p:cNvGrpSpPr/>
          <p:nvPr/>
        </p:nvGrpSpPr>
        <p:grpSpPr>
          <a:xfrm>
            <a:off x="8229601" y="2423455"/>
            <a:ext cx="1828799" cy="2057401"/>
            <a:chOff x="8229601" y="2423455"/>
            <a:chExt cx="1828799" cy="2057401"/>
          </a:xfrm>
        </p:grpSpPr>
        <p:sp>
          <p:nvSpPr>
            <p:cNvPr id="13" name="Rectangle 10"/>
            <p:cNvSpPr>
              <a:spLocks noChangeArrowheads="1"/>
            </p:cNvSpPr>
            <p:nvPr/>
          </p:nvSpPr>
          <p:spPr bwMode="auto">
            <a:xfrm>
              <a:off x="8229601" y="3947456"/>
              <a:ext cx="1399592"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sp>
          <p:nvSpPr>
            <p:cNvPr id="14" name="Oval 12"/>
            <p:cNvSpPr>
              <a:spLocks noChangeArrowheads="1"/>
            </p:cNvSpPr>
            <p:nvPr/>
          </p:nvSpPr>
          <p:spPr bwMode="auto">
            <a:xfrm>
              <a:off x="8610600" y="24234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cxnSp>
          <p:nvCxnSpPr>
            <p:cNvPr id="15" name="Straight Connector 14"/>
            <p:cNvCxnSpPr>
              <a:stCxn id="14" idx="4"/>
              <a:endCxn id="13" idx="0"/>
            </p:cNvCxnSpPr>
            <p:nvPr/>
          </p:nvCxnSpPr>
          <p:spPr bwMode="auto">
            <a:xfrm flipH="1">
              <a:off x="8929397" y="3109255"/>
              <a:ext cx="405103" cy="83820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grpSp>
        <p:nvGrpSpPr>
          <p:cNvPr id="19" name="Group 18"/>
          <p:cNvGrpSpPr/>
          <p:nvPr/>
        </p:nvGrpSpPr>
        <p:grpSpPr>
          <a:xfrm>
            <a:off x="5105400" y="3871255"/>
            <a:ext cx="3124201" cy="685800"/>
            <a:chOff x="5105400" y="3871255"/>
            <a:chExt cx="3124201" cy="685800"/>
          </a:xfrm>
        </p:grpSpPr>
        <p:sp>
          <p:nvSpPr>
            <p:cNvPr id="5" name="AutoShape 8"/>
            <p:cNvSpPr>
              <a:spLocks noChangeArrowheads="1"/>
            </p:cNvSpPr>
            <p:nvPr/>
          </p:nvSpPr>
          <p:spPr bwMode="auto">
            <a:xfrm>
              <a:off x="5791200" y="3871255"/>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cxnSp>
          <p:nvCxnSpPr>
            <p:cNvPr id="16" name="Straight Connector 15"/>
            <p:cNvCxnSpPr>
              <a:stCxn id="6" idx="3"/>
              <a:endCxn id="5" idx="1"/>
            </p:cNvCxnSpPr>
            <p:nvPr/>
          </p:nvCxnSpPr>
          <p:spPr bwMode="auto">
            <a:xfrm>
              <a:off x="5105400" y="4214155"/>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7" name="Straight Connector 16"/>
            <p:cNvCxnSpPr>
              <a:stCxn id="5" idx="3"/>
              <a:endCxn id="13" idx="1"/>
            </p:cNvCxnSpPr>
            <p:nvPr/>
          </p:nvCxnSpPr>
          <p:spPr bwMode="auto">
            <a:xfrm>
              <a:off x="7620000" y="4214155"/>
              <a:ext cx="609601" cy="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grpSp>
        <p:nvGrpSpPr>
          <p:cNvPr id="23" name="Group 22"/>
          <p:cNvGrpSpPr/>
          <p:nvPr/>
        </p:nvGrpSpPr>
        <p:grpSpPr>
          <a:xfrm>
            <a:off x="6172200" y="2271055"/>
            <a:ext cx="1447800" cy="1600200"/>
            <a:chOff x="6172200" y="2271055"/>
            <a:chExt cx="1447800" cy="1600200"/>
          </a:xfrm>
        </p:grpSpPr>
        <p:sp>
          <p:nvSpPr>
            <p:cNvPr id="18" name="Oval 13"/>
            <p:cNvSpPr>
              <a:spLocks noChangeArrowheads="1"/>
            </p:cNvSpPr>
            <p:nvPr/>
          </p:nvSpPr>
          <p:spPr bwMode="auto">
            <a:xfrm>
              <a:off x="6172200" y="2271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since</a:t>
              </a:r>
            </a:p>
          </p:txBody>
        </p:sp>
        <p:cxnSp>
          <p:nvCxnSpPr>
            <p:cNvPr id="20" name="Straight Connector 19"/>
            <p:cNvCxnSpPr>
              <a:stCxn id="18" idx="4"/>
              <a:endCxn id="5" idx="0"/>
            </p:cNvCxnSpPr>
            <p:nvPr/>
          </p:nvCxnSpPr>
          <p:spPr bwMode="auto">
            <a:xfrm rot="5400000">
              <a:off x="6343650" y="3318805"/>
              <a:ext cx="914400" cy="190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1" name="TextBox 20"/>
          <p:cNvSpPr txBox="1"/>
          <p:nvPr/>
        </p:nvSpPr>
        <p:spPr>
          <a:xfrm>
            <a:off x="914400" y="1710842"/>
            <a:ext cx="5867400" cy="461665"/>
          </a:xfrm>
          <a:prstGeom prst="rect">
            <a:avLst/>
          </a:prstGeom>
          <a:noFill/>
        </p:spPr>
        <p:txBody>
          <a:bodyPr wrap="square" rtlCol="0">
            <a:spAutoFit/>
          </a:bodyPr>
          <a:lstStyle/>
          <a:p>
            <a:pPr marL="342900" indent="-342900" fontAlgn="base">
              <a:spcBef>
                <a:spcPct val="0"/>
              </a:spcBef>
              <a:spcAft>
                <a:spcPct val="0"/>
              </a:spcAft>
              <a:buFont typeface="Arial" charset="0"/>
              <a:buChar char="•"/>
            </a:pPr>
            <a:r>
              <a:rPr lang="en-US" sz="2400">
                <a:solidFill>
                  <a:srgbClr val="000000"/>
                </a:solidFill>
              </a:rPr>
              <a:t>Relationships may have attributes as well.</a:t>
            </a:r>
          </a:p>
        </p:txBody>
      </p:sp>
      <p:sp>
        <p:nvSpPr>
          <p:cNvPr id="22" name="TextBox 21"/>
          <p:cNvSpPr txBox="1"/>
          <p:nvPr/>
        </p:nvSpPr>
        <p:spPr>
          <a:xfrm>
            <a:off x="1031033" y="5115064"/>
            <a:ext cx="3312367" cy="120032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For example: “since” records when company started making a product</a:t>
            </a:r>
          </a:p>
        </p:txBody>
      </p:sp>
      <p:sp>
        <p:nvSpPr>
          <p:cNvPr id="24" name="TextBox 23"/>
          <p:cNvSpPr txBox="1"/>
          <p:nvPr/>
        </p:nvSpPr>
        <p:spPr>
          <a:xfrm>
            <a:off x="5721088" y="5091881"/>
            <a:ext cx="2350023" cy="1015663"/>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000">
                <a:solidFill>
                  <a:srgbClr val="000000"/>
                </a:solidFill>
                <a:latin typeface="+mj-lt"/>
              </a:rPr>
              <a:t>Note: “</a:t>
            </a:r>
            <a:r>
              <a:rPr lang="en-US" sz="2000" i="1">
                <a:solidFill>
                  <a:srgbClr val="000000"/>
                </a:solidFill>
                <a:latin typeface="+mj-lt"/>
              </a:rPr>
              <a:t>since”</a:t>
            </a:r>
            <a:r>
              <a:rPr lang="en-US" sz="2000">
                <a:solidFill>
                  <a:srgbClr val="000000"/>
                </a:solidFill>
                <a:latin typeface="+mj-lt"/>
              </a:rPr>
              <a:t> is implicitly unique per pair here! Why?</a:t>
            </a:r>
          </a:p>
        </p:txBody>
      </p:sp>
      <p:sp>
        <p:nvSpPr>
          <p:cNvPr id="25" name="TextBox 24"/>
          <p:cNvSpPr txBox="1"/>
          <p:nvPr/>
        </p:nvSpPr>
        <p:spPr>
          <a:xfrm>
            <a:off x="8846071" y="5115064"/>
            <a:ext cx="2042754" cy="707886"/>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000" i="1">
                <a:solidFill>
                  <a:srgbClr val="000000"/>
                </a:solidFill>
                <a:latin typeface="+mj-lt"/>
              </a:rPr>
              <a:t>Note #2: Why not “how long”?</a:t>
            </a:r>
          </a:p>
        </p:txBody>
      </p:sp>
      <p:sp>
        <p:nvSpPr>
          <p:cNvPr id="29" name="Title 1"/>
          <p:cNvSpPr>
            <a:spLocks noGrp="1"/>
          </p:cNvSpPr>
          <p:nvPr>
            <p:ph type="title"/>
          </p:nvPr>
        </p:nvSpPr>
        <p:spPr/>
        <p:txBody>
          <a:bodyPr/>
          <a:lstStyle/>
          <a:p>
            <a:r>
              <a:rPr lang="en-US"/>
              <a:t>Relationships and Attributes</a:t>
            </a:r>
          </a:p>
        </p:txBody>
      </p:sp>
      <p:sp>
        <p:nvSpPr>
          <p:cNvPr id="4" name="Slide Number Placeholder 3">
            <a:extLst>
              <a:ext uri="{FF2B5EF4-FFF2-40B4-BE49-F238E27FC236}">
                <a16:creationId xmlns:a16="http://schemas.microsoft.com/office/drawing/2014/main" id="{E4A56031-9D34-428A-B4AB-3FBA630A4D83}"/>
              </a:ext>
            </a:extLst>
          </p:cNvPr>
          <p:cNvSpPr>
            <a:spLocks noGrp="1"/>
          </p:cNvSpPr>
          <p:nvPr>
            <p:ph type="sldNum" sz="quarter" idx="12"/>
          </p:nvPr>
        </p:nvSpPr>
        <p:spPr/>
        <p:txBody>
          <a:bodyPr/>
          <a:lstStyle/>
          <a:p>
            <a:fld id="{641C0F02-33DC-3A41-9F51-431B7FE03ABE}" type="slidenum">
              <a:rPr lang="en-US" smtClean="0"/>
              <a:t>24</a:t>
            </a:fld>
            <a:endParaRPr lang="en-US"/>
          </a:p>
        </p:txBody>
      </p:sp>
    </p:spTree>
    <p:extLst>
      <p:ext uri="{BB962C8B-B14F-4D97-AF65-F5344CB8AC3E}">
        <p14:creationId xmlns:p14="http://schemas.microsoft.com/office/powerpoint/2010/main" val="32047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dissolve">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dissolv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4"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6536" y="518273"/>
            <a:ext cx="5554346" cy="693780"/>
          </a:xfrm>
          <a:prstGeom prst="rect">
            <a:avLst/>
          </a:prstGeom>
        </p:spPr>
        <p:txBody>
          <a:bodyPr vert="horz" wrap="square" lIns="0" tIns="16510" rIns="0" bIns="0" rtlCol="0" anchor="ctr">
            <a:spAutoFit/>
          </a:bodyPr>
          <a:lstStyle/>
          <a:p>
            <a:pPr marL="12700">
              <a:lnSpc>
                <a:spcPct val="100000"/>
              </a:lnSpc>
              <a:spcBef>
                <a:spcPts val="130"/>
              </a:spcBef>
            </a:pPr>
            <a:r>
              <a:rPr spc="-5"/>
              <a:t>Relationships</a:t>
            </a:r>
          </a:p>
        </p:txBody>
      </p:sp>
      <p:sp>
        <p:nvSpPr>
          <p:cNvPr id="4" name="object 4"/>
          <p:cNvSpPr txBox="1"/>
          <p:nvPr/>
        </p:nvSpPr>
        <p:spPr>
          <a:xfrm>
            <a:off x="1188721" y="1798746"/>
            <a:ext cx="9184322" cy="3260508"/>
          </a:xfrm>
          <a:prstGeom prst="rect">
            <a:avLst/>
          </a:prstGeom>
        </p:spPr>
        <p:txBody>
          <a:bodyPr vert="horz" wrap="square" lIns="0" tIns="86995" rIns="0" bIns="0" rtlCol="0">
            <a:spAutoFit/>
          </a:bodyPr>
          <a:lstStyle/>
          <a:p>
            <a:pPr marL="269875" indent="-257175">
              <a:spcBef>
                <a:spcPts val="685"/>
              </a:spcBef>
              <a:buFont typeface="Arial MT"/>
              <a:buChar char="•"/>
              <a:tabLst>
                <a:tab pos="269240" algn="l"/>
                <a:tab pos="269875" algn="l"/>
              </a:tabLst>
            </a:pPr>
            <a:r>
              <a:rPr sz="2400">
                <a:latin typeface="Calibri"/>
                <a:cs typeface="Calibri"/>
              </a:rPr>
              <a:t>A</a:t>
            </a:r>
            <a:r>
              <a:rPr sz="2400" spc="-15">
                <a:latin typeface="Calibri"/>
                <a:cs typeface="Calibri"/>
              </a:rPr>
              <a:t> </a:t>
            </a:r>
            <a:r>
              <a:rPr sz="2400" spc="-10">
                <a:solidFill>
                  <a:srgbClr val="FF0066"/>
                </a:solidFill>
                <a:latin typeface="Calibri"/>
                <a:cs typeface="Calibri"/>
              </a:rPr>
              <a:t>relationship</a:t>
            </a:r>
            <a:r>
              <a:rPr sz="2400">
                <a:solidFill>
                  <a:srgbClr val="FF0066"/>
                </a:solidFill>
                <a:latin typeface="Calibri"/>
                <a:cs typeface="Calibri"/>
              </a:rPr>
              <a:t> </a:t>
            </a:r>
            <a:r>
              <a:rPr sz="2400" spc="-5">
                <a:latin typeface="Calibri"/>
                <a:cs typeface="Calibri"/>
              </a:rPr>
              <a:t>connects</a:t>
            </a:r>
            <a:r>
              <a:rPr sz="2400" spc="-10">
                <a:latin typeface="Calibri"/>
                <a:cs typeface="Calibri"/>
              </a:rPr>
              <a:t> </a:t>
            </a:r>
            <a:r>
              <a:rPr sz="2400" spc="-15">
                <a:latin typeface="Calibri"/>
                <a:cs typeface="Calibri"/>
              </a:rPr>
              <a:t>two</a:t>
            </a:r>
            <a:r>
              <a:rPr sz="2400" spc="-10">
                <a:latin typeface="Calibri"/>
                <a:cs typeface="Calibri"/>
              </a:rPr>
              <a:t> </a:t>
            </a:r>
            <a:r>
              <a:rPr sz="2400" spc="-5">
                <a:latin typeface="Calibri"/>
                <a:cs typeface="Calibri"/>
              </a:rPr>
              <a:t>or </a:t>
            </a:r>
            <a:r>
              <a:rPr sz="2400" spc="-15">
                <a:latin typeface="Calibri"/>
                <a:cs typeface="Calibri"/>
              </a:rPr>
              <a:t>more</a:t>
            </a:r>
            <a:r>
              <a:rPr sz="2400">
                <a:latin typeface="Calibri"/>
                <a:cs typeface="Calibri"/>
              </a:rPr>
              <a:t> </a:t>
            </a:r>
            <a:r>
              <a:rPr sz="2400" spc="-10">
                <a:latin typeface="Calibri"/>
                <a:cs typeface="Calibri"/>
              </a:rPr>
              <a:t>entity</a:t>
            </a:r>
            <a:r>
              <a:rPr sz="2400" spc="-5">
                <a:latin typeface="Calibri"/>
                <a:cs typeface="Calibri"/>
              </a:rPr>
              <a:t> sets.</a:t>
            </a:r>
            <a:endParaRPr sz="2400">
              <a:latin typeface="Calibri"/>
              <a:cs typeface="Calibri"/>
            </a:endParaRPr>
          </a:p>
          <a:p>
            <a:pPr marL="269875" marR="45720" indent="-257175">
              <a:lnSpc>
                <a:spcPts val="2870"/>
              </a:lnSpc>
              <a:spcBef>
                <a:spcPts val="690"/>
              </a:spcBef>
              <a:buFont typeface="Arial MT"/>
              <a:buChar char="•"/>
              <a:tabLst>
                <a:tab pos="269240" algn="l"/>
                <a:tab pos="269875" algn="l"/>
              </a:tabLst>
            </a:pPr>
            <a:r>
              <a:rPr sz="2400" spc="-5">
                <a:latin typeface="Calibri"/>
                <a:cs typeface="Calibri"/>
              </a:rPr>
              <a:t>It</a:t>
            </a:r>
            <a:r>
              <a:rPr sz="2400" spc="-10">
                <a:latin typeface="Calibri"/>
                <a:cs typeface="Calibri"/>
              </a:rPr>
              <a:t> </a:t>
            </a:r>
            <a:r>
              <a:rPr sz="2400" spc="-5">
                <a:latin typeface="Calibri"/>
                <a:cs typeface="Calibri"/>
              </a:rPr>
              <a:t>is </a:t>
            </a:r>
            <a:r>
              <a:rPr sz="2400" spc="-15">
                <a:latin typeface="Calibri"/>
                <a:cs typeface="Calibri"/>
              </a:rPr>
              <a:t>represented</a:t>
            </a:r>
            <a:r>
              <a:rPr sz="2400">
                <a:latin typeface="Calibri"/>
                <a:cs typeface="Calibri"/>
              </a:rPr>
              <a:t> </a:t>
            </a:r>
            <a:r>
              <a:rPr sz="2400" spc="-10">
                <a:latin typeface="Calibri"/>
                <a:cs typeface="Calibri"/>
              </a:rPr>
              <a:t>by</a:t>
            </a:r>
            <a:r>
              <a:rPr sz="2400" spc="-5">
                <a:latin typeface="Calibri"/>
                <a:cs typeface="Calibri"/>
              </a:rPr>
              <a:t> </a:t>
            </a:r>
            <a:r>
              <a:rPr sz="2400">
                <a:latin typeface="Calibri"/>
                <a:cs typeface="Calibri"/>
              </a:rPr>
              <a:t>a </a:t>
            </a:r>
            <a:r>
              <a:rPr sz="2400" spc="-5">
                <a:solidFill>
                  <a:srgbClr val="0070C0"/>
                </a:solidFill>
                <a:latin typeface="Calibri"/>
                <a:cs typeface="Calibri"/>
              </a:rPr>
              <a:t>diamond</a:t>
            </a:r>
            <a:r>
              <a:rPr sz="2400" spc="-5">
                <a:latin typeface="Calibri"/>
                <a:cs typeface="Calibri"/>
              </a:rPr>
              <a:t>,</a:t>
            </a:r>
            <a:r>
              <a:rPr sz="2400">
                <a:latin typeface="Calibri"/>
                <a:cs typeface="Calibri"/>
              </a:rPr>
              <a:t> </a:t>
            </a:r>
            <a:r>
              <a:rPr sz="2400" spc="-5">
                <a:latin typeface="Calibri"/>
                <a:cs typeface="Calibri"/>
              </a:rPr>
              <a:t>with lines </a:t>
            </a:r>
            <a:r>
              <a:rPr sz="2400" spc="-15">
                <a:latin typeface="Calibri"/>
                <a:cs typeface="Calibri"/>
              </a:rPr>
              <a:t>to</a:t>
            </a:r>
            <a:r>
              <a:rPr sz="2400" spc="-5">
                <a:latin typeface="Calibri"/>
                <a:cs typeface="Calibri"/>
              </a:rPr>
              <a:t> </a:t>
            </a:r>
            <a:r>
              <a:rPr sz="2400">
                <a:latin typeface="Calibri"/>
                <a:cs typeface="Calibri"/>
              </a:rPr>
              <a:t>each</a:t>
            </a:r>
            <a:r>
              <a:rPr sz="2400" spc="-5">
                <a:latin typeface="Calibri"/>
                <a:cs typeface="Calibri"/>
              </a:rPr>
              <a:t> of</a:t>
            </a:r>
            <a:r>
              <a:rPr sz="2400" spc="5">
                <a:latin typeface="Calibri"/>
                <a:cs typeface="Calibri"/>
              </a:rPr>
              <a:t> </a:t>
            </a:r>
            <a:r>
              <a:rPr sz="2400" spc="-5">
                <a:latin typeface="Calibri"/>
                <a:cs typeface="Calibri"/>
              </a:rPr>
              <a:t>the</a:t>
            </a:r>
            <a:r>
              <a:rPr sz="2400" spc="5">
                <a:latin typeface="Calibri"/>
                <a:cs typeface="Calibri"/>
              </a:rPr>
              <a:t> </a:t>
            </a:r>
            <a:r>
              <a:rPr sz="2400" spc="-10">
                <a:latin typeface="Calibri"/>
                <a:cs typeface="Calibri"/>
              </a:rPr>
              <a:t>entity</a:t>
            </a:r>
            <a:r>
              <a:rPr sz="2400" spc="-5">
                <a:latin typeface="Calibri"/>
                <a:cs typeface="Calibri"/>
              </a:rPr>
              <a:t> sets </a:t>
            </a:r>
            <a:r>
              <a:rPr sz="2400" spc="-525">
                <a:latin typeface="Calibri"/>
                <a:cs typeface="Calibri"/>
              </a:rPr>
              <a:t> </a:t>
            </a:r>
            <a:r>
              <a:rPr sz="2400" spc="-15">
                <a:latin typeface="Calibri"/>
                <a:cs typeface="Calibri"/>
              </a:rPr>
              <a:t>involved.</a:t>
            </a:r>
            <a:endParaRPr sz="2400">
              <a:latin typeface="Calibri"/>
              <a:cs typeface="Calibri"/>
            </a:endParaRPr>
          </a:p>
          <a:p>
            <a:pPr marL="269875" marR="5080" indent="-257175">
              <a:lnSpc>
                <a:spcPts val="2870"/>
              </a:lnSpc>
              <a:spcBef>
                <a:spcPts val="595"/>
              </a:spcBef>
              <a:buFont typeface="Arial MT"/>
              <a:buChar char="•"/>
              <a:tabLst>
                <a:tab pos="269240" algn="l"/>
                <a:tab pos="269875" algn="l"/>
              </a:tabLst>
            </a:pPr>
            <a:r>
              <a:rPr sz="2400">
                <a:latin typeface="Calibri"/>
                <a:cs typeface="Calibri"/>
              </a:rPr>
              <a:t>The </a:t>
            </a:r>
            <a:r>
              <a:rPr sz="2400" i="1">
                <a:solidFill>
                  <a:srgbClr val="00B050"/>
                </a:solidFill>
                <a:latin typeface="Calibri"/>
                <a:cs typeface="Calibri"/>
              </a:rPr>
              <a:t>degree </a:t>
            </a:r>
            <a:r>
              <a:rPr sz="2400" spc="-5">
                <a:latin typeface="Calibri"/>
                <a:cs typeface="Calibri"/>
              </a:rPr>
              <a:t>of</a:t>
            </a:r>
            <a:r>
              <a:rPr sz="2400" spc="5">
                <a:latin typeface="Calibri"/>
                <a:cs typeface="Calibri"/>
              </a:rPr>
              <a:t> </a:t>
            </a:r>
            <a:r>
              <a:rPr sz="2400" spc="-5">
                <a:latin typeface="Calibri"/>
                <a:cs typeface="Calibri"/>
              </a:rPr>
              <a:t>the</a:t>
            </a:r>
            <a:r>
              <a:rPr sz="2400">
                <a:latin typeface="Calibri"/>
                <a:cs typeface="Calibri"/>
              </a:rPr>
              <a:t> </a:t>
            </a:r>
            <a:r>
              <a:rPr sz="2400" spc="-10">
                <a:latin typeface="Calibri"/>
                <a:cs typeface="Calibri"/>
              </a:rPr>
              <a:t>relationship</a:t>
            </a:r>
            <a:r>
              <a:rPr sz="2400">
                <a:latin typeface="Calibri"/>
                <a:cs typeface="Calibri"/>
              </a:rPr>
              <a:t> </a:t>
            </a:r>
            <a:r>
              <a:rPr sz="2400" spc="-5">
                <a:latin typeface="Calibri"/>
                <a:cs typeface="Calibri"/>
              </a:rPr>
              <a:t>defines the</a:t>
            </a:r>
            <a:r>
              <a:rPr sz="2400">
                <a:latin typeface="Calibri"/>
                <a:cs typeface="Calibri"/>
              </a:rPr>
              <a:t> number </a:t>
            </a:r>
            <a:r>
              <a:rPr sz="2400" spc="-5">
                <a:latin typeface="Calibri"/>
                <a:cs typeface="Calibri"/>
              </a:rPr>
              <a:t>of</a:t>
            </a:r>
            <a:r>
              <a:rPr sz="2400" spc="5">
                <a:latin typeface="Calibri"/>
                <a:cs typeface="Calibri"/>
              </a:rPr>
              <a:t> </a:t>
            </a:r>
            <a:r>
              <a:rPr sz="2400" spc="-10">
                <a:latin typeface="Calibri"/>
                <a:cs typeface="Calibri"/>
              </a:rPr>
              <a:t>entity</a:t>
            </a:r>
            <a:r>
              <a:rPr sz="2400" spc="-5">
                <a:latin typeface="Calibri"/>
                <a:cs typeface="Calibri"/>
              </a:rPr>
              <a:t> classes </a:t>
            </a:r>
            <a:r>
              <a:rPr sz="2400" spc="-525">
                <a:latin typeface="Calibri"/>
                <a:cs typeface="Calibri"/>
              </a:rPr>
              <a:t> </a:t>
            </a:r>
            <a:r>
              <a:rPr sz="2400" spc="-10">
                <a:latin typeface="Calibri"/>
                <a:cs typeface="Calibri"/>
              </a:rPr>
              <a:t>that</a:t>
            </a:r>
            <a:r>
              <a:rPr sz="2400" spc="-15">
                <a:latin typeface="Calibri"/>
                <a:cs typeface="Calibri"/>
              </a:rPr>
              <a:t> </a:t>
            </a:r>
            <a:r>
              <a:rPr sz="2400" spc="-10">
                <a:latin typeface="Calibri"/>
                <a:cs typeface="Calibri"/>
              </a:rPr>
              <a:t>participate</a:t>
            </a:r>
            <a:r>
              <a:rPr sz="2400">
                <a:latin typeface="Calibri"/>
                <a:cs typeface="Calibri"/>
              </a:rPr>
              <a:t> </a:t>
            </a:r>
            <a:r>
              <a:rPr sz="2400" spc="-5">
                <a:latin typeface="Calibri"/>
                <a:cs typeface="Calibri"/>
              </a:rPr>
              <a:t>in the</a:t>
            </a:r>
            <a:r>
              <a:rPr sz="2400">
                <a:latin typeface="Calibri"/>
                <a:cs typeface="Calibri"/>
              </a:rPr>
              <a:t> </a:t>
            </a:r>
            <a:r>
              <a:rPr sz="2400" spc="-10">
                <a:latin typeface="Calibri"/>
                <a:cs typeface="Calibri"/>
              </a:rPr>
              <a:t>relationship</a:t>
            </a:r>
            <a:endParaRPr sz="2400">
              <a:latin typeface="Calibri"/>
              <a:cs typeface="Calibri"/>
            </a:endParaRPr>
          </a:p>
          <a:p>
            <a:pPr marL="570230" lvl="1" indent="-214629">
              <a:spcBef>
                <a:spcPts val="390"/>
              </a:spcBef>
              <a:buFont typeface="Arial MT"/>
              <a:buChar char="–"/>
              <a:tabLst>
                <a:tab pos="570230" algn="l"/>
              </a:tabLst>
            </a:pPr>
            <a:r>
              <a:rPr sz="2100" spc="-5">
                <a:latin typeface="Calibri"/>
                <a:cs typeface="Calibri"/>
              </a:rPr>
              <a:t>Degree</a:t>
            </a:r>
            <a:r>
              <a:rPr sz="2100" spc="-25">
                <a:latin typeface="Calibri"/>
                <a:cs typeface="Calibri"/>
              </a:rPr>
              <a:t> </a:t>
            </a:r>
            <a:r>
              <a:rPr sz="2100" spc="15">
                <a:latin typeface="Calibri"/>
                <a:cs typeface="Calibri"/>
              </a:rPr>
              <a:t>1</a:t>
            </a:r>
            <a:r>
              <a:rPr sz="2100" spc="-30">
                <a:latin typeface="Calibri"/>
                <a:cs typeface="Calibri"/>
              </a:rPr>
              <a:t> </a:t>
            </a:r>
            <a:r>
              <a:rPr sz="2100" spc="5">
                <a:latin typeface="Calibri"/>
                <a:cs typeface="Calibri"/>
              </a:rPr>
              <a:t>is</a:t>
            </a:r>
            <a:r>
              <a:rPr sz="2100" spc="-20">
                <a:latin typeface="Calibri"/>
                <a:cs typeface="Calibri"/>
              </a:rPr>
              <a:t> </a:t>
            </a:r>
            <a:r>
              <a:rPr sz="2100" spc="15">
                <a:latin typeface="Calibri"/>
                <a:cs typeface="Calibri"/>
              </a:rPr>
              <a:t>a</a:t>
            </a:r>
            <a:r>
              <a:rPr sz="2100" spc="-30">
                <a:latin typeface="Calibri"/>
                <a:cs typeface="Calibri"/>
              </a:rPr>
              <a:t> </a:t>
            </a:r>
            <a:r>
              <a:rPr sz="2100">
                <a:solidFill>
                  <a:srgbClr val="31859C"/>
                </a:solidFill>
                <a:latin typeface="Calibri"/>
                <a:cs typeface="Calibri"/>
              </a:rPr>
              <a:t>unary</a:t>
            </a:r>
            <a:r>
              <a:rPr sz="2100" spc="-25">
                <a:solidFill>
                  <a:srgbClr val="31859C"/>
                </a:solidFill>
                <a:latin typeface="Calibri"/>
                <a:cs typeface="Calibri"/>
              </a:rPr>
              <a:t> </a:t>
            </a:r>
            <a:r>
              <a:rPr sz="2100" spc="-5">
                <a:latin typeface="Calibri"/>
                <a:cs typeface="Calibri"/>
              </a:rPr>
              <a:t>relationship</a:t>
            </a:r>
            <a:endParaRPr sz="2100">
              <a:latin typeface="Calibri"/>
              <a:cs typeface="Calibri"/>
            </a:endParaRPr>
          </a:p>
          <a:p>
            <a:pPr marL="570230" lvl="1" indent="-214629">
              <a:spcBef>
                <a:spcPts val="545"/>
              </a:spcBef>
              <a:buFont typeface="Arial MT"/>
              <a:buChar char="–"/>
              <a:tabLst>
                <a:tab pos="570230" algn="l"/>
              </a:tabLst>
            </a:pPr>
            <a:r>
              <a:rPr sz="2100" spc="-5">
                <a:latin typeface="Calibri"/>
                <a:cs typeface="Calibri"/>
              </a:rPr>
              <a:t>Degree</a:t>
            </a:r>
            <a:r>
              <a:rPr sz="2100" spc="-25">
                <a:latin typeface="Calibri"/>
                <a:cs typeface="Calibri"/>
              </a:rPr>
              <a:t> </a:t>
            </a:r>
            <a:r>
              <a:rPr sz="2100" spc="15">
                <a:latin typeface="Calibri"/>
                <a:cs typeface="Calibri"/>
              </a:rPr>
              <a:t>2</a:t>
            </a:r>
            <a:r>
              <a:rPr sz="2100" spc="-30">
                <a:latin typeface="Calibri"/>
                <a:cs typeface="Calibri"/>
              </a:rPr>
              <a:t> </a:t>
            </a:r>
            <a:r>
              <a:rPr sz="2100" spc="5">
                <a:latin typeface="Calibri"/>
                <a:cs typeface="Calibri"/>
              </a:rPr>
              <a:t>is</a:t>
            </a:r>
            <a:r>
              <a:rPr sz="2100" spc="-15">
                <a:latin typeface="Calibri"/>
                <a:cs typeface="Calibri"/>
              </a:rPr>
              <a:t> </a:t>
            </a:r>
            <a:r>
              <a:rPr sz="2100" spc="15">
                <a:latin typeface="Calibri"/>
                <a:cs typeface="Calibri"/>
              </a:rPr>
              <a:t>a</a:t>
            </a:r>
            <a:r>
              <a:rPr sz="2100" spc="-35">
                <a:latin typeface="Calibri"/>
                <a:cs typeface="Calibri"/>
              </a:rPr>
              <a:t> </a:t>
            </a:r>
            <a:r>
              <a:rPr sz="2100">
                <a:solidFill>
                  <a:srgbClr val="604A7B"/>
                </a:solidFill>
                <a:latin typeface="Calibri"/>
                <a:cs typeface="Calibri"/>
              </a:rPr>
              <a:t>binary</a:t>
            </a:r>
            <a:r>
              <a:rPr sz="2100" spc="-20">
                <a:solidFill>
                  <a:srgbClr val="604A7B"/>
                </a:solidFill>
                <a:latin typeface="Calibri"/>
                <a:cs typeface="Calibri"/>
              </a:rPr>
              <a:t> </a:t>
            </a:r>
            <a:r>
              <a:rPr sz="2100" spc="-5">
                <a:latin typeface="Calibri"/>
                <a:cs typeface="Calibri"/>
              </a:rPr>
              <a:t>relationship</a:t>
            </a:r>
            <a:endParaRPr sz="2100">
              <a:latin typeface="Calibri"/>
              <a:cs typeface="Calibri"/>
            </a:endParaRPr>
          </a:p>
          <a:p>
            <a:pPr marL="570230" lvl="1" indent="-214629">
              <a:spcBef>
                <a:spcPts val="480"/>
              </a:spcBef>
              <a:buFont typeface="Arial MT"/>
              <a:buChar char="–"/>
              <a:tabLst>
                <a:tab pos="570230" algn="l"/>
              </a:tabLst>
            </a:pPr>
            <a:r>
              <a:rPr sz="2100" spc="-5">
                <a:latin typeface="Calibri"/>
                <a:cs typeface="Calibri"/>
              </a:rPr>
              <a:t>Degree</a:t>
            </a:r>
            <a:r>
              <a:rPr sz="2100" spc="-25">
                <a:latin typeface="Calibri"/>
                <a:cs typeface="Calibri"/>
              </a:rPr>
              <a:t> </a:t>
            </a:r>
            <a:r>
              <a:rPr sz="2100" spc="15">
                <a:latin typeface="Calibri"/>
                <a:cs typeface="Calibri"/>
              </a:rPr>
              <a:t>3</a:t>
            </a:r>
            <a:r>
              <a:rPr sz="2100" spc="-25">
                <a:latin typeface="Calibri"/>
                <a:cs typeface="Calibri"/>
              </a:rPr>
              <a:t> </a:t>
            </a:r>
            <a:r>
              <a:rPr sz="2100" spc="5">
                <a:latin typeface="Calibri"/>
                <a:cs typeface="Calibri"/>
              </a:rPr>
              <a:t>is</a:t>
            </a:r>
            <a:r>
              <a:rPr sz="2100" spc="-15">
                <a:latin typeface="Calibri"/>
                <a:cs typeface="Calibri"/>
              </a:rPr>
              <a:t> </a:t>
            </a:r>
            <a:r>
              <a:rPr sz="2100" spc="15">
                <a:latin typeface="Calibri"/>
                <a:cs typeface="Calibri"/>
              </a:rPr>
              <a:t>a</a:t>
            </a:r>
            <a:r>
              <a:rPr sz="2100" spc="-30">
                <a:latin typeface="Calibri"/>
                <a:cs typeface="Calibri"/>
              </a:rPr>
              <a:t> </a:t>
            </a:r>
            <a:r>
              <a:rPr sz="2100" spc="-5">
                <a:solidFill>
                  <a:srgbClr val="E46C0A"/>
                </a:solidFill>
                <a:latin typeface="Calibri"/>
                <a:cs typeface="Calibri"/>
              </a:rPr>
              <a:t>ternary</a:t>
            </a:r>
            <a:r>
              <a:rPr sz="2100" spc="-20">
                <a:solidFill>
                  <a:srgbClr val="E46C0A"/>
                </a:solidFill>
                <a:latin typeface="Calibri"/>
                <a:cs typeface="Calibri"/>
              </a:rPr>
              <a:t> </a:t>
            </a:r>
            <a:r>
              <a:rPr sz="2100" spc="-5">
                <a:latin typeface="Calibri"/>
                <a:cs typeface="Calibri"/>
              </a:rPr>
              <a:t>relationship</a:t>
            </a:r>
            <a:endParaRPr sz="2100">
              <a:latin typeface="Calibri"/>
              <a:cs typeface="Calibri"/>
            </a:endParaRPr>
          </a:p>
        </p:txBody>
      </p:sp>
      <p:sp>
        <p:nvSpPr>
          <p:cNvPr id="2" name="Slide Number Placeholder 1">
            <a:extLst>
              <a:ext uri="{FF2B5EF4-FFF2-40B4-BE49-F238E27FC236}">
                <a16:creationId xmlns:a16="http://schemas.microsoft.com/office/drawing/2014/main" id="{5A7E407D-5CB4-4597-B29B-4F113C5C7775}"/>
              </a:ext>
            </a:extLst>
          </p:cNvPr>
          <p:cNvSpPr>
            <a:spLocks noGrp="1"/>
          </p:cNvSpPr>
          <p:nvPr>
            <p:ph type="sldNum" sz="quarter" idx="12"/>
          </p:nvPr>
        </p:nvSpPr>
        <p:spPr/>
        <p:txBody>
          <a:bodyPr/>
          <a:lstStyle/>
          <a:p>
            <a:fld id="{641C0F02-33DC-3A41-9F51-431B7FE03ABE}" type="slidenum">
              <a:rPr lang="en-US" smtClean="0"/>
              <a:t>25</a:t>
            </a:fld>
            <a:endParaRPr lang="en-US"/>
          </a:p>
        </p:txBody>
      </p:sp>
    </p:spTree>
    <p:extLst>
      <p:ext uri="{BB962C8B-B14F-4D97-AF65-F5344CB8AC3E}">
        <p14:creationId xmlns:p14="http://schemas.microsoft.com/office/powerpoint/2010/main" val="2914543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84200" y="459139"/>
            <a:ext cx="7341890" cy="693780"/>
          </a:xfrm>
          <a:prstGeom prst="rect">
            <a:avLst/>
          </a:prstGeom>
        </p:spPr>
        <p:txBody>
          <a:bodyPr vert="horz" wrap="square" lIns="0" tIns="16510" rIns="0" bIns="0" rtlCol="0" anchor="ctr">
            <a:spAutoFit/>
          </a:bodyPr>
          <a:lstStyle/>
          <a:p>
            <a:pPr marL="12700">
              <a:lnSpc>
                <a:spcPct val="100000"/>
              </a:lnSpc>
              <a:spcBef>
                <a:spcPts val="130"/>
              </a:spcBef>
            </a:pPr>
            <a:r>
              <a:rPr spc="-5"/>
              <a:t>Conceptual</a:t>
            </a:r>
            <a:r>
              <a:rPr spc="-35"/>
              <a:t> </a:t>
            </a:r>
            <a:r>
              <a:t>Unary</a:t>
            </a:r>
            <a:r>
              <a:rPr spc="-40"/>
              <a:t> </a:t>
            </a:r>
            <a:r>
              <a:rPr spc="-5"/>
              <a:t>Relationship</a:t>
            </a:r>
          </a:p>
        </p:txBody>
      </p:sp>
      <p:sp>
        <p:nvSpPr>
          <p:cNvPr id="4" name="object 4"/>
          <p:cNvSpPr/>
          <p:nvPr/>
        </p:nvSpPr>
        <p:spPr>
          <a:xfrm>
            <a:off x="4936191" y="3857625"/>
            <a:ext cx="685800" cy="300355"/>
          </a:xfrm>
          <a:custGeom>
            <a:avLst/>
            <a:gdLst/>
            <a:ahLst/>
            <a:cxnLst/>
            <a:rect l="l" t="t" r="r" b="b"/>
            <a:pathLst>
              <a:path w="685800" h="300354">
                <a:moveTo>
                  <a:pt x="685800" y="0"/>
                </a:moveTo>
                <a:lnTo>
                  <a:pt x="0" y="0"/>
                </a:lnTo>
                <a:lnTo>
                  <a:pt x="0" y="300038"/>
                </a:lnTo>
                <a:lnTo>
                  <a:pt x="685800" y="300038"/>
                </a:lnTo>
                <a:lnTo>
                  <a:pt x="685800" y="0"/>
                </a:lnTo>
                <a:close/>
              </a:path>
            </a:pathLst>
          </a:custGeom>
          <a:solidFill>
            <a:srgbClr val="F2DCDB"/>
          </a:solidFill>
        </p:spPr>
        <p:txBody>
          <a:bodyPr wrap="square" lIns="0" tIns="0" rIns="0" bIns="0" rtlCol="0"/>
          <a:lstStyle/>
          <a:p>
            <a:endParaRPr/>
          </a:p>
        </p:txBody>
      </p:sp>
      <p:sp>
        <p:nvSpPr>
          <p:cNvPr id="5" name="object 5"/>
          <p:cNvSpPr txBox="1"/>
          <p:nvPr/>
        </p:nvSpPr>
        <p:spPr>
          <a:xfrm>
            <a:off x="4936191" y="3857626"/>
            <a:ext cx="685800" cy="241733"/>
          </a:xfrm>
          <a:prstGeom prst="rect">
            <a:avLst/>
          </a:prstGeom>
          <a:ln w="9525">
            <a:solidFill>
              <a:srgbClr val="000000"/>
            </a:solidFill>
          </a:ln>
        </p:spPr>
        <p:txBody>
          <a:bodyPr vert="horz" wrap="square" lIns="0" tIns="41275" rIns="0" bIns="0" rtlCol="0">
            <a:spAutoFit/>
          </a:bodyPr>
          <a:lstStyle/>
          <a:p>
            <a:pPr marL="104775">
              <a:spcBef>
                <a:spcPts val="325"/>
              </a:spcBef>
            </a:pPr>
            <a:r>
              <a:rPr sz="1300" spc="10">
                <a:latin typeface="Calibri"/>
                <a:cs typeface="Calibri"/>
              </a:rPr>
              <a:t>Person</a:t>
            </a:r>
            <a:endParaRPr sz="1300">
              <a:latin typeface="Calibri"/>
              <a:cs typeface="Calibri"/>
            </a:endParaRPr>
          </a:p>
        </p:txBody>
      </p:sp>
      <p:grpSp>
        <p:nvGrpSpPr>
          <p:cNvPr id="6" name="object 6"/>
          <p:cNvGrpSpPr/>
          <p:nvPr/>
        </p:nvGrpSpPr>
        <p:grpSpPr>
          <a:xfrm>
            <a:off x="6002993" y="3810001"/>
            <a:ext cx="1038225" cy="395605"/>
            <a:chOff x="4478992" y="3810000"/>
            <a:chExt cx="1038225" cy="395605"/>
          </a:xfrm>
        </p:grpSpPr>
        <p:sp>
          <p:nvSpPr>
            <p:cNvPr id="7" name="object 7"/>
            <p:cNvSpPr/>
            <p:nvPr/>
          </p:nvSpPr>
          <p:spPr>
            <a:xfrm>
              <a:off x="4483755" y="3814762"/>
              <a:ext cx="1028700" cy="386080"/>
            </a:xfrm>
            <a:custGeom>
              <a:avLst/>
              <a:gdLst/>
              <a:ahLst/>
              <a:cxnLst/>
              <a:rect l="l" t="t" r="r" b="b"/>
              <a:pathLst>
                <a:path w="1028700" h="386079">
                  <a:moveTo>
                    <a:pt x="514350" y="0"/>
                  </a:moveTo>
                  <a:lnTo>
                    <a:pt x="0" y="192881"/>
                  </a:lnTo>
                  <a:lnTo>
                    <a:pt x="514350" y="385762"/>
                  </a:lnTo>
                  <a:lnTo>
                    <a:pt x="1028700" y="192881"/>
                  </a:lnTo>
                  <a:lnTo>
                    <a:pt x="514350" y="0"/>
                  </a:lnTo>
                  <a:close/>
                </a:path>
              </a:pathLst>
            </a:custGeom>
            <a:solidFill>
              <a:srgbClr val="4F81BD"/>
            </a:solidFill>
          </p:spPr>
          <p:txBody>
            <a:bodyPr wrap="square" lIns="0" tIns="0" rIns="0" bIns="0" rtlCol="0"/>
            <a:lstStyle/>
            <a:p>
              <a:endParaRPr/>
            </a:p>
          </p:txBody>
        </p:sp>
        <p:sp>
          <p:nvSpPr>
            <p:cNvPr id="8" name="object 8"/>
            <p:cNvSpPr/>
            <p:nvPr/>
          </p:nvSpPr>
          <p:spPr>
            <a:xfrm>
              <a:off x="4483755" y="3814762"/>
              <a:ext cx="1028700" cy="386080"/>
            </a:xfrm>
            <a:custGeom>
              <a:avLst/>
              <a:gdLst/>
              <a:ahLst/>
              <a:cxnLst/>
              <a:rect l="l" t="t" r="r" b="b"/>
              <a:pathLst>
                <a:path w="1028700" h="386079">
                  <a:moveTo>
                    <a:pt x="0" y="192881"/>
                  </a:moveTo>
                  <a:lnTo>
                    <a:pt x="514350" y="0"/>
                  </a:lnTo>
                  <a:lnTo>
                    <a:pt x="1028700" y="192881"/>
                  </a:lnTo>
                  <a:lnTo>
                    <a:pt x="514350" y="385763"/>
                  </a:lnTo>
                  <a:lnTo>
                    <a:pt x="0" y="192881"/>
                  </a:lnTo>
                  <a:close/>
                </a:path>
              </a:pathLst>
            </a:custGeom>
            <a:ln w="9525">
              <a:solidFill>
                <a:srgbClr val="000000"/>
              </a:solidFill>
            </a:ln>
          </p:spPr>
          <p:txBody>
            <a:bodyPr wrap="square" lIns="0" tIns="0" rIns="0" bIns="0" rtlCol="0"/>
            <a:lstStyle/>
            <a:p>
              <a:endParaRPr/>
            </a:p>
          </p:txBody>
        </p:sp>
      </p:grpSp>
      <p:sp>
        <p:nvSpPr>
          <p:cNvPr id="9" name="object 9"/>
          <p:cNvSpPr txBox="1"/>
          <p:nvPr/>
        </p:nvSpPr>
        <p:spPr>
          <a:xfrm>
            <a:off x="6238737" y="3881966"/>
            <a:ext cx="567055" cy="216726"/>
          </a:xfrm>
          <a:prstGeom prst="rect">
            <a:avLst/>
          </a:prstGeom>
        </p:spPr>
        <p:txBody>
          <a:bodyPr vert="horz" wrap="square" lIns="0" tIns="16510" rIns="0" bIns="0" rtlCol="0">
            <a:spAutoFit/>
          </a:bodyPr>
          <a:lstStyle/>
          <a:p>
            <a:pPr marL="12700">
              <a:spcBef>
                <a:spcPts val="130"/>
              </a:spcBef>
            </a:pPr>
            <a:r>
              <a:rPr sz="1300" spc="25">
                <a:latin typeface="Calibri"/>
                <a:cs typeface="Calibri"/>
              </a:rPr>
              <a:t>Marr</a:t>
            </a:r>
            <a:r>
              <a:rPr sz="1300" spc="10">
                <a:latin typeface="Calibri"/>
                <a:cs typeface="Calibri"/>
              </a:rPr>
              <a:t>i</a:t>
            </a:r>
            <a:r>
              <a:rPr sz="1300" spc="25">
                <a:latin typeface="Calibri"/>
                <a:cs typeface="Calibri"/>
              </a:rPr>
              <a:t>e</a:t>
            </a:r>
            <a:r>
              <a:rPr sz="1300" spc="10">
                <a:latin typeface="Calibri"/>
                <a:cs typeface="Calibri"/>
              </a:rPr>
              <a:t>s</a:t>
            </a:r>
            <a:endParaRPr sz="1300">
              <a:latin typeface="Calibri"/>
              <a:cs typeface="Calibri"/>
            </a:endParaRPr>
          </a:p>
        </p:txBody>
      </p:sp>
      <p:grpSp>
        <p:nvGrpSpPr>
          <p:cNvPr id="10" name="object 10"/>
          <p:cNvGrpSpPr/>
          <p:nvPr/>
        </p:nvGrpSpPr>
        <p:grpSpPr>
          <a:xfrm>
            <a:off x="5156200" y="2641601"/>
            <a:ext cx="1422400" cy="1372235"/>
            <a:chOff x="3632200" y="2641600"/>
            <a:chExt cx="1422400" cy="1372235"/>
          </a:xfrm>
        </p:grpSpPr>
        <p:sp>
          <p:nvSpPr>
            <p:cNvPr id="11" name="object 11"/>
            <p:cNvSpPr/>
            <p:nvPr/>
          </p:nvSpPr>
          <p:spPr>
            <a:xfrm>
              <a:off x="4097991" y="4007643"/>
              <a:ext cx="386080" cy="1270"/>
            </a:xfrm>
            <a:custGeom>
              <a:avLst/>
              <a:gdLst/>
              <a:ahLst/>
              <a:cxnLst/>
              <a:rect l="l" t="t" r="r" b="b"/>
              <a:pathLst>
                <a:path w="386079" h="1270">
                  <a:moveTo>
                    <a:pt x="0" y="0"/>
                  </a:moveTo>
                  <a:lnTo>
                    <a:pt x="385763" y="892"/>
                  </a:lnTo>
                </a:path>
              </a:pathLst>
            </a:custGeom>
            <a:solidFill>
              <a:srgbClr val="C0C0C0">
                <a:alpha val="50199"/>
              </a:srgbClr>
            </a:solidFill>
          </p:spPr>
          <p:txBody>
            <a:bodyPr wrap="square" lIns="0" tIns="0" rIns="0" bIns="0" rtlCol="0"/>
            <a:lstStyle/>
            <a:p>
              <a:endParaRPr/>
            </a:p>
          </p:txBody>
        </p:sp>
        <p:sp>
          <p:nvSpPr>
            <p:cNvPr id="12" name="object 12"/>
            <p:cNvSpPr/>
            <p:nvPr/>
          </p:nvSpPr>
          <p:spPr>
            <a:xfrm>
              <a:off x="4097991" y="4007643"/>
              <a:ext cx="386080" cy="1270"/>
            </a:xfrm>
            <a:custGeom>
              <a:avLst/>
              <a:gdLst/>
              <a:ahLst/>
              <a:cxnLst/>
              <a:rect l="l" t="t" r="r" b="b"/>
              <a:pathLst>
                <a:path w="386079" h="1270">
                  <a:moveTo>
                    <a:pt x="0" y="0"/>
                  </a:moveTo>
                  <a:lnTo>
                    <a:pt x="385763" y="893"/>
                  </a:lnTo>
                </a:path>
              </a:pathLst>
            </a:custGeom>
            <a:ln w="9525">
              <a:solidFill>
                <a:srgbClr val="000000"/>
              </a:solidFill>
            </a:ln>
          </p:spPr>
          <p:txBody>
            <a:bodyPr wrap="square" lIns="0" tIns="0" rIns="0" bIns="0" rtlCol="0"/>
            <a:lstStyle/>
            <a:p>
              <a:endParaRPr/>
            </a:p>
          </p:txBody>
        </p:sp>
        <p:pic>
          <p:nvPicPr>
            <p:cNvPr id="13" name="object 13"/>
            <p:cNvPicPr/>
            <p:nvPr/>
          </p:nvPicPr>
          <p:blipFill>
            <a:blip r:embed="rId2" cstate="print"/>
            <a:stretch>
              <a:fillRect/>
            </a:stretch>
          </p:blipFill>
          <p:spPr>
            <a:xfrm>
              <a:off x="3640667" y="2650066"/>
              <a:ext cx="1413932" cy="1227666"/>
            </a:xfrm>
            <a:prstGeom prst="rect">
              <a:avLst/>
            </a:prstGeom>
          </p:spPr>
        </p:pic>
        <p:sp>
          <p:nvSpPr>
            <p:cNvPr id="14" name="object 14"/>
            <p:cNvSpPr/>
            <p:nvPr/>
          </p:nvSpPr>
          <p:spPr>
            <a:xfrm>
              <a:off x="3687511" y="2683914"/>
              <a:ext cx="1310640" cy="1130935"/>
            </a:xfrm>
            <a:custGeom>
              <a:avLst/>
              <a:gdLst/>
              <a:ahLst/>
              <a:cxnLst/>
              <a:rect l="l" t="t" r="r" b="b"/>
              <a:pathLst>
                <a:path w="1310639" h="1130935">
                  <a:moveTo>
                    <a:pt x="1310594" y="1130849"/>
                  </a:moveTo>
                  <a:lnTo>
                    <a:pt x="1310594" y="0"/>
                  </a:lnTo>
                  <a:lnTo>
                    <a:pt x="0" y="0"/>
                  </a:lnTo>
                </a:path>
              </a:pathLst>
            </a:custGeom>
            <a:ln w="25400">
              <a:solidFill>
                <a:srgbClr val="4F81BD"/>
              </a:solidFill>
            </a:ln>
          </p:spPr>
          <p:txBody>
            <a:bodyPr wrap="square" lIns="0" tIns="0" rIns="0" bIns="0" rtlCol="0"/>
            <a:lstStyle/>
            <a:p>
              <a:endParaRPr/>
            </a:p>
          </p:txBody>
        </p:sp>
        <p:pic>
          <p:nvPicPr>
            <p:cNvPr id="15" name="object 15"/>
            <p:cNvPicPr/>
            <p:nvPr/>
          </p:nvPicPr>
          <p:blipFill>
            <a:blip r:embed="rId3" cstate="print"/>
            <a:stretch>
              <a:fillRect/>
            </a:stretch>
          </p:blipFill>
          <p:spPr>
            <a:xfrm>
              <a:off x="3632200" y="2641600"/>
              <a:ext cx="127000" cy="1295400"/>
            </a:xfrm>
            <a:prstGeom prst="rect">
              <a:avLst/>
            </a:prstGeom>
          </p:spPr>
        </p:pic>
        <p:sp>
          <p:nvSpPr>
            <p:cNvPr id="16" name="object 16"/>
            <p:cNvSpPr/>
            <p:nvPr/>
          </p:nvSpPr>
          <p:spPr>
            <a:xfrm>
              <a:off x="3687510" y="2668330"/>
              <a:ext cx="13335" cy="1189355"/>
            </a:xfrm>
            <a:custGeom>
              <a:avLst/>
              <a:gdLst/>
              <a:ahLst/>
              <a:cxnLst/>
              <a:rect l="l" t="t" r="r" b="b"/>
              <a:pathLst>
                <a:path w="13335" h="1189354">
                  <a:moveTo>
                    <a:pt x="12819" y="0"/>
                  </a:moveTo>
                  <a:lnTo>
                    <a:pt x="0" y="1189295"/>
                  </a:lnTo>
                </a:path>
              </a:pathLst>
            </a:custGeom>
            <a:ln w="25400">
              <a:solidFill>
                <a:srgbClr val="4F81BD"/>
              </a:solidFill>
            </a:ln>
          </p:spPr>
          <p:txBody>
            <a:bodyPr wrap="square" lIns="0" tIns="0" rIns="0" bIns="0" rtlCol="0"/>
            <a:lstStyle/>
            <a:p>
              <a:endParaRPr/>
            </a:p>
          </p:txBody>
        </p:sp>
      </p:grpSp>
      <p:sp>
        <p:nvSpPr>
          <p:cNvPr id="2" name="Slide Number Placeholder 1">
            <a:extLst>
              <a:ext uri="{FF2B5EF4-FFF2-40B4-BE49-F238E27FC236}">
                <a16:creationId xmlns:a16="http://schemas.microsoft.com/office/drawing/2014/main" id="{F52FFCFE-4A71-4D2C-B7C0-95E43B993F05}"/>
              </a:ext>
            </a:extLst>
          </p:cNvPr>
          <p:cNvSpPr>
            <a:spLocks noGrp="1"/>
          </p:cNvSpPr>
          <p:nvPr>
            <p:ph type="sldNum" sz="quarter" idx="12"/>
          </p:nvPr>
        </p:nvSpPr>
        <p:spPr/>
        <p:txBody>
          <a:bodyPr/>
          <a:lstStyle/>
          <a:p>
            <a:fld id="{641C0F02-33DC-3A41-9F51-431B7FE03ABE}" type="slidenum">
              <a:rPr lang="en-US" smtClean="0"/>
              <a:t>26</a:t>
            </a:fld>
            <a:endParaRPr lang="en-US"/>
          </a:p>
        </p:txBody>
      </p:sp>
    </p:spTree>
    <p:extLst>
      <p:ext uri="{BB962C8B-B14F-4D97-AF65-F5344CB8AC3E}">
        <p14:creationId xmlns:p14="http://schemas.microsoft.com/office/powerpoint/2010/main" val="2036671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7510" y="422730"/>
            <a:ext cx="7646670" cy="693780"/>
          </a:xfrm>
          <a:prstGeom prst="rect">
            <a:avLst/>
          </a:prstGeom>
        </p:spPr>
        <p:txBody>
          <a:bodyPr vert="horz" wrap="square" lIns="0" tIns="16510" rIns="0" bIns="0" rtlCol="0" anchor="ctr">
            <a:spAutoFit/>
          </a:bodyPr>
          <a:lstStyle/>
          <a:p>
            <a:pPr marL="12700">
              <a:lnSpc>
                <a:spcPct val="100000"/>
              </a:lnSpc>
              <a:spcBef>
                <a:spcPts val="130"/>
              </a:spcBef>
            </a:pPr>
            <a:r>
              <a:rPr spc="-5"/>
              <a:t>Conceptual</a:t>
            </a:r>
            <a:r>
              <a:rPr spc="-25"/>
              <a:t> </a:t>
            </a:r>
            <a:r>
              <a:rPr spc="-5"/>
              <a:t>Binary</a:t>
            </a:r>
            <a:r>
              <a:rPr spc="-30"/>
              <a:t> </a:t>
            </a:r>
            <a:r>
              <a:rPr spc="-5"/>
              <a:t>Relationship</a:t>
            </a:r>
          </a:p>
        </p:txBody>
      </p:sp>
      <p:sp>
        <p:nvSpPr>
          <p:cNvPr id="4" name="object 4"/>
          <p:cNvSpPr txBox="1"/>
          <p:nvPr/>
        </p:nvSpPr>
        <p:spPr>
          <a:xfrm>
            <a:off x="5117005" y="3857626"/>
            <a:ext cx="685800" cy="287899"/>
          </a:xfrm>
          <a:prstGeom prst="rect">
            <a:avLst/>
          </a:prstGeom>
          <a:solidFill>
            <a:srgbClr val="F2DCDB"/>
          </a:solidFill>
          <a:ln w="9525">
            <a:solidFill>
              <a:srgbClr val="000000"/>
            </a:solidFill>
          </a:ln>
        </p:spPr>
        <p:txBody>
          <a:bodyPr vert="horz" wrap="square" lIns="0" tIns="41275" rIns="0" bIns="0" rtlCol="0">
            <a:spAutoFit/>
          </a:bodyPr>
          <a:lstStyle/>
          <a:p>
            <a:pPr marL="104775">
              <a:spcBef>
                <a:spcPts val="325"/>
              </a:spcBef>
            </a:pPr>
            <a:r>
              <a:rPr sz="1600" spc="10">
                <a:latin typeface="Calibri"/>
                <a:cs typeface="Calibri"/>
              </a:rPr>
              <a:t>Person</a:t>
            </a:r>
            <a:endParaRPr sz="1600">
              <a:latin typeface="Calibri"/>
              <a:cs typeface="Calibri"/>
            </a:endParaRPr>
          </a:p>
        </p:txBody>
      </p:sp>
      <p:sp>
        <p:nvSpPr>
          <p:cNvPr id="5" name="object 5"/>
          <p:cNvSpPr txBox="1"/>
          <p:nvPr/>
        </p:nvSpPr>
        <p:spPr>
          <a:xfrm>
            <a:off x="7581872" y="3874453"/>
            <a:ext cx="1028700" cy="296235"/>
          </a:xfrm>
          <a:prstGeom prst="rect">
            <a:avLst/>
          </a:prstGeom>
          <a:solidFill>
            <a:srgbClr val="F2DCDB"/>
          </a:solidFill>
          <a:ln w="9525">
            <a:solidFill>
              <a:srgbClr val="000000"/>
            </a:solidFill>
          </a:ln>
        </p:spPr>
        <p:txBody>
          <a:bodyPr vert="horz" wrap="square" lIns="0" tIns="49530" rIns="0" bIns="0" rtlCol="0">
            <a:spAutoFit/>
          </a:bodyPr>
          <a:lstStyle/>
          <a:p>
            <a:pPr algn="ctr">
              <a:spcBef>
                <a:spcPts val="390"/>
              </a:spcBef>
            </a:pPr>
            <a:r>
              <a:rPr sz="1600" spc="15">
                <a:latin typeface="Calibri"/>
                <a:cs typeface="Calibri"/>
              </a:rPr>
              <a:t>Car</a:t>
            </a:r>
            <a:endParaRPr sz="1600">
              <a:latin typeface="Calibri"/>
              <a:cs typeface="Calibri"/>
            </a:endParaRPr>
          </a:p>
        </p:txBody>
      </p:sp>
      <p:grpSp>
        <p:nvGrpSpPr>
          <p:cNvPr id="6" name="object 6"/>
          <p:cNvGrpSpPr/>
          <p:nvPr/>
        </p:nvGrpSpPr>
        <p:grpSpPr>
          <a:xfrm>
            <a:off x="6002993" y="3810001"/>
            <a:ext cx="1243196" cy="395605"/>
            <a:chOff x="4478992" y="3810000"/>
            <a:chExt cx="1038225" cy="395605"/>
          </a:xfrm>
        </p:grpSpPr>
        <p:sp>
          <p:nvSpPr>
            <p:cNvPr id="7" name="object 7"/>
            <p:cNvSpPr/>
            <p:nvPr/>
          </p:nvSpPr>
          <p:spPr>
            <a:xfrm>
              <a:off x="4483755" y="3814762"/>
              <a:ext cx="1028700" cy="386080"/>
            </a:xfrm>
            <a:custGeom>
              <a:avLst/>
              <a:gdLst/>
              <a:ahLst/>
              <a:cxnLst/>
              <a:rect l="l" t="t" r="r" b="b"/>
              <a:pathLst>
                <a:path w="1028700" h="386079">
                  <a:moveTo>
                    <a:pt x="514350" y="0"/>
                  </a:moveTo>
                  <a:lnTo>
                    <a:pt x="0" y="192881"/>
                  </a:lnTo>
                  <a:lnTo>
                    <a:pt x="514350" y="385762"/>
                  </a:lnTo>
                  <a:lnTo>
                    <a:pt x="1028700" y="192881"/>
                  </a:lnTo>
                  <a:lnTo>
                    <a:pt x="514350" y="0"/>
                  </a:lnTo>
                  <a:close/>
                </a:path>
              </a:pathLst>
            </a:custGeom>
            <a:solidFill>
              <a:srgbClr val="4F81BD"/>
            </a:solidFill>
          </p:spPr>
          <p:txBody>
            <a:bodyPr wrap="square" lIns="0" tIns="0" rIns="0" bIns="0" rtlCol="0"/>
            <a:lstStyle/>
            <a:p>
              <a:endParaRPr sz="2400"/>
            </a:p>
          </p:txBody>
        </p:sp>
        <p:sp>
          <p:nvSpPr>
            <p:cNvPr id="8" name="object 8"/>
            <p:cNvSpPr/>
            <p:nvPr/>
          </p:nvSpPr>
          <p:spPr>
            <a:xfrm>
              <a:off x="4483755" y="3814762"/>
              <a:ext cx="1028700" cy="386080"/>
            </a:xfrm>
            <a:custGeom>
              <a:avLst/>
              <a:gdLst/>
              <a:ahLst/>
              <a:cxnLst/>
              <a:rect l="l" t="t" r="r" b="b"/>
              <a:pathLst>
                <a:path w="1028700" h="386079">
                  <a:moveTo>
                    <a:pt x="0" y="192881"/>
                  </a:moveTo>
                  <a:lnTo>
                    <a:pt x="514350" y="0"/>
                  </a:lnTo>
                  <a:lnTo>
                    <a:pt x="1028700" y="192881"/>
                  </a:lnTo>
                  <a:lnTo>
                    <a:pt x="514350" y="385763"/>
                  </a:lnTo>
                  <a:lnTo>
                    <a:pt x="0" y="192881"/>
                  </a:lnTo>
                  <a:close/>
                </a:path>
              </a:pathLst>
            </a:custGeom>
            <a:ln w="9525">
              <a:solidFill>
                <a:srgbClr val="000000"/>
              </a:solidFill>
            </a:ln>
          </p:spPr>
          <p:txBody>
            <a:bodyPr wrap="square" lIns="0" tIns="0" rIns="0" bIns="0" rtlCol="0"/>
            <a:lstStyle/>
            <a:p>
              <a:endParaRPr sz="2400"/>
            </a:p>
          </p:txBody>
        </p:sp>
      </p:grpSp>
      <p:sp>
        <p:nvSpPr>
          <p:cNvPr id="9" name="object 9"/>
          <p:cNvSpPr txBox="1"/>
          <p:nvPr/>
        </p:nvSpPr>
        <p:spPr>
          <a:xfrm>
            <a:off x="6312554" y="3881966"/>
            <a:ext cx="542169" cy="262892"/>
          </a:xfrm>
          <a:prstGeom prst="rect">
            <a:avLst/>
          </a:prstGeom>
        </p:spPr>
        <p:txBody>
          <a:bodyPr vert="horz" wrap="square" lIns="0" tIns="16510" rIns="0" bIns="0" rtlCol="0">
            <a:spAutoFit/>
          </a:bodyPr>
          <a:lstStyle/>
          <a:p>
            <a:pPr marL="12700">
              <a:spcBef>
                <a:spcPts val="130"/>
              </a:spcBef>
            </a:pPr>
            <a:r>
              <a:rPr sz="1600" spc="35">
                <a:latin typeface="Calibri"/>
                <a:cs typeface="Calibri"/>
              </a:rPr>
              <a:t>O</a:t>
            </a:r>
            <a:r>
              <a:rPr sz="1600" spc="25">
                <a:latin typeface="Calibri"/>
                <a:cs typeface="Calibri"/>
              </a:rPr>
              <a:t>wn</a:t>
            </a:r>
            <a:r>
              <a:rPr sz="1600" spc="10">
                <a:latin typeface="Calibri"/>
                <a:cs typeface="Calibri"/>
              </a:rPr>
              <a:t>s</a:t>
            </a:r>
            <a:endParaRPr sz="1600">
              <a:latin typeface="Calibri"/>
              <a:cs typeface="Calibri"/>
            </a:endParaRPr>
          </a:p>
        </p:txBody>
      </p:sp>
      <p:grpSp>
        <p:nvGrpSpPr>
          <p:cNvPr id="10" name="object 10"/>
          <p:cNvGrpSpPr/>
          <p:nvPr/>
        </p:nvGrpSpPr>
        <p:grpSpPr>
          <a:xfrm>
            <a:off x="5802054" y="4008913"/>
            <a:ext cx="1809750" cy="19050"/>
            <a:chOff x="4093229" y="4002881"/>
            <a:chExt cx="1809750" cy="19050"/>
          </a:xfrm>
        </p:grpSpPr>
        <p:sp>
          <p:nvSpPr>
            <p:cNvPr id="11" name="object 11"/>
            <p:cNvSpPr/>
            <p:nvPr/>
          </p:nvSpPr>
          <p:spPr>
            <a:xfrm>
              <a:off x="4097991" y="4007643"/>
              <a:ext cx="386080" cy="1270"/>
            </a:xfrm>
            <a:custGeom>
              <a:avLst/>
              <a:gdLst/>
              <a:ahLst/>
              <a:cxnLst/>
              <a:rect l="l" t="t" r="r" b="b"/>
              <a:pathLst>
                <a:path w="386079" h="1270">
                  <a:moveTo>
                    <a:pt x="0" y="0"/>
                  </a:moveTo>
                  <a:lnTo>
                    <a:pt x="385763" y="892"/>
                  </a:lnTo>
                </a:path>
              </a:pathLst>
            </a:custGeom>
            <a:solidFill>
              <a:srgbClr val="C0C0C0">
                <a:alpha val="50199"/>
              </a:srgbClr>
            </a:solidFill>
          </p:spPr>
          <p:txBody>
            <a:bodyPr wrap="square" lIns="0" tIns="0" rIns="0" bIns="0" rtlCol="0"/>
            <a:lstStyle/>
            <a:p>
              <a:endParaRPr sz="2400"/>
            </a:p>
          </p:txBody>
        </p:sp>
        <p:sp>
          <p:nvSpPr>
            <p:cNvPr id="12" name="object 12"/>
            <p:cNvSpPr/>
            <p:nvPr/>
          </p:nvSpPr>
          <p:spPr>
            <a:xfrm>
              <a:off x="4097991" y="4007643"/>
              <a:ext cx="386080" cy="1270"/>
            </a:xfrm>
            <a:custGeom>
              <a:avLst/>
              <a:gdLst/>
              <a:ahLst/>
              <a:cxnLst/>
              <a:rect l="l" t="t" r="r" b="b"/>
              <a:pathLst>
                <a:path w="386079" h="1270">
                  <a:moveTo>
                    <a:pt x="0" y="0"/>
                  </a:moveTo>
                  <a:lnTo>
                    <a:pt x="385763" y="893"/>
                  </a:lnTo>
                </a:path>
              </a:pathLst>
            </a:custGeom>
            <a:ln w="9525">
              <a:solidFill>
                <a:srgbClr val="000000"/>
              </a:solidFill>
            </a:ln>
          </p:spPr>
          <p:txBody>
            <a:bodyPr wrap="square" lIns="0" tIns="0" rIns="0" bIns="0" rtlCol="0"/>
            <a:lstStyle/>
            <a:p>
              <a:endParaRPr sz="2400"/>
            </a:p>
          </p:txBody>
        </p:sp>
        <p:sp>
          <p:nvSpPr>
            <p:cNvPr id="13" name="object 13"/>
            <p:cNvSpPr/>
            <p:nvPr/>
          </p:nvSpPr>
          <p:spPr>
            <a:xfrm>
              <a:off x="5512455" y="4007643"/>
              <a:ext cx="386080" cy="9525"/>
            </a:xfrm>
            <a:custGeom>
              <a:avLst/>
              <a:gdLst/>
              <a:ahLst/>
              <a:cxnLst/>
              <a:rect l="l" t="t" r="r" b="b"/>
              <a:pathLst>
                <a:path w="386079" h="9525">
                  <a:moveTo>
                    <a:pt x="0" y="0"/>
                  </a:moveTo>
                  <a:lnTo>
                    <a:pt x="385762" y="9245"/>
                  </a:lnTo>
                </a:path>
              </a:pathLst>
            </a:custGeom>
            <a:solidFill>
              <a:srgbClr val="C0C0C0">
                <a:alpha val="50199"/>
              </a:srgbClr>
            </a:solidFill>
          </p:spPr>
          <p:txBody>
            <a:bodyPr wrap="square" lIns="0" tIns="0" rIns="0" bIns="0" rtlCol="0"/>
            <a:lstStyle/>
            <a:p>
              <a:endParaRPr sz="2400"/>
            </a:p>
          </p:txBody>
        </p:sp>
        <p:sp>
          <p:nvSpPr>
            <p:cNvPr id="14" name="object 14"/>
            <p:cNvSpPr/>
            <p:nvPr/>
          </p:nvSpPr>
          <p:spPr>
            <a:xfrm>
              <a:off x="5512455" y="4007643"/>
              <a:ext cx="386080" cy="9525"/>
            </a:xfrm>
            <a:custGeom>
              <a:avLst/>
              <a:gdLst/>
              <a:ahLst/>
              <a:cxnLst/>
              <a:rect l="l" t="t" r="r" b="b"/>
              <a:pathLst>
                <a:path w="386079" h="9525">
                  <a:moveTo>
                    <a:pt x="0" y="0"/>
                  </a:moveTo>
                  <a:lnTo>
                    <a:pt x="385763" y="9245"/>
                  </a:lnTo>
                </a:path>
              </a:pathLst>
            </a:custGeom>
            <a:ln w="9525">
              <a:solidFill>
                <a:srgbClr val="000000"/>
              </a:solidFill>
            </a:ln>
          </p:spPr>
          <p:txBody>
            <a:bodyPr wrap="square" lIns="0" tIns="0" rIns="0" bIns="0" rtlCol="0"/>
            <a:lstStyle/>
            <a:p>
              <a:endParaRPr sz="2400"/>
            </a:p>
          </p:txBody>
        </p:sp>
      </p:grpSp>
      <p:sp>
        <p:nvSpPr>
          <p:cNvPr id="2" name="Slide Number Placeholder 1">
            <a:extLst>
              <a:ext uri="{FF2B5EF4-FFF2-40B4-BE49-F238E27FC236}">
                <a16:creationId xmlns:a16="http://schemas.microsoft.com/office/drawing/2014/main" id="{572D60B9-E191-4A40-9DC1-89BFB32E9BFD}"/>
              </a:ext>
            </a:extLst>
          </p:cNvPr>
          <p:cNvSpPr>
            <a:spLocks noGrp="1"/>
          </p:cNvSpPr>
          <p:nvPr>
            <p:ph type="sldNum" sz="quarter" idx="12"/>
          </p:nvPr>
        </p:nvSpPr>
        <p:spPr/>
        <p:txBody>
          <a:bodyPr/>
          <a:lstStyle/>
          <a:p>
            <a:fld id="{641C0F02-33DC-3A41-9F51-431B7FE03ABE}" type="slidenum">
              <a:rPr lang="en-US" smtClean="0"/>
              <a:t>27</a:t>
            </a:fld>
            <a:endParaRPr lang="en-US"/>
          </a:p>
        </p:txBody>
      </p:sp>
    </p:spTree>
    <p:extLst>
      <p:ext uri="{BB962C8B-B14F-4D97-AF65-F5344CB8AC3E}">
        <p14:creationId xmlns:p14="http://schemas.microsoft.com/office/powerpoint/2010/main" val="1751623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04520" y="735297"/>
            <a:ext cx="8107679" cy="693780"/>
          </a:xfrm>
          <a:prstGeom prst="rect">
            <a:avLst/>
          </a:prstGeom>
        </p:spPr>
        <p:txBody>
          <a:bodyPr vert="horz" wrap="square" lIns="0" tIns="16510" rIns="0" bIns="0" rtlCol="0" anchor="ctr">
            <a:spAutoFit/>
          </a:bodyPr>
          <a:lstStyle/>
          <a:p>
            <a:pPr marL="12700">
              <a:lnSpc>
                <a:spcPct val="100000"/>
              </a:lnSpc>
              <a:spcBef>
                <a:spcPts val="130"/>
              </a:spcBef>
            </a:pPr>
            <a:r>
              <a:rPr spc="-5"/>
              <a:t>Conceptual</a:t>
            </a:r>
            <a:r>
              <a:rPr spc="-60"/>
              <a:t> </a:t>
            </a:r>
            <a:r>
              <a:rPr spc="-45"/>
              <a:t>Ternary</a:t>
            </a:r>
            <a:r>
              <a:rPr spc="-25"/>
              <a:t> </a:t>
            </a:r>
            <a:r>
              <a:rPr spc="-5"/>
              <a:t>Relationship</a:t>
            </a:r>
          </a:p>
        </p:txBody>
      </p:sp>
      <p:sp>
        <p:nvSpPr>
          <p:cNvPr id="6" name="object 6"/>
          <p:cNvSpPr txBox="1"/>
          <p:nvPr/>
        </p:nvSpPr>
        <p:spPr>
          <a:xfrm>
            <a:off x="4936191" y="3857626"/>
            <a:ext cx="685800" cy="241733"/>
          </a:xfrm>
          <a:prstGeom prst="rect">
            <a:avLst/>
          </a:prstGeom>
          <a:solidFill>
            <a:srgbClr val="F2DCDB"/>
          </a:solidFill>
          <a:ln w="9525">
            <a:solidFill>
              <a:srgbClr val="000000"/>
            </a:solidFill>
          </a:ln>
        </p:spPr>
        <p:txBody>
          <a:bodyPr vert="horz" wrap="square" lIns="0" tIns="41275" rIns="0" bIns="0" rtlCol="0">
            <a:spAutoFit/>
          </a:bodyPr>
          <a:lstStyle/>
          <a:p>
            <a:pPr marL="95250">
              <a:spcBef>
                <a:spcPts val="325"/>
              </a:spcBef>
            </a:pPr>
            <a:r>
              <a:rPr sz="1300" spc="10">
                <a:latin typeface="Calibri"/>
                <a:cs typeface="Calibri"/>
              </a:rPr>
              <a:t>Patient</a:t>
            </a:r>
            <a:endParaRPr sz="1300">
              <a:latin typeface="Calibri"/>
              <a:cs typeface="Calibri"/>
            </a:endParaRPr>
          </a:p>
        </p:txBody>
      </p:sp>
      <p:sp>
        <p:nvSpPr>
          <p:cNvPr id="7" name="object 7"/>
          <p:cNvSpPr txBox="1"/>
          <p:nvPr/>
        </p:nvSpPr>
        <p:spPr>
          <a:xfrm>
            <a:off x="7458270" y="3848379"/>
            <a:ext cx="923925" cy="250710"/>
          </a:xfrm>
          <a:prstGeom prst="rect">
            <a:avLst/>
          </a:prstGeom>
          <a:solidFill>
            <a:srgbClr val="F2DCDB"/>
          </a:solidFill>
          <a:ln w="9525">
            <a:solidFill>
              <a:srgbClr val="000000"/>
            </a:solidFill>
          </a:ln>
        </p:spPr>
        <p:txBody>
          <a:bodyPr vert="horz" wrap="square" lIns="0" tIns="50165" rIns="0" bIns="0" rtlCol="0">
            <a:spAutoFit/>
          </a:bodyPr>
          <a:lstStyle/>
          <a:p>
            <a:pPr marL="293370">
              <a:spcBef>
                <a:spcPts val="395"/>
              </a:spcBef>
            </a:pPr>
            <a:r>
              <a:rPr sz="1300" spc="20">
                <a:latin typeface="Calibri"/>
                <a:cs typeface="Calibri"/>
              </a:rPr>
              <a:t>Drug</a:t>
            </a:r>
            <a:endParaRPr sz="1300">
              <a:latin typeface="Calibri"/>
              <a:cs typeface="Calibri"/>
            </a:endParaRPr>
          </a:p>
        </p:txBody>
      </p:sp>
      <p:grpSp>
        <p:nvGrpSpPr>
          <p:cNvPr id="8" name="object 8"/>
          <p:cNvGrpSpPr/>
          <p:nvPr/>
        </p:nvGrpSpPr>
        <p:grpSpPr>
          <a:xfrm>
            <a:off x="6002993" y="3810001"/>
            <a:ext cx="1038225" cy="395605"/>
            <a:chOff x="4478992" y="3810000"/>
            <a:chExt cx="1038225" cy="395605"/>
          </a:xfrm>
        </p:grpSpPr>
        <p:sp>
          <p:nvSpPr>
            <p:cNvPr id="9" name="object 9"/>
            <p:cNvSpPr/>
            <p:nvPr/>
          </p:nvSpPr>
          <p:spPr>
            <a:xfrm>
              <a:off x="4483755" y="3814762"/>
              <a:ext cx="1028700" cy="386080"/>
            </a:xfrm>
            <a:custGeom>
              <a:avLst/>
              <a:gdLst/>
              <a:ahLst/>
              <a:cxnLst/>
              <a:rect l="l" t="t" r="r" b="b"/>
              <a:pathLst>
                <a:path w="1028700" h="386079">
                  <a:moveTo>
                    <a:pt x="514350" y="0"/>
                  </a:moveTo>
                  <a:lnTo>
                    <a:pt x="0" y="192881"/>
                  </a:lnTo>
                  <a:lnTo>
                    <a:pt x="514350" y="385762"/>
                  </a:lnTo>
                  <a:lnTo>
                    <a:pt x="1028700" y="192881"/>
                  </a:lnTo>
                  <a:lnTo>
                    <a:pt x="514350" y="0"/>
                  </a:lnTo>
                  <a:close/>
                </a:path>
              </a:pathLst>
            </a:custGeom>
            <a:solidFill>
              <a:srgbClr val="4F81BD"/>
            </a:solidFill>
          </p:spPr>
          <p:txBody>
            <a:bodyPr wrap="square" lIns="0" tIns="0" rIns="0" bIns="0" rtlCol="0"/>
            <a:lstStyle/>
            <a:p>
              <a:endParaRPr/>
            </a:p>
          </p:txBody>
        </p:sp>
        <p:sp>
          <p:nvSpPr>
            <p:cNvPr id="10" name="object 10"/>
            <p:cNvSpPr/>
            <p:nvPr/>
          </p:nvSpPr>
          <p:spPr>
            <a:xfrm>
              <a:off x="4483755" y="3814762"/>
              <a:ext cx="1028700" cy="386080"/>
            </a:xfrm>
            <a:custGeom>
              <a:avLst/>
              <a:gdLst/>
              <a:ahLst/>
              <a:cxnLst/>
              <a:rect l="l" t="t" r="r" b="b"/>
              <a:pathLst>
                <a:path w="1028700" h="386079">
                  <a:moveTo>
                    <a:pt x="0" y="192881"/>
                  </a:moveTo>
                  <a:lnTo>
                    <a:pt x="514350" y="0"/>
                  </a:lnTo>
                  <a:lnTo>
                    <a:pt x="1028700" y="192881"/>
                  </a:lnTo>
                  <a:lnTo>
                    <a:pt x="514350" y="385763"/>
                  </a:lnTo>
                  <a:lnTo>
                    <a:pt x="0" y="192881"/>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6089448" y="3881966"/>
            <a:ext cx="863600" cy="216726"/>
          </a:xfrm>
          <a:prstGeom prst="rect">
            <a:avLst/>
          </a:prstGeom>
        </p:spPr>
        <p:txBody>
          <a:bodyPr vert="horz" wrap="square" lIns="0" tIns="16510" rIns="0" bIns="0" rtlCol="0">
            <a:spAutoFit/>
          </a:bodyPr>
          <a:lstStyle/>
          <a:p>
            <a:pPr marL="12700">
              <a:spcBef>
                <a:spcPts val="130"/>
              </a:spcBef>
            </a:pPr>
            <a:r>
              <a:rPr sz="1300" spc="15">
                <a:latin typeface="Calibri"/>
                <a:cs typeface="Calibri"/>
              </a:rPr>
              <a:t>Prescription</a:t>
            </a:r>
            <a:endParaRPr sz="1300">
              <a:latin typeface="Calibri"/>
              <a:cs typeface="Calibri"/>
            </a:endParaRPr>
          </a:p>
        </p:txBody>
      </p:sp>
      <p:grpSp>
        <p:nvGrpSpPr>
          <p:cNvPr id="12" name="object 12"/>
          <p:cNvGrpSpPr/>
          <p:nvPr/>
        </p:nvGrpSpPr>
        <p:grpSpPr>
          <a:xfrm>
            <a:off x="5617230" y="2630024"/>
            <a:ext cx="1845945" cy="1383665"/>
            <a:chOff x="4093229" y="2630023"/>
            <a:chExt cx="1845945" cy="1383665"/>
          </a:xfrm>
        </p:grpSpPr>
        <p:sp>
          <p:nvSpPr>
            <p:cNvPr id="13" name="object 13"/>
            <p:cNvSpPr/>
            <p:nvPr/>
          </p:nvSpPr>
          <p:spPr>
            <a:xfrm>
              <a:off x="4097991" y="4007643"/>
              <a:ext cx="386080" cy="1270"/>
            </a:xfrm>
            <a:custGeom>
              <a:avLst/>
              <a:gdLst/>
              <a:ahLst/>
              <a:cxnLst/>
              <a:rect l="l" t="t" r="r" b="b"/>
              <a:pathLst>
                <a:path w="386079" h="1270">
                  <a:moveTo>
                    <a:pt x="0" y="0"/>
                  </a:moveTo>
                  <a:lnTo>
                    <a:pt x="385763" y="892"/>
                  </a:lnTo>
                </a:path>
              </a:pathLst>
            </a:custGeom>
            <a:solidFill>
              <a:srgbClr val="C0C0C0">
                <a:alpha val="50199"/>
              </a:srgbClr>
            </a:solidFill>
          </p:spPr>
          <p:txBody>
            <a:bodyPr wrap="square" lIns="0" tIns="0" rIns="0" bIns="0" rtlCol="0"/>
            <a:lstStyle/>
            <a:p>
              <a:endParaRPr/>
            </a:p>
          </p:txBody>
        </p:sp>
        <p:sp>
          <p:nvSpPr>
            <p:cNvPr id="14" name="object 14"/>
            <p:cNvSpPr/>
            <p:nvPr/>
          </p:nvSpPr>
          <p:spPr>
            <a:xfrm>
              <a:off x="4097991" y="4007643"/>
              <a:ext cx="386080" cy="1270"/>
            </a:xfrm>
            <a:custGeom>
              <a:avLst/>
              <a:gdLst/>
              <a:ahLst/>
              <a:cxnLst/>
              <a:rect l="l" t="t" r="r" b="b"/>
              <a:pathLst>
                <a:path w="386079" h="1270">
                  <a:moveTo>
                    <a:pt x="0" y="0"/>
                  </a:moveTo>
                  <a:lnTo>
                    <a:pt x="385763" y="893"/>
                  </a:lnTo>
                </a:path>
              </a:pathLst>
            </a:custGeom>
            <a:ln w="9525">
              <a:solidFill>
                <a:srgbClr val="000000"/>
              </a:solidFill>
            </a:ln>
          </p:spPr>
          <p:txBody>
            <a:bodyPr wrap="square" lIns="0" tIns="0" rIns="0" bIns="0" rtlCol="0"/>
            <a:lstStyle/>
            <a:p>
              <a:endParaRPr/>
            </a:p>
          </p:txBody>
        </p:sp>
        <p:sp>
          <p:nvSpPr>
            <p:cNvPr id="15" name="object 15"/>
            <p:cNvSpPr/>
            <p:nvPr/>
          </p:nvSpPr>
          <p:spPr>
            <a:xfrm>
              <a:off x="5512455" y="4007643"/>
              <a:ext cx="422275" cy="0"/>
            </a:xfrm>
            <a:custGeom>
              <a:avLst/>
              <a:gdLst/>
              <a:ahLst/>
              <a:cxnLst/>
              <a:rect l="l" t="t" r="r" b="b"/>
              <a:pathLst>
                <a:path w="422275">
                  <a:moveTo>
                    <a:pt x="421815" y="1"/>
                  </a:moveTo>
                  <a:lnTo>
                    <a:pt x="0" y="0"/>
                  </a:lnTo>
                </a:path>
              </a:pathLst>
            </a:custGeom>
            <a:solidFill>
              <a:srgbClr val="C0C0C0">
                <a:alpha val="50199"/>
              </a:srgbClr>
            </a:solidFill>
          </p:spPr>
          <p:txBody>
            <a:bodyPr wrap="square" lIns="0" tIns="0" rIns="0" bIns="0" rtlCol="0"/>
            <a:lstStyle/>
            <a:p>
              <a:endParaRPr/>
            </a:p>
          </p:txBody>
        </p:sp>
        <p:sp>
          <p:nvSpPr>
            <p:cNvPr id="16" name="object 16"/>
            <p:cNvSpPr/>
            <p:nvPr/>
          </p:nvSpPr>
          <p:spPr>
            <a:xfrm>
              <a:off x="5512455" y="4007643"/>
              <a:ext cx="422275" cy="0"/>
            </a:xfrm>
            <a:custGeom>
              <a:avLst/>
              <a:gdLst/>
              <a:ahLst/>
              <a:cxnLst/>
              <a:rect l="l" t="t" r="r" b="b"/>
              <a:pathLst>
                <a:path w="422275">
                  <a:moveTo>
                    <a:pt x="0" y="0"/>
                  </a:moveTo>
                  <a:lnTo>
                    <a:pt x="421815" y="1"/>
                  </a:lnTo>
                </a:path>
              </a:pathLst>
            </a:custGeom>
            <a:ln w="9525">
              <a:solidFill>
                <a:srgbClr val="000000"/>
              </a:solidFill>
            </a:ln>
          </p:spPr>
          <p:txBody>
            <a:bodyPr wrap="square" lIns="0" tIns="0" rIns="0" bIns="0" rtlCol="0"/>
            <a:lstStyle/>
            <a:p>
              <a:endParaRPr/>
            </a:p>
          </p:txBody>
        </p:sp>
        <p:sp>
          <p:nvSpPr>
            <p:cNvPr id="17" name="object 17"/>
            <p:cNvSpPr/>
            <p:nvPr/>
          </p:nvSpPr>
          <p:spPr>
            <a:xfrm>
              <a:off x="4517011" y="2634785"/>
              <a:ext cx="923925" cy="318770"/>
            </a:xfrm>
            <a:custGeom>
              <a:avLst/>
              <a:gdLst/>
              <a:ahLst/>
              <a:cxnLst/>
              <a:rect l="l" t="t" r="r" b="b"/>
              <a:pathLst>
                <a:path w="923925" h="318769">
                  <a:moveTo>
                    <a:pt x="923730" y="0"/>
                  </a:moveTo>
                  <a:lnTo>
                    <a:pt x="0" y="0"/>
                  </a:lnTo>
                  <a:lnTo>
                    <a:pt x="0" y="318527"/>
                  </a:lnTo>
                  <a:lnTo>
                    <a:pt x="923730" y="318527"/>
                  </a:lnTo>
                  <a:lnTo>
                    <a:pt x="923730" y="0"/>
                  </a:lnTo>
                  <a:close/>
                </a:path>
              </a:pathLst>
            </a:custGeom>
            <a:solidFill>
              <a:srgbClr val="F2DCDB"/>
            </a:solidFill>
          </p:spPr>
          <p:txBody>
            <a:bodyPr wrap="square" lIns="0" tIns="0" rIns="0" bIns="0" rtlCol="0"/>
            <a:lstStyle/>
            <a:p>
              <a:endParaRPr/>
            </a:p>
          </p:txBody>
        </p:sp>
        <p:sp>
          <p:nvSpPr>
            <p:cNvPr id="18" name="object 18"/>
            <p:cNvSpPr/>
            <p:nvPr/>
          </p:nvSpPr>
          <p:spPr>
            <a:xfrm>
              <a:off x="4517011" y="2634786"/>
              <a:ext cx="923925" cy="318770"/>
            </a:xfrm>
            <a:custGeom>
              <a:avLst/>
              <a:gdLst/>
              <a:ahLst/>
              <a:cxnLst/>
              <a:rect l="l" t="t" r="r" b="b"/>
              <a:pathLst>
                <a:path w="923925" h="318769">
                  <a:moveTo>
                    <a:pt x="0" y="0"/>
                  </a:moveTo>
                  <a:lnTo>
                    <a:pt x="923731" y="0"/>
                  </a:lnTo>
                  <a:lnTo>
                    <a:pt x="923731" y="318528"/>
                  </a:lnTo>
                  <a:lnTo>
                    <a:pt x="0" y="318528"/>
                  </a:lnTo>
                  <a:lnTo>
                    <a:pt x="0" y="0"/>
                  </a:lnTo>
                  <a:close/>
                </a:path>
              </a:pathLst>
            </a:custGeom>
            <a:ln w="9525">
              <a:solidFill>
                <a:srgbClr val="000000"/>
              </a:solidFill>
            </a:ln>
          </p:spPr>
          <p:txBody>
            <a:bodyPr wrap="square" lIns="0" tIns="0" rIns="0" bIns="0" rtlCol="0"/>
            <a:lstStyle/>
            <a:p>
              <a:endParaRPr/>
            </a:p>
          </p:txBody>
        </p:sp>
      </p:grpSp>
      <p:sp>
        <p:nvSpPr>
          <p:cNvPr id="19" name="object 19"/>
          <p:cNvSpPr txBox="1"/>
          <p:nvPr/>
        </p:nvSpPr>
        <p:spPr>
          <a:xfrm>
            <a:off x="6045773" y="2671233"/>
            <a:ext cx="914400" cy="216726"/>
          </a:xfrm>
          <a:prstGeom prst="rect">
            <a:avLst/>
          </a:prstGeom>
        </p:spPr>
        <p:txBody>
          <a:bodyPr vert="horz" wrap="square" lIns="0" tIns="16510" rIns="0" bIns="0" rtlCol="0">
            <a:spAutoFit/>
          </a:bodyPr>
          <a:lstStyle/>
          <a:p>
            <a:pPr marL="219710">
              <a:spcBef>
                <a:spcPts val="130"/>
              </a:spcBef>
            </a:pPr>
            <a:r>
              <a:rPr sz="1300" spc="15">
                <a:latin typeface="Calibri"/>
                <a:cs typeface="Calibri"/>
              </a:rPr>
              <a:t>Doctor</a:t>
            </a:r>
            <a:endParaRPr sz="1300">
              <a:latin typeface="Calibri"/>
              <a:cs typeface="Calibri"/>
            </a:endParaRPr>
          </a:p>
        </p:txBody>
      </p:sp>
      <p:grpSp>
        <p:nvGrpSpPr>
          <p:cNvPr id="20" name="object 20"/>
          <p:cNvGrpSpPr/>
          <p:nvPr/>
        </p:nvGrpSpPr>
        <p:grpSpPr>
          <a:xfrm>
            <a:off x="6426200" y="2912533"/>
            <a:ext cx="152400" cy="974090"/>
            <a:chOff x="4902200" y="2912533"/>
            <a:chExt cx="152400" cy="974090"/>
          </a:xfrm>
        </p:grpSpPr>
        <p:pic>
          <p:nvPicPr>
            <p:cNvPr id="21" name="object 21"/>
            <p:cNvPicPr/>
            <p:nvPr/>
          </p:nvPicPr>
          <p:blipFill>
            <a:blip r:embed="rId2" cstate="print"/>
            <a:stretch>
              <a:fillRect/>
            </a:stretch>
          </p:blipFill>
          <p:spPr>
            <a:xfrm>
              <a:off x="4902200" y="2912533"/>
              <a:ext cx="152400" cy="973666"/>
            </a:xfrm>
            <a:prstGeom prst="rect">
              <a:avLst/>
            </a:prstGeom>
          </p:spPr>
        </p:pic>
        <p:sp>
          <p:nvSpPr>
            <p:cNvPr id="22" name="object 22"/>
            <p:cNvSpPr/>
            <p:nvPr/>
          </p:nvSpPr>
          <p:spPr>
            <a:xfrm>
              <a:off x="4959649" y="2946694"/>
              <a:ext cx="38735" cy="875030"/>
            </a:xfrm>
            <a:custGeom>
              <a:avLst/>
              <a:gdLst/>
              <a:ahLst/>
              <a:cxnLst/>
              <a:rect l="l" t="t" r="r" b="b"/>
              <a:pathLst>
                <a:path w="38735" h="875029">
                  <a:moveTo>
                    <a:pt x="0" y="0"/>
                  </a:moveTo>
                  <a:lnTo>
                    <a:pt x="0" y="1399"/>
                  </a:lnTo>
                  <a:lnTo>
                    <a:pt x="38456" y="1399"/>
                  </a:lnTo>
                  <a:lnTo>
                    <a:pt x="38456" y="874475"/>
                  </a:lnTo>
                </a:path>
              </a:pathLst>
            </a:custGeom>
            <a:ln w="25400">
              <a:solidFill>
                <a:srgbClr val="4F81BD"/>
              </a:solidFill>
            </a:ln>
          </p:spPr>
          <p:txBody>
            <a:bodyPr wrap="square" lIns="0" tIns="0" rIns="0" bIns="0" rtlCol="0"/>
            <a:lstStyle/>
            <a:p>
              <a:endParaRPr/>
            </a:p>
          </p:txBody>
        </p:sp>
      </p:grpSp>
      <p:sp>
        <p:nvSpPr>
          <p:cNvPr id="2" name="Slide Number Placeholder 1">
            <a:extLst>
              <a:ext uri="{FF2B5EF4-FFF2-40B4-BE49-F238E27FC236}">
                <a16:creationId xmlns:a16="http://schemas.microsoft.com/office/drawing/2014/main" id="{40EEF056-C4C1-43A3-BA11-6B01BD2BF93D}"/>
              </a:ext>
            </a:extLst>
          </p:cNvPr>
          <p:cNvSpPr>
            <a:spLocks noGrp="1"/>
          </p:cNvSpPr>
          <p:nvPr>
            <p:ph type="sldNum" sz="quarter" idx="12"/>
          </p:nvPr>
        </p:nvSpPr>
        <p:spPr/>
        <p:txBody>
          <a:bodyPr/>
          <a:lstStyle/>
          <a:p>
            <a:fld id="{641C0F02-33DC-3A41-9F51-431B7FE03ABE}" type="slidenum">
              <a:rPr lang="en-US" smtClean="0"/>
              <a:t>28</a:t>
            </a:fld>
            <a:endParaRPr lang="en-US"/>
          </a:p>
        </p:txBody>
      </p:sp>
    </p:spTree>
    <p:extLst>
      <p:ext uri="{BB962C8B-B14F-4D97-AF65-F5344CB8AC3E}">
        <p14:creationId xmlns:p14="http://schemas.microsoft.com/office/powerpoint/2010/main" val="1610039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852715" y="366161"/>
            <a:ext cx="10363200" cy="1143000"/>
          </a:xfrm>
        </p:spPr>
        <p:txBody>
          <a:bodyPr/>
          <a:lstStyle/>
          <a:p>
            <a:pPr eaLnBrk="1" hangingPunct="1"/>
            <a:r>
              <a:rPr lang="en-US"/>
              <a:t>Multiplicity of E/R Relationships</a:t>
            </a:r>
          </a:p>
        </p:txBody>
      </p:sp>
      <p:sp>
        <p:nvSpPr>
          <p:cNvPr id="27650" name="Slide Number Placeholder 5"/>
          <p:cNvSpPr>
            <a:spLocks noGrp="1"/>
          </p:cNvSpPr>
          <p:nvPr>
            <p:ph type="sldNum" sz="quarter" idx="12"/>
          </p:nvPr>
        </p:nvSpPr>
        <p:spPr>
          <a:noFill/>
        </p:spPr>
        <p:txBody>
          <a:bodyPr/>
          <a:lstStyle/>
          <a:p>
            <a:fld id="{7F43C3B6-AC14-5547-A066-F0A178F64C90}" type="slidenum">
              <a:rPr lang="en-US" smtClean="0">
                <a:solidFill>
                  <a:srgbClr val="000000"/>
                </a:solidFill>
              </a:rPr>
              <a:pPr/>
              <a:t>29</a:t>
            </a:fld>
            <a:endParaRPr lang="en-US">
              <a:solidFill>
                <a:srgbClr val="000000"/>
              </a:solidFill>
            </a:endParaRPr>
          </a:p>
        </p:txBody>
      </p:sp>
      <p:sp>
        <p:nvSpPr>
          <p:cNvPr id="35" name="TextBox 34"/>
          <p:cNvSpPr txBox="1"/>
          <p:nvPr/>
        </p:nvSpPr>
        <p:spPr>
          <a:xfrm>
            <a:off x="9024937" y="2018283"/>
            <a:ext cx="2449512" cy="830997"/>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Indicated using arrows</a:t>
            </a:r>
          </a:p>
        </p:txBody>
      </p:sp>
      <p:grpSp>
        <p:nvGrpSpPr>
          <p:cNvPr id="11" name="Group 10"/>
          <p:cNvGrpSpPr/>
          <p:nvPr/>
        </p:nvGrpSpPr>
        <p:grpSpPr>
          <a:xfrm>
            <a:off x="852715" y="1523223"/>
            <a:ext cx="7257822" cy="1008063"/>
            <a:chOff x="852715" y="1523223"/>
            <a:chExt cx="7257822" cy="1008063"/>
          </a:xfrm>
        </p:grpSpPr>
        <p:grpSp>
          <p:nvGrpSpPr>
            <p:cNvPr id="7" name="Group 6"/>
            <p:cNvGrpSpPr/>
            <p:nvPr/>
          </p:nvGrpSpPr>
          <p:grpSpPr>
            <a:xfrm>
              <a:off x="5967412" y="1540783"/>
              <a:ext cx="2143125" cy="755650"/>
              <a:chOff x="5967412" y="1540783"/>
              <a:chExt cx="2143125" cy="755650"/>
            </a:xfrm>
          </p:grpSpPr>
          <p:sp>
            <p:nvSpPr>
              <p:cNvPr id="27653" name="AutoShape 4"/>
              <p:cNvSpPr>
                <a:spLocks noChangeAspect="1" noChangeArrowheads="1"/>
              </p:cNvSpPr>
              <p:nvPr/>
            </p:nvSpPr>
            <p:spPr bwMode="auto">
              <a:xfrm>
                <a:off x="6662737" y="1540783"/>
                <a:ext cx="838200" cy="755650"/>
              </a:xfrm>
              <a:prstGeom prst="diamond">
                <a:avLst/>
              </a:prstGeom>
              <a:solidFill>
                <a:schemeClr val="folHlink"/>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endParaRPr lang="en-US" sz="2400">
                  <a:solidFill>
                    <a:srgbClr val="000000"/>
                  </a:solidFill>
                </a:endParaRPr>
              </a:p>
            </p:txBody>
          </p:sp>
          <p:sp>
            <p:nvSpPr>
              <p:cNvPr id="27656" name="Line 7"/>
              <p:cNvSpPr>
                <a:spLocks noChangeShapeType="1"/>
              </p:cNvSpPr>
              <p:nvPr/>
            </p:nvSpPr>
            <p:spPr bwMode="auto">
              <a:xfrm flipH="1">
                <a:off x="5967412" y="1921783"/>
                <a:ext cx="685800" cy="0"/>
              </a:xfrm>
              <a:prstGeom prst="line">
                <a:avLst/>
              </a:prstGeom>
              <a:noFill/>
              <a:ln w="12700">
                <a:solidFill>
                  <a:schemeClr val="tx1"/>
                </a:solidFill>
                <a:round/>
                <a:headEnd type="triangl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57" name="Line 8"/>
              <p:cNvSpPr>
                <a:spLocks noChangeShapeType="1"/>
              </p:cNvSpPr>
              <p:nvPr/>
            </p:nvSpPr>
            <p:spPr bwMode="auto">
              <a:xfrm>
                <a:off x="7500937" y="1921783"/>
                <a:ext cx="609600" cy="0"/>
              </a:xfrm>
              <a:prstGeom prst="line">
                <a:avLst/>
              </a:prstGeom>
              <a:noFill/>
              <a:ln w="9525">
                <a:solidFill>
                  <a:schemeClr val="tx1"/>
                </a:solidFill>
                <a:round/>
                <a:headEnd type="triangl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3" name="Group 2"/>
            <p:cNvGrpSpPr/>
            <p:nvPr/>
          </p:nvGrpSpPr>
          <p:grpSpPr>
            <a:xfrm>
              <a:off x="4017962" y="1523223"/>
              <a:ext cx="1143000" cy="1008063"/>
              <a:chOff x="4017962" y="1523223"/>
              <a:chExt cx="1143000" cy="1008063"/>
            </a:xfrm>
          </p:grpSpPr>
          <p:grpSp>
            <p:nvGrpSpPr>
              <p:cNvPr id="27662" name="Group 13"/>
              <p:cNvGrpSpPr>
                <a:grpSpLocks/>
              </p:cNvGrpSpPr>
              <p:nvPr/>
            </p:nvGrpSpPr>
            <p:grpSpPr bwMode="auto">
              <a:xfrm>
                <a:off x="4017962" y="1523223"/>
                <a:ext cx="1143000" cy="1008063"/>
                <a:chOff x="1536" y="1498"/>
                <a:chExt cx="720" cy="635"/>
              </a:xfrm>
            </p:grpSpPr>
            <p:sp>
              <p:nvSpPr>
                <p:cNvPr id="27681" name="Oval 14"/>
                <p:cNvSpPr>
                  <a:spLocks noChangeAspect="1" noChangeArrowheads="1"/>
                </p:cNvSpPr>
                <p:nvPr/>
              </p:nvSpPr>
              <p:spPr bwMode="auto">
                <a:xfrm>
                  <a:off x="1536" y="1498"/>
                  <a:ext cx="254" cy="508"/>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1</a:t>
                  </a:r>
                </a:p>
                <a:p>
                  <a:pPr algn="ctr" eaLnBrk="0" fontAlgn="base" hangingPunct="0">
                    <a:spcBef>
                      <a:spcPct val="0"/>
                    </a:spcBef>
                    <a:spcAft>
                      <a:spcPct val="0"/>
                    </a:spcAft>
                  </a:pPr>
                  <a:r>
                    <a:rPr lang="en-US" sz="1400">
                      <a:solidFill>
                        <a:srgbClr val="000000"/>
                      </a:solidFill>
                    </a:rPr>
                    <a:t>2</a:t>
                  </a:r>
                </a:p>
                <a:p>
                  <a:pPr algn="ctr" eaLnBrk="0" fontAlgn="base" hangingPunct="0">
                    <a:spcBef>
                      <a:spcPct val="0"/>
                    </a:spcBef>
                    <a:spcAft>
                      <a:spcPct val="0"/>
                    </a:spcAft>
                  </a:pPr>
                  <a:r>
                    <a:rPr lang="en-US" sz="1400">
                      <a:solidFill>
                        <a:srgbClr val="000000"/>
                      </a:solidFill>
                    </a:rPr>
                    <a:t>3</a:t>
                  </a:r>
                </a:p>
              </p:txBody>
            </p:sp>
            <p:sp>
              <p:nvSpPr>
                <p:cNvPr id="27682" name="Oval 15"/>
                <p:cNvSpPr>
                  <a:spLocks noChangeAspect="1" noChangeArrowheads="1"/>
                </p:cNvSpPr>
                <p:nvPr/>
              </p:nvSpPr>
              <p:spPr bwMode="auto">
                <a:xfrm>
                  <a:off x="2002" y="1498"/>
                  <a:ext cx="254" cy="635"/>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a</a:t>
                  </a:r>
                </a:p>
                <a:p>
                  <a:pPr algn="ctr" eaLnBrk="0" fontAlgn="base" hangingPunct="0">
                    <a:spcBef>
                      <a:spcPct val="0"/>
                    </a:spcBef>
                    <a:spcAft>
                      <a:spcPct val="0"/>
                    </a:spcAft>
                  </a:pPr>
                  <a:r>
                    <a:rPr lang="en-US" sz="1400">
                      <a:solidFill>
                        <a:srgbClr val="000000"/>
                      </a:solidFill>
                    </a:rPr>
                    <a:t>b</a:t>
                  </a:r>
                </a:p>
                <a:p>
                  <a:pPr algn="ctr" eaLnBrk="0" fontAlgn="base" hangingPunct="0">
                    <a:spcBef>
                      <a:spcPct val="0"/>
                    </a:spcBef>
                    <a:spcAft>
                      <a:spcPct val="0"/>
                    </a:spcAft>
                  </a:pPr>
                  <a:r>
                    <a:rPr lang="en-US" sz="1400">
                      <a:solidFill>
                        <a:srgbClr val="000000"/>
                      </a:solidFill>
                    </a:rPr>
                    <a:t>c</a:t>
                  </a:r>
                </a:p>
                <a:p>
                  <a:pPr algn="ctr" eaLnBrk="0" fontAlgn="base" hangingPunct="0">
                    <a:spcBef>
                      <a:spcPct val="0"/>
                    </a:spcBef>
                    <a:spcAft>
                      <a:spcPct val="0"/>
                    </a:spcAft>
                  </a:pPr>
                  <a:r>
                    <a:rPr lang="en-US" sz="1400">
                      <a:solidFill>
                        <a:srgbClr val="000000"/>
                      </a:solidFill>
                    </a:rPr>
                    <a:t>d</a:t>
                  </a:r>
                </a:p>
              </p:txBody>
            </p:sp>
          </p:grpSp>
          <p:sp>
            <p:nvSpPr>
              <p:cNvPr id="27663" name="Line 16"/>
              <p:cNvSpPr>
                <a:spLocks noChangeShapeType="1"/>
              </p:cNvSpPr>
              <p:nvPr/>
            </p:nvSpPr>
            <p:spPr bwMode="auto">
              <a:xfrm>
                <a:off x="4322762" y="1739917"/>
                <a:ext cx="533400" cy="381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64" name="Line 17"/>
              <p:cNvSpPr>
                <a:spLocks noChangeShapeType="1"/>
              </p:cNvSpPr>
              <p:nvPr/>
            </p:nvSpPr>
            <p:spPr bwMode="auto">
              <a:xfrm flipV="1">
                <a:off x="4322762" y="1739917"/>
                <a:ext cx="533400" cy="1524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65" name="Line 18"/>
              <p:cNvSpPr>
                <a:spLocks noChangeShapeType="1"/>
              </p:cNvSpPr>
              <p:nvPr/>
            </p:nvSpPr>
            <p:spPr bwMode="auto">
              <a:xfrm>
                <a:off x="4322762" y="2120917"/>
                <a:ext cx="5334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2" name="Rectangle 1"/>
            <p:cNvSpPr/>
            <p:nvPr/>
          </p:nvSpPr>
          <p:spPr>
            <a:xfrm>
              <a:off x="852715" y="1641491"/>
              <a:ext cx="1954381" cy="523220"/>
            </a:xfrm>
            <a:prstGeom prst="rect">
              <a:avLst/>
            </a:prstGeom>
          </p:spPr>
          <p:txBody>
            <a:bodyPr wrap="none">
              <a:spAutoFit/>
            </a:bodyPr>
            <a:lstStyle/>
            <a:p>
              <a:r>
                <a:rPr lang="en-US" sz="2800">
                  <a:latin typeface="+mj-lt"/>
                </a:rPr>
                <a:t>One-to-one:</a:t>
              </a:r>
            </a:p>
          </p:txBody>
        </p:sp>
      </p:grpSp>
      <p:grpSp>
        <p:nvGrpSpPr>
          <p:cNvPr id="12" name="Group 11"/>
          <p:cNvGrpSpPr/>
          <p:nvPr/>
        </p:nvGrpSpPr>
        <p:grpSpPr>
          <a:xfrm>
            <a:off x="852715" y="2717640"/>
            <a:ext cx="7334022" cy="1008063"/>
            <a:chOff x="852715" y="2717640"/>
            <a:chExt cx="7334022" cy="1008063"/>
          </a:xfrm>
        </p:grpSpPr>
        <p:grpSp>
          <p:nvGrpSpPr>
            <p:cNvPr id="8" name="Group 7"/>
            <p:cNvGrpSpPr/>
            <p:nvPr/>
          </p:nvGrpSpPr>
          <p:grpSpPr>
            <a:xfrm>
              <a:off x="6053137" y="2800189"/>
              <a:ext cx="2133600" cy="755650"/>
              <a:chOff x="6053137" y="2800189"/>
              <a:chExt cx="2133600" cy="755650"/>
            </a:xfrm>
          </p:grpSpPr>
          <p:sp>
            <p:nvSpPr>
              <p:cNvPr id="27654" name="AutoShape 5"/>
              <p:cNvSpPr>
                <a:spLocks noChangeAspect="1" noChangeArrowheads="1"/>
              </p:cNvSpPr>
              <p:nvPr/>
            </p:nvSpPr>
            <p:spPr bwMode="auto">
              <a:xfrm>
                <a:off x="6662737" y="2800189"/>
                <a:ext cx="838200" cy="755650"/>
              </a:xfrm>
              <a:prstGeom prst="diamond">
                <a:avLst/>
              </a:prstGeom>
              <a:solidFill>
                <a:schemeClr val="folHlink"/>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endParaRPr lang="en-US" sz="2400">
                  <a:solidFill>
                    <a:srgbClr val="000000"/>
                  </a:solidFill>
                </a:endParaRPr>
              </a:p>
            </p:txBody>
          </p:sp>
          <p:sp>
            <p:nvSpPr>
              <p:cNvPr id="27658" name="Line 9"/>
              <p:cNvSpPr>
                <a:spLocks noChangeShapeType="1"/>
              </p:cNvSpPr>
              <p:nvPr/>
            </p:nvSpPr>
            <p:spPr bwMode="auto">
              <a:xfrm>
                <a:off x="7500937" y="3181189"/>
                <a:ext cx="685800" cy="0"/>
              </a:xfrm>
              <a:prstGeom prst="line">
                <a:avLst/>
              </a:prstGeom>
              <a:noFill/>
              <a:ln w="9525">
                <a:solidFill>
                  <a:schemeClr val="tx1"/>
                </a:solidFill>
                <a:round/>
                <a:headEnd type="non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59" name="Line 10"/>
              <p:cNvSpPr>
                <a:spLocks noChangeShapeType="1"/>
              </p:cNvSpPr>
              <p:nvPr/>
            </p:nvSpPr>
            <p:spPr bwMode="auto">
              <a:xfrm flipH="1">
                <a:off x="6053137" y="3181189"/>
                <a:ext cx="609600" cy="0"/>
              </a:xfrm>
              <a:prstGeom prst="line">
                <a:avLst/>
              </a:prstGeom>
              <a:noFill/>
              <a:ln w="9525">
                <a:solidFill>
                  <a:schemeClr val="tx1"/>
                </a:solidFill>
                <a:round/>
                <a:headEnd type="triangle" w="lg" len="lg"/>
                <a:tailEnd type="none" w="lg"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4" name="Group 3"/>
            <p:cNvGrpSpPr/>
            <p:nvPr/>
          </p:nvGrpSpPr>
          <p:grpSpPr>
            <a:xfrm>
              <a:off x="4017962" y="2717640"/>
              <a:ext cx="1143000" cy="1008063"/>
              <a:chOff x="4017962" y="2717640"/>
              <a:chExt cx="1143000" cy="1008063"/>
            </a:xfrm>
          </p:grpSpPr>
          <p:grpSp>
            <p:nvGrpSpPr>
              <p:cNvPr id="27666" name="Group 19"/>
              <p:cNvGrpSpPr>
                <a:grpSpLocks/>
              </p:cNvGrpSpPr>
              <p:nvPr/>
            </p:nvGrpSpPr>
            <p:grpSpPr bwMode="auto">
              <a:xfrm>
                <a:off x="4017962" y="2717640"/>
                <a:ext cx="1143000" cy="1008063"/>
                <a:chOff x="1536" y="1498"/>
                <a:chExt cx="720" cy="635"/>
              </a:xfrm>
            </p:grpSpPr>
            <p:sp>
              <p:nvSpPr>
                <p:cNvPr id="27679" name="Oval 20"/>
                <p:cNvSpPr>
                  <a:spLocks noChangeAspect="1" noChangeArrowheads="1"/>
                </p:cNvSpPr>
                <p:nvPr/>
              </p:nvSpPr>
              <p:spPr bwMode="auto">
                <a:xfrm>
                  <a:off x="1536" y="1498"/>
                  <a:ext cx="254" cy="508"/>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1</a:t>
                  </a:r>
                </a:p>
                <a:p>
                  <a:pPr algn="ctr" eaLnBrk="0" fontAlgn="base" hangingPunct="0">
                    <a:spcBef>
                      <a:spcPct val="0"/>
                    </a:spcBef>
                    <a:spcAft>
                      <a:spcPct val="0"/>
                    </a:spcAft>
                  </a:pPr>
                  <a:r>
                    <a:rPr lang="en-US" sz="1400">
                      <a:solidFill>
                        <a:srgbClr val="000000"/>
                      </a:solidFill>
                    </a:rPr>
                    <a:t>2</a:t>
                  </a:r>
                </a:p>
                <a:p>
                  <a:pPr algn="ctr" eaLnBrk="0" fontAlgn="base" hangingPunct="0">
                    <a:spcBef>
                      <a:spcPct val="0"/>
                    </a:spcBef>
                    <a:spcAft>
                      <a:spcPct val="0"/>
                    </a:spcAft>
                  </a:pPr>
                  <a:r>
                    <a:rPr lang="en-US" sz="1400">
                      <a:solidFill>
                        <a:srgbClr val="000000"/>
                      </a:solidFill>
                    </a:rPr>
                    <a:t>3</a:t>
                  </a:r>
                </a:p>
              </p:txBody>
            </p:sp>
            <p:sp>
              <p:nvSpPr>
                <p:cNvPr id="27680" name="Oval 21"/>
                <p:cNvSpPr>
                  <a:spLocks noChangeAspect="1" noChangeArrowheads="1"/>
                </p:cNvSpPr>
                <p:nvPr/>
              </p:nvSpPr>
              <p:spPr bwMode="auto">
                <a:xfrm>
                  <a:off x="2002" y="1498"/>
                  <a:ext cx="254" cy="635"/>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a</a:t>
                  </a:r>
                </a:p>
                <a:p>
                  <a:pPr algn="ctr" eaLnBrk="0" fontAlgn="base" hangingPunct="0">
                    <a:spcBef>
                      <a:spcPct val="0"/>
                    </a:spcBef>
                    <a:spcAft>
                      <a:spcPct val="0"/>
                    </a:spcAft>
                  </a:pPr>
                  <a:r>
                    <a:rPr lang="en-US" sz="1400">
                      <a:solidFill>
                        <a:srgbClr val="000000"/>
                      </a:solidFill>
                    </a:rPr>
                    <a:t>b</a:t>
                  </a:r>
                </a:p>
                <a:p>
                  <a:pPr algn="ctr" eaLnBrk="0" fontAlgn="base" hangingPunct="0">
                    <a:spcBef>
                      <a:spcPct val="0"/>
                    </a:spcBef>
                    <a:spcAft>
                      <a:spcPct val="0"/>
                    </a:spcAft>
                  </a:pPr>
                  <a:r>
                    <a:rPr lang="en-US" sz="1400">
                      <a:solidFill>
                        <a:srgbClr val="000000"/>
                      </a:solidFill>
                    </a:rPr>
                    <a:t>c</a:t>
                  </a:r>
                </a:p>
                <a:p>
                  <a:pPr algn="ctr" eaLnBrk="0" fontAlgn="base" hangingPunct="0">
                    <a:spcBef>
                      <a:spcPct val="0"/>
                    </a:spcBef>
                    <a:spcAft>
                      <a:spcPct val="0"/>
                    </a:spcAft>
                  </a:pPr>
                  <a:r>
                    <a:rPr lang="en-US" sz="1400">
                      <a:solidFill>
                        <a:srgbClr val="000000"/>
                      </a:solidFill>
                    </a:rPr>
                    <a:t>d</a:t>
                  </a:r>
                </a:p>
              </p:txBody>
            </p:sp>
          </p:grpSp>
          <p:sp>
            <p:nvSpPr>
              <p:cNvPr id="27668" name="Line 25"/>
              <p:cNvSpPr>
                <a:spLocks noChangeShapeType="1"/>
              </p:cNvSpPr>
              <p:nvPr/>
            </p:nvSpPr>
            <p:spPr bwMode="auto">
              <a:xfrm>
                <a:off x="4322762" y="2946239"/>
                <a:ext cx="533400" cy="1524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69" name="Line 26"/>
              <p:cNvSpPr>
                <a:spLocks noChangeShapeType="1"/>
              </p:cNvSpPr>
              <p:nvPr/>
            </p:nvSpPr>
            <p:spPr bwMode="auto">
              <a:xfrm>
                <a:off x="4322762" y="3098639"/>
                <a:ext cx="5334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0" name="Line 27"/>
              <p:cNvSpPr>
                <a:spLocks noChangeShapeType="1"/>
              </p:cNvSpPr>
              <p:nvPr/>
            </p:nvSpPr>
            <p:spPr bwMode="auto">
              <a:xfrm>
                <a:off x="4322762" y="3327239"/>
                <a:ext cx="5334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53" name="Rectangle 52"/>
            <p:cNvSpPr/>
            <p:nvPr/>
          </p:nvSpPr>
          <p:spPr>
            <a:xfrm>
              <a:off x="852715" y="2927889"/>
              <a:ext cx="2155398" cy="523220"/>
            </a:xfrm>
            <a:prstGeom prst="rect">
              <a:avLst/>
            </a:prstGeom>
          </p:spPr>
          <p:txBody>
            <a:bodyPr wrap="none">
              <a:spAutoFit/>
            </a:bodyPr>
            <a:lstStyle/>
            <a:p>
              <a:r>
                <a:rPr lang="en-US" sz="2800">
                  <a:latin typeface="+mj-lt"/>
                </a:rPr>
                <a:t>Many-to-one:</a:t>
              </a:r>
            </a:p>
          </p:txBody>
        </p:sp>
      </p:grpSp>
      <p:grpSp>
        <p:nvGrpSpPr>
          <p:cNvPr id="13" name="Group 12"/>
          <p:cNvGrpSpPr/>
          <p:nvPr/>
        </p:nvGrpSpPr>
        <p:grpSpPr>
          <a:xfrm>
            <a:off x="852715" y="3967785"/>
            <a:ext cx="7334022" cy="1016368"/>
            <a:chOff x="852715" y="3967785"/>
            <a:chExt cx="7334022" cy="1016368"/>
          </a:xfrm>
        </p:grpSpPr>
        <p:grpSp>
          <p:nvGrpSpPr>
            <p:cNvPr id="5" name="Group 4"/>
            <p:cNvGrpSpPr/>
            <p:nvPr/>
          </p:nvGrpSpPr>
          <p:grpSpPr>
            <a:xfrm>
              <a:off x="4017962" y="3976090"/>
              <a:ext cx="1143000" cy="1008063"/>
              <a:chOff x="4017962" y="3976090"/>
              <a:chExt cx="1143000" cy="1008063"/>
            </a:xfrm>
          </p:grpSpPr>
          <p:grpSp>
            <p:nvGrpSpPr>
              <p:cNvPr id="38" name="Group 19"/>
              <p:cNvGrpSpPr>
                <a:grpSpLocks/>
              </p:cNvGrpSpPr>
              <p:nvPr/>
            </p:nvGrpSpPr>
            <p:grpSpPr bwMode="auto">
              <a:xfrm>
                <a:off x="4017962" y="3976090"/>
                <a:ext cx="1143000" cy="1008063"/>
                <a:chOff x="1536" y="1498"/>
                <a:chExt cx="720" cy="635"/>
              </a:xfrm>
            </p:grpSpPr>
            <p:sp>
              <p:nvSpPr>
                <p:cNvPr id="39" name="Oval 20"/>
                <p:cNvSpPr>
                  <a:spLocks noChangeAspect="1" noChangeArrowheads="1"/>
                </p:cNvSpPr>
                <p:nvPr/>
              </p:nvSpPr>
              <p:spPr bwMode="auto">
                <a:xfrm>
                  <a:off x="1536" y="1498"/>
                  <a:ext cx="254" cy="508"/>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1</a:t>
                  </a:r>
                </a:p>
                <a:p>
                  <a:pPr algn="ctr" eaLnBrk="0" fontAlgn="base" hangingPunct="0">
                    <a:spcBef>
                      <a:spcPct val="0"/>
                    </a:spcBef>
                    <a:spcAft>
                      <a:spcPct val="0"/>
                    </a:spcAft>
                  </a:pPr>
                  <a:r>
                    <a:rPr lang="en-US" sz="1400">
                      <a:solidFill>
                        <a:srgbClr val="000000"/>
                      </a:solidFill>
                    </a:rPr>
                    <a:t>2</a:t>
                  </a:r>
                </a:p>
                <a:p>
                  <a:pPr algn="ctr" eaLnBrk="0" fontAlgn="base" hangingPunct="0">
                    <a:spcBef>
                      <a:spcPct val="0"/>
                    </a:spcBef>
                    <a:spcAft>
                      <a:spcPct val="0"/>
                    </a:spcAft>
                  </a:pPr>
                  <a:r>
                    <a:rPr lang="en-US" sz="1400">
                      <a:solidFill>
                        <a:srgbClr val="000000"/>
                      </a:solidFill>
                    </a:rPr>
                    <a:t>3</a:t>
                  </a:r>
                </a:p>
              </p:txBody>
            </p:sp>
            <p:sp>
              <p:nvSpPr>
                <p:cNvPr id="40" name="Oval 21"/>
                <p:cNvSpPr>
                  <a:spLocks noChangeAspect="1" noChangeArrowheads="1"/>
                </p:cNvSpPr>
                <p:nvPr/>
              </p:nvSpPr>
              <p:spPr bwMode="auto">
                <a:xfrm>
                  <a:off x="2002" y="1498"/>
                  <a:ext cx="254" cy="635"/>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a</a:t>
                  </a:r>
                </a:p>
                <a:p>
                  <a:pPr algn="ctr" eaLnBrk="0" fontAlgn="base" hangingPunct="0">
                    <a:spcBef>
                      <a:spcPct val="0"/>
                    </a:spcBef>
                    <a:spcAft>
                      <a:spcPct val="0"/>
                    </a:spcAft>
                  </a:pPr>
                  <a:r>
                    <a:rPr lang="en-US" sz="1400">
                      <a:solidFill>
                        <a:srgbClr val="000000"/>
                      </a:solidFill>
                    </a:rPr>
                    <a:t>b</a:t>
                  </a:r>
                </a:p>
                <a:p>
                  <a:pPr algn="ctr" eaLnBrk="0" fontAlgn="base" hangingPunct="0">
                    <a:spcBef>
                      <a:spcPct val="0"/>
                    </a:spcBef>
                    <a:spcAft>
                      <a:spcPct val="0"/>
                    </a:spcAft>
                  </a:pPr>
                  <a:r>
                    <a:rPr lang="en-US" sz="1400">
                      <a:solidFill>
                        <a:srgbClr val="000000"/>
                      </a:solidFill>
                    </a:rPr>
                    <a:t>c</a:t>
                  </a:r>
                </a:p>
                <a:p>
                  <a:pPr algn="ctr" eaLnBrk="0" fontAlgn="base" hangingPunct="0">
                    <a:spcBef>
                      <a:spcPct val="0"/>
                    </a:spcBef>
                    <a:spcAft>
                      <a:spcPct val="0"/>
                    </a:spcAft>
                  </a:pPr>
                  <a:r>
                    <a:rPr lang="en-US" sz="1400">
                      <a:solidFill>
                        <a:srgbClr val="000000"/>
                      </a:solidFill>
                    </a:rPr>
                    <a:t>d</a:t>
                  </a:r>
                </a:p>
              </p:txBody>
            </p:sp>
          </p:grpSp>
          <p:sp>
            <p:nvSpPr>
              <p:cNvPr id="41" name="Line 25"/>
              <p:cNvSpPr>
                <a:spLocks noChangeShapeType="1"/>
              </p:cNvSpPr>
              <p:nvPr/>
            </p:nvSpPr>
            <p:spPr bwMode="auto">
              <a:xfrm flipV="1">
                <a:off x="4322762" y="4208481"/>
                <a:ext cx="533400" cy="148608"/>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2" name="Line 26"/>
              <p:cNvSpPr>
                <a:spLocks noChangeShapeType="1"/>
              </p:cNvSpPr>
              <p:nvPr/>
            </p:nvSpPr>
            <p:spPr bwMode="auto">
              <a:xfrm>
                <a:off x="4322762" y="4357089"/>
                <a:ext cx="5334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3" name="Line 27"/>
              <p:cNvSpPr>
                <a:spLocks noChangeShapeType="1"/>
              </p:cNvSpPr>
              <p:nvPr/>
            </p:nvSpPr>
            <p:spPr bwMode="auto">
              <a:xfrm>
                <a:off x="4322762" y="4585689"/>
                <a:ext cx="5334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9" name="Group 8"/>
            <p:cNvGrpSpPr/>
            <p:nvPr/>
          </p:nvGrpSpPr>
          <p:grpSpPr>
            <a:xfrm>
              <a:off x="5976937" y="3967785"/>
              <a:ext cx="2209800" cy="755650"/>
              <a:chOff x="5976937" y="3967785"/>
              <a:chExt cx="2209800" cy="755650"/>
            </a:xfrm>
          </p:grpSpPr>
          <p:sp>
            <p:nvSpPr>
              <p:cNvPr id="50" name="AutoShape 5"/>
              <p:cNvSpPr>
                <a:spLocks noChangeAspect="1" noChangeArrowheads="1"/>
              </p:cNvSpPr>
              <p:nvPr/>
            </p:nvSpPr>
            <p:spPr bwMode="auto">
              <a:xfrm>
                <a:off x="6662737" y="3967785"/>
                <a:ext cx="838200" cy="755650"/>
              </a:xfrm>
              <a:prstGeom prst="diamond">
                <a:avLst/>
              </a:prstGeom>
              <a:solidFill>
                <a:schemeClr val="folHlink"/>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endParaRPr lang="en-US" sz="2400">
                  <a:solidFill>
                    <a:srgbClr val="000000"/>
                  </a:solidFill>
                </a:endParaRPr>
              </a:p>
            </p:txBody>
          </p:sp>
          <p:sp>
            <p:nvSpPr>
              <p:cNvPr id="51" name="Line 9"/>
              <p:cNvSpPr>
                <a:spLocks noChangeShapeType="1"/>
              </p:cNvSpPr>
              <p:nvPr/>
            </p:nvSpPr>
            <p:spPr bwMode="auto">
              <a:xfrm>
                <a:off x="5976937" y="4349287"/>
                <a:ext cx="685800" cy="0"/>
              </a:xfrm>
              <a:prstGeom prst="line">
                <a:avLst/>
              </a:prstGeom>
              <a:noFill/>
              <a:ln w="9525">
                <a:solidFill>
                  <a:schemeClr val="tx1"/>
                </a:solidFill>
                <a:round/>
                <a:headEnd type="non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2" name="Line 10"/>
              <p:cNvSpPr>
                <a:spLocks noChangeShapeType="1"/>
              </p:cNvSpPr>
              <p:nvPr/>
            </p:nvSpPr>
            <p:spPr bwMode="auto">
              <a:xfrm flipV="1">
                <a:off x="7500936" y="4342435"/>
                <a:ext cx="685801" cy="14654"/>
              </a:xfrm>
              <a:prstGeom prst="line">
                <a:avLst/>
              </a:prstGeom>
              <a:noFill/>
              <a:ln w="9525">
                <a:solidFill>
                  <a:schemeClr val="tx1"/>
                </a:solidFill>
                <a:round/>
                <a:headEnd type="triangle" w="lg" len="lg"/>
                <a:tailEnd type="none" w="lg"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54" name="Rectangle 53"/>
            <p:cNvSpPr/>
            <p:nvPr/>
          </p:nvSpPr>
          <p:spPr>
            <a:xfrm>
              <a:off x="852715" y="4214287"/>
              <a:ext cx="2192844" cy="523220"/>
            </a:xfrm>
            <a:prstGeom prst="rect">
              <a:avLst/>
            </a:prstGeom>
          </p:spPr>
          <p:txBody>
            <a:bodyPr wrap="none">
              <a:spAutoFit/>
            </a:bodyPr>
            <a:lstStyle/>
            <a:p>
              <a:r>
                <a:rPr lang="en-US" sz="2800">
                  <a:latin typeface="+mj-lt"/>
                </a:rPr>
                <a:t>One-to-many:</a:t>
              </a:r>
            </a:p>
          </p:txBody>
        </p:sp>
      </p:grpSp>
      <p:grpSp>
        <p:nvGrpSpPr>
          <p:cNvPr id="14" name="Group 13"/>
          <p:cNvGrpSpPr/>
          <p:nvPr/>
        </p:nvGrpSpPr>
        <p:grpSpPr>
          <a:xfrm>
            <a:off x="852715" y="5348287"/>
            <a:ext cx="7334022" cy="1008063"/>
            <a:chOff x="852715" y="5348287"/>
            <a:chExt cx="7334022" cy="1008063"/>
          </a:xfrm>
        </p:grpSpPr>
        <p:grpSp>
          <p:nvGrpSpPr>
            <p:cNvPr id="10" name="Group 9"/>
            <p:cNvGrpSpPr/>
            <p:nvPr/>
          </p:nvGrpSpPr>
          <p:grpSpPr>
            <a:xfrm>
              <a:off x="6053137" y="5360680"/>
              <a:ext cx="2133600" cy="755650"/>
              <a:chOff x="6053137" y="5360680"/>
              <a:chExt cx="2133600" cy="755650"/>
            </a:xfrm>
          </p:grpSpPr>
          <p:sp>
            <p:nvSpPr>
              <p:cNvPr id="27655" name="AutoShape 6"/>
              <p:cNvSpPr>
                <a:spLocks noChangeAspect="1" noChangeArrowheads="1"/>
              </p:cNvSpPr>
              <p:nvPr/>
            </p:nvSpPr>
            <p:spPr bwMode="auto">
              <a:xfrm>
                <a:off x="6662737" y="5360680"/>
                <a:ext cx="838200" cy="755650"/>
              </a:xfrm>
              <a:prstGeom prst="diamond">
                <a:avLst/>
              </a:prstGeom>
              <a:solidFill>
                <a:schemeClr val="folHlink"/>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endParaRPr lang="en-US" sz="2400">
                  <a:solidFill>
                    <a:srgbClr val="000000"/>
                  </a:solidFill>
                </a:endParaRPr>
              </a:p>
            </p:txBody>
          </p:sp>
          <p:sp>
            <p:nvSpPr>
              <p:cNvPr id="27660" name="Line 11"/>
              <p:cNvSpPr>
                <a:spLocks noChangeShapeType="1"/>
              </p:cNvSpPr>
              <p:nvPr/>
            </p:nvSpPr>
            <p:spPr bwMode="auto">
              <a:xfrm>
                <a:off x="7500937" y="5741680"/>
                <a:ext cx="6858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61" name="Line 12"/>
              <p:cNvSpPr>
                <a:spLocks noChangeShapeType="1"/>
              </p:cNvSpPr>
              <p:nvPr/>
            </p:nvSpPr>
            <p:spPr bwMode="auto">
              <a:xfrm flipH="1">
                <a:off x="6053137" y="5741680"/>
                <a:ext cx="6096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6" name="Group 5"/>
            <p:cNvGrpSpPr/>
            <p:nvPr/>
          </p:nvGrpSpPr>
          <p:grpSpPr>
            <a:xfrm>
              <a:off x="4017962" y="5348287"/>
              <a:ext cx="1143000" cy="1008063"/>
              <a:chOff x="4017962" y="5348287"/>
              <a:chExt cx="1143000" cy="1008063"/>
            </a:xfrm>
          </p:grpSpPr>
          <p:grpSp>
            <p:nvGrpSpPr>
              <p:cNvPr id="27667" name="Group 22"/>
              <p:cNvGrpSpPr>
                <a:grpSpLocks/>
              </p:cNvGrpSpPr>
              <p:nvPr/>
            </p:nvGrpSpPr>
            <p:grpSpPr bwMode="auto">
              <a:xfrm>
                <a:off x="4017962" y="5348287"/>
                <a:ext cx="1143000" cy="1008063"/>
                <a:chOff x="1536" y="1498"/>
                <a:chExt cx="720" cy="635"/>
              </a:xfrm>
            </p:grpSpPr>
            <p:sp>
              <p:nvSpPr>
                <p:cNvPr id="27677" name="Oval 23"/>
                <p:cNvSpPr>
                  <a:spLocks noChangeAspect="1" noChangeArrowheads="1"/>
                </p:cNvSpPr>
                <p:nvPr/>
              </p:nvSpPr>
              <p:spPr bwMode="auto">
                <a:xfrm>
                  <a:off x="1536" y="1498"/>
                  <a:ext cx="254" cy="508"/>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1</a:t>
                  </a:r>
                </a:p>
                <a:p>
                  <a:pPr algn="ctr" eaLnBrk="0" fontAlgn="base" hangingPunct="0">
                    <a:spcBef>
                      <a:spcPct val="0"/>
                    </a:spcBef>
                    <a:spcAft>
                      <a:spcPct val="0"/>
                    </a:spcAft>
                  </a:pPr>
                  <a:r>
                    <a:rPr lang="en-US" sz="1400">
                      <a:solidFill>
                        <a:srgbClr val="000000"/>
                      </a:solidFill>
                    </a:rPr>
                    <a:t>2</a:t>
                  </a:r>
                </a:p>
                <a:p>
                  <a:pPr algn="ctr" eaLnBrk="0" fontAlgn="base" hangingPunct="0">
                    <a:spcBef>
                      <a:spcPct val="0"/>
                    </a:spcBef>
                    <a:spcAft>
                      <a:spcPct val="0"/>
                    </a:spcAft>
                  </a:pPr>
                  <a:r>
                    <a:rPr lang="en-US" sz="1400">
                      <a:solidFill>
                        <a:srgbClr val="000000"/>
                      </a:solidFill>
                    </a:rPr>
                    <a:t>3</a:t>
                  </a:r>
                </a:p>
              </p:txBody>
            </p:sp>
            <p:sp>
              <p:nvSpPr>
                <p:cNvPr id="27678" name="Oval 24"/>
                <p:cNvSpPr>
                  <a:spLocks noChangeAspect="1" noChangeArrowheads="1"/>
                </p:cNvSpPr>
                <p:nvPr/>
              </p:nvSpPr>
              <p:spPr bwMode="auto">
                <a:xfrm>
                  <a:off x="2002" y="1498"/>
                  <a:ext cx="254" cy="635"/>
                </a:xfrm>
                <a:prstGeom prst="ellipse">
                  <a:avLst/>
                </a:prstGeom>
                <a:no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a</a:t>
                  </a:r>
                </a:p>
                <a:p>
                  <a:pPr algn="ctr" eaLnBrk="0" fontAlgn="base" hangingPunct="0">
                    <a:spcBef>
                      <a:spcPct val="0"/>
                    </a:spcBef>
                    <a:spcAft>
                      <a:spcPct val="0"/>
                    </a:spcAft>
                  </a:pPr>
                  <a:r>
                    <a:rPr lang="en-US" sz="1400">
                      <a:solidFill>
                        <a:srgbClr val="000000"/>
                      </a:solidFill>
                    </a:rPr>
                    <a:t>b</a:t>
                  </a:r>
                </a:p>
                <a:p>
                  <a:pPr algn="ctr" eaLnBrk="0" fontAlgn="base" hangingPunct="0">
                    <a:spcBef>
                      <a:spcPct val="0"/>
                    </a:spcBef>
                    <a:spcAft>
                      <a:spcPct val="0"/>
                    </a:spcAft>
                  </a:pPr>
                  <a:r>
                    <a:rPr lang="en-US" sz="1400">
                      <a:solidFill>
                        <a:srgbClr val="000000"/>
                      </a:solidFill>
                    </a:rPr>
                    <a:t>c</a:t>
                  </a:r>
                </a:p>
                <a:p>
                  <a:pPr algn="ctr" eaLnBrk="0" fontAlgn="base" hangingPunct="0">
                    <a:spcBef>
                      <a:spcPct val="0"/>
                    </a:spcBef>
                    <a:spcAft>
                      <a:spcPct val="0"/>
                    </a:spcAft>
                  </a:pPr>
                  <a:r>
                    <a:rPr lang="en-US" sz="1400">
                      <a:solidFill>
                        <a:srgbClr val="000000"/>
                      </a:solidFill>
                    </a:rPr>
                    <a:t>d</a:t>
                  </a:r>
                </a:p>
              </p:txBody>
            </p:sp>
          </p:grpSp>
          <p:sp>
            <p:nvSpPr>
              <p:cNvPr id="27671" name="Line 28"/>
              <p:cNvSpPr>
                <a:spLocks noChangeShapeType="1"/>
              </p:cNvSpPr>
              <p:nvPr/>
            </p:nvSpPr>
            <p:spPr bwMode="auto">
              <a:xfrm>
                <a:off x="4322762" y="5500686"/>
                <a:ext cx="6096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2" name="Line 29"/>
              <p:cNvSpPr>
                <a:spLocks noChangeShapeType="1"/>
              </p:cNvSpPr>
              <p:nvPr/>
            </p:nvSpPr>
            <p:spPr bwMode="auto">
              <a:xfrm>
                <a:off x="4322762" y="5500686"/>
                <a:ext cx="6096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3" name="Line 30"/>
              <p:cNvSpPr>
                <a:spLocks noChangeShapeType="1"/>
              </p:cNvSpPr>
              <p:nvPr/>
            </p:nvSpPr>
            <p:spPr bwMode="auto">
              <a:xfrm flipH="1">
                <a:off x="4322762" y="5500686"/>
                <a:ext cx="6096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4" name="Line 31"/>
              <p:cNvSpPr>
                <a:spLocks noChangeShapeType="1"/>
              </p:cNvSpPr>
              <p:nvPr/>
            </p:nvSpPr>
            <p:spPr bwMode="auto">
              <a:xfrm>
                <a:off x="4322762" y="5729286"/>
                <a:ext cx="6096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5" name="Line 32"/>
              <p:cNvSpPr>
                <a:spLocks noChangeShapeType="1"/>
              </p:cNvSpPr>
              <p:nvPr/>
            </p:nvSpPr>
            <p:spPr bwMode="auto">
              <a:xfrm flipH="1">
                <a:off x="4322762" y="5729286"/>
                <a:ext cx="533400" cy="228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7676" name="Line 33"/>
              <p:cNvSpPr>
                <a:spLocks noChangeShapeType="1"/>
              </p:cNvSpPr>
              <p:nvPr/>
            </p:nvSpPr>
            <p:spPr bwMode="auto">
              <a:xfrm>
                <a:off x="4322762" y="5957886"/>
                <a:ext cx="6096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55" name="Rectangle 54"/>
            <p:cNvSpPr/>
            <p:nvPr/>
          </p:nvSpPr>
          <p:spPr>
            <a:xfrm>
              <a:off x="852715" y="5500686"/>
              <a:ext cx="2393860" cy="523220"/>
            </a:xfrm>
            <a:prstGeom prst="rect">
              <a:avLst/>
            </a:prstGeom>
          </p:spPr>
          <p:txBody>
            <a:bodyPr wrap="none">
              <a:spAutoFit/>
            </a:bodyPr>
            <a:lstStyle/>
            <a:p>
              <a:r>
                <a:rPr lang="en-US" sz="2800">
                  <a:latin typeface="+mj-lt"/>
                </a:rPr>
                <a:t>Many-to-many:</a:t>
              </a:r>
            </a:p>
          </p:txBody>
        </p:sp>
      </p:grpSp>
      <p:sp>
        <p:nvSpPr>
          <p:cNvPr id="56" name="TextBox 55"/>
          <p:cNvSpPr txBox="1"/>
          <p:nvPr/>
        </p:nvSpPr>
        <p:spPr>
          <a:xfrm>
            <a:off x="9024937" y="3448653"/>
            <a:ext cx="2449512" cy="2308324"/>
          </a:xfrm>
          <a:prstGeom prst="rect">
            <a:avLst/>
          </a:prstGeom>
          <a:solidFill>
            <a:schemeClr val="accent5">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X -&gt; Y means </a:t>
            </a:r>
            <a:r>
              <a:rPr lang="en-US" sz="2400" b="1" u="sng">
                <a:solidFill>
                  <a:srgbClr val="000000"/>
                </a:solidFill>
                <a:latin typeface="+mj-lt"/>
              </a:rPr>
              <a:t>there exists a function mapping from X to Y </a:t>
            </a:r>
            <a:r>
              <a:rPr lang="en-US" sz="2400">
                <a:solidFill>
                  <a:srgbClr val="000000"/>
                </a:solidFill>
                <a:latin typeface="+mj-lt"/>
              </a:rPr>
              <a:t>(</a:t>
            </a:r>
            <a:r>
              <a:rPr lang="en-US" sz="2400" i="1">
                <a:solidFill>
                  <a:srgbClr val="000000"/>
                </a:solidFill>
                <a:latin typeface="+mj-lt"/>
              </a:rPr>
              <a:t>recall the definition of a function)</a:t>
            </a:r>
            <a:endParaRPr lang="en-US" sz="2400">
              <a:solidFill>
                <a:srgbClr val="000000"/>
              </a:solidFill>
              <a:latin typeface="+mj-lt"/>
            </a:endParaRPr>
          </a:p>
        </p:txBody>
      </p:sp>
    </p:spTree>
    <p:extLst>
      <p:ext uri="{BB962C8B-B14F-4D97-AF65-F5344CB8AC3E}">
        <p14:creationId xmlns:p14="http://schemas.microsoft.com/office/powerpoint/2010/main" val="102153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58129" y="293736"/>
            <a:ext cx="6654267" cy="693780"/>
          </a:xfrm>
          <a:prstGeom prst="rect">
            <a:avLst/>
          </a:prstGeom>
        </p:spPr>
        <p:txBody>
          <a:bodyPr vert="horz" wrap="square" lIns="0" tIns="16510" rIns="0" bIns="0" rtlCol="0" anchor="ctr">
            <a:spAutoFit/>
          </a:bodyPr>
          <a:lstStyle/>
          <a:p>
            <a:pPr marL="12700">
              <a:lnSpc>
                <a:spcPct val="100000"/>
              </a:lnSpc>
              <a:spcBef>
                <a:spcPts val="130"/>
              </a:spcBef>
            </a:pPr>
            <a:r>
              <a:t>Minimum</a:t>
            </a:r>
            <a:r>
              <a:rPr spc="-60"/>
              <a:t> </a:t>
            </a:r>
            <a:r>
              <a:rPr spc="-5"/>
              <a:t>Cardinality</a:t>
            </a:r>
          </a:p>
        </p:txBody>
      </p:sp>
      <p:sp>
        <p:nvSpPr>
          <p:cNvPr id="4" name="object 4"/>
          <p:cNvSpPr txBox="1"/>
          <p:nvPr/>
        </p:nvSpPr>
        <p:spPr>
          <a:xfrm>
            <a:off x="1832640" y="1172632"/>
            <a:ext cx="8226425" cy="2000250"/>
          </a:xfrm>
          <a:prstGeom prst="rect">
            <a:avLst/>
          </a:prstGeom>
        </p:spPr>
        <p:txBody>
          <a:bodyPr vert="horz" wrap="square" lIns="0" tIns="26034" rIns="0" bIns="0" rtlCol="0">
            <a:spAutoFit/>
          </a:bodyPr>
          <a:lstStyle/>
          <a:p>
            <a:pPr marL="269875" marR="5080" indent="-257175">
              <a:lnSpc>
                <a:spcPts val="2870"/>
              </a:lnSpc>
              <a:spcBef>
                <a:spcPts val="204"/>
              </a:spcBef>
              <a:buFont typeface="Arial MT"/>
              <a:buChar char="•"/>
              <a:tabLst>
                <a:tab pos="269240" algn="l"/>
                <a:tab pos="269875" algn="l"/>
              </a:tabLst>
            </a:pPr>
            <a:r>
              <a:rPr sz="2400" spc="-5">
                <a:solidFill>
                  <a:srgbClr val="FF0000"/>
                </a:solidFill>
                <a:latin typeface="Calibri"/>
                <a:cs typeface="Calibri"/>
              </a:rPr>
              <a:t>Minimum</a:t>
            </a:r>
            <a:r>
              <a:rPr sz="2400" spc="-10">
                <a:solidFill>
                  <a:srgbClr val="FF0000"/>
                </a:solidFill>
                <a:latin typeface="Calibri"/>
                <a:cs typeface="Calibri"/>
              </a:rPr>
              <a:t> cardinality</a:t>
            </a:r>
            <a:r>
              <a:rPr sz="2400" spc="-5">
                <a:solidFill>
                  <a:srgbClr val="FF0000"/>
                </a:solidFill>
                <a:latin typeface="Calibri"/>
                <a:cs typeface="Calibri"/>
              </a:rPr>
              <a:t> </a:t>
            </a:r>
            <a:r>
              <a:rPr sz="2400" spc="-5">
                <a:latin typeface="Calibri"/>
                <a:cs typeface="Calibri"/>
              </a:rPr>
              <a:t>is the</a:t>
            </a:r>
            <a:r>
              <a:rPr sz="2400">
                <a:latin typeface="Calibri"/>
                <a:cs typeface="Calibri"/>
              </a:rPr>
              <a:t> </a:t>
            </a:r>
            <a:r>
              <a:rPr sz="2400" spc="-5">
                <a:latin typeface="Calibri"/>
                <a:cs typeface="Calibri"/>
              </a:rPr>
              <a:t>minimum </a:t>
            </a:r>
            <a:r>
              <a:rPr sz="2400">
                <a:latin typeface="Calibri"/>
                <a:cs typeface="Calibri"/>
              </a:rPr>
              <a:t>number </a:t>
            </a:r>
            <a:r>
              <a:rPr sz="2400" spc="-5">
                <a:latin typeface="Calibri"/>
                <a:cs typeface="Calibri"/>
              </a:rPr>
              <a:t>of</a:t>
            </a:r>
            <a:r>
              <a:rPr sz="2400" spc="5">
                <a:latin typeface="Calibri"/>
                <a:cs typeface="Calibri"/>
              </a:rPr>
              <a:t> </a:t>
            </a:r>
            <a:r>
              <a:rPr sz="2400" spc="-10">
                <a:latin typeface="Calibri"/>
                <a:cs typeface="Calibri"/>
              </a:rPr>
              <a:t>entity</a:t>
            </a:r>
            <a:r>
              <a:rPr sz="2400" spc="-5">
                <a:latin typeface="Calibri"/>
                <a:cs typeface="Calibri"/>
              </a:rPr>
              <a:t> </a:t>
            </a:r>
            <a:r>
              <a:rPr sz="2400" spc="-10">
                <a:latin typeface="Calibri"/>
                <a:cs typeface="Calibri"/>
              </a:rPr>
              <a:t>instances </a:t>
            </a:r>
            <a:r>
              <a:rPr sz="2400" spc="-525">
                <a:latin typeface="Calibri"/>
                <a:cs typeface="Calibri"/>
              </a:rPr>
              <a:t> </a:t>
            </a:r>
            <a:r>
              <a:rPr sz="2400" spc="-10">
                <a:latin typeface="Calibri"/>
                <a:cs typeface="Calibri"/>
              </a:rPr>
              <a:t>that</a:t>
            </a:r>
            <a:r>
              <a:rPr sz="2400" spc="-15">
                <a:latin typeface="Calibri"/>
                <a:cs typeface="Calibri"/>
              </a:rPr>
              <a:t> </a:t>
            </a:r>
            <a:r>
              <a:rPr sz="2400" spc="-10">
                <a:latin typeface="Calibri"/>
                <a:cs typeface="Calibri"/>
              </a:rPr>
              <a:t>must participate</a:t>
            </a:r>
            <a:r>
              <a:rPr sz="2400">
                <a:latin typeface="Calibri"/>
                <a:cs typeface="Calibri"/>
              </a:rPr>
              <a:t> </a:t>
            </a:r>
            <a:r>
              <a:rPr sz="2400" spc="-5">
                <a:latin typeface="Calibri"/>
                <a:cs typeface="Calibri"/>
              </a:rPr>
              <a:t>in </a:t>
            </a:r>
            <a:r>
              <a:rPr sz="2400">
                <a:latin typeface="Calibri"/>
                <a:cs typeface="Calibri"/>
              </a:rPr>
              <a:t>a</a:t>
            </a:r>
            <a:r>
              <a:rPr sz="2400" spc="-5">
                <a:latin typeface="Calibri"/>
                <a:cs typeface="Calibri"/>
              </a:rPr>
              <a:t> </a:t>
            </a:r>
            <a:r>
              <a:rPr sz="2400" spc="-10">
                <a:latin typeface="Calibri"/>
                <a:cs typeface="Calibri"/>
              </a:rPr>
              <a:t>relationship</a:t>
            </a:r>
            <a:r>
              <a:rPr sz="2400" spc="-5">
                <a:latin typeface="Calibri"/>
                <a:cs typeface="Calibri"/>
              </a:rPr>
              <a:t> </a:t>
            </a:r>
            <a:r>
              <a:rPr sz="2400" spc="-10">
                <a:latin typeface="Calibri"/>
                <a:cs typeface="Calibri"/>
              </a:rPr>
              <a:t>instance</a:t>
            </a:r>
            <a:endParaRPr sz="2400">
              <a:latin typeface="Calibri"/>
              <a:cs typeface="Calibri"/>
            </a:endParaRPr>
          </a:p>
          <a:p>
            <a:pPr>
              <a:spcBef>
                <a:spcPts val="30"/>
              </a:spcBef>
              <a:buChar char="•"/>
            </a:pPr>
            <a:endParaRPr sz="3300">
              <a:latin typeface="Calibri"/>
              <a:cs typeface="Calibri"/>
            </a:endParaRPr>
          </a:p>
          <a:p>
            <a:pPr marL="269875" marR="250190" indent="-257175">
              <a:lnSpc>
                <a:spcPts val="2870"/>
              </a:lnSpc>
              <a:buFont typeface="Arial MT"/>
              <a:buChar char="•"/>
              <a:tabLst>
                <a:tab pos="269240" algn="l"/>
                <a:tab pos="269875" algn="l"/>
              </a:tabLst>
            </a:pPr>
            <a:r>
              <a:rPr sz="2400">
                <a:latin typeface="Calibri"/>
                <a:cs typeface="Calibri"/>
              </a:rPr>
              <a:t>These</a:t>
            </a:r>
            <a:r>
              <a:rPr sz="2400" spc="-5">
                <a:latin typeface="Calibri"/>
                <a:cs typeface="Calibri"/>
              </a:rPr>
              <a:t> </a:t>
            </a:r>
            <a:r>
              <a:rPr sz="2400" spc="-10">
                <a:latin typeface="Calibri"/>
                <a:cs typeface="Calibri"/>
              </a:rPr>
              <a:t>values </a:t>
            </a:r>
            <a:r>
              <a:rPr sz="2400" spc="-5">
                <a:latin typeface="Calibri"/>
                <a:cs typeface="Calibri"/>
              </a:rPr>
              <a:t>typically assume</a:t>
            </a:r>
            <a:r>
              <a:rPr sz="2400">
                <a:latin typeface="Calibri"/>
                <a:cs typeface="Calibri"/>
              </a:rPr>
              <a:t> a</a:t>
            </a:r>
            <a:r>
              <a:rPr sz="2400" spc="-5">
                <a:latin typeface="Calibri"/>
                <a:cs typeface="Calibri"/>
              </a:rPr>
              <a:t> </a:t>
            </a:r>
            <a:r>
              <a:rPr sz="2400" spc="-10">
                <a:latin typeface="Calibri"/>
                <a:cs typeface="Calibri"/>
              </a:rPr>
              <a:t>value</a:t>
            </a:r>
            <a:r>
              <a:rPr sz="2400" spc="-5">
                <a:latin typeface="Calibri"/>
                <a:cs typeface="Calibri"/>
              </a:rPr>
              <a:t> of</a:t>
            </a:r>
            <a:r>
              <a:rPr sz="2400">
                <a:latin typeface="Calibri"/>
                <a:cs typeface="Calibri"/>
              </a:rPr>
              <a:t> </a:t>
            </a:r>
            <a:r>
              <a:rPr sz="2400" spc="-25">
                <a:latin typeface="Calibri"/>
                <a:cs typeface="Calibri"/>
              </a:rPr>
              <a:t>zero</a:t>
            </a:r>
            <a:r>
              <a:rPr sz="2400" spc="-10">
                <a:latin typeface="Calibri"/>
                <a:cs typeface="Calibri"/>
              </a:rPr>
              <a:t> </a:t>
            </a:r>
            <a:r>
              <a:rPr sz="2400" spc="-5">
                <a:latin typeface="Calibri"/>
                <a:cs typeface="Calibri"/>
              </a:rPr>
              <a:t>(optional)</a:t>
            </a:r>
            <a:r>
              <a:rPr sz="2400" spc="-10">
                <a:latin typeface="Calibri"/>
                <a:cs typeface="Calibri"/>
              </a:rPr>
              <a:t> </a:t>
            </a:r>
            <a:r>
              <a:rPr sz="2400" spc="-5">
                <a:latin typeface="Calibri"/>
                <a:cs typeface="Calibri"/>
              </a:rPr>
              <a:t>or one </a:t>
            </a:r>
            <a:r>
              <a:rPr sz="2400" spc="-530">
                <a:latin typeface="Calibri"/>
                <a:cs typeface="Calibri"/>
              </a:rPr>
              <a:t> </a:t>
            </a:r>
            <a:r>
              <a:rPr sz="2400" spc="-10">
                <a:latin typeface="Calibri"/>
                <a:cs typeface="Calibri"/>
              </a:rPr>
              <a:t>(mandatory)</a:t>
            </a:r>
            <a:endParaRPr sz="2400">
              <a:latin typeface="Calibri"/>
              <a:cs typeface="Calibri"/>
            </a:endParaRPr>
          </a:p>
        </p:txBody>
      </p:sp>
      <p:sp>
        <p:nvSpPr>
          <p:cNvPr id="2" name="Slide Number Placeholder 1">
            <a:extLst>
              <a:ext uri="{FF2B5EF4-FFF2-40B4-BE49-F238E27FC236}">
                <a16:creationId xmlns:a16="http://schemas.microsoft.com/office/drawing/2014/main" id="{C95EA39A-F19F-4B89-AFF5-E7E18690E169}"/>
              </a:ext>
            </a:extLst>
          </p:cNvPr>
          <p:cNvSpPr>
            <a:spLocks noGrp="1"/>
          </p:cNvSpPr>
          <p:nvPr>
            <p:ph type="sldNum" sz="quarter" idx="12"/>
          </p:nvPr>
        </p:nvSpPr>
        <p:spPr/>
        <p:txBody>
          <a:bodyPr/>
          <a:lstStyle/>
          <a:p>
            <a:fld id="{641C0F02-33DC-3A41-9F51-431B7FE03ABE}" type="slidenum">
              <a:rPr lang="en-US" smtClean="0"/>
              <a:t>30</a:t>
            </a:fld>
            <a:endParaRPr lang="en-US"/>
          </a:p>
        </p:txBody>
      </p:sp>
    </p:spTree>
    <p:extLst>
      <p:ext uri="{BB962C8B-B14F-4D97-AF65-F5344CB8AC3E}">
        <p14:creationId xmlns:p14="http://schemas.microsoft.com/office/powerpoint/2010/main" val="3550120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92369" y="125550"/>
            <a:ext cx="6941935" cy="693780"/>
          </a:xfrm>
          <a:prstGeom prst="rect">
            <a:avLst/>
          </a:prstGeom>
        </p:spPr>
        <p:txBody>
          <a:bodyPr vert="horz" wrap="square" lIns="0" tIns="16510" rIns="0" bIns="0" rtlCol="0" anchor="ctr">
            <a:spAutoFit/>
          </a:bodyPr>
          <a:lstStyle/>
          <a:p>
            <a:pPr marL="12700">
              <a:lnSpc>
                <a:spcPct val="100000"/>
              </a:lnSpc>
              <a:spcBef>
                <a:spcPts val="130"/>
              </a:spcBef>
            </a:pPr>
            <a:r>
              <a:t>Maximum</a:t>
            </a:r>
            <a:r>
              <a:rPr spc="-60"/>
              <a:t> </a:t>
            </a:r>
            <a:r>
              <a:rPr spc="-5"/>
              <a:t>Cardinality</a:t>
            </a:r>
          </a:p>
        </p:txBody>
      </p:sp>
      <p:sp>
        <p:nvSpPr>
          <p:cNvPr id="4" name="object 4"/>
          <p:cNvSpPr txBox="1"/>
          <p:nvPr/>
        </p:nvSpPr>
        <p:spPr>
          <a:xfrm>
            <a:off x="1832640" y="1172632"/>
            <a:ext cx="8568055" cy="2798842"/>
          </a:xfrm>
          <a:prstGeom prst="rect">
            <a:avLst/>
          </a:prstGeom>
        </p:spPr>
        <p:txBody>
          <a:bodyPr vert="horz" wrap="square" lIns="0" tIns="26034" rIns="0" bIns="0" rtlCol="0">
            <a:spAutoFit/>
          </a:bodyPr>
          <a:lstStyle/>
          <a:p>
            <a:pPr marL="269875" marR="47625" indent="-257175">
              <a:lnSpc>
                <a:spcPts val="2870"/>
              </a:lnSpc>
              <a:spcBef>
                <a:spcPts val="204"/>
              </a:spcBef>
              <a:buFont typeface="Arial MT"/>
              <a:buChar char="•"/>
              <a:tabLst>
                <a:tab pos="269240" algn="l"/>
                <a:tab pos="269875" algn="l"/>
              </a:tabLst>
            </a:pPr>
            <a:r>
              <a:rPr sz="2400" spc="-10">
                <a:latin typeface="Calibri"/>
                <a:cs typeface="Calibri"/>
              </a:rPr>
              <a:t>Relationships</a:t>
            </a:r>
            <a:r>
              <a:rPr sz="2400" spc="-5">
                <a:latin typeface="Calibri"/>
                <a:cs typeface="Calibri"/>
              </a:rPr>
              <a:t> </a:t>
            </a:r>
            <a:r>
              <a:rPr sz="2400" spc="-15">
                <a:latin typeface="Calibri"/>
                <a:cs typeface="Calibri"/>
              </a:rPr>
              <a:t>are</a:t>
            </a:r>
            <a:r>
              <a:rPr sz="2400" spc="5">
                <a:latin typeface="Calibri"/>
                <a:cs typeface="Calibri"/>
              </a:rPr>
              <a:t> </a:t>
            </a:r>
            <a:r>
              <a:rPr sz="2400">
                <a:latin typeface="Calibri"/>
                <a:cs typeface="Calibri"/>
              </a:rPr>
              <a:t>named</a:t>
            </a:r>
            <a:r>
              <a:rPr sz="2400" spc="5">
                <a:latin typeface="Calibri"/>
                <a:cs typeface="Calibri"/>
              </a:rPr>
              <a:t> </a:t>
            </a:r>
            <a:r>
              <a:rPr sz="2400">
                <a:latin typeface="Calibri"/>
                <a:cs typeface="Calibri"/>
              </a:rPr>
              <a:t>and </a:t>
            </a:r>
            <a:r>
              <a:rPr sz="2400" spc="-5">
                <a:latin typeface="Calibri"/>
                <a:cs typeface="Calibri"/>
              </a:rPr>
              <a:t>classified</a:t>
            </a:r>
            <a:r>
              <a:rPr sz="2400">
                <a:latin typeface="Calibri"/>
                <a:cs typeface="Calibri"/>
              </a:rPr>
              <a:t> </a:t>
            </a:r>
            <a:r>
              <a:rPr sz="2400" spc="-5">
                <a:latin typeface="Calibri"/>
                <a:cs typeface="Calibri"/>
              </a:rPr>
              <a:t>by</a:t>
            </a:r>
            <a:r>
              <a:rPr sz="2400" spc="5">
                <a:latin typeface="Calibri"/>
                <a:cs typeface="Calibri"/>
              </a:rPr>
              <a:t> </a:t>
            </a:r>
            <a:r>
              <a:rPr sz="2400" spc="-5">
                <a:latin typeface="Calibri"/>
                <a:cs typeface="Calibri"/>
              </a:rPr>
              <a:t>their</a:t>
            </a:r>
            <a:r>
              <a:rPr sz="2400">
                <a:latin typeface="Calibri"/>
                <a:cs typeface="Calibri"/>
              </a:rPr>
              <a:t> </a:t>
            </a:r>
            <a:r>
              <a:rPr sz="2400" spc="-10">
                <a:solidFill>
                  <a:srgbClr val="FF0000"/>
                </a:solidFill>
                <a:latin typeface="Calibri"/>
                <a:cs typeface="Calibri"/>
              </a:rPr>
              <a:t>cardinalities</a:t>
            </a:r>
            <a:r>
              <a:rPr sz="2400" spc="-10">
                <a:latin typeface="Calibri"/>
                <a:cs typeface="Calibri"/>
              </a:rPr>
              <a:t>,</a:t>
            </a:r>
            <a:r>
              <a:rPr sz="2400">
                <a:latin typeface="Calibri"/>
                <a:cs typeface="Calibri"/>
              </a:rPr>
              <a:t> </a:t>
            </a:r>
            <a:r>
              <a:rPr sz="2400" spc="-5">
                <a:latin typeface="Calibri"/>
                <a:cs typeface="Calibri"/>
              </a:rPr>
              <a:t>which </a:t>
            </a:r>
            <a:r>
              <a:rPr sz="2400" spc="-525">
                <a:latin typeface="Calibri"/>
                <a:cs typeface="Calibri"/>
              </a:rPr>
              <a:t> </a:t>
            </a:r>
            <a:r>
              <a:rPr sz="2400" spc="-5">
                <a:latin typeface="Calibri"/>
                <a:cs typeface="Calibri"/>
              </a:rPr>
              <a:t>is</a:t>
            </a:r>
            <a:r>
              <a:rPr sz="2400" spc="-15">
                <a:latin typeface="Calibri"/>
                <a:cs typeface="Calibri"/>
              </a:rPr>
              <a:t> </a:t>
            </a:r>
            <a:r>
              <a:rPr sz="2400">
                <a:latin typeface="Calibri"/>
                <a:cs typeface="Calibri"/>
              </a:rPr>
              <a:t>a</a:t>
            </a:r>
            <a:r>
              <a:rPr sz="2400" spc="-5">
                <a:latin typeface="Calibri"/>
                <a:cs typeface="Calibri"/>
              </a:rPr>
              <a:t> </a:t>
            </a:r>
            <a:r>
              <a:rPr sz="2400" spc="-20">
                <a:latin typeface="Calibri"/>
                <a:cs typeface="Calibri"/>
              </a:rPr>
              <a:t>word</a:t>
            </a:r>
            <a:r>
              <a:rPr sz="2400" spc="-5">
                <a:latin typeface="Calibri"/>
                <a:cs typeface="Calibri"/>
              </a:rPr>
              <a:t> </a:t>
            </a:r>
            <a:r>
              <a:rPr sz="2400" spc="-10">
                <a:latin typeface="Calibri"/>
                <a:cs typeface="Calibri"/>
              </a:rPr>
              <a:t>that </a:t>
            </a:r>
            <a:r>
              <a:rPr sz="2400">
                <a:latin typeface="Calibri"/>
                <a:cs typeface="Calibri"/>
              </a:rPr>
              <a:t>means</a:t>
            </a:r>
            <a:r>
              <a:rPr sz="2400" spc="-15">
                <a:latin typeface="Calibri"/>
                <a:cs typeface="Calibri"/>
              </a:rPr>
              <a:t> </a:t>
            </a:r>
            <a:r>
              <a:rPr sz="2400" i="1" spc="-10">
                <a:latin typeface="Calibri"/>
                <a:cs typeface="Calibri"/>
              </a:rPr>
              <a:t>count </a:t>
            </a:r>
            <a:r>
              <a:rPr sz="2400" spc="-5">
                <a:latin typeface="Calibri"/>
                <a:cs typeface="Calibri"/>
              </a:rPr>
              <a:t>(as</a:t>
            </a:r>
            <a:r>
              <a:rPr sz="2400" spc="-10">
                <a:latin typeface="Calibri"/>
                <a:cs typeface="Calibri"/>
              </a:rPr>
              <a:t> </a:t>
            </a:r>
            <a:r>
              <a:rPr sz="2400" spc="-5">
                <a:latin typeface="Calibri"/>
                <a:cs typeface="Calibri"/>
              </a:rPr>
              <a:t>in the</a:t>
            </a:r>
            <a:r>
              <a:rPr sz="2400">
                <a:latin typeface="Calibri"/>
                <a:cs typeface="Calibri"/>
              </a:rPr>
              <a:t> number</a:t>
            </a:r>
            <a:r>
              <a:rPr sz="2400" spc="-5">
                <a:latin typeface="Calibri"/>
                <a:cs typeface="Calibri"/>
              </a:rPr>
              <a:t> of</a:t>
            </a:r>
            <a:r>
              <a:rPr sz="2400">
                <a:latin typeface="Calibri"/>
                <a:cs typeface="Calibri"/>
              </a:rPr>
              <a:t> </a:t>
            </a:r>
            <a:r>
              <a:rPr sz="2400" spc="-10">
                <a:latin typeface="Calibri"/>
                <a:cs typeface="Calibri"/>
              </a:rPr>
              <a:t>items</a:t>
            </a:r>
            <a:r>
              <a:rPr sz="2400" spc="-15">
                <a:latin typeface="Calibri"/>
                <a:cs typeface="Calibri"/>
              </a:rPr>
              <a:t> </a:t>
            </a:r>
            <a:r>
              <a:rPr sz="2400" spc="-5">
                <a:latin typeface="Calibri"/>
                <a:cs typeface="Calibri"/>
              </a:rPr>
              <a:t>in </a:t>
            </a:r>
            <a:r>
              <a:rPr sz="2400">
                <a:latin typeface="Calibri"/>
                <a:cs typeface="Calibri"/>
              </a:rPr>
              <a:t>a</a:t>
            </a:r>
            <a:r>
              <a:rPr sz="2400" spc="-5">
                <a:latin typeface="Calibri"/>
                <a:cs typeface="Calibri"/>
              </a:rPr>
              <a:t> set)</a:t>
            </a:r>
            <a:endParaRPr sz="2400">
              <a:latin typeface="Calibri"/>
              <a:cs typeface="Calibri"/>
            </a:endParaRPr>
          </a:p>
          <a:p>
            <a:pPr marL="269875" marR="5080" indent="-257175">
              <a:lnSpc>
                <a:spcPts val="2870"/>
              </a:lnSpc>
              <a:spcBef>
                <a:spcPts val="590"/>
              </a:spcBef>
              <a:buFont typeface="Arial MT"/>
              <a:buChar char="•"/>
              <a:tabLst>
                <a:tab pos="269240" algn="l"/>
                <a:tab pos="269875" algn="l"/>
              </a:tabLst>
            </a:pPr>
            <a:r>
              <a:rPr sz="2400" spc="-15">
                <a:latin typeface="Calibri"/>
                <a:cs typeface="Calibri"/>
              </a:rPr>
              <a:t>Each</a:t>
            </a:r>
            <a:r>
              <a:rPr sz="2400" spc="-5">
                <a:latin typeface="Calibri"/>
                <a:cs typeface="Calibri"/>
              </a:rPr>
              <a:t> of the</a:t>
            </a:r>
            <a:r>
              <a:rPr sz="2400" spc="5">
                <a:latin typeface="Calibri"/>
                <a:cs typeface="Calibri"/>
              </a:rPr>
              <a:t> </a:t>
            </a:r>
            <a:r>
              <a:rPr sz="2400" spc="-10">
                <a:latin typeface="Calibri"/>
                <a:cs typeface="Calibri"/>
              </a:rPr>
              <a:t>three</a:t>
            </a:r>
            <a:r>
              <a:rPr sz="2400">
                <a:latin typeface="Calibri"/>
                <a:cs typeface="Calibri"/>
              </a:rPr>
              <a:t> types</a:t>
            </a:r>
            <a:r>
              <a:rPr sz="2400" spc="-5">
                <a:latin typeface="Calibri"/>
                <a:cs typeface="Calibri"/>
              </a:rPr>
              <a:t> of </a:t>
            </a:r>
            <a:r>
              <a:rPr sz="2400">
                <a:latin typeface="Calibri"/>
                <a:cs typeface="Calibri"/>
              </a:rPr>
              <a:t>binary </a:t>
            </a:r>
            <a:r>
              <a:rPr sz="2400" spc="-10">
                <a:latin typeface="Calibri"/>
                <a:cs typeface="Calibri"/>
              </a:rPr>
              <a:t>relationship</a:t>
            </a:r>
            <a:r>
              <a:rPr sz="2400" spc="-5">
                <a:latin typeface="Calibri"/>
                <a:cs typeface="Calibri"/>
              </a:rPr>
              <a:t> shown</a:t>
            </a:r>
            <a:r>
              <a:rPr sz="2400">
                <a:latin typeface="Calibri"/>
                <a:cs typeface="Calibri"/>
              </a:rPr>
              <a:t> </a:t>
            </a:r>
            <a:r>
              <a:rPr sz="2400" spc="-10">
                <a:latin typeface="Calibri"/>
                <a:cs typeface="Calibri"/>
              </a:rPr>
              <a:t>previously</a:t>
            </a:r>
            <a:r>
              <a:rPr sz="2400" spc="-5">
                <a:latin typeface="Calibri"/>
                <a:cs typeface="Calibri"/>
              </a:rPr>
              <a:t> has </a:t>
            </a:r>
            <a:r>
              <a:rPr sz="2400" spc="-525">
                <a:latin typeface="Calibri"/>
                <a:cs typeface="Calibri"/>
              </a:rPr>
              <a:t> </a:t>
            </a:r>
            <a:r>
              <a:rPr sz="2400">
                <a:latin typeface="Calibri"/>
                <a:cs typeface="Calibri"/>
              </a:rPr>
              <a:t>a</a:t>
            </a:r>
            <a:r>
              <a:rPr sz="2400" spc="-10">
                <a:latin typeface="Calibri"/>
                <a:cs typeface="Calibri"/>
              </a:rPr>
              <a:t> </a:t>
            </a:r>
            <a:r>
              <a:rPr sz="2400" spc="-15">
                <a:latin typeface="Calibri"/>
                <a:cs typeface="Calibri"/>
              </a:rPr>
              <a:t>different</a:t>
            </a:r>
            <a:r>
              <a:rPr sz="2400" spc="-10">
                <a:latin typeface="Calibri"/>
                <a:cs typeface="Calibri"/>
              </a:rPr>
              <a:t> </a:t>
            </a:r>
            <a:r>
              <a:rPr sz="2400" i="1" spc="-5">
                <a:solidFill>
                  <a:srgbClr val="00B050"/>
                </a:solidFill>
                <a:latin typeface="Calibri"/>
                <a:cs typeface="Calibri"/>
              </a:rPr>
              <a:t>maximum cardinality</a:t>
            </a:r>
            <a:endParaRPr sz="2400">
              <a:latin typeface="Calibri"/>
              <a:cs typeface="Calibri"/>
            </a:endParaRPr>
          </a:p>
          <a:p>
            <a:pPr marL="269875" marR="257175" indent="-257175">
              <a:lnSpc>
                <a:spcPts val="2870"/>
              </a:lnSpc>
              <a:spcBef>
                <a:spcPts val="595"/>
              </a:spcBef>
              <a:buFont typeface="Arial MT"/>
              <a:buChar char="•"/>
              <a:tabLst>
                <a:tab pos="269240" algn="l"/>
                <a:tab pos="269875" algn="l"/>
              </a:tabLst>
            </a:pPr>
            <a:r>
              <a:rPr sz="2400" spc="-10">
                <a:latin typeface="Calibri"/>
                <a:cs typeface="Calibri"/>
              </a:rPr>
              <a:t>Maximum</a:t>
            </a:r>
            <a:r>
              <a:rPr sz="2400" spc="-5">
                <a:latin typeface="Calibri"/>
                <a:cs typeface="Calibri"/>
              </a:rPr>
              <a:t> </a:t>
            </a:r>
            <a:r>
              <a:rPr sz="2400" spc="-10">
                <a:latin typeface="Calibri"/>
                <a:cs typeface="Calibri"/>
              </a:rPr>
              <a:t>cardinality</a:t>
            </a:r>
            <a:r>
              <a:rPr sz="2400">
                <a:latin typeface="Calibri"/>
                <a:cs typeface="Calibri"/>
              </a:rPr>
              <a:t> </a:t>
            </a:r>
            <a:r>
              <a:rPr sz="2400" spc="-5">
                <a:latin typeface="Calibri"/>
                <a:cs typeface="Calibri"/>
              </a:rPr>
              <a:t>is the</a:t>
            </a:r>
            <a:r>
              <a:rPr sz="2400">
                <a:latin typeface="Calibri"/>
                <a:cs typeface="Calibri"/>
              </a:rPr>
              <a:t> </a:t>
            </a:r>
            <a:r>
              <a:rPr sz="2400" spc="-10">
                <a:solidFill>
                  <a:srgbClr val="00B0F0"/>
                </a:solidFill>
                <a:latin typeface="Calibri"/>
                <a:cs typeface="Calibri"/>
              </a:rPr>
              <a:t>maximum</a:t>
            </a:r>
            <a:r>
              <a:rPr sz="2400">
                <a:solidFill>
                  <a:srgbClr val="00B0F0"/>
                </a:solidFill>
                <a:latin typeface="Calibri"/>
                <a:cs typeface="Calibri"/>
              </a:rPr>
              <a:t> </a:t>
            </a:r>
            <a:r>
              <a:rPr sz="2400">
                <a:latin typeface="Calibri"/>
                <a:cs typeface="Calibri"/>
              </a:rPr>
              <a:t>number </a:t>
            </a:r>
            <a:r>
              <a:rPr sz="2400" spc="-5">
                <a:latin typeface="Calibri"/>
                <a:cs typeface="Calibri"/>
              </a:rPr>
              <a:t>of</a:t>
            </a:r>
            <a:r>
              <a:rPr sz="2400" spc="5">
                <a:latin typeface="Calibri"/>
                <a:cs typeface="Calibri"/>
              </a:rPr>
              <a:t> </a:t>
            </a:r>
            <a:r>
              <a:rPr sz="2400" spc="-10">
                <a:latin typeface="Calibri"/>
                <a:cs typeface="Calibri"/>
              </a:rPr>
              <a:t>entity</a:t>
            </a:r>
            <a:r>
              <a:rPr sz="2400">
                <a:latin typeface="Calibri"/>
                <a:cs typeface="Calibri"/>
              </a:rPr>
              <a:t> </a:t>
            </a:r>
            <a:r>
              <a:rPr sz="2400" spc="-10">
                <a:latin typeface="Calibri"/>
                <a:cs typeface="Calibri"/>
              </a:rPr>
              <a:t>instances </a:t>
            </a:r>
            <a:r>
              <a:rPr sz="2400" spc="-525">
                <a:latin typeface="Calibri"/>
                <a:cs typeface="Calibri"/>
              </a:rPr>
              <a:t> </a:t>
            </a:r>
            <a:r>
              <a:rPr sz="2400" spc="-10">
                <a:latin typeface="Calibri"/>
                <a:cs typeface="Calibri"/>
              </a:rPr>
              <a:t>that</a:t>
            </a:r>
            <a:r>
              <a:rPr sz="2400" spc="-15">
                <a:latin typeface="Calibri"/>
                <a:cs typeface="Calibri"/>
              </a:rPr>
              <a:t> </a:t>
            </a:r>
            <a:r>
              <a:rPr sz="2400" spc="-10">
                <a:latin typeface="Calibri"/>
                <a:cs typeface="Calibri"/>
              </a:rPr>
              <a:t>can</a:t>
            </a:r>
            <a:r>
              <a:rPr sz="2400" spc="-5">
                <a:latin typeface="Calibri"/>
                <a:cs typeface="Calibri"/>
              </a:rPr>
              <a:t> </a:t>
            </a:r>
            <a:r>
              <a:rPr sz="2400" spc="-10">
                <a:latin typeface="Calibri"/>
                <a:cs typeface="Calibri"/>
              </a:rPr>
              <a:t>participate</a:t>
            </a:r>
            <a:r>
              <a:rPr sz="2400">
                <a:latin typeface="Calibri"/>
                <a:cs typeface="Calibri"/>
              </a:rPr>
              <a:t> </a:t>
            </a:r>
            <a:r>
              <a:rPr sz="2400" spc="-5">
                <a:latin typeface="Calibri"/>
                <a:cs typeface="Calibri"/>
              </a:rPr>
              <a:t>in </a:t>
            </a:r>
            <a:r>
              <a:rPr sz="2400">
                <a:latin typeface="Calibri"/>
                <a:cs typeface="Calibri"/>
              </a:rPr>
              <a:t>a</a:t>
            </a:r>
            <a:r>
              <a:rPr sz="2400" spc="-5">
                <a:latin typeface="Calibri"/>
                <a:cs typeface="Calibri"/>
              </a:rPr>
              <a:t> </a:t>
            </a:r>
            <a:r>
              <a:rPr sz="2400" spc="-10">
                <a:latin typeface="Calibri"/>
                <a:cs typeface="Calibri"/>
              </a:rPr>
              <a:t>relationship</a:t>
            </a:r>
            <a:r>
              <a:rPr sz="2400" spc="-5">
                <a:latin typeface="Calibri"/>
                <a:cs typeface="Calibri"/>
              </a:rPr>
              <a:t> </a:t>
            </a:r>
            <a:r>
              <a:rPr sz="2400" spc="-10">
                <a:latin typeface="Calibri"/>
                <a:cs typeface="Calibri"/>
              </a:rPr>
              <a:t>instance</a:t>
            </a:r>
            <a:endParaRPr sz="2400">
              <a:latin typeface="Calibri"/>
              <a:cs typeface="Calibri"/>
            </a:endParaRPr>
          </a:p>
          <a:p>
            <a:pPr marL="355600">
              <a:spcBef>
                <a:spcPts val="455"/>
              </a:spcBef>
            </a:pPr>
            <a:r>
              <a:rPr sz="2100" spc="15">
                <a:latin typeface="Arial MT"/>
                <a:cs typeface="Arial MT"/>
              </a:rPr>
              <a:t>–</a:t>
            </a:r>
            <a:r>
              <a:rPr sz="2100" spc="-80">
                <a:latin typeface="Arial MT"/>
                <a:cs typeface="Arial MT"/>
              </a:rPr>
              <a:t> </a:t>
            </a:r>
            <a:r>
              <a:rPr sz="2100" spc="-5">
                <a:latin typeface="Calibri"/>
                <a:cs typeface="Calibri"/>
              </a:rPr>
              <a:t>One,</a:t>
            </a:r>
            <a:r>
              <a:rPr sz="2100" spc="-10">
                <a:latin typeface="Calibri"/>
                <a:cs typeface="Calibri"/>
              </a:rPr>
              <a:t> </a:t>
            </a:r>
            <a:r>
              <a:rPr sz="2100" spc="-40">
                <a:latin typeface="Calibri"/>
                <a:cs typeface="Calibri"/>
              </a:rPr>
              <a:t>many,</a:t>
            </a:r>
            <a:r>
              <a:rPr sz="2100" spc="-10">
                <a:latin typeface="Calibri"/>
                <a:cs typeface="Calibri"/>
              </a:rPr>
              <a:t> </a:t>
            </a:r>
            <a:r>
              <a:rPr sz="2100" spc="5">
                <a:latin typeface="Calibri"/>
                <a:cs typeface="Calibri"/>
              </a:rPr>
              <a:t>or</a:t>
            </a:r>
            <a:r>
              <a:rPr sz="2100" spc="-10">
                <a:latin typeface="Calibri"/>
                <a:cs typeface="Calibri"/>
              </a:rPr>
              <a:t> </a:t>
            </a:r>
            <a:r>
              <a:rPr sz="2100">
                <a:latin typeface="Calibri"/>
                <a:cs typeface="Calibri"/>
              </a:rPr>
              <a:t>some</a:t>
            </a:r>
            <a:r>
              <a:rPr sz="2100" spc="-15">
                <a:latin typeface="Calibri"/>
                <a:cs typeface="Calibri"/>
              </a:rPr>
              <a:t> </a:t>
            </a:r>
            <a:r>
              <a:rPr sz="2100">
                <a:latin typeface="Calibri"/>
                <a:cs typeface="Calibri"/>
              </a:rPr>
              <a:t>other</a:t>
            </a:r>
            <a:r>
              <a:rPr sz="2100" spc="-5">
                <a:latin typeface="Calibri"/>
                <a:cs typeface="Calibri"/>
              </a:rPr>
              <a:t> positive</a:t>
            </a:r>
            <a:r>
              <a:rPr sz="2100" spc="-15">
                <a:latin typeface="Calibri"/>
                <a:cs typeface="Calibri"/>
              </a:rPr>
              <a:t> </a:t>
            </a:r>
            <a:r>
              <a:rPr sz="2100" spc="-10">
                <a:latin typeface="Calibri"/>
                <a:cs typeface="Calibri"/>
              </a:rPr>
              <a:t>fixed</a:t>
            </a:r>
            <a:r>
              <a:rPr sz="2100" spc="-25">
                <a:latin typeface="Calibri"/>
                <a:cs typeface="Calibri"/>
              </a:rPr>
              <a:t> </a:t>
            </a:r>
            <a:r>
              <a:rPr sz="2100" spc="-5">
                <a:latin typeface="Calibri"/>
                <a:cs typeface="Calibri"/>
              </a:rPr>
              <a:t>number</a:t>
            </a:r>
            <a:endParaRPr sz="2100">
              <a:latin typeface="Calibri"/>
              <a:cs typeface="Calibri"/>
            </a:endParaRPr>
          </a:p>
        </p:txBody>
      </p:sp>
      <p:sp>
        <p:nvSpPr>
          <p:cNvPr id="2" name="Slide Number Placeholder 1">
            <a:extLst>
              <a:ext uri="{FF2B5EF4-FFF2-40B4-BE49-F238E27FC236}">
                <a16:creationId xmlns:a16="http://schemas.microsoft.com/office/drawing/2014/main" id="{B765B310-6032-42B3-8841-CD86918B15EB}"/>
              </a:ext>
            </a:extLst>
          </p:cNvPr>
          <p:cNvSpPr>
            <a:spLocks noGrp="1"/>
          </p:cNvSpPr>
          <p:nvPr>
            <p:ph type="sldNum" sz="quarter" idx="12"/>
          </p:nvPr>
        </p:nvSpPr>
        <p:spPr/>
        <p:txBody>
          <a:bodyPr/>
          <a:lstStyle/>
          <a:p>
            <a:fld id="{641C0F02-33DC-3A41-9F51-431B7FE03ABE}" type="slidenum">
              <a:rPr lang="en-US" smtClean="0"/>
              <a:t>31</a:t>
            </a:fld>
            <a:endParaRPr lang="en-US"/>
          </a:p>
        </p:txBody>
      </p:sp>
    </p:spTree>
    <p:extLst>
      <p:ext uri="{BB962C8B-B14F-4D97-AF65-F5344CB8AC3E}">
        <p14:creationId xmlns:p14="http://schemas.microsoft.com/office/powerpoint/2010/main" val="749772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2133600" y="0"/>
            <a:ext cx="7772400" cy="1143000"/>
          </a:xfrm>
        </p:spPr>
        <p:txBody>
          <a:bodyPr>
            <a:normAutofit fontScale="90000"/>
          </a:bodyPr>
          <a:lstStyle/>
          <a:p>
            <a:pPr eaLnBrk="1" hangingPunct="1"/>
            <a:br>
              <a:rPr lang="en-US"/>
            </a:br>
            <a:endParaRPr lang="en-US"/>
          </a:p>
        </p:txBody>
      </p:sp>
      <p:grpSp>
        <p:nvGrpSpPr>
          <p:cNvPr id="8" name="Group 7"/>
          <p:cNvGrpSpPr/>
          <p:nvPr/>
        </p:nvGrpSpPr>
        <p:grpSpPr>
          <a:xfrm>
            <a:off x="4495800" y="1600200"/>
            <a:ext cx="3429000" cy="1371600"/>
            <a:chOff x="4495800" y="1600200"/>
            <a:chExt cx="3429000" cy="1371600"/>
          </a:xfrm>
        </p:grpSpPr>
        <p:sp>
          <p:nvSpPr>
            <p:cNvPr id="21533" name="AutoShape 8"/>
            <p:cNvSpPr>
              <a:spLocks noChangeArrowheads="1"/>
            </p:cNvSpPr>
            <p:nvPr/>
          </p:nvSpPr>
          <p:spPr bwMode="auto">
            <a:xfrm>
              <a:off x="5181600" y="16002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21535" name="Line 17"/>
            <p:cNvSpPr>
              <a:spLocks noChangeShapeType="1"/>
            </p:cNvSpPr>
            <p:nvPr/>
          </p:nvSpPr>
          <p:spPr bwMode="auto">
            <a:xfrm>
              <a:off x="6705600" y="2286000"/>
              <a:ext cx="1219200" cy="0"/>
            </a:xfrm>
            <a:prstGeom prst="line">
              <a:avLst/>
            </a:prstGeom>
            <a:noFill/>
            <a:ln w="9525">
              <a:solidFill>
                <a:schemeClr val="tx1"/>
              </a:solidFill>
              <a:round/>
              <a:headEnd/>
              <a:tailEnd type="none" w="med"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36" name="Line 21"/>
            <p:cNvSpPr>
              <a:spLocks noChangeShapeType="1"/>
            </p:cNvSpPr>
            <p:nvPr/>
          </p:nvSpPr>
          <p:spPr bwMode="auto">
            <a:xfrm flipH="1">
              <a:off x="4495800" y="2286000"/>
              <a:ext cx="6858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7" name="Group 6"/>
          <p:cNvGrpSpPr/>
          <p:nvPr/>
        </p:nvGrpSpPr>
        <p:grpSpPr>
          <a:xfrm>
            <a:off x="2895600" y="3048000"/>
            <a:ext cx="1752600" cy="2133600"/>
            <a:chOff x="2895600" y="3048000"/>
            <a:chExt cx="1752600" cy="2133600"/>
          </a:xfrm>
        </p:grpSpPr>
        <p:sp>
          <p:nvSpPr>
            <p:cNvPr id="21532" name="AutoShape 7"/>
            <p:cNvSpPr>
              <a:spLocks noChangeArrowheads="1"/>
            </p:cNvSpPr>
            <p:nvPr/>
          </p:nvSpPr>
          <p:spPr bwMode="auto">
            <a:xfrm>
              <a:off x="2895600" y="35052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buys</a:t>
              </a:r>
            </a:p>
          </p:txBody>
        </p:sp>
        <p:sp>
          <p:nvSpPr>
            <p:cNvPr id="21537" name="Line 22"/>
            <p:cNvSpPr>
              <a:spLocks noChangeShapeType="1"/>
            </p:cNvSpPr>
            <p:nvPr/>
          </p:nvSpPr>
          <p:spPr bwMode="auto">
            <a:xfrm flipV="1">
              <a:off x="3657600" y="3048000"/>
              <a:ext cx="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38" name="Line 23"/>
            <p:cNvSpPr>
              <a:spLocks noChangeShapeType="1"/>
            </p:cNvSpPr>
            <p:nvPr/>
          </p:nvSpPr>
          <p:spPr bwMode="auto">
            <a:xfrm>
              <a:off x="3657600" y="4876800"/>
              <a:ext cx="9906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9" name="Group 8"/>
          <p:cNvGrpSpPr/>
          <p:nvPr/>
        </p:nvGrpSpPr>
        <p:grpSpPr>
          <a:xfrm>
            <a:off x="7162800" y="2667000"/>
            <a:ext cx="2133600" cy="2438400"/>
            <a:chOff x="7162800" y="2667000"/>
            <a:chExt cx="2133600" cy="2438400"/>
          </a:xfrm>
        </p:grpSpPr>
        <p:sp>
          <p:nvSpPr>
            <p:cNvPr id="21534" name="AutoShape 9"/>
            <p:cNvSpPr>
              <a:spLocks noChangeArrowheads="1"/>
            </p:cNvSpPr>
            <p:nvPr/>
          </p:nvSpPr>
          <p:spPr bwMode="auto">
            <a:xfrm>
              <a:off x="7772400" y="36576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employs</a:t>
              </a:r>
            </a:p>
          </p:txBody>
        </p:sp>
        <p:sp>
          <p:nvSpPr>
            <p:cNvPr id="21539" name="Line 25"/>
            <p:cNvSpPr>
              <a:spLocks noChangeShapeType="1"/>
            </p:cNvSpPr>
            <p:nvPr/>
          </p:nvSpPr>
          <p:spPr bwMode="auto">
            <a:xfrm flipH="1">
              <a:off x="7162800" y="4343400"/>
              <a:ext cx="6096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cxnSp>
          <p:nvCxnSpPr>
            <p:cNvPr id="21540" name="AutoShape 29"/>
            <p:cNvCxnSpPr>
              <a:cxnSpLocks noChangeShapeType="1"/>
              <a:stCxn id="21534" idx="0"/>
              <a:endCxn id="21509" idx="2"/>
            </p:cNvCxnSpPr>
            <p:nvPr/>
          </p:nvCxnSpPr>
          <p:spPr bwMode="auto">
            <a:xfrm flipV="1">
              <a:off x="8534400" y="2667000"/>
              <a:ext cx="495300" cy="990600"/>
            </a:xfrm>
            <a:prstGeom prst="straightConnector1">
              <a:avLst/>
            </a:prstGeom>
            <a:noFill/>
            <a:ln w="9525">
              <a:solidFill>
                <a:schemeClr val="tx1"/>
              </a:solidFill>
              <a:round/>
              <a:headEnd/>
              <a:tailEnd/>
            </a:ln>
          </p:spPr>
        </p:cxnSp>
      </p:grpSp>
      <p:grpSp>
        <p:nvGrpSpPr>
          <p:cNvPr id="4" name="Group 3"/>
          <p:cNvGrpSpPr/>
          <p:nvPr/>
        </p:nvGrpSpPr>
        <p:grpSpPr>
          <a:xfrm>
            <a:off x="1676400" y="457200"/>
            <a:ext cx="4038600" cy="2590800"/>
            <a:chOff x="1676400" y="457200"/>
            <a:chExt cx="4038600" cy="2590800"/>
          </a:xfrm>
        </p:grpSpPr>
        <p:sp>
          <p:nvSpPr>
            <p:cNvPr id="21510" name="Rectangle 11"/>
            <p:cNvSpPr>
              <a:spLocks noChangeArrowheads="1"/>
            </p:cNvSpPr>
            <p:nvPr/>
          </p:nvSpPr>
          <p:spPr bwMode="auto">
            <a:xfrm>
              <a:off x="2362200" y="22860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grpSp>
          <p:nvGrpSpPr>
            <p:cNvPr id="21513" name="Group 33"/>
            <p:cNvGrpSpPr>
              <a:grpSpLocks/>
            </p:cNvGrpSpPr>
            <p:nvPr/>
          </p:nvGrpSpPr>
          <p:grpSpPr bwMode="auto">
            <a:xfrm>
              <a:off x="1676400" y="457200"/>
              <a:ext cx="4038600" cy="1828800"/>
              <a:chOff x="96" y="288"/>
              <a:chExt cx="2544" cy="1152"/>
            </a:xfrm>
          </p:grpSpPr>
          <p:sp>
            <p:nvSpPr>
              <p:cNvPr id="21526" name="Oval 12"/>
              <p:cNvSpPr>
                <a:spLocks noChangeArrowheads="1"/>
              </p:cNvSpPr>
              <p:nvPr/>
            </p:nvSpPr>
            <p:spPr bwMode="auto">
              <a:xfrm>
                <a:off x="720" y="288"/>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21527" name="Oval 13"/>
              <p:cNvSpPr>
                <a:spLocks noChangeArrowheads="1"/>
              </p:cNvSpPr>
              <p:nvPr/>
            </p:nvSpPr>
            <p:spPr bwMode="auto">
              <a:xfrm>
                <a:off x="1728" y="288"/>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21528" name="Oval 16"/>
              <p:cNvSpPr>
                <a:spLocks noChangeArrowheads="1"/>
              </p:cNvSpPr>
              <p:nvPr/>
            </p:nvSpPr>
            <p:spPr bwMode="auto">
              <a:xfrm>
                <a:off x="96" y="864"/>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sp>
            <p:nvSpPr>
              <p:cNvPr id="21529" name="Line 18"/>
              <p:cNvSpPr>
                <a:spLocks noChangeShapeType="1"/>
              </p:cNvSpPr>
              <p:nvPr/>
            </p:nvSpPr>
            <p:spPr bwMode="auto">
              <a:xfrm flipH="1" flipV="1">
                <a:off x="720" y="1248"/>
                <a:ext cx="192" cy="192"/>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30" name="Line 19"/>
              <p:cNvSpPr>
                <a:spLocks noChangeShapeType="1"/>
              </p:cNvSpPr>
              <p:nvPr/>
            </p:nvSpPr>
            <p:spPr bwMode="auto">
              <a:xfrm flipV="1">
                <a:off x="1200" y="720"/>
                <a:ext cx="0" cy="72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31" name="Line 20"/>
              <p:cNvSpPr>
                <a:spLocks noChangeShapeType="1"/>
              </p:cNvSpPr>
              <p:nvPr/>
            </p:nvSpPr>
            <p:spPr bwMode="auto">
              <a:xfrm flipV="1">
                <a:off x="1584" y="720"/>
                <a:ext cx="480" cy="72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grpSp>
        <p:nvGrpSpPr>
          <p:cNvPr id="6" name="Group 5"/>
          <p:cNvGrpSpPr/>
          <p:nvPr/>
        </p:nvGrpSpPr>
        <p:grpSpPr>
          <a:xfrm>
            <a:off x="2819400" y="4724400"/>
            <a:ext cx="6705600" cy="1981200"/>
            <a:chOff x="2819400" y="4724400"/>
            <a:chExt cx="6705600" cy="1981200"/>
          </a:xfrm>
        </p:grpSpPr>
        <p:sp>
          <p:nvSpPr>
            <p:cNvPr id="21508" name="Rectangle 6"/>
            <p:cNvSpPr>
              <a:spLocks noChangeArrowheads="1"/>
            </p:cNvSpPr>
            <p:nvPr/>
          </p:nvSpPr>
          <p:spPr bwMode="auto">
            <a:xfrm>
              <a:off x="4648200" y="4724400"/>
              <a:ext cx="2514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grpSp>
          <p:nvGrpSpPr>
            <p:cNvPr id="21514" name="Group 31"/>
            <p:cNvGrpSpPr>
              <a:grpSpLocks/>
            </p:cNvGrpSpPr>
            <p:nvPr/>
          </p:nvGrpSpPr>
          <p:grpSpPr bwMode="auto">
            <a:xfrm>
              <a:off x="2819400" y="5486400"/>
              <a:ext cx="6705600" cy="1219200"/>
              <a:chOff x="816" y="3456"/>
              <a:chExt cx="4224" cy="768"/>
            </a:xfrm>
          </p:grpSpPr>
          <p:sp>
            <p:nvSpPr>
              <p:cNvPr id="21520" name="Oval 3"/>
              <p:cNvSpPr>
                <a:spLocks noChangeArrowheads="1"/>
              </p:cNvSpPr>
              <p:nvPr/>
            </p:nvSpPr>
            <p:spPr bwMode="auto">
              <a:xfrm>
                <a:off x="816" y="3792"/>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address</a:t>
                </a:r>
              </a:p>
            </p:txBody>
          </p:sp>
          <p:sp>
            <p:nvSpPr>
              <p:cNvPr id="21521" name="Oval 4"/>
              <p:cNvSpPr>
                <a:spLocks noChangeArrowheads="1"/>
              </p:cNvSpPr>
              <p:nvPr/>
            </p:nvSpPr>
            <p:spPr bwMode="auto">
              <a:xfrm>
                <a:off x="2448" y="3744"/>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21522" name="Oval 5"/>
              <p:cNvSpPr>
                <a:spLocks noChangeArrowheads="1"/>
              </p:cNvSpPr>
              <p:nvPr/>
            </p:nvSpPr>
            <p:spPr bwMode="auto">
              <a:xfrm>
                <a:off x="4128" y="3744"/>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ssn</a:t>
                </a:r>
              </a:p>
            </p:txBody>
          </p:sp>
          <p:sp>
            <p:nvSpPr>
              <p:cNvPr id="21523" name="Line 26"/>
              <p:cNvSpPr>
                <a:spLocks noChangeShapeType="1"/>
              </p:cNvSpPr>
              <p:nvPr/>
            </p:nvSpPr>
            <p:spPr bwMode="auto">
              <a:xfrm flipH="1">
                <a:off x="1632" y="3456"/>
                <a:ext cx="1056" cy="432"/>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24" name="Line 27"/>
              <p:cNvSpPr>
                <a:spLocks noChangeShapeType="1"/>
              </p:cNvSpPr>
              <p:nvPr/>
            </p:nvSpPr>
            <p:spPr bwMode="auto">
              <a:xfrm>
                <a:off x="2688" y="3456"/>
                <a:ext cx="192" cy="288"/>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1525" name="Line 28"/>
              <p:cNvSpPr>
                <a:spLocks noChangeShapeType="1"/>
              </p:cNvSpPr>
              <p:nvPr/>
            </p:nvSpPr>
            <p:spPr bwMode="auto">
              <a:xfrm>
                <a:off x="3168" y="3456"/>
                <a:ext cx="1056" cy="336"/>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grpSp>
        <p:nvGrpSpPr>
          <p:cNvPr id="5" name="Group 4"/>
          <p:cNvGrpSpPr/>
          <p:nvPr/>
        </p:nvGrpSpPr>
        <p:grpSpPr>
          <a:xfrm>
            <a:off x="7924800" y="685800"/>
            <a:ext cx="2590800" cy="2971800"/>
            <a:chOff x="7924800" y="685800"/>
            <a:chExt cx="2590800" cy="2971800"/>
          </a:xfrm>
        </p:grpSpPr>
        <p:sp>
          <p:nvSpPr>
            <p:cNvPr id="21509" name="Rectangle 10"/>
            <p:cNvSpPr>
              <a:spLocks noChangeArrowheads="1"/>
            </p:cNvSpPr>
            <p:nvPr/>
          </p:nvSpPr>
          <p:spPr bwMode="auto">
            <a:xfrm>
              <a:off x="7924800" y="19050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grpSp>
          <p:nvGrpSpPr>
            <p:cNvPr id="21515" name="Group 32"/>
            <p:cNvGrpSpPr>
              <a:grpSpLocks/>
            </p:cNvGrpSpPr>
            <p:nvPr/>
          </p:nvGrpSpPr>
          <p:grpSpPr bwMode="auto">
            <a:xfrm>
              <a:off x="8915400" y="685800"/>
              <a:ext cx="1600200" cy="2971800"/>
              <a:chOff x="4656" y="432"/>
              <a:chExt cx="1008" cy="1872"/>
            </a:xfrm>
          </p:grpSpPr>
          <p:sp>
            <p:nvSpPr>
              <p:cNvPr id="21516" name="Oval 14"/>
              <p:cNvSpPr>
                <a:spLocks noChangeArrowheads="1"/>
              </p:cNvSpPr>
              <p:nvPr/>
            </p:nvSpPr>
            <p:spPr bwMode="auto">
              <a:xfrm>
                <a:off x="4752" y="1872"/>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stockprice</a:t>
                </a:r>
              </a:p>
            </p:txBody>
          </p:sp>
          <p:sp>
            <p:nvSpPr>
              <p:cNvPr id="21517" name="Oval 15"/>
              <p:cNvSpPr>
                <a:spLocks noChangeArrowheads="1"/>
              </p:cNvSpPr>
              <p:nvPr/>
            </p:nvSpPr>
            <p:spPr bwMode="auto">
              <a:xfrm>
                <a:off x="4656" y="432"/>
                <a:ext cx="912" cy="432"/>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21518" name="Line 24"/>
              <p:cNvSpPr>
                <a:spLocks noChangeShapeType="1"/>
              </p:cNvSpPr>
              <p:nvPr/>
            </p:nvSpPr>
            <p:spPr bwMode="auto">
              <a:xfrm flipV="1">
                <a:off x="4896" y="816"/>
                <a:ext cx="144" cy="384"/>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cxnSp>
            <p:nvCxnSpPr>
              <p:cNvPr id="21519" name="AutoShape 30"/>
              <p:cNvCxnSpPr>
                <a:cxnSpLocks noChangeShapeType="1"/>
                <a:stCxn id="21509" idx="2"/>
                <a:endCxn id="21516" idx="0"/>
              </p:cNvCxnSpPr>
              <p:nvPr/>
            </p:nvCxnSpPr>
            <p:spPr bwMode="auto">
              <a:xfrm>
                <a:off x="4728" y="1680"/>
                <a:ext cx="480" cy="192"/>
              </a:xfrm>
              <a:prstGeom prst="straightConnector1">
                <a:avLst/>
              </a:prstGeom>
              <a:noFill/>
              <a:ln w="9525">
                <a:solidFill>
                  <a:schemeClr val="tx1"/>
                </a:solidFill>
                <a:round/>
                <a:headEnd/>
                <a:tailEnd/>
              </a:ln>
            </p:spPr>
          </p:cxnSp>
        </p:grpSp>
      </p:grpSp>
      <p:sp>
        <p:nvSpPr>
          <p:cNvPr id="2" name="Slide Number Placeholder 1">
            <a:extLst>
              <a:ext uri="{FF2B5EF4-FFF2-40B4-BE49-F238E27FC236}">
                <a16:creationId xmlns:a16="http://schemas.microsoft.com/office/drawing/2014/main" id="{241C01A1-C9CC-4193-9446-F6E74DDAA1C8}"/>
              </a:ext>
            </a:extLst>
          </p:cNvPr>
          <p:cNvSpPr>
            <a:spLocks noGrp="1"/>
          </p:cNvSpPr>
          <p:nvPr>
            <p:ph type="sldNum" sz="quarter" idx="12"/>
          </p:nvPr>
        </p:nvSpPr>
        <p:spPr/>
        <p:txBody>
          <a:bodyPr/>
          <a:lstStyle/>
          <a:p>
            <a:fld id="{641C0F02-33DC-3A41-9F51-431B7FE03ABE}" type="slidenum">
              <a:rPr lang="en-US" smtClean="0"/>
              <a:t>32</a:t>
            </a:fld>
            <a:endParaRPr lang="en-US"/>
          </a:p>
        </p:txBody>
      </p:sp>
    </p:spTree>
    <p:extLst>
      <p:ext uri="{BB962C8B-B14F-4D97-AF65-F5344CB8AC3E}">
        <p14:creationId xmlns:p14="http://schemas.microsoft.com/office/powerpoint/2010/main" val="201827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2"/>
          </p:nvPr>
        </p:nvSpPr>
        <p:spPr>
          <a:noFill/>
        </p:spPr>
        <p:txBody>
          <a:bodyPr/>
          <a:lstStyle/>
          <a:p>
            <a:fld id="{1834697F-1B3D-7640-A467-D80D53D0C6F0}" type="slidenum">
              <a:rPr lang="en-US" smtClean="0">
                <a:solidFill>
                  <a:srgbClr val="000000"/>
                </a:solidFill>
              </a:rPr>
              <a:pPr/>
              <a:t>33</a:t>
            </a:fld>
            <a:endParaRPr lang="en-US">
              <a:solidFill>
                <a:srgbClr val="000000"/>
              </a:solidFill>
            </a:endParaRPr>
          </a:p>
        </p:txBody>
      </p:sp>
      <p:sp>
        <p:nvSpPr>
          <p:cNvPr id="29699" name="Rectangle 2"/>
          <p:cNvSpPr>
            <a:spLocks noGrp="1" noChangeArrowheads="1"/>
          </p:cNvSpPr>
          <p:nvPr>
            <p:ph type="title" idx="4294967295"/>
          </p:nvPr>
        </p:nvSpPr>
        <p:spPr>
          <a:xfrm>
            <a:off x="0" y="0"/>
            <a:ext cx="7772400" cy="1143000"/>
          </a:xfrm>
        </p:spPr>
        <p:txBody>
          <a:bodyPr>
            <a:normAutofit fontScale="90000"/>
          </a:bodyPr>
          <a:lstStyle/>
          <a:p>
            <a:pPr eaLnBrk="1" hangingPunct="1"/>
            <a:br>
              <a:rPr lang="en-US"/>
            </a:br>
            <a:endParaRPr lang="en-US"/>
          </a:p>
        </p:txBody>
      </p:sp>
      <p:sp>
        <p:nvSpPr>
          <p:cNvPr id="29700" name="Oval 3"/>
          <p:cNvSpPr>
            <a:spLocks noChangeArrowheads="1"/>
          </p:cNvSpPr>
          <p:nvPr/>
        </p:nvSpPr>
        <p:spPr bwMode="auto">
          <a:xfrm>
            <a:off x="2819400" y="60198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address</a:t>
            </a:r>
          </a:p>
        </p:txBody>
      </p:sp>
      <p:sp>
        <p:nvSpPr>
          <p:cNvPr id="29701" name="Oval 4"/>
          <p:cNvSpPr>
            <a:spLocks noChangeArrowheads="1"/>
          </p:cNvSpPr>
          <p:nvPr/>
        </p:nvSpPr>
        <p:spPr bwMode="auto">
          <a:xfrm>
            <a:off x="5410200" y="59436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29702" name="Oval 5"/>
          <p:cNvSpPr>
            <a:spLocks noChangeArrowheads="1"/>
          </p:cNvSpPr>
          <p:nvPr/>
        </p:nvSpPr>
        <p:spPr bwMode="auto">
          <a:xfrm>
            <a:off x="8077200" y="59436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ssn</a:t>
            </a:r>
          </a:p>
        </p:txBody>
      </p:sp>
      <p:sp>
        <p:nvSpPr>
          <p:cNvPr id="29703" name="Rectangle 6"/>
          <p:cNvSpPr>
            <a:spLocks noChangeArrowheads="1"/>
          </p:cNvSpPr>
          <p:nvPr/>
        </p:nvSpPr>
        <p:spPr bwMode="auto">
          <a:xfrm>
            <a:off x="4648200" y="4724400"/>
            <a:ext cx="2514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29704" name="AutoShape 7"/>
          <p:cNvSpPr>
            <a:spLocks noChangeArrowheads="1"/>
          </p:cNvSpPr>
          <p:nvPr/>
        </p:nvSpPr>
        <p:spPr bwMode="auto">
          <a:xfrm>
            <a:off x="2895600" y="35052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buys</a:t>
            </a:r>
          </a:p>
        </p:txBody>
      </p:sp>
      <p:sp>
        <p:nvSpPr>
          <p:cNvPr id="29705" name="AutoShape 8"/>
          <p:cNvSpPr>
            <a:spLocks noChangeArrowheads="1"/>
          </p:cNvSpPr>
          <p:nvPr/>
        </p:nvSpPr>
        <p:spPr bwMode="auto">
          <a:xfrm>
            <a:off x="5181600" y="16002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29706" name="AutoShape 9"/>
          <p:cNvSpPr>
            <a:spLocks noChangeArrowheads="1"/>
          </p:cNvSpPr>
          <p:nvPr/>
        </p:nvSpPr>
        <p:spPr bwMode="auto">
          <a:xfrm>
            <a:off x="7772400" y="36576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employs</a:t>
            </a:r>
          </a:p>
        </p:txBody>
      </p:sp>
      <p:sp>
        <p:nvSpPr>
          <p:cNvPr id="29707" name="Rectangle 10"/>
          <p:cNvSpPr>
            <a:spLocks noChangeArrowheads="1"/>
          </p:cNvSpPr>
          <p:nvPr/>
        </p:nvSpPr>
        <p:spPr bwMode="auto">
          <a:xfrm>
            <a:off x="7924800" y="19050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sp>
        <p:nvSpPr>
          <p:cNvPr id="29708" name="Rectangle 11"/>
          <p:cNvSpPr>
            <a:spLocks noChangeArrowheads="1"/>
          </p:cNvSpPr>
          <p:nvPr/>
        </p:nvSpPr>
        <p:spPr bwMode="auto">
          <a:xfrm>
            <a:off x="2362200" y="22860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29709" name="Oval 12"/>
          <p:cNvSpPr>
            <a:spLocks noChangeArrowheads="1"/>
          </p:cNvSpPr>
          <p:nvPr/>
        </p:nvSpPr>
        <p:spPr bwMode="auto">
          <a:xfrm>
            <a:off x="2667000" y="4572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29710" name="Oval 13"/>
          <p:cNvSpPr>
            <a:spLocks noChangeArrowheads="1"/>
          </p:cNvSpPr>
          <p:nvPr/>
        </p:nvSpPr>
        <p:spPr bwMode="auto">
          <a:xfrm>
            <a:off x="4267200" y="4572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29711" name="Oval 14"/>
          <p:cNvSpPr>
            <a:spLocks noChangeArrowheads="1"/>
          </p:cNvSpPr>
          <p:nvPr/>
        </p:nvSpPr>
        <p:spPr bwMode="auto">
          <a:xfrm>
            <a:off x="9220200" y="29718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stockprice</a:t>
            </a:r>
          </a:p>
        </p:txBody>
      </p:sp>
      <p:sp>
        <p:nvSpPr>
          <p:cNvPr id="29712" name="Oval 15"/>
          <p:cNvSpPr>
            <a:spLocks noChangeArrowheads="1"/>
          </p:cNvSpPr>
          <p:nvPr/>
        </p:nvSpPr>
        <p:spPr bwMode="auto">
          <a:xfrm>
            <a:off x="9067800" y="6858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u="sng">
                <a:solidFill>
                  <a:srgbClr val="000000"/>
                </a:solidFill>
              </a:rPr>
              <a:t>name</a:t>
            </a:r>
          </a:p>
        </p:txBody>
      </p:sp>
      <p:sp>
        <p:nvSpPr>
          <p:cNvPr id="29713" name="Oval 16"/>
          <p:cNvSpPr>
            <a:spLocks noChangeArrowheads="1"/>
          </p:cNvSpPr>
          <p:nvPr/>
        </p:nvSpPr>
        <p:spPr bwMode="auto">
          <a:xfrm>
            <a:off x="1524000" y="137160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sp>
        <p:nvSpPr>
          <p:cNvPr id="29714" name="Line 17"/>
          <p:cNvSpPr>
            <a:spLocks noChangeShapeType="1"/>
          </p:cNvSpPr>
          <p:nvPr/>
        </p:nvSpPr>
        <p:spPr bwMode="auto">
          <a:xfrm>
            <a:off x="6705600" y="2286000"/>
            <a:ext cx="1219200" cy="0"/>
          </a:xfrm>
          <a:prstGeom prst="line">
            <a:avLst/>
          </a:prstGeom>
          <a:noFill/>
          <a:ln w="9525">
            <a:solidFill>
              <a:schemeClr val="tx1"/>
            </a:solidFill>
            <a:round/>
            <a:headEnd/>
            <a:tailEnd type="non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15" name="Line 18"/>
          <p:cNvSpPr>
            <a:spLocks noChangeShapeType="1"/>
          </p:cNvSpPr>
          <p:nvPr/>
        </p:nvSpPr>
        <p:spPr bwMode="auto">
          <a:xfrm flipH="1" flipV="1">
            <a:off x="2667000" y="1981200"/>
            <a:ext cx="3048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16" name="Line 19"/>
          <p:cNvSpPr>
            <a:spLocks noChangeShapeType="1"/>
          </p:cNvSpPr>
          <p:nvPr/>
        </p:nvSpPr>
        <p:spPr bwMode="auto">
          <a:xfrm flipV="1">
            <a:off x="3429000" y="1143000"/>
            <a:ext cx="0" cy="1143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17" name="Line 20"/>
          <p:cNvSpPr>
            <a:spLocks noChangeShapeType="1"/>
          </p:cNvSpPr>
          <p:nvPr/>
        </p:nvSpPr>
        <p:spPr bwMode="auto">
          <a:xfrm flipV="1">
            <a:off x="4038600" y="1143000"/>
            <a:ext cx="762000" cy="1143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18" name="Line 21"/>
          <p:cNvSpPr>
            <a:spLocks noChangeShapeType="1"/>
          </p:cNvSpPr>
          <p:nvPr/>
        </p:nvSpPr>
        <p:spPr bwMode="auto">
          <a:xfrm flipH="1">
            <a:off x="4495800" y="2286000"/>
            <a:ext cx="685800" cy="304800"/>
          </a:xfrm>
          <a:prstGeom prst="line">
            <a:avLst/>
          </a:prstGeom>
          <a:noFill/>
          <a:ln w="9525">
            <a:solidFill>
              <a:schemeClr val="tx1"/>
            </a:solidFill>
            <a:round/>
            <a:headEnd type="triangl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19" name="Line 22"/>
          <p:cNvSpPr>
            <a:spLocks noChangeShapeType="1"/>
          </p:cNvSpPr>
          <p:nvPr/>
        </p:nvSpPr>
        <p:spPr bwMode="auto">
          <a:xfrm flipV="1">
            <a:off x="3657600" y="3048000"/>
            <a:ext cx="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0" name="Line 23"/>
          <p:cNvSpPr>
            <a:spLocks noChangeShapeType="1"/>
          </p:cNvSpPr>
          <p:nvPr/>
        </p:nvSpPr>
        <p:spPr bwMode="auto">
          <a:xfrm>
            <a:off x="3657600" y="4876800"/>
            <a:ext cx="9906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1" name="Line 24"/>
          <p:cNvSpPr>
            <a:spLocks noChangeShapeType="1"/>
          </p:cNvSpPr>
          <p:nvPr/>
        </p:nvSpPr>
        <p:spPr bwMode="auto">
          <a:xfrm flipV="1">
            <a:off x="9296400" y="1295400"/>
            <a:ext cx="228600" cy="6096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2" name="Line 25"/>
          <p:cNvSpPr>
            <a:spLocks noChangeShapeType="1"/>
          </p:cNvSpPr>
          <p:nvPr/>
        </p:nvSpPr>
        <p:spPr bwMode="auto">
          <a:xfrm flipH="1">
            <a:off x="7162800" y="4343400"/>
            <a:ext cx="609600" cy="762000"/>
          </a:xfrm>
          <a:prstGeom prst="line">
            <a:avLst/>
          </a:prstGeom>
          <a:noFill/>
          <a:ln w="9525">
            <a:solidFill>
              <a:schemeClr val="tx1"/>
            </a:solidFill>
            <a:round/>
            <a:headEnd type="triangle" w="lg" len="lg"/>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3" name="Line 26"/>
          <p:cNvSpPr>
            <a:spLocks noChangeShapeType="1"/>
          </p:cNvSpPr>
          <p:nvPr/>
        </p:nvSpPr>
        <p:spPr bwMode="auto">
          <a:xfrm flipH="1">
            <a:off x="4114800" y="5486400"/>
            <a:ext cx="1676400" cy="685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4" name="Line 27"/>
          <p:cNvSpPr>
            <a:spLocks noChangeShapeType="1"/>
          </p:cNvSpPr>
          <p:nvPr/>
        </p:nvSpPr>
        <p:spPr bwMode="auto">
          <a:xfrm>
            <a:off x="5791200" y="5486400"/>
            <a:ext cx="3048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9725" name="Line 28"/>
          <p:cNvSpPr>
            <a:spLocks noChangeShapeType="1"/>
          </p:cNvSpPr>
          <p:nvPr/>
        </p:nvSpPr>
        <p:spPr bwMode="auto">
          <a:xfrm>
            <a:off x="6553200" y="5486400"/>
            <a:ext cx="1676400" cy="5334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cxnSp>
        <p:nvCxnSpPr>
          <p:cNvPr id="29726" name="AutoShape 29"/>
          <p:cNvCxnSpPr>
            <a:cxnSpLocks noChangeShapeType="1"/>
            <a:stCxn id="29706" idx="0"/>
            <a:endCxn id="29707" idx="2"/>
          </p:cNvCxnSpPr>
          <p:nvPr/>
        </p:nvCxnSpPr>
        <p:spPr bwMode="auto">
          <a:xfrm flipV="1">
            <a:off x="8534400" y="2667000"/>
            <a:ext cx="495300" cy="990600"/>
          </a:xfrm>
          <a:prstGeom prst="straightConnector1">
            <a:avLst/>
          </a:prstGeom>
          <a:noFill/>
          <a:ln w="9525">
            <a:solidFill>
              <a:schemeClr val="tx1"/>
            </a:solidFill>
            <a:round/>
            <a:headEnd/>
            <a:tailEnd type="none" w="sm" len="sm"/>
          </a:ln>
        </p:spPr>
      </p:cxnSp>
      <p:cxnSp>
        <p:nvCxnSpPr>
          <p:cNvPr id="29727" name="AutoShape 30"/>
          <p:cNvCxnSpPr>
            <a:cxnSpLocks noChangeShapeType="1"/>
            <a:stCxn id="29707" idx="2"/>
            <a:endCxn id="29711" idx="0"/>
          </p:cNvCxnSpPr>
          <p:nvPr/>
        </p:nvCxnSpPr>
        <p:spPr bwMode="auto">
          <a:xfrm>
            <a:off x="9029700" y="2667000"/>
            <a:ext cx="914400" cy="304800"/>
          </a:xfrm>
          <a:prstGeom prst="straightConnector1">
            <a:avLst/>
          </a:prstGeom>
          <a:noFill/>
          <a:ln w="9525">
            <a:solidFill>
              <a:schemeClr val="tx1"/>
            </a:solidFill>
            <a:round/>
            <a:headEnd/>
            <a:tailEnd/>
          </a:ln>
        </p:spPr>
      </p:cxnSp>
      <p:sp>
        <p:nvSpPr>
          <p:cNvPr id="33" name="TextBox 32"/>
          <p:cNvSpPr txBox="1"/>
          <p:nvPr/>
        </p:nvSpPr>
        <p:spPr>
          <a:xfrm>
            <a:off x="5105400" y="3352801"/>
            <a:ext cx="1905000" cy="954107"/>
          </a:xfrm>
          <a:prstGeom prst="rect">
            <a:avLst/>
          </a:prstGeom>
          <a:noFill/>
        </p:spPr>
        <p:txBody>
          <a:bodyPr wrap="square" rtlCol="0">
            <a:spAutoFit/>
          </a:bodyPr>
          <a:lstStyle/>
          <a:p>
            <a:pPr algn="ctr" fontAlgn="base">
              <a:spcBef>
                <a:spcPct val="0"/>
              </a:spcBef>
              <a:spcAft>
                <a:spcPct val="0"/>
              </a:spcAft>
            </a:pPr>
            <a:r>
              <a:rPr lang="en-US" sz="2800">
                <a:solidFill>
                  <a:srgbClr val="000000"/>
                </a:solidFill>
                <a:latin typeface="+mj-lt"/>
              </a:rPr>
              <a:t>What does this say?</a:t>
            </a:r>
          </a:p>
        </p:txBody>
      </p:sp>
    </p:spTree>
    <p:extLst>
      <p:ext uri="{BB962C8B-B14F-4D97-AF65-F5344CB8AC3E}">
        <p14:creationId xmlns:p14="http://schemas.microsoft.com/office/powerpoint/2010/main" val="674175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Relationship vs. Entity?</a:t>
            </a:r>
          </a:p>
        </p:txBody>
      </p:sp>
      <p:sp>
        <p:nvSpPr>
          <p:cNvPr id="3" name="Content Placeholder 2"/>
          <p:cNvSpPr>
            <a:spLocks noGrp="1"/>
          </p:cNvSpPr>
          <p:nvPr>
            <p:ph idx="1"/>
          </p:nvPr>
        </p:nvSpPr>
        <p:spPr>
          <a:xfrm>
            <a:off x="838581" y="1867599"/>
            <a:ext cx="10363200" cy="3144726"/>
          </a:xfrm>
        </p:spPr>
        <p:txBody>
          <a:bodyPr>
            <a:normAutofit/>
          </a:bodyPr>
          <a:lstStyle/>
          <a:p>
            <a:r>
              <a:rPr lang="en-US" sz="2800"/>
              <a:t>What about this way?</a:t>
            </a:r>
          </a:p>
          <a:p>
            <a:endParaRPr lang="en-US" sz="2800"/>
          </a:p>
          <a:p>
            <a:endParaRPr lang="en-US" sz="2800"/>
          </a:p>
          <a:p>
            <a:endParaRPr lang="en-US" sz="2800"/>
          </a:p>
          <a:p>
            <a:endParaRPr lang="en-US" sz="2800"/>
          </a:p>
          <a:p>
            <a:r>
              <a:rPr lang="en-US" sz="2800" i="1"/>
              <a:t>Now we can have multiple purchases per product, person pair!</a:t>
            </a:r>
          </a:p>
          <a:p>
            <a:endParaRPr lang="en-US" sz="2800" b="1" i="1"/>
          </a:p>
          <a:p>
            <a:endParaRPr lang="en-US" sz="2800" b="1" i="1"/>
          </a:p>
          <a:p>
            <a:endParaRPr lang="en-US" sz="2800" b="1" i="1"/>
          </a:p>
          <a:p>
            <a:pPr marL="0" indent="0">
              <a:buNone/>
            </a:pPr>
            <a:endParaRPr lang="en-US" sz="2800" b="1" i="1"/>
          </a:p>
        </p:txBody>
      </p:sp>
      <p:grpSp>
        <p:nvGrpSpPr>
          <p:cNvPr id="5" name="Group 4"/>
          <p:cNvGrpSpPr/>
          <p:nvPr/>
        </p:nvGrpSpPr>
        <p:grpSpPr>
          <a:xfrm>
            <a:off x="2105327" y="2526268"/>
            <a:ext cx="7429296" cy="1822759"/>
            <a:chOff x="2105327" y="2526268"/>
            <a:chExt cx="7429296" cy="1822759"/>
          </a:xfrm>
        </p:grpSpPr>
        <p:sp>
          <p:nvSpPr>
            <p:cNvPr id="16" name="Rectangle 15"/>
            <p:cNvSpPr>
              <a:spLocks noChangeArrowheads="1"/>
            </p:cNvSpPr>
            <p:nvPr/>
          </p:nvSpPr>
          <p:spPr bwMode="auto">
            <a:xfrm>
              <a:off x="3627939" y="3904523"/>
              <a:ext cx="840062" cy="35839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7" name="Oval 12"/>
            <p:cNvSpPr>
              <a:spLocks noChangeArrowheads="1"/>
            </p:cNvSpPr>
            <p:nvPr/>
          </p:nvSpPr>
          <p:spPr bwMode="auto">
            <a:xfrm>
              <a:off x="2840381" y="3136545"/>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8" name="Oval 13"/>
            <p:cNvSpPr>
              <a:spLocks noChangeArrowheads="1"/>
            </p:cNvSpPr>
            <p:nvPr/>
          </p:nvSpPr>
          <p:spPr bwMode="auto">
            <a:xfrm>
              <a:off x="3942962" y="3187744"/>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19" name="Oval 16"/>
            <p:cNvSpPr>
              <a:spLocks noChangeArrowheads="1"/>
            </p:cNvSpPr>
            <p:nvPr/>
          </p:nvSpPr>
          <p:spPr bwMode="auto">
            <a:xfrm>
              <a:off x="2105327" y="3546133"/>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0" name="Straight Connector 19"/>
            <p:cNvCxnSpPr>
              <a:stCxn id="21" idx="5"/>
              <a:endCxn id="18" idx="1"/>
            </p:cNvCxnSpPr>
            <p:nvPr/>
          </p:nvCxnSpPr>
          <p:spPr bwMode="auto">
            <a:xfrm rot="16200000" flipH="1">
              <a:off x="3220236" y="3676014"/>
              <a:ext cx="144278" cy="67113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1" name="Straight Connector 20"/>
            <p:cNvCxnSpPr>
              <a:stCxn id="19" idx="5"/>
              <a:endCxn id="18" idx="0"/>
            </p:cNvCxnSpPr>
            <p:nvPr/>
          </p:nvCxnSpPr>
          <p:spPr bwMode="auto">
            <a:xfrm rot="16200000" flipH="1">
              <a:off x="3682581" y="3539133"/>
              <a:ext cx="374672" cy="35610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2" name="Straight Connector 21"/>
            <p:cNvCxnSpPr>
              <a:stCxn id="20" idx="4"/>
              <a:endCxn id="18" idx="0"/>
            </p:cNvCxnSpPr>
            <p:nvPr/>
          </p:nvCxnSpPr>
          <p:spPr bwMode="auto">
            <a:xfrm rot="5400000">
              <a:off x="4116863" y="3579637"/>
              <a:ext cx="255993" cy="39377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3" name="Rectangle 22"/>
            <p:cNvSpPr>
              <a:spLocks noChangeArrowheads="1"/>
            </p:cNvSpPr>
            <p:nvPr/>
          </p:nvSpPr>
          <p:spPr bwMode="auto">
            <a:xfrm>
              <a:off x="8274531" y="3955721"/>
              <a:ext cx="1260092" cy="393306"/>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Person</a:t>
              </a:r>
            </a:p>
          </p:txBody>
        </p:sp>
        <p:sp>
          <p:nvSpPr>
            <p:cNvPr id="24" name="Oval 12"/>
            <p:cNvSpPr>
              <a:spLocks noChangeArrowheads="1"/>
            </p:cNvSpPr>
            <p:nvPr/>
          </p:nvSpPr>
          <p:spPr bwMode="auto">
            <a:xfrm>
              <a:off x="8537050" y="2931750"/>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cxnSp>
          <p:nvCxnSpPr>
            <p:cNvPr id="25" name="Straight Connector 24"/>
            <p:cNvCxnSpPr>
              <a:endCxn id="25" idx="0"/>
            </p:cNvCxnSpPr>
            <p:nvPr/>
          </p:nvCxnSpPr>
          <p:spPr bwMode="auto">
            <a:xfrm rot="5400000">
              <a:off x="8896853" y="3464041"/>
              <a:ext cx="630665" cy="35269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Oval 13"/>
            <p:cNvSpPr>
              <a:spLocks noChangeArrowheads="1"/>
            </p:cNvSpPr>
            <p:nvPr/>
          </p:nvSpPr>
          <p:spPr bwMode="auto">
            <a:xfrm>
              <a:off x="4691143" y="2526268"/>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date</a:t>
              </a:r>
            </a:p>
          </p:txBody>
        </p:sp>
        <p:sp>
          <p:nvSpPr>
            <p:cNvPr id="30" name="Rectangle 29"/>
            <p:cNvSpPr>
              <a:spLocks noChangeArrowheads="1"/>
            </p:cNvSpPr>
            <p:nvPr/>
          </p:nvSpPr>
          <p:spPr bwMode="auto">
            <a:xfrm>
              <a:off x="5870775" y="3238942"/>
              <a:ext cx="840062" cy="35839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Purchase</a:t>
              </a:r>
            </a:p>
          </p:txBody>
        </p:sp>
        <p:cxnSp>
          <p:nvCxnSpPr>
            <p:cNvPr id="9" name="Straight Connector 8"/>
            <p:cNvCxnSpPr>
              <a:stCxn id="28" idx="4"/>
              <a:endCxn id="30" idx="0"/>
            </p:cNvCxnSpPr>
            <p:nvPr/>
          </p:nvCxnSpPr>
          <p:spPr bwMode="auto">
            <a:xfrm>
              <a:off x="5189930" y="2987055"/>
              <a:ext cx="1100876" cy="25188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1" name="Oval 13"/>
            <p:cNvSpPr>
              <a:spLocks noChangeArrowheads="1"/>
            </p:cNvSpPr>
            <p:nvPr/>
          </p:nvSpPr>
          <p:spPr bwMode="auto">
            <a:xfrm>
              <a:off x="6915142" y="2526270"/>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quantity</a:t>
              </a:r>
            </a:p>
          </p:txBody>
        </p:sp>
        <p:sp>
          <p:nvSpPr>
            <p:cNvPr id="32" name="Oval 13"/>
            <p:cNvSpPr>
              <a:spLocks noChangeArrowheads="1"/>
            </p:cNvSpPr>
            <p:nvPr/>
          </p:nvSpPr>
          <p:spPr bwMode="auto">
            <a:xfrm>
              <a:off x="5814264" y="2526269"/>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PID#</a:t>
              </a:r>
            </a:p>
          </p:txBody>
        </p:sp>
        <p:cxnSp>
          <p:nvCxnSpPr>
            <p:cNvPr id="33" name="Straight Connector 32"/>
            <p:cNvCxnSpPr>
              <a:stCxn id="32" idx="4"/>
              <a:endCxn id="30" idx="0"/>
            </p:cNvCxnSpPr>
            <p:nvPr/>
          </p:nvCxnSpPr>
          <p:spPr bwMode="auto">
            <a:xfrm flipH="1">
              <a:off x="6290806" y="2987056"/>
              <a:ext cx="22245" cy="25188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4" name="Straight Connector 33"/>
            <p:cNvCxnSpPr>
              <a:stCxn id="31" idx="4"/>
              <a:endCxn id="30" idx="0"/>
            </p:cNvCxnSpPr>
            <p:nvPr/>
          </p:nvCxnSpPr>
          <p:spPr bwMode="auto">
            <a:xfrm flipH="1">
              <a:off x="6290806" y="2987057"/>
              <a:ext cx="1123123" cy="25188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8" name="Straight Connector 37"/>
            <p:cNvCxnSpPr>
              <a:stCxn id="16" idx="3"/>
            </p:cNvCxnSpPr>
            <p:nvPr/>
          </p:nvCxnSpPr>
          <p:spPr bwMode="auto">
            <a:xfrm flipV="1">
              <a:off x="4468001" y="4002260"/>
              <a:ext cx="721928" cy="8145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Straight Connector 40"/>
            <p:cNvCxnSpPr>
              <a:endCxn id="30" idx="1"/>
            </p:cNvCxnSpPr>
            <p:nvPr/>
          </p:nvCxnSpPr>
          <p:spPr bwMode="auto">
            <a:xfrm flipV="1">
              <a:off x="5462165" y="3418137"/>
              <a:ext cx="408610" cy="35838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15" name="AutoShape 8"/>
            <p:cNvSpPr>
              <a:spLocks noChangeArrowheads="1"/>
            </p:cNvSpPr>
            <p:nvPr/>
          </p:nvSpPr>
          <p:spPr bwMode="auto">
            <a:xfrm>
              <a:off x="4713451" y="3648530"/>
              <a:ext cx="1095165" cy="46078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ProductOf</a:t>
              </a:r>
            </a:p>
          </p:txBody>
        </p:sp>
        <p:cxnSp>
          <p:nvCxnSpPr>
            <p:cNvPr id="45" name="Straight Connector 44"/>
            <p:cNvCxnSpPr>
              <a:endCxn id="23" idx="1"/>
            </p:cNvCxnSpPr>
            <p:nvPr/>
          </p:nvCxnSpPr>
          <p:spPr bwMode="auto">
            <a:xfrm>
              <a:off x="7511143" y="3939440"/>
              <a:ext cx="763388" cy="21293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9" name="Straight Connector 48"/>
            <p:cNvCxnSpPr>
              <a:stCxn id="30" idx="3"/>
            </p:cNvCxnSpPr>
            <p:nvPr/>
          </p:nvCxnSpPr>
          <p:spPr bwMode="auto">
            <a:xfrm>
              <a:off x="6710837" y="3418137"/>
              <a:ext cx="602090" cy="39884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7" name="AutoShape 8"/>
            <p:cNvSpPr>
              <a:spLocks noChangeArrowheads="1"/>
            </p:cNvSpPr>
            <p:nvPr/>
          </p:nvSpPr>
          <p:spPr bwMode="auto">
            <a:xfrm>
              <a:off x="6929972" y="3648530"/>
              <a:ext cx="1095165" cy="46078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BuyerOf</a:t>
              </a:r>
              <a:endParaRPr lang="en-US" sz="1200">
                <a:solidFill>
                  <a:srgbClr val="000000"/>
                </a:solidFill>
              </a:endParaRPr>
            </a:p>
          </p:txBody>
        </p:sp>
      </p:grpSp>
      <p:sp>
        <p:nvSpPr>
          <p:cNvPr id="53" name="Rectangle 52"/>
          <p:cNvSpPr/>
          <p:nvPr/>
        </p:nvSpPr>
        <p:spPr>
          <a:xfrm>
            <a:off x="1459064" y="5410699"/>
            <a:ext cx="9273872" cy="830997"/>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a:spAutoFit/>
          </a:bodyPr>
          <a:lstStyle/>
          <a:p>
            <a:pPr algn="ctr"/>
            <a:r>
              <a:rPr lang="en-US" sz="2400">
                <a:latin typeface="+mj-lt"/>
              </a:rPr>
              <a:t>We can always use </a:t>
            </a:r>
            <a:r>
              <a:rPr lang="en-US" sz="2400" b="1">
                <a:latin typeface="+mj-lt"/>
              </a:rPr>
              <a:t>a new entity </a:t>
            </a:r>
            <a:r>
              <a:rPr lang="en-US" sz="2400">
                <a:latin typeface="+mj-lt"/>
              </a:rPr>
              <a:t>instead of a relationship.  For example, to permit multiple instances of each entity combination!</a:t>
            </a:r>
          </a:p>
        </p:txBody>
      </p:sp>
      <p:sp>
        <p:nvSpPr>
          <p:cNvPr id="4" name="Slide Number Placeholder 3">
            <a:extLst>
              <a:ext uri="{FF2B5EF4-FFF2-40B4-BE49-F238E27FC236}">
                <a16:creationId xmlns:a16="http://schemas.microsoft.com/office/drawing/2014/main" id="{979A0B43-DCF2-4EAB-8DCD-C8965DBC13BC}"/>
              </a:ext>
            </a:extLst>
          </p:cNvPr>
          <p:cNvSpPr>
            <a:spLocks noGrp="1"/>
          </p:cNvSpPr>
          <p:nvPr>
            <p:ph type="sldNum" sz="quarter" idx="12"/>
          </p:nvPr>
        </p:nvSpPr>
        <p:spPr/>
        <p:txBody>
          <a:bodyPr/>
          <a:lstStyle/>
          <a:p>
            <a:fld id="{641C0F02-33DC-3A41-9F51-431B7FE03ABE}" type="slidenum">
              <a:rPr lang="en-US" smtClean="0"/>
              <a:t>34</a:t>
            </a:fld>
            <a:endParaRPr lang="en-US"/>
          </a:p>
        </p:txBody>
      </p:sp>
    </p:spTree>
    <p:extLst>
      <p:ext uri="{BB962C8B-B14F-4D97-AF65-F5344CB8AC3E}">
        <p14:creationId xmlns:p14="http://schemas.microsoft.com/office/powerpoint/2010/main" val="52613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914400" y="307910"/>
            <a:ext cx="10363200" cy="1143000"/>
          </a:xfrm>
        </p:spPr>
        <p:txBody>
          <a:bodyPr/>
          <a:lstStyle/>
          <a:p>
            <a:pPr eaLnBrk="1" hangingPunct="1"/>
            <a:r>
              <a:rPr lang="en-US"/>
              <a:t>Multi-way Relationships</a:t>
            </a:r>
          </a:p>
        </p:txBody>
      </p:sp>
      <p:sp>
        <p:nvSpPr>
          <p:cNvPr id="31746" name="Slide Number Placeholder 4"/>
          <p:cNvSpPr>
            <a:spLocks noGrp="1"/>
          </p:cNvSpPr>
          <p:nvPr>
            <p:ph type="sldNum" sz="quarter" idx="12"/>
          </p:nvPr>
        </p:nvSpPr>
        <p:spPr>
          <a:noFill/>
        </p:spPr>
        <p:txBody>
          <a:bodyPr/>
          <a:lstStyle/>
          <a:p>
            <a:fld id="{D79D49C6-8AB9-F749-9064-6ED9B60C6DD0}" type="slidenum">
              <a:rPr lang="en-US" smtClean="0">
                <a:solidFill>
                  <a:srgbClr val="000000"/>
                </a:solidFill>
              </a:rPr>
              <a:pPr/>
              <a:t>35</a:t>
            </a:fld>
            <a:endParaRPr lang="en-US">
              <a:solidFill>
                <a:srgbClr val="000000"/>
              </a:solidFill>
            </a:endParaRPr>
          </a:p>
        </p:txBody>
      </p:sp>
      <p:sp>
        <p:nvSpPr>
          <p:cNvPr id="31748" name="Text Box 3"/>
          <p:cNvSpPr txBox="1">
            <a:spLocks noChangeArrowheads="1"/>
          </p:cNvSpPr>
          <p:nvPr/>
        </p:nvSpPr>
        <p:spPr bwMode="auto">
          <a:xfrm>
            <a:off x="1812926" y="1435820"/>
            <a:ext cx="7436651" cy="830997"/>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How do we model a purchase relationship between buyers,</a:t>
            </a:r>
          </a:p>
          <a:p>
            <a:pPr eaLnBrk="0" fontAlgn="base" hangingPunct="0">
              <a:spcBef>
                <a:spcPct val="0"/>
              </a:spcBef>
              <a:spcAft>
                <a:spcPct val="0"/>
              </a:spcAft>
            </a:pPr>
            <a:r>
              <a:rPr lang="en-US" sz="2400">
                <a:solidFill>
                  <a:srgbClr val="000000"/>
                </a:solidFill>
              </a:rPr>
              <a:t>products and stores?</a:t>
            </a:r>
          </a:p>
        </p:txBody>
      </p:sp>
      <p:grpSp>
        <p:nvGrpSpPr>
          <p:cNvPr id="31749" name="Group 4"/>
          <p:cNvGrpSpPr>
            <a:grpSpLocks noChangeAspect="1"/>
          </p:cNvGrpSpPr>
          <p:nvPr/>
        </p:nvGrpSpPr>
        <p:grpSpPr bwMode="auto">
          <a:xfrm>
            <a:off x="2438400" y="2484013"/>
            <a:ext cx="7391400" cy="3102558"/>
            <a:chOff x="192" y="1872"/>
            <a:chExt cx="5088" cy="2136"/>
          </a:xfrm>
        </p:grpSpPr>
        <p:sp>
          <p:nvSpPr>
            <p:cNvPr id="31751" name="AutoShape 5"/>
            <p:cNvSpPr>
              <a:spLocks noChangeAspect="1" noChangeArrowheads="1"/>
            </p:cNvSpPr>
            <p:nvPr/>
          </p:nvSpPr>
          <p:spPr bwMode="auto">
            <a:xfrm>
              <a:off x="2112" y="2400"/>
              <a:ext cx="960" cy="864"/>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Purchase</a:t>
              </a:r>
            </a:p>
          </p:txBody>
        </p:sp>
        <p:sp>
          <p:nvSpPr>
            <p:cNvPr id="31752" name="Rectangle 6"/>
            <p:cNvSpPr>
              <a:spLocks noChangeAspect="1" noChangeArrowheads="1"/>
            </p:cNvSpPr>
            <p:nvPr/>
          </p:nvSpPr>
          <p:spPr bwMode="auto">
            <a:xfrm>
              <a:off x="192" y="1872"/>
              <a:ext cx="1392" cy="48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31753" name="Rectangle 7"/>
            <p:cNvSpPr>
              <a:spLocks noChangeAspect="1" noChangeArrowheads="1"/>
            </p:cNvSpPr>
            <p:nvPr/>
          </p:nvSpPr>
          <p:spPr bwMode="auto">
            <a:xfrm>
              <a:off x="1896" y="3528"/>
              <a:ext cx="1392" cy="48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31754" name="Rectangle 8"/>
            <p:cNvSpPr>
              <a:spLocks noChangeAspect="1" noChangeArrowheads="1"/>
            </p:cNvSpPr>
            <p:nvPr/>
          </p:nvSpPr>
          <p:spPr bwMode="auto">
            <a:xfrm>
              <a:off x="3888" y="2592"/>
              <a:ext cx="1392" cy="48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31755" name="Line 9"/>
            <p:cNvSpPr>
              <a:spLocks noChangeAspect="1" noChangeShapeType="1"/>
            </p:cNvSpPr>
            <p:nvPr/>
          </p:nvSpPr>
          <p:spPr bwMode="auto">
            <a:xfrm>
              <a:off x="3072" y="2832"/>
              <a:ext cx="816"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1756" name="Line 10"/>
            <p:cNvSpPr>
              <a:spLocks noChangeAspect="1" noChangeShapeType="1"/>
            </p:cNvSpPr>
            <p:nvPr/>
          </p:nvSpPr>
          <p:spPr bwMode="auto">
            <a:xfrm>
              <a:off x="2592" y="3264"/>
              <a:ext cx="0" cy="264"/>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1757" name="Line 11"/>
            <p:cNvSpPr>
              <a:spLocks noChangeAspect="1" noChangeShapeType="1"/>
            </p:cNvSpPr>
            <p:nvPr/>
          </p:nvSpPr>
          <p:spPr bwMode="auto">
            <a:xfrm>
              <a:off x="1584" y="2352"/>
              <a:ext cx="528" cy="48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Tree>
    <p:extLst>
      <p:ext uri="{BB962C8B-B14F-4D97-AF65-F5344CB8AC3E}">
        <p14:creationId xmlns:p14="http://schemas.microsoft.com/office/powerpoint/2010/main" val="83352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6" name="Rectangle 3"/>
          <p:cNvSpPr>
            <a:spLocks noGrp="1" noChangeArrowheads="1"/>
          </p:cNvSpPr>
          <p:nvPr>
            <p:ph type="title"/>
          </p:nvPr>
        </p:nvSpPr>
        <p:spPr/>
        <p:txBody>
          <a:bodyPr/>
          <a:lstStyle/>
          <a:p>
            <a:pPr eaLnBrk="1" hangingPunct="1"/>
            <a:r>
              <a:rPr lang="en-US"/>
              <a:t>Arrows in Multiway Relationships</a:t>
            </a:r>
          </a:p>
        </p:txBody>
      </p:sp>
      <p:sp>
        <p:nvSpPr>
          <p:cNvPr id="33794" name="Slide Number Placeholder 4"/>
          <p:cNvSpPr>
            <a:spLocks noGrp="1"/>
          </p:cNvSpPr>
          <p:nvPr>
            <p:ph type="sldNum" sz="quarter" idx="12"/>
          </p:nvPr>
        </p:nvSpPr>
        <p:spPr>
          <a:noFill/>
        </p:spPr>
        <p:txBody>
          <a:bodyPr/>
          <a:lstStyle/>
          <a:p>
            <a:fld id="{75E2C441-1342-644D-8797-CD886A921D74}" type="slidenum">
              <a:rPr lang="en-US" smtClean="0">
                <a:solidFill>
                  <a:srgbClr val="000000"/>
                </a:solidFill>
              </a:rPr>
              <a:pPr/>
              <a:t>36</a:t>
            </a:fld>
            <a:endParaRPr lang="en-US">
              <a:solidFill>
                <a:srgbClr val="000000"/>
              </a:solidFill>
            </a:endParaRPr>
          </a:p>
        </p:txBody>
      </p:sp>
      <p:sp>
        <p:nvSpPr>
          <p:cNvPr id="33795" name="Rectangle 2"/>
          <p:cNvSpPr>
            <a:spLocks noGrp="1" noChangeArrowheads="1"/>
          </p:cNvSpPr>
          <p:nvPr>
            <p:ph type="body" idx="4294967295"/>
          </p:nvPr>
        </p:nvSpPr>
        <p:spPr>
          <a:xfrm>
            <a:off x="0" y="1981200"/>
            <a:ext cx="4192588" cy="430213"/>
          </a:xfrm>
          <a:noFill/>
        </p:spPr>
        <p:txBody>
          <a:bodyPr wrap="none">
            <a:spAutoFit/>
          </a:bodyPr>
          <a:lstStyle/>
          <a:p>
            <a:pPr eaLnBrk="1" hangingPunct="1">
              <a:lnSpc>
                <a:spcPct val="90000"/>
              </a:lnSpc>
              <a:buFontTx/>
              <a:buNone/>
            </a:pPr>
            <a:r>
              <a:rPr lang="en-US" sz="2400" b="1"/>
              <a:t>Q</a:t>
            </a:r>
            <a:r>
              <a:rPr lang="en-US" sz="2400"/>
              <a:t>: What does the arrow mean ?</a:t>
            </a:r>
          </a:p>
        </p:txBody>
      </p:sp>
      <p:grpSp>
        <p:nvGrpSpPr>
          <p:cNvPr id="2" name="Group 1"/>
          <p:cNvGrpSpPr/>
          <p:nvPr/>
        </p:nvGrpSpPr>
        <p:grpSpPr>
          <a:xfrm>
            <a:off x="3352801" y="2743200"/>
            <a:ext cx="5791200" cy="2676525"/>
            <a:chOff x="3352801" y="2743200"/>
            <a:chExt cx="5791200" cy="2676525"/>
          </a:xfrm>
        </p:grpSpPr>
        <p:sp>
          <p:nvSpPr>
            <p:cNvPr id="33798" name="AutoShape 5"/>
            <p:cNvSpPr>
              <a:spLocks noChangeAspect="1" noChangeArrowheads="1"/>
            </p:cNvSpPr>
            <p:nvPr/>
          </p:nvSpPr>
          <p:spPr bwMode="auto">
            <a:xfrm>
              <a:off x="5426670" y="3190876"/>
              <a:ext cx="1278931" cy="1152525"/>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Purchase</a:t>
              </a:r>
            </a:p>
          </p:txBody>
        </p:sp>
        <p:sp>
          <p:nvSpPr>
            <p:cNvPr id="33799" name="Rectangle 6"/>
            <p:cNvSpPr>
              <a:spLocks noChangeAspect="1" noChangeArrowheads="1"/>
            </p:cNvSpPr>
            <p:nvPr/>
          </p:nvSpPr>
          <p:spPr bwMode="auto">
            <a:xfrm>
              <a:off x="3352801" y="274320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33800" name="Rectangle 7"/>
            <p:cNvSpPr>
              <a:spLocks noChangeAspect="1" noChangeArrowheads="1"/>
            </p:cNvSpPr>
            <p:nvPr/>
          </p:nvSpPr>
          <p:spPr bwMode="auto">
            <a:xfrm>
              <a:off x="5265739" y="4873625"/>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33801" name="Rectangle 8"/>
            <p:cNvSpPr>
              <a:spLocks noChangeAspect="1" noChangeArrowheads="1"/>
            </p:cNvSpPr>
            <p:nvPr/>
          </p:nvSpPr>
          <p:spPr bwMode="auto">
            <a:xfrm>
              <a:off x="7559676" y="351155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33802" name="Line 9"/>
            <p:cNvSpPr>
              <a:spLocks noChangeAspect="1" noChangeShapeType="1"/>
            </p:cNvSpPr>
            <p:nvPr/>
          </p:nvSpPr>
          <p:spPr bwMode="auto">
            <a:xfrm>
              <a:off x="6705599" y="3761280"/>
              <a:ext cx="854077" cy="23319"/>
            </a:xfrm>
            <a:prstGeom prst="line">
              <a:avLst/>
            </a:prstGeom>
            <a:noFill/>
            <a:ln w="9525">
              <a:solidFill>
                <a:schemeClr val="tx1"/>
              </a:solidFill>
              <a:round/>
              <a:headEnd/>
              <a:tailEnd type="non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3803" name="Line 10"/>
            <p:cNvSpPr>
              <a:spLocks noChangeAspect="1" noChangeShapeType="1"/>
            </p:cNvSpPr>
            <p:nvPr/>
          </p:nvSpPr>
          <p:spPr bwMode="auto">
            <a:xfrm>
              <a:off x="6084888" y="4327525"/>
              <a:ext cx="0" cy="546100"/>
            </a:xfrm>
            <a:prstGeom prst="line">
              <a:avLst/>
            </a:prstGeom>
            <a:noFill/>
            <a:ln w="9525">
              <a:solidFill>
                <a:schemeClr val="tx1"/>
              </a:solidFill>
              <a:round/>
              <a:headEnd type="triangle" w="lg" len="lg"/>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3804" name="Line 11"/>
            <p:cNvSpPr>
              <a:spLocks noChangeAspect="1" noChangeShapeType="1"/>
            </p:cNvSpPr>
            <p:nvPr/>
          </p:nvSpPr>
          <p:spPr bwMode="auto">
            <a:xfrm>
              <a:off x="4937126" y="3289300"/>
              <a:ext cx="489726" cy="4445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3" name="TextBox 2">
            <a:extLst>
              <a:ext uri="{FF2B5EF4-FFF2-40B4-BE49-F238E27FC236}">
                <a16:creationId xmlns:a16="http://schemas.microsoft.com/office/drawing/2014/main" id="{667A1444-15DD-32A8-DA11-E1524881033F}"/>
              </a:ext>
            </a:extLst>
          </p:cNvPr>
          <p:cNvSpPr txBox="1"/>
          <p:nvPr/>
        </p:nvSpPr>
        <p:spPr>
          <a:xfrm>
            <a:off x="1050202" y="5803271"/>
            <a:ext cx="8068299" cy="646331"/>
          </a:xfrm>
          <a:prstGeom prst="rect">
            <a:avLst/>
          </a:prstGeom>
          <a:noFill/>
        </p:spPr>
        <p:txBody>
          <a:bodyPr wrap="none" rtlCol="0">
            <a:spAutoFit/>
          </a:bodyPr>
          <a:lstStyle/>
          <a:p>
            <a:r>
              <a:rPr lang="en-US"/>
              <a:t>given a person, can determine what they bought and the store where they bought it</a:t>
            </a:r>
          </a:p>
          <a:p>
            <a:endParaRPr lang="en-US"/>
          </a:p>
        </p:txBody>
      </p:sp>
    </p:spTree>
    <p:extLst>
      <p:ext uri="{BB962C8B-B14F-4D97-AF65-F5344CB8AC3E}">
        <p14:creationId xmlns:p14="http://schemas.microsoft.com/office/powerpoint/2010/main" val="195116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6" name="Rectangle 3"/>
          <p:cNvSpPr>
            <a:spLocks noGrp="1" noChangeArrowheads="1"/>
          </p:cNvSpPr>
          <p:nvPr>
            <p:ph type="title"/>
          </p:nvPr>
        </p:nvSpPr>
        <p:spPr/>
        <p:txBody>
          <a:bodyPr/>
          <a:lstStyle/>
          <a:p>
            <a:pPr eaLnBrk="1" hangingPunct="1"/>
            <a:r>
              <a:rPr lang="en-US"/>
              <a:t>Arrows in Multiway Relationships</a:t>
            </a:r>
          </a:p>
        </p:txBody>
      </p:sp>
      <p:sp>
        <p:nvSpPr>
          <p:cNvPr id="33795" name="Rectangle 2"/>
          <p:cNvSpPr>
            <a:spLocks noGrp="1" noChangeArrowheads="1"/>
          </p:cNvSpPr>
          <p:nvPr>
            <p:ph type="body" idx="4294967295"/>
          </p:nvPr>
        </p:nvSpPr>
        <p:spPr>
          <a:xfrm>
            <a:off x="217283" y="1558532"/>
            <a:ext cx="4192588" cy="430213"/>
          </a:xfrm>
          <a:noFill/>
        </p:spPr>
        <p:txBody>
          <a:bodyPr wrap="none">
            <a:spAutoFit/>
          </a:bodyPr>
          <a:lstStyle/>
          <a:p>
            <a:pPr eaLnBrk="1" hangingPunct="1">
              <a:lnSpc>
                <a:spcPct val="90000"/>
              </a:lnSpc>
              <a:buFontTx/>
              <a:buNone/>
            </a:pPr>
            <a:r>
              <a:rPr lang="en-US" sz="2400" b="1"/>
              <a:t>Q</a:t>
            </a:r>
            <a:r>
              <a:rPr lang="en-US" sz="2400"/>
              <a:t>: What does the arrow mean ?</a:t>
            </a:r>
          </a:p>
        </p:txBody>
      </p:sp>
      <p:sp>
        <p:nvSpPr>
          <p:cNvPr id="33798" name="AutoShape 5"/>
          <p:cNvSpPr>
            <a:spLocks noChangeAspect="1" noChangeArrowheads="1"/>
          </p:cNvSpPr>
          <p:nvPr/>
        </p:nvSpPr>
        <p:spPr bwMode="auto">
          <a:xfrm>
            <a:off x="5426670" y="3190876"/>
            <a:ext cx="1278931" cy="1152525"/>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Purchase</a:t>
            </a:r>
          </a:p>
        </p:txBody>
      </p:sp>
      <p:sp>
        <p:nvSpPr>
          <p:cNvPr id="33799" name="Rectangle 6"/>
          <p:cNvSpPr>
            <a:spLocks noChangeAspect="1" noChangeArrowheads="1"/>
          </p:cNvSpPr>
          <p:nvPr/>
        </p:nvSpPr>
        <p:spPr bwMode="auto">
          <a:xfrm>
            <a:off x="3352801" y="274320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33800" name="Rectangle 7"/>
          <p:cNvSpPr>
            <a:spLocks noChangeAspect="1" noChangeArrowheads="1"/>
          </p:cNvSpPr>
          <p:nvPr/>
        </p:nvSpPr>
        <p:spPr bwMode="auto">
          <a:xfrm>
            <a:off x="5265739" y="4873625"/>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33801" name="Rectangle 8"/>
          <p:cNvSpPr>
            <a:spLocks noChangeAspect="1" noChangeArrowheads="1"/>
          </p:cNvSpPr>
          <p:nvPr/>
        </p:nvSpPr>
        <p:spPr bwMode="auto">
          <a:xfrm>
            <a:off x="7559676" y="351155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33803" name="Line 10"/>
          <p:cNvSpPr>
            <a:spLocks noChangeAspect="1" noChangeShapeType="1"/>
          </p:cNvSpPr>
          <p:nvPr/>
        </p:nvSpPr>
        <p:spPr bwMode="auto">
          <a:xfrm>
            <a:off x="6084888" y="4327525"/>
            <a:ext cx="0" cy="546100"/>
          </a:xfrm>
          <a:prstGeom prst="line">
            <a:avLst/>
          </a:prstGeom>
          <a:noFill/>
          <a:ln w="9525">
            <a:solidFill>
              <a:schemeClr val="tx1"/>
            </a:solidFill>
            <a:round/>
            <a:headEnd type="none" w="lg" len="lg"/>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3804" name="Line 11"/>
          <p:cNvSpPr>
            <a:spLocks noChangeAspect="1" noChangeShapeType="1"/>
          </p:cNvSpPr>
          <p:nvPr/>
        </p:nvSpPr>
        <p:spPr bwMode="auto">
          <a:xfrm>
            <a:off x="4937126" y="3289300"/>
            <a:ext cx="489726" cy="4445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cxnSp>
        <p:nvCxnSpPr>
          <p:cNvPr id="16" name="Straight Connector 15"/>
          <p:cNvCxnSpPr>
            <a:stCxn id="33801" idx="1"/>
            <a:endCxn id="33798" idx="3"/>
          </p:cNvCxnSpPr>
          <p:nvPr/>
        </p:nvCxnSpPr>
        <p:spPr bwMode="auto">
          <a:xfrm flipH="1" flipV="1">
            <a:off x="6705601" y="3767139"/>
            <a:ext cx="854075" cy="17461"/>
          </a:xfrm>
          <a:prstGeom prst="line">
            <a:avLst/>
          </a:prstGeom>
          <a:solidFill>
            <a:srgbClr val="C0C0C0">
              <a:alpha val="50000"/>
            </a:srgbClr>
          </a:solidFill>
          <a:ln w="9525" cap="flat" cmpd="sng" algn="ctr">
            <a:solidFill>
              <a:schemeClr val="tx1"/>
            </a:solidFill>
            <a:prstDash val="solid"/>
            <a:round/>
            <a:headEnd type="none" w="med" len="med"/>
            <a:tailEnd type="triangle" w="lg" len="lg"/>
          </a:ln>
          <a:effectLst/>
        </p:spPr>
      </p:cxnSp>
      <p:sp>
        <p:nvSpPr>
          <p:cNvPr id="2" name="TextBox 1">
            <a:extLst>
              <a:ext uri="{FF2B5EF4-FFF2-40B4-BE49-F238E27FC236}">
                <a16:creationId xmlns:a16="http://schemas.microsoft.com/office/drawing/2014/main" id="{6FDB8F52-7CFF-CD27-8320-A8E05FA10E1B}"/>
              </a:ext>
            </a:extLst>
          </p:cNvPr>
          <p:cNvSpPr txBox="1"/>
          <p:nvPr/>
        </p:nvSpPr>
        <p:spPr>
          <a:xfrm>
            <a:off x="1367072" y="5888211"/>
            <a:ext cx="8890503" cy="923330"/>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given a store, can determine who shopped</a:t>
            </a:r>
            <a:r>
              <a:rPr lang="en-US" baseline="0"/>
              <a:t> there </a:t>
            </a:r>
            <a:r>
              <a:rPr lang="en-US"/>
              <a:t>and the product they bought</a:t>
            </a:r>
          </a:p>
          <a:p>
            <a:r>
              <a:rPr lang="en-US"/>
              <a:t>each store sells one product and to one person, ever</a:t>
            </a:r>
          </a:p>
          <a:p>
            <a:endParaRPr lang="en-US"/>
          </a:p>
        </p:txBody>
      </p:sp>
      <p:sp>
        <p:nvSpPr>
          <p:cNvPr id="3" name="Slide Number Placeholder 2">
            <a:extLst>
              <a:ext uri="{FF2B5EF4-FFF2-40B4-BE49-F238E27FC236}">
                <a16:creationId xmlns:a16="http://schemas.microsoft.com/office/drawing/2014/main" id="{C41B700B-5B45-42AC-B25D-5B706CCF0AC7}"/>
              </a:ext>
            </a:extLst>
          </p:cNvPr>
          <p:cNvSpPr>
            <a:spLocks noGrp="1"/>
          </p:cNvSpPr>
          <p:nvPr>
            <p:ph type="sldNum" sz="quarter" idx="12"/>
          </p:nvPr>
        </p:nvSpPr>
        <p:spPr/>
        <p:txBody>
          <a:bodyPr/>
          <a:lstStyle/>
          <a:p>
            <a:fld id="{641C0F02-33DC-3A41-9F51-431B7FE03ABE}" type="slidenum">
              <a:rPr lang="en-US" smtClean="0"/>
              <a:t>37</a:t>
            </a:fld>
            <a:endParaRPr lang="en-US"/>
          </a:p>
        </p:txBody>
      </p:sp>
    </p:spTree>
    <p:extLst>
      <p:ext uri="{BB962C8B-B14F-4D97-AF65-F5344CB8AC3E}">
        <p14:creationId xmlns:p14="http://schemas.microsoft.com/office/powerpoint/2010/main" val="1017088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2" name="Rectangle 3"/>
          <p:cNvSpPr>
            <a:spLocks noGrp="1" noChangeArrowheads="1"/>
          </p:cNvSpPr>
          <p:nvPr>
            <p:ph type="title"/>
          </p:nvPr>
        </p:nvSpPr>
        <p:spPr/>
        <p:txBody>
          <a:bodyPr/>
          <a:lstStyle/>
          <a:p>
            <a:pPr eaLnBrk="1" hangingPunct="1"/>
            <a:r>
              <a:rPr lang="en-US"/>
              <a:t>Arrows in Multiway Relationships</a:t>
            </a:r>
          </a:p>
        </p:txBody>
      </p:sp>
      <p:sp>
        <p:nvSpPr>
          <p:cNvPr id="37891" name="Rectangle 2"/>
          <p:cNvSpPr>
            <a:spLocks noGrp="1" noChangeArrowheads="1"/>
          </p:cNvSpPr>
          <p:nvPr>
            <p:ph type="body" idx="4294967295"/>
          </p:nvPr>
        </p:nvSpPr>
        <p:spPr>
          <a:xfrm>
            <a:off x="0" y="1981200"/>
            <a:ext cx="8164513" cy="425450"/>
          </a:xfrm>
          <a:noFill/>
        </p:spPr>
        <p:txBody>
          <a:bodyPr wrap="none">
            <a:spAutoFit/>
          </a:bodyPr>
          <a:lstStyle/>
          <a:p>
            <a:pPr eaLnBrk="1" hangingPunct="1">
              <a:lnSpc>
                <a:spcPct val="90000"/>
              </a:lnSpc>
              <a:buFontTx/>
              <a:buNone/>
            </a:pPr>
            <a:r>
              <a:rPr lang="en-US" sz="2400" b="1"/>
              <a:t>Q</a:t>
            </a:r>
            <a:r>
              <a:rPr lang="en-US" sz="2400"/>
              <a:t>: How do we say that every person shops in at most one store ?</a:t>
            </a:r>
          </a:p>
        </p:txBody>
      </p:sp>
      <p:sp>
        <p:nvSpPr>
          <p:cNvPr id="37893" name="Rectangle 4"/>
          <p:cNvSpPr>
            <a:spLocks noChangeArrowheads="1"/>
          </p:cNvSpPr>
          <p:nvPr/>
        </p:nvSpPr>
        <p:spPr bwMode="auto">
          <a:xfrm>
            <a:off x="1905001" y="5943600"/>
            <a:ext cx="5479385" cy="763286"/>
          </a:xfrm>
          <a:prstGeom prst="rect">
            <a:avLst/>
          </a:prstGeom>
          <a:noFill/>
          <a:ln w="9525">
            <a:noFill/>
            <a:miter lim="800000"/>
            <a:headEnd/>
            <a:tailEnd/>
          </a:ln>
        </p:spPr>
        <p:txBody>
          <a:bodyPr wrap="none">
            <a:prstTxWarp prst="textNoShape">
              <a:avLst/>
            </a:prstTxWarp>
            <a:spAutoFit/>
          </a:bodyPr>
          <a:lstStyle/>
          <a:p>
            <a:pPr fontAlgn="base">
              <a:lnSpc>
                <a:spcPct val="90000"/>
              </a:lnSpc>
              <a:spcBef>
                <a:spcPct val="20000"/>
              </a:spcBef>
              <a:spcAft>
                <a:spcPct val="0"/>
              </a:spcAft>
            </a:pPr>
            <a:r>
              <a:rPr lang="en-US" sz="2400" b="1">
                <a:solidFill>
                  <a:srgbClr val="000000"/>
                </a:solidFill>
              </a:rPr>
              <a:t>A</a:t>
            </a:r>
            <a:r>
              <a:rPr lang="en-US" sz="2400">
                <a:solidFill>
                  <a:srgbClr val="000000"/>
                </a:solidFill>
              </a:rPr>
              <a:t>: Cannot.  This is the best approximation.</a:t>
            </a:r>
            <a:br>
              <a:rPr lang="en-US" sz="2400">
                <a:solidFill>
                  <a:srgbClr val="000000"/>
                </a:solidFill>
              </a:rPr>
            </a:br>
            <a:r>
              <a:rPr lang="en-US" sz="2400">
                <a:solidFill>
                  <a:srgbClr val="000000"/>
                </a:solidFill>
              </a:rPr>
              <a:t>(Why only approximation ?)</a:t>
            </a:r>
          </a:p>
        </p:txBody>
      </p:sp>
      <p:grpSp>
        <p:nvGrpSpPr>
          <p:cNvPr id="2" name="Group 1"/>
          <p:cNvGrpSpPr/>
          <p:nvPr/>
        </p:nvGrpSpPr>
        <p:grpSpPr>
          <a:xfrm>
            <a:off x="3352801" y="2743200"/>
            <a:ext cx="5791200" cy="2676525"/>
            <a:chOff x="3352801" y="2743200"/>
            <a:chExt cx="5791200" cy="2676525"/>
          </a:xfrm>
        </p:grpSpPr>
        <p:sp>
          <p:nvSpPr>
            <p:cNvPr id="37895" name="Rectangle 6"/>
            <p:cNvSpPr>
              <a:spLocks noChangeAspect="1" noChangeArrowheads="1"/>
            </p:cNvSpPr>
            <p:nvPr/>
          </p:nvSpPr>
          <p:spPr bwMode="auto">
            <a:xfrm>
              <a:off x="3352801" y="274320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37896" name="Rectangle 7"/>
            <p:cNvSpPr>
              <a:spLocks noChangeAspect="1" noChangeArrowheads="1"/>
            </p:cNvSpPr>
            <p:nvPr/>
          </p:nvSpPr>
          <p:spPr bwMode="auto">
            <a:xfrm>
              <a:off x="5265739" y="4873625"/>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37897" name="Rectangle 8"/>
            <p:cNvSpPr>
              <a:spLocks noChangeAspect="1" noChangeArrowheads="1"/>
            </p:cNvSpPr>
            <p:nvPr/>
          </p:nvSpPr>
          <p:spPr bwMode="auto">
            <a:xfrm>
              <a:off x="7559676" y="351155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37898" name="Line 9"/>
            <p:cNvSpPr>
              <a:spLocks noChangeAspect="1" noChangeShapeType="1"/>
            </p:cNvSpPr>
            <p:nvPr/>
          </p:nvSpPr>
          <p:spPr bwMode="auto">
            <a:xfrm>
              <a:off x="6630989" y="3771900"/>
              <a:ext cx="928687" cy="0"/>
            </a:xfrm>
            <a:prstGeom prst="line">
              <a:avLst/>
            </a:prstGeom>
            <a:noFill/>
            <a:ln w="9525">
              <a:solidFill>
                <a:schemeClr val="tx1"/>
              </a:solidFill>
              <a:round/>
              <a:headEnd/>
              <a:tailEnd type="non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7899" name="Line 10"/>
            <p:cNvSpPr>
              <a:spLocks noChangeAspect="1" noChangeShapeType="1"/>
            </p:cNvSpPr>
            <p:nvPr/>
          </p:nvSpPr>
          <p:spPr bwMode="auto">
            <a:xfrm>
              <a:off x="6084888" y="4327525"/>
              <a:ext cx="0" cy="5461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7900" name="Line 11"/>
            <p:cNvSpPr>
              <a:spLocks noChangeAspect="1" noChangeShapeType="1"/>
            </p:cNvSpPr>
            <p:nvPr/>
          </p:nvSpPr>
          <p:spPr bwMode="auto">
            <a:xfrm>
              <a:off x="4937126" y="3289300"/>
              <a:ext cx="601663" cy="5461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16" name="AutoShape 5"/>
            <p:cNvSpPr>
              <a:spLocks noChangeAspect="1" noChangeArrowheads="1"/>
            </p:cNvSpPr>
            <p:nvPr/>
          </p:nvSpPr>
          <p:spPr bwMode="auto">
            <a:xfrm>
              <a:off x="5426670" y="3190876"/>
              <a:ext cx="1278931" cy="1152525"/>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Purchase</a:t>
              </a:r>
            </a:p>
          </p:txBody>
        </p:sp>
      </p:grpSp>
      <p:sp>
        <p:nvSpPr>
          <p:cNvPr id="3" name="Slide Number Placeholder 2">
            <a:extLst>
              <a:ext uri="{FF2B5EF4-FFF2-40B4-BE49-F238E27FC236}">
                <a16:creationId xmlns:a16="http://schemas.microsoft.com/office/drawing/2014/main" id="{AC033059-B8AC-4841-9AA1-60C29B1C7DDA}"/>
              </a:ext>
            </a:extLst>
          </p:cNvPr>
          <p:cNvSpPr>
            <a:spLocks noGrp="1"/>
          </p:cNvSpPr>
          <p:nvPr>
            <p:ph type="sldNum" sz="quarter" idx="12"/>
          </p:nvPr>
        </p:nvSpPr>
        <p:spPr/>
        <p:txBody>
          <a:bodyPr/>
          <a:lstStyle/>
          <a:p>
            <a:fld id="{641C0F02-33DC-3A41-9F51-431B7FE03ABE}" type="slidenum">
              <a:rPr lang="en-US" smtClean="0"/>
              <a:t>38</a:t>
            </a:fld>
            <a:endParaRPr lang="en-US"/>
          </a:p>
        </p:txBody>
      </p:sp>
    </p:spTree>
    <p:extLst>
      <p:ext uri="{BB962C8B-B14F-4D97-AF65-F5344CB8AC3E}">
        <p14:creationId xmlns:p14="http://schemas.microsoft.com/office/powerpoint/2010/main" val="25237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562708" y="304800"/>
            <a:ext cx="9419492" cy="1143000"/>
          </a:xfrm>
        </p:spPr>
        <p:txBody>
          <a:bodyPr>
            <a:normAutofit fontScale="90000"/>
          </a:bodyPr>
          <a:lstStyle/>
          <a:p>
            <a:pPr eaLnBrk="1" hangingPunct="1"/>
            <a:r>
              <a:rPr lang="en-US"/>
              <a:t>Converting Multi-way Relationships to Binary</a:t>
            </a:r>
          </a:p>
        </p:txBody>
      </p:sp>
      <p:grpSp>
        <p:nvGrpSpPr>
          <p:cNvPr id="2" name="Group 1"/>
          <p:cNvGrpSpPr/>
          <p:nvPr/>
        </p:nvGrpSpPr>
        <p:grpSpPr>
          <a:xfrm>
            <a:off x="2209800" y="1792542"/>
            <a:ext cx="7098745" cy="4219065"/>
            <a:chOff x="2209800" y="1792542"/>
            <a:chExt cx="7098745" cy="4219065"/>
          </a:xfrm>
        </p:grpSpPr>
        <p:sp>
          <p:nvSpPr>
            <p:cNvPr id="39940" name="Rectangle 3"/>
            <p:cNvSpPr>
              <a:spLocks noChangeArrowheads="1"/>
            </p:cNvSpPr>
            <p:nvPr/>
          </p:nvSpPr>
          <p:spPr bwMode="auto">
            <a:xfrm>
              <a:off x="2209800" y="3332836"/>
              <a:ext cx="1942109" cy="66969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Purchase</a:t>
              </a:r>
            </a:p>
          </p:txBody>
        </p:sp>
        <p:sp>
          <p:nvSpPr>
            <p:cNvPr id="39941" name="Rectangle 4"/>
            <p:cNvSpPr>
              <a:spLocks noChangeArrowheads="1"/>
            </p:cNvSpPr>
            <p:nvPr/>
          </p:nvSpPr>
          <p:spPr bwMode="auto">
            <a:xfrm>
              <a:off x="7366436" y="5141006"/>
              <a:ext cx="1942109" cy="66969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39942" name="Rectangle 5"/>
            <p:cNvSpPr>
              <a:spLocks noChangeArrowheads="1"/>
            </p:cNvSpPr>
            <p:nvPr/>
          </p:nvSpPr>
          <p:spPr bwMode="auto">
            <a:xfrm>
              <a:off x="7299466" y="3667682"/>
              <a:ext cx="1942109" cy="66969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39943" name="Rectangle 6"/>
            <p:cNvSpPr>
              <a:spLocks noChangeArrowheads="1"/>
            </p:cNvSpPr>
            <p:nvPr/>
          </p:nvSpPr>
          <p:spPr bwMode="auto">
            <a:xfrm>
              <a:off x="7299466" y="2060419"/>
              <a:ext cx="1942109" cy="66969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39944" name="AutoShape 7"/>
            <p:cNvSpPr>
              <a:spLocks noChangeArrowheads="1"/>
            </p:cNvSpPr>
            <p:nvPr/>
          </p:nvSpPr>
          <p:spPr bwMode="auto">
            <a:xfrm>
              <a:off x="4888572" y="3399805"/>
              <a:ext cx="1339386" cy="120544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StoreOf</a:t>
              </a:r>
            </a:p>
          </p:txBody>
        </p:sp>
        <p:sp>
          <p:nvSpPr>
            <p:cNvPr id="39945" name="AutoShape 8"/>
            <p:cNvSpPr>
              <a:spLocks noChangeArrowheads="1"/>
            </p:cNvSpPr>
            <p:nvPr/>
          </p:nvSpPr>
          <p:spPr bwMode="auto">
            <a:xfrm>
              <a:off x="4888572" y="1792542"/>
              <a:ext cx="1339386" cy="120544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ProductOf</a:t>
              </a:r>
            </a:p>
          </p:txBody>
        </p:sp>
        <p:sp>
          <p:nvSpPr>
            <p:cNvPr id="39946" name="AutoShape 9"/>
            <p:cNvSpPr>
              <a:spLocks noChangeArrowheads="1"/>
            </p:cNvSpPr>
            <p:nvPr/>
          </p:nvSpPr>
          <p:spPr bwMode="auto">
            <a:xfrm>
              <a:off x="4888572" y="4806160"/>
              <a:ext cx="1339386" cy="120544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000">
                  <a:solidFill>
                    <a:srgbClr val="000000"/>
                  </a:solidFill>
                </a:rPr>
                <a:t>BuyerOf</a:t>
              </a:r>
            </a:p>
          </p:txBody>
        </p:sp>
        <p:sp>
          <p:nvSpPr>
            <p:cNvPr id="39947" name="Line 10"/>
            <p:cNvSpPr>
              <a:spLocks noChangeShapeType="1"/>
            </p:cNvSpPr>
            <p:nvPr/>
          </p:nvSpPr>
          <p:spPr bwMode="auto">
            <a:xfrm flipH="1">
              <a:off x="3415247" y="2395266"/>
              <a:ext cx="1473324" cy="93757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48" name="Line 11"/>
            <p:cNvSpPr>
              <a:spLocks noChangeShapeType="1"/>
            </p:cNvSpPr>
            <p:nvPr/>
          </p:nvSpPr>
          <p:spPr bwMode="auto">
            <a:xfrm flipH="1" flipV="1">
              <a:off x="3214339" y="4002528"/>
              <a:ext cx="1674232" cy="1406355"/>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49" name="Line 12"/>
            <p:cNvSpPr>
              <a:spLocks noChangeShapeType="1"/>
            </p:cNvSpPr>
            <p:nvPr/>
          </p:nvSpPr>
          <p:spPr bwMode="auto">
            <a:xfrm flipH="1">
              <a:off x="4151909" y="4002528"/>
              <a:ext cx="736662"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50" name="Line 13"/>
            <p:cNvSpPr>
              <a:spLocks noChangeShapeType="1"/>
            </p:cNvSpPr>
            <p:nvPr/>
          </p:nvSpPr>
          <p:spPr bwMode="auto">
            <a:xfrm>
              <a:off x="6227958" y="4002528"/>
              <a:ext cx="1071509"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51" name="Line 14"/>
            <p:cNvSpPr>
              <a:spLocks noChangeShapeType="1"/>
            </p:cNvSpPr>
            <p:nvPr/>
          </p:nvSpPr>
          <p:spPr bwMode="auto">
            <a:xfrm>
              <a:off x="6227958" y="5408883"/>
              <a:ext cx="1138478"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52" name="Line 15"/>
            <p:cNvSpPr>
              <a:spLocks noChangeShapeType="1"/>
            </p:cNvSpPr>
            <p:nvPr/>
          </p:nvSpPr>
          <p:spPr bwMode="auto">
            <a:xfrm>
              <a:off x="6227958" y="2395266"/>
              <a:ext cx="1071509"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39953" name="Oval 16"/>
            <p:cNvSpPr>
              <a:spLocks noChangeArrowheads="1"/>
            </p:cNvSpPr>
            <p:nvPr/>
          </p:nvSpPr>
          <p:spPr bwMode="auto">
            <a:xfrm>
              <a:off x="2678585" y="1859511"/>
              <a:ext cx="1272417" cy="602724"/>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date</a:t>
              </a:r>
            </a:p>
          </p:txBody>
        </p:sp>
        <p:sp>
          <p:nvSpPr>
            <p:cNvPr id="39954" name="Line 17"/>
            <p:cNvSpPr>
              <a:spLocks noChangeShapeType="1"/>
            </p:cNvSpPr>
            <p:nvPr/>
          </p:nvSpPr>
          <p:spPr bwMode="auto">
            <a:xfrm flipV="1">
              <a:off x="3013432" y="2462235"/>
              <a:ext cx="66969" cy="870601"/>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3" name="TextBox 2"/>
          <p:cNvSpPr txBox="1"/>
          <p:nvPr/>
        </p:nvSpPr>
        <p:spPr>
          <a:xfrm>
            <a:off x="9753599" y="1792542"/>
            <a:ext cx="1945341" cy="1938992"/>
          </a:xfrm>
          <a:prstGeom prst="rect">
            <a:avLst/>
          </a:prstGeom>
          <a:noFill/>
        </p:spPr>
        <p:txBody>
          <a:bodyPr wrap="square" rtlCol="0">
            <a:spAutoFit/>
          </a:bodyPr>
          <a:lstStyle/>
          <a:p>
            <a:r>
              <a:rPr lang="en-US" sz="2400">
                <a:latin typeface="+mj-lt"/>
              </a:rPr>
              <a:t>From what we had on previous slide to this - what did we do?</a:t>
            </a:r>
          </a:p>
        </p:txBody>
      </p:sp>
      <p:sp>
        <p:nvSpPr>
          <p:cNvPr id="4" name="Slide Number Placeholder 3">
            <a:extLst>
              <a:ext uri="{FF2B5EF4-FFF2-40B4-BE49-F238E27FC236}">
                <a16:creationId xmlns:a16="http://schemas.microsoft.com/office/drawing/2014/main" id="{2E71A68B-3324-452C-9E2E-B44BD7B063B0}"/>
              </a:ext>
            </a:extLst>
          </p:cNvPr>
          <p:cNvSpPr>
            <a:spLocks noGrp="1"/>
          </p:cNvSpPr>
          <p:nvPr>
            <p:ph type="sldNum" sz="quarter" idx="12"/>
          </p:nvPr>
        </p:nvSpPr>
        <p:spPr/>
        <p:txBody>
          <a:bodyPr/>
          <a:lstStyle/>
          <a:p>
            <a:fld id="{641C0F02-33DC-3A41-9F51-431B7FE03ABE}" type="slidenum">
              <a:rPr lang="en-US" smtClean="0"/>
              <a:t>39</a:t>
            </a:fld>
            <a:endParaRPr lang="en-US"/>
          </a:p>
        </p:txBody>
      </p:sp>
    </p:spTree>
    <p:extLst>
      <p:ext uri="{BB962C8B-B14F-4D97-AF65-F5344CB8AC3E}">
        <p14:creationId xmlns:p14="http://schemas.microsoft.com/office/powerpoint/2010/main" val="1556276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4576"/>
            <a:ext cx="10363200" cy="1143000"/>
          </a:xfrm>
        </p:spPr>
        <p:txBody>
          <a:bodyPr/>
          <a:lstStyle/>
          <a:p>
            <a:r>
              <a:rPr lang="en-US"/>
              <a:t>Decision: Multi-way or New Entity + Binary?</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solidFill>
                  <a:srgbClr val="000000"/>
                </a:solidFill>
              </a:rPr>
              <a:pPr>
                <a:defRPr/>
              </a:pPr>
              <a:t>40</a:t>
            </a:fld>
            <a:endParaRPr lang="en-US">
              <a:solidFill>
                <a:srgbClr val="000000"/>
              </a:solidFill>
            </a:endParaRPr>
          </a:p>
        </p:txBody>
      </p:sp>
      <p:sp>
        <p:nvSpPr>
          <p:cNvPr id="36" name="TextBox 35"/>
          <p:cNvSpPr txBox="1"/>
          <p:nvPr/>
        </p:nvSpPr>
        <p:spPr>
          <a:xfrm>
            <a:off x="2269116" y="787592"/>
            <a:ext cx="3428631" cy="461665"/>
          </a:xfrm>
          <a:prstGeom prst="rect">
            <a:avLst/>
          </a:prstGeom>
          <a:noFill/>
        </p:spPr>
        <p:txBody>
          <a:bodyPr wrap="none" rtlCol="0">
            <a:spAutoFit/>
          </a:bodyPr>
          <a:lstStyle/>
          <a:p>
            <a:r>
              <a:rPr lang="en-US" sz="2400">
                <a:latin typeface="+mj-lt"/>
              </a:rPr>
              <a:t>(A) Multi-way Relationship</a:t>
            </a:r>
          </a:p>
        </p:txBody>
      </p:sp>
      <p:sp>
        <p:nvSpPr>
          <p:cNvPr id="37" name="TextBox 36"/>
          <p:cNvSpPr txBox="1"/>
          <p:nvPr/>
        </p:nvSpPr>
        <p:spPr>
          <a:xfrm>
            <a:off x="7127321" y="839731"/>
            <a:ext cx="2387257" cy="461665"/>
          </a:xfrm>
          <a:prstGeom prst="rect">
            <a:avLst/>
          </a:prstGeom>
          <a:noFill/>
        </p:spPr>
        <p:txBody>
          <a:bodyPr wrap="none" rtlCol="0">
            <a:spAutoFit/>
          </a:bodyPr>
          <a:lstStyle/>
          <a:p>
            <a:r>
              <a:rPr lang="en-US" sz="2400">
                <a:latin typeface="+mj-lt"/>
              </a:rPr>
              <a:t>(B) Entity + Binary</a:t>
            </a:r>
          </a:p>
        </p:txBody>
      </p:sp>
      <p:sp>
        <p:nvSpPr>
          <p:cNvPr id="38" name="TextBox 37"/>
          <p:cNvSpPr txBox="1"/>
          <p:nvPr/>
        </p:nvSpPr>
        <p:spPr>
          <a:xfrm>
            <a:off x="6204642" y="3732235"/>
            <a:ext cx="5606142" cy="923330"/>
          </a:xfrm>
          <a:prstGeom prst="rect">
            <a:avLst/>
          </a:prstGeom>
          <a:noFill/>
        </p:spPr>
        <p:txBody>
          <a:bodyPr wrap="square" rtlCol="0">
            <a:spAutoFit/>
          </a:bodyPr>
          <a:lstStyle/>
          <a:p>
            <a:pPr marL="342900" indent="-342900" fontAlgn="base">
              <a:spcBef>
                <a:spcPct val="0"/>
              </a:spcBef>
              <a:spcAft>
                <a:spcPct val="0"/>
              </a:spcAft>
              <a:buFont typeface="Arial" charset="0"/>
              <a:buChar char="•"/>
            </a:pPr>
            <a:r>
              <a:rPr lang="en-US" i="1">
                <a:solidFill>
                  <a:srgbClr val="000000"/>
                </a:solidFill>
              </a:rPr>
              <a:t>Covered earlier: </a:t>
            </a:r>
            <a:r>
              <a:rPr lang="en-US">
                <a:solidFill>
                  <a:srgbClr val="000000"/>
                </a:solidFill>
              </a:rPr>
              <a:t>(B) is useful if we want to have multiple instances of the “relationship” per entity combination </a:t>
            </a:r>
            <a:endParaRPr lang="en-US" i="1">
              <a:solidFill>
                <a:srgbClr val="000000"/>
              </a:solidFill>
            </a:endParaRPr>
          </a:p>
        </p:txBody>
      </p:sp>
      <p:sp>
        <p:nvSpPr>
          <p:cNvPr id="4" name="TextBox 3"/>
          <p:cNvSpPr txBox="1"/>
          <p:nvPr/>
        </p:nvSpPr>
        <p:spPr>
          <a:xfrm>
            <a:off x="7407680" y="-24877"/>
            <a:ext cx="2688830" cy="1015663"/>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000">
                <a:latin typeface="+mj-lt"/>
              </a:rPr>
              <a:t>Multiple purchases per (product, store, person) combo possible here!</a:t>
            </a:r>
          </a:p>
        </p:txBody>
      </p:sp>
      <p:grpSp>
        <p:nvGrpSpPr>
          <p:cNvPr id="39" name="Group 38"/>
          <p:cNvGrpSpPr/>
          <p:nvPr/>
        </p:nvGrpSpPr>
        <p:grpSpPr>
          <a:xfrm>
            <a:off x="6979642" y="1246484"/>
            <a:ext cx="4013199" cy="2269599"/>
            <a:chOff x="3050937" y="2355495"/>
            <a:chExt cx="7160554" cy="3701143"/>
          </a:xfrm>
        </p:grpSpPr>
        <p:sp>
          <p:nvSpPr>
            <p:cNvPr id="40" name="Rectangle 3"/>
            <p:cNvSpPr>
              <a:spLocks noChangeArrowheads="1"/>
            </p:cNvSpPr>
            <p:nvPr/>
          </p:nvSpPr>
          <p:spPr bwMode="auto">
            <a:xfrm>
              <a:off x="3050937" y="4000446"/>
              <a:ext cx="1703701" cy="58748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Purchase</a:t>
              </a:r>
            </a:p>
          </p:txBody>
        </p:sp>
        <p:sp>
          <p:nvSpPr>
            <p:cNvPr id="41" name="Rectangle 4"/>
            <p:cNvSpPr>
              <a:spLocks noChangeArrowheads="1"/>
            </p:cNvSpPr>
            <p:nvPr/>
          </p:nvSpPr>
          <p:spPr bwMode="auto">
            <a:xfrm>
              <a:off x="8507790" y="5292910"/>
              <a:ext cx="1703701" cy="58748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Person</a:t>
              </a:r>
            </a:p>
          </p:txBody>
        </p:sp>
        <p:sp>
          <p:nvSpPr>
            <p:cNvPr id="42" name="Rectangle 5"/>
            <p:cNvSpPr>
              <a:spLocks noChangeArrowheads="1"/>
            </p:cNvSpPr>
            <p:nvPr/>
          </p:nvSpPr>
          <p:spPr bwMode="auto">
            <a:xfrm>
              <a:off x="8449042" y="4000447"/>
              <a:ext cx="1703701" cy="58748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Store</a:t>
              </a:r>
            </a:p>
          </p:txBody>
        </p:sp>
        <p:sp>
          <p:nvSpPr>
            <p:cNvPr id="43" name="Rectangle 6"/>
            <p:cNvSpPr>
              <a:spLocks noChangeArrowheads="1"/>
            </p:cNvSpPr>
            <p:nvPr/>
          </p:nvSpPr>
          <p:spPr bwMode="auto">
            <a:xfrm>
              <a:off x="8449042" y="2590488"/>
              <a:ext cx="1703701" cy="58748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Product</a:t>
              </a:r>
            </a:p>
          </p:txBody>
        </p:sp>
        <p:sp>
          <p:nvSpPr>
            <p:cNvPr id="44" name="AutoShape 7"/>
            <p:cNvSpPr>
              <a:spLocks noChangeArrowheads="1"/>
            </p:cNvSpPr>
            <p:nvPr/>
          </p:nvSpPr>
          <p:spPr bwMode="auto">
            <a:xfrm>
              <a:off x="6334103" y="3765454"/>
              <a:ext cx="1174966" cy="1057469"/>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StoreOf</a:t>
              </a:r>
            </a:p>
          </p:txBody>
        </p:sp>
        <p:sp>
          <p:nvSpPr>
            <p:cNvPr id="45" name="AutoShape 8"/>
            <p:cNvSpPr>
              <a:spLocks noChangeArrowheads="1"/>
            </p:cNvSpPr>
            <p:nvPr/>
          </p:nvSpPr>
          <p:spPr bwMode="auto">
            <a:xfrm>
              <a:off x="6334103" y="2355495"/>
              <a:ext cx="1174966" cy="1057469"/>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err="1">
                  <a:solidFill>
                    <a:srgbClr val="000000"/>
                  </a:solidFill>
                </a:rPr>
                <a:t>ProductOf</a:t>
              </a:r>
              <a:endParaRPr lang="en-US" sz="800">
                <a:solidFill>
                  <a:srgbClr val="000000"/>
                </a:solidFill>
              </a:endParaRPr>
            </a:p>
          </p:txBody>
        </p:sp>
        <p:sp>
          <p:nvSpPr>
            <p:cNvPr id="46" name="AutoShape 9"/>
            <p:cNvSpPr>
              <a:spLocks noChangeArrowheads="1"/>
            </p:cNvSpPr>
            <p:nvPr/>
          </p:nvSpPr>
          <p:spPr bwMode="auto">
            <a:xfrm>
              <a:off x="6334103" y="4999169"/>
              <a:ext cx="1174966" cy="1057469"/>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BuyerOf</a:t>
              </a:r>
            </a:p>
          </p:txBody>
        </p:sp>
        <p:sp>
          <p:nvSpPr>
            <p:cNvPr id="47" name="Line 13"/>
            <p:cNvSpPr>
              <a:spLocks noChangeShapeType="1"/>
            </p:cNvSpPr>
            <p:nvPr/>
          </p:nvSpPr>
          <p:spPr bwMode="auto">
            <a:xfrm>
              <a:off x="7509069" y="4294189"/>
              <a:ext cx="939973"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48" name="Line 14"/>
            <p:cNvSpPr>
              <a:spLocks noChangeShapeType="1"/>
            </p:cNvSpPr>
            <p:nvPr/>
          </p:nvSpPr>
          <p:spPr bwMode="auto">
            <a:xfrm>
              <a:off x="7509069" y="5527903"/>
              <a:ext cx="998721"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49" name="Line 15"/>
            <p:cNvSpPr>
              <a:spLocks noChangeShapeType="1"/>
            </p:cNvSpPr>
            <p:nvPr/>
          </p:nvSpPr>
          <p:spPr bwMode="auto">
            <a:xfrm>
              <a:off x="7509069" y="2884230"/>
              <a:ext cx="939973"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50" name="Oval 16"/>
            <p:cNvSpPr>
              <a:spLocks noChangeArrowheads="1"/>
            </p:cNvSpPr>
            <p:nvPr/>
          </p:nvSpPr>
          <p:spPr bwMode="auto">
            <a:xfrm>
              <a:off x="3439195" y="2942978"/>
              <a:ext cx="1116218" cy="528735"/>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date</a:t>
              </a:r>
            </a:p>
          </p:txBody>
        </p:sp>
        <p:sp>
          <p:nvSpPr>
            <p:cNvPr id="51" name="Line 17"/>
            <p:cNvSpPr>
              <a:spLocks noChangeShapeType="1"/>
            </p:cNvSpPr>
            <p:nvPr/>
          </p:nvSpPr>
          <p:spPr bwMode="auto">
            <a:xfrm flipV="1">
              <a:off x="3814665" y="3471712"/>
              <a:ext cx="180392" cy="528733"/>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cxnSp>
          <p:nvCxnSpPr>
            <p:cNvPr id="52" name="Straight Arrow Connector 51"/>
            <p:cNvCxnSpPr/>
            <p:nvPr/>
          </p:nvCxnSpPr>
          <p:spPr bwMode="auto">
            <a:xfrm>
              <a:off x="4754638" y="4294188"/>
              <a:ext cx="1579465" cy="1"/>
            </a:xfrm>
            <a:prstGeom prst="straightConnector1">
              <a:avLst/>
            </a:prstGeom>
            <a:solidFill>
              <a:srgbClr val="C0C0C0">
                <a:alpha val="50000"/>
              </a:srgbClr>
            </a:solidFill>
            <a:ln w="9525" cap="flat" cmpd="sng" algn="ctr">
              <a:solidFill>
                <a:schemeClr val="tx1"/>
              </a:solidFill>
              <a:prstDash val="solid"/>
              <a:round/>
              <a:headEnd type="none" w="med" len="med"/>
              <a:tailEnd type="triangle"/>
            </a:ln>
            <a:effectLst/>
          </p:spPr>
        </p:cxnSp>
        <p:cxnSp>
          <p:nvCxnSpPr>
            <p:cNvPr id="53" name="Straight Arrow Connector 52"/>
            <p:cNvCxnSpPr/>
            <p:nvPr/>
          </p:nvCxnSpPr>
          <p:spPr bwMode="auto">
            <a:xfrm flipV="1">
              <a:off x="4754638" y="2884230"/>
              <a:ext cx="1579465" cy="1409958"/>
            </a:xfrm>
            <a:prstGeom prst="straightConnector1">
              <a:avLst/>
            </a:prstGeom>
            <a:solidFill>
              <a:srgbClr val="C0C0C0">
                <a:alpha val="50000"/>
              </a:srgbClr>
            </a:solidFill>
            <a:ln w="9525" cap="flat" cmpd="sng" algn="ctr">
              <a:solidFill>
                <a:schemeClr val="tx1"/>
              </a:solidFill>
              <a:prstDash val="solid"/>
              <a:round/>
              <a:headEnd type="none" w="med" len="med"/>
              <a:tailEnd type="triangle"/>
            </a:ln>
            <a:effectLst/>
          </p:spPr>
        </p:cxnSp>
        <p:cxnSp>
          <p:nvCxnSpPr>
            <p:cNvPr id="54" name="Straight Arrow Connector 53"/>
            <p:cNvCxnSpPr/>
            <p:nvPr/>
          </p:nvCxnSpPr>
          <p:spPr bwMode="auto">
            <a:xfrm>
              <a:off x="4754638" y="4294188"/>
              <a:ext cx="1579465" cy="1233716"/>
            </a:xfrm>
            <a:prstGeom prst="straightConnector1">
              <a:avLst/>
            </a:prstGeom>
            <a:solidFill>
              <a:srgbClr val="C0C0C0">
                <a:alpha val="50000"/>
              </a:srgbClr>
            </a:solidFill>
            <a:ln w="9525" cap="flat" cmpd="sng" algn="ctr">
              <a:solidFill>
                <a:schemeClr val="tx1"/>
              </a:solidFill>
              <a:prstDash val="solid"/>
              <a:round/>
              <a:headEnd type="none" w="med" len="med"/>
              <a:tailEnd type="triangle"/>
            </a:ln>
            <a:effectLst/>
          </p:spPr>
        </p:cxnSp>
      </p:grpSp>
      <p:grpSp>
        <p:nvGrpSpPr>
          <p:cNvPr id="55" name="Group 54"/>
          <p:cNvGrpSpPr/>
          <p:nvPr/>
        </p:nvGrpSpPr>
        <p:grpSpPr>
          <a:xfrm>
            <a:off x="976511" y="994891"/>
            <a:ext cx="4266850" cy="2112277"/>
            <a:chOff x="3352801" y="2743200"/>
            <a:chExt cx="5791200" cy="2676525"/>
          </a:xfrm>
        </p:grpSpPr>
        <p:sp>
          <p:nvSpPr>
            <p:cNvPr id="56" name="AutoShape 5"/>
            <p:cNvSpPr>
              <a:spLocks noChangeAspect="1" noChangeArrowheads="1"/>
            </p:cNvSpPr>
            <p:nvPr/>
          </p:nvSpPr>
          <p:spPr bwMode="auto">
            <a:xfrm>
              <a:off x="5538788" y="3343275"/>
              <a:ext cx="1092200" cy="98425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000">
                  <a:solidFill>
                    <a:srgbClr val="000000"/>
                  </a:solidFill>
                </a:rPr>
                <a:t>Purchase</a:t>
              </a:r>
            </a:p>
          </p:txBody>
        </p:sp>
        <p:sp>
          <p:nvSpPr>
            <p:cNvPr id="57" name="Rectangle 6"/>
            <p:cNvSpPr>
              <a:spLocks noChangeAspect="1" noChangeArrowheads="1"/>
            </p:cNvSpPr>
            <p:nvPr/>
          </p:nvSpPr>
          <p:spPr bwMode="auto">
            <a:xfrm>
              <a:off x="3352801" y="274320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Product</a:t>
              </a:r>
            </a:p>
          </p:txBody>
        </p:sp>
        <p:sp>
          <p:nvSpPr>
            <p:cNvPr id="58" name="Rectangle 7"/>
            <p:cNvSpPr>
              <a:spLocks noChangeAspect="1" noChangeArrowheads="1"/>
            </p:cNvSpPr>
            <p:nvPr/>
          </p:nvSpPr>
          <p:spPr bwMode="auto">
            <a:xfrm>
              <a:off x="5265739" y="4873625"/>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Person</a:t>
              </a:r>
            </a:p>
          </p:txBody>
        </p:sp>
        <p:sp>
          <p:nvSpPr>
            <p:cNvPr id="59" name="Rectangle 8"/>
            <p:cNvSpPr>
              <a:spLocks noChangeAspect="1" noChangeArrowheads="1"/>
            </p:cNvSpPr>
            <p:nvPr/>
          </p:nvSpPr>
          <p:spPr bwMode="auto">
            <a:xfrm>
              <a:off x="7559676" y="3562350"/>
              <a:ext cx="1584325" cy="5461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400">
                  <a:solidFill>
                    <a:srgbClr val="000000"/>
                  </a:solidFill>
                </a:rPr>
                <a:t>Store</a:t>
              </a:r>
            </a:p>
          </p:txBody>
        </p:sp>
        <p:sp>
          <p:nvSpPr>
            <p:cNvPr id="60" name="Line 9"/>
            <p:cNvSpPr>
              <a:spLocks noChangeAspect="1" noChangeShapeType="1"/>
            </p:cNvSpPr>
            <p:nvPr/>
          </p:nvSpPr>
          <p:spPr bwMode="auto">
            <a:xfrm>
              <a:off x="6630989" y="3835400"/>
              <a:ext cx="928687" cy="0"/>
            </a:xfrm>
            <a:prstGeom prst="line">
              <a:avLst/>
            </a:prstGeom>
            <a:noFill/>
            <a:ln w="9525">
              <a:solidFill>
                <a:schemeClr val="tx1"/>
              </a:solidFill>
              <a:round/>
              <a:headEnd/>
              <a:tailEnd type="none" w="med" len="me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61" name="Line 10"/>
            <p:cNvSpPr>
              <a:spLocks noChangeAspect="1" noChangeShapeType="1"/>
            </p:cNvSpPr>
            <p:nvPr/>
          </p:nvSpPr>
          <p:spPr bwMode="auto">
            <a:xfrm>
              <a:off x="6084888" y="4327525"/>
              <a:ext cx="0" cy="5461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62" name="Line 11"/>
            <p:cNvSpPr>
              <a:spLocks noChangeAspect="1" noChangeShapeType="1"/>
            </p:cNvSpPr>
            <p:nvPr/>
          </p:nvSpPr>
          <p:spPr bwMode="auto">
            <a:xfrm>
              <a:off x="4937126" y="3289300"/>
              <a:ext cx="601663" cy="5461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grpSp>
      <p:sp>
        <p:nvSpPr>
          <p:cNvPr id="5" name="TextBox 4"/>
          <p:cNvSpPr txBox="1"/>
          <p:nvPr/>
        </p:nvSpPr>
        <p:spPr>
          <a:xfrm>
            <a:off x="6252875" y="4970458"/>
            <a:ext cx="5606143" cy="1477328"/>
          </a:xfrm>
          <a:prstGeom prst="rect">
            <a:avLst/>
          </a:prstGeom>
          <a:noFill/>
        </p:spPr>
        <p:txBody>
          <a:bodyPr wrap="square" rtlCol="0">
            <a:spAutoFit/>
          </a:bodyPr>
          <a:lstStyle/>
          <a:p>
            <a:pPr marL="342900" indent="-342900" fontAlgn="base">
              <a:spcBef>
                <a:spcPct val="0"/>
              </a:spcBef>
              <a:spcAft>
                <a:spcPct val="0"/>
              </a:spcAft>
              <a:buFont typeface="Arial" charset="0"/>
              <a:buChar char="•"/>
            </a:pPr>
            <a:r>
              <a:rPr lang="en-US">
                <a:solidFill>
                  <a:srgbClr val="000000"/>
                </a:solidFill>
              </a:rPr>
              <a:t>(B) is also useful when we want to add details (constraints or attributes) to the relationship</a:t>
            </a:r>
          </a:p>
          <a:p>
            <a:pPr marL="914400" lvl="1" indent="-457200" fontAlgn="base">
              <a:spcBef>
                <a:spcPct val="0"/>
              </a:spcBef>
              <a:spcAft>
                <a:spcPct val="0"/>
              </a:spcAft>
              <a:buFontTx/>
              <a:buChar char="-"/>
            </a:pPr>
            <a:r>
              <a:rPr lang="en-US">
                <a:solidFill>
                  <a:srgbClr val="000000"/>
                </a:solidFill>
              </a:rPr>
              <a:t>“A person who shops in only one store”</a:t>
            </a:r>
          </a:p>
          <a:p>
            <a:pPr marL="914400" lvl="1" indent="-457200" fontAlgn="base">
              <a:spcBef>
                <a:spcPct val="0"/>
              </a:spcBef>
              <a:spcAft>
                <a:spcPct val="0"/>
              </a:spcAft>
              <a:buFontTx/>
              <a:buChar char="-"/>
            </a:pPr>
            <a:r>
              <a:rPr lang="en-US">
                <a:solidFill>
                  <a:srgbClr val="000000"/>
                </a:solidFill>
              </a:rPr>
              <a:t>“How long a person has been shopping at a store”</a:t>
            </a:r>
          </a:p>
        </p:txBody>
      </p:sp>
      <p:sp>
        <p:nvSpPr>
          <p:cNvPr id="6" name="TextBox 5">
            <a:extLst>
              <a:ext uri="{FF2B5EF4-FFF2-40B4-BE49-F238E27FC236}">
                <a16:creationId xmlns:a16="http://schemas.microsoft.com/office/drawing/2014/main" id="{E1944C12-4B43-BC0F-2774-AB41740A892C}"/>
              </a:ext>
            </a:extLst>
          </p:cNvPr>
          <p:cNvSpPr txBox="1"/>
          <p:nvPr/>
        </p:nvSpPr>
        <p:spPr>
          <a:xfrm>
            <a:off x="1041148" y="3924117"/>
            <a:ext cx="4065007" cy="923330"/>
          </a:xfrm>
          <a:prstGeom prst="rect">
            <a:avLst/>
          </a:prstGeom>
          <a:noFill/>
        </p:spPr>
        <p:txBody>
          <a:bodyPr wrap="square" rtlCol="0">
            <a:spAutoFit/>
          </a:bodyPr>
          <a:lstStyle/>
          <a:p>
            <a:pPr marL="342900" indent="-342900" fontAlgn="base">
              <a:spcBef>
                <a:spcPct val="0"/>
              </a:spcBef>
              <a:spcAft>
                <a:spcPct val="0"/>
              </a:spcAft>
              <a:buFont typeface="Arial" charset="0"/>
              <a:buChar char="•"/>
            </a:pPr>
            <a:r>
              <a:rPr lang="en-US">
                <a:solidFill>
                  <a:srgbClr val="000000"/>
                </a:solidFill>
              </a:rPr>
              <a:t>(A) is useful when a relationship really is between multiple entities</a:t>
            </a:r>
          </a:p>
          <a:p>
            <a:pPr marL="914400" lvl="1" indent="-457200" fontAlgn="base">
              <a:spcBef>
                <a:spcPct val="0"/>
              </a:spcBef>
              <a:spcAft>
                <a:spcPct val="0"/>
              </a:spcAft>
            </a:pPr>
            <a:r>
              <a:rPr lang="en-US" i="1">
                <a:solidFill>
                  <a:srgbClr val="000000"/>
                </a:solidFill>
              </a:rPr>
              <a:t>- 	Ex: A three-party legal contract</a:t>
            </a:r>
          </a:p>
        </p:txBody>
      </p:sp>
    </p:spTree>
    <p:extLst>
      <p:ext uri="{BB962C8B-B14F-4D97-AF65-F5344CB8AC3E}">
        <p14:creationId xmlns:p14="http://schemas.microsoft.com/office/powerpoint/2010/main" val="2006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 grpId="0" animBg="1"/>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Relationship vs. Entity?</a:t>
            </a:r>
          </a:p>
        </p:txBody>
      </p:sp>
      <p:sp>
        <p:nvSpPr>
          <p:cNvPr id="3" name="Content Placeholder 2"/>
          <p:cNvSpPr>
            <a:spLocks noGrp="1"/>
          </p:cNvSpPr>
          <p:nvPr>
            <p:ph idx="1"/>
          </p:nvPr>
        </p:nvSpPr>
        <p:spPr>
          <a:xfrm>
            <a:off x="914400" y="1662438"/>
            <a:ext cx="10363200" cy="3770174"/>
          </a:xfrm>
        </p:spPr>
        <p:txBody>
          <a:bodyPr>
            <a:normAutofit/>
          </a:bodyPr>
          <a:lstStyle/>
          <a:p>
            <a:r>
              <a:rPr lang="en-US" b="1"/>
              <a:t>Q: </a:t>
            </a:r>
            <a:r>
              <a:rPr lang="en-US"/>
              <a:t>What does this say?</a:t>
            </a:r>
          </a:p>
          <a:p>
            <a:endParaRPr lang="en-US" b="1" i="1"/>
          </a:p>
          <a:p>
            <a:endParaRPr lang="en-US" b="1" i="1"/>
          </a:p>
          <a:p>
            <a:endParaRPr lang="en-US" b="1" i="1"/>
          </a:p>
          <a:p>
            <a:endParaRPr lang="en-US" b="1" i="1"/>
          </a:p>
          <a:p>
            <a:endParaRPr lang="en-US"/>
          </a:p>
          <a:p>
            <a:r>
              <a:rPr lang="en-US" b="1"/>
              <a:t>A: </a:t>
            </a:r>
            <a:r>
              <a:rPr lang="en-US"/>
              <a:t>A person can only buy a specific product once (on one date)</a:t>
            </a:r>
          </a:p>
        </p:txBody>
      </p:sp>
      <p:grpSp>
        <p:nvGrpSpPr>
          <p:cNvPr id="5" name="Group 4"/>
          <p:cNvGrpSpPr/>
          <p:nvPr/>
        </p:nvGrpSpPr>
        <p:grpSpPr>
          <a:xfrm>
            <a:off x="2496456" y="2498217"/>
            <a:ext cx="5711435" cy="1535957"/>
            <a:chOff x="2496456" y="2498217"/>
            <a:chExt cx="5711435" cy="1535957"/>
          </a:xfrm>
        </p:grpSpPr>
        <p:sp>
          <p:nvSpPr>
            <p:cNvPr id="15" name="AutoShape 8"/>
            <p:cNvSpPr>
              <a:spLocks noChangeArrowheads="1"/>
            </p:cNvSpPr>
            <p:nvPr/>
          </p:nvSpPr>
          <p:spPr bwMode="auto">
            <a:xfrm>
              <a:off x="5331664" y="3573387"/>
              <a:ext cx="1260093" cy="460787"/>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Purchased</a:t>
              </a:r>
            </a:p>
          </p:txBody>
        </p:sp>
        <p:sp>
          <p:nvSpPr>
            <p:cNvPr id="16" name="Rectangle 15"/>
            <p:cNvSpPr>
              <a:spLocks noChangeArrowheads="1"/>
            </p:cNvSpPr>
            <p:nvPr/>
          </p:nvSpPr>
          <p:spPr bwMode="auto">
            <a:xfrm>
              <a:off x="4019068" y="3624585"/>
              <a:ext cx="840062" cy="35839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7" name="Oval 12"/>
            <p:cNvSpPr>
              <a:spLocks noChangeArrowheads="1"/>
            </p:cNvSpPr>
            <p:nvPr/>
          </p:nvSpPr>
          <p:spPr bwMode="auto">
            <a:xfrm>
              <a:off x="3231510" y="2856607"/>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8" name="Oval 13"/>
            <p:cNvSpPr>
              <a:spLocks noChangeArrowheads="1"/>
            </p:cNvSpPr>
            <p:nvPr/>
          </p:nvSpPr>
          <p:spPr bwMode="auto">
            <a:xfrm>
              <a:off x="4334091" y="2907806"/>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19" name="Oval 16"/>
            <p:cNvSpPr>
              <a:spLocks noChangeArrowheads="1"/>
            </p:cNvSpPr>
            <p:nvPr/>
          </p:nvSpPr>
          <p:spPr bwMode="auto">
            <a:xfrm>
              <a:off x="2496456" y="3266195"/>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0" name="Straight Connector 19"/>
            <p:cNvCxnSpPr>
              <a:stCxn id="21" idx="5"/>
              <a:endCxn id="18" idx="1"/>
            </p:cNvCxnSpPr>
            <p:nvPr/>
          </p:nvCxnSpPr>
          <p:spPr bwMode="auto">
            <a:xfrm rot="16200000" flipH="1">
              <a:off x="3611365" y="3396076"/>
              <a:ext cx="144278" cy="67113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1" name="Straight Connector 20"/>
            <p:cNvCxnSpPr>
              <a:stCxn id="19" idx="5"/>
              <a:endCxn id="18" idx="0"/>
            </p:cNvCxnSpPr>
            <p:nvPr/>
          </p:nvCxnSpPr>
          <p:spPr bwMode="auto">
            <a:xfrm rot="16200000" flipH="1">
              <a:off x="4073710" y="3259195"/>
              <a:ext cx="374672" cy="35610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2" name="Straight Connector 21"/>
            <p:cNvCxnSpPr>
              <a:stCxn id="20" idx="4"/>
              <a:endCxn id="18" idx="0"/>
            </p:cNvCxnSpPr>
            <p:nvPr/>
          </p:nvCxnSpPr>
          <p:spPr bwMode="auto">
            <a:xfrm rot="5400000">
              <a:off x="4507992" y="3299699"/>
              <a:ext cx="255993" cy="39377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3" name="Rectangle 22"/>
            <p:cNvSpPr>
              <a:spLocks noChangeArrowheads="1"/>
            </p:cNvSpPr>
            <p:nvPr/>
          </p:nvSpPr>
          <p:spPr bwMode="auto">
            <a:xfrm>
              <a:off x="6869039" y="3673466"/>
              <a:ext cx="1180490" cy="346742"/>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Person</a:t>
              </a:r>
            </a:p>
          </p:txBody>
        </p:sp>
        <p:sp>
          <p:nvSpPr>
            <p:cNvPr id="24" name="Oval 12"/>
            <p:cNvSpPr>
              <a:spLocks noChangeArrowheads="1"/>
            </p:cNvSpPr>
            <p:nvPr/>
          </p:nvSpPr>
          <p:spPr bwMode="auto">
            <a:xfrm>
              <a:off x="7210318" y="2834333"/>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cxnSp>
          <p:nvCxnSpPr>
            <p:cNvPr id="26" name="Straight Connector 25"/>
            <p:cNvCxnSpPr>
              <a:stCxn id="18" idx="3"/>
              <a:endCxn id="17" idx="1"/>
            </p:cNvCxnSpPr>
            <p:nvPr/>
          </p:nvCxnSpPr>
          <p:spPr bwMode="auto">
            <a:xfrm>
              <a:off x="4859130" y="3803780"/>
              <a:ext cx="472535" cy="106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Oval 13"/>
            <p:cNvSpPr>
              <a:spLocks noChangeArrowheads="1"/>
            </p:cNvSpPr>
            <p:nvPr/>
          </p:nvSpPr>
          <p:spPr bwMode="auto">
            <a:xfrm>
              <a:off x="5594184" y="2498217"/>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date</a:t>
              </a:r>
            </a:p>
          </p:txBody>
        </p:sp>
        <p:cxnSp>
          <p:nvCxnSpPr>
            <p:cNvPr id="29" name="Straight Connector 28"/>
            <p:cNvCxnSpPr>
              <a:endCxn id="17" idx="0"/>
            </p:cNvCxnSpPr>
            <p:nvPr/>
          </p:nvCxnSpPr>
          <p:spPr bwMode="auto">
            <a:xfrm rot="5400000">
              <a:off x="5720149" y="3200566"/>
              <a:ext cx="614383" cy="13126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72" name="Straight Connector 71"/>
            <p:cNvCxnSpPr>
              <a:stCxn id="15" idx="3"/>
            </p:cNvCxnSpPr>
            <p:nvPr/>
          </p:nvCxnSpPr>
          <p:spPr bwMode="auto">
            <a:xfrm>
              <a:off x="6591757" y="3803781"/>
              <a:ext cx="277282" cy="2967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01" name="Straight Connector 100"/>
            <p:cNvCxnSpPr>
              <a:stCxn id="24" idx="4"/>
              <a:endCxn id="23" idx="0"/>
            </p:cNvCxnSpPr>
            <p:nvPr/>
          </p:nvCxnSpPr>
          <p:spPr bwMode="auto">
            <a:xfrm flipH="1">
              <a:off x="7459284" y="3295120"/>
              <a:ext cx="249821" cy="37834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7" name="TextBox 6"/>
          <p:cNvSpPr txBox="1"/>
          <p:nvPr/>
        </p:nvSpPr>
        <p:spPr>
          <a:xfrm>
            <a:off x="1982421" y="5631496"/>
            <a:ext cx="8221097" cy="830997"/>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a:r>
              <a:rPr lang="en-US" sz="2400">
                <a:latin typeface="+mj-lt"/>
              </a:rPr>
              <a:t>Modeling something as a relationship makes it unique; what if not appropriate?</a:t>
            </a:r>
          </a:p>
        </p:txBody>
      </p:sp>
      <p:sp>
        <p:nvSpPr>
          <p:cNvPr id="4" name="Slide Number Placeholder 3">
            <a:extLst>
              <a:ext uri="{FF2B5EF4-FFF2-40B4-BE49-F238E27FC236}">
                <a16:creationId xmlns:a16="http://schemas.microsoft.com/office/drawing/2014/main" id="{1CFA4E43-ED0D-4F7D-B347-0B809B42E5A6}"/>
              </a:ext>
            </a:extLst>
          </p:cNvPr>
          <p:cNvSpPr>
            <a:spLocks noGrp="1"/>
          </p:cNvSpPr>
          <p:nvPr>
            <p:ph type="sldNum" sz="quarter" idx="12"/>
          </p:nvPr>
        </p:nvSpPr>
        <p:spPr/>
        <p:txBody>
          <a:bodyPr/>
          <a:lstStyle/>
          <a:p>
            <a:fld id="{641C0F02-33DC-3A41-9F51-431B7FE03ABE}" type="slidenum">
              <a:rPr lang="en-US" smtClean="0"/>
              <a:t>41</a:t>
            </a:fld>
            <a:endParaRPr lang="en-US"/>
          </a:p>
        </p:txBody>
      </p:sp>
    </p:spTree>
    <p:extLst>
      <p:ext uri="{BB962C8B-B14F-4D97-AF65-F5344CB8AC3E}">
        <p14:creationId xmlns:p14="http://schemas.microsoft.com/office/powerpoint/2010/main" val="181783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723900" y="254000"/>
            <a:ext cx="7772400" cy="1143000"/>
          </a:xfrm>
        </p:spPr>
        <p:txBody>
          <a:bodyPr/>
          <a:lstStyle/>
          <a:p>
            <a:pPr eaLnBrk="1" hangingPunct="1"/>
            <a:r>
              <a:rPr lang="en-US"/>
              <a:t>3. Design Principles</a:t>
            </a:r>
          </a:p>
        </p:txBody>
      </p:sp>
      <p:sp>
        <p:nvSpPr>
          <p:cNvPr id="40962" name="Slide Number Placeholder 4"/>
          <p:cNvSpPr>
            <a:spLocks noGrp="1"/>
          </p:cNvSpPr>
          <p:nvPr>
            <p:ph type="sldNum" sz="quarter" idx="12"/>
          </p:nvPr>
        </p:nvSpPr>
        <p:spPr>
          <a:noFill/>
        </p:spPr>
        <p:txBody>
          <a:bodyPr/>
          <a:lstStyle/>
          <a:p>
            <a:fld id="{7669F9ED-9884-1A4D-A067-180AAED5C34C}" type="slidenum">
              <a:rPr lang="en-US" smtClean="0">
                <a:solidFill>
                  <a:srgbClr val="000000"/>
                </a:solidFill>
              </a:rPr>
              <a:pPr/>
              <a:t>42</a:t>
            </a:fld>
            <a:endParaRPr lang="en-US">
              <a:solidFill>
                <a:srgbClr val="000000"/>
              </a:solidFill>
            </a:endParaRPr>
          </a:p>
        </p:txBody>
      </p:sp>
      <p:grpSp>
        <p:nvGrpSpPr>
          <p:cNvPr id="2" name="Group 1"/>
          <p:cNvGrpSpPr/>
          <p:nvPr/>
        </p:nvGrpSpPr>
        <p:grpSpPr>
          <a:xfrm>
            <a:off x="1676400" y="2667000"/>
            <a:ext cx="8305800" cy="1371600"/>
            <a:chOff x="1676400" y="2667000"/>
            <a:chExt cx="8305800" cy="1371600"/>
          </a:xfrm>
        </p:grpSpPr>
        <p:sp>
          <p:nvSpPr>
            <p:cNvPr id="40964" name="AutoShape 3"/>
            <p:cNvSpPr>
              <a:spLocks noChangeArrowheads="1"/>
            </p:cNvSpPr>
            <p:nvPr/>
          </p:nvSpPr>
          <p:spPr bwMode="auto">
            <a:xfrm>
              <a:off x="4953000" y="26670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Purchase</a:t>
              </a:r>
            </a:p>
          </p:txBody>
        </p:sp>
        <p:sp>
          <p:nvSpPr>
            <p:cNvPr id="40965" name="Rectangle 4"/>
            <p:cNvSpPr>
              <a:spLocks noChangeArrowheads="1"/>
            </p:cNvSpPr>
            <p:nvPr/>
          </p:nvSpPr>
          <p:spPr bwMode="auto">
            <a:xfrm>
              <a:off x="1676400" y="29718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40966" name="Rectangle 5"/>
            <p:cNvSpPr>
              <a:spLocks noChangeArrowheads="1"/>
            </p:cNvSpPr>
            <p:nvPr/>
          </p:nvSpPr>
          <p:spPr bwMode="auto">
            <a:xfrm>
              <a:off x="7772400" y="29718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40967" name="Line 6"/>
            <p:cNvSpPr>
              <a:spLocks noChangeShapeType="1"/>
            </p:cNvSpPr>
            <p:nvPr/>
          </p:nvSpPr>
          <p:spPr bwMode="auto">
            <a:xfrm flipH="1">
              <a:off x="3886199" y="3352800"/>
              <a:ext cx="1088575" cy="0"/>
            </a:xfrm>
            <a:prstGeom prst="line">
              <a:avLst/>
            </a:prstGeom>
            <a:noFill/>
            <a:ln w="9525">
              <a:solidFill>
                <a:schemeClr val="tx1"/>
              </a:solidFill>
              <a:round/>
              <a:headEnd/>
              <a:tailEnd type="non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0968" name="Line 7"/>
            <p:cNvSpPr>
              <a:spLocks noChangeShapeType="1"/>
            </p:cNvSpPr>
            <p:nvPr/>
          </p:nvSpPr>
          <p:spPr bwMode="auto">
            <a:xfrm>
              <a:off x="6498774" y="3352800"/>
              <a:ext cx="1273625" cy="0"/>
            </a:xfrm>
            <a:prstGeom prst="line">
              <a:avLst/>
            </a:prstGeom>
            <a:noFill/>
            <a:ln w="9525">
              <a:solidFill>
                <a:schemeClr val="tx1"/>
              </a:solidFill>
              <a:round/>
              <a:headEnd type="triangle" w="lg" len="lg"/>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40969" name="Text Box 8"/>
          <p:cNvSpPr txBox="1">
            <a:spLocks noChangeArrowheads="1"/>
          </p:cNvSpPr>
          <p:nvPr/>
        </p:nvSpPr>
        <p:spPr bwMode="auto">
          <a:xfrm>
            <a:off x="1099457" y="1600200"/>
            <a:ext cx="4627742" cy="461665"/>
          </a:xfrm>
          <a:prstGeom prst="rect">
            <a:avLst/>
          </a:prstGeom>
          <a:solidFill>
            <a:schemeClr val="accent4">
              <a:lumMod val="20000"/>
              <a:lumOff val="80000"/>
            </a:schemeClr>
          </a:solidFill>
          <a:ln w="9525">
            <a:noFill/>
            <a:miter lim="800000"/>
            <a:headEnd/>
            <a:tailEnd/>
          </a:ln>
          <a:effectLst>
            <a:outerShdw blurRad="50800" dist="12700" dir="2700000" algn="tl" rotWithShape="0">
              <a:prstClr val="black">
                <a:alpha val="40000"/>
              </a:prstClr>
            </a:outerShdw>
          </a:effectLst>
        </p:spPr>
        <p:txBody>
          <a:bodyPr wrap="none">
            <a:prstTxWarp prst="textNoShape">
              <a:avLst/>
            </a:prstTxWarp>
            <a:spAutoFit/>
          </a:bodyPr>
          <a:lstStyle/>
          <a:p>
            <a:pPr eaLnBrk="0" fontAlgn="base" hangingPunct="0">
              <a:spcBef>
                <a:spcPct val="0"/>
              </a:spcBef>
              <a:spcAft>
                <a:spcPct val="0"/>
              </a:spcAft>
            </a:pPr>
            <a:r>
              <a:rPr lang="en-US" sz="2400">
                <a:latin typeface="+mj-lt"/>
              </a:rPr>
              <a:t>What’s wrong with these examples?</a:t>
            </a:r>
          </a:p>
        </p:txBody>
      </p:sp>
      <p:grpSp>
        <p:nvGrpSpPr>
          <p:cNvPr id="3" name="Group 2"/>
          <p:cNvGrpSpPr/>
          <p:nvPr/>
        </p:nvGrpSpPr>
        <p:grpSpPr>
          <a:xfrm>
            <a:off x="1676400" y="4800600"/>
            <a:ext cx="8305800" cy="1371600"/>
            <a:chOff x="1676400" y="4800600"/>
            <a:chExt cx="8305800" cy="1371600"/>
          </a:xfrm>
        </p:grpSpPr>
        <p:sp>
          <p:nvSpPr>
            <p:cNvPr id="40970" name="AutoShape 9"/>
            <p:cNvSpPr>
              <a:spLocks noChangeArrowheads="1"/>
            </p:cNvSpPr>
            <p:nvPr/>
          </p:nvSpPr>
          <p:spPr bwMode="auto">
            <a:xfrm>
              <a:off x="4953000" y="4800600"/>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President</a:t>
              </a:r>
            </a:p>
          </p:txBody>
        </p:sp>
        <p:sp>
          <p:nvSpPr>
            <p:cNvPr id="40971" name="Rectangle 10"/>
            <p:cNvSpPr>
              <a:spLocks noChangeArrowheads="1"/>
            </p:cNvSpPr>
            <p:nvPr/>
          </p:nvSpPr>
          <p:spPr bwMode="auto">
            <a:xfrm>
              <a:off x="7772400" y="51816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40972" name="Rectangle 11"/>
            <p:cNvSpPr>
              <a:spLocks noChangeArrowheads="1"/>
            </p:cNvSpPr>
            <p:nvPr/>
          </p:nvSpPr>
          <p:spPr bwMode="auto">
            <a:xfrm>
              <a:off x="1676400" y="5181600"/>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Country</a:t>
              </a:r>
            </a:p>
          </p:txBody>
        </p:sp>
        <p:sp>
          <p:nvSpPr>
            <p:cNvPr id="40973" name="Line 12"/>
            <p:cNvSpPr>
              <a:spLocks noChangeShapeType="1"/>
            </p:cNvSpPr>
            <p:nvPr/>
          </p:nvSpPr>
          <p:spPr bwMode="auto">
            <a:xfrm>
              <a:off x="6477000" y="5486400"/>
              <a:ext cx="12954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0974" name="Line 13"/>
            <p:cNvSpPr>
              <a:spLocks noChangeShapeType="1"/>
            </p:cNvSpPr>
            <p:nvPr/>
          </p:nvSpPr>
          <p:spPr bwMode="auto">
            <a:xfrm flipH="1">
              <a:off x="3886200" y="5486400"/>
              <a:ext cx="10668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Tree>
    <p:extLst>
      <p:ext uri="{BB962C8B-B14F-4D97-AF65-F5344CB8AC3E}">
        <p14:creationId xmlns:p14="http://schemas.microsoft.com/office/powerpoint/2010/main" val="197260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a:t>Design Principles:</a:t>
            </a:r>
            <a:br>
              <a:rPr lang="en-US"/>
            </a:br>
            <a:r>
              <a:rPr lang="en-US"/>
              <a:t>What’s Wrong?</a:t>
            </a:r>
          </a:p>
        </p:txBody>
      </p:sp>
      <p:sp>
        <p:nvSpPr>
          <p:cNvPr id="41986" name="Slide Number Placeholder 4"/>
          <p:cNvSpPr>
            <a:spLocks noGrp="1"/>
          </p:cNvSpPr>
          <p:nvPr>
            <p:ph type="sldNum" sz="quarter" idx="12"/>
          </p:nvPr>
        </p:nvSpPr>
        <p:spPr>
          <a:noFill/>
        </p:spPr>
        <p:txBody>
          <a:bodyPr/>
          <a:lstStyle/>
          <a:p>
            <a:fld id="{4A9760C5-F2AB-2046-94D4-0F27F47C5083}" type="slidenum">
              <a:rPr lang="en-US" smtClean="0">
                <a:solidFill>
                  <a:srgbClr val="000000"/>
                </a:solidFill>
              </a:rPr>
              <a:pPr/>
              <a:t>43</a:t>
            </a:fld>
            <a:endParaRPr lang="en-US">
              <a:solidFill>
                <a:srgbClr val="000000"/>
              </a:solidFill>
            </a:endParaRPr>
          </a:p>
        </p:txBody>
      </p:sp>
      <p:sp>
        <p:nvSpPr>
          <p:cNvPr id="41988" name="AutoShape 3"/>
          <p:cNvSpPr>
            <a:spLocks noChangeArrowheads="1"/>
          </p:cNvSpPr>
          <p:nvPr/>
        </p:nvSpPr>
        <p:spPr bwMode="auto">
          <a:xfrm>
            <a:off x="5266765" y="3261519"/>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Purchase</a:t>
            </a:r>
          </a:p>
        </p:txBody>
      </p:sp>
      <p:sp>
        <p:nvSpPr>
          <p:cNvPr id="41989" name="Rectangle 4"/>
          <p:cNvSpPr>
            <a:spLocks noChangeArrowheads="1"/>
          </p:cNvSpPr>
          <p:nvPr/>
        </p:nvSpPr>
        <p:spPr bwMode="auto">
          <a:xfrm>
            <a:off x="2218765" y="242331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41990" name="Rectangle 5"/>
          <p:cNvSpPr>
            <a:spLocks noChangeArrowheads="1"/>
          </p:cNvSpPr>
          <p:nvPr/>
        </p:nvSpPr>
        <p:spPr bwMode="auto">
          <a:xfrm>
            <a:off x="8086165" y="356631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41991" name="Line 6"/>
          <p:cNvSpPr>
            <a:spLocks noChangeShapeType="1"/>
          </p:cNvSpPr>
          <p:nvPr/>
        </p:nvSpPr>
        <p:spPr bwMode="auto">
          <a:xfrm>
            <a:off x="6790765" y="3947319"/>
            <a:ext cx="12954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1992" name="Oval 7"/>
          <p:cNvSpPr>
            <a:spLocks noChangeArrowheads="1"/>
          </p:cNvSpPr>
          <p:nvPr/>
        </p:nvSpPr>
        <p:spPr bwMode="auto">
          <a:xfrm>
            <a:off x="6943165" y="196611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date</a:t>
            </a:r>
          </a:p>
        </p:txBody>
      </p:sp>
      <p:sp>
        <p:nvSpPr>
          <p:cNvPr id="41993" name="Line 8"/>
          <p:cNvSpPr>
            <a:spLocks noChangeShapeType="1"/>
          </p:cNvSpPr>
          <p:nvPr/>
        </p:nvSpPr>
        <p:spPr bwMode="auto">
          <a:xfrm flipV="1">
            <a:off x="6028765" y="2499519"/>
            <a:ext cx="10668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1994" name="Oval 9"/>
          <p:cNvSpPr>
            <a:spLocks noChangeArrowheads="1"/>
          </p:cNvSpPr>
          <p:nvPr/>
        </p:nvSpPr>
        <p:spPr bwMode="auto">
          <a:xfrm>
            <a:off x="5800165" y="5395119"/>
            <a:ext cx="1828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personName</a:t>
            </a:r>
          </a:p>
        </p:txBody>
      </p:sp>
      <p:sp>
        <p:nvSpPr>
          <p:cNvPr id="41995" name="Line 10"/>
          <p:cNvSpPr>
            <a:spLocks noChangeShapeType="1"/>
          </p:cNvSpPr>
          <p:nvPr/>
        </p:nvSpPr>
        <p:spPr bwMode="auto">
          <a:xfrm>
            <a:off x="6028765" y="4633119"/>
            <a:ext cx="6096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1996" name="Line 11"/>
          <p:cNvSpPr>
            <a:spLocks noChangeShapeType="1"/>
          </p:cNvSpPr>
          <p:nvPr/>
        </p:nvSpPr>
        <p:spPr bwMode="auto">
          <a:xfrm>
            <a:off x="4428565" y="3185319"/>
            <a:ext cx="8382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1997" name="Oval 12"/>
          <p:cNvSpPr>
            <a:spLocks noChangeArrowheads="1"/>
          </p:cNvSpPr>
          <p:nvPr/>
        </p:nvSpPr>
        <p:spPr bwMode="auto">
          <a:xfrm>
            <a:off x="3590365" y="5090319"/>
            <a:ext cx="1752600" cy="9906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personAddr</a:t>
            </a:r>
          </a:p>
        </p:txBody>
      </p:sp>
      <p:sp>
        <p:nvSpPr>
          <p:cNvPr id="41998" name="Line 13"/>
          <p:cNvSpPr>
            <a:spLocks noChangeShapeType="1"/>
          </p:cNvSpPr>
          <p:nvPr/>
        </p:nvSpPr>
        <p:spPr bwMode="auto">
          <a:xfrm flipH="1">
            <a:off x="4352365" y="4633119"/>
            <a:ext cx="16764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Tree>
    <p:extLst>
      <p:ext uri="{BB962C8B-B14F-4D97-AF65-F5344CB8AC3E}">
        <p14:creationId xmlns:p14="http://schemas.microsoft.com/office/powerpoint/2010/main" val="785256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t>Design Principles:</a:t>
            </a:r>
            <a:br>
              <a:rPr lang="en-US"/>
            </a:br>
            <a:r>
              <a:rPr lang="en-US"/>
              <a:t>What’s Wrong?</a:t>
            </a:r>
          </a:p>
        </p:txBody>
      </p:sp>
      <p:sp>
        <p:nvSpPr>
          <p:cNvPr id="43010" name="Slide Number Placeholder 4"/>
          <p:cNvSpPr>
            <a:spLocks noGrp="1"/>
          </p:cNvSpPr>
          <p:nvPr>
            <p:ph type="sldNum" sz="quarter" idx="12"/>
          </p:nvPr>
        </p:nvSpPr>
        <p:spPr>
          <a:noFill/>
        </p:spPr>
        <p:txBody>
          <a:bodyPr/>
          <a:lstStyle/>
          <a:p>
            <a:fld id="{7AA8E412-24DC-524F-ABDA-D90639A5CBF9}" type="slidenum">
              <a:rPr lang="en-US" smtClean="0">
                <a:solidFill>
                  <a:srgbClr val="000000"/>
                </a:solidFill>
              </a:rPr>
              <a:pPr/>
              <a:t>44</a:t>
            </a:fld>
            <a:endParaRPr lang="en-US">
              <a:solidFill>
                <a:srgbClr val="000000"/>
              </a:solidFill>
            </a:endParaRPr>
          </a:p>
        </p:txBody>
      </p:sp>
      <p:sp>
        <p:nvSpPr>
          <p:cNvPr id="43012" name="AutoShape 3"/>
          <p:cNvSpPr>
            <a:spLocks noChangeArrowheads="1"/>
          </p:cNvSpPr>
          <p:nvPr/>
        </p:nvSpPr>
        <p:spPr bwMode="auto">
          <a:xfrm>
            <a:off x="4823012" y="3413499"/>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Purchase</a:t>
            </a:r>
          </a:p>
        </p:txBody>
      </p:sp>
      <p:sp>
        <p:nvSpPr>
          <p:cNvPr id="43013" name="Rectangle 4"/>
          <p:cNvSpPr>
            <a:spLocks noChangeArrowheads="1"/>
          </p:cNvSpPr>
          <p:nvPr/>
        </p:nvSpPr>
        <p:spPr bwMode="auto">
          <a:xfrm>
            <a:off x="1775012" y="257529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43014" name="Rectangle 5"/>
          <p:cNvSpPr>
            <a:spLocks noChangeArrowheads="1"/>
          </p:cNvSpPr>
          <p:nvPr/>
        </p:nvSpPr>
        <p:spPr bwMode="auto">
          <a:xfrm>
            <a:off x="4442012" y="554709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43015" name="Rectangle 6"/>
          <p:cNvSpPr>
            <a:spLocks noChangeArrowheads="1"/>
          </p:cNvSpPr>
          <p:nvPr/>
        </p:nvSpPr>
        <p:spPr bwMode="auto">
          <a:xfrm>
            <a:off x="7642412" y="371829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Store</a:t>
            </a:r>
          </a:p>
        </p:txBody>
      </p:sp>
      <p:sp>
        <p:nvSpPr>
          <p:cNvPr id="43016" name="Line 7"/>
          <p:cNvSpPr>
            <a:spLocks noChangeShapeType="1"/>
          </p:cNvSpPr>
          <p:nvPr/>
        </p:nvSpPr>
        <p:spPr bwMode="auto">
          <a:xfrm>
            <a:off x="6347012" y="4099299"/>
            <a:ext cx="12954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3017" name="Line 8"/>
          <p:cNvSpPr>
            <a:spLocks noChangeShapeType="1"/>
          </p:cNvSpPr>
          <p:nvPr/>
        </p:nvSpPr>
        <p:spPr bwMode="auto">
          <a:xfrm>
            <a:off x="5585012" y="4785099"/>
            <a:ext cx="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3018" name="Oval 9"/>
          <p:cNvSpPr>
            <a:spLocks noChangeArrowheads="1"/>
          </p:cNvSpPr>
          <p:nvPr/>
        </p:nvSpPr>
        <p:spPr bwMode="auto">
          <a:xfrm>
            <a:off x="8937812" y="1813299"/>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date</a:t>
            </a:r>
          </a:p>
        </p:txBody>
      </p:sp>
      <p:sp>
        <p:nvSpPr>
          <p:cNvPr id="43019" name="Line 10"/>
          <p:cNvSpPr>
            <a:spLocks noChangeShapeType="1"/>
          </p:cNvSpPr>
          <p:nvPr/>
        </p:nvSpPr>
        <p:spPr bwMode="auto">
          <a:xfrm flipV="1">
            <a:off x="5585012" y="2651499"/>
            <a:ext cx="10668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3020" name="Rectangle 11"/>
          <p:cNvSpPr>
            <a:spLocks noChangeArrowheads="1"/>
          </p:cNvSpPr>
          <p:nvPr/>
        </p:nvSpPr>
        <p:spPr bwMode="auto">
          <a:xfrm>
            <a:off x="5661212" y="1889499"/>
            <a:ext cx="22098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Dates</a:t>
            </a:r>
          </a:p>
        </p:txBody>
      </p:sp>
      <p:sp>
        <p:nvSpPr>
          <p:cNvPr id="43021" name="Line 12"/>
          <p:cNvSpPr>
            <a:spLocks noChangeShapeType="1"/>
          </p:cNvSpPr>
          <p:nvPr/>
        </p:nvSpPr>
        <p:spPr bwMode="auto">
          <a:xfrm flipV="1">
            <a:off x="7871012" y="2194299"/>
            <a:ext cx="1066800" cy="76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3022" name="Line 13"/>
          <p:cNvSpPr>
            <a:spLocks noChangeShapeType="1"/>
          </p:cNvSpPr>
          <p:nvPr/>
        </p:nvSpPr>
        <p:spPr bwMode="auto">
          <a:xfrm>
            <a:off x="3984812" y="3337299"/>
            <a:ext cx="838200" cy="762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Tree>
    <p:extLst>
      <p:ext uri="{BB962C8B-B14F-4D97-AF65-F5344CB8AC3E}">
        <p14:creationId xmlns:p14="http://schemas.microsoft.com/office/powerpoint/2010/main" val="1522699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Entity vs. Attribute</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solidFill>
                  <a:srgbClr val="000000"/>
                </a:solidFill>
              </a:rPr>
              <a:pPr>
                <a:defRPr/>
              </a:pPr>
              <a:t>45</a:t>
            </a:fld>
            <a:endParaRPr lang="en-US">
              <a:solidFill>
                <a:srgbClr val="000000"/>
              </a:solidFill>
            </a:endParaRPr>
          </a:p>
        </p:txBody>
      </p:sp>
      <p:sp>
        <p:nvSpPr>
          <p:cNvPr id="4" name="TextBox 3"/>
          <p:cNvSpPr txBox="1"/>
          <p:nvPr/>
        </p:nvSpPr>
        <p:spPr>
          <a:xfrm>
            <a:off x="1107141" y="1835533"/>
            <a:ext cx="3101788" cy="954107"/>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Should address (A) be an attribute?</a:t>
            </a:r>
          </a:p>
        </p:txBody>
      </p:sp>
      <p:grpSp>
        <p:nvGrpSpPr>
          <p:cNvPr id="12" name="Group 11"/>
          <p:cNvGrpSpPr/>
          <p:nvPr/>
        </p:nvGrpSpPr>
        <p:grpSpPr>
          <a:xfrm>
            <a:off x="838200" y="3223600"/>
            <a:ext cx="4056068" cy="2102820"/>
            <a:chOff x="-95765" y="637150"/>
            <a:chExt cx="3091543" cy="1602773"/>
          </a:xfrm>
        </p:grpSpPr>
        <p:sp>
          <p:nvSpPr>
            <p:cNvPr id="9" name="Rectangle 4"/>
            <p:cNvSpPr>
              <a:spLocks noChangeArrowheads="1"/>
            </p:cNvSpPr>
            <p:nvPr/>
          </p:nvSpPr>
          <p:spPr bwMode="auto">
            <a:xfrm>
              <a:off x="530164" y="1634170"/>
              <a:ext cx="1643743" cy="60575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Employee</a:t>
              </a:r>
            </a:p>
          </p:txBody>
        </p:sp>
        <p:sp>
          <p:nvSpPr>
            <p:cNvPr id="10" name="Oval 9"/>
            <p:cNvSpPr>
              <a:spLocks noChangeArrowheads="1"/>
            </p:cNvSpPr>
            <p:nvPr/>
          </p:nvSpPr>
          <p:spPr bwMode="auto">
            <a:xfrm>
              <a:off x="-95765" y="63715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1</a:t>
              </a:r>
            </a:p>
          </p:txBody>
        </p:sp>
        <p:sp>
          <p:nvSpPr>
            <p:cNvPr id="11" name="Oval 10"/>
            <p:cNvSpPr>
              <a:spLocks noChangeArrowheads="1"/>
            </p:cNvSpPr>
            <p:nvPr/>
          </p:nvSpPr>
          <p:spPr bwMode="auto">
            <a:xfrm>
              <a:off x="1547978" y="656398"/>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2</a:t>
              </a:r>
            </a:p>
          </p:txBody>
        </p:sp>
      </p:grpSp>
      <p:cxnSp>
        <p:nvCxnSpPr>
          <p:cNvPr id="14" name="Straight Connector 13"/>
          <p:cNvCxnSpPr>
            <a:stCxn id="9" idx="0"/>
            <a:endCxn id="11" idx="4"/>
          </p:cNvCxnSpPr>
          <p:nvPr/>
        </p:nvCxnSpPr>
        <p:spPr bwMode="auto">
          <a:xfrm flipV="1">
            <a:off x="2737697" y="4148615"/>
            <a:ext cx="1206823" cy="38306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5" name="Straight Connector 14"/>
          <p:cNvCxnSpPr>
            <a:stCxn id="9" idx="0"/>
            <a:endCxn id="10" idx="4"/>
          </p:cNvCxnSpPr>
          <p:nvPr/>
        </p:nvCxnSpPr>
        <p:spPr bwMode="auto">
          <a:xfrm flipH="1" flipV="1">
            <a:off x="1787949" y="4123362"/>
            <a:ext cx="949748" cy="40831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nvGrpSpPr>
          <p:cNvPr id="7" name="Group 6"/>
          <p:cNvGrpSpPr/>
          <p:nvPr/>
        </p:nvGrpSpPr>
        <p:grpSpPr>
          <a:xfrm>
            <a:off x="7064188" y="3165280"/>
            <a:ext cx="3468401" cy="2455591"/>
            <a:chOff x="10017003" y="907211"/>
            <a:chExt cx="1989879" cy="2297843"/>
          </a:xfrm>
        </p:grpSpPr>
        <p:sp>
          <p:nvSpPr>
            <p:cNvPr id="19" name="Rectangle 4"/>
            <p:cNvSpPr>
              <a:spLocks noChangeArrowheads="1"/>
            </p:cNvSpPr>
            <p:nvPr/>
          </p:nvSpPr>
          <p:spPr bwMode="auto">
            <a:xfrm>
              <a:off x="10419884" y="1548946"/>
              <a:ext cx="1057999" cy="38989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Address</a:t>
              </a:r>
            </a:p>
          </p:txBody>
        </p:sp>
        <p:sp>
          <p:nvSpPr>
            <p:cNvPr id="20" name="Oval 19"/>
            <p:cNvSpPr>
              <a:spLocks noChangeArrowheads="1"/>
            </p:cNvSpPr>
            <p:nvPr/>
          </p:nvSpPr>
          <p:spPr bwMode="auto">
            <a:xfrm>
              <a:off x="10017003" y="907211"/>
              <a:ext cx="931880" cy="44141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Street </a:t>
              </a:r>
              <a:r>
                <a:rPr lang="en-US" sz="1200" err="1">
                  <a:solidFill>
                    <a:srgbClr val="000000"/>
                  </a:solidFill>
                </a:rPr>
                <a:t>Addr</a:t>
              </a:r>
              <a:endParaRPr lang="en-US" sz="1200">
                <a:solidFill>
                  <a:srgbClr val="000000"/>
                </a:solidFill>
              </a:endParaRPr>
            </a:p>
          </p:txBody>
        </p:sp>
        <p:sp>
          <p:nvSpPr>
            <p:cNvPr id="21" name="Oval 20"/>
            <p:cNvSpPr>
              <a:spLocks noChangeArrowheads="1"/>
            </p:cNvSpPr>
            <p:nvPr/>
          </p:nvSpPr>
          <p:spPr bwMode="auto">
            <a:xfrm>
              <a:off x="11075002" y="919600"/>
              <a:ext cx="931880" cy="44141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ZIP</a:t>
              </a:r>
            </a:p>
          </p:txBody>
        </p:sp>
        <p:sp>
          <p:nvSpPr>
            <p:cNvPr id="22" name="Rectangle 4"/>
            <p:cNvSpPr>
              <a:spLocks noChangeArrowheads="1"/>
            </p:cNvSpPr>
            <p:nvPr/>
          </p:nvSpPr>
          <p:spPr bwMode="auto">
            <a:xfrm>
              <a:off x="10419884" y="2815160"/>
              <a:ext cx="1057999" cy="38989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Employee</a:t>
              </a:r>
            </a:p>
          </p:txBody>
        </p:sp>
        <p:cxnSp>
          <p:nvCxnSpPr>
            <p:cNvPr id="24" name="Straight Connector 23"/>
            <p:cNvCxnSpPr>
              <a:stCxn id="20" idx="4"/>
              <a:endCxn id="19" idx="0"/>
            </p:cNvCxnSpPr>
            <p:nvPr/>
          </p:nvCxnSpPr>
          <p:spPr bwMode="auto">
            <a:xfrm>
              <a:off x="10482943" y="1348628"/>
              <a:ext cx="465941" cy="20031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19" idx="0"/>
              <a:endCxn id="21" idx="4"/>
            </p:cNvCxnSpPr>
            <p:nvPr/>
          </p:nvCxnSpPr>
          <p:spPr bwMode="auto">
            <a:xfrm flipV="1">
              <a:off x="10948884" y="1361017"/>
              <a:ext cx="592058" cy="18792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7" name="AutoShape 3"/>
            <p:cNvSpPr>
              <a:spLocks noChangeArrowheads="1"/>
            </p:cNvSpPr>
            <p:nvPr/>
          </p:nvSpPr>
          <p:spPr bwMode="auto">
            <a:xfrm>
              <a:off x="10532750" y="2178146"/>
              <a:ext cx="832266" cy="392488"/>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AddrOf</a:t>
              </a:r>
              <a:endParaRPr lang="en-US" sz="1200">
                <a:solidFill>
                  <a:srgbClr val="000000"/>
                </a:solidFill>
              </a:endParaRPr>
            </a:p>
          </p:txBody>
        </p:sp>
        <p:cxnSp>
          <p:nvCxnSpPr>
            <p:cNvPr id="29" name="Straight Arrow Connector 28"/>
            <p:cNvCxnSpPr>
              <a:stCxn id="19" idx="2"/>
              <a:endCxn id="27" idx="0"/>
            </p:cNvCxnSpPr>
            <p:nvPr/>
          </p:nvCxnSpPr>
          <p:spPr bwMode="auto">
            <a:xfrm flipH="1">
              <a:off x="10948883" y="1938840"/>
              <a:ext cx="1" cy="239306"/>
            </a:xfrm>
            <a:prstGeom prst="straightConnector1">
              <a:avLst/>
            </a:prstGeom>
            <a:solidFill>
              <a:srgbClr val="C0C0C0">
                <a:alpha val="50000"/>
              </a:srgbClr>
            </a:solidFill>
            <a:ln w="9525" cap="flat" cmpd="sng" algn="ctr">
              <a:solidFill>
                <a:schemeClr val="tx1"/>
              </a:solidFill>
              <a:prstDash val="solid"/>
              <a:round/>
              <a:headEnd type="none" w="med" len="med"/>
              <a:tailEnd type="triangle"/>
            </a:ln>
            <a:effectLst/>
          </p:spPr>
        </p:cxnSp>
        <p:cxnSp>
          <p:nvCxnSpPr>
            <p:cNvPr id="31" name="Straight Connector 30"/>
            <p:cNvCxnSpPr>
              <a:stCxn id="27" idx="2"/>
              <a:endCxn id="22" idx="0"/>
            </p:cNvCxnSpPr>
            <p:nvPr/>
          </p:nvCxnSpPr>
          <p:spPr bwMode="auto">
            <a:xfrm>
              <a:off x="10948883" y="2570634"/>
              <a:ext cx="1" cy="2445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30" name="TextBox 29"/>
          <p:cNvSpPr txBox="1"/>
          <p:nvPr/>
        </p:nvSpPr>
        <p:spPr>
          <a:xfrm>
            <a:off x="7357409" y="1904758"/>
            <a:ext cx="3101788" cy="523220"/>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Or (B) be an entity?</a:t>
            </a:r>
          </a:p>
        </p:txBody>
      </p:sp>
    </p:spTree>
    <p:extLst>
      <p:ext uri="{BB962C8B-B14F-4D97-AF65-F5344CB8AC3E}">
        <p14:creationId xmlns:p14="http://schemas.microsoft.com/office/powerpoint/2010/main" val="1514635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Entity vs. Attribute</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solidFill>
                  <a:srgbClr val="000000"/>
                </a:solidFill>
              </a:rPr>
              <a:pPr>
                <a:defRPr/>
              </a:pPr>
              <a:t>46</a:t>
            </a:fld>
            <a:endParaRPr lang="en-US">
              <a:solidFill>
                <a:srgbClr val="000000"/>
              </a:solidFill>
            </a:endParaRPr>
          </a:p>
        </p:txBody>
      </p:sp>
      <p:sp>
        <p:nvSpPr>
          <p:cNvPr id="4" name="TextBox 3"/>
          <p:cNvSpPr txBox="1"/>
          <p:nvPr/>
        </p:nvSpPr>
        <p:spPr>
          <a:xfrm>
            <a:off x="1107141" y="1835533"/>
            <a:ext cx="3101788" cy="954107"/>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Should address (A) be an attribute?</a:t>
            </a:r>
          </a:p>
        </p:txBody>
      </p:sp>
      <p:grpSp>
        <p:nvGrpSpPr>
          <p:cNvPr id="12" name="Group 11"/>
          <p:cNvGrpSpPr/>
          <p:nvPr/>
        </p:nvGrpSpPr>
        <p:grpSpPr>
          <a:xfrm>
            <a:off x="838200" y="3223600"/>
            <a:ext cx="4056068" cy="2102820"/>
            <a:chOff x="-95765" y="637150"/>
            <a:chExt cx="3091543" cy="1602773"/>
          </a:xfrm>
        </p:grpSpPr>
        <p:sp>
          <p:nvSpPr>
            <p:cNvPr id="9" name="Rectangle 4"/>
            <p:cNvSpPr>
              <a:spLocks noChangeArrowheads="1"/>
            </p:cNvSpPr>
            <p:nvPr/>
          </p:nvSpPr>
          <p:spPr bwMode="auto">
            <a:xfrm>
              <a:off x="530164" y="1634170"/>
              <a:ext cx="1643743" cy="60575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Employee</a:t>
              </a:r>
            </a:p>
          </p:txBody>
        </p:sp>
        <p:sp>
          <p:nvSpPr>
            <p:cNvPr id="10" name="Oval 9"/>
            <p:cNvSpPr>
              <a:spLocks noChangeArrowheads="1"/>
            </p:cNvSpPr>
            <p:nvPr/>
          </p:nvSpPr>
          <p:spPr bwMode="auto">
            <a:xfrm>
              <a:off x="-95765" y="63715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1</a:t>
              </a:r>
            </a:p>
          </p:txBody>
        </p:sp>
        <p:sp>
          <p:nvSpPr>
            <p:cNvPr id="11" name="Oval 10"/>
            <p:cNvSpPr>
              <a:spLocks noChangeArrowheads="1"/>
            </p:cNvSpPr>
            <p:nvPr/>
          </p:nvSpPr>
          <p:spPr bwMode="auto">
            <a:xfrm>
              <a:off x="1547978" y="656398"/>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2</a:t>
              </a:r>
            </a:p>
          </p:txBody>
        </p:sp>
      </p:grpSp>
      <p:cxnSp>
        <p:nvCxnSpPr>
          <p:cNvPr id="14" name="Straight Connector 13"/>
          <p:cNvCxnSpPr>
            <a:stCxn id="9" idx="0"/>
            <a:endCxn id="11" idx="4"/>
          </p:cNvCxnSpPr>
          <p:nvPr/>
        </p:nvCxnSpPr>
        <p:spPr bwMode="auto">
          <a:xfrm flipV="1">
            <a:off x="2737697" y="4148615"/>
            <a:ext cx="1206823" cy="38306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5" name="Straight Connector 14"/>
          <p:cNvCxnSpPr>
            <a:stCxn id="9" idx="0"/>
            <a:endCxn id="10" idx="4"/>
          </p:cNvCxnSpPr>
          <p:nvPr/>
        </p:nvCxnSpPr>
        <p:spPr bwMode="auto">
          <a:xfrm flipH="1" flipV="1">
            <a:off x="1787949" y="4123362"/>
            <a:ext cx="949748" cy="40831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0" name="TextBox 29"/>
          <p:cNvSpPr txBox="1"/>
          <p:nvPr/>
        </p:nvSpPr>
        <p:spPr>
          <a:xfrm>
            <a:off x="6271745" y="1835533"/>
            <a:ext cx="4677709" cy="3539430"/>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How do we handle employees with multiple addresses here?</a:t>
            </a:r>
          </a:p>
          <a:p>
            <a:pPr fontAlgn="base">
              <a:spcBef>
                <a:spcPct val="0"/>
              </a:spcBef>
              <a:spcAft>
                <a:spcPct val="0"/>
              </a:spcAft>
            </a:pPr>
            <a:endParaRPr lang="en-US" sz="2800">
              <a:solidFill>
                <a:srgbClr val="000000"/>
              </a:solidFill>
              <a:latin typeface="+mj-lt"/>
            </a:endParaRPr>
          </a:p>
          <a:p>
            <a:pPr fontAlgn="base">
              <a:spcBef>
                <a:spcPct val="0"/>
              </a:spcBef>
              <a:spcAft>
                <a:spcPct val="0"/>
              </a:spcAft>
            </a:pPr>
            <a:endParaRPr lang="en-US" sz="2800">
              <a:solidFill>
                <a:srgbClr val="000000"/>
              </a:solidFill>
              <a:latin typeface="+mj-lt"/>
            </a:endParaRPr>
          </a:p>
          <a:p>
            <a:pPr fontAlgn="base">
              <a:spcBef>
                <a:spcPct val="0"/>
              </a:spcBef>
              <a:spcAft>
                <a:spcPct val="0"/>
              </a:spcAft>
            </a:pPr>
            <a:r>
              <a:rPr lang="en-US" sz="2800">
                <a:solidFill>
                  <a:srgbClr val="000000"/>
                </a:solidFill>
                <a:latin typeface="+mj-lt"/>
              </a:rPr>
              <a:t>How do we handle addresses where internal structure of the address (e.g. zip code, state) is useful?</a:t>
            </a:r>
          </a:p>
        </p:txBody>
      </p:sp>
    </p:spTree>
    <p:extLst>
      <p:ext uri="{BB962C8B-B14F-4D97-AF65-F5344CB8AC3E}">
        <p14:creationId xmlns:p14="http://schemas.microsoft.com/office/powerpoint/2010/main" val="1555174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Entity vs. Attribute</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solidFill>
                  <a:srgbClr val="000000"/>
                </a:solidFill>
              </a:rPr>
              <a:pPr>
                <a:defRPr/>
              </a:pPr>
              <a:t>47</a:t>
            </a:fld>
            <a:endParaRPr lang="en-US">
              <a:solidFill>
                <a:srgbClr val="000000"/>
              </a:solidFill>
            </a:endParaRPr>
          </a:p>
        </p:txBody>
      </p:sp>
      <p:grpSp>
        <p:nvGrpSpPr>
          <p:cNvPr id="7" name="Group 6"/>
          <p:cNvGrpSpPr/>
          <p:nvPr/>
        </p:nvGrpSpPr>
        <p:grpSpPr>
          <a:xfrm>
            <a:off x="7064188" y="2789640"/>
            <a:ext cx="3468401" cy="2455591"/>
            <a:chOff x="10017003" y="907211"/>
            <a:chExt cx="1989879" cy="2297843"/>
          </a:xfrm>
        </p:grpSpPr>
        <p:sp>
          <p:nvSpPr>
            <p:cNvPr id="19" name="Rectangle 4"/>
            <p:cNvSpPr>
              <a:spLocks noChangeArrowheads="1"/>
            </p:cNvSpPr>
            <p:nvPr/>
          </p:nvSpPr>
          <p:spPr bwMode="auto">
            <a:xfrm>
              <a:off x="10419884" y="1548946"/>
              <a:ext cx="1057999" cy="38989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Address</a:t>
              </a:r>
            </a:p>
          </p:txBody>
        </p:sp>
        <p:sp>
          <p:nvSpPr>
            <p:cNvPr id="20" name="Oval 19"/>
            <p:cNvSpPr>
              <a:spLocks noChangeArrowheads="1"/>
            </p:cNvSpPr>
            <p:nvPr/>
          </p:nvSpPr>
          <p:spPr bwMode="auto">
            <a:xfrm>
              <a:off x="10017003" y="907211"/>
              <a:ext cx="931880" cy="44141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Street </a:t>
              </a:r>
              <a:r>
                <a:rPr lang="en-US" sz="1200" err="1">
                  <a:solidFill>
                    <a:srgbClr val="000000"/>
                  </a:solidFill>
                </a:rPr>
                <a:t>Addr</a:t>
              </a:r>
              <a:endParaRPr lang="en-US" sz="1200">
                <a:solidFill>
                  <a:srgbClr val="000000"/>
                </a:solidFill>
              </a:endParaRPr>
            </a:p>
          </p:txBody>
        </p:sp>
        <p:sp>
          <p:nvSpPr>
            <p:cNvPr id="21" name="Oval 20"/>
            <p:cNvSpPr>
              <a:spLocks noChangeArrowheads="1"/>
            </p:cNvSpPr>
            <p:nvPr/>
          </p:nvSpPr>
          <p:spPr bwMode="auto">
            <a:xfrm>
              <a:off x="11075002" y="919600"/>
              <a:ext cx="931880" cy="44141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ZIP</a:t>
              </a:r>
            </a:p>
          </p:txBody>
        </p:sp>
        <p:sp>
          <p:nvSpPr>
            <p:cNvPr id="22" name="Rectangle 4"/>
            <p:cNvSpPr>
              <a:spLocks noChangeArrowheads="1"/>
            </p:cNvSpPr>
            <p:nvPr/>
          </p:nvSpPr>
          <p:spPr bwMode="auto">
            <a:xfrm>
              <a:off x="10419884" y="2815160"/>
              <a:ext cx="1057999" cy="389894"/>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Employee</a:t>
              </a:r>
            </a:p>
          </p:txBody>
        </p:sp>
        <p:cxnSp>
          <p:nvCxnSpPr>
            <p:cNvPr id="24" name="Straight Connector 23"/>
            <p:cNvCxnSpPr>
              <a:stCxn id="20" idx="4"/>
              <a:endCxn id="19" idx="0"/>
            </p:cNvCxnSpPr>
            <p:nvPr/>
          </p:nvCxnSpPr>
          <p:spPr bwMode="auto">
            <a:xfrm>
              <a:off x="10482943" y="1348628"/>
              <a:ext cx="465941" cy="20031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19" idx="0"/>
              <a:endCxn id="21" idx="4"/>
            </p:cNvCxnSpPr>
            <p:nvPr/>
          </p:nvCxnSpPr>
          <p:spPr bwMode="auto">
            <a:xfrm flipV="1">
              <a:off x="10948884" y="1361017"/>
              <a:ext cx="592058" cy="18792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7" name="AutoShape 3"/>
            <p:cNvSpPr>
              <a:spLocks noChangeArrowheads="1"/>
            </p:cNvSpPr>
            <p:nvPr/>
          </p:nvSpPr>
          <p:spPr bwMode="auto">
            <a:xfrm>
              <a:off x="10532750" y="2178146"/>
              <a:ext cx="832266" cy="392488"/>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AddrOf</a:t>
              </a:r>
              <a:endParaRPr lang="en-US" sz="1200">
                <a:solidFill>
                  <a:srgbClr val="000000"/>
                </a:solidFill>
              </a:endParaRPr>
            </a:p>
          </p:txBody>
        </p:sp>
        <p:cxnSp>
          <p:nvCxnSpPr>
            <p:cNvPr id="29" name="Straight Arrow Connector 28"/>
            <p:cNvCxnSpPr>
              <a:stCxn id="19" idx="2"/>
              <a:endCxn id="27" idx="0"/>
            </p:cNvCxnSpPr>
            <p:nvPr/>
          </p:nvCxnSpPr>
          <p:spPr bwMode="auto">
            <a:xfrm flipH="1">
              <a:off x="10948883" y="1938840"/>
              <a:ext cx="1" cy="239306"/>
            </a:xfrm>
            <a:prstGeom prst="straightConnector1">
              <a:avLst/>
            </a:prstGeom>
            <a:solidFill>
              <a:srgbClr val="C0C0C0">
                <a:alpha val="50000"/>
              </a:srgbClr>
            </a:solidFill>
            <a:ln w="9525" cap="flat" cmpd="sng" algn="ctr">
              <a:solidFill>
                <a:schemeClr val="tx1"/>
              </a:solidFill>
              <a:prstDash val="solid"/>
              <a:round/>
              <a:headEnd type="none" w="med" len="med"/>
              <a:tailEnd type="triangle"/>
            </a:ln>
            <a:effectLst/>
          </p:spPr>
        </p:cxnSp>
        <p:cxnSp>
          <p:nvCxnSpPr>
            <p:cNvPr id="31" name="Straight Connector 30"/>
            <p:cNvCxnSpPr>
              <a:stCxn id="27" idx="2"/>
              <a:endCxn id="22" idx="0"/>
            </p:cNvCxnSpPr>
            <p:nvPr/>
          </p:nvCxnSpPr>
          <p:spPr bwMode="auto">
            <a:xfrm>
              <a:off x="10948883" y="2570634"/>
              <a:ext cx="1" cy="2445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30" name="TextBox 29"/>
          <p:cNvSpPr txBox="1"/>
          <p:nvPr/>
        </p:nvSpPr>
        <p:spPr>
          <a:xfrm>
            <a:off x="7357409" y="1529118"/>
            <a:ext cx="3101788" cy="523220"/>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Or (B) be an entity?</a:t>
            </a:r>
          </a:p>
        </p:txBody>
      </p:sp>
      <p:sp>
        <p:nvSpPr>
          <p:cNvPr id="5" name="TextBox 4"/>
          <p:cNvSpPr txBox="1"/>
          <p:nvPr/>
        </p:nvSpPr>
        <p:spPr>
          <a:xfrm>
            <a:off x="2712502" y="5781088"/>
            <a:ext cx="6766996" cy="830997"/>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algn="ctr"/>
            <a:r>
              <a:rPr lang="en-US" sz="2400">
                <a:latin typeface="+mj-lt"/>
              </a:rPr>
              <a:t>In general, when we want to record several values, we choose new entity</a:t>
            </a:r>
          </a:p>
        </p:txBody>
      </p:sp>
      <p:sp>
        <p:nvSpPr>
          <p:cNvPr id="32" name="TextBox 31"/>
          <p:cNvSpPr txBox="1"/>
          <p:nvPr/>
        </p:nvSpPr>
        <p:spPr>
          <a:xfrm>
            <a:off x="1107141" y="1835533"/>
            <a:ext cx="3101788" cy="954107"/>
          </a:xfrm>
          <a:prstGeom prst="rect">
            <a:avLst/>
          </a:prstGeom>
          <a:noFill/>
        </p:spPr>
        <p:txBody>
          <a:bodyPr wrap="square" rtlCol="0">
            <a:spAutoFit/>
          </a:bodyPr>
          <a:lstStyle/>
          <a:p>
            <a:pPr fontAlgn="base">
              <a:spcBef>
                <a:spcPct val="0"/>
              </a:spcBef>
              <a:spcAft>
                <a:spcPct val="0"/>
              </a:spcAft>
            </a:pPr>
            <a:r>
              <a:rPr lang="en-US" sz="2800">
                <a:solidFill>
                  <a:srgbClr val="000000"/>
                </a:solidFill>
                <a:latin typeface="+mj-lt"/>
              </a:rPr>
              <a:t>Should address (A) be an attribute?</a:t>
            </a:r>
          </a:p>
        </p:txBody>
      </p:sp>
      <p:grpSp>
        <p:nvGrpSpPr>
          <p:cNvPr id="33" name="Group 32"/>
          <p:cNvGrpSpPr/>
          <p:nvPr/>
        </p:nvGrpSpPr>
        <p:grpSpPr>
          <a:xfrm>
            <a:off x="838200" y="3223600"/>
            <a:ext cx="4056068" cy="2102820"/>
            <a:chOff x="-95765" y="637150"/>
            <a:chExt cx="3091543" cy="1602773"/>
          </a:xfrm>
        </p:grpSpPr>
        <p:sp>
          <p:nvSpPr>
            <p:cNvPr id="34" name="Rectangle 4"/>
            <p:cNvSpPr>
              <a:spLocks noChangeArrowheads="1"/>
            </p:cNvSpPr>
            <p:nvPr/>
          </p:nvSpPr>
          <p:spPr bwMode="auto">
            <a:xfrm>
              <a:off x="530164" y="1634170"/>
              <a:ext cx="1643743" cy="60575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Employee</a:t>
              </a:r>
            </a:p>
          </p:txBody>
        </p:sp>
        <p:sp>
          <p:nvSpPr>
            <p:cNvPr id="35" name="Oval 34"/>
            <p:cNvSpPr>
              <a:spLocks noChangeArrowheads="1"/>
            </p:cNvSpPr>
            <p:nvPr/>
          </p:nvSpPr>
          <p:spPr bwMode="auto">
            <a:xfrm>
              <a:off x="-95765" y="637150"/>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1</a:t>
              </a:r>
            </a:p>
          </p:txBody>
        </p:sp>
        <p:sp>
          <p:nvSpPr>
            <p:cNvPr id="36" name="Oval 35"/>
            <p:cNvSpPr>
              <a:spLocks noChangeArrowheads="1"/>
            </p:cNvSpPr>
            <p:nvPr/>
          </p:nvSpPr>
          <p:spPr bwMode="auto">
            <a:xfrm>
              <a:off x="1547978" y="656398"/>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err="1">
                  <a:solidFill>
                    <a:srgbClr val="000000"/>
                  </a:solidFill>
                </a:rPr>
                <a:t>Addr</a:t>
              </a:r>
              <a:r>
                <a:rPr lang="en-US" sz="1200">
                  <a:solidFill>
                    <a:srgbClr val="000000"/>
                  </a:solidFill>
                </a:rPr>
                <a:t> 2</a:t>
              </a:r>
            </a:p>
          </p:txBody>
        </p:sp>
      </p:grpSp>
      <p:cxnSp>
        <p:nvCxnSpPr>
          <p:cNvPr id="37" name="Straight Connector 36"/>
          <p:cNvCxnSpPr/>
          <p:nvPr/>
        </p:nvCxnSpPr>
        <p:spPr bwMode="auto">
          <a:xfrm flipV="1">
            <a:off x="2737697" y="4148615"/>
            <a:ext cx="1206823" cy="383064"/>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8" name="Straight Connector 37"/>
          <p:cNvCxnSpPr/>
          <p:nvPr/>
        </p:nvCxnSpPr>
        <p:spPr bwMode="auto">
          <a:xfrm flipH="1" flipV="1">
            <a:off x="1787949" y="4123362"/>
            <a:ext cx="949748" cy="40831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83797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ACTIVITY: E/R Diagrams</a:t>
            </a:r>
          </a:p>
        </p:txBody>
      </p:sp>
      <p:sp>
        <p:nvSpPr>
          <p:cNvPr id="4" name="Slide Number Placeholder 3"/>
          <p:cNvSpPr>
            <a:spLocks noGrp="1"/>
          </p:cNvSpPr>
          <p:nvPr>
            <p:ph type="sldNum" sz="quarter" idx="12"/>
          </p:nvPr>
        </p:nvSpPr>
        <p:spPr/>
        <p:txBody>
          <a:bodyPr/>
          <a:lstStyle/>
          <a:p>
            <a:fld id="{40A01959-B587-3B45-A9B3-C17F42F09305}" type="slidenum">
              <a:rPr lang="en-US" smtClean="0"/>
              <a:t>48</a:t>
            </a:fld>
            <a:endParaRPr lang="en-US"/>
          </a:p>
        </p:txBody>
      </p:sp>
    </p:spTree>
    <p:extLst>
      <p:ext uri="{BB962C8B-B14F-4D97-AF65-F5344CB8AC3E}">
        <p14:creationId xmlns:p14="http://schemas.microsoft.com/office/powerpoint/2010/main" val="19138474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176214" y="4178299"/>
            <a:ext cx="1452245" cy="1901803"/>
          </a:xfrm>
          <a:prstGeom prst="rect">
            <a:avLst/>
          </a:prstGeom>
        </p:spPr>
        <p:txBody>
          <a:bodyPr vert="horz" wrap="square" lIns="0" tIns="16510" rIns="0" bIns="0" rtlCol="0">
            <a:spAutoFit/>
          </a:bodyPr>
          <a:lstStyle/>
          <a:p>
            <a:pPr marL="12700" marR="5080">
              <a:spcBef>
                <a:spcPts val="130"/>
              </a:spcBef>
            </a:pPr>
            <a:r>
              <a:rPr sz="1500" b="1" u="heavy" spc="-30">
                <a:uFill>
                  <a:solidFill>
                    <a:srgbClr val="000000"/>
                  </a:solidFill>
                </a:uFill>
                <a:latin typeface="Calibri"/>
                <a:cs typeface="Calibri"/>
              </a:rPr>
              <a:t>Teams</a:t>
            </a:r>
            <a:r>
              <a:rPr sz="1500" b="1" spc="-30">
                <a:latin typeface="Calibri"/>
                <a:cs typeface="Calibri"/>
              </a:rPr>
              <a:t> </a:t>
            </a:r>
            <a:r>
              <a:rPr sz="1500" spc="-5">
                <a:latin typeface="Calibri"/>
                <a:cs typeface="Calibri"/>
              </a:rPr>
              <a:t>play </a:t>
            </a:r>
            <a:r>
              <a:rPr sz="1500">
                <a:latin typeface="Calibri"/>
                <a:cs typeface="Calibri"/>
              </a:rPr>
              <a:t>each </a:t>
            </a:r>
            <a:r>
              <a:rPr sz="1500" spc="5">
                <a:latin typeface="Calibri"/>
                <a:cs typeface="Calibri"/>
              </a:rPr>
              <a:t> </a:t>
            </a:r>
            <a:r>
              <a:rPr sz="1500" spc="-5">
                <a:latin typeface="Calibri"/>
                <a:cs typeface="Calibri"/>
              </a:rPr>
              <a:t>other </a:t>
            </a:r>
            <a:r>
              <a:rPr sz="1500" spc="10">
                <a:latin typeface="Calibri"/>
                <a:cs typeface="Calibri"/>
              </a:rPr>
              <a:t>in </a:t>
            </a:r>
            <a:r>
              <a:rPr sz="1500" b="1" u="heavy" spc="-5">
                <a:uFill>
                  <a:solidFill>
                    <a:srgbClr val="000000"/>
                  </a:solidFill>
                </a:uFill>
                <a:latin typeface="Calibri"/>
                <a:cs typeface="Calibri"/>
              </a:rPr>
              <a:t>Games</a:t>
            </a:r>
            <a:r>
              <a:rPr sz="1500" spc="-5">
                <a:latin typeface="Calibri"/>
                <a:cs typeface="Calibri"/>
              </a:rPr>
              <a:t>. </a:t>
            </a:r>
            <a:r>
              <a:rPr sz="1500">
                <a:latin typeface="Calibri"/>
                <a:cs typeface="Calibri"/>
              </a:rPr>
              <a:t> </a:t>
            </a:r>
            <a:endParaRPr lang="en-US" sz="1500">
              <a:latin typeface="Calibri"/>
              <a:cs typeface="Calibri"/>
            </a:endParaRPr>
          </a:p>
          <a:p>
            <a:pPr marL="12700" marR="5080">
              <a:spcBef>
                <a:spcPts val="130"/>
              </a:spcBef>
            </a:pPr>
            <a:endParaRPr lang="en-US" sz="1500" spc="-5">
              <a:latin typeface="Calibri"/>
              <a:cs typeface="Calibri"/>
            </a:endParaRPr>
          </a:p>
          <a:p>
            <a:pPr marL="12700" marR="5080">
              <a:spcBef>
                <a:spcPts val="130"/>
              </a:spcBef>
            </a:pPr>
            <a:endParaRPr lang="en-US" sz="1500" spc="-5">
              <a:latin typeface="Calibri"/>
              <a:cs typeface="Calibri"/>
            </a:endParaRPr>
          </a:p>
          <a:p>
            <a:pPr marL="12700" marR="5080">
              <a:spcBef>
                <a:spcPts val="130"/>
              </a:spcBef>
            </a:pPr>
            <a:r>
              <a:rPr sz="1500" spc="-5">
                <a:latin typeface="Calibri"/>
                <a:cs typeface="Calibri"/>
              </a:rPr>
              <a:t>Each</a:t>
            </a:r>
            <a:r>
              <a:rPr sz="1500" spc="-50">
                <a:latin typeface="Calibri"/>
                <a:cs typeface="Calibri"/>
              </a:rPr>
              <a:t> </a:t>
            </a:r>
            <a:r>
              <a:rPr sz="1500">
                <a:latin typeface="Calibri"/>
                <a:cs typeface="Calibri"/>
              </a:rPr>
              <a:t>pair</a:t>
            </a:r>
            <a:r>
              <a:rPr sz="1500" spc="-40">
                <a:latin typeface="Calibri"/>
                <a:cs typeface="Calibri"/>
              </a:rPr>
              <a:t> </a:t>
            </a:r>
            <a:r>
              <a:rPr sz="1500">
                <a:latin typeface="Calibri"/>
                <a:cs typeface="Calibri"/>
              </a:rPr>
              <a:t>of</a:t>
            </a:r>
            <a:r>
              <a:rPr sz="1500" spc="-35">
                <a:latin typeface="Calibri"/>
                <a:cs typeface="Calibri"/>
              </a:rPr>
              <a:t> </a:t>
            </a:r>
            <a:r>
              <a:rPr sz="1500" spc="-5">
                <a:latin typeface="Calibri"/>
                <a:cs typeface="Calibri"/>
              </a:rPr>
              <a:t>teams </a:t>
            </a:r>
            <a:r>
              <a:rPr sz="1500" spc="-325">
                <a:latin typeface="Calibri"/>
                <a:cs typeface="Calibri"/>
              </a:rPr>
              <a:t> </a:t>
            </a:r>
            <a:r>
              <a:rPr sz="1500" spc="-5">
                <a:latin typeface="Calibri"/>
                <a:cs typeface="Calibri"/>
              </a:rPr>
              <a:t>can play </a:t>
            </a:r>
            <a:r>
              <a:rPr sz="1500">
                <a:latin typeface="Calibri"/>
                <a:cs typeface="Calibri"/>
              </a:rPr>
              <a:t>each </a:t>
            </a:r>
            <a:r>
              <a:rPr sz="1500" spc="5">
                <a:latin typeface="Calibri"/>
                <a:cs typeface="Calibri"/>
              </a:rPr>
              <a:t> </a:t>
            </a:r>
            <a:r>
              <a:rPr sz="1500" spc="-5">
                <a:latin typeface="Calibri"/>
                <a:cs typeface="Calibri"/>
              </a:rPr>
              <a:t>other </a:t>
            </a:r>
            <a:r>
              <a:rPr sz="1500">
                <a:latin typeface="Calibri"/>
                <a:cs typeface="Calibri"/>
              </a:rPr>
              <a:t>multiple </a:t>
            </a:r>
            <a:r>
              <a:rPr sz="1500" spc="5">
                <a:latin typeface="Calibri"/>
                <a:cs typeface="Calibri"/>
              </a:rPr>
              <a:t> </a:t>
            </a:r>
            <a:r>
              <a:rPr sz="1500">
                <a:latin typeface="Calibri"/>
                <a:cs typeface="Calibri"/>
              </a:rPr>
              <a:t>times</a:t>
            </a:r>
          </a:p>
        </p:txBody>
      </p:sp>
      <p:sp>
        <p:nvSpPr>
          <p:cNvPr id="5" name="object 5"/>
          <p:cNvSpPr txBox="1"/>
          <p:nvPr/>
        </p:nvSpPr>
        <p:spPr>
          <a:xfrm>
            <a:off x="4120126" y="4178299"/>
            <a:ext cx="1161415" cy="487680"/>
          </a:xfrm>
          <a:prstGeom prst="rect">
            <a:avLst/>
          </a:prstGeom>
        </p:spPr>
        <p:txBody>
          <a:bodyPr vert="horz" wrap="square" lIns="0" tIns="16510" rIns="0" bIns="0" rtlCol="0">
            <a:spAutoFit/>
          </a:bodyPr>
          <a:lstStyle/>
          <a:p>
            <a:pPr marL="12700" marR="5080">
              <a:spcBef>
                <a:spcPts val="130"/>
              </a:spcBef>
            </a:pPr>
            <a:r>
              <a:rPr sz="1500" b="1" u="heavy" spc="-15">
                <a:uFill>
                  <a:solidFill>
                    <a:srgbClr val="000000"/>
                  </a:solidFill>
                </a:uFill>
                <a:latin typeface="Calibri"/>
                <a:cs typeface="Calibri"/>
              </a:rPr>
              <a:t>Players</a:t>
            </a:r>
            <a:r>
              <a:rPr sz="1500" b="1" spc="-65">
                <a:latin typeface="Calibri"/>
                <a:cs typeface="Calibri"/>
              </a:rPr>
              <a:t> </a:t>
            </a:r>
            <a:r>
              <a:rPr sz="1500" spc="-5">
                <a:latin typeface="Calibri"/>
                <a:cs typeface="Calibri"/>
              </a:rPr>
              <a:t>belong </a:t>
            </a:r>
            <a:r>
              <a:rPr sz="1500" spc="-320">
                <a:latin typeface="Calibri"/>
                <a:cs typeface="Calibri"/>
              </a:rPr>
              <a:t> </a:t>
            </a:r>
            <a:r>
              <a:rPr sz="1500" spc="-5">
                <a:latin typeface="Calibri"/>
                <a:cs typeface="Calibri"/>
              </a:rPr>
              <a:t>to</a:t>
            </a:r>
            <a:r>
              <a:rPr sz="1500" spc="-35">
                <a:latin typeface="Calibri"/>
                <a:cs typeface="Calibri"/>
              </a:rPr>
              <a:t> </a:t>
            </a:r>
            <a:r>
              <a:rPr sz="1500" spc="-30">
                <a:latin typeface="Calibri"/>
                <a:cs typeface="Calibri"/>
              </a:rPr>
              <a:t>Teams</a:t>
            </a:r>
            <a:endParaRPr sz="1500">
              <a:latin typeface="Calibri"/>
              <a:cs typeface="Calibri"/>
            </a:endParaRPr>
          </a:p>
        </p:txBody>
      </p:sp>
      <p:sp>
        <p:nvSpPr>
          <p:cNvPr id="6" name="object 6"/>
          <p:cNvSpPr txBox="1"/>
          <p:nvPr/>
        </p:nvSpPr>
        <p:spPr>
          <a:xfrm>
            <a:off x="8485985" y="4178299"/>
            <a:ext cx="1596390" cy="11734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A </a:t>
            </a:r>
            <a:r>
              <a:rPr sz="1500" spc="-5">
                <a:latin typeface="Calibri"/>
                <a:cs typeface="Calibri"/>
              </a:rPr>
              <a:t>Play </a:t>
            </a:r>
            <a:r>
              <a:rPr sz="1500">
                <a:latin typeface="Calibri"/>
                <a:cs typeface="Calibri"/>
              </a:rPr>
              <a:t>will </a:t>
            </a:r>
            <a:r>
              <a:rPr sz="1500" spc="-10">
                <a:latin typeface="Calibri"/>
                <a:cs typeface="Calibri"/>
              </a:rPr>
              <a:t>contain </a:t>
            </a:r>
            <a:r>
              <a:rPr sz="1500" spc="-5">
                <a:latin typeface="Calibri"/>
                <a:cs typeface="Calibri"/>
              </a:rPr>
              <a:t> </a:t>
            </a:r>
            <a:r>
              <a:rPr sz="1500">
                <a:latin typeface="Calibri"/>
                <a:cs typeface="Calibri"/>
              </a:rPr>
              <a:t>either </a:t>
            </a:r>
            <a:r>
              <a:rPr sz="1500" spc="15">
                <a:latin typeface="Calibri"/>
                <a:cs typeface="Calibri"/>
              </a:rPr>
              <a:t>a </a:t>
            </a:r>
            <a:r>
              <a:rPr sz="1500" b="1" u="heavy" spc="-10">
                <a:uFill>
                  <a:solidFill>
                    <a:srgbClr val="000000"/>
                  </a:solidFill>
                </a:uFill>
                <a:latin typeface="Calibri"/>
                <a:cs typeface="Calibri"/>
              </a:rPr>
              <a:t>Pass</a:t>
            </a:r>
            <a:r>
              <a:rPr sz="1500" b="1" spc="-10">
                <a:latin typeface="Calibri"/>
                <a:cs typeface="Calibri"/>
              </a:rPr>
              <a:t> </a:t>
            </a:r>
            <a:r>
              <a:rPr sz="1500" spc="-5">
                <a:latin typeface="Calibri"/>
                <a:cs typeface="Calibri"/>
              </a:rPr>
              <a:t>from </a:t>
            </a:r>
            <a:r>
              <a:rPr sz="1500">
                <a:latin typeface="Calibri"/>
                <a:cs typeface="Calibri"/>
              </a:rPr>
              <a:t> one </a:t>
            </a:r>
            <a:r>
              <a:rPr sz="1500" spc="-10">
                <a:latin typeface="Calibri"/>
                <a:cs typeface="Calibri"/>
              </a:rPr>
              <a:t>player </a:t>
            </a:r>
            <a:r>
              <a:rPr sz="1500" spc="-5">
                <a:latin typeface="Calibri"/>
                <a:cs typeface="Calibri"/>
              </a:rPr>
              <a:t>to </a:t>
            </a:r>
            <a:r>
              <a:rPr sz="1500">
                <a:latin typeface="Calibri"/>
                <a:cs typeface="Calibri"/>
              </a:rPr>
              <a:t> </a:t>
            </a:r>
            <a:r>
              <a:rPr sz="1500" spc="-20">
                <a:latin typeface="Calibri"/>
                <a:cs typeface="Calibri"/>
              </a:rPr>
              <a:t>another,</a:t>
            </a:r>
            <a:r>
              <a:rPr sz="1500" spc="-30">
                <a:latin typeface="Calibri"/>
                <a:cs typeface="Calibri"/>
              </a:rPr>
              <a:t> </a:t>
            </a:r>
            <a:r>
              <a:rPr sz="1500">
                <a:latin typeface="Calibri"/>
                <a:cs typeface="Calibri"/>
              </a:rPr>
              <a:t>or</a:t>
            </a:r>
            <a:r>
              <a:rPr sz="1500" spc="-30">
                <a:latin typeface="Calibri"/>
                <a:cs typeface="Calibri"/>
              </a:rPr>
              <a:t> </a:t>
            </a:r>
            <a:r>
              <a:rPr sz="1500" spc="15">
                <a:latin typeface="Calibri"/>
                <a:cs typeface="Calibri"/>
              </a:rPr>
              <a:t>a</a:t>
            </a:r>
            <a:r>
              <a:rPr sz="1500" spc="-35">
                <a:latin typeface="Calibri"/>
                <a:cs typeface="Calibri"/>
              </a:rPr>
              <a:t> </a:t>
            </a:r>
            <a:r>
              <a:rPr sz="1500" b="1" u="heavy">
                <a:uFill>
                  <a:solidFill>
                    <a:srgbClr val="000000"/>
                  </a:solidFill>
                </a:uFill>
                <a:latin typeface="Calibri"/>
                <a:cs typeface="Calibri"/>
              </a:rPr>
              <a:t>Run</a:t>
            </a:r>
            <a:r>
              <a:rPr sz="1500" b="1" spc="-40">
                <a:latin typeface="Calibri"/>
                <a:cs typeface="Calibri"/>
              </a:rPr>
              <a:t> </a:t>
            </a:r>
            <a:r>
              <a:rPr sz="1500" spc="-15">
                <a:latin typeface="Calibri"/>
                <a:cs typeface="Calibri"/>
              </a:rPr>
              <a:t>by </a:t>
            </a:r>
            <a:r>
              <a:rPr sz="1500" spc="-325">
                <a:latin typeface="Calibri"/>
                <a:cs typeface="Calibri"/>
              </a:rPr>
              <a:t> </a:t>
            </a:r>
            <a:r>
              <a:rPr sz="1500">
                <a:latin typeface="Calibri"/>
                <a:cs typeface="Calibri"/>
              </a:rPr>
              <a:t>one</a:t>
            </a:r>
            <a:r>
              <a:rPr sz="1500" spc="-20">
                <a:latin typeface="Calibri"/>
                <a:cs typeface="Calibri"/>
              </a:rPr>
              <a:t> </a:t>
            </a:r>
            <a:r>
              <a:rPr sz="1500" spc="-10">
                <a:latin typeface="Calibri"/>
                <a:cs typeface="Calibri"/>
              </a:rPr>
              <a:t>player</a:t>
            </a:r>
            <a:endParaRPr sz="1500">
              <a:latin typeface="Calibri"/>
              <a:cs typeface="Calibri"/>
            </a:endParaRPr>
          </a:p>
        </p:txBody>
      </p:sp>
      <p:sp>
        <p:nvSpPr>
          <p:cNvPr id="7" name="object 7"/>
          <p:cNvSpPr txBox="1"/>
          <p:nvPr/>
        </p:nvSpPr>
        <p:spPr>
          <a:xfrm>
            <a:off x="2176213" y="2053166"/>
            <a:ext cx="5115560" cy="579120"/>
          </a:xfrm>
          <a:prstGeom prst="rect">
            <a:avLst/>
          </a:prstGeom>
        </p:spPr>
        <p:txBody>
          <a:bodyPr vert="horz" wrap="square" lIns="0" tIns="12700" rIns="0" bIns="0" rtlCol="0">
            <a:spAutoFit/>
          </a:bodyPr>
          <a:lstStyle/>
          <a:p>
            <a:pPr marL="12700">
              <a:spcBef>
                <a:spcPts val="100"/>
              </a:spcBef>
            </a:pPr>
            <a:r>
              <a:rPr spc="-5">
                <a:latin typeface="Calibri"/>
                <a:cs typeface="Calibri"/>
              </a:rPr>
              <a:t>Use</a:t>
            </a:r>
            <a:r>
              <a:rPr spc="5">
                <a:latin typeface="Calibri"/>
                <a:cs typeface="Calibri"/>
              </a:rPr>
              <a:t> </a:t>
            </a:r>
            <a:r>
              <a:rPr spc="-5">
                <a:latin typeface="Calibri"/>
                <a:cs typeface="Calibri"/>
              </a:rPr>
              <a:t>the</a:t>
            </a:r>
            <a:r>
              <a:rPr spc="5">
                <a:latin typeface="Calibri"/>
                <a:cs typeface="Calibri"/>
              </a:rPr>
              <a:t> </a:t>
            </a:r>
            <a:r>
              <a:rPr spc="-10">
                <a:latin typeface="Calibri"/>
                <a:cs typeface="Calibri"/>
              </a:rPr>
              <a:t>following</a:t>
            </a:r>
            <a:r>
              <a:rPr spc="5">
                <a:latin typeface="Calibri"/>
                <a:cs typeface="Calibri"/>
              </a:rPr>
              <a:t> </a:t>
            </a:r>
            <a:r>
              <a:rPr spc="-5">
                <a:latin typeface="Calibri"/>
                <a:cs typeface="Calibri"/>
              </a:rPr>
              <a:t>simplified</a:t>
            </a:r>
            <a:r>
              <a:rPr spc="5">
                <a:latin typeface="Calibri"/>
                <a:cs typeface="Calibri"/>
              </a:rPr>
              <a:t> </a:t>
            </a:r>
            <a:r>
              <a:rPr>
                <a:latin typeface="Calibri"/>
                <a:cs typeface="Calibri"/>
              </a:rPr>
              <a:t>model of</a:t>
            </a:r>
            <a:r>
              <a:rPr spc="5">
                <a:latin typeface="Calibri"/>
                <a:cs typeface="Calibri"/>
              </a:rPr>
              <a:t> </a:t>
            </a:r>
            <a:r>
              <a:rPr>
                <a:latin typeface="Calibri"/>
                <a:cs typeface="Calibri"/>
              </a:rPr>
              <a:t>a </a:t>
            </a:r>
            <a:r>
              <a:rPr spc="-10">
                <a:latin typeface="Calibri"/>
                <a:cs typeface="Calibri"/>
              </a:rPr>
              <a:t>football</a:t>
            </a:r>
            <a:r>
              <a:rPr>
                <a:latin typeface="Calibri"/>
                <a:cs typeface="Calibri"/>
              </a:rPr>
              <a:t> </a:t>
            </a:r>
            <a:r>
              <a:rPr spc="-5">
                <a:latin typeface="Calibri"/>
                <a:cs typeface="Calibri"/>
              </a:rPr>
              <a:t>season</a:t>
            </a:r>
            <a:endParaRPr>
              <a:latin typeface="Calibri"/>
              <a:cs typeface="Calibri"/>
            </a:endParaRPr>
          </a:p>
          <a:p>
            <a:pPr marL="12700">
              <a:spcBef>
                <a:spcPts val="40"/>
              </a:spcBef>
            </a:pPr>
            <a:r>
              <a:rPr b="1" u="heavy" spc="-10">
                <a:uFill>
                  <a:solidFill>
                    <a:srgbClr val="000000"/>
                  </a:solidFill>
                </a:uFill>
                <a:latin typeface="Calibri"/>
                <a:cs typeface="Calibri"/>
              </a:rPr>
              <a:t>(concepts</a:t>
            </a:r>
            <a:r>
              <a:rPr b="1" u="heavy" spc="-15">
                <a:uFill>
                  <a:solidFill>
                    <a:srgbClr val="000000"/>
                  </a:solidFill>
                </a:uFill>
                <a:latin typeface="Calibri"/>
                <a:cs typeface="Calibri"/>
              </a:rPr>
              <a:t> </a:t>
            </a:r>
            <a:r>
              <a:rPr b="1" u="heavy" spc="-10">
                <a:uFill>
                  <a:solidFill>
                    <a:srgbClr val="000000"/>
                  </a:solidFill>
                </a:uFill>
                <a:latin typeface="Calibri"/>
                <a:cs typeface="Calibri"/>
              </a:rPr>
              <a:t>to </a:t>
            </a:r>
            <a:r>
              <a:rPr b="1" u="heavy" spc="-5">
                <a:uFill>
                  <a:solidFill>
                    <a:srgbClr val="000000"/>
                  </a:solidFill>
                </a:uFill>
                <a:latin typeface="Calibri"/>
                <a:cs typeface="Calibri"/>
              </a:rPr>
              <a:t>include</a:t>
            </a:r>
            <a:r>
              <a:rPr b="1" u="heavy" spc="-20">
                <a:uFill>
                  <a:solidFill>
                    <a:srgbClr val="000000"/>
                  </a:solidFill>
                </a:uFill>
                <a:latin typeface="Calibri"/>
                <a:cs typeface="Calibri"/>
              </a:rPr>
              <a:t> </a:t>
            </a:r>
            <a:r>
              <a:rPr b="1" u="heavy" spc="-10">
                <a:uFill>
                  <a:solidFill>
                    <a:srgbClr val="000000"/>
                  </a:solidFill>
                </a:uFill>
                <a:latin typeface="Calibri"/>
                <a:cs typeface="Calibri"/>
              </a:rPr>
              <a:t>are</a:t>
            </a:r>
            <a:r>
              <a:rPr b="1" u="heavy" spc="-15">
                <a:uFill>
                  <a:solidFill>
                    <a:srgbClr val="000000"/>
                  </a:solidFill>
                </a:uFill>
                <a:latin typeface="Calibri"/>
                <a:cs typeface="Calibri"/>
              </a:rPr>
              <a:t> </a:t>
            </a:r>
            <a:r>
              <a:rPr b="1" u="heavy" spc="-5">
                <a:uFill>
                  <a:solidFill>
                    <a:srgbClr val="000000"/>
                  </a:solidFill>
                </a:uFill>
                <a:latin typeface="Calibri"/>
                <a:cs typeface="Calibri"/>
              </a:rPr>
              <a:t>underlined):</a:t>
            </a:r>
            <a:endParaRPr>
              <a:latin typeface="Calibri"/>
              <a:cs typeface="Calibri"/>
            </a:endParaRPr>
          </a:p>
        </p:txBody>
      </p:sp>
      <p:pic>
        <p:nvPicPr>
          <p:cNvPr id="8" name="object 8"/>
          <p:cNvPicPr/>
          <p:nvPr/>
        </p:nvPicPr>
        <p:blipFill>
          <a:blip r:embed="rId2" cstate="print"/>
          <a:stretch>
            <a:fillRect/>
          </a:stretch>
        </p:blipFill>
        <p:spPr>
          <a:xfrm>
            <a:off x="6299200" y="2836332"/>
            <a:ext cx="1346200" cy="1117600"/>
          </a:xfrm>
          <a:prstGeom prst="rect">
            <a:avLst/>
          </a:prstGeom>
        </p:spPr>
      </p:pic>
      <p:sp>
        <p:nvSpPr>
          <p:cNvPr id="9" name="object 9"/>
          <p:cNvSpPr txBox="1"/>
          <p:nvPr/>
        </p:nvSpPr>
        <p:spPr>
          <a:xfrm>
            <a:off x="6382774" y="4161366"/>
            <a:ext cx="1525270" cy="14020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A</a:t>
            </a:r>
            <a:r>
              <a:rPr sz="1500" spc="-50">
                <a:latin typeface="Calibri"/>
                <a:cs typeface="Calibri"/>
              </a:rPr>
              <a:t> </a:t>
            </a:r>
            <a:r>
              <a:rPr sz="1500">
                <a:latin typeface="Calibri"/>
                <a:cs typeface="Calibri"/>
              </a:rPr>
              <a:t>Game</a:t>
            </a:r>
            <a:r>
              <a:rPr sz="1500" spc="-30">
                <a:latin typeface="Calibri"/>
                <a:cs typeface="Calibri"/>
              </a:rPr>
              <a:t> </a:t>
            </a:r>
            <a:r>
              <a:rPr sz="1500" spc="5">
                <a:latin typeface="Calibri"/>
                <a:cs typeface="Calibri"/>
              </a:rPr>
              <a:t>is</a:t>
            </a:r>
            <a:r>
              <a:rPr sz="1500" spc="-30">
                <a:latin typeface="Calibri"/>
                <a:cs typeface="Calibri"/>
              </a:rPr>
              <a:t> </a:t>
            </a:r>
            <a:r>
              <a:rPr sz="1500">
                <a:latin typeface="Calibri"/>
                <a:cs typeface="Calibri"/>
              </a:rPr>
              <a:t>made</a:t>
            </a:r>
            <a:r>
              <a:rPr sz="1500" spc="-35">
                <a:latin typeface="Calibri"/>
                <a:cs typeface="Calibri"/>
              </a:rPr>
              <a:t> </a:t>
            </a:r>
            <a:r>
              <a:rPr sz="1500" spc="5">
                <a:latin typeface="Calibri"/>
                <a:cs typeface="Calibri"/>
              </a:rPr>
              <a:t>up </a:t>
            </a:r>
            <a:r>
              <a:rPr sz="1500" spc="-325">
                <a:latin typeface="Calibri"/>
                <a:cs typeface="Calibri"/>
              </a:rPr>
              <a:t> </a:t>
            </a:r>
            <a:r>
              <a:rPr sz="1500">
                <a:latin typeface="Calibri"/>
                <a:cs typeface="Calibri"/>
              </a:rPr>
              <a:t>of </a:t>
            </a:r>
            <a:r>
              <a:rPr sz="1500" b="1" u="heavy" spc="-10">
                <a:uFill>
                  <a:solidFill>
                    <a:srgbClr val="000000"/>
                  </a:solidFill>
                </a:uFill>
                <a:latin typeface="Calibri"/>
                <a:cs typeface="Calibri"/>
              </a:rPr>
              <a:t>Plays</a:t>
            </a:r>
            <a:r>
              <a:rPr sz="1500" b="1" spc="-10">
                <a:latin typeface="Calibri"/>
                <a:cs typeface="Calibri"/>
              </a:rPr>
              <a:t> </a:t>
            </a:r>
            <a:r>
              <a:rPr sz="1500" spc="-5">
                <a:latin typeface="Calibri"/>
                <a:cs typeface="Calibri"/>
              </a:rPr>
              <a:t>that result </a:t>
            </a:r>
            <a:r>
              <a:rPr sz="1500">
                <a:latin typeface="Calibri"/>
                <a:cs typeface="Calibri"/>
              </a:rPr>
              <a:t> </a:t>
            </a:r>
            <a:r>
              <a:rPr sz="1500" spc="10">
                <a:latin typeface="Calibri"/>
                <a:cs typeface="Calibri"/>
              </a:rPr>
              <a:t>in </a:t>
            </a:r>
            <a:r>
              <a:rPr sz="1500" spc="15">
                <a:latin typeface="Calibri"/>
                <a:cs typeface="Calibri"/>
              </a:rPr>
              <a:t>a </a:t>
            </a:r>
            <a:r>
              <a:rPr sz="1500" spc="-15">
                <a:latin typeface="Calibri"/>
                <a:cs typeface="Calibri"/>
              </a:rPr>
              <a:t>yardage </a:t>
            </a:r>
            <a:r>
              <a:rPr sz="1500" spc="-10">
                <a:latin typeface="Calibri"/>
                <a:cs typeface="Calibri"/>
              </a:rPr>
              <a:t> gain/loss, </a:t>
            </a:r>
            <a:r>
              <a:rPr sz="1500">
                <a:latin typeface="Calibri"/>
                <a:cs typeface="Calibri"/>
              </a:rPr>
              <a:t>and </a:t>
            </a:r>
            <a:r>
              <a:rPr sz="1500" spc="5">
                <a:latin typeface="Calibri"/>
                <a:cs typeface="Calibri"/>
              </a:rPr>
              <a:t> </a:t>
            </a:r>
            <a:r>
              <a:rPr sz="1500" spc="-5">
                <a:latin typeface="Calibri"/>
                <a:cs typeface="Calibri"/>
              </a:rPr>
              <a:t>potentially </a:t>
            </a:r>
            <a:r>
              <a:rPr sz="1500" spc="15">
                <a:latin typeface="Calibri"/>
                <a:cs typeface="Calibri"/>
              </a:rPr>
              <a:t>a </a:t>
            </a:r>
            <a:r>
              <a:rPr sz="1500" spc="20">
                <a:latin typeface="Calibri"/>
                <a:cs typeface="Calibri"/>
              </a:rPr>
              <a:t> </a:t>
            </a:r>
            <a:r>
              <a:rPr sz="1500" spc="-5">
                <a:latin typeface="Calibri"/>
                <a:cs typeface="Calibri"/>
              </a:rPr>
              <a:t>touchdown</a:t>
            </a:r>
            <a:endParaRPr sz="1500">
              <a:latin typeface="Calibri"/>
              <a:cs typeface="Calibri"/>
            </a:endParaRPr>
          </a:p>
        </p:txBody>
      </p:sp>
      <p:grpSp>
        <p:nvGrpSpPr>
          <p:cNvPr id="10" name="object 10"/>
          <p:cNvGrpSpPr/>
          <p:nvPr/>
        </p:nvGrpSpPr>
        <p:grpSpPr>
          <a:xfrm>
            <a:off x="1845734" y="2954867"/>
            <a:ext cx="1896745" cy="1160145"/>
            <a:chOff x="321733" y="2954866"/>
            <a:chExt cx="1896745" cy="1160145"/>
          </a:xfrm>
        </p:grpSpPr>
        <p:pic>
          <p:nvPicPr>
            <p:cNvPr id="11" name="object 11"/>
            <p:cNvPicPr/>
            <p:nvPr/>
          </p:nvPicPr>
          <p:blipFill>
            <a:blip r:embed="rId3" cstate="print"/>
            <a:stretch>
              <a:fillRect/>
            </a:stretch>
          </p:blipFill>
          <p:spPr>
            <a:xfrm>
              <a:off x="1600200" y="3496733"/>
              <a:ext cx="618066" cy="618066"/>
            </a:xfrm>
            <a:prstGeom prst="rect">
              <a:avLst/>
            </a:prstGeom>
          </p:spPr>
        </p:pic>
        <p:pic>
          <p:nvPicPr>
            <p:cNvPr id="12" name="object 12"/>
            <p:cNvPicPr/>
            <p:nvPr/>
          </p:nvPicPr>
          <p:blipFill>
            <a:blip r:embed="rId4" cstate="print"/>
            <a:stretch>
              <a:fillRect/>
            </a:stretch>
          </p:blipFill>
          <p:spPr>
            <a:xfrm>
              <a:off x="321733" y="2954866"/>
              <a:ext cx="1523999" cy="1049866"/>
            </a:xfrm>
            <a:prstGeom prst="rect">
              <a:avLst/>
            </a:prstGeom>
          </p:spPr>
        </p:pic>
      </p:grpSp>
      <p:pic>
        <p:nvPicPr>
          <p:cNvPr id="13" name="object 13"/>
          <p:cNvPicPr/>
          <p:nvPr/>
        </p:nvPicPr>
        <p:blipFill>
          <a:blip r:embed="rId5" cstate="print"/>
          <a:stretch>
            <a:fillRect/>
          </a:stretch>
        </p:blipFill>
        <p:spPr>
          <a:xfrm>
            <a:off x="3937000" y="2861732"/>
            <a:ext cx="1701800" cy="1143000"/>
          </a:xfrm>
          <a:prstGeom prst="rect">
            <a:avLst/>
          </a:prstGeom>
        </p:spPr>
      </p:pic>
      <p:pic>
        <p:nvPicPr>
          <p:cNvPr id="14" name="object 14"/>
          <p:cNvPicPr/>
          <p:nvPr/>
        </p:nvPicPr>
        <p:blipFill>
          <a:blip r:embed="rId6" cstate="print"/>
          <a:stretch>
            <a:fillRect/>
          </a:stretch>
        </p:blipFill>
        <p:spPr>
          <a:xfrm>
            <a:off x="8593666" y="2844800"/>
            <a:ext cx="1490132" cy="1109133"/>
          </a:xfrm>
          <a:prstGeom prst="rect">
            <a:avLst/>
          </a:prstGeom>
        </p:spPr>
      </p:pic>
      <p:sp>
        <p:nvSpPr>
          <p:cNvPr id="19" name="Title 18">
            <a:extLst>
              <a:ext uri="{FF2B5EF4-FFF2-40B4-BE49-F238E27FC236}">
                <a16:creationId xmlns:a16="http://schemas.microsoft.com/office/drawing/2014/main" id="{8D66525C-0976-DB48-B2B7-8F38E1265BF4}"/>
              </a:ext>
            </a:extLst>
          </p:cNvPr>
          <p:cNvSpPr>
            <a:spLocks noGrp="1"/>
          </p:cNvSpPr>
          <p:nvPr>
            <p:ph type="title"/>
          </p:nvPr>
        </p:nvSpPr>
        <p:spPr>
          <a:xfrm>
            <a:off x="381000" y="631772"/>
            <a:ext cx="10515600" cy="1325563"/>
          </a:xfrm>
        </p:spPr>
        <p:txBody>
          <a:bodyPr/>
          <a:lstStyle/>
          <a:p>
            <a:r>
              <a:rPr lang="en-US" b="1" spc="-45">
                <a:latin typeface="Calibri" panose="020F0502020204030204" pitchFamily="34" charset="0"/>
                <a:cs typeface="Calibri" panose="020F0502020204030204" pitchFamily="34" charset="0"/>
              </a:rPr>
              <a:t>DRAW</a:t>
            </a:r>
            <a:r>
              <a:rPr lang="en-US" b="1" spc="-114">
                <a:latin typeface="Calibri" panose="020F0502020204030204" pitchFamily="34" charset="0"/>
                <a:cs typeface="Calibri" panose="020F0502020204030204" pitchFamily="34" charset="0"/>
              </a:rPr>
              <a:t> </a:t>
            </a:r>
            <a:r>
              <a:rPr lang="en-US" b="1" spc="-5">
                <a:latin typeface="Calibri" panose="020F0502020204030204" pitchFamily="34" charset="0"/>
                <a:cs typeface="Calibri" panose="020F0502020204030204" pitchFamily="34" charset="0"/>
              </a:rPr>
              <a:t>AN</a:t>
            </a:r>
            <a:r>
              <a:rPr lang="en-US" b="1" spc="-15">
                <a:latin typeface="Calibri" panose="020F0502020204030204" pitchFamily="34" charset="0"/>
                <a:cs typeface="Calibri" panose="020F0502020204030204" pitchFamily="34" charset="0"/>
              </a:rPr>
              <a:t> </a:t>
            </a:r>
            <a:r>
              <a:rPr lang="en-US" b="1" spc="-5">
                <a:latin typeface="Calibri" panose="020F0502020204030204" pitchFamily="34" charset="0"/>
                <a:cs typeface="Calibri" panose="020F0502020204030204" pitchFamily="34" charset="0"/>
              </a:rPr>
              <a:t>E/R</a:t>
            </a:r>
            <a:r>
              <a:rPr lang="en-US" b="1" spc="-20">
                <a:latin typeface="Calibri" panose="020F0502020204030204" pitchFamily="34" charset="0"/>
                <a:cs typeface="Calibri" panose="020F0502020204030204" pitchFamily="34" charset="0"/>
              </a:rPr>
              <a:t> </a:t>
            </a:r>
            <a:r>
              <a:rPr lang="en-US" b="1" spc="-5">
                <a:latin typeface="Calibri" panose="020F0502020204030204" pitchFamily="34" charset="0"/>
                <a:cs typeface="Calibri" panose="020F0502020204030204" pitchFamily="34" charset="0"/>
              </a:rPr>
              <a:t>DIAGRAM</a:t>
            </a:r>
            <a:r>
              <a:rPr lang="en-US" b="1" spc="-10">
                <a:latin typeface="Calibri" panose="020F0502020204030204" pitchFamily="34" charset="0"/>
                <a:cs typeface="Calibri" panose="020F0502020204030204" pitchFamily="34" charset="0"/>
              </a:rPr>
              <a:t> </a:t>
            </a:r>
            <a:r>
              <a:rPr lang="en-US" b="1">
                <a:latin typeface="Calibri" panose="020F0502020204030204" pitchFamily="34" charset="0"/>
                <a:cs typeface="Calibri" panose="020F0502020204030204" pitchFamily="34" charset="0"/>
              </a:rPr>
              <a:t>FOR</a:t>
            </a:r>
            <a:r>
              <a:rPr lang="en-US" b="1" spc="-20">
                <a:latin typeface="Calibri" panose="020F0502020204030204" pitchFamily="34" charset="0"/>
                <a:cs typeface="Calibri" panose="020F0502020204030204" pitchFamily="34" charset="0"/>
              </a:rPr>
              <a:t> </a:t>
            </a:r>
            <a:r>
              <a:rPr lang="en-US" b="1">
                <a:latin typeface="Calibri" panose="020F0502020204030204" pitchFamily="34" charset="0"/>
                <a:cs typeface="Calibri" panose="020F0502020204030204" pitchFamily="34" charset="0"/>
              </a:rPr>
              <a:t>FOOTBALL</a:t>
            </a:r>
            <a:endParaRPr lang="en-US">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DB1AC7E0-DEED-4BA7-80A6-F4D4241D425A}"/>
              </a:ext>
            </a:extLst>
          </p:cNvPr>
          <p:cNvSpPr>
            <a:spLocks noGrp="1"/>
          </p:cNvSpPr>
          <p:nvPr>
            <p:ph type="sldNum" sz="quarter" idx="12"/>
          </p:nvPr>
        </p:nvSpPr>
        <p:spPr/>
        <p:txBody>
          <a:bodyPr/>
          <a:lstStyle/>
          <a:p>
            <a:fld id="{641C0F02-33DC-3A41-9F51-431B7FE03ABE}"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60449" y="3858201"/>
            <a:ext cx="1089660" cy="239168"/>
          </a:xfrm>
          <a:prstGeom prst="rect">
            <a:avLst/>
          </a:prstGeom>
          <a:solidFill>
            <a:srgbClr val="F2DCDB"/>
          </a:solidFill>
          <a:ln w="9525">
            <a:solidFill>
              <a:srgbClr val="000000"/>
            </a:solidFill>
          </a:ln>
        </p:spPr>
        <p:txBody>
          <a:bodyPr vert="horz" wrap="square" lIns="0" tIns="99695" rIns="0" bIns="0" rtlCol="0">
            <a:spAutoFit/>
          </a:bodyPr>
          <a:lstStyle/>
          <a:p>
            <a:pPr marL="1905" algn="ctr">
              <a:spcBef>
                <a:spcPts val="785"/>
              </a:spcBef>
            </a:pPr>
            <a:r>
              <a:rPr sz="900" spc="-5">
                <a:latin typeface="Calibri"/>
                <a:cs typeface="Calibri"/>
              </a:rPr>
              <a:t>Games</a:t>
            </a:r>
            <a:endParaRPr sz="900">
              <a:latin typeface="Calibri"/>
              <a:cs typeface="Calibri"/>
            </a:endParaRPr>
          </a:p>
        </p:txBody>
      </p:sp>
      <p:grpSp>
        <p:nvGrpSpPr>
          <p:cNvPr id="3" name="object 3"/>
          <p:cNvGrpSpPr/>
          <p:nvPr/>
        </p:nvGrpSpPr>
        <p:grpSpPr>
          <a:xfrm>
            <a:off x="7601356" y="2835681"/>
            <a:ext cx="871855" cy="408305"/>
            <a:chOff x="6077355" y="2835680"/>
            <a:chExt cx="871855" cy="408305"/>
          </a:xfrm>
        </p:grpSpPr>
        <p:sp>
          <p:nvSpPr>
            <p:cNvPr id="4" name="object 4"/>
            <p:cNvSpPr/>
            <p:nvPr/>
          </p:nvSpPr>
          <p:spPr>
            <a:xfrm>
              <a:off x="6082117" y="2840442"/>
              <a:ext cx="862330" cy="398780"/>
            </a:xfrm>
            <a:custGeom>
              <a:avLst/>
              <a:gdLst/>
              <a:ahLst/>
              <a:cxnLst/>
              <a:rect l="l" t="t" r="r" b="b"/>
              <a:pathLst>
                <a:path w="862329" h="398780">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3"/>
                  </a:lnTo>
                  <a:lnTo>
                    <a:pt x="69452" y="307553"/>
                  </a:lnTo>
                  <a:lnTo>
                    <a:pt x="105741" y="329768"/>
                  </a:lnTo>
                  <a:lnTo>
                    <a:pt x="148265" y="349411"/>
                  </a:lnTo>
                  <a:lnTo>
                    <a:pt x="196360" y="366173"/>
                  </a:lnTo>
                  <a:lnTo>
                    <a:pt x="249357" y="379746"/>
                  </a:lnTo>
                  <a:lnTo>
                    <a:pt x="306590" y="389823"/>
                  </a:lnTo>
                  <a:lnTo>
                    <a:pt x="367392" y="396095"/>
                  </a:lnTo>
                  <a:lnTo>
                    <a:pt x="431096" y="398254"/>
                  </a:lnTo>
                  <a:lnTo>
                    <a:pt x="494800" y="396095"/>
                  </a:lnTo>
                  <a:lnTo>
                    <a:pt x="555602" y="389823"/>
                  </a:lnTo>
                  <a:lnTo>
                    <a:pt x="612836" y="379746"/>
                  </a:lnTo>
                  <a:lnTo>
                    <a:pt x="665833" y="366173"/>
                  </a:lnTo>
                  <a:lnTo>
                    <a:pt x="713927" y="349411"/>
                  </a:lnTo>
                  <a:lnTo>
                    <a:pt x="756452" y="329768"/>
                  </a:lnTo>
                  <a:lnTo>
                    <a:pt x="792741" y="307553"/>
                  </a:lnTo>
                  <a:lnTo>
                    <a:pt x="822126" y="283073"/>
                  </a:lnTo>
                  <a:lnTo>
                    <a:pt x="857519" y="228552"/>
                  </a:lnTo>
                  <a:lnTo>
                    <a:pt x="862194" y="199127"/>
                  </a:lnTo>
                  <a:lnTo>
                    <a:pt x="857519" y="169701"/>
                  </a:lnTo>
                  <a:lnTo>
                    <a:pt x="822126" y="115180"/>
                  </a:lnTo>
                  <a:lnTo>
                    <a:pt x="792741" y="90700"/>
                  </a:lnTo>
                  <a:lnTo>
                    <a:pt x="756452" y="68485"/>
                  </a:lnTo>
                  <a:lnTo>
                    <a:pt x="713927" y="48842"/>
                  </a:lnTo>
                  <a:lnTo>
                    <a:pt x="665833" y="32080"/>
                  </a:lnTo>
                  <a:lnTo>
                    <a:pt x="612836"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5" name="object 5"/>
            <p:cNvSpPr/>
            <p:nvPr/>
          </p:nvSpPr>
          <p:spPr>
            <a:xfrm>
              <a:off x="6082117" y="2840442"/>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6" name="object 6"/>
          <p:cNvSpPr txBox="1"/>
          <p:nvPr/>
        </p:nvSpPr>
        <p:spPr>
          <a:xfrm>
            <a:off x="7919740" y="2950634"/>
            <a:ext cx="236854"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d</a:t>
            </a:r>
            <a:r>
              <a:rPr sz="900" u="sng" spc="-10">
                <a:uFill>
                  <a:solidFill>
                    <a:srgbClr val="000000"/>
                  </a:solidFill>
                </a:uFill>
                <a:latin typeface="Calibri"/>
                <a:cs typeface="Calibri"/>
              </a:rPr>
              <a:t>a</a:t>
            </a:r>
            <a:r>
              <a:rPr sz="900" u="sng" spc="-5">
                <a:uFill>
                  <a:solidFill>
                    <a:srgbClr val="000000"/>
                  </a:solidFill>
                </a:uFill>
                <a:latin typeface="Calibri"/>
                <a:cs typeface="Calibri"/>
              </a:rPr>
              <a:t>t</a:t>
            </a:r>
            <a:r>
              <a:rPr sz="900" u="sng" spc="15">
                <a:uFill>
                  <a:solidFill>
                    <a:srgbClr val="000000"/>
                  </a:solidFill>
                </a:uFill>
                <a:latin typeface="Calibri"/>
                <a:cs typeface="Calibri"/>
              </a:rPr>
              <a:t>e</a:t>
            </a:r>
            <a:endParaRPr sz="900">
              <a:latin typeface="Calibri"/>
              <a:cs typeface="Calibri"/>
            </a:endParaRPr>
          </a:p>
        </p:txBody>
      </p:sp>
      <p:grpSp>
        <p:nvGrpSpPr>
          <p:cNvPr id="7" name="object 7"/>
          <p:cNvGrpSpPr/>
          <p:nvPr/>
        </p:nvGrpSpPr>
        <p:grpSpPr>
          <a:xfrm>
            <a:off x="8032454" y="3233935"/>
            <a:ext cx="777875" cy="629285"/>
            <a:chOff x="6508453" y="3233934"/>
            <a:chExt cx="777875" cy="629285"/>
          </a:xfrm>
        </p:grpSpPr>
        <p:sp>
          <p:nvSpPr>
            <p:cNvPr id="8" name="object 8"/>
            <p:cNvSpPr/>
            <p:nvPr/>
          </p:nvSpPr>
          <p:spPr>
            <a:xfrm>
              <a:off x="6513215" y="3238696"/>
              <a:ext cx="768350" cy="619760"/>
            </a:xfrm>
            <a:custGeom>
              <a:avLst/>
              <a:gdLst/>
              <a:ahLst/>
              <a:cxnLst/>
              <a:rect l="l" t="t" r="r" b="b"/>
              <a:pathLst>
                <a:path w="768350" h="619760">
                  <a:moveTo>
                    <a:pt x="0" y="0"/>
                  </a:moveTo>
                  <a:lnTo>
                    <a:pt x="767778" y="619504"/>
                  </a:lnTo>
                </a:path>
              </a:pathLst>
            </a:custGeom>
            <a:solidFill>
              <a:srgbClr val="C0C0C0">
                <a:alpha val="50199"/>
              </a:srgbClr>
            </a:solidFill>
          </p:spPr>
          <p:txBody>
            <a:bodyPr wrap="square" lIns="0" tIns="0" rIns="0" bIns="0" rtlCol="0"/>
            <a:lstStyle/>
            <a:p>
              <a:endParaRPr/>
            </a:p>
          </p:txBody>
        </p:sp>
        <p:sp>
          <p:nvSpPr>
            <p:cNvPr id="9" name="object 9"/>
            <p:cNvSpPr/>
            <p:nvPr/>
          </p:nvSpPr>
          <p:spPr>
            <a:xfrm>
              <a:off x="6513215" y="3238696"/>
              <a:ext cx="768350" cy="619760"/>
            </a:xfrm>
            <a:custGeom>
              <a:avLst/>
              <a:gdLst/>
              <a:ahLst/>
              <a:cxnLst/>
              <a:rect l="l" t="t" r="r" b="b"/>
              <a:pathLst>
                <a:path w="768350" h="619760">
                  <a:moveTo>
                    <a:pt x="0" y="0"/>
                  </a:moveTo>
                  <a:lnTo>
                    <a:pt x="767779" y="619505"/>
                  </a:lnTo>
                </a:path>
              </a:pathLst>
            </a:custGeom>
            <a:ln w="9525">
              <a:solidFill>
                <a:srgbClr val="000000"/>
              </a:solidFill>
            </a:ln>
          </p:spPr>
          <p:txBody>
            <a:bodyPr wrap="square" lIns="0" tIns="0" rIns="0" bIns="0" rtlCol="0"/>
            <a:lstStyle/>
            <a:p>
              <a:endParaRPr/>
            </a:p>
          </p:txBody>
        </p:sp>
      </p:grpSp>
      <p:sp>
        <p:nvSpPr>
          <p:cNvPr id="10" name="object 10"/>
          <p:cNvSpPr txBox="1"/>
          <p:nvPr/>
        </p:nvSpPr>
        <p:spPr>
          <a:xfrm>
            <a:off x="6023015" y="3238696"/>
            <a:ext cx="726440" cy="223779"/>
          </a:xfrm>
          <a:prstGeom prst="rect">
            <a:avLst/>
          </a:prstGeom>
          <a:solidFill>
            <a:srgbClr val="F2DCDB"/>
          </a:solidFill>
          <a:ln w="9525">
            <a:solidFill>
              <a:srgbClr val="000000"/>
            </a:solidFill>
          </a:ln>
        </p:spPr>
        <p:txBody>
          <a:bodyPr vert="horz" wrap="square" lIns="0" tIns="84455" rIns="0" bIns="0" rtlCol="0">
            <a:spAutoFit/>
          </a:bodyPr>
          <a:lstStyle/>
          <a:p>
            <a:pPr marL="210820">
              <a:spcBef>
                <a:spcPts val="665"/>
              </a:spcBef>
            </a:pPr>
            <a:r>
              <a:rPr sz="900" spc="-5">
                <a:latin typeface="Calibri"/>
                <a:cs typeface="Calibri"/>
              </a:rPr>
              <a:t>Teams</a:t>
            </a:r>
            <a:endParaRPr sz="900">
              <a:latin typeface="Calibri"/>
              <a:cs typeface="Calibri"/>
            </a:endParaRPr>
          </a:p>
        </p:txBody>
      </p:sp>
      <p:grpSp>
        <p:nvGrpSpPr>
          <p:cNvPr id="11" name="object 11"/>
          <p:cNvGrpSpPr/>
          <p:nvPr/>
        </p:nvGrpSpPr>
        <p:grpSpPr>
          <a:xfrm>
            <a:off x="5872957" y="2617978"/>
            <a:ext cx="871855" cy="408305"/>
            <a:chOff x="4348956" y="2617977"/>
            <a:chExt cx="871855" cy="408305"/>
          </a:xfrm>
        </p:grpSpPr>
        <p:sp>
          <p:nvSpPr>
            <p:cNvPr id="12" name="object 12"/>
            <p:cNvSpPr/>
            <p:nvPr/>
          </p:nvSpPr>
          <p:spPr>
            <a:xfrm>
              <a:off x="4353718" y="2622740"/>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3" name="object 13"/>
            <p:cNvSpPr/>
            <p:nvPr/>
          </p:nvSpPr>
          <p:spPr>
            <a:xfrm>
              <a:off x="4353718" y="2622740"/>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6104820" y="2730500"/>
            <a:ext cx="41148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Te</a:t>
            </a:r>
            <a:r>
              <a:rPr sz="900" u="sng" spc="-10">
                <a:uFill>
                  <a:solidFill>
                    <a:srgbClr val="000000"/>
                  </a:solidFill>
                </a:uFill>
                <a:latin typeface="Calibri"/>
                <a:cs typeface="Calibri"/>
              </a:rPr>
              <a:t>a</a:t>
            </a:r>
            <a:r>
              <a:rPr sz="900" u="sng" spc="25">
                <a:uFill>
                  <a:solidFill>
                    <a:srgbClr val="000000"/>
                  </a:solidFill>
                </a:uFill>
                <a:latin typeface="Calibri"/>
                <a:cs typeface="Calibri"/>
              </a:rPr>
              <a:t>m</a:t>
            </a:r>
            <a:r>
              <a:rPr sz="900" u="sng" spc="-25">
                <a:uFill>
                  <a:solidFill>
                    <a:srgbClr val="000000"/>
                  </a:solidFill>
                </a:uFill>
                <a:latin typeface="Calibri"/>
                <a:cs typeface="Calibri"/>
              </a:rPr>
              <a:t> </a:t>
            </a:r>
            <a:r>
              <a:rPr sz="900" u="sng" spc="-10">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15" name="object 15"/>
          <p:cNvGrpSpPr/>
          <p:nvPr/>
        </p:nvGrpSpPr>
        <p:grpSpPr>
          <a:xfrm>
            <a:off x="6304054" y="3016232"/>
            <a:ext cx="86995" cy="227329"/>
            <a:chOff x="4780053" y="3016231"/>
            <a:chExt cx="86995" cy="227329"/>
          </a:xfrm>
        </p:grpSpPr>
        <p:sp>
          <p:nvSpPr>
            <p:cNvPr id="16" name="object 16"/>
            <p:cNvSpPr/>
            <p:nvPr/>
          </p:nvSpPr>
          <p:spPr>
            <a:xfrm>
              <a:off x="4784816" y="3020993"/>
              <a:ext cx="77470" cy="217804"/>
            </a:xfrm>
            <a:custGeom>
              <a:avLst/>
              <a:gdLst/>
              <a:ahLst/>
              <a:cxnLst/>
              <a:rect l="l" t="t" r="r" b="b"/>
              <a:pathLst>
                <a:path w="77470" h="217805">
                  <a:moveTo>
                    <a:pt x="0" y="0"/>
                  </a:moveTo>
                  <a:lnTo>
                    <a:pt x="77229" y="217702"/>
                  </a:lnTo>
                </a:path>
              </a:pathLst>
            </a:custGeom>
            <a:solidFill>
              <a:srgbClr val="C0C0C0">
                <a:alpha val="50199"/>
              </a:srgbClr>
            </a:solidFill>
          </p:spPr>
          <p:txBody>
            <a:bodyPr wrap="square" lIns="0" tIns="0" rIns="0" bIns="0" rtlCol="0"/>
            <a:lstStyle/>
            <a:p>
              <a:endParaRPr/>
            </a:p>
          </p:txBody>
        </p:sp>
        <p:sp>
          <p:nvSpPr>
            <p:cNvPr id="17" name="object 17"/>
            <p:cNvSpPr/>
            <p:nvPr/>
          </p:nvSpPr>
          <p:spPr>
            <a:xfrm>
              <a:off x="4784816" y="3020993"/>
              <a:ext cx="77470" cy="217804"/>
            </a:xfrm>
            <a:custGeom>
              <a:avLst/>
              <a:gdLst/>
              <a:ahLst/>
              <a:cxnLst/>
              <a:rect l="l" t="t" r="r" b="b"/>
              <a:pathLst>
                <a:path w="77470" h="217805">
                  <a:moveTo>
                    <a:pt x="0" y="0"/>
                  </a:moveTo>
                  <a:lnTo>
                    <a:pt x="77230" y="217703"/>
                  </a:lnTo>
                </a:path>
              </a:pathLst>
            </a:custGeom>
            <a:ln w="9525">
              <a:solidFill>
                <a:srgbClr val="000000"/>
              </a:solidFill>
            </a:ln>
          </p:spPr>
          <p:txBody>
            <a:bodyPr wrap="square" lIns="0" tIns="0" rIns="0" bIns="0" rtlCol="0"/>
            <a:lstStyle/>
            <a:p>
              <a:endParaRPr/>
            </a:p>
          </p:txBody>
        </p:sp>
      </p:grpSp>
      <p:grpSp>
        <p:nvGrpSpPr>
          <p:cNvPr id="18" name="object 18"/>
          <p:cNvGrpSpPr/>
          <p:nvPr/>
        </p:nvGrpSpPr>
        <p:grpSpPr>
          <a:xfrm>
            <a:off x="6744310" y="3388810"/>
            <a:ext cx="1522730" cy="946150"/>
            <a:chOff x="5220310" y="3388810"/>
            <a:chExt cx="1522730" cy="946150"/>
          </a:xfrm>
        </p:grpSpPr>
        <p:sp>
          <p:nvSpPr>
            <p:cNvPr id="19" name="object 19"/>
            <p:cNvSpPr/>
            <p:nvPr/>
          </p:nvSpPr>
          <p:spPr>
            <a:xfrm>
              <a:off x="6342414" y="4028168"/>
              <a:ext cx="394335" cy="102870"/>
            </a:xfrm>
            <a:custGeom>
              <a:avLst/>
              <a:gdLst/>
              <a:ahLst/>
              <a:cxnLst/>
              <a:rect l="l" t="t" r="r" b="b"/>
              <a:pathLst>
                <a:path w="394334" h="102870">
                  <a:moveTo>
                    <a:pt x="394036" y="0"/>
                  </a:moveTo>
                  <a:lnTo>
                    <a:pt x="0" y="102541"/>
                  </a:lnTo>
                </a:path>
              </a:pathLst>
            </a:custGeom>
            <a:solidFill>
              <a:srgbClr val="C0C0C0">
                <a:alpha val="50199"/>
              </a:srgbClr>
            </a:solidFill>
          </p:spPr>
          <p:txBody>
            <a:bodyPr wrap="square" lIns="0" tIns="0" rIns="0" bIns="0" rtlCol="0"/>
            <a:lstStyle/>
            <a:p>
              <a:endParaRPr/>
            </a:p>
          </p:txBody>
        </p:sp>
        <p:sp>
          <p:nvSpPr>
            <p:cNvPr id="20" name="object 20"/>
            <p:cNvSpPr/>
            <p:nvPr/>
          </p:nvSpPr>
          <p:spPr>
            <a:xfrm>
              <a:off x="6342414" y="4028167"/>
              <a:ext cx="394335" cy="102870"/>
            </a:xfrm>
            <a:custGeom>
              <a:avLst/>
              <a:gdLst/>
              <a:ahLst/>
              <a:cxnLst/>
              <a:rect l="l" t="t" r="r" b="b"/>
              <a:pathLst>
                <a:path w="394334" h="102870">
                  <a:moveTo>
                    <a:pt x="0" y="102542"/>
                  </a:moveTo>
                  <a:lnTo>
                    <a:pt x="394037" y="0"/>
                  </a:lnTo>
                </a:path>
              </a:pathLst>
            </a:custGeom>
            <a:ln w="12700">
              <a:solidFill>
                <a:srgbClr val="000000"/>
              </a:solidFill>
            </a:ln>
          </p:spPr>
          <p:txBody>
            <a:bodyPr wrap="square" lIns="0" tIns="0" rIns="0" bIns="0" rtlCol="0"/>
            <a:lstStyle/>
            <a:p>
              <a:endParaRPr/>
            </a:p>
          </p:txBody>
        </p:sp>
        <p:sp>
          <p:nvSpPr>
            <p:cNvPr id="21" name="object 21"/>
            <p:cNvSpPr/>
            <p:nvPr/>
          </p:nvSpPr>
          <p:spPr>
            <a:xfrm>
              <a:off x="5225073" y="3393573"/>
              <a:ext cx="170815" cy="737235"/>
            </a:xfrm>
            <a:custGeom>
              <a:avLst/>
              <a:gdLst/>
              <a:ahLst/>
              <a:cxnLst/>
              <a:rect l="l" t="t" r="r" b="b"/>
              <a:pathLst>
                <a:path w="170814" h="737235">
                  <a:moveTo>
                    <a:pt x="0" y="0"/>
                  </a:moveTo>
                  <a:lnTo>
                    <a:pt x="170801" y="737137"/>
                  </a:lnTo>
                </a:path>
              </a:pathLst>
            </a:custGeom>
            <a:solidFill>
              <a:srgbClr val="C0C0C0">
                <a:alpha val="50199"/>
              </a:srgbClr>
            </a:solidFill>
          </p:spPr>
          <p:txBody>
            <a:bodyPr wrap="square" lIns="0" tIns="0" rIns="0" bIns="0" rtlCol="0"/>
            <a:lstStyle/>
            <a:p>
              <a:endParaRPr/>
            </a:p>
          </p:txBody>
        </p:sp>
        <p:sp>
          <p:nvSpPr>
            <p:cNvPr id="22" name="object 22"/>
            <p:cNvSpPr/>
            <p:nvPr/>
          </p:nvSpPr>
          <p:spPr>
            <a:xfrm>
              <a:off x="5225073" y="3393573"/>
              <a:ext cx="170815" cy="737235"/>
            </a:xfrm>
            <a:custGeom>
              <a:avLst/>
              <a:gdLst/>
              <a:ahLst/>
              <a:cxnLst/>
              <a:rect l="l" t="t" r="r" b="b"/>
              <a:pathLst>
                <a:path w="170814" h="737235">
                  <a:moveTo>
                    <a:pt x="0" y="0"/>
                  </a:moveTo>
                  <a:lnTo>
                    <a:pt x="170801" y="737137"/>
                  </a:lnTo>
                </a:path>
              </a:pathLst>
            </a:custGeom>
            <a:ln w="9525">
              <a:solidFill>
                <a:srgbClr val="000000"/>
              </a:solidFill>
            </a:ln>
          </p:spPr>
          <p:txBody>
            <a:bodyPr wrap="square" lIns="0" tIns="0" rIns="0" bIns="0" rtlCol="0"/>
            <a:lstStyle/>
            <a:p>
              <a:endParaRPr/>
            </a:p>
          </p:txBody>
        </p:sp>
        <p:sp>
          <p:nvSpPr>
            <p:cNvPr id="23" name="object 23"/>
            <p:cNvSpPr/>
            <p:nvPr/>
          </p:nvSpPr>
          <p:spPr>
            <a:xfrm>
              <a:off x="5395873" y="3931582"/>
              <a:ext cx="946785" cy="398780"/>
            </a:xfrm>
            <a:custGeom>
              <a:avLst/>
              <a:gdLst/>
              <a:ahLst/>
              <a:cxnLst/>
              <a:rect l="l" t="t" r="r" b="b"/>
              <a:pathLst>
                <a:path w="946785" h="398779">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24" name="object 24"/>
            <p:cNvSpPr/>
            <p:nvPr/>
          </p:nvSpPr>
          <p:spPr>
            <a:xfrm>
              <a:off x="5395873" y="3931582"/>
              <a:ext cx="946785" cy="398780"/>
            </a:xfrm>
            <a:custGeom>
              <a:avLst/>
              <a:gdLst/>
              <a:ahLst/>
              <a:cxnLst/>
              <a:rect l="l" t="t" r="r" b="b"/>
              <a:pathLst>
                <a:path w="946785"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25" name="object 25"/>
          <p:cNvSpPr txBox="1"/>
          <p:nvPr/>
        </p:nvSpPr>
        <p:spPr>
          <a:xfrm>
            <a:off x="7073263" y="4042834"/>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grpSp>
        <p:nvGrpSpPr>
          <p:cNvPr id="26" name="object 26"/>
          <p:cNvGrpSpPr/>
          <p:nvPr/>
        </p:nvGrpSpPr>
        <p:grpSpPr>
          <a:xfrm>
            <a:off x="8675602" y="2814051"/>
            <a:ext cx="871855" cy="408305"/>
            <a:chOff x="7151601" y="2814050"/>
            <a:chExt cx="871855" cy="408305"/>
          </a:xfrm>
        </p:grpSpPr>
        <p:sp>
          <p:nvSpPr>
            <p:cNvPr id="27" name="object 27"/>
            <p:cNvSpPr/>
            <p:nvPr/>
          </p:nvSpPr>
          <p:spPr>
            <a:xfrm>
              <a:off x="7156363" y="2818813"/>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28" name="object 28"/>
            <p:cNvSpPr/>
            <p:nvPr/>
          </p:nvSpPr>
          <p:spPr>
            <a:xfrm>
              <a:off x="7156363" y="2818813"/>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29" name="object 29"/>
          <p:cNvSpPr txBox="1"/>
          <p:nvPr/>
        </p:nvSpPr>
        <p:spPr>
          <a:xfrm>
            <a:off x="8911435" y="2925234"/>
            <a:ext cx="40259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location</a:t>
            </a:r>
            <a:endParaRPr sz="900">
              <a:latin typeface="Calibri"/>
              <a:cs typeface="Calibri"/>
            </a:endParaRPr>
          </a:p>
        </p:txBody>
      </p:sp>
      <p:grpSp>
        <p:nvGrpSpPr>
          <p:cNvPr id="30" name="object 30"/>
          <p:cNvGrpSpPr/>
          <p:nvPr/>
        </p:nvGrpSpPr>
        <p:grpSpPr>
          <a:xfrm>
            <a:off x="6744310" y="3212305"/>
            <a:ext cx="2372360" cy="650875"/>
            <a:chOff x="5220310" y="3212304"/>
            <a:chExt cx="2372360" cy="650875"/>
          </a:xfrm>
        </p:grpSpPr>
        <p:sp>
          <p:nvSpPr>
            <p:cNvPr id="31" name="object 31"/>
            <p:cNvSpPr/>
            <p:nvPr/>
          </p:nvSpPr>
          <p:spPr>
            <a:xfrm>
              <a:off x="7280992" y="3217067"/>
              <a:ext cx="306705" cy="641350"/>
            </a:xfrm>
            <a:custGeom>
              <a:avLst/>
              <a:gdLst/>
              <a:ahLst/>
              <a:cxnLst/>
              <a:rect l="l" t="t" r="r" b="b"/>
              <a:pathLst>
                <a:path w="306704" h="641350">
                  <a:moveTo>
                    <a:pt x="306467" y="0"/>
                  </a:moveTo>
                  <a:lnTo>
                    <a:pt x="0" y="641134"/>
                  </a:lnTo>
                </a:path>
              </a:pathLst>
            </a:custGeom>
            <a:solidFill>
              <a:srgbClr val="C0C0C0">
                <a:alpha val="50199"/>
              </a:srgbClr>
            </a:solidFill>
          </p:spPr>
          <p:txBody>
            <a:bodyPr wrap="square" lIns="0" tIns="0" rIns="0" bIns="0" rtlCol="0"/>
            <a:lstStyle/>
            <a:p>
              <a:endParaRPr/>
            </a:p>
          </p:txBody>
        </p:sp>
        <p:sp>
          <p:nvSpPr>
            <p:cNvPr id="32" name="object 32"/>
            <p:cNvSpPr/>
            <p:nvPr/>
          </p:nvSpPr>
          <p:spPr>
            <a:xfrm>
              <a:off x="7280992" y="3217067"/>
              <a:ext cx="306705" cy="641350"/>
            </a:xfrm>
            <a:custGeom>
              <a:avLst/>
              <a:gdLst/>
              <a:ahLst/>
              <a:cxnLst/>
              <a:rect l="l" t="t" r="r" b="b"/>
              <a:pathLst>
                <a:path w="306704" h="641350">
                  <a:moveTo>
                    <a:pt x="306467" y="0"/>
                  </a:moveTo>
                  <a:lnTo>
                    <a:pt x="0" y="641135"/>
                  </a:lnTo>
                </a:path>
              </a:pathLst>
            </a:custGeom>
            <a:ln w="9525">
              <a:solidFill>
                <a:srgbClr val="000000"/>
              </a:solidFill>
            </a:ln>
          </p:spPr>
          <p:txBody>
            <a:bodyPr wrap="square" lIns="0" tIns="0" rIns="0" bIns="0" rtlCol="0"/>
            <a:lstStyle/>
            <a:p>
              <a:endParaRPr/>
            </a:p>
          </p:txBody>
        </p:sp>
        <p:sp>
          <p:nvSpPr>
            <p:cNvPr id="33" name="object 33"/>
            <p:cNvSpPr/>
            <p:nvPr/>
          </p:nvSpPr>
          <p:spPr>
            <a:xfrm>
              <a:off x="5225073" y="3393573"/>
              <a:ext cx="170815" cy="199390"/>
            </a:xfrm>
            <a:custGeom>
              <a:avLst/>
              <a:gdLst/>
              <a:ahLst/>
              <a:cxnLst/>
              <a:rect l="l" t="t" r="r" b="b"/>
              <a:pathLst>
                <a:path w="170814" h="199389">
                  <a:moveTo>
                    <a:pt x="0" y="0"/>
                  </a:moveTo>
                  <a:lnTo>
                    <a:pt x="170801" y="199127"/>
                  </a:lnTo>
                </a:path>
              </a:pathLst>
            </a:custGeom>
            <a:solidFill>
              <a:srgbClr val="C0C0C0">
                <a:alpha val="50199"/>
              </a:srgbClr>
            </a:solidFill>
          </p:spPr>
          <p:txBody>
            <a:bodyPr wrap="square" lIns="0" tIns="0" rIns="0" bIns="0" rtlCol="0"/>
            <a:lstStyle/>
            <a:p>
              <a:endParaRPr/>
            </a:p>
          </p:txBody>
        </p:sp>
        <p:sp>
          <p:nvSpPr>
            <p:cNvPr id="34" name="object 34"/>
            <p:cNvSpPr/>
            <p:nvPr/>
          </p:nvSpPr>
          <p:spPr>
            <a:xfrm>
              <a:off x="5225073" y="3393573"/>
              <a:ext cx="170815" cy="199390"/>
            </a:xfrm>
            <a:custGeom>
              <a:avLst/>
              <a:gdLst/>
              <a:ahLst/>
              <a:cxnLst/>
              <a:rect l="l" t="t" r="r" b="b"/>
              <a:pathLst>
                <a:path w="170814" h="199389">
                  <a:moveTo>
                    <a:pt x="0" y="0"/>
                  </a:moveTo>
                  <a:lnTo>
                    <a:pt x="170801" y="199127"/>
                  </a:lnTo>
                </a:path>
              </a:pathLst>
            </a:custGeom>
            <a:ln w="9525">
              <a:solidFill>
                <a:srgbClr val="000000"/>
              </a:solidFill>
            </a:ln>
          </p:spPr>
          <p:txBody>
            <a:bodyPr wrap="square" lIns="0" tIns="0" rIns="0" bIns="0" rtlCol="0"/>
            <a:lstStyle/>
            <a:p>
              <a:endParaRPr/>
            </a:p>
          </p:txBody>
        </p:sp>
        <p:sp>
          <p:nvSpPr>
            <p:cNvPr id="35" name="object 35"/>
            <p:cNvSpPr/>
            <p:nvPr/>
          </p:nvSpPr>
          <p:spPr>
            <a:xfrm>
              <a:off x="5395873" y="3393573"/>
              <a:ext cx="946785" cy="398780"/>
            </a:xfrm>
            <a:custGeom>
              <a:avLst/>
              <a:gdLst/>
              <a:ahLst/>
              <a:cxnLst/>
              <a:rect l="l" t="t" r="r" b="b"/>
              <a:pathLst>
                <a:path w="946785" h="398779">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36" name="object 36"/>
            <p:cNvSpPr/>
            <p:nvPr/>
          </p:nvSpPr>
          <p:spPr>
            <a:xfrm>
              <a:off x="5395873" y="3393573"/>
              <a:ext cx="946785" cy="398780"/>
            </a:xfrm>
            <a:custGeom>
              <a:avLst/>
              <a:gdLst/>
              <a:ahLst/>
              <a:cxnLst/>
              <a:rect l="l" t="t" r="r" b="b"/>
              <a:pathLst>
                <a:path w="946785"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37" name="object 37"/>
          <p:cNvSpPr txBox="1"/>
          <p:nvPr/>
        </p:nvSpPr>
        <p:spPr>
          <a:xfrm>
            <a:off x="2847324" y="4779433"/>
            <a:ext cx="1535430" cy="1173480"/>
          </a:xfrm>
          <a:prstGeom prst="rect">
            <a:avLst/>
          </a:prstGeom>
        </p:spPr>
        <p:txBody>
          <a:bodyPr vert="horz" wrap="square" lIns="0" tIns="16510" rIns="0" bIns="0" rtlCol="0">
            <a:spAutoFit/>
          </a:bodyPr>
          <a:lstStyle/>
          <a:p>
            <a:pPr marL="12700" marR="5080">
              <a:spcBef>
                <a:spcPts val="130"/>
              </a:spcBef>
            </a:pPr>
            <a:r>
              <a:rPr sz="1500" b="1" u="heavy" spc="-30">
                <a:uFill>
                  <a:solidFill>
                    <a:srgbClr val="000000"/>
                  </a:solidFill>
                </a:uFill>
                <a:latin typeface="Calibri"/>
                <a:cs typeface="Calibri"/>
              </a:rPr>
              <a:t>Teams</a:t>
            </a:r>
            <a:r>
              <a:rPr sz="1500" b="1" spc="-30">
                <a:latin typeface="Calibri"/>
                <a:cs typeface="Calibri"/>
              </a:rPr>
              <a:t> </a:t>
            </a:r>
            <a:r>
              <a:rPr sz="1500" spc="-5">
                <a:latin typeface="Calibri"/>
                <a:cs typeface="Calibri"/>
              </a:rPr>
              <a:t>play </a:t>
            </a:r>
            <a:r>
              <a:rPr sz="1500">
                <a:latin typeface="Calibri"/>
                <a:cs typeface="Calibri"/>
              </a:rPr>
              <a:t>each </a:t>
            </a:r>
            <a:r>
              <a:rPr sz="1500" spc="5">
                <a:latin typeface="Calibri"/>
                <a:cs typeface="Calibri"/>
              </a:rPr>
              <a:t> </a:t>
            </a:r>
            <a:r>
              <a:rPr sz="1500" spc="-5">
                <a:latin typeface="Calibri"/>
                <a:cs typeface="Calibri"/>
              </a:rPr>
              <a:t>other </a:t>
            </a:r>
            <a:r>
              <a:rPr sz="1500" spc="10">
                <a:latin typeface="Calibri"/>
                <a:cs typeface="Calibri"/>
              </a:rPr>
              <a:t>in </a:t>
            </a:r>
            <a:r>
              <a:rPr sz="1500" b="1" u="heavy" spc="-5">
                <a:uFill>
                  <a:solidFill>
                    <a:srgbClr val="000000"/>
                  </a:solidFill>
                </a:uFill>
                <a:latin typeface="Calibri"/>
                <a:cs typeface="Calibri"/>
              </a:rPr>
              <a:t>Games</a:t>
            </a:r>
            <a:r>
              <a:rPr sz="1500" spc="-5">
                <a:latin typeface="Calibri"/>
                <a:cs typeface="Calibri"/>
              </a:rPr>
              <a:t>. </a:t>
            </a:r>
            <a:r>
              <a:rPr sz="1500">
                <a:latin typeface="Calibri"/>
                <a:cs typeface="Calibri"/>
              </a:rPr>
              <a:t> </a:t>
            </a:r>
            <a:r>
              <a:rPr sz="1500" spc="-5">
                <a:latin typeface="Calibri"/>
                <a:cs typeface="Calibri"/>
              </a:rPr>
              <a:t>Each </a:t>
            </a:r>
            <a:r>
              <a:rPr sz="1500">
                <a:latin typeface="Calibri"/>
                <a:cs typeface="Calibri"/>
              </a:rPr>
              <a:t>pair of </a:t>
            </a:r>
            <a:r>
              <a:rPr sz="1500" spc="-5">
                <a:latin typeface="Calibri"/>
                <a:cs typeface="Calibri"/>
              </a:rPr>
              <a:t>teams </a:t>
            </a:r>
            <a:r>
              <a:rPr sz="1500">
                <a:latin typeface="Calibri"/>
                <a:cs typeface="Calibri"/>
              </a:rPr>
              <a:t> </a:t>
            </a:r>
            <a:r>
              <a:rPr sz="1500" spc="-5">
                <a:latin typeface="Calibri"/>
                <a:cs typeface="Calibri"/>
              </a:rPr>
              <a:t>can</a:t>
            </a:r>
            <a:r>
              <a:rPr sz="1500" spc="-40">
                <a:latin typeface="Calibri"/>
                <a:cs typeface="Calibri"/>
              </a:rPr>
              <a:t> </a:t>
            </a:r>
            <a:r>
              <a:rPr sz="1500" spc="-5">
                <a:latin typeface="Calibri"/>
                <a:cs typeface="Calibri"/>
              </a:rPr>
              <a:t>play</a:t>
            </a:r>
            <a:r>
              <a:rPr sz="1500" spc="-35">
                <a:latin typeface="Calibri"/>
                <a:cs typeface="Calibri"/>
              </a:rPr>
              <a:t> </a:t>
            </a:r>
            <a:r>
              <a:rPr sz="1500">
                <a:latin typeface="Calibri"/>
                <a:cs typeface="Calibri"/>
              </a:rPr>
              <a:t>each</a:t>
            </a:r>
            <a:r>
              <a:rPr sz="1500" spc="-40">
                <a:latin typeface="Calibri"/>
                <a:cs typeface="Calibri"/>
              </a:rPr>
              <a:t> </a:t>
            </a:r>
            <a:r>
              <a:rPr sz="1500" spc="-5">
                <a:latin typeface="Calibri"/>
                <a:cs typeface="Calibri"/>
              </a:rPr>
              <a:t>other </a:t>
            </a:r>
            <a:r>
              <a:rPr sz="1500" spc="-320">
                <a:latin typeface="Calibri"/>
                <a:cs typeface="Calibri"/>
              </a:rPr>
              <a:t> </a:t>
            </a:r>
            <a:r>
              <a:rPr sz="1500">
                <a:latin typeface="Calibri"/>
                <a:cs typeface="Calibri"/>
              </a:rPr>
              <a:t>multiple</a:t>
            </a:r>
            <a:r>
              <a:rPr sz="1500" spc="-30">
                <a:latin typeface="Calibri"/>
                <a:cs typeface="Calibri"/>
              </a:rPr>
              <a:t> </a:t>
            </a:r>
            <a:r>
              <a:rPr sz="1500">
                <a:latin typeface="Calibri"/>
                <a:cs typeface="Calibri"/>
              </a:rPr>
              <a:t>times</a:t>
            </a:r>
          </a:p>
        </p:txBody>
      </p:sp>
      <p:sp>
        <p:nvSpPr>
          <p:cNvPr id="38" name="object 38"/>
          <p:cNvSpPr txBox="1"/>
          <p:nvPr/>
        </p:nvSpPr>
        <p:spPr>
          <a:xfrm>
            <a:off x="7086756" y="3500967"/>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grpSp>
        <p:nvGrpSpPr>
          <p:cNvPr id="39" name="object 39"/>
          <p:cNvGrpSpPr/>
          <p:nvPr/>
        </p:nvGrpSpPr>
        <p:grpSpPr>
          <a:xfrm>
            <a:off x="7860064" y="3586351"/>
            <a:ext cx="407034" cy="448309"/>
            <a:chOff x="6336064" y="3586350"/>
            <a:chExt cx="407034" cy="448309"/>
          </a:xfrm>
        </p:grpSpPr>
        <p:sp>
          <p:nvSpPr>
            <p:cNvPr id="40" name="object 40"/>
            <p:cNvSpPr/>
            <p:nvPr/>
          </p:nvSpPr>
          <p:spPr>
            <a:xfrm>
              <a:off x="6342414" y="3592700"/>
              <a:ext cx="394335" cy="435609"/>
            </a:xfrm>
            <a:custGeom>
              <a:avLst/>
              <a:gdLst/>
              <a:ahLst/>
              <a:cxnLst/>
              <a:rect l="l" t="t" r="r" b="b"/>
              <a:pathLst>
                <a:path w="394334" h="435610">
                  <a:moveTo>
                    <a:pt x="0" y="0"/>
                  </a:moveTo>
                  <a:lnTo>
                    <a:pt x="394036" y="435467"/>
                  </a:lnTo>
                </a:path>
              </a:pathLst>
            </a:custGeom>
            <a:solidFill>
              <a:srgbClr val="C0C0C0">
                <a:alpha val="50199"/>
              </a:srgbClr>
            </a:solidFill>
          </p:spPr>
          <p:txBody>
            <a:bodyPr wrap="square" lIns="0" tIns="0" rIns="0" bIns="0" rtlCol="0"/>
            <a:lstStyle/>
            <a:p>
              <a:endParaRPr/>
            </a:p>
          </p:txBody>
        </p:sp>
        <p:sp>
          <p:nvSpPr>
            <p:cNvPr id="41" name="object 41"/>
            <p:cNvSpPr/>
            <p:nvPr/>
          </p:nvSpPr>
          <p:spPr>
            <a:xfrm>
              <a:off x="6342414" y="3592700"/>
              <a:ext cx="394335" cy="435609"/>
            </a:xfrm>
            <a:custGeom>
              <a:avLst/>
              <a:gdLst/>
              <a:ahLst/>
              <a:cxnLst/>
              <a:rect l="l" t="t" r="r" b="b"/>
              <a:pathLst>
                <a:path w="394334" h="435610">
                  <a:moveTo>
                    <a:pt x="0" y="0"/>
                  </a:moveTo>
                  <a:lnTo>
                    <a:pt x="394037" y="435468"/>
                  </a:lnTo>
                </a:path>
              </a:pathLst>
            </a:custGeom>
            <a:ln w="12700">
              <a:solidFill>
                <a:srgbClr val="000000"/>
              </a:solidFill>
            </a:ln>
          </p:spPr>
          <p:txBody>
            <a:bodyPr wrap="square" lIns="0" tIns="0" rIns="0" bIns="0" rtlCol="0"/>
            <a:lstStyle/>
            <a:p>
              <a:endParaRPr/>
            </a:p>
          </p:txBody>
        </p:sp>
      </p:grpSp>
      <p:grpSp>
        <p:nvGrpSpPr>
          <p:cNvPr id="42" name="object 42"/>
          <p:cNvGrpSpPr/>
          <p:nvPr/>
        </p:nvGrpSpPr>
        <p:grpSpPr>
          <a:xfrm>
            <a:off x="2387600" y="2286000"/>
            <a:ext cx="2413000" cy="1134745"/>
            <a:chOff x="863600" y="2285999"/>
            <a:chExt cx="2413000" cy="1134745"/>
          </a:xfrm>
        </p:grpSpPr>
        <p:pic>
          <p:nvPicPr>
            <p:cNvPr id="43" name="object 43"/>
            <p:cNvPicPr/>
            <p:nvPr/>
          </p:nvPicPr>
          <p:blipFill>
            <a:blip r:embed="rId2" cstate="print"/>
            <a:stretch>
              <a:fillRect/>
            </a:stretch>
          </p:blipFill>
          <p:spPr>
            <a:xfrm>
              <a:off x="905933" y="2311399"/>
              <a:ext cx="2370667" cy="1032933"/>
            </a:xfrm>
            <a:prstGeom prst="rect">
              <a:avLst/>
            </a:prstGeom>
          </p:spPr>
        </p:pic>
        <p:pic>
          <p:nvPicPr>
            <p:cNvPr id="44" name="object 44"/>
            <p:cNvPicPr/>
            <p:nvPr/>
          </p:nvPicPr>
          <p:blipFill>
            <a:blip r:embed="rId3" cstate="print"/>
            <a:stretch>
              <a:fillRect/>
            </a:stretch>
          </p:blipFill>
          <p:spPr>
            <a:xfrm>
              <a:off x="863600" y="2285999"/>
              <a:ext cx="2184400" cy="1134533"/>
            </a:xfrm>
            <a:prstGeom prst="rect">
              <a:avLst/>
            </a:prstGeom>
          </p:spPr>
        </p:pic>
      </p:grpSp>
      <p:sp>
        <p:nvSpPr>
          <p:cNvPr id="45" name="object 45"/>
          <p:cNvSpPr txBox="1">
            <a:spLocks noGrp="1"/>
          </p:cNvSpPr>
          <p:nvPr>
            <p:ph type="title"/>
          </p:nvPr>
        </p:nvSpPr>
        <p:spPr>
          <a:xfrm>
            <a:off x="2475325" y="2387586"/>
            <a:ext cx="2257425" cy="856004"/>
          </a:xfrm>
          <a:prstGeom prst="rect">
            <a:avLst/>
          </a:prstGeom>
          <a:solidFill>
            <a:srgbClr val="E6E0EC"/>
          </a:solidFill>
        </p:spPr>
        <p:txBody>
          <a:bodyPr vert="horz" wrap="square" lIns="0" tIns="24765" rIns="0" bIns="0" rtlCol="0" anchor="ctr">
            <a:spAutoFit/>
          </a:bodyPr>
          <a:lstStyle/>
          <a:p>
            <a:pPr marL="90805" marR="403860">
              <a:lnSpc>
                <a:spcPct val="100299"/>
              </a:lnSpc>
              <a:spcBef>
                <a:spcPts val="195"/>
              </a:spcBef>
            </a:pPr>
            <a:r>
              <a:rPr sz="1800" spc="-10">
                <a:solidFill>
                  <a:srgbClr val="000000"/>
                </a:solidFill>
                <a:latin typeface="Calibri"/>
                <a:cs typeface="Calibri"/>
              </a:rPr>
              <a:t>Note two </a:t>
            </a:r>
            <a:r>
              <a:rPr sz="1800" spc="-5">
                <a:solidFill>
                  <a:srgbClr val="000000"/>
                </a:solidFill>
                <a:latin typeface="Calibri"/>
                <a:cs typeface="Calibri"/>
              </a:rPr>
              <a:t>copies </a:t>
            </a:r>
            <a:r>
              <a:rPr sz="1800">
                <a:solidFill>
                  <a:srgbClr val="000000"/>
                </a:solidFill>
                <a:latin typeface="Calibri"/>
                <a:cs typeface="Calibri"/>
              </a:rPr>
              <a:t>of </a:t>
            </a:r>
            <a:r>
              <a:rPr sz="1800" spc="-395">
                <a:solidFill>
                  <a:srgbClr val="000000"/>
                </a:solidFill>
                <a:latin typeface="Calibri"/>
                <a:cs typeface="Calibri"/>
              </a:rPr>
              <a:t> </a:t>
            </a:r>
            <a:r>
              <a:rPr sz="1800">
                <a:solidFill>
                  <a:srgbClr val="000000"/>
                </a:solidFill>
                <a:latin typeface="Calibri"/>
                <a:cs typeface="Calibri"/>
              </a:rPr>
              <a:t>the</a:t>
            </a:r>
            <a:r>
              <a:rPr sz="1800" spc="-10">
                <a:solidFill>
                  <a:srgbClr val="000000"/>
                </a:solidFill>
                <a:latin typeface="Calibri"/>
                <a:cs typeface="Calibri"/>
              </a:rPr>
              <a:t> </a:t>
            </a:r>
            <a:r>
              <a:rPr sz="1800" spc="-35">
                <a:solidFill>
                  <a:srgbClr val="000000"/>
                </a:solidFill>
                <a:latin typeface="Calibri"/>
                <a:cs typeface="Calibri"/>
              </a:rPr>
              <a:t>Teams</a:t>
            </a:r>
            <a:r>
              <a:rPr sz="1800" spc="-15">
                <a:solidFill>
                  <a:srgbClr val="000000"/>
                </a:solidFill>
                <a:latin typeface="Calibri"/>
                <a:cs typeface="Calibri"/>
              </a:rPr>
              <a:t> </a:t>
            </a:r>
            <a:r>
              <a:rPr sz="1800" spc="-5">
                <a:solidFill>
                  <a:srgbClr val="000000"/>
                </a:solidFill>
                <a:latin typeface="Calibri"/>
                <a:cs typeface="Calibri"/>
              </a:rPr>
              <a:t>entity </a:t>
            </a:r>
            <a:r>
              <a:rPr sz="1800">
                <a:solidFill>
                  <a:srgbClr val="000000"/>
                </a:solidFill>
                <a:latin typeface="Calibri"/>
                <a:cs typeface="Calibri"/>
              </a:rPr>
              <a:t> </a:t>
            </a:r>
            <a:r>
              <a:rPr sz="1800" spc="-10">
                <a:solidFill>
                  <a:srgbClr val="000000"/>
                </a:solidFill>
                <a:latin typeface="Calibri"/>
                <a:cs typeface="Calibri"/>
              </a:rPr>
              <a:t>here!</a:t>
            </a:r>
            <a:endParaRPr sz="1800">
              <a:latin typeface="Calibri"/>
              <a:cs typeface="Calibri"/>
            </a:endParaRPr>
          </a:p>
        </p:txBody>
      </p:sp>
      <p:pic>
        <p:nvPicPr>
          <p:cNvPr id="46" name="object 46"/>
          <p:cNvPicPr/>
          <p:nvPr/>
        </p:nvPicPr>
        <p:blipFill>
          <a:blip r:embed="rId4" cstate="print"/>
          <a:stretch>
            <a:fillRect/>
          </a:stretch>
        </p:blipFill>
        <p:spPr>
          <a:xfrm>
            <a:off x="2751667" y="3750732"/>
            <a:ext cx="1464733" cy="999066"/>
          </a:xfrm>
          <a:prstGeom prst="rect">
            <a:avLst/>
          </a:prstGeom>
        </p:spPr>
      </p:pic>
      <p:sp>
        <p:nvSpPr>
          <p:cNvPr id="47" name="Slide Number Placeholder 46">
            <a:extLst>
              <a:ext uri="{FF2B5EF4-FFF2-40B4-BE49-F238E27FC236}">
                <a16:creationId xmlns:a16="http://schemas.microsoft.com/office/drawing/2014/main" id="{C6EE3A5D-5701-492C-BB94-526F7AADA0CA}"/>
              </a:ext>
            </a:extLst>
          </p:cNvPr>
          <p:cNvSpPr>
            <a:spLocks noGrp="1"/>
          </p:cNvSpPr>
          <p:nvPr>
            <p:ph type="sldNum" sz="quarter" idx="12"/>
          </p:nvPr>
        </p:nvSpPr>
        <p:spPr/>
        <p:txBody>
          <a:bodyPr/>
          <a:lstStyle/>
          <a:p>
            <a:fld id="{641C0F02-33DC-3A41-9F51-431B7FE03ABE}"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21382" y="2214834"/>
            <a:ext cx="726440" cy="223138"/>
          </a:xfrm>
          <a:prstGeom prst="rect">
            <a:avLst/>
          </a:prstGeom>
          <a:solidFill>
            <a:srgbClr val="F2DCDB"/>
          </a:solidFill>
          <a:ln w="9525">
            <a:solidFill>
              <a:srgbClr val="000000"/>
            </a:solidFill>
          </a:ln>
        </p:spPr>
        <p:txBody>
          <a:bodyPr vert="horz" wrap="square" lIns="0" tIns="83820" rIns="0" bIns="0" rtlCol="0">
            <a:spAutoFit/>
          </a:bodyPr>
          <a:lstStyle/>
          <a:p>
            <a:pPr marL="196215">
              <a:spcBef>
                <a:spcPts val="660"/>
              </a:spcBef>
            </a:pPr>
            <a:r>
              <a:rPr sz="900">
                <a:latin typeface="Calibri"/>
                <a:cs typeface="Calibri"/>
              </a:rPr>
              <a:t>Players</a:t>
            </a:r>
          </a:p>
        </p:txBody>
      </p:sp>
      <p:grpSp>
        <p:nvGrpSpPr>
          <p:cNvPr id="3" name="object 3"/>
          <p:cNvGrpSpPr/>
          <p:nvPr/>
        </p:nvGrpSpPr>
        <p:grpSpPr>
          <a:xfrm>
            <a:off x="2611151" y="1533398"/>
            <a:ext cx="871855" cy="408305"/>
            <a:chOff x="1087150" y="1533397"/>
            <a:chExt cx="871855" cy="408305"/>
          </a:xfrm>
        </p:grpSpPr>
        <p:sp>
          <p:nvSpPr>
            <p:cNvPr id="4" name="object 4"/>
            <p:cNvSpPr/>
            <p:nvPr/>
          </p:nvSpPr>
          <p:spPr>
            <a:xfrm>
              <a:off x="1091913" y="1538160"/>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5" name="object 5"/>
            <p:cNvSpPr/>
            <p:nvPr/>
          </p:nvSpPr>
          <p:spPr>
            <a:xfrm>
              <a:off x="1091913" y="1538160"/>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6" name="object 6"/>
          <p:cNvSpPr txBox="1"/>
          <p:nvPr/>
        </p:nvSpPr>
        <p:spPr>
          <a:xfrm>
            <a:off x="2902546" y="1646767"/>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grpSp>
        <p:nvGrpSpPr>
          <p:cNvPr id="7" name="object 7"/>
          <p:cNvGrpSpPr/>
          <p:nvPr/>
        </p:nvGrpSpPr>
        <p:grpSpPr>
          <a:xfrm>
            <a:off x="3042249" y="1931652"/>
            <a:ext cx="2419985" cy="444500"/>
            <a:chOff x="1518248" y="1931652"/>
            <a:chExt cx="2419985" cy="444500"/>
          </a:xfrm>
        </p:grpSpPr>
        <p:sp>
          <p:nvSpPr>
            <p:cNvPr id="8" name="object 8"/>
            <p:cNvSpPr/>
            <p:nvPr/>
          </p:nvSpPr>
          <p:spPr>
            <a:xfrm>
              <a:off x="1523010" y="1936414"/>
              <a:ext cx="737870" cy="278765"/>
            </a:xfrm>
            <a:custGeom>
              <a:avLst/>
              <a:gdLst/>
              <a:ahLst/>
              <a:cxnLst/>
              <a:rect l="l" t="t" r="r" b="b"/>
              <a:pathLst>
                <a:path w="737869" h="278764">
                  <a:moveTo>
                    <a:pt x="0" y="0"/>
                  </a:moveTo>
                  <a:lnTo>
                    <a:pt x="737402" y="278420"/>
                  </a:lnTo>
                </a:path>
              </a:pathLst>
            </a:custGeom>
            <a:solidFill>
              <a:srgbClr val="C0C0C0">
                <a:alpha val="50199"/>
              </a:srgbClr>
            </a:solidFill>
          </p:spPr>
          <p:txBody>
            <a:bodyPr wrap="square" lIns="0" tIns="0" rIns="0" bIns="0" rtlCol="0"/>
            <a:lstStyle/>
            <a:p>
              <a:endParaRPr/>
            </a:p>
          </p:txBody>
        </p:sp>
        <p:sp>
          <p:nvSpPr>
            <p:cNvPr id="9" name="object 9"/>
            <p:cNvSpPr/>
            <p:nvPr/>
          </p:nvSpPr>
          <p:spPr>
            <a:xfrm>
              <a:off x="1523010" y="1936414"/>
              <a:ext cx="737870" cy="278765"/>
            </a:xfrm>
            <a:custGeom>
              <a:avLst/>
              <a:gdLst/>
              <a:ahLst/>
              <a:cxnLst/>
              <a:rect l="l" t="t" r="r" b="b"/>
              <a:pathLst>
                <a:path w="737869" h="278764">
                  <a:moveTo>
                    <a:pt x="0" y="0"/>
                  </a:moveTo>
                  <a:lnTo>
                    <a:pt x="737402" y="278420"/>
                  </a:lnTo>
                </a:path>
              </a:pathLst>
            </a:custGeom>
            <a:ln w="9525">
              <a:solidFill>
                <a:srgbClr val="000000"/>
              </a:solidFill>
            </a:ln>
          </p:spPr>
          <p:txBody>
            <a:bodyPr wrap="square" lIns="0" tIns="0" rIns="0" bIns="0" rtlCol="0"/>
            <a:lstStyle/>
            <a:p>
              <a:endParaRPr/>
            </a:p>
          </p:txBody>
        </p:sp>
        <p:sp>
          <p:nvSpPr>
            <p:cNvPr id="10" name="object 10"/>
            <p:cNvSpPr/>
            <p:nvPr/>
          </p:nvSpPr>
          <p:spPr>
            <a:xfrm>
              <a:off x="2623440" y="2148459"/>
              <a:ext cx="363220" cy="221615"/>
            </a:xfrm>
            <a:custGeom>
              <a:avLst/>
              <a:gdLst/>
              <a:ahLst/>
              <a:cxnLst/>
              <a:rect l="l" t="t" r="r" b="b"/>
              <a:pathLst>
                <a:path w="363219" h="221614">
                  <a:moveTo>
                    <a:pt x="363029" y="0"/>
                  </a:moveTo>
                  <a:lnTo>
                    <a:pt x="0" y="221251"/>
                  </a:lnTo>
                </a:path>
              </a:pathLst>
            </a:custGeom>
            <a:solidFill>
              <a:srgbClr val="C0C0C0">
                <a:alpha val="50199"/>
              </a:srgbClr>
            </a:solidFill>
          </p:spPr>
          <p:txBody>
            <a:bodyPr wrap="square" lIns="0" tIns="0" rIns="0" bIns="0" rtlCol="0"/>
            <a:lstStyle/>
            <a:p>
              <a:endParaRPr/>
            </a:p>
          </p:txBody>
        </p:sp>
        <p:sp>
          <p:nvSpPr>
            <p:cNvPr id="11" name="object 11"/>
            <p:cNvSpPr/>
            <p:nvPr/>
          </p:nvSpPr>
          <p:spPr>
            <a:xfrm>
              <a:off x="2623440" y="2148458"/>
              <a:ext cx="363220" cy="221615"/>
            </a:xfrm>
            <a:custGeom>
              <a:avLst/>
              <a:gdLst/>
              <a:ahLst/>
              <a:cxnLst/>
              <a:rect l="l" t="t" r="r" b="b"/>
              <a:pathLst>
                <a:path w="363219" h="221614">
                  <a:moveTo>
                    <a:pt x="0" y="221252"/>
                  </a:moveTo>
                  <a:lnTo>
                    <a:pt x="363029" y="0"/>
                  </a:lnTo>
                </a:path>
              </a:pathLst>
            </a:custGeom>
            <a:ln w="12700">
              <a:solidFill>
                <a:srgbClr val="000000"/>
              </a:solidFill>
            </a:ln>
          </p:spPr>
          <p:txBody>
            <a:bodyPr wrap="square" lIns="0" tIns="0" rIns="0" bIns="0" rtlCol="0"/>
            <a:lstStyle/>
            <a:p>
              <a:endParaRPr/>
            </a:p>
          </p:txBody>
        </p:sp>
        <p:sp>
          <p:nvSpPr>
            <p:cNvPr id="12" name="object 12"/>
            <p:cNvSpPr/>
            <p:nvPr/>
          </p:nvSpPr>
          <p:spPr>
            <a:xfrm>
              <a:off x="2986468" y="1949331"/>
              <a:ext cx="946785" cy="398780"/>
            </a:xfrm>
            <a:custGeom>
              <a:avLst/>
              <a:gdLst/>
              <a:ahLst/>
              <a:cxnLst/>
              <a:rect l="l" t="t" r="r" b="b"/>
              <a:pathLst>
                <a:path w="946785" h="398780">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13" name="object 13"/>
            <p:cNvSpPr/>
            <p:nvPr/>
          </p:nvSpPr>
          <p:spPr>
            <a:xfrm>
              <a:off x="2986468" y="1949331"/>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4713072" y="2061634"/>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grpSp>
        <p:nvGrpSpPr>
          <p:cNvPr id="15" name="object 15"/>
          <p:cNvGrpSpPr/>
          <p:nvPr/>
        </p:nvGrpSpPr>
        <p:grpSpPr>
          <a:xfrm>
            <a:off x="3579515" y="1533398"/>
            <a:ext cx="871855" cy="408305"/>
            <a:chOff x="2055514" y="1533397"/>
            <a:chExt cx="871855" cy="408305"/>
          </a:xfrm>
        </p:grpSpPr>
        <p:sp>
          <p:nvSpPr>
            <p:cNvPr id="16" name="object 16"/>
            <p:cNvSpPr/>
            <p:nvPr/>
          </p:nvSpPr>
          <p:spPr>
            <a:xfrm>
              <a:off x="2060276" y="1538160"/>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7" name="object 17"/>
            <p:cNvSpPr/>
            <p:nvPr/>
          </p:nvSpPr>
          <p:spPr>
            <a:xfrm>
              <a:off x="2060276" y="1538160"/>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3796298" y="1646767"/>
            <a:ext cx="441959"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P</a:t>
            </a:r>
            <a:r>
              <a:rPr sz="900" u="sng">
                <a:uFill>
                  <a:solidFill>
                    <a:srgbClr val="000000"/>
                  </a:solidFill>
                </a:uFill>
                <a:latin typeface="Calibri"/>
                <a:cs typeface="Calibri"/>
              </a:rPr>
              <a:t>l</a:t>
            </a:r>
            <a:r>
              <a:rPr sz="900" u="sng" spc="-10">
                <a:uFill>
                  <a:solidFill>
                    <a:srgbClr val="000000"/>
                  </a:solidFill>
                </a:uFill>
                <a:latin typeface="Calibri"/>
                <a:cs typeface="Calibri"/>
              </a:rPr>
              <a:t>a</a:t>
            </a:r>
            <a:r>
              <a:rPr sz="900" u="sng" spc="5">
                <a:uFill>
                  <a:solidFill>
                    <a:srgbClr val="000000"/>
                  </a:solidFill>
                </a:uFill>
                <a:latin typeface="Calibri"/>
                <a:cs typeface="Calibri"/>
              </a:rPr>
              <a:t>y</a:t>
            </a:r>
            <a:r>
              <a:rPr sz="900" u="sng">
                <a:uFill>
                  <a:solidFill>
                    <a:srgbClr val="000000"/>
                  </a:solidFill>
                </a:uFill>
                <a:latin typeface="Calibri"/>
                <a:cs typeface="Calibri"/>
              </a:rPr>
              <a:t>e</a:t>
            </a:r>
            <a:r>
              <a:rPr sz="900" u="sng" spc="10">
                <a:uFill>
                  <a:solidFill>
                    <a:srgbClr val="000000"/>
                  </a:solidFill>
                </a:uFill>
                <a:latin typeface="Calibri"/>
                <a:cs typeface="Calibri"/>
              </a:rPr>
              <a:t>r</a:t>
            </a:r>
            <a:r>
              <a:rPr sz="900" u="sng" spc="-20">
                <a:uFill>
                  <a:solidFill>
                    <a:srgbClr val="000000"/>
                  </a:solidFill>
                </a:uFill>
                <a:latin typeface="Calibri"/>
                <a:cs typeface="Calibri"/>
              </a:rPr>
              <a:t> </a:t>
            </a:r>
            <a:r>
              <a:rPr sz="900" u="sng" spc="-5">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19" name="object 19"/>
          <p:cNvGrpSpPr/>
          <p:nvPr/>
        </p:nvGrpSpPr>
        <p:grpSpPr>
          <a:xfrm>
            <a:off x="3779652" y="1931652"/>
            <a:ext cx="240665" cy="288290"/>
            <a:chOff x="2255651" y="1931652"/>
            <a:chExt cx="240665" cy="288290"/>
          </a:xfrm>
        </p:grpSpPr>
        <p:sp>
          <p:nvSpPr>
            <p:cNvPr id="20" name="object 20"/>
            <p:cNvSpPr/>
            <p:nvPr/>
          </p:nvSpPr>
          <p:spPr>
            <a:xfrm>
              <a:off x="2260413" y="1936414"/>
              <a:ext cx="231140" cy="278765"/>
            </a:xfrm>
            <a:custGeom>
              <a:avLst/>
              <a:gdLst/>
              <a:ahLst/>
              <a:cxnLst/>
              <a:rect l="l" t="t" r="r" b="b"/>
              <a:pathLst>
                <a:path w="231139" h="278764">
                  <a:moveTo>
                    <a:pt x="230962" y="0"/>
                  </a:moveTo>
                  <a:lnTo>
                    <a:pt x="0" y="278420"/>
                  </a:lnTo>
                </a:path>
              </a:pathLst>
            </a:custGeom>
            <a:solidFill>
              <a:srgbClr val="C0C0C0">
                <a:alpha val="50199"/>
              </a:srgbClr>
            </a:solidFill>
          </p:spPr>
          <p:txBody>
            <a:bodyPr wrap="square" lIns="0" tIns="0" rIns="0" bIns="0" rtlCol="0"/>
            <a:lstStyle/>
            <a:p>
              <a:endParaRPr/>
            </a:p>
          </p:txBody>
        </p:sp>
        <p:sp>
          <p:nvSpPr>
            <p:cNvPr id="21" name="object 21"/>
            <p:cNvSpPr/>
            <p:nvPr/>
          </p:nvSpPr>
          <p:spPr>
            <a:xfrm>
              <a:off x="2260413" y="1936414"/>
              <a:ext cx="231140" cy="278765"/>
            </a:xfrm>
            <a:custGeom>
              <a:avLst/>
              <a:gdLst/>
              <a:ahLst/>
              <a:cxnLst/>
              <a:rect l="l" t="t" r="r" b="b"/>
              <a:pathLst>
                <a:path w="231139" h="278764">
                  <a:moveTo>
                    <a:pt x="230962" y="0"/>
                  </a:moveTo>
                  <a:lnTo>
                    <a:pt x="0" y="278420"/>
                  </a:lnTo>
                </a:path>
              </a:pathLst>
            </a:custGeom>
            <a:ln w="9525">
              <a:solidFill>
                <a:srgbClr val="000000"/>
              </a:solidFill>
            </a:ln>
          </p:spPr>
          <p:txBody>
            <a:bodyPr wrap="square" lIns="0" tIns="0" rIns="0" bIns="0" rtlCol="0"/>
            <a:lstStyle/>
            <a:p>
              <a:endParaRPr/>
            </a:p>
          </p:txBody>
        </p:sp>
      </p:grpSp>
      <p:sp>
        <p:nvSpPr>
          <p:cNvPr id="22" name="object 22"/>
          <p:cNvSpPr txBox="1"/>
          <p:nvPr/>
        </p:nvSpPr>
        <p:spPr>
          <a:xfrm>
            <a:off x="2828058" y="4906433"/>
            <a:ext cx="1446530" cy="716280"/>
          </a:xfrm>
          <a:prstGeom prst="rect">
            <a:avLst/>
          </a:prstGeom>
        </p:spPr>
        <p:txBody>
          <a:bodyPr vert="horz" wrap="square" lIns="0" tIns="16510" rIns="0" bIns="0" rtlCol="0">
            <a:spAutoFit/>
          </a:bodyPr>
          <a:lstStyle/>
          <a:p>
            <a:pPr marL="12700" marR="5080">
              <a:spcBef>
                <a:spcPts val="130"/>
              </a:spcBef>
            </a:pPr>
            <a:r>
              <a:rPr sz="1500" b="1" u="heavy" spc="-15">
                <a:uFill>
                  <a:solidFill>
                    <a:srgbClr val="000000"/>
                  </a:solidFill>
                </a:uFill>
                <a:latin typeface="Calibri"/>
                <a:cs typeface="Calibri"/>
              </a:rPr>
              <a:t>Players</a:t>
            </a:r>
            <a:r>
              <a:rPr sz="1500" b="1" spc="-15">
                <a:latin typeface="Calibri"/>
                <a:cs typeface="Calibri"/>
              </a:rPr>
              <a:t> </a:t>
            </a:r>
            <a:r>
              <a:rPr sz="1500">
                <a:latin typeface="Calibri"/>
                <a:cs typeface="Calibri"/>
              </a:rPr>
              <a:t>belong </a:t>
            </a:r>
            <a:r>
              <a:rPr sz="1500" spc="-5">
                <a:latin typeface="Calibri"/>
                <a:cs typeface="Calibri"/>
              </a:rPr>
              <a:t>to </a:t>
            </a:r>
            <a:r>
              <a:rPr sz="1500">
                <a:latin typeface="Calibri"/>
                <a:cs typeface="Calibri"/>
              </a:rPr>
              <a:t> </a:t>
            </a:r>
            <a:r>
              <a:rPr sz="1500" spc="-30">
                <a:latin typeface="Calibri"/>
                <a:cs typeface="Calibri"/>
              </a:rPr>
              <a:t>Teams</a:t>
            </a:r>
            <a:r>
              <a:rPr sz="1500" spc="-40">
                <a:latin typeface="Calibri"/>
                <a:cs typeface="Calibri"/>
              </a:rPr>
              <a:t> </a:t>
            </a:r>
            <a:r>
              <a:rPr sz="1500" spc="-5">
                <a:latin typeface="Calibri"/>
                <a:cs typeface="Calibri"/>
              </a:rPr>
              <a:t>(assume</a:t>
            </a:r>
            <a:r>
              <a:rPr sz="1500" spc="-45">
                <a:latin typeface="Calibri"/>
                <a:cs typeface="Calibri"/>
              </a:rPr>
              <a:t> </a:t>
            </a:r>
            <a:r>
              <a:rPr sz="1500" spc="5">
                <a:latin typeface="Calibri"/>
                <a:cs typeface="Calibri"/>
              </a:rPr>
              <a:t>no </a:t>
            </a:r>
            <a:r>
              <a:rPr sz="1500" spc="-320">
                <a:latin typeface="Calibri"/>
                <a:cs typeface="Calibri"/>
              </a:rPr>
              <a:t> </a:t>
            </a:r>
            <a:r>
              <a:rPr sz="1500" spc="-10">
                <a:latin typeface="Calibri"/>
                <a:cs typeface="Calibri"/>
              </a:rPr>
              <a:t>trades</a:t>
            </a:r>
            <a:r>
              <a:rPr sz="1500" spc="-30">
                <a:latin typeface="Calibri"/>
                <a:cs typeface="Calibri"/>
              </a:rPr>
              <a:t> </a:t>
            </a:r>
            <a:r>
              <a:rPr sz="1500" spc="10">
                <a:latin typeface="Calibri"/>
                <a:cs typeface="Calibri"/>
              </a:rPr>
              <a:t>/</a:t>
            </a:r>
            <a:r>
              <a:rPr sz="1500" spc="-35">
                <a:latin typeface="Calibri"/>
                <a:cs typeface="Calibri"/>
              </a:rPr>
              <a:t> </a:t>
            </a:r>
            <a:r>
              <a:rPr sz="1500" spc="-5">
                <a:latin typeface="Calibri"/>
                <a:cs typeface="Calibri"/>
              </a:rPr>
              <a:t>changes)</a:t>
            </a:r>
            <a:endParaRPr sz="1500">
              <a:latin typeface="Calibri"/>
              <a:cs typeface="Calibri"/>
            </a:endParaRPr>
          </a:p>
        </p:txBody>
      </p:sp>
      <p:sp>
        <p:nvSpPr>
          <p:cNvPr id="23" name="object 23"/>
          <p:cNvSpPr txBox="1"/>
          <p:nvPr/>
        </p:nvSpPr>
        <p:spPr>
          <a:xfrm>
            <a:off x="8063896" y="2413961"/>
            <a:ext cx="1089660" cy="235962"/>
          </a:xfrm>
          <a:prstGeom prst="rect">
            <a:avLst/>
          </a:prstGeom>
          <a:solidFill>
            <a:srgbClr val="F2DCDB"/>
          </a:solidFill>
          <a:ln w="9525">
            <a:solidFill>
              <a:srgbClr val="000000"/>
            </a:solidFill>
          </a:ln>
        </p:spPr>
        <p:txBody>
          <a:bodyPr vert="horz" wrap="square" lIns="0" tIns="96520" rIns="0" bIns="0" rtlCol="0">
            <a:spAutoFit/>
          </a:bodyPr>
          <a:lstStyle/>
          <a:p>
            <a:pPr marL="1905" algn="ctr">
              <a:spcBef>
                <a:spcPts val="760"/>
              </a:spcBef>
            </a:pPr>
            <a:r>
              <a:rPr sz="900" spc="-5">
                <a:latin typeface="Calibri"/>
                <a:cs typeface="Calibri"/>
              </a:rPr>
              <a:t>Games</a:t>
            </a:r>
            <a:endParaRPr sz="900">
              <a:latin typeface="Calibri"/>
              <a:cs typeface="Calibri"/>
            </a:endParaRPr>
          </a:p>
        </p:txBody>
      </p:sp>
      <p:grpSp>
        <p:nvGrpSpPr>
          <p:cNvPr id="24" name="object 24"/>
          <p:cNvGrpSpPr/>
          <p:nvPr/>
        </p:nvGrpSpPr>
        <p:grpSpPr>
          <a:xfrm>
            <a:off x="7404803" y="1391440"/>
            <a:ext cx="871855" cy="408305"/>
            <a:chOff x="5880802" y="1391439"/>
            <a:chExt cx="871855" cy="408305"/>
          </a:xfrm>
        </p:grpSpPr>
        <p:sp>
          <p:nvSpPr>
            <p:cNvPr id="25" name="object 25"/>
            <p:cNvSpPr/>
            <p:nvPr/>
          </p:nvSpPr>
          <p:spPr>
            <a:xfrm>
              <a:off x="5885564" y="1396202"/>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26" name="object 26"/>
            <p:cNvSpPr/>
            <p:nvPr/>
          </p:nvSpPr>
          <p:spPr>
            <a:xfrm>
              <a:off x="5885564" y="1396202"/>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27" name="object 27"/>
          <p:cNvSpPr txBox="1"/>
          <p:nvPr/>
        </p:nvSpPr>
        <p:spPr>
          <a:xfrm>
            <a:off x="7723187" y="1502834"/>
            <a:ext cx="236854"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d</a:t>
            </a:r>
            <a:r>
              <a:rPr sz="900" u="sng" spc="-10">
                <a:uFill>
                  <a:solidFill>
                    <a:srgbClr val="000000"/>
                  </a:solidFill>
                </a:uFill>
                <a:latin typeface="Calibri"/>
                <a:cs typeface="Calibri"/>
              </a:rPr>
              <a:t>a</a:t>
            </a:r>
            <a:r>
              <a:rPr sz="900" u="sng" spc="-5">
                <a:uFill>
                  <a:solidFill>
                    <a:srgbClr val="000000"/>
                  </a:solidFill>
                </a:uFill>
                <a:latin typeface="Calibri"/>
                <a:cs typeface="Calibri"/>
              </a:rPr>
              <a:t>t</a:t>
            </a:r>
            <a:r>
              <a:rPr sz="900" u="sng" spc="15">
                <a:uFill>
                  <a:solidFill>
                    <a:srgbClr val="000000"/>
                  </a:solidFill>
                </a:uFill>
                <a:latin typeface="Calibri"/>
                <a:cs typeface="Calibri"/>
              </a:rPr>
              <a:t>e</a:t>
            </a:r>
            <a:endParaRPr sz="900">
              <a:latin typeface="Calibri"/>
              <a:cs typeface="Calibri"/>
            </a:endParaRPr>
          </a:p>
        </p:txBody>
      </p:sp>
      <p:grpSp>
        <p:nvGrpSpPr>
          <p:cNvPr id="28" name="object 28"/>
          <p:cNvGrpSpPr/>
          <p:nvPr/>
        </p:nvGrpSpPr>
        <p:grpSpPr>
          <a:xfrm>
            <a:off x="7835901" y="1789695"/>
            <a:ext cx="777875" cy="629285"/>
            <a:chOff x="6311900" y="1789694"/>
            <a:chExt cx="777875" cy="629285"/>
          </a:xfrm>
        </p:grpSpPr>
        <p:sp>
          <p:nvSpPr>
            <p:cNvPr id="29" name="object 29"/>
            <p:cNvSpPr/>
            <p:nvPr/>
          </p:nvSpPr>
          <p:spPr>
            <a:xfrm>
              <a:off x="6316662" y="1794456"/>
              <a:ext cx="768350" cy="619760"/>
            </a:xfrm>
            <a:custGeom>
              <a:avLst/>
              <a:gdLst/>
              <a:ahLst/>
              <a:cxnLst/>
              <a:rect l="l" t="t" r="r" b="b"/>
              <a:pathLst>
                <a:path w="768350" h="619760">
                  <a:moveTo>
                    <a:pt x="0" y="0"/>
                  </a:moveTo>
                  <a:lnTo>
                    <a:pt x="767778" y="619504"/>
                  </a:lnTo>
                </a:path>
              </a:pathLst>
            </a:custGeom>
            <a:solidFill>
              <a:srgbClr val="C0C0C0">
                <a:alpha val="50199"/>
              </a:srgbClr>
            </a:solidFill>
          </p:spPr>
          <p:txBody>
            <a:bodyPr wrap="square" lIns="0" tIns="0" rIns="0" bIns="0" rtlCol="0"/>
            <a:lstStyle/>
            <a:p>
              <a:endParaRPr/>
            </a:p>
          </p:txBody>
        </p:sp>
        <p:sp>
          <p:nvSpPr>
            <p:cNvPr id="30" name="object 30"/>
            <p:cNvSpPr/>
            <p:nvPr/>
          </p:nvSpPr>
          <p:spPr>
            <a:xfrm>
              <a:off x="6316662" y="1794456"/>
              <a:ext cx="768350" cy="619760"/>
            </a:xfrm>
            <a:custGeom>
              <a:avLst/>
              <a:gdLst/>
              <a:ahLst/>
              <a:cxnLst/>
              <a:rect l="l" t="t" r="r" b="b"/>
              <a:pathLst>
                <a:path w="768350" h="619760">
                  <a:moveTo>
                    <a:pt x="0" y="0"/>
                  </a:moveTo>
                  <a:lnTo>
                    <a:pt x="767779" y="619505"/>
                  </a:lnTo>
                </a:path>
              </a:pathLst>
            </a:custGeom>
            <a:ln w="9525">
              <a:solidFill>
                <a:srgbClr val="000000"/>
              </a:solidFill>
            </a:ln>
          </p:spPr>
          <p:txBody>
            <a:bodyPr wrap="square" lIns="0" tIns="0" rIns="0" bIns="0" rtlCol="0"/>
            <a:lstStyle/>
            <a:p>
              <a:endParaRPr/>
            </a:p>
          </p:txBody>
        </p:sp>
      </p:grpSp>
      <p:sp>
        <p:nvSpPr>
          <p:cNvPr id="31" name="object 31"/>
          <p:cNvSpPr txBox="1"/>
          <p:nvPr/>
        </p:nvSpPr>
        <p:spPr>
          <a:xfrm>
            <a:off x="5826462" y="1794455"/>
            <a:ext cx="726440" cy="219932"/>
          </a:xfrm>
          <a:prstGeom prst="rect">
            <a:avLst/>
          </a:prstGeom>
          <a:solidFill>
            <a:srgbClr val="F2DCDB"/>
          </a:solidFill>
          <a:ln w="9525">
            <a:solidFill>
              <a:srgbClr val="000000"/>
            </a:solidFill>
          </a:ln>
        </p:spPr>
        <p:txBody>
          <a:bodyPr vert="horz" wrap="square" lIns="0" tIns="80645" rIns="0" bIns="0" rtlCol="0">
            <a:spAutoFit/>
          </a:bodyPr>
          <a:lstStyle/>
          <a:p>
            <a:pPr marL="210820">
              <a:spcBef>
                <a:spcPts val="635"/>
              </a:spcBef>
            </a:pPr>
            <a:r>
              <a:rPr sz="900" spc="-5">
                <a:latin typeface="Calibri"/>
                <a:cs typeface="Calibri"/>
              </a:rPr>
              <a:t>Teams</a:t>
            </a:r>
            <a:endParaRPr sz="900">
              <a:latin typeface="Calibri"/>
              <a:cs typeface="Calibri"/>
            </a:endParaRPr>
          </a:p>
        </p:txBody>
      </p:sp>
      <p:grpSp>
        <p:nvGrpSpPr>
          <p:cNvPr id="32" name="object 32"/>
          <p:cNvGrpSpPr/>
          <p:nvPr/>
        </p:nvGrpSpPr>
        <p:grpSpPr>
          <a:xfrm>
            <a:off x="5676402" y="1173740"/>
            <a:ext cx="871855" cy="408305"/>
            <a:chOff x="4152401" y="1173739"/>
            <a:chExt cx="871855" cy="408305"/>
          </a:xfrm>
        </p:grpSpPr>
        <p:sp>
          <p:nvSpPr>
            <p:cNvPr id="33" name="object 33"/>
            <p:cNvSpPr/>
            <p:nvPr/>
          </p:nvSpPr>
          <p:spPr>
            <a:xfrm>
              <a:off x="4157164" y="1178501"/>
              <a:ext cx="862330" cy="398780"/>
            </a:xfrm>
            <a:custGeom>
              <a:avLst/>
              <a:gdLst/>
              <a:ahLst/>
              <a:cxnLst/>
              <a:rect l="l" t="t" r="r" b="b"/>
              <a:pathLst>
                <a:path w="862329" h="398780">
                  <a:moveTo>
                    <a:pt x="431096" y="0"/>
                  </a:moveTo>
                  <a:lnTo>
                    <a:pt x="367392" y="2159"/>
                  </a:lnTo>
                  <a:lnTo>
                    <a:pt x="306590" y="8430"/>
                  </a:lnTo>
                  <a:lnTo>
                    <a:pt x="249357" y="18507"/>
                  </a:lnTo>
                  <a:lnTo>
                    <a:pt x="196360" y="32080"/>
                  </a:lnTo>
                  <a:lnTo>
                    <a:pt x="148265" y="48842"/>
                  </a:lnTo>
                  <a:lnTo>
                    <a:pt x="105741" y="68484"/>
                  </a:lnTo>
                  <a:lnTo>
                    <a:pt x="69452" y="90699"/>
                  </a:lnTo>
                  <a:lnTo>
                    <a:pt x="40067" y="115179"/>
                  </a:lnTo>
                  <a:lnTo>
                    <a:pt x="4674" y="169701"/>
                  </a:lnTo>
                  <a:lnTo>
                    <a:pt x="0" y="199127"/>
                  </a:lnTo>
                  <a:lnTo>
                    <a:pt x="4674" y="228552"/>
                  </a:lnTo>
                  <a:lnTo>
                    <a:pt x="40067" y="283073"/>
                  </a:lnTo>
                  <a:lnTo>
                    <a:pt x="69452" y="307553"/>
                  </a:lnTo>
                  <a:lnTo>
                    <a:pt x="105741" y="329768"/>
                  </a:lnTo>
                  <a:lnTo>
                    <a:pt x="148265" y="349410"/>
                  </a:lnTo>
                  <a:lnTo>
                    <a:pt x="196360" y="366172"/>
                  </a:lnTo>
                  <a:lnTo>
                    <a:pt x="249357" y="379745"/>
                  </a:lnTo>
                  <a:lnTo>
                    <a:pt x="306590" y="389822"/>
                  </a:lnTo>
                  <a:lnTo>
                    <a:pt x="367392" y="396093"/>
                  </a:lnTo>
                  <a:lnTo>
                    <a:pt x="431096" y="398252"/>
                  </a:lnTo>
                  <a:lnTo>
                    <a:pt x="494800" y="396093"/>
                  </a:lnTo>
                  <a:lnTo>
                    <a:pt x="555602" y="389822"/>
                  </a:lnTo>
                  <a:lnTo>
                    <a:pt x="612835" y="379745"/>
                  </a:lnTo>
                  <a:lnTo>
                    <a:pt x="665833" y="366172"/>
                  </a:lnTo>
                  <a:lnTo>
                    <a:pt x="713927" y="349410"/>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34" name="object 34"/>
            <p:cNvSpPr/>
            <p:nvPr/>
          </p:nvSpPr>
          <p:spPr>
            <a:xfrm>
              <a:off x="4157164" y="1178501"/>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35" name="object 35"/>
          <p:cNvSpPr txBox="1"/>
          <p:nvPr/>
        </p:nvSpPr>
        <p:spPr>
          <a:xfrm>
            <a:off x="5908267" y="1291167"/>
            <a:ext cx="41148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Te</a:t>
            </a:r>
            <a:r>
              <a:rPr sz="900" u="sng" spc="-10">
                <a:uFill>
                  <a:solidFill>
                    <a:srgbClr val="000000"/>
                  </a:solidFill>
                </a:uFill>
                <a:latin typeface="Calibri"/>
                <a:cs typeface="Calibri"/>
              </a:rPr>
              <a:t>a</a:t>
            </a:r>
            <a:r>
              <a:rPr sz="900" u="sng" spc="25">
                <a:uFill>
                  <a:solidFill>
                    <a:srgbClr val="000000"/>
                  </a:solidFill>
                </a:uFill>
                <a:latin typeface="Calibri"/>
                <a:cs typeface="Calibri"/>
              </a:rPr>
              <a:t>m</a:t>
            </a:r>
            <a:r>
              <a:rPr sz="900" u="sng" spc="-25">
                <a:uFill>
                  <a:solidFill>
                    <a:srgbClr val="000000"/>
                  </a:solidFill>
                </a:uFill>
                <a:latin typeface="Calibri"/>
                <a:cs typeface="Calibri"/>
              </a:rPr>
              <a:t> </a:t>
            </a:r>
            <a:r>
              <a:rPr sz="900" u="sng" spc="-10">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36" name="object 36"/>
          <p:cNvGrpSpPr/>
          <p:nvPr/>
        </p:nvGrpSpPr>
        <p:grpSpPr>
          <a:xfrm>
            <a:off x="6107502" y="1571991"/>
            <a:ext cx="86995" cy="227329"/>
            <a:chOff x="4583501" y="1571990"/>
            <a:chExt cx="86995" cy="227329"/>
          </a:xfrm>
        </p:grpSpPr>
        <p:sp>
          <p:nvSpPr>
            <p:cNvPr id="37" name="object 37"/>
            <p:cNvSpPr/>
            <p:nvPr/>
          </p:nvSpPr>
          <p:spPr>
            <a:xfrm>
              <a:off x="4588263" y="1576753"/>
              <a:ext cx="77470" cy="217804"/>
            </a:xfrm>
            <a:custGeom>
              <a:avLst/>
              <a:gdLst/>
              <a:ahLst/>
              <a:cxnLst/>
              <a:rect l="l" t="t" r="r" b="b"/>
              <a:pathLst>
                <a:path w="77470" h="217805">
                  <a:moveTo>
                    <a:pt x="0" y="0"/>
                  </a:moveTo>
                  <a:lnTo>
                    <a:pt x="77229" y="217702"/>
                  </a:lnTo>
                </a:path>
              </a:pathLst>
            </a:custGeom>
            <a:solidFill>
              <a:srgbClr val="C0C0C0">
                <a:alpha val="50199"/>
              </a:srgbClr>
            </a:solidFill>
          </p:spPr>
          <p:txBody>
            <a:bodyPr wrap="square" lIns="0" tIns="0" rIns="0" bIns="0" rtlCol="0"/>
            <a:lstStyle/>
            <a:p>
              <a:endParaRPr/>
            </a:p>
          </p:txBody>
        </p:sp>
        <p:sp>
          <p:nvSpPr>
            <p:cNvPr id="38" name="object 38"/>
            <p:cNvSpPr/>
            <p:nvPr/>
          </p:nvSpPr>
          <p:spPr>
            <a:xfrm>
              <a:off x="4588263" y="1576753"/>
              <a:ext cx="77470" cy="217804"/>
            </a:xfrm>
            <a:custGeom>
              <a:avLst/>
              <a:gdLst/>
              <a:ahLst/>
              <a:cxnLst/>
              <a:rect l="l" t="t" r="r" b="b"/>
              <a:pathLst>
                <a:path w="77470" h="217805">
                  <a:moveTo>
                    <a:pt x="0" y="0"/>
                  </a:moveTo>
                  <a:lnTo>
                    <a:pt x="77230" y="217703"/>
                  </a:lnTo>
                </a:path>
              </a:pathLst>
            </a:custGeom>
            <a:ln w="9525">
              <a:solidFill>
                <a:srgbClr val="000000"/>
              </a:solidFill>
            </a:ln>
          </p:spPr>
          <p:txBody>
            <a:bodyPr wrap="square" lIns="0" tIns="0" rIns="0" bIns="0" rtlCol="0"/>
            <a:lstStyle/>
            <a:p>
              <a:endParaRPr/>
            </a:p>
          </p:txBody>
        </p:sp>
      </p:grpSp>
      <p:grpSp>
        <p:nvGrpSpPr>
          <p:cNvPr id="39" name="object 39"/>
          <p:cNvGrpSpPr/>
          <p:nvPr/>
        </p:nvGrpSpPr>
        <p:grpSpPr>
          <a:xfrm>
            <a:off x="6547758" y="1944570"/>
            <a:ext cx="1522730" cy="946150"/>
            <a:chOff x="5023758" y="1944570"/>
            <a:chExt cx="1522730" cy="946150"/>
          </a:xfrm>
        </p:grpSpPr>
        <p:sp>
          <p:nvSpPr>
            <p:cNvPr id="40" name="object 40"/>
            <p:cNvSpPr/>
            <p:nvPr/>
          </p:nvSpPr>
          <p:spPr>
            <a:xfrm>
              <a:off x="6145861" y="2583928"/>
              <a:ext cx="394335" cy="102870"/>
            </a:xfrm>
            <a:custGeom>
              <a:avLst/>
              <a:gdLst/>
              <a:ahLst/>
              <a:cxnLst/>
              <a:rect l="l" t="t" r="r" b="b"/>
              <a:pathLst>
                <a:path w="394334" h="102869">
                  <a:moveTo>
                    <a:pt x="394036" y="0"/>
                  </a:moveTo>
                  <a:lnTo>
                    <a:pt x="0" y="102542"/>
                  </a:lnTo>
                </a:path>
              </a:pathLst>
            </a:custGeom>
            <a:solidFill>
              <a:srgbClr val="C0C0C0">
                <a:alpha val="50199"/>
              </a:srgbClr>
            </a:solidFill>
          </p:spPr>
          <p:txBody>
            <a:bodyPr wrap="square" lIns="0" tIns="0" rIns="0" bIns="0" rtlCol="0"/>
            <a:lstStyle/>
            <a:p>
              <a:endParaRPr/>
            </a:p>
          </p:txBody>
        </p:sp>
        <p:sp>
          <p:nvSpPr>
            <p:cNvPr id="41" name="object 41"/>
            <p:cNvSpPr/>
            <p:nvPr/>
          </p:nvSpPr>
          <p:spPr>
            <a:xfrm>
              <a:off x="6145861" y="2583928"/>
              <a:ext cx="394335" cy="102870"/>
            </a:xfrm>
            <a:custGeom>
              <a:avLst/>
              <a:gdLst/>
              <a:ahLst/>
              <a:cxnLst/>
              <a:rect l="l" t="t" r="r" b="b"/>
              <a:pathLst>
                <a:path w="394334" h="102869">
                  <a:moveTo>
                    <a:pt x="0" y="102542"/>
                  </a:moveTo>
                  <a:lnTo>
                    <a:pt x="394037" y="0"/>
                  </a:lnTo>
                </a:path>
              </a:pathLst>
            </a:custGeom>
            <a:ln w="12700">
              <a:solidFill>
                <a:srgbClr val="000000"/>
              </a:solidFill>
            </a:ln>
          </p:spPr>
          <p:txBody>
            <a:bodyPr wrap="square" lIns="0" tIns="0" rIns="0" bIns="0" rtlCol="0"/>
            <a:lstStyle/>
            <a:p>
              <a:endParaRPr/>
            </a:p>
          </p:txBody>
        </p:sp>
        <p:sp>
          <p:nvSpPr>
            <p:cNvPr id="42" name="object 42"/>
            <p:cNvSpPr/>
            <p:nvPr/>
          </p:nvSpPr>
          <p:spPr>
            <a:xfrm>
              <a:off x="5028520" y="1949333"/>
              <a:ext cx="170815" cy="737235"/>
            </a:xfrm>
            <a:custGeom>
              <a:avLst/>
              <a:gdLst/>
              <a:ahLst/>
              <a:cxnLst/>
              <a:rect l="l" t="t" r="r" b="b"/>
              <a:pathLst>
                <a:path w="170814" h="737235">
                  <a:moveTo>
                    <a:pt x="0" y="0"/>
                  </a:moveTo>
                  <a:lnTo>
                    <a:pt x="170799" y="737137"/>
                  </a:lnTo>
                </a:path>
              </a:pathLst>
            </a:custGeom>
            <a:solidFill>
              <a:srgbClr val="C0C0C0">
                <a:alpha val="50199"/>
              </a:srgbClr>
            </a:solidFill>
          </p:spPr>
          <p:txBody>
            <a:bodyPr wrap="square" lIns="0" tIns="0" rIns="0" bIns="0" rtlCol="0"/>
            <a:lstStyle/>
            <a:p>
              <a:endParaRPr/>
            </a:p>
          </p:txBody>
        </p:sp>
        <p:sp>
          <p:nvSpPr>
            <p:cNvPr id="43" name="object 43"/>
            <p:cNvSpPr/>
            <p:nvPr/>
          </p:nvSpPr>
          <p:spPr>
            <a:xfrm>
              <a:off x="5028520" y="1949333"/>
              <a:ext cx="170815" cy="737235"/>
            </a:xfrm>
            <a:custGeom>
              <a:avLst/>
              <a:gdLst/>
              <a:ahLst/>
              <a:cxnLst/>
              <a:rect l="l" t="t" r="r" b="b"/>
              <a:pathLst>
                <a:path w="170814" h="737235">
                  <a:moveTo>
                    <a:pt x="0" y="0"/>
                  </a:moveTo>
                  <a:lnTo>
                    <a:pt x="170801" y="737137"/>
                  </a:lnTo>
                </a:path>
              </a:pathLst>
            </a:custGeom>
            <a:ln w="9525">
              <a:solidFill>
                <a:srgbClr val="000000"/>
              </a:solidFill>
            </a:ln>
          </p:spPr>
          <p:txBody>
            <a:bodyPr wrap="square" lIns="0" tIns="0" rIns="0" bIns="0" rtlCol="0"/>
            <a:lstStyle/>
            <a:p>
              <a:endParaRPr/>
            </a:p>
          </p:txBody>
        </p:sp>
        <p:sp>
          <p:nvSpPr>
            <p:cNvPr id="44" name="object 44"/>
            <p:cNvSpPr/>
            <p:nvPr/>
          </p:nvSpPr>
          <p:spPr>
            <a:xfrm>
              <a:off x="5199320" y="2487341"/>
              <a:ext cx="946785" cy="398780"/>
            </a:xfrm>
            <a:custGeom>
              <a:avLst/>
              <a:gdLst/>
              <a:ahLst/>
              <a:cxnLst/>
              <a:rect l="l" t="t" r="r" b="b"/>
              <a:pathLst>
                <a:path w="946785" h="398780">
                  <a:moveTo>
                    <a:pt x="473270" y="0"/>
                  </a:moveTo>
                  <a:lnTo>
                    <a:pt x="0" y="199127"/>
                  </a:lnTo>
                  <a:lnTo>
                    <a:pt x="473270" y="398254"/>
                  </a:lnTo>
                  <a:lnTo>
                    <a:pt x="946539" y="199127"/>
                  </a:lnTo>
                  <a:lnTo>
                    <a:pt x="473270" y="0"/>
                  </a:lnTo>
                  <a:close/>
                </a:path>
              </a:pathLst>
            </a:custGeom>
            <a:solidFill>
              <a:srgbClr val="4F81BD"/>
            </a:solidFill>
          </p:spPr>
          <p:txBody>
            <a:bodyPr wrap="square" lIns="0" tIns="0" rIns="0" bIns="0" rtlCol="0"/>
            <a:lstStyle/>
            <a:p>
              <a:endParaRPr/>
            </a:p>
          </p:txBody>
        </p:sp>
        <p:sp>
          <p:nvSpPr>
            <p:cNvPr id="45" name="object 45"/>
            <p:cNvSpPr/>
            <p:nvPr/>
          </p:nvSpPr>
          <p:spPr>
            <a:xfrm>
              <a:off x="5199320" y="2487341"/>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46" name="object 46"/>
          <p:cNvSpPr txBox="1"/>
          <p:nvPr/>
        </p:nvSpPr>
        <p:spPr>
          <a:xfrm>
            <a:off x="6876710" y="2595034"/>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grpSp>
        <p:nvGrpSpPr>
          <p:cNvPr id="47" name="object 47"/>
          <p:cNvGrpSpPr/>
          <p:nvPr/>
        </p:nvGrpSpPr>
        <p:grpSpPr>
          <a:xfrm>
            <a:off x="8479047" y="1369811"/>
            <a:ext cx="871855" cy="408305"/>
            <a:chOff x="6955046" y="1369810"/>
            <a:chExt cx="871855" cy="408305"/>
          </a:xfrm>
        </p:grpSpPr>
        <p:sp>
          <p:nvSpPr>
            <p:cNvPr id="48" name="object 48"/>
            <p:cNvSpPr/>
            <p:nvPr/>
          </p:nvSpPr>
          <p:spPr>
            <a:xfrm>
              <a:off x="6959809" y="1374573"/>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49" name="object 49"/>
            <p:cNvSpPr/>
            <p:nvPr/>
          </p:nvSpPr>
          <p:spPr>
            <a:xfrm>
              <a:off x="6959809" y="1374573"/>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50" name="object 50"/>
          <p:cNvSpPr txBox="1"/>
          <p:nvPr/>
        </p:nvSpPr>
        <p:spPr>
          <a:xfrm>
            <a:off x="8714882" y="1485900"/>
            <a:ext cx="40259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location</a:t>
            </a:r>
            <a:endParaRPr sz="900">
              <a:latin typeface="Calibri"/>
              <a:cs typeface="Calibri"/>
            </a:endParaRPr>
          </a:p>
        </p:txBody>
      </p:sp>
      <p:grpSp>
        <p:nvGrpSpPr>
          <p:cNvPr id="51" name="object 51"/>
          <p:cNvGrpSpPr/>
          <p:nvPr/>
        </p:nvGrpSpPr>
        <p:grpSpPr>
          <a:xfrm>
            <a:off x="6547758" y="1768065"/>
            <a:ext cx="2372360" cy="650875"/>
            <a:chOff x="5023758" y="1768064"/>
            <a:chExt cx="2372360" cy="650875"/>
          </a:xfrm>
        </p:grpSpPr>
        <p:sp>
          <p:nvSpPr>
            <p:cNvPr id="52" name="object 52"/>
            <p:cNvSpPr/>
            <p:nvPr/>
          </p:nvSpPr>
          <p:spPr>
            <a:xfrm>
              <a:off x="7084439" y="1772827"/>
              <a:ext cx="306705" cy="641350"/>
            </a:xfrm>
            <a:custGeom>
              <a:avLst/>
              <a:gdLst/>
              <a:ahLst/>
              <a:cxnLst/>
              <a:rect l="l" t="t" r="r" b="b"/>
              <a:pathLst>
                <a:path w="306704" h="641350">
                  <a:moveTo>
                    <a:pt x="306467" y="0"/>
                  </a:moveTo>
                  <a:lnTo>
                    <a:pt x="0" y="641135"/>
                  </a:lnTo>
                </a:path>
              </a:pathLst>
            </a:custGeom>
            <a:solidFill>
              <a:srgbClr val="C0C0C0">
                <a:alpha val="50199"/>
              </a:srgbClr>
            </a:solidFill>
          </p:spPr>
          <p:txBody>
            <a:bodyPr wrap="square" lIns="0" tIns="0" rIns="0" bIns="0" rtlCol="0"/>
            <a:lstStyle/>
            <a:p>
              <a:endParaRPr/>
            </a:p>
          </p:txBody>
        </p:sp>
        <p:sp>
          <p:nvSpPr>
            <p:cNvPr id="53" name="object 53"/>
            <p:cNvSpPr/>
            <p:nvPr/>
          </p:nvSpPr>
          <p:spPr>
            <a:xfrm>
              <a:off x="7084440" y="1772827"/>
              <a:ext cx="306705" cy="641350"/>
            </a:xfrm>
            <a:custGeom>
              <a:avLst/>
              <a:gdLst/>
              <a:ahLst/>
              <a:cxnLst/>
              <a:rect l="l" t="t" r="r" b="b"/>
              <a:pathLst>
                <a:path w="306704" h="641350">
                  <a:moveTo>
                    <a:pt x="306467" y="0"/>
                  </a:moveTo>
                  <a:lnTo>
                    <a:pt x="0" y="641135"/>
                  </a:lnTo>
                </a:path>
              </a:pathLst>
            </a:custGeom>
            <a:ln w="9525">
              <a:solidFill>
                <a:srgbClr val="000000"/>
              </a:solidFill>
            </a:ln>
          </p:spPr>
          <p:txBody>
            <a:bodyPr wrap="square" lIns="0" tIns="0" rIns="0" bIns="0" rtlCol="0"/>
            <a:lstStyle/>
            <a:p>
              <a:endParaRPr/>
            </a:p>
          </p:txBody>
        </p:sp>
        <p:sp>
          <p:nvSpPr>
            <p:cNvPr id="54" name="object 54"/>
            <p:cNvSpPr/>
            <p:nvPr/>
          </p:nvSpPr>
          <p:spPr>
            <a:xfrm>
              <a:off x="5028520" y="1949333"/>
              <a:ext cx="170815" cy="199390"/>
            </a:xfrm>
            <a:custGeom>
              <a:avLst/>
              <a:gdLst/>
              <a:ahLst/>
              <a:cxnLst/>
              <a:rect l="l" t="t" r="r" b="b"/>
              <a:pathLst>
                <a:path w="170814" h="199389">
                  <a:moveTo>
                    <a:pt x="0" y="0"/>
                  </a:moveTo>
                  <a:lnTo>
                    <a:pt x="170799" y="199127"/>
                  </a:lnTo>
                </a:path>
              </a:pathLst>
            </a:custGeom>
            <a:solidFill>
              <a:srgbClr val="C0C0C0">
                <a:alpha val="50199"/>
              </a:srgbClr>
            </a:solidFill>
          </p:spPr>
          <p:txBody>
            <a:bodyPr wrap="square" lIns="0" tIns="0" rIns="0" bIns="0" rtlCol="0"/>
            <a:lstStyle/>
            <a:p>
              <a:endParaRPr/>
            </a:p>
          </p:txBody>
        </p:sp>
        <p:sp>
          <p:nvSpPr>
            <p:cNvPr id="55" name="object 55"/>
            <p:cNvSpPr/>
            <p:nvPr/>
          </p:nvSpPr>
          <p:spPr>
            <a:xfrm>
              <a:off x="5028520" y="1949333"/>
              <a:ext cx="170815" cy="199390"/>
            </a:xfrm>
            <a:custGeom>
              <a:avLst/>
              <a:gdLst/>
              <a:ahLst/>
              <a:cxnLst/>
              <a:rect l="l" t="t" r="r" b="b"/>
              <a:pathLst>
                <a:path w="170814" h="199389">
                  <a:moveTo>
                    <a:pt x="0" y="0"/>
                  </a:moveTo>
                  <a:lnTo>
                    <a:pt x="170801" y="199127"/>
                  </a:lnTo>
                </a:path>
              </a:pathLst>
            </a:custGeom>
            <a:ln w="9525">
              <a:solidFill>
                <a:srgbClr val="000000"/>
              </a:solidFill>
            </a:ln>
          </p:spPr>
          <p:txBody>
            <a:bodyPr wrap="square" lIns="0" tIns="0" rIns="0" bIns="0" rtlCol="0"/>
            <a:lstStyle/>
            <a:p>
              <a:endParaRPr/>
            </a:p>
          </p:txBody>
        </p:sp>
        <p:sp>
          <p:nvSpPr>
            <p:cNvPr id="56" name="object 56"/>
            <p:cNvSpPr/>
            <p:nvPr/>
          </p:nvSpPr>
          <p:spPr>
            <a:xfrm>
              <a:off x="5199320" y="1949333"/>
              <a:ext cx="946785" cy="398780"/>
            </a:xfrm>
            <a:custGeom>
              <a:avLst/>
              <a:gdLst/>
              <a:ahLst/>
              <a:cxnLst/>
              <a:rect l="l" t="t" r="r" b="b"/>
              <a:pathLst>
                <a:path w="946785" h="398780">
                  <a:moveTo>
                    <a:pt x="473270" y="0"/>
                  </a:moveTo>
                  <a:lnTo>
                    <a:pt x="0" y="199127"/>
                  </a:lnTo>
                  <a:lnTo>
                    <a:pt x="473270" y="398254"/>
                  </a:lnTo>
                  <a:lnTo>
                    <a:pt x="946539" y="199127"/>
                  </a:lnTo>
                  <a:lnTo>
                    <a:pt x="473270" y="0"/>
                  </a:lnTo>
                  <a:close/>
                </a:path>
              </a:pathLst>
            </a:custGeom>
            <a:solidFill>
              <a:srgbClr val="4F81BD"/>
            </a:solidFill>
          </p:spPr>
          <p:txBody>
            <a:bodyPr wrap="square" lIns="0" tIns="0" rIns="0" bIns="0" rtlCol="0"/>
            <a:lstStyle/>
            <a:p>
              <a:endParaRPr/>
            </a:p>
          </p:txBody>
        </p:sp>
        <p:sp>
          <p:nvSpPr>
            <p:cNvPr id="57" name="object 57"/>
            <p:cNvSpPr/>
            <p:nvPr/>
          </p:nvSpPr>
          <p:spPr>
            <a:xfrm>
              <a:off x="5199320" y="1949333"/>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58" name="object 58"/>
          <p:cNvSpPr txBox="1"/>
          <p:nvPr/>
        </p:nvSpPr>
        <p:spPr>
          <a:xfrm>
            <a:off x="6890203" y="2061634"/>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grpSp>
        <p:nvGrpSpPr>
          <p:cNvPr id="59" name="object 59"/>
          <p:cNvGrpSpPr/>
          <p:nvPr/>
        </p:nvGrpSpPr>
        <p:grpSpPr>
          <a:xfrm>
            <a:off x="7663511" y="2142111"/>
            <a:ext cx="407034" cy="448309"/>
            <a:chOff x="6139511" y="2142110"/>
            <a:chExt cx="407034" cy="448309"/>
          </a:xfrm>
        </p:grpSpPr>
        <p:sp>
          <p:nvSpPr>
            <p:cNvPr id="60" name="object 60"/>
            <p:cNvSpPr/>
            <p:nvPr/>
          </p:nvSpPr>
          <p:spPr>
            <a:xfrm>
              <a:off x="6145861" y="2148460"/>
              <a:ext cx="394335" cy="435609"/>
            </a:xfrm>
            <a:custGeom>
              <a:avLst/>
              <a:gdLst/>
              <a:ahLst/>
              <a:cxnLst/>
              <a:rect l="l" t="t" r="r" b="b"/>
              <a:pathLst>
                <a:path w="394334" h="435610">
                  <a:moveTo>
                    <a:pt x="0" y="0"/>
                  </a:moveTo>
                  <a:lnTo>
                    <a:pt x="394036" y="435467"/>
                  </a:lnTo>
                </a:path>
              </a:pathLst>
            </a:custGeom>
            <a:solidFill>
              <a:srgbClr val="C0C0C0">
                <a:alpha val="50199"/>
              </a:srgbClr>
            </a:solidFill>
          </p:spPr>
          <p:txBody>
            <a:bodyPr wrap="square" lIns="0" tIns="0" rIns="0" bIns="0" rtlCol="0"/>
            <a:lstStyle/>
            <a:p>
              <a:endParaRPr/>
            </a:p>
          </p:txBody>
        </p:sp>
        <p:sp>
          <p:nvSpPr>
            <p:cNvPr id="61" name="object 61"/>
            <p:cNvSpPr/>
            <p:nvPr/>
          </p:nvSpPr>
          <p:spPr>
            <a:xfrm>
              <a:off x="6145861" y="2148460"/>
              <a:ext cx="394335" cy="435609"/>
            </a:xfrm>
            <a:custGeom>
              <a:avLst/>
              <a:gdLst/>
              <a:ahLst/>
              <a:cxnLst/>
              <a:rect l="l" t="t" r="r" b="b"/>
              <a:pathLst>
                <a:path w="394334" h="435610">
                  <a:moveTo>
                    <a:pt x="0" y="0"/>
                  </a:moveTo>
                  <a:lnTo>
                    <a:pt x="394037" y="435468"/>
                  </a:lnTo>
                </a:path>
              </a:pathLst>
            </a:custGeom>
            <a:ln w="12700">
              <a:solidFill>
                <a:srgbClr val="000000"/>
              </a:solidFill>
            </a:ln>
          </p:spPr>
          <p:txBody>
            <a:bodyPr wrap="square" lIns="0" tIns="0" rIns="0" bIns="0" rtlCol="0"/>
            <a:lstStyle/>
            <a:p>
              <a:endParaRPr/>
            </a:p>
          </p:txBody>
        </p:sp>
      </p:grpSp>
      <p:grpSp>
        <p:nvGrpSpPr>
          <p:cNvPr id="62" name="object 62"/>
          <p:cNvGrpSpPr/>
          <p:nvPr/>
        </p:nvGrpSpPr>
        <p:grpSpPr>
          <a:xfrm>
            <a:off x="5450659" y="1942981"/>
            <a:ext cx="382270" cy="212090"/>
            <a:chOff x="3926659" y="1942981"/>
            <a:chExt cx="382270" cy="212090"/>
          </a:xfrm>
        </p:grpSpPr>
        <p:sp>
          <p:nvSpPr>
            <p:cNvPr id="63" name="object 63"/>
            <p:cNvSpPr/>
            <p:nvPr/>
          </p:nvSpPr>
          <p:spPr>
            <a:xfrm>
              <a:off x="3933009" y="1949331"/>
              <a:ext cx="369570" cy="199390"/>
            </a:xfrm>
            <a:custGeom>
              <a:avLst/>
              <a:gdLst/>
              <a:ahLst/>
              <a:cxnLst/>
              <a:rect l="l" t="t" r="r" b="b"/>
              <a:pathLst>
                <a:path w="369570" h="199389">
                  <a:moveTo>
                    <a:pt x="369453" y="0"/>
                  </a:moveTo>
                  <a:lnTo>
                    <a:pt x="0" y="199127"/>
                  </a:lnTo>
                </a:path>
              </a:pathLst>
            </a:custGeom>
            <a:solidFill>
              <a:srgbClr val="C0C0C0">
                <a:alpha val="50199"/>
              </a:srgbClr>
            </a:solidFill>
          </p:spPr>
          <p:txBody>
            <a:bodyPr wrap="square" lIns="0" tIns="0" rIns="0" bIns="0" rtlCol="0"/>
            <a:lstStyle/>
            <a:p>
              <a:endParaRPr/>
            </a:p>
          </p:txBody>
        </p:sp>
        <p:sp>
          <p:nvSpPr>
            <p:cNvPr id="64" name="object 64"/>
            <p:cNvSpPr/>
            <p:nvPr/>
          </p:nvSpPr>
          <p:spPr>
            <a:xfrm>
              <a:off x="3933009" y="1949331"/>
              <a:ext cx="369570" cy="199390"/>
            </a:xfrm>
            <a:custGeom>
              <a:avLst/>
              <a:gdLst/>
              <a:ahLst/>
              <a:cxnLst/>
              <a:rect l="l" t="t" r="r" b="b"/>
              <a:pathLst>
                <a:path w="369570" h="199389">
                  <a:moveTo>
                    <a:pt x="0" y="199127"/>
                  </a:moveTo>
                  <a:lnTo>
                    <a:pt x="369453" y="0"/>
                  </a:lnTo>
                </a:path>
              </a:pathLst>
            </a:custGeom>
            <a:ln w="12700">
              <a:solidFill>
                <a:srgbClr val="000000"/>
              </a:solidFill>
            </a:ln>
          </p:spPr>
          <p:txBody>
            <a:bodyPr wrap="square" lIns="0" tIns="0" rIns="0" bIns="0" rtlCol="0"/>
            <a:lstStyle/>
            <a:p>
              <a:endParaRPr/>
            </a:p>
          </p:txBody>
        </p:sp>
      </p:grpSp>
      <p:pic>
        <p:nvPicPr>
          <p:cNvPr id="65" name="object 65"/>
          <p:cNvPicPr/>
          <p:nvPr/>
        </p:nvPicPr>
        <p:blipFill>
          <a:blip r:embed="rId2" cstate="print"/>
          <a:stretch>
            <a:fillRect/>
          </a:stretch>
        </p:blipFill>
        <p:spPr>
          <a:xfrm>
            <a:off x="2565400" y="3632200"/>
            <a:ext cx="1701800" cy="1143000"/>
          </a:xfrm>
          <a:prstGeom prst="rect">
            <a:avLst/>
          </a:prstGeom>
        </p:spPr>
      </p:pic>
      <p:sp>
        <p:nvSpPr>
          <p:cNvPr id="66" name="Slide Number Placeholder 65">
            <a:extLst>
              <a:ext uri="{FF2B5EF4-FFF2-40B4-BE49-F238E27FC236}">
                <a16:creationId xmlns:a16="http://schemas.microsoft.com/office/drawing/2014/main" id="{E12B1DBA-1C4C-4DBA-ACF2-3249C814E6E5}"/>
              </a:ext>
            </a:extLst>
          </p:cNvPr>
          <p:cNvSpPr>
            <a:spLocks noGrp="1"/>
          </p:cNvSpPr>
          <p:nvPr>
            <p:ph type="sldNum" sz="quarter" idx="12"/>
          </p:nvPr>
        </p:nvSpPr>
        <p:spPr/>
        <p:txBody>
          <a:bodyPr/>
          <a:lstStyle/>
          <a:p>
            <a:fld id="{641C0F02-33DC-3A41-9F51-431B7FE03ABE}"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1201" y="3750733"/>
            <a:ext cx="1109133" cy="914400"/>
          </a:xfrm>
          <a:prstGeom prst="rect">
            <a:avLst/>
          </a:prstGeom>
        </p:spPr>
      </p:pic>
      <p:sp>
        <p:nvSpPr>
          <p:cNvPr id="3" name="object 3"/>
          <p:cNvSpPr txBox="1"/>
          <p:nvPr/>
        </p:nvSpPr>
        <p:spPr>
          <a:xfrm>
            <a:off x="2016148" y="4787899"/>
            <a:ext cx="1911350" cy="9448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A </a:t>
            </a:r>
            <a:r>
              <a:rPr sz="1500">
                <a:latin typeface="Calibri"/>
                <a:cs typeface="Calibri"/>
              </a:rPr>
              <a:t>Game </a:t>
            </a:r>
            <a:r>
              <a:rPr sz="1500" spc="5">
                <a:latin typeface="Calibri"/>
                <a:cs typeface="Calibri"/>
              </a:rPr>
              <a:t>is </a:t>
            </a:r>
            <a:r>
              <a:rPr sz="1500">
                <a:latin typeface="Calibri"/>
                <a:cs typeface="Calibri"/>
              </a:rPr>
              <a:t>made </a:t>
            </a:r>
            <a:r>
              <a:rPr sz="1500" spc="5">
                <a:latin typeface="Calibri"/>
                <a:cs typeface="Calibri"/>
              </a:rPr>
              <a:t>up </a:t>
            </a:r>
            <a:r>
              <a:rPr sz="1500">
                <a:latin typeface="Calibri"/>
                <a:cs typeface="Calibri"/>
              </a:rPr>
              <a:t>of </a:t>
            </a:r>
            <a:r>
              <a:rPr sz="1500" spc="5">
                <a:latin typeface="Calibri"/>
                <a:cs typeface="Calibri"/>
              </a:rPr>
              <a:t> </a:t>
            </a:r>
            <a:r>
              <a:rPr sz="1500" b="1" u="heavy" spc="-10">
                <a:uFill>
                  <a:solidFill>
                    <a:srgbClr val="000000"/>
                  </a:solidFill>
                </a:uFill>
                <a:latin typeface="Calibri"/>
                <a:cs typeface="Calibri"/>
              </a:rPr>
              <a:t>Plays</a:t>
            </a:r>
            <a:r>
              <a:rPr sz="1500" b="1" spc="-10">
                <a:latin typeface="Calibri"/>
                <a:cs typeface="Calibri"/>
              </a:rPr>
              <a:t> </a:t>
            </a:r>
            <a:r>
              <a:rPr sz="1500" spc="-5">
                <a:latin typeface="Calibri"/>
                <a:cs typeface="Calibri"/>
              </a:rPr>
              <a:t>that result </a:t>
            </a:r>
            <a:r>
              <a:rPr sz="1500" spc="10">
                <a:latin typeface="Calibri"/>
                <a:cs typeface="Calibri"/>
              </a:rPr>
              <a:t>in </a:t>
            </a:r>
            <a:r>
              <a:rPr sz="1500" spc="15">
                <a:latin typeface="Calibri"/>
                <a:cs typeface="Calibri"/>
              </a:rPr>
              <a:t>a </a:t>
            </a:r>
            <a:r>
              <a:rPr sz="1500" spc="20">
                <a:latin typeface="Calibri"/>
                <a:cs typeface="Calibri"/>
              </a:rPr>
              <a:t> </a:t>
            </a:r>
            <a:r>
              <a:rPr sz="1500" spc="-15">
                <a:latin typeface="Calibri"/>
                <a:cs typeface="Calibri"/>
              </a:rPr>
              <a:t>yardage </a:t>
            </a:r>
            <a:r>
              <a:rPr sz="1500" spc="-10">
                <a:latin typeface="Calibri"/>
                <a:cs typeface="Calibri"/>
              </a:rPr>
              <a:t>gain/loss, </a:t>
            </a:r>
            <a:r>
              <a:rPr sz="1500">
                <a:latin typeface="Calibri"/>
                <a:cs typeface="Calibri"/>
              </a:rPr>
              <a:t>and </a:t>
            </a:r>
            <a:r>
              <a:rPr sz="1500" spc="5">
                <a:latin typeface="Calibri"/>
                <a:cs typeface="Calibri"/>
              </a:rPr>
              <a:t> </a:t>
            </a:r>
            <a:r>
              <a:rPr sz="1500" spc="-5">
                <a:latin typeface="Calibri"/>
                <a:cs typeface="Calibri"/>
              </a:rPr>
              <a:t>potentially</a:t>
            </a:r>
            <a:r>
              <a:rPr sz="1500" spc="-50">
                <a:latin typeface="Calibri"/>
                <a:cs typeface="Calibri"/>
              </a:rPr>
              <a:t> </a:t>
            </a:r>
            <a:r>
              <a:rPr sz="1500" spc="15">
                <a:latin typeface="Calibri"/>
                <a:cs typeface="Calibri"/>
              </a:rPr>
              <a:t>a</a:t>
            </a:r>
            <a:r>
              <a:rPr sz="1500" spc="-55">
                <a:latin typeface="Calibri"/>
                <a:cs typeface="Calibri"/>
              </a:rPr>
              <a:t> </a:t>
            </a:r>
            <a:r>
              <a:rPr sz="1500" spc="-5">
                <a:latin typeface="Calibri"/>
                <a:cs typeface="Calibri"/>
              </a:rPr>
              <a:t>touchdown</a:t>
            </a:r>
            <a:endParaRPr sz="1500">
              <a:latin typeface="Calibri"/>
              <a:cs typeface="Calibri"/>
            </a:endParaRPr>
          </a:p>
        </p:txBody>
      </p:sp>
      <p:sp>
        <p:nvSpPr>
          <p:cNvPr id="4" name="object 4"/>
          <p:cNvSpPr txBox="1"/>
          <p:nvPr/>
        </p:nvSpPr>
        <p:spPr>
          <a:xfrm>
            <a:off x="5826462" y="3415919"/>
            <a:ext cx="1089660" cy="232756"/>
          </a:xfrm>
          <a:prstGeom prst="rect">
            <a:avLst/>
          </a:prstGeom>
          <a:solidFill>
            <a:srgbClr val="F2DCDB"/>
          </a:solidFill>
          <a:ln w="9525">
            <a:solidFill>
              <a:srgbClr val="000000"/>
            </a:solidFill>
          </a:ln>
        </p:spPr>
        <p:txBody>
          <a:bodyPr vert="horz" wrap="square" lIns="0" tIns="93345" rIns="0" bIns="0" rtlCol="0">
            <a:spAutoFit/>
          </a:bodyPr>
          <a:lstStyle/>
          <a:p>
            <a:pPr marL="1905" algn="ctr">
              <a:spcBef>
                <a:spcPts val="735"/>
              </a:spcBef>
            </a:pPr>
            <a:r>
              <a:rPr sz="900">
                <a:latin typeface="Calibri"/>
                <a:cs typeface="Calibri"/>
              </a:rPr>
              <a:t>Plays</a:t>
            </a:r>
          </a:p>
        </p:txBody>
      </p:sp>
      <p:grpSp>
        <p:nvGrpSpPr>
          <p:cNvPr id="5" name="object 5"/>
          <p:cNvGrpSpPr/>
          <p:nvPr/>
        </p:nvGrpSpPr>
        <p:grpSpPr>
          <a:xfrm>
            <a:off x="5012006" y="4268573"/>
            <a:ext cx="871855" cy="408305"/>
            <a:chOff x="3488005" y="4268572"/>
            <a:chExt cx="871855" cy="408305"/>
          </a:xfrm>
        </p:grpSpPr>
        <p:sp>
          <p:nvSpPr>
            <p:cNvPr id="6" name="object 6"/>
            <p:cNvSpPr/>
            <p:nvPr/>
          </p:nvSpPr>
          <p:spPr>
            <a:xfrm>
              <a:off x="3492767" y="4273335"/>
              <a:ext cx="862330" cy="398780"/>
            </a:xfrm>
            <a:custGeom>
              <a:avLst/>
              <a:gdLst/>
              <a:ahLst/>
              <a:cxnLst/>
              <a:rect l="l" t="t" r="r" b="b"/>
              <a:pathLst>
                <a:path w="862329"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7" name="object 7"/>
            <p:cNvSpPr/>
            <p:nvPr/>
          </p:nvSpPr>
          <p:spPr>
            <a:xfrm>
              <a:off x="3492767" y="4273335"/>
              <a:ext cx="862330" cy="398780"/>
            </a:xfrm>
            <a:custGeom>
              <a:avLst/>
              <a:gdLst/>
              <a:ahLst/>
              <a:cxnLst/>
              <a:rect l="l" t="t" r="r" b="b"/>
              <a:pathLst>
                <a:path w="862329"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8" name="object 8"/>
          <p:cNvSpPr txBox="1"/>
          <p:nvPr/>
        </p:nvSpPr>
        <p:spPr>
          <a:xfrm>
            <a:off x="5277209" y="4381500"/>
            <a:ext cx="344805"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P</a:t>
            </a:r>
            <a:r>
              <a:rPr sz="900" u="sng">
                <a:uFill>
                  <a:solidFill>
                    <a:srgbClr val="000000"/>
                  </a:solidFill>
                </a:uFill>
                <a:latin typeface="Calibri"/>
                <a:cs typeface="Calibri"/>
              </a:rPr>
              <a:t>l</a:t>
            </a:r>
            <a:r>
              <a:rPr sz="900" u="sng" spc="-10">
                <a:uFill>
                  <a:solidFill>
                    <a:srgbClr val="000000"/>
                  </a:solidFill>
                </a:uFill>
                <a:latin typeface="Calibri"/>
                <a:cs typeface="Calibri"/>
              </a:rPr>
              <a:t>a</a:t>
            </a:r>
            <a:r>
              <a:rPr sz="900" u="sng" spc="15">
                <a:uFill>
                  <a:solidFill>
                    <a:srgbClr val="000000"/>
                  </a:solidFill>
                </a:uFill>
                <a:latin typeface="Calibri"/>
                <a:cs typeface="Calibri"/>
              </a:rPr>
              <a:t>y</a:t>
            </a:r>
            <a:r>
              <a:rPr sz="900" u="sng" spc="-15">
                <a:uFill>
                  <a:solidFill>
                    <a:srgbClr val="000000"/>
                  </a:solidFill>
                </a:uFill>
                <a:latin typeface="Calibri"/>
                <a:cs typeface="Calibri"/>
              </a:rPr>
              <a:t> </a:t>
            </a:r>
            <a:r>
              <a:rPr sz="900" u="sng" spc="-5">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9" name="object 9"/>
          <p:cNvGrpSpPr/>
          <p:nvPr/>
        </p:nvGrpSpPr>
        <p:grpSpPr>
          <a:xfrm>
            <a:off x="7226171" y="3180886"/>
            <a:ext cx="956310" cy="408305"/>
            <a:chOff x="5702171" y="3180885"/>
            <a:chExt cx="956310" cy="408305"/>
          </a:xfrm>
        </p:grpSpPr>
        <p:sp>
          <p:nvSpPr>
            <p:cNvPr id="10" name="object 10"/>
            <p:cNvSpPr/>
            <p:nvPr/>
          </p:nvSpPr>
          <p:spPr>
            <a:xfrm>
              <a:off x="5706934" y="3185647"/>
              <a:ext cx="946785" cy="398780"/>
            </a:xfrm>
            <a:custGeom>
              <a:avLst/>
              <a:gdLst/>
              <a:ahLst/>
              <a:cxnLst/>
              <a:rect l="l" t="t" r="r" b="b"/>
              <a:pathLst>
                <a:path w="946784" h="398779">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11" name="object 11"/>
            <p:cNvSpPr/>
            <p:nvPr/>
          </p:nvSpPr>
          <p:spPr>
            <a:xfrm>
              <a:off x="5706934" y="3185647"/>
              <a:ext cx="946785" cy="398780"/>
            </a:xfrm>
            <a:custGeom>
              <a:avLst/>
              <a:gdLst/>
              <a:ahLst/>
              <a:cxnLst/>
              <a:rect l="l" t="t" r="r" b="b"/>
              <a:pathLst>
                <a:path w="946784"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grpSp>
        <p:nvGrpSpPr>
          <p:cNvPr id="12" name="object 12"/>
          <p:cNvGrpSpPr/>
          <p:nvPr/>
        </p:nvGrpSpPr>
        <p:grpSpPr>
          <a:xfrm>
            <a:off x="5443102" y="3751087"/>
            <a:ext cx="1363980" cy="925830"/>
            <a:chOff x="3919102" y="3751087"/>
            <a:chExt cx="1363980" cy="925830"/>
          </a:xfrm>
        </p:grpSpPr>
        <p:sp>
          <p:nvSpPr>
            <p:cNvPr id="13" name="object 13"/>
            <p:cNvSpPr/>
            <p:nvPr/>
          </p:nvSpPr>
          <p:spPr>
            <a:xfrm>
              <a:off x="3923864" y="3755849"/>
              <a:ext cx="923290" cy="517525"/>
            </a:xfrm>
            <a:custGeom>
              <a:avLst/>
              <a:gdLst/>
              <a:ahLst/>
              <a:cxnLst/>
              <a:rect l="l" t="t" r="r" b="b"/>
              <a:pathLst>
                <a:path w="923289" h="517525">
                  <a:moveTo>
                    <a:pt x="923141" y="0"/>
                  </a:moveTo>
                  <a:lnTo>
                    <a:pt x="0" y="517486"/>
                  </a:lnTo>
                </a:path>
              </a:pathLst>
            </a:custGeom>
            <a:solidFill>
              <a:srgbClr val="C0C0C0">
                <a:alpha val="50199"/>
              </a:srgbClr>
            </a:solidFill>
          </p:spPr>
          <p:txBody>
            <a:bodyPr wrap="square" lIns="0" tIns="0" rIns="0" bIns="0" rtlCol="0"/>
            <a:lstStyle/>
            <a:p>
              <a:endParaRPr/>
            </a:p>
          </p:txBody>
        </p:sp>
        <p:sp>
          <p:nvSpPr>
            <p:cNvPr id="14" name="object 14"/>
            <p:cNvSpPr/>
            <p:nvPr/>
          </p:nvSpPr>
          <p:spPr>
            <a:xfrm>
              <a:off x="3923864" y="3755849"/>
              <a:ext cx="923290" cy="517525"/>
            </a:xfrm>
            <a:custGeom>
              <a:avLst/>
              <a:gdLst/>
              <a:ahLst/>
              <a:cxnLst/>
              <a:rect l="l" t="t" r="r" b="b"/>
              <a:pathLst>
                <a:path w="923289" h="517525">
                  <a:moveTo>
                    <a:pt x="923141" y="0"/>
                  </a:moveTo>
                  <a:lnTo>
                    <a:pt x="0" y="517486"/>
                  </a:lnTo>
                </a:path>
              </a:pathLst>
            </a:custGeom>
            <a:ln w="9525">
              <a:solidFill>
                <a:srgbClr val="000000"/>
              </a:solidFill>
            </a:ln>
          </p:spPr>
          <p:txBody>
            <a:bodyPr wrap="square" lIns="0" tIns="0" rIns="0" bIns="0" rtlCol="0"/>
            <a:lstStyle/>
            <a:p>
              <a:endParaRPr/>
            </a:p>
          </p:txBody>
        </p:sp>
        <p:sp>
          <p:nvSpPr>
            <p:cNvPr id="15" name="object 15"/>
            <p:cNvSpPr/>
            <p:nvPr/>
          </p:nvSpPr>
          <p:spPr>
            <a:xfrm>
              <a:off x="4415908" y="4273335"/>
              <a:ext cx="862330" cy="398780"/>
            </a:xfrm>
            <a:custGeom>
              <a:avLst/>
              <a:gdLst/>
              <a:ahLst/>
              <a:cxnLst/>
              <a:rect l="l" t="t" r="r" b="b"/>
              <a:pathLst>
                <a:path w="862329"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6" name="object 16"/>
            <p:cNvSpPr/>
            <p:nvPr/>
          </p:nvSpPr>
          <p:spPr>
            <a:xfrm>
              <a:off x="4415908" y="4273335"/>
              <a:ext cx="862330" cy="398780"/>
            </a:xfrm>
            <a:custGeom>
              <a:avLst/>
              <a:gdLst/>
              <a:ahLst/>
              <a:cxnLst/>
              <a:rect l="l" t="t" r="r" b="b"/>
              <a:pathLst>
                <a:path w="862329"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7" name="object 17"/>
          <p:cNvSpPr txBox="1"/>
          <p:nvPr/>
        </p:nvSpPr>
        <p:spPr>
          <a:xfrm>
            <a:off x="7511324" y="3297767"/>
            <a:ext cx="387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OccurIn</a:t>
            </a:r>
            <a:endParaRPr sz="900">
              <a:latin typeface="Calibri"/>
              <a:cs typeface="Calibri"/>
            </a:endParaRPr>
          </a:p>
        </p:txBody>
      </p:sp>
      <p:grpSp>
        <p:nvGrpSpPr>
          <p:cNvPr id="18" name="object 18"/>
          <p:cNvGrpSpPr/>
          <p:nvPr/>
        </p:nvGrpSpPr>
        <p:grpSpPr>
          <a:xfrm>
            <a:off x="6909199" y="2741196"/>
            <a:ext cx="1704339" cy="851535"/>
            <a:chOff x="5385198" y="2741195"/>
            <a:chExt cx="1704339" cy="851535"/>
          </a:xfrm>
        </p:grpSpPr>
        <p:sp>
          <p:nvSpPr>
            <p:cNvPr id="19" name="object 19"/>
            <p:cNvSpPr/>
            <p:nvPr/>
          </p:nvSpPr>
          <p:spPr>
            <a:xfrm>
              <a:off x="6653475" y="2745958"/>
              <a:ext cx="431165" cy="638810"/>
            </a:xfrm>
            <a:custGeom>
              <a:avLst/>
              <a:gdLst/>
              <a:ahLst/>
              <a:cxnLst/>
              <a:rect l="l" t="t" r="r" b="b"/>
              <a:pathLst>
                <a:path w="431165" h="638810">
                  <a:moveTo>
                    <a:pt x="430964" y="0"/>
                  </a:moveTo>
                  <a:lnTo>
                    <a:pt x="0" y="638815"/>
                  </a:lnTo>
                </a:path>
              </a:pathLst>
            </a:custGeom>
            <a:solidFill>
              <a:srgbClr val="C0C0C0">
                <a:alpha val="50199"/>
              </a:srgbClr>
            </a:solidFill>
          </p:spPr>
          <p:txBody>
            <a:bodyPr wrap="square" lIns="0" tIns="0" rIns="0" bIns="0" rtlCol="0"/>
            <a:lstStyle/>
            <a:p>
              <a:endParaRPr/>
            </a:p>
          </p:txBody>
        </p:sp>
        <p:sp>
          <p:nvSpPr>
            <p:cNvPr id="20" name="object 20"/>
            <p:cNvSpPr/>
            <p:nvPr/>
          </p:nvSpPr>
          <p:spPr>
            <a:xfrm>
              <a:off x="6653474" y="2745958"/>
              <a:ext cx="431165" cy="638810"/>
            </a:xfrm>
            <a:custGeom>
              <a:avLst/>
              <a:gdLst/>
              <a:ahLst/>
              <a:cxnLst/>
              <a:rect l="l" t="t" r="r" b="b"/>
              <a:pathLst>
                <a:path w="431165" h="638810">
                  <a:moveTo>
                    <a:pt x="430965" y="0"/>
                  </a:moveTo>
                  <a:lnTo>
                    <a:pt x="0" y="638816"/>
                  </a:lnTo>
                </a:path>
              </a:pathLst>
            </a:custGeom>
            <a:ln w="9525">
              <a:solidFill>
                <a:srgbClr val="000000"/>
              </a:solidFill>
            </a:ln>
          </p:spPr>
          <p:txBody>
            <a:bodyPr wrap="square" lIns="0" tIns="0" rIns="0" bIns="0" rtlCol="0"/>
            <a:lstStyle/>
            <a:p>
              <a:endParaRPr/>
            </a:p>
          </p:txBody>
        </p:sp>
        <p:sp>
          <p:nvSpPr>
            <p:cNvPr id="21" name="object 21"/>
            <p:cNvSpPr/>
            <p:nvPr/>
          </p:nvSpPr>
          <p:spPr>
            <a:xfrm>
              <a:off x="5391548" y="3384774"/>
              <a:ext cx="315595" cy="201295"/>
            </a:xfrm>
            <a:custGeom>
              <a:avLst/>
              <a:gdLst/>
              <a:ahLst/>
              <a:cxnLst/>
              <a:rect l="l" t="t" r="r" b="b"/>
              <a:pathLst>
                <a:path w="315595" h="201295">
                  <a:moveTo>
                    <a:pt x="315385" y="0"/>
                  </a:moveTo>
                  <a:lnTo>
                    <a:pt x="0" y="201109"/>
                  </a:lnTo>
                </a:path>
              </a:pathLst>
            </a:custGeom>
            <a:solidFill>
              <a:srgbClr val="C0C0C0">
                <a:alpha val="50199"/>
              </a:srgbClr>
            </a:solidFill>
          </p:spPr>
          <p:txBody>
            <a:bodyPr wrap="square" lIns="0" tIns="0" rIns="0" bIns="0" rtlCol="0"/>
            <a:lstStyle/>
            <a:p>
              <a:endParaRPr/>
            </a:p>
          </p:txBody>
        </p:sp>
        <p:sp>
          <p:nvSpPr>
            <p:cNvPr id="22" name="object 22"/>
            <p:cNvSpPr/>
            <p:nvPr/>
          </p:nvSpPr>
          <p:spPr>
            <a:xfrm>
              <a:off x="5391548" y="3384774"/>
              <a:ext cx="315595" cy="201295"/>
            </a:xfrm>
            <a:custGeom>
              <a:avLst/>
              <a:gdLst/>
              <a:ahLst/>
              <a:cxnLst/>
              <a:rect l="l" t="t" r="r" b="b"/>
              <a:pathLst>
                <a:path w="315595" h="201295">
                  <a:moveTo>
                    <a:pt x="315386" y="0"/>
                  </a:moveTo>
                  <a:lnTo>
                    <a:pt x="0" y="201109"/>
                  </a:lnTo>
                </a:path>
              </a:pathLst>
            </a:custGeom>
            <a:ln w="12700">
              <a:solidFill>
                <a:srgbClr val="000000"/>
              </a:solidFill>
            </a:ln>
          </p:spPr>
          <p:txBody>
            <a:bodyPr wrap="square" lIns="0" tIns="0" rIns="0" bIns="0" rtlCol="0"/>
            <a:lstStyle/>
            <a:p>
              <a:endParaRPr/>
            </a:p>
          </p:txBody>
        </p:sp>
      </p:grpSp>
      <p:sp>
        <p:nvSpPr>
          <p:cNvPr id="23" name="object 23"/>
          <p:cNvSpPr txBox="1"/>
          <p:nvPr/>
        </p:nvSpPr>
        <p:spPr>
          <a:xfrm>
            <a:off x="6074936" y="4381500"/>
            <a:ext cx="59372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Y</a:t>
            </a:r>
            <a:r>
              <a:rPr sz="900" spc="-10">
                <a:latin typeface="Calibri"/>
                <a:cs typeface="Calibri"/>
              </a:rPr>
              <a:t>a</a:t>
            </a:r>
            <a:r>
              <a:rPr sz="900" spc="-5">
                <a:latin typeface="Calibri"/>
                <a:cs typeface="Calibri"/>
              </a:rPr>
              <a:t>rd</a:t>
            </a:r>
            <a:r>
              <a:rPr sz="900" spc="-10">
                <a:latin typeface="Calibri"/>
                <a:cs typeface="Calibri"/>
              </a:rPr>
              <a:t>a</a:t>
            </a:r>
            <a:r>
              <a:rPr sz="900">
                <a:latin typeface="Calibri"/>
                <a:cs typeface="Calibri"/>
              </a:rPr>
              <a:t>g</a:t>
            </a:r>
            <a:r>
              <a:rPr sz="900" spc="15">
                <a:latin typeface="Calibri"/>
                <a:cs typeface="Calibri"/>
              </a:rPr>
              <a:t>e</a:t>
            </a:r>
            <a:r>
              <a:rPr sz="900" spc="-20">
                <a:latin typeface="Calibri"/>
                <a:cs typeface="Calibri"/>
              </a:rPr>
              <a:t> </a:t>
            </a:r>
            <a:r>
              <a:rPr sz="900" spc="-5">
                <a:latin typeface="Calibri"/>
                <a:cs typeface="Calibri"/>
              </a:rPr>
              <a:t>D</a:t>
            </a:r>
            <a:r>
              <a:rPr sz="900">
                <a:latin typeface="Calibri"/>
                <a:cs typeface="Calibri"/>
              </a:rPr>
              <a:t>if</a:t>
            </a:r>
            <a:r>
              <a:rPr sz="900" spc="10">
                <a:latin typeface="Calibri"/>
                <a:cs typeface="Calibri"/>
              </a:rPr>
              <a:t>f</a:t>
            </a:r>
            <a:endParaRPr sz="900">
              <a:latin typeface="Calibri"/>
              <a:cs typeface="Calibri"/>
            </a:endParaRPr>
          </a:p>
        </p:txBody>
      </p:sp>
      <p:grpSp>
        <p:nvGrpSpPr>
          <p:cNvPr id="24" name="object 24"/>
          <p:cNvGrpSpPr/>
          <p:nvPr/>
        </p:nvGrpSpPr>
        <p:grpSpPr>
          <a:xfrm>
            <a:off x="6366243" y="3751087"/>
            <a:ext cx="1356360" cy="925830"/>
            <a:chOff x="4842243" y="3751087"/>
            <a:chExt cx="1356360" cy="925830"/>
          </a:xfrm>
        </p:grpSpPr>
        <p:sp>
          <p:nvSpPr>
            <p:cNvPr id="25" name="object 25"/>
            <p:cNvSpPr/>
            <p:nvPr/>
          </p:nvSpPr>
          <p:spPr>
            <a:xfrm>
              <a:off x="4847005" y="3755849"/>
              <a:ext cx="0" cy="517525"/>
            </a:xfrm>
            <a:custGeom>
              <a:avLst/>
              <a:gdLst/>
              <a:ahLst/>
              <a:cxnLst/>
              <a:rect l="l" t="t" r="r" b="b"/>
              <a:pathLst>
                <a:path h="517525">
                  <a:moveTo>
                    <a:pt x="0" y="0"/>
                  </a:moveTo>
                  <a:lnTo>
                    <a:pt x="1" y="517486"/>
                  </a:lnTo>
                </a:path>
              </a:pathLst>
            </a:custGeom>
            <a:solidFill>
              <a:srgbClr val="C0C0C0">
                <a:alpha val="50199"/>
              </a:srgbClr>
            </a:solidFill>
          </p:spPr>
          <p:txBody>
            <a:bodyPr wrap="square" lIns="0" tIns="0" rIns="0" bIns="0" rtlCol="0"/>
            <a:lstStyle/>
            <a:p>
              <a:endParaRPr/>
            </a:p>
          </p:txBody>
        </p:sp>
        <p:sp>
          <p:nvSpPr>
            <p:cNvPr id="26" name="object 26"/>
            <p:cNvSpPr/>
            <p:nvPr/>
          </p:nvSpPr>
          <p:spPr>
            <a:xfrm>
              <a:off x="4847005" y="3755849"/>
              <a:ext cx="0" cy="517525"/>
            </a:xfrm>
            <a:custGeom>
              <a:avLst/>
              <a:gdLst/>
              <a:ahLst/>
              <a:cxnLst/>
              <a:rect l="l" t="t" r="r" b="b"/>
              <a:pathLst>
                <a:path h="517525">
                  <a:moveTo>
                    <a:pt x="0" y="0"/>
                  </a:moveTo>
                  <a:lnTo>
                    <a:pt x="1" y="517486"/>
                  </a:lnTo>
                </a:path>
              </a:pathLst>
            </a:custGeom>
            <a:ln w="9525">
              <a:solidFill>
                <a:srgbClr val="000000"/>
              </a:solidFill>
            </a:ln>
          </p:spPr>
          <p:txBody>
            <a:bodyPr wrap="square" lIns="0" tIns="0" rIns="0" bIns="0" rtlCol="0"/>
            <a:lstStyle/>
            <a:p>
              <a:endParaRPr/>
            </a:p>
          </p:txBody>
        </p:sp>
        <p:sp>
          <p:nvSpPr>
            <p:cNvPr id="27" name="object 27"/>
            <p:cNvSpPr/>
            <p:nvPr/>
          </p:nvSpPr>
          <p:spPr>
            <a:xfrm>
              <a:off x="4847006" y="3755849"/>
              <a:ext cx="915669" cy="517525"/>
            </a:xfrm>
            <a:custGeom>
              <a:avLst/>
              <a:gdLst/>
              <a:ahLst/>
              <a:cxnLst/>
              <a:rect l="l" t="t" r="r" b="b"/>
              <a:pathLst>
                <a:path w="915670" h="517525">
                  <a:moveTo>
                    <a:pt x="0" y="0"/>
                  </a:moveTo>
                  <a:lnTo>
                    <a:pt x="915249" y="517486"/>
                  </a:lnTo>
                </a:path>
              </a:pathLst>
            </a:custGeom>
            <a:solidFill>
              <a:srgbClr val="C0C0C0">
                <a:alpha val="50199"/>
              </a:srgbClr>
            </a:solidFill>
          </p:spPr>
          <p:txBody>
            <a:bodyPr wrap="square" lIns="0" tIns="0" rIns="0" bIns="0" rtlCol="0"/>
            <a:lstStyle/>
            <a:p>
              <a:endParaRPr/>
            </a:p>
          </p:txBody>
        </p:sp>
        <p:sp>
          <p:nvSpPr>
            <p:cNvPr id="28" name="object 28"/>
            <p:cNvSpPr/>
            <p:nvPr/>
          </p:nvSpPr>
          <p:spPr>
            <a:xfrm>
              <a:off x="4847006" y="3755849"/>
              <a:ext cx="915669" cy="517525"/>
            </a:xfrm>
            <a:custGeom>
              <a:avLst/>
              <a:gdLst/>
              <a:ahLst/>
              <a:cxnLst/>
              <a:rect l="l" t="t" r="r" b="b"/>
              <a:pathLst>
                <a:path w="915670" h="517525">
                  <a:moveTo>
                    <a:pt x="0" y="0"/>
                  </a:moveTo>
                  <a:lnTo>
                    <a:pt x="915250" y="517486"/>
                  </a:lnTo>
                </a:path>
              </a:pathLst>
            </a:custGeom>
            <a:ln w="9525">
              <a:solidFill>
                <a:srgbClr val="000000"/>
              </a:solidFill>
            </a:ln>
          </p:spPr>
          <p:txBody>
            <a:bodyPr wrap="square" lIns="0" tIns="0" rIns="0" bIns="0" rtlCol="0"/>
            <a:lstStyle/>
            <a:p>
              <a:endParaRPr/>
            </a:p>
          </p:txBody>
        </p:sp>
        <p:sp>
          <p:nvSpPr>
            <p:cNvPr id="29" name="object 29"/>
            <p:cNvSpPr/>
            <p:nvPr/>
          </p:nvSpPr>
          <p:spPr>
            <a:xfrm>
              <a:off x="5331158" y="4273335"/>
              <a:ext cx="862330" cy="398780"/>
            </a:xfrm>
            <a:custGeom>
              <a:avLst/>
              <a:gdLst/>
              <a:ahLst/>
              <a:cxnLst/>
              <a:rect l="l" t="t" r="r" b="b"/>
              <a:pathLst>
                <a:path w="862329"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30" name="object 30"/>
            <p:cNvSpPr/>
            <p:nvPr/>
          </p:nvSpPr>
          <p:spPr>
            <a:xfrm>
              <a:off x="5331158" y="4273335"/>
              <a:ext cx="862330" cy="398780"/>
            </a:xfrm>
            <a:custGeom>
              <a:avLst/>
              <a:gdLst/>
              <a:ahLst/>
              <a:cxnLst/>
              <a:rect l="l" t="t" r="r" b="b"/>
              <a:pathLst>
                <a:path w="862329"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31" name="object 31"/>
          <p:cNvSpPr txBox="1"/>
          <p:nvPr/>
        </p:nvSpPr>
        <p:spPr>
          <a:xfrm>
            <a:off x="7000506" y="4381500"/>
            <a:ext cx="5734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Touchdown</a:t>
            </a:r>
            <a:endParaRPr sz="900">
              <a:latin typeface="Calibri"/>
              <a:cs typeface="Calibri"/>
            </a:endParaRPr>
          </a:p>
        </p:txBody>
      </p:sp>
      <p:sp>
        <p:nvSpPr>
          <p:cNvPr id="32" name="object 32"/>
          <p:cNvSpPr txBox="1"/>
          <p:nvPr/>
        </p:nvSpPr>
        <p:spPr>
          <a:xfrm>
            <a:off x="3421382" y="2214834"/>
            <a:ext cx="726440" cy="223138"/>
          </a:xfrm>
          <a:prstGeom prst="rect">
            <a:avLst/>
          </a:prstGeom>
          <a:solidFill>
            <a:srgbClr val="F2DCDB"/>
          </a:solidFill>
          <a:ln w="9525">
            <a:solidFill>
              <a:srgbClr val="000000"/>
            </a:solidFill>
          </a:ln>
        </p:spPr>
        <p:txBody>
          <a:bodyPr vert="horz" wrap="square" lIns="0" tIns="83820" rIns="0" bIns="0" rtlCol="0">
            <a:spAutoFit/>
          </a:bodyPr>
          <a:lstStyle/>
          <a:p>
            <a:pPr marL="196215">
              <a:spcBef>
                <a:spcPts val="660"/>
              </a:spcBef>
            </a:pPr>
            <a:r>
              <a:rPr sz="900">
                <a:latin typeface="Calibri"/>
                <a:cs typeface="Calibri"/>
              </a:rPr>
              <a:t>Players</a:t>
            </a:r>
          </a:p>
        </p:txBody>
      </p:sp>
      <p:grpSp>
        <p:nvGrpSpPr>
          <p:cNvPr id="33" name="object 33"/>
          <p:cNvGrpSpPr/>
          <p:nvPr/>
        </p:nvGrpSpPr>
        <p:grpSpPr>
          <a:xfrm>
            <a:off x="2611151" y="1533398"/>
            <a:ext cx="871855" cy="408305"/>
            <a:chOff x="1087150" y="1533397"/>
            <a:chExt cx="871855" cy="408305"/>
          </a:xfrm>
        </p:grpSpPr>
        <p:sp>
          <p:nvSpPr>
            <p:cNvPr id="34" name="object 34"/>
            <p:cNvSpPr/>
            <p:nvPr/>
          </p:nvSpPr>
          <p:spPr>
            <a:xfrm>
              <a:off x="1091913" y="1538160"/>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35" name="object 35"/>
            <p:cNvSpPr/>
            <p:nvPr/>
          </p:nvSpPr>
          <p:spPr>
            <a:xfrm>
              <a:off x="1091913" y="1538160"/>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36" name="object 36"/>
          <p:cNvSpPr txBox="1"/>
          <p:nvPr/>
        </p:nvSpPr>
        <p:spPr>
          <a:xfrm>
            <a:off x="2902546" y="1646767"/>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grpSp>
        <p:nvGrpSpPr>
          <p:cNvPr id="37" name="object 37"/>
          <p:cNvGrpSpPr/>
          <p:nvPr/>
        </p:nvGrpSpPr>
        <p:grpSpPr>
          <a:xfrm>
            <a:off x="3042249" y="1931652"/>
            <a:ext cx="2419985" cy="444500"/>
            <a:chOff x="1518248" y="1931652"/>
            <a:chExt cx="2419985" cy="444500"/>
          </a:xfrm>
        </p:grpSpPr>
        <p:sp>
          <p:nvSpPr>
            <p:cNvPr id="38" name="object 38"/>
            <p:cNvSpPr/>
            <p:nvPr/>
          </p:nvSpPr>
          <p:spPr>
            <a:xfrm>
              <a:off x="1523010" y="1936414"/>
              <a:ext cx="737870" cy="278765"/>
            </a:xfrm>
            <a:custGeom>
              <a:avLst/>
              <a:gdLst/>
              <a:ahLst/>
              <a:cxnLst/>
              <a:rect l="l" t="t" r="r" b="b"/>
              <a:pathLst>
                <a:path w="737869" h="278764">
                  <a:moveTo>
                    <a:pt x="0" y="0"/>
                  </a:moveTo>
                  <a:lnTo>
                    <a:pt x="737402" y="278420"/>
                  </a:lnTo>
                </a:path>
              </a:pathLst>
            </a:custGeom>
            <a:solidFill>
              <a:srgbClr val="C0C0C0">
                <a:alpha val="50199"/>
              </a:srgbClr>
            </a:solidFill>
          </p:spPr>
          <p:txBody>
            <a:bodyPr wrap="square" lIns="0" tIns="0" rIns="0" bIns="0" rtlCol="0"/>
            <a:lstStyle/>
            <a:p>
              <a:endParaRPr/>
            </a:p>
          </p:txBody>
        </p:sp>
        <p:sp>
          <p:nvSpPr>
            <p:cNvPr id="39" name="object 39"/>
            <p:cNvSpPr/>
            <p:nvPr/>
          </p:nvSpPr>
          <p:spPr>
            <a:xfrm>
              <a:off x="1523010" y="1936414"/>
              <a:ext cx="737870" cy="278765"/>
            </a:xfrm>
            <a:custGeom>
              <a:avLst/>
              <a:gdLst/>
              <a:ahLst/>
              <a:cxnLst/>
              <a:rect l="l" t="t" r="r" b="b"/>
              <a:pathLst>
                <a:path w="737869" h="278764">
                  <a:moveTo>
                    <a:pt x="0" y="0"/>
                  </a:moveTo>
                  <a:lnTo>
                    <a:pt x="737402" y="278420"/>
                  </a:lnTo>
                </a:path>
              </a:pathLst>
            </a:custGeom>
            <a:ln w="9525">
              <a:solidFill>
                <a:srgbClr val="000000"/>
              </a:solidFill>
            </a:ln>
          </p:spPr>
          <p:txBody>
            <a:bodyPr wrap="square" lIns="0" tIns="0" rIns="0" bIns="0" rtlCol="0"/>
            <a:lstStyle/>
            <a:p>
              <a:endParaRPr/>
            </a:p>
          </p:txBody>
        </p:sp>
        <p:sp>
          <p:nvSpPr>
            <p:cNvPr id="40" name="object 40"/>
            <p:cNvSpPr/>
            <p:nvPr/>
          </p:nvSpPr>
          <p:spPr>
            <a:xfrm>
              <a:off x="2623440" y="2148459"/>
              <a:ext cx="363220" cy="221615"/>
            </a:xfrm>
            <a:custGeom>
              <a:avLst/>
              <a:gdLst/>
              <a:ahLst/>
              <a:cxnLst/>
              <a:rect l="l" t="t" r="r" b="b"/>
              <a:pathLst>
                <a:path w="363219" h="221614">
                  <a:moveTo>
                    <a:pt x="363029" y="0"/>
                  </a:moveTo>
                  <a:lnTo>
                    <a:pt x="0" y="221251"/>
                  </a:lnTo>
                </a:path>
              </a:pathLst>
            </a:custGeom>
            <a:solidFill>
              <a:srgbClr val="C0C0C0">
                <a:alpha val="50199"/>
              </a:srgbClr>
            </a:solidFill>
          </p:spPr>
          <p:txBody>
            <a:bodyPr wrap="square" lIns="0" tIns="0" rIns="0" bIns="0" rtlCol="0"/>
            <a:lstStyle/>
            <a:p>
              <a:endParaRPr/>
            </a:p>
          </p:txBody>
        </p:sp>
        <p:sp>
          <p:nvSpPr>
            <p:cNvPr id="41" name="object 41"/>
            <p:cNvSpPr/>
            <p:nvPr/>
          </p:nvSpPr>
          <p:spPr>
            <a:xfrm>
              <a:off x="2623440" y="2148458"/>
              <a:ext cx="363220" cy="221615"/>
            </a:xfrm>
            <a:custGeom>
              <a:avLst/>
              <a:gdLst/>
              <a:ahLst/>
              <a:cxnLst/>
              <a:rect l="l" t="t" r="r" b="b"/>
              <a:pathLst>
                <a:path w="363219" h="221614">
                  <a:moveTo>
                    <a:pt x="0" y="221252"/>
                  </a:moveTo>
                  <a:lnTo>
                    <a:pt x="363029" y="0"/>
                  </a:lnTo>
                </a:path>
              </a:pathLst>
            </a:custGeom>
            <a:ln w="12700">
              <a:solidFill>
                <a:srgbClr val="000000"/>
              </a:solidFill>
            </a:ln>
          </p:spPr>
          <p:txBody>
            <a:bodyPr wrap="square" lIns="0" tIns="0" rIns="0" bIns="0" rtlCol="0"/>
            <a:lstStyle/>
            <a:p>
              <a:endParaRPr/>
            </a:p>
          </p:txBody>
        </p:sp>
        <p:sp>
          <p:nvSpPr>
            <p:cNvPr id="42" name="object 42"/>
            <p:cNvSpPr/>
            <p:nvPr/>
          </p:nvSpPr>
          <p:spPr>
            <a:xfrm>
              <a:off x="2986468" y="1949331"/>
              <a:ext cx="946785" cy="398780"/>
            </a:xfrm>
            <a:custGeom>
              <a:avLst/>
              <a:gdLst/>
              <a:ahLst/>
              <a:cxnLst/>
              <a:rect l="l" t="t" r="r" b="b"/>
              <a:pathLst>
                <a:path w="946785" h="398780">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43" name="object 43"/>
            <p:cNvSpPr/>
            <p:nvPr/>
          </p:nvSpPr>
          <p:spPr>
            <a:xfrm>
              <a:off x="2986468" y="1949331"/>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44" name="object 44"/>
          <p:cNvSpPr txBox="1"/>
          <p:nvPr/>
        </p:nvSpPr>
        <p:spPr>
          <a:xfrm>
            <a:off x="4713072" y="2061634"/>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grpSp>
        <p:nvGrpSpPr>
          <p:cNvPr id="45" name="object 45"/>
          <p:cNvGrpSpPr/>
          <p:nvPr/>
        </p:nvGrpSpPr>
        <p:grpSpPr>
          <a:xfrm>
            <a:off x="3579515" y="1533398"/>
            <a:ext cx="871855" cy="408305"/>
            <a:chOff x="2055514" y="1533397"/>
            <a:chExt cx="871855" cy="408305"/>
          </a:xfrm>
        </p:grpSpPr>
        <p:sp>
          <p:nvSpPr>
            <p:cNvPr id="46" name="object 46"/>
            <p:cNvSpPr/>
            <p:nvPr/>
          </p:nvSpPr>
          <p:spPr>
            <a:xfrm>
              <a:off x="2060276" y="1538160"/>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47" name="object 47"/>
            <p:cNvSpPr/>
            <p:nvPr/>
          </p:nvSpPr>
          <p:spPr>
            <a:xfrm>
              <a:off x="2060276" y="1538160"/>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48" name="object 48"/>
          <p:cNvSpPr txBox="1"/>
          <p:nvPr/>
        </p:nvSpPr>
        <p:spPr>
          <a:xfrm>
            <a:off x="3796298" y="1646767"/>
            <a:ext cx="441959"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P</a:t>
            </a:r>
            <a:r>
              <a:rPr sz="900" u="sng">
                <a:uFill>
                  <a:solidFill>
                    <a:srgbClr val="000000"/>
                  </a:solidFill>
                </a:uFill>
                <a:latin typeface="Calibri"/>
                <a:cs typeface="Calibri"/>
              </a:rPr>
              <a:t>l</a:t>
            </a:r>
            <a:r>
              <a:rPr sz="900" u="sng" spc="-10">
                <a:uFill>
                  <a:solidFill>
                    <a:srgbClr val="000000"/>
                  </a:solidFill>
                </a:uFill>
                <a:latin typeface="Calibri"/>
                <a:cs typeface="Calibri"/>
              </a:rPr>
              <a:t>a</a:t>
            </a:r>
            <a:r>
              <a:rPr sz="900" u="sng" spc="5">
                <a:uFill>
                  <a:solidFill>
                    <a:srgbClr val="000000"/>
                  </a:solidFill>
                </a:uFill>
                <a:latin typeface="Calibri"/>
                <a:cs typeface="Calibri"/>
              </a:rPr>
              <a:t>y</a:t>
            </a:r>
            <a:r>
              <a:rPr sz="900" u="sng">
                <a:uFill>
                  <a:solidFill>
                    <a:srgbClr val="000000"/>
                  </a:solidFill>
                </a:uFill>
                <a:latin typeface="Calibri"/>
                <a:cs typeface="Calibri"/>
              </a:rPr>
              <a:t>e</a:t>
            </a:r>
            <a:r>
              <a:rPr sz="900" u="sng" spc="10">
                <a:uFill>
                  <a:solidFill>
                    <a:srgbClr val="000000"/>
                  </a:solidFill>
                </a:uFill>
                <a:latin typeface="Calibri"/>
                <a:cs typeface="Calibri"/>
              </a:rPr>
              <a:t>r</a:t>
            </a:r>
            <a:r>
              <a:rPr sz="900" u="sng" spc="-20">
                <a:uFill>
                  <a:solidFill>
                    <a:srgbClr val="000000"/>
                  </a:solidFill>
                </a:uFill>
                <a:latin typeface="Calibri"/>
                <a:cs typeface="Calibri"/>
              </a:rPr>
              <a:t> </a:t>
            </a:r>
            <a:r>
              <a:rPr sz="900" u="sng" spc="-5">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49" name="object 49"/>
          <p:cNvGrpSpPr/>
          <p:nvPr/>
        </p:nvGrpSpPr>
        <p:grpSpPr>
          <a:xfrm>
            <a:off x="3779652" y="1931652"/>
            <a:ext cx="240665" cy="288290"/>
            <a:chOff x="2255651" y="1931652"/>
            <a:chExt cx="240665" cy="288290"/>
          </a:xfrm>
        </p:grpSpPr>
        <p:sp>
          <p:nvSpPr>
            <p:cNvPr id="50" name="object 50"/>
            <p:cNvSpPr/>
            <p:nvPr/>
          </p:nvSpPr>
          <p:spPr>
            <a:xfrm>
              <a:off x="2260413" y="1936414"/>
              <a:ext cx="231140" cy="278765"/>
            </a:xfrm>
            <a:custGeom>
              <a:avLst/>
              <a:gdLst/>
              <a:ahLst/>
              <a:cxnLst/>
              <a:rect l="l" t="t" r="r" b="b"/>
              <a:pathLst>
                <a:path w="231139" h="278764">
                  <a:moveTo>
                    <a:pt x="230962" y="0"/>
                  </a:moveTo>
                  <a:lnTo>
                    <a:pt x="0" y="278420"/>
                  </a:lnTo>
                </a:path>
              </a:pathLst>
            </a:custGeom>
            <a:solidFill>
              <a:srgbClr val="C0C0C0">
                <a:alpha val="50199"/>
              </a:srgbClr>
            </a:solidFill>
          </p:spPr>
          <p:txBody>
            <a:bodyPr wrap="square" lIns="0" tIns="0" rIns="0" bIns="0" rtlCol="0"/>
            <a:lstStyle/>
            <a:p>
              <a:endParaRPr/>
            </a:p>
          </p:txBody>
        </p:sp>
        <p:sp>
          <p:nvSpPr>
            <p:cNvPr id="51" name="object 51"/>
            <p:cNvSpPr/>
            <p:nvPr/>
          </p:nvSpPr>
          <p:spPr>
            <a:xfrm>
              <a:off x="2260413" y="1936414"/>
              <a:ext cx="231140" cy="278765"/>
            </a:xfrm>
            <a:custGeom>
              <a:avLst/>
              <a:gdLst/>
              <a:ahLst/>
              <a:cxnLst/>
              <a:rect l="l" t="t" r="r" b="b"/>
              <a:pathLst>
                <a:path w="231139" h="278764">
                  <a:moveTo>
                    <a:pt x="230962" y="0"/>
                  </a:moveTo>
                  <a:lnTo>
                    <a:pt x="0" y="278420"/>
                  </a:lnTo>
                </a:path>
              </a:pathLst>
            </a:custGeom>
            <a:ln w="9525">
              <a:solidFill>
                <a:srgbClr val="000000"/>
              </a:solidFill>
            </a:ln>
          </p:spPr>
          <p:txBody>
            <a:bodyPr wrap="square" lIns="0" tIns="0" rIns="0" bIns="0" rtlCol="0"/>
            <a:lstStyle/>
            <a:p>
              <a:endParaRPr/>
            </a:p>
          </p:txBody>
        </p:sp>
      </p:grpSp>
      <p:sp>
        <p:nvSpPr>
          <p:cNvPr id="52" name="object 52"/>
          <p:cNvSpPr txBox="1"/>
          <p:nvPr/>
        </p:nvSpPr>
        <p:spPr>
          <a:xfrm>
            <a:off x="8063896" y="2413961"/>
            <a:ext cx="1089660" cy="235962"/>
          </a:xfrm>
          <a:prstGeom prst="rect">
            <a:avLst/>
          </a:prstGeom>
          <a:solidFill>
            <a:srgbClr val="F2DCDB"/>
          </a:solidFill>
          <a:ln w="9525">
            <a:solidFill>
              <a:srgbClr val="000000"/>
            </a:solidFill>
          </a:ln>
        </p:spPr>
        <p:txBody>
          <a:bodyPr vert="horz" wrap="square" lIns="0" tIns="96520" rIns="0" bIns="0" rtlCol="0">
            <a:spAutoFit/>
          </a:bodyPr>
          <a:lstStyle/>
          <a:p>
            <a:pPr marL="1905" algn="ctr">
              <a:spcBef>
                <a:spcPts val="760"/>
              </a:spcBef>
            </a:pPr>
            <a:r>
              <a:rPr sz="900" spc="-5">
                <a:latin typeface="Calibri"/>
                <a:cs typeface="Calibri"/>
              </a:rPr>
              <a:t>Games</a:t>
            </a:r>
            <a:endParaRPr sz="900">
              <a:latin typeface="Calibri"/>
              <a:cs typeface="Calibri"/>
            </a:endParaRPr>
          </a:p>
        </p:txBody>
      </p:sp>
      <p:grpSp>
        <p:nvGrpSpPr>
          <p:cNvPr id="53" name="object 53"/>
          <p:cNvGrpSpPr/>
          <p:nvPr/>
        </p:nvGrpSpPr>
        <p:grpSpPr>
          <a:xfrm>
            <a:off x="7404803" y="1391440"/>
            <a:ext cx="871855" cy="408305"/>
            <a:chOff x="5880802" y="1391439"/>
            <a:chExt cx="871855" cy="408305"/>
          </a:xfrm>
        </p:grpSpPr>
        <p:sp>
          <p:nvSpPr>
            <p:cNvPr id="54" name="object 54"/>
            <p:cNvSpPr/>
            <p:nvPr/>
          </p:nvSpPr>
          <p:spPr>
            <a:xfrm>
              <a:off x="5885564" y="1396202"/>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4"/>
                  </a:lnTo>
                  <a:lnTo>
                    <a:pt x="69452" y="307554"/>
                  </a:lnTo>
                  <a:lnTo>
                    <a:pt x="105740" y="329769"/>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55" name="object 55"/>
            <p:cNvSpPr/>
            <p:nvPr/>
          </p:nvSpPr>
          <p:spPr>
            <a:xfrm>
              <a:off x="5885564" y="1396202"/>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56" name="object 56"/>
          <p:cNvSpPr txBox="1"/>
          <p:nvPr/>
        </p:nvSpPr>
        <p:spPr>
          <a:xfrm>
            <a:off x="7723187" y="1502834"/>
            <a:ext cx="236854"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d</a:t>
            </a:r>
            <a:r>
              <a:rPr sz="900" u="sng" spc="-10">
                <a:uFill>
                  <a:solidFill>
                    <a:srgbClr val="000000"/>
                  </a:solidFill>
                </a:uFill>
                <a:latin typeface="Calibri"/>
                <a:cs typeface="Calibri"/>
              </a:rPr>
              <a:t>a</a:t>
            </a:r>
            <a:r>
              <a:rPr sz="900" u="sng" spc="-5">
                <a:uFill>
                  <a:solidFill>
                    <a:srgbClr val="000000"/>
                  </a:solidFill>
                </a:uFill>
                <a:latin typeface="Calibri"/>
                <a:cs typeface="Calibri"/>
              </a:rPr>
              <a:t>t</a:t>
            </a:r>
            <a:r>
              <a:rPr sz="900" u="sng" spc="15">
                <a:uFill>
                  <a:solidFill>
                    <a:srgbClr val="000000"/>
                  </a:solidFill>
                </a:uFill>
                <a:latin typeface="Calibri"/>
                <a:cs typeface="Calibri"/>
              </a:rPr>
              <a:t>e</a:t>
            </a:r>
            <a:endParaRPr sz="900">
              <a:latin typeface="Calibri"/>
              <a:cs typeface="Calibri"/>
            </a:endParaRPr>
          </a:p>
        </p:txBody>
      </p:sp>
      <p:grpSp>
        <p:nvGrpSpPr>
          <p:cNvPr id="57" name="object 57"/>
          <p:cNvGrpSpPr/>
          <p:nvPr/>
        </p:nvGrpSpPr>
        <p:grpSpPr>
          <a:xfrm>
            <a:off x="7835901" y="1789695"/>
            <a:ext cx="777875" cy="629285"/>
            <a:chOff x="6311900" y="1789694"/>
            <a:chExt cx="777875" cy="629285"/>
          </a:xfrm>
        </p:grpSpPr>
        <p:sp>
          <p:nvSpPr>
            <p:cNvPr id="58" name="object 58"/>
            <p:cNvSpPr/>
            <p:nvPr/>
          </p:nvSpPr>
          <p:spPr>
            <a:xfrm>
              <a:off x="6316662" y="1794456"/>
              <a:ext cx="768350" cy="619760"/>
            </a:xfrm>
            <a:custGeom>
              <a:avLst/>
              <a:gdLst/>
              <a:ahLst/>
              <a:cxnLst/>
              <a:rect l="l" t="t" r="r" b="b"/>
              <a:pathLst>
                <a:path w="768350" h="619760">
                  <a:moveTo>
                    <a:pt x="0" y="0"/>
                  </a:moveTo>
                  <a:lnTo>
                    <a:pt x="767778" y="619504"/>
                  </a:lnTo>
                </a:path>
              </a:pathLst>
            </a:custGeom>
            <a:solidFill>
              <a:srgbClr val="C0C0C0">
                <a:alpha val="50199"/>
              </a:srgbClr>
            </a:solidFill>
          </p:spPr>
          <p:txBody>
            <a:bodyPr wrap="square" lIns="0" tIns="0" rIns="0" bIns="0" rtlCol="0"/>
            <a:lstStyle/>
            <a:p>
              <a:endParaRPr/>
            </a:p>
          </p:txBody>
        </p:sp>
        <p:sp>
          <p:nvSpPr>
            <p:cNvPr id="59" name="object 59"/>
            <p:cNvSpPr/>
            <p:nvPr/>
          </p:nvSpPr>
          <p:spPr>
            <a:xfrm>
              <a:off x="6316662" y="1794456"/>
              <a:ext cx="768350" cy="619760"/>
            </a:xfrm>
            <a:custGeom>
              <a:avLst/>
              <a:gdLst/>
              <a:ahLst/>
              <a:cxnLst/>
              <a:rect l="l" t="t" r="r" b="b"/>
              <a:pathLst>
                <a:path w="768350" h="619760">
                  <a:moveTo>
                    <a:pt x="0" y="0"/>
                  </a:moveTo>
                  <a:lnTo>
                    <a:pt x="767779" y="619505"/>
                  </a:lnTo>
                </a:path>
              </a:pathLst>
            </a:custGeom>
            <a:ln w="9525">
              <a:solidFill>
                <a:srgbClr val="000000"/>
              </a:solidFill>
            </a:ln>
          </p:spPr>
          <p:txBody>
            <a:bodyPr wrap="square" lIns="0" tIns="0" rIns="0" bIns="0" rtlCol="0"/>
            <a:lstStyle/>
            <a:p>
              <a:endParaRPr/>
            </a:p>
          </p:txBody>
        </p:sp>
      </p:grpSp>
      <p:sp>
        <p:nvSpPr>
          <p:cNvPr id="60" name="object 60"/>
          <p:cNvSpPr txBox="1"/>
          <p:nvPr/>
        </p:nvSpPr>
        <p:spPr>
          <a:xfrm>
            <a:off x="5826462" y="1794455"/>
            <a:ext cx="726440" cy="219932"/>
          </a:xfrm>
          <a:prstGeom prst="rect">
            <a:avLst/>
          </a:prstGeom>
          <a:solidFill>
            <a:srgbClr val="F2DCDB"/>
          </a:solidFill>
          <a:ln w="9525">
            <a:solidFill>
              <a:srgbClr val="000000"/>
            </a:solidFill>
          </a:ln>
        </p:spPr>
        <p:txBody>
          <a:bodyPr vert="horz" wrap="square" lIns="0" tIns="80645" rIns="0" bIns="0" rtlCol="0">
            <a:spAutoFit/>
          </a:bodyPr>
          <a:lstStyle/>
          <a:p>
            <a:pPr marL="210820">
              <a:spcBef>
                <a:spcPts val="635"/>
              </a:spcBef>
            </a:pPr>
            <a:r>
              <a:rPr sz="900" spc="-5">
                <a:latin typeface="Calibri"/>
                <a:cs typeface="Calibri"/>
              </a:rPr>
              <a:t>Teams</a:t>
            </a:r>
            <a:endParaRPr sz="900">
              <a:latin typeface="Calibri"/>
              <a:cs typeface="Calibri"/>
            </a:endParaRPr>
          </a:p>
        </p:txBody>
      </p:sp>
      <p:grpSp>
        <p:nvGrpSpPr>
          <p:cNvPr id="61" name="object 61"/>
          <p:cNvGrpSpPr/>
          <p:nvPr/>
        </p:nvGrpSpPr>
        <p:grpSpPr>
          <a:xfrm>
            <a:off x="5676402" y="1173740"/>
            <a:ext cx="871855" cy="408305"/>
            <a:chOff x="4152401" y="1173739"/>
            <a:chExt cx="871855" cy="408305"/>
          </a:xfrm>
        </p:grpSpPr>
        <p:sp>
          <p:nvSpPr>
            <p:cNvPr id="62" name="object 62"/>
            <p:cNvSpPr/>
            <p:nvPr/>
          </p:nvSpPr>
          <p:spPr>
            <a:xfrm>
              <a:off x="4157164" y="1178501"/>
              <a:ext cx="862330" cy="398780"/>
            </a:xfrm>
            <a:custGeom>
              <a:avLst/>
              <a:gdLst/>
              <a:ahLst/>
              <a:cxnLst/>
              <a:rect l="l" t="t" r="r" b="b"/>
              <a:pathLst>
                <a:path w="862329" h="398780">
                  <a:moveTo>
                    <a:pt x="431096" y="0"/>
                  </a:moveTo>
                  <a:lnTo>
                    <a:pt x="367392" y="2159"/>
                  </a:lnTo>
                  <a:lnTo>
                    <a:pt x="306590" y="8430"/>
                  </a:lnTo>
                  <a:lnTo>
                    <a:pt x="249357" y="18507"/>
                  </a:lnTo>
                  <a:lnTo>
                    <a:pt x="196360" y="32080"/>
                  </a:lnTo>
                  <a:lnTo>
                    <a:pt x="148265" y="48842"/>
                  </a:lnTo>
                  <a:lnTo>
                    <a:pt x="105741" y="68484"/>
                  </a:lnTo>
                  <a:lnTo>
                    <a:pt x="69452" y="90699"/>
                  </a:lnTo>
                  <a:lnTo>
                    <a:pt x="40067" y="115179"/>
                  </a:lnTo>
                  <a:lnTo>
                    <a:pt x="4674" y="169701"/>
                  </a:lnTo>
                  <a:lnTo>
                    <a:pt x="0" y="199127"/>
                  </a:lnTo>
                  <a:lnTo>
                    <a:pt x="4674" y="228552"/>
                  </a:lnTo>
                  <a:lnTo>
                    <a:pt x="40067" y="283073"/>
                  </a:lnTo>
                  <a:lnTo>
                    <a:pt x="69452" y="307553"/>
                  </a:lnTo>
                  <a:lnTo>
                    <a:pt x="105741" y="329768"/>
                  </a:lnTo>
                  <a:lnTo>
                    <a:pt x="148265" y="349410"/>
                  </a:lnTo>
                  <a:lnTo>
                    <a:pt x="196360" y="366172"/>
                  </a:lnTo>
                  <a:lnTo>
                    <a:pt x="249357" y="379745"/>
                  </a:lnTo>
                  <a:lnTo>
                    <a:pt x="306590" y="389822"/>
                  </a:lnTo>
                  <a:lnTo>
                    <a:pt x="367392" y="396093"/>
                  </a:lnTo>
                  <a:lnTo>
                    <a:pt x="431096" y="398252"/>
                  </a:lnTo>
                  <a:lnTo>
                    <a:pt x="494800" y="396093"/>
                  </a:lnTo>
                  <a:lnTo>
                    <a:pt x="555602" y="389822"/>
                  </a:lnTo>
                  <a:lnTo>
                    <a:pt x="612835" y="379745"/>
                  </a:lnTo>
                  <a:lnTo>
                    <a:pt x="665833" y="366172"/>
                  </a:lnTo>
                  <a:lnTo>
                    <a:pt x="713927" y="349410"/>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63" name="object 63"/>
            <p:cNvSpPr/>
            <p:nvPr/>
          </p:nvSpPr>
          <p:spPr>
            <a:xfrm>
              <a:off x="4157164" y="1178501"/>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64" name="object 64"/>
          <p:cNvSpPr txBox="1"/>
          <p:nvPr/>
        </p:nvSpPr>
        <p:spPr>
          <a:xfrm>
            <a:off x="5908267" y="1291167"/>
            <a:ext cx="41148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Te</a:t>
            </a:r>
            <a:r>
              <a:rPr sz="900" u="sng" spc="-10">
                <a:uFill>
                  <a:solidFill>
                    <a:srgbClr val="000000"/>
                  </a:solidFill>
                </a:uFill>
                <a:latin typeface="Calibri"/>
                <a:cs typeface="Calibri"/>
              </a:rPr>
              <a:t>a</a:t>
            </a:r>
            <a:r>
              <a:rPr sz="900" u="sng" spc="25">
                <a:uFill>
                  <a:solidFill>
                    <a:srgbClr val="000000"/>
                  </a:solidFill>
                </a:uFill>
                <a:latin typeface="Calibri"/>
                <a:cs typeface="Calibri"/>
              </a:rPr>
              <a:t>m</a:t>
            </a:r>
            <a:r>
              <a:rPr sz="900" u="sng" spc="-25">
                <a:uFill>
                  <a:solidFill>
                    <a:srgbClr val="000000"/>
                  </a:solidFill>
                </a:uFill>
                <a:latin typeface="Calibri"/>
                <a:cs typeface="Calibri"/>
              </a:rPr>
              <a:t> </a:t>
            </a:r>
            <a:r>
              <a:rPr sz="900" u="sng" spc="-10">
                <a:uFill>
                  <a:solidFill>
                    <a:srgbClr val="000000"/>
                  </a:solidFill>
                </a:uFill>
                <a:latin typeface="Calibri"/>
                <a:cs typeface="Calibri"/>
              </a:rPr>
              <a:t>I</a:t>
            </a:r>
            <a:r>
              <a:rPr sz="900" u="sng" spc="20">
                <a:uFill>
                  <a:solidFill>
                    <a:srgbClr val="000000"/>
                  </a:solidFill>
                </a:uFill>
                <a:latin typeface="Calibri"/>
                <a:cs typeface="Calibri"/>
              </a:rPr>
              <a:t>D</a:t>
            </a:r>
            <a:endParaRPr sz="900">
              <a:latin typeface="Calibri"/>
              <a:cs typeface="Calibri"/>
            </a:endParaRPr>
          </a:p>
        </p:txBody>
      </p:sp>
      <p:grpSp>
        <p:nvGrpSpPr>
          <p:cNvPr id="65" name="object 65"/>
          <p:cNvGrpSpPr/>
          <p:nvPr/>
        </p:nvGrpSpPr>
        <p:grpSpPr>
          <a:xfrm>
            <a:off x="6107502" y="1571991"/>
            <a:ext cx="86995" cy="227329"/>
            <a:chOff x="4583501" y="1571990"/>
            <a:chExt cx="86995" cy="227329"/>
          </a:xfrm>
        </p:grpSpPr>
        <p:sp>
          <p:nvSpPr>
            <p:cNvPr id="66" name="object 66"/>
            <p:cNvSpPr/>
            <p:nvPr/>
          </p:nvSpPr>
          <p:spPr>
            <a:xfrm>
              <a:off x="4588263" y="1576753"/>
              <a:ext cx="77470" cy="217804"/>
            </a:xfrm>
            <a:custGeom>
              <a:avLst/>
              <a:gdLst/>
              <a:ahLst/>
              <a:cxnLst/>
              <a:rect l="l" t="t" r="r" b="b"/>
              <a:pathLst>
                <a:path w="77470" h="217805">
                  <a:moveTo>
                    <a:pt x="0" y="0"/>
                  </a:moveTo>
                  <a:lnTo>
                    <a:pt x="77229" y="217702"/>
                  </a:lnTo>
                </a:path>
              </a:pathLst>
            </a:custGeom>
            <a:solidFill>
              <a:srgbClr val="C0C0C0">
                <a:alpha val="50199"/>
              </a:srgbClr>
            </a:solidFill>
          </p:spPr>
          <p:txBody>
            <a:bodyPr wrap="square" lIns="0" tIns="0" rIns="0" bIns="0" rtlCol="0"/>
            <a:lstStyle/>
            <a:p>
              <a:endParaRPr/>
            </a:p>
          </p:txBody>
        </p:sp>
        <p:sp>
          <p:nvSpPr>
            <p:cNvPr id="67" name="object 67"/>
            <p:cNvSpPr/>
            <p:nvPr/>
          </p:nvSpPr>
          <p:spPr>
            <a:xfrm>
              <a:off x="4588263" y="1576753"/>
              <a:ext cx="77470" cy="217804"/>
            </a:xfrm>
            <a:custGeom>
              <a:avLst/>
              <a:gdLst/>
              <a:ahLst/>
              <a:cxnLst/>
              <a:rect l="l" t="t" r="r" b="b"/>
              <a:pathLst>
                <a:path w="77470" h="217805">
                  <a:moveTo>
                    <a:pt x="0" y="0"/>
                  </a:moveTo>
                  <a:lnTo>
                    <a:pt x="77230" y="217703"/>
                  </a:lnTo>
                </a:path>
              </a:pathLst>
            </a:custGeom>
            <a:ln w="9525">
              <a:solidFill>
                <a:srgbClr val="000000"/>
              </a:solidFill>
            </a:ln>
          </p:spPr>
          <p:txBody>
            <a:bodyPr wrap="square" lIns="0" tIns="0" rIns="0" bIns="0" rtlCol="0"/>
            <a:lstStyle/>
            <a:p>
              <a:endParaRPr/>
            </a:p>
          </p:txBody>
        </p:sp>
      </p:grpSp>
      <p:grpSp>
        <p:nvGrpSpPr>
          <p:cNvPr id="68" name="object 68"/>
          <p:cNvGrpSpPr/>
          <p:nvPr/>
        </p:nvGrpSpPr>
        <p:grpSpPr>
          <a:xfrm>
            <a:off x="6547758" y="1944570"/>
            <a:ext cx="1522730" cy="946150"/>
            <a:chOff x="5023758" y="1944570"/>
            <a:chExt cx="1522730" cy="946150"/>
          </a:xfrm>
        </p:grpSpPr>
        <p:sp>
          <p:nvSpPr>
            <p:cNvPr id="69" name="object 69"/>
            <p:cNvSpPr/>
            <p:nvPr/>
          </p:nvSpPr>
          <p:spPr>
            <a:xfrm>
              <a:off x="6145861" y="2583928"/>
              <a:ext cx="394335" cy="102870"/>
            </a:xfrm>
            <a:custGeom>
              <a:avLst/>
              <a:gdLst/>
              <a:ahLst/>
              <a:cxnLst/>
              <a:rect l="l" t="t" r="r" b="b"/>
              <a:pathLst>
                <a:path w="394334" h="102869">
                  <a:moveTo>
                    <a:pt x="394036" y="0"/>
                  </a:moveTo>
                  <a:lnTo>
                    <a:pt x="0" y="102542"/>
                  </a:lnTo>
                </a:path>
              </a:pathLst>
            </a:custGeom>
            <a:solidFill>
              <a:srgbClr val="C0C0C0">
                <a:alpha val="50199"/>
              </a:srgbClr>
            </a:solidFill>
          </p:spPr>
          <p:txBody>
            <a:bodyPr wrap="square" lIns="0" tIns="0" rIns="0" bIns="0" rtlCol="0"/>
            <a:lstStyle/>
            <a:p>
              <a:endParaRPr/>
            </a:p>
          </p:txBody>
        </p:sp>
        <p:sp>
          <p:nvSpPr>
            <p:cNvPr id="70" name="object 70"/>
            <p:cNvSpPr/>
            <p:nvPr/>
          </p:nvSpPr>
          <p:spPr>
            <a:xfrm>
              <a:off x="6145861" y="2583928"/>
              <a:ext cx="394335" cy="102870"/>
            </a:xfrm>
            <a:custGeom>
              <a:avLst/>
              <a:gdLst/>
              <a:ahLst/>
              <a:cxnLst/>
              <a:rect l="l" t="t" r="r" b="b"/>
              <a:pathLst>
                <a:path w="394334" h="102869">
                  <a:moveTo>
                    <a:pt x="0" y="102542"/>
                  </a:moveTo>
                  <a:lnTo>
                    <a:pt x="394037" y="0"/>
                  </a:lnTo>
                </a:path>
              </a:pathLst>
            </a:custGeom>
            <a:ln w="12700">
              <a:solidFill>
                <a:srgbClr val="000000"/>
              </a:solidFill>
            </a:ln>
          </p:spPr>
          <p:txBody>
            <a:bodyPr wrap="square" lIns="0" tIns="0" rIns="0" bIns="0" rtlCol="0"/>
            <a:lstStyle/>
            <a:p>
              <a:endParaRPr/>
            </a:p>
          </p:txBody>
        </p:sp>
        <p:sp>
          <p:nvSpPr>
            <p:cNvPr id="71" name="object 71"/>
            <p:cNvSpPr/>
            <p:nvPr/>
          </p:nvSpPr>
          <p:spPr>
            <a:xfrm>
              <a:off x="5028520" y="1949333"/>
              <a:ext cx="170815" cy="737235"/>
            </a:xfrm>
            <a:custGeom>
              <a:avLst/>
              <a:gdLst/>
              <a:ahLst/>
              <a:cxnLst/>
              <a:rect l="l" t="t" r="r" b="b"/>
              <a:pathLst>
                <a:path w="170814" h="737235">
                  <a:moveTo>
                    <a:pt x="0" y="0"/>
                  </a:moveTo>
                  <a:lnTo>
                    <a:pt x="170799" y="737137"/>
                  </a:lnTo>
                </a:path>
              </a:pathLst>
            </a:custGeom>
            <a:solidFill>
              <a:srgbClr val="C0C0C0">
                <a:alpha val="50199"/>
              </a:srgbClr>
            </a:solidFill>
          </p:spPr>
          <p:txBody>
            <a:bodyPr wrap="square" lIns="0" tIns="0" rIns="0" bIns="0" rtlCol="0"/>
            <a:lstStyle/>
            <a:p>
              <a:endParaRPr/>
            </a:p>
          </p:txBody>
        </p:sp>
        <p:sp>
          <p:nvSpPr>
            <p:cNvPr id="72" name="object 72"/>
            <p:cNvSpPr/>
            <p:nvPr/>
          </p:nvSpPr>
          <p:spPr>
            <a:xfrm>
              <a:off x="5028520" y="1949333"/>
              <a:ext cx="170815" cy="737235"/>
            </a:xfrm>
            <a:custGeom>
              <a:avLst/>
              <a:gdLst/>
              <a:ahLst/>
              <a:cxnLst/>
              <a:rect l="l" t="t" r="r" b="b"/>
              <a:pathLst>
                <a:path w="170814" h="737235">
                  <a:moveTo>
                    <a:pt x="0" y="0"/>
                  </a:moveTo>
                  <a:lnTo>
                    <a:pt x="170801" y="737137"/>
                  </a:lnTo>
                </a:path>
              </a:pathLst>
            </a:custGeom>
            <a:ln w="9525">
              <a:solidFill>
                <a:srgbClr val="000000"/>
              </a:solidFill>
            </a:ln>
          </p:spPr>
          <p:txBody>
            <a:bodyPr wrap="square" lIns="0" tIns="0" rIns="0" bIns="0" rtlCol="0"/>
            <a:lstStyle/>
            <a:p>
              <a:endParaRPr/>
            </a:p>
          </p:txBody>
        </p:sp>
        <p:sp>
          <p:nvSpPr>
            <p:cNvPr id="73" name="object 73"/>
            <p:cNvSpPr/>
            <p:nvPr/>
          </p:nvSpPr>
          <p:spPr>
            <a:xfrm>
              <a:off x="5199320" y="2487341"/>
              <a:ext cx="946785" cy="398780"/>
            </a:xfrm>
            <a:custGeom>
              <a:avLst/>
              <a:gdLst/>
              <a:ahLst/>
              <a:cxnLst/>
              <a:rect l="l" t="t" r="r" b="b"/>
              <a:pathLst>
                <a:path w="946785" h="398780">
                  <a:moveTo>
                    <a:pt x="473270" y="0"/>
                  </a:moveTo>
                  <a:lnTo>
                    <a:pt x="0" y="199127"/>
                  </a:lnTo>
                  <a:lnTo>
                    <a:pt x="473270" y="398254"/>
                  </a:lnTo>
                  <a:lnTo>
                    <a:pt x="946539" y="199127"/>
                  </a:lnTo>
                  <a:lnTo>
                    <a:pt x="473270" y="0"/>
                  </a:lnTo>
                  <a:close/>
                </a:path>
              </a:pathLst>
            </a:custGeom>
            <a:solidFill>
              <a:srgbClr val="4F81BD"/>
            </a:solidFill>
          </p:spPr>
          <p:txBody>
            <a:bodyPr wrap="square" lIns="0" tIns="0" rIns="0" bIns="0" rtlCol="0"/>
            <a:lstStyle/>
            <a:p>
              <a:endParaRPr/>
            </a:p>
          </p:txBody>
        </p:sp>
        <p:sp>
          <p:nvSpPr>
            <p:cNvPr id="74" name="object 74"/>
            <p:cNvSpPr/>
            <p:nvPr/>
          </p:nvSpPr>
          <p:spPr>
            <a:xfrm>
              <a:off x="5199320" y="2487341"/>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75" name="object 75"/>
          <p:cNvSpPr txBox="1"/>
          <p:nvPr/>
        </p:nvSpPr>
        <p:spPr>
          <a:xfrm>
            <a:off x="6876710" y="2595034"/>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grpSp>
        <p:nvGrpSpPr>
          <p:cNvPr id="76" name="object 76"/>
          <p:cNvGrpSpPr/>
          <p:nvPr/>
        </p:nvGrpSpPr>
        <p:grpSpPr>
          <a:xfrm>
            <a:off x="8479047" y="1369811"/>
            <a:ext cx="871855" cy="408305"/>
            <a:chOff x="6955046" y="1369810"/>
            <a:chExt cx="871855" cy="408305"/>
          </a:xfrm>
        </p:grpSpPr>
        <p:sp>
          <p:nvSpPr>
            <p:cNvPr id="77" name="object 77"/>
            <p:cNvSpPr/>
            <p:nvPr/>
          </p:nvSpPr>
          <p:spPr>
            <a:xfrm>
              <a:off x="6959809" y="1374573"/>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78" name="object 78"/>
            <p:cNvSpPr/>
            <p:nvPr/>
          </p:nvSpPr>
          <p:spPr>
            <a:xfrm>
              <a:off x="6959809" y="1374573"/>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79" name="object 79"/>
          <p:cNvSpPr txBox="1"/>
          <p:nvPr/>
        </p:nvSpPr>
        <p:spPr>
          <a:xfrm>
            <a:off x="8714882" y="1485900"/>
            <a:ext cx="402590" cy="155171"/>
          </a:xfrm>
          <a:prstGeom prst="rect">
            <a:avLst/>
          </a:prstGeom>
        </p:spPr>
        <p:txBody>
          <a:bodyPr vert="horz" wrap="square" lIns="0" tIns="16510" rIns="0" bIns="0" rtlCol="0">
            <a:spAutoFit/>
          </a:bodyPr>
          <a:lstStyle/>
          <a:p>
            <a:pPr marL="12700">
              <a:spcBef>
                <a:spcPts val="130"/>
              </a:spcBef>
            </a:pPr>
            <a:r>
              <a:rPr sz="900" u="sng" spc="-5">
                <a:uFill>
                  <a:solidFill>
                    <a:srgbClr val="000000"/>
                  </a:solidFill>
                </a:uFill>
                <a:latin typeface="Calibri"/>
                <a:cs typeface="Calibri"/>
              </a:rPr>
              <a:t>location</a:t>
            </a:r>
            <a:endParaRPr sz="900">
              <a:latin typeface="Calibri"/>
              <a:cs typeface="Calibri"/>
            </a:endParaRPr>
          </a:p>
        </p:txBody>
      </p:sp>
      <p:grpSp>
        <p:nvGrpSpPr>
          <p:cNvPr id="80" name="object 80"/>
          <p:cNvGrpSpPr/>
          <p:nvPr/>
        </p:nvGrpSpPr>
        <p:grpSpPr>
          <a:xfrm>
            <a:off x="6547758" y="1768065"/>
            <a:ext cx="2372360" cy="650875"/>
            <a:chOff x="5023758" y="1768064"/>
            <a:chExt cx="2372360" cy="650875"/>
          </a:xfrm>
        </p:grpSpPr>
        <p:sp>
          <p:nvSpPr>
            <p:cNvPr id="81" name="object 81"/>
            <p:cNvSpPr/>
            <p:nvPr/>
          </p:nvSpPr>
          <p:spPr>
            <a:xfrm>
              <a:off x="7084439" y="1772827"/>
              <a:ext cx="306705" cy="641350"/>
            </a:xfrm>
            <a:custGeom>
              <a:avLst/>
              <a:gdLst/>
              <a:ahLst/>
              <a:cxnLst/>
              <a:rect l="l" t="t" r="r" b="b"/>
              <a:pathLst>
                <a:path w="306704" h="641350">
                  <a:moveTo>
                    <a:pt x="306467" y="0"/>
                  </a:moveTo>
                  <a:lnTo>
                    <a:pt x="0" y="641135"/>
                  </a:lnTo>
                </a:path>
              </a:pathLst>
            </a:custGeom>
            <a:solidFill>
              <a:srgbClr val="C0C0C0">
                <a:alpha val="50199"/>
              </a:srgbClr>
            </a:solidFill>
          </p:spPr>
          <p:txBody>
            <a:bodyPr wrap="square" lIns="0" tIns="0" rIns="0" bIns="0" rtlCol="0"/>
            <a:lstStyle/>
            <a:p>
              <a:endParaRPr/>
            </a:p>
          </p:txBody>
        </p:sp>
        <p:sp>
          <p:nvSpPr>
            <p:cNvPr id="82" name="object 82"/>
            <p:cNvSpPr/>
            <p:nvPr/>
          </p:nvSpPr>
          <p:spPr>
            <a:xfrm>
              <a:off x="7084440" y="1772827"/>
              <a:ext cx="306705" cy="641350"/>
            </a:xfrm>
            <a:custGeom>
              <a:avLst/>
              <a:gdLst/>
              <a:ahLst/>
              <a:cxnLst/>
              <a:rect l="l" t="t" r="r" b="b"/>
              <a:pathLst>
                <a:path w="306704" h="641350">
                  <a:moveTo>
                    <a:pt x="306467" y="0"/>
                  </a:moveTo>
                  <a:lnTo>
                    <a:pt x="0" y="641135"/>
                  </a:lnTo>
                </a:path>
              </a:pathLst>
            </a:custGeom>
            <a:ln w="9525">
              <a:solidFill>
                <a:srgbClr val="000000"/>
              </a:solidFill>
            </a:ln>
          </p:spPr>
          <p:txBody>
            <a:bodyPr wrap="square" lIns="0" tIns="0" rIns="0" bIns="0" rtlCol="0"/>
            <a:lstStyle/>
            <a:p>
              <a:endParaRPr/>
            </a:p>
          </p:txBody>
        </p:sp>
        <p:sp>
          <p:nvSpPr>
            <p:cNvPr id="83" name="object 83"/>
            <p:cNvSpPr/>
            <p:nvPr/>
          </p:nvSpPr>
          <p:spPr>
            <a:xfrm>
              <a:off x="5028520" y="1949333"/>
              <a:ext cx="170815" cy="199390"/>
            </a:xfrm>
            <a:custGeom>
              <a:avLst/>
              <a:gdLst/>
              <a:ahLst/>
              <a:cxnLst/>
              <a:rect l="l" t="t" r="r" b="b"/>
              <a:pathLst>
                <a:path w="170814" h="199389">
                  <a:moveTo>
                    <a:pt x="0" y="0"/>
                  </a:moveTo>
                  <a:lnTo>
                    <a:pt x="170799" y="199127"/>
                  </a:lnTo>
                </a:path>
              </a:pathLst>
            </a:custGeom>
            <a:solidFill>
              <a:srgbClr val="C0C0C0">
                <a:alpha val="50199"/>
              </a:srgbClr>
            </a:solidFill>
          </p:spPr>
          <p:txBody>
            <a:bodyPr wrap="square" lIns="0" tIns="0" rIns="0" bIns="0" rtlCol="0"/>
            <a:lstStyle/>
            <a:p>
              <a:endParaRPr/>
            </a:p>
          </p:txBody>
        </p:sp>
        <p:sp>
          <p:nvSpPr>
            <p:cNvPr id="84" name="object 84"/>
            <p:cNvSpPr/>
            <p:nvPr/>
          </p:nvSpPr>
          <p:spPr>
            <a:xfrm>
              <a:off x="5028520" y="1949333"/>
              <a:ext cx="170815" cy="199390"/>
            </a:xfrm>
            <a:custGeom>
              <a:avLst/>
              <a:gdLst/>
              <a:ahLst/>
              <a:cxnLst/>
              <a:rect l="l" t="t" r="r" b="b"/>
              <a:pathLst>
                <a:path w="170814" h="199389">
                  <a:moveTo>
                    <a:pt x="0" y="0"/>
                  </a:moveTo>
                  <a:lnTo>
                    <a:pt x="170801" y="199127"/>
                  </a:lnTo>
                </a:path>
              </a:pathLst>
            </a:custGeom>
            <a:ln w="9525">
              <a:solidFill>
                <a:srgbClr val="000000"/>
              </a:solidFill>
            </a:ln>
          </p:spPr>
          <p:txBody>
            <a:bodyPr wrap="square" lIns="0" tIns="0" rIns="0" bIns="0" rtlCol="0"/>
            <a:lstStyle/>
            <a:p>
              <a:endParaRPr/>
            </a:p>
          </p:txBody>
        </p:sp>
        <p:sp>
          <p:nvSpPr>
            <p:cNvPr id="85" name="object 85"/>
            <p:cNvSpPr/>
            <p:nvPr/>
          </p:nvSpPr>
          <p:spPr>
            <a:xfrm>
              <a:off x="5199320" y="1949333"/>
              <a:ext cx="946785" cy="398780"/>
            </a:xfrm>
            <a:custGeom>
              <a:avLst/>
              <a:gdLst/>
              <a:ahLst/>
              <a:cxnLst/>
              <a:rect l="l" t="t" r="r" b="b"/>
              <a:pathLst>
                <a:path w="946785" h="398780">
                  <a:moveTo>
                    <a:pt x="473270" y="0"/>
                  </a:moveTo>
                  <a:lnTo>
                    <a:pt x="0" y="199127"/>
                  </a:lnTo>
                  <a:lnTo>
                    <a:pt x="473270" y="398254"/>
                  </a:lnTo>
                  <a:lnTo>
                    <a:pt x="946539" y="199127"/>
                  </a:lnTo>
                  <a:lnTo>
                    <a:pt x="473270" y="0"/>
                  </a:lnTo>
                  <a:close/>
                </a:path>
              </a:pathLst>
            </a:custGeom>
            <a:solidFill>
              <a:srgbClr val="4F81BD"/>
            </a:solidFill>
          </p:spPr>
          <p:txBody>
            <a:bodyPr wrap="square" lIns="0" tIns="0" rIns="0" bIns="0" rtlCol="0"/>
            <a:lstStyle/>
            <a:p>
              <a:endParaRPr/>
            </a:p>
          </p:txBody>
        </p:sp>
        <p:sp>
          <p:nvSpPr>
            <p:cNvPr id="86" name="object 86"/>
            <p:cNvSpPr/>
            <p:nvPr/>
          </p:nvSpPr>
          <p:spPr>
            <a:xfrm>
              <a:off x="5199320" y="1949333"/>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87" name="object 87"/>
          <p:cNvSpPr txBox="1"/>
          <p:nvPr/>
        </p:nvSpPr>
        <p:spPr>
          <a:xfrm>
            <a:off x="6890203" y="2061634"/>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grpSp>
        <p:nvGrpSpPr>
          <p:cNvPr id="88" name="object 88"/>
          <p:cNvGrpSpPr/>
          <p:nvPr/>
        </p:nvGrpSpPr>
        <p:grpSpPr>
          <a:xfrm>
            <a:off x="7663511" y="2142111"/>
            <a:ext cx="407034" cy="448309"/>
            <a:chOff x="6139511" y="2142110"/>
            <a:chExt cx="407034" cy="448309"/>
          </a:xfrm>
        </p:grpSpPr>
        <p:sp>
          <p:nvSpPr>
            <p:cNvPr id="89" name="object 89"/>
            <p:cNvSpPr/>
            <p:nvPr/>
          </p:nvSpPr>
          <p:spPr>
            <a:xfrm>
              <a:off x="6145861" y="2148460"/>
              <a:ext cx="394335" cy="435609"/>
            </a:xfrm>
            <a:custGeom>
              <a:avLst/>
              <a:gdLst/>
              <a:ahLst/>
              <a:cxnLst/>
              <a:rect l="l" t="t" r="r" b="b"/>
              <a:pathLst>
                <a:path w="394334" h="435610">
                  <a:moveTo>
                    <a:pt x="0" y="0"/>
                  </a:moveTo>
                  <a:lnTo>
                    <a:pt x="394036" y="435467"/>
                  </a:lnTo>
                </a:path>
              </a:pathLst>
            </a:custGeom>
            <a:solidFill>
              <a:srgbClr val="C0C0C0">
                <a:alpha val="50199"/>
              </a:srgbClr>
            </a:solidFill>
          </p:spPr>
          <p:txBody>
            <a:bodyPr wrap="square" lIns="0" tIns="0" rIns="0" bIns="0" rtlCol="0"/>
            <a:lstStyle/>
            <a:p>
              <a:endParaRPr/>
            </a:p>
          </p:txBody>
        </p:sp>
        <p:sp>
          <p:nvSpPr>
            <p:cNvPr id="90" name="object 90"/>
            <p:cNvSpPr/>
            <p:nvPr/>
          </p:nvSpPr>
          <p:spPr>
            <a:xfrm>
              <a:off x="6145861" y="2148460"/>
              <a:ext cx="394335" cy="435609"/>
            </a:xfrm>
            <a:custGeom>
              <a:avLst/>
              <a:gdLst/>
              <a:ahLst/>
              <a:cxnLst/>
              <a:rect l="l" t="t" r="r" b="b"/>
              <a:pathLst>
                <a:path w="394334" h="435610">
                  <a:moveTo>
                    <a:pt x="0" y="0"/>
                  </a:moveTo>
                  <a:lnTo>
                    <a:pt x="394037" y="435468"/>
                  </a:lnTo>
                </a:path>
              </a:pathLst>
            </a:custGeom>
            <a:ln w="12700">
              <a:solidFill>
                <a:srgbClr val="000000"/>
              </a:solidFill>
            </a:ln>
          </p:spPr>
          <p:txBody>
            <a:bodyPr wrap="square" lIns="0" tIns="0" rIns="0" bIns="0" rtlCol="0"/>
            <a:lstStyle/>
            <a:p>
              <a:endParaRPr/>
            </a:p>
          </p:txBody>
        </p:sp>
      </p:grpSp>
      <p:grpSp>
        <p:nvGrpSpPr>
          <p:cNvPr id="91" name="object 91"/>
          <p:cNvGrpSpPr/>
          <p:nvPr/>
        </p:nvGrpSpPr>
        <p:grpSpPr>
          <a:xfrm>
            <a:off x="5450659" y="1942981"/>
            <a:ext cx="382270" cy="212090"/>
            <a:chOff x="3926659" y="1942981"/>
            <a:chExt cx="382270" cy="212090"/>
          </a:xfrm>
        </p:grpSpPr>
        <p:sp>
          <p:nvSpPr>
            <p:cNvPr id="92" name="object 92"/>
            <p:cNvSpPr/>
            <p:nvPr/>
          </p:nvSpPr>
          <p:spPr>
            <a:xfrm>
              <a:off x="3933009" y="1949331"/>
              <a:ext cx="369570" cy="199390"/>
            </a:xfrm>
            <a:custGeom>
              <a:avLst/>
              <a:gdLst/>
              <a:ahLst/>
              <a:cxnLst/>
              <a:rect l="l" t="t" r="r" b="b"/>
              <a:pathLst>
                <a:path w="369570" h="199389">
                  <a:moveTo>
                    <a:pt x="369453" y="0"/>
                  </a:moveTo>
                  <a:lnTo>
                    <a:pt x="0" y="199127"/>
                  </a:lnTo>
                </a:path>
              </a:pathLst>
            </a:custGeom>
            <a:solidFill>
              <a:srgbClr val="C0C0C0">
                <a:alpha val="50199"/>
              </a:srgbClr>
            </a:solidFill>
          </p:spPr>
          <p:txBody>
            <a:bodyPr wrap="square" lIns="0" tIns="0" rIns="0" bIns="0" rtlCol="0"/>
            <a:lstStyle/>
            <a:p>
              <a:endParaRPr/>
            </a:p>
          </p:txBody>
        </p:sp>
        <p:sp>
          <p:nvSpPr>
            <p:cNvPr id="93" name="object 93"/>
            <p:cNvSpPr/>
            <p:nvPr/>
          </p:nvSpPr>
          <p:spPr>
            <a:xfrm>
              <a:off x="3933009" y="1949331"/>
              <a:ext cx="369570" cy="199390"/>
            </a:xfrm>
            <a:custGeom>
              <a:avLst/>
              <a:gdLst/>
              <a:ahLst/>
              <a:cxnLst/>
              <a:rect l="l" t="t" r="r" b="b"/>
              <a:pathLst>
                <a:path w="369570" h="199389">
                  <a:moveTo>
                    <a:pt x="0" y="199127"/>
                  </a:moveTo>
                  <a:lnTo>
                    <a:pt x="369453" y="0"/>
                  </a:lnTo>
                </a:path>
              </a:pathLst>
            </a:custGeom>
            <a:ln w="12700">
              <a:solidFill>
                <a:srgbClr val="000000"/>
              </a:solidFill>
            </a:ln>
          </p:spPr>
          <p:txBody>
            <a:bodyPr wrap="square" lIns="0" tIns="0" rIns="0" bIns="0" rtlCol="0"/>
            <a:lstStyle/>
            <a:p>
              <a:endParaRPr/>
            </a:p>
          </p:txBody>
        </p:sp>
      </p:grpSp>
      <p:sp>
        <p:nvSpPr>
          <p:cNvPr id="94" name="Slide Number Placeholder 93">
            <a:extLst>
              <a:ext uri="{FF2B5EF4-FFF2-40B4-BE49-F238E27FC236}">
                <a16:creationId xmlns:a16="http://schemas.microsoft.com/office/drawing/2014/main" id="{279E0597-E6E5-4D19-B451-9FCD0F4F45FA}"/>
              </a:ext>
            </a:extLst>
          </p:cNvPr>
          <p:cNvSpPr>
            <a:spLocks noGrp="1"/>
          </p:cNvSpPr>
          <p:nvPr>
            <p:ph type="sldNum" sz="quarter" idx="12"/>
          </p:nvPr>
        </p:nvSpPr>
        <p:spPr/>
        <p:txBody>
          <a:bodyPr/>
          <a:lstStyle/>
          <a:p>
            <a:fld id="{641C0F02-33DC-3A41-9F51-431B7FE03ABE}"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52019" y="3854780"/>
            <a:ext cx="956310" cy="408305"/>
            <a:chOff x="2428019" y="3854779"/>
            <a:chExt cx="956310" cy="408305"/>
          </a:xfrm>
        </p:grpSpPr>
        <p:sp>
          <p:nvSpPr>
            <p:cNvPr id="3" name="object 3"/>
            <p:cNvSpPr/>
            <p:nvPr/>
          </p:nvSpPr>
          <p:spPr>
            <a:xfrm>
              <a:off x="2432781" y="3859541"/>
              <a:ext cx="946785" cy="398780"/>
            </a:xfrm>
            <a:custGeom>
              <a:avLst/>
              <a:gdLst/>
              <a:ahLst/>
              <a:cxnLst/>
              <a:rect l="l" t="t" r="r" b="b"/>
              <a:pathLst>
                <a:path w="946785" h="398779">
                  <a:moveTo>
                    <a:pt x="473270" y="0"/>
                  </a:moveTo>
                  <a:lnTo>
                    <a:pt x="0" y="199125"/>
                  </a:lnTo>
                  <a:lnTo>
                    <a:pt x="473270" y="398252"/>
                  </a:lnTo>
                  <a:lnTo>
                    <a:pt x="946541" y="199125"/>
                  </a:lnTo>
                  <a:lnTo>
                    <a:pt x="473270" y="0"/>
                  </a:lnTo>
                  <a:close/>
                </a:path>
              </a:pathLst>
            </a:custGeom>
            <a:solidFill>
              <a:srgbClr val="4F81BD"/>
            </a:solidFill>
          </p:spPr>
          <p:txBody>
            <a:bodyPr wrap="square" lIns="0" tIns="0" rIns="0" bIns="0" rtlCol="0"/>
            <a:lstStyle/>
            <a:p>
              <a:endParaRPr/>
            </a:p>
          </p:txBody>
        </p:sp>
        <p:sp>
          <p:nvSpPr>
            <p:cNvPr id="4" name="object 4"/>
            <p:cNvSpPr/>
            <p:nvPr/>
          </p:nvSpPr>
          <p:spPr>
            <a:xfrm>
              <a:off x="2432781" y="3859541"/>
              <a:ext cx="946785" cy="398780"/>
            </a:xfrm>
            <a:custGeom>
              <a:avLst/>
              <a:gdLst/>
              <a:ahLst/>
              <a:cxnLst/>
              <a:rect l="l" t="t" r="r" b="b"/>
              <a:pathLst>
                <a:path w="946785"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5" name="object 5"/>
          <p:cNvSpPr txBox="1"/>
          <p:nvPr/>
        </p:nvSpPr>
        <p:spPr>
          <a:xfrm>
            <a:off x="4122077" y="3966634"/>
            <a:ext cx="618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ParticipateIn</a:t>
            </a:r>
            <a:endParaRPr sz="900">
              <a:latin typeface="Calibri"/>
              <a:cs typeface="Calibri"/>
            </a:endParaRPr>
          </a:p>
        </p:txBody>
      </p:sp>
      <p:grpSp>
        <p:nvGrpSpPr>
          <p:cNvPr id="6" name="object 6"/>
          <p:cNvGrpSpPr/>
          <p:nvPr/>
        </p:nvGrpSpPr>
        <p:grpSpPr>
          <a:xfrm>
            <a:off x="1905001" y="1173740"/>
            <a:ext cx="7446009" cy="3618865"/>
            <a:chOff x="381000" y="1173739"/>
            <a:chExt cx="7446009" cy="3618865"/>
          </a:xfrm>
        </p:grpSpPr>
        <p:sp>
          <p:nvSpPr>
            <p:cNvPr id="7" name="object 7"/>
            <p:cNvSpPr/>
            <p:nvPr/>
          </p:nvSpPr>
          <p:spPr>
            <a:xfrm>
              <a:off x="2260412" y="2524587"/>
              <a:ext cx="172720" cy="1534160"/>
            </a:xfrm>
            <a:custGeom>
              <a:avLst/>
              <a:gdLst/>
              <a:ahLst/>
              <a:cxnLst/>
              <a:rect l="l" t="t" r="r" b="b"/>
              <a:pathLst>
                <a:path w="172719" h="1534160">
                  <a:moveTo>
                    <a:pt x="0" y="0"/>
                  </a:moveTo>
                  <a:lnTo>
                    <a:pt x="172370" y="1534081"/>
                  </a:lnTo>
                </a:path>
              </a:pathLst>
            </a:custGeom>
            <a:solidFill>
              <a:srgbClr val="C0C0C0">
                <a:alpha val="50199"/>
              </a:srgbClr>
            </a:solidFill>
          </p:spPr>
          <p:txBody>
            <a:bodyPr wrap="square" lIns="0" tIns="0" rIns="0" bIns="0" rtlCol="0"/>
            <a:lstStyle/>
            <a:p>
              <a:endParaRPr/>
            </a:p>
          </p:txBody>
        </p:sp>
        <p:sp>
          <p:nvSpPr>
            <p:cNvPr id="8" name="object 8"/>
            <p:cNvSpPr/>
            <p:nvPr/>
          </p:nvSpPr>
          <p:spPr>
            <a:xfrm>
              <a:off x="2260412" y="2524587"/>
              <a:ext cx="172720" cy="1534160"/>
            </a:xfrm>
            <a:custGeom>
              <a:avLst/>
              <a:gdLst/>
              <a:ahLst/>
              <a:cxnLst/>
              <a:rect l="l" t="t" r="r" b="b"/>
              <a:pathLst>
                <a:path w="172719" h="1534160">
                  <a:moveTo>
                    <a:pt x="0" y="0"/>
                  </a:moveTo>
                  <a:lnTo>
                    <a:pt x="172371" y="1534081"/>
                  </a:lnTo>
                </a:path>
              </a:pathLst>
            </a:custGeom>
            <a:ln w="9525">
              <a:solidFill>
                <a:srgbClr val="000000"/>
              </a:solidFill>
            </a:ln>
          </p:spPr>
          <p:txBody>
            <a:bodyPr wrap="square" lIns="0" tIns="0" rIns="0" bIns="0" rtlCol="0"/>
            <a:lstStyle/>
            <a:p>
              <a:endParaRPr/>
            </a:p>
          </p:txBody>
        </p:sp>
        <p:sp>
          <p:nvSpPr>
            <p:cNvPr id="9" name="object 9"/>
            <p:cNvSpPr/>
            <p:nvPr/>
          </p:nvSpPr>
          <p:spPr>
            <a:xfrm>
              <a:off x="3379322" y="3585884"/>
              <a:ext cx="923290" cy="473075"/>
            </a:xfrm>
            <a:custGeom>
              <a:avLst/>
              <a:gdLst/>
              <a:ahLst/>
              <a:cxnLst/>
              <a:rect l="l" t="t" r="r" b="b"/>
              <a:pathLst>
                <a:path w="923289" h="473075">
                  <a:moveTo>
                    <a:pt x="923140" y="0"/>
                  </a:moveTo>
                  <a:lnTo>
                    <a:pt x="0" y="472784"/>
                  </a:lnTo>
                </a:path>
              </a:pathLst>
            </a:custGeom>
            <a:solidFill>
              <a:srgbClr val="C0C0C0">
                <a:alpha val="50199"/>
              </a:srgbClr>
            </a:solidFill>
          </p:spPr>
          <p:txBody>
            <a:bodyPr wrap="square" lIns="0" tIns="0" rIns="0" bIns="0" rtlCol="0"/>
            <a:lstStyle/>
            <a:p>
              <a:endParaRPr/>
            </a:p>
          </p:txBody>
        </p:sp>
        <p:sp>
          <p:nvSpPr>
            <p:cNvPr id="10" name="object 10"/>
            <p:cNvSpPr/>
            <p:nvPr/>
          </p:nvSpPr>
          <p:spPr>
            <a:xfrm>
              <a:off x="3379322" y="3585884"/>
              <a:ext cx="923290" cy="473075"/>
            </a:xfrm>
            <a:custGeom>
              <a:avLst/>
              <a:gdLst/>
              <a:ahLst/>
              <a:cxnLst/>
              <a:rect l="l" t="t" r="r" b="b"/>
              <a:pathLst>
                <a:path w="923289" h="473075">
                  <a:moveTo>
                    <a:pt x="0" y="472784"/>
                  </a:moveTo>
                  <a:lnTo>
                    <a:pt x="923140" y="0"/>
                  </a:lnTo>
                </a:path>
              </a:pathLst>
            </a:custGeom>
            <a:ln w="9525">
              <a:solidFill>
                <a:srgbClr val="000000"/>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381000" y="3886199"/>
              <a:ext cx="1083733" cy="905933"/>
            </a:xfrm>
            <a:prstGeom prst="rect">
              <a:avLst/>
            </a:prstGeom>
          </p:spPr>
        </p:pic>
        <p:pic>
          <p:nvPicPr>
            <p:cNvPr id="12" name="object 12"/>
            <p:cNvPicPr/>
            <p:nvPr/>
          </p:nvPicPr>
          <p:blipFill>
            <a:blip r:embed="rId3" cstate="print"/>
            <a:stretch>
              <a:fillRect/>
            </a:stretch>
          </p:blipFill>
          <p:spPr>
            <a:xfrm>
              <a:off x="1087150" y="1173739"/>
              <a:ext cx="6739614" cy="3502612"/>
            </a:xfrm>
            <a:prstGeom prst="rect">
              <a:avLst/>
            </a:prstGeom>
          </p:spPr>
        </p:pic>
      </p:grpSp>
      <p:sp>
        <p:nvSpPr>
          <p:cNvPr id="13" name="object 13"/>
          <p:cNvSpPr txBox="1"/>
          <p:nvPr/>
        </p:nvSpPr>
        <p:spPr>
          <a:xfrm>
            <a:off x="1967473" y="4864099"/>
            <a:ext cx="1985010" cy="944880"/>
          </a:xfrm>
          <a:prstGeom prst="rect">
            <a:avLst/>
          </a:prstGeom>
        </p:spPr>
        <p:txBody>
          <a:bodyPr vert="horz" wrap="square" lIns="0" tIns="16510" rIns="0" bIns="0" rtlCol="0">
            <a:spAutoFit/>
          </a:bodyPr>
          <a:lstStyle/>
          <a:p>
            <a:pPr marL="12700" marR="5080" algn="just">
              <a:spcBef>
                <a:spcPts val="130"/>
              </a:spcBef>
            </a:pPr>
            <a:r>
              <a:rPr sz="1500" spc="15">
                <a:latin typeface="Calibri"/>
                <a:cs typeface="Calibri"/>
              </a:rPr>
              <a:t>A </a:t>
            </a:r>
            <a:r>
              <a:rPr sz="1500" spc="-5">
                <a:latin typeface="Calibri"/>
                <a:cs typeface="Calibri"/>
              </a:rPr>
              <a:t>Play </a:t>
            </a:r>
            <a:r>
              <a:rPr sz="1500">
                <a:latin typeface="Calibri"/>
                <a:cs typeface="Calibri"/>
              </a:rPr>
              <a:t>will </a:t>
            </a:r>
            <a:r>
              <a:rPr sz="1500" spc="-10">
                <a:latin typeface="Calibri"/>
                <a:cs typeface="Calibri"/>
              </a:rPr>
              <a:t>contain </a:t>
            </a:r>
            <a:r>
              <a:rPr sz="1500">
                <a:latin typeface="Calibri"/>
                <a:cs typeface="Calibri"/>
              </a:rPr>
              <a:t>either </a:t>
            </a:r>
            <a:r>
              <a:rPr sz="1500" spc="5">
                <a:latin typeface="Calibri"/>
                <a:cs typeface="Calibri"/>
              </a:rPr>
              <a:t> </a:t>
            </a:r>
            <a:r>
              <a:rPr sz="1500" spc="15">
                <a:latin typeface="Calibri"/>
                <a:cs typeface="Calibri"/>
              </a:rPr>
              <a:t>a</a:t>
            </a:r>
            <a:r>
              <a:rPr sz="1500" spc="-35">
                <a:latin typeface="Calibri"/>
                <a:cs typeface="Calibri"/>
              </a:rPr>
              <a:t> </a:t>
            </a:r>
            <a:r>
              <a:rPr sz="1500" b="1" u="heavy" spc="-10">
                <a:uFill>
                  <a:solidFill>
                    <a:srgbClr val="000000"/>
                  </a:solidFill>
                </a:uFill>
                <a:latin typeface="Calibri"/>
                <a:cs typeface="Calibri"/>
              </a:rPr>
              <a:t>Pass</a:t>
            </a:r>
            <a:r>
              <a:rPr sz="1500" b="1" spc="-20">
                <a:latin typeface="Calibri"/>
                <a:cs typeface="Calibri"/>
              </a:rPr>
              <a:t> </a:t>
            </a:r>
            <a:r>
              <a:rPr sz="1500" spc="-5">
                <a:latin typeface="Calibri"/>
                <a:cs typeface="Calibri"/>
              </a:rPr>
              <a:t>from</a:t>
            </a:r>
            <a:r>
              <a:rPr sz="1500" spc="-40">
                <a:latin typeface="Calibri"/>
                <a:cs typeface="Calibri"/>
              </a:rPr>
              <a:t> </a:t>
            </a:r>
            <a:r>
              <a:rPr sz="1500">
                <a:latin typeface="Calibri"/>
                <a:cs typeface="Calibri"/>
              </a:rPr>
              <a:t>one</a:t>
            </a:r>
            <a:r>
              <a:rPr sz="1500" spc="-25">
                <a:latin typeface="Calibri"/>
                <a:cs typeface="Calibri"/>
              </a:rPr>
              <a:t> </a:t>
            </a:r>
            <a:r>
              <a:rPr sz="1500" spc="-10">
                <a:latin typeface="Calibri"/>
                <a:cs typeface="Calibri"/>
              </a:rPr>
              <a:t>player</a:t>
            </a:r>
            <a:r>
              <a:rPr sz="1500" spc="-25">
                <a:latin typeface="Calibri"/>
                <a:cs typeface="Calibri"/>
              </a:rPr>
              <a:t> </a:t>
            </a:r>
            <a:r>
              <a:rPr sz="1500" spc="-5">
                <a:latin typeface="Calibri"/>
                <a:cs typeface="Calibri"/>
              </a:rPr>
              <a:t>to </a:t>
            </a:r>
            <a:r>
              <a:rPr sz="1500" spc="-325">
                <a:latin typeface="Calibri"/>
                <a:cs typeface="Calibri"/>
              </a:rPr>
              <a:t> </a:t>
            </a:r>
            <a:r>
              <a:rPr sz="1500" spc="-20">
                <a:latin typeface="Calibri"/>
                <a:cs typeface="Calibri"/>
              </a:rPr>
              <a:t>another, </a:t>
            </a:r>
            <a:r>
              <a:rPr sz="1500">
                <a:latin typeface="Calibri"/>
                <a:cs typeface="Calibri"/>
              </a:rPr>
              <a:t>or </a:t>
            </a:r>
            <a:r>
              <a:rPr sz="1500" spc="15">
                <a:latin typeface="Calibri"/>
                <a:cs typeface="Calibri"/>
              </a:rPr>
              <a:t>a </a:t>
            </a:r>
            <a:r>
              <a:rPr sz="1500" b="1" u="heavy">
                <a:uFill>
                  <a:solidFill>
                    <a:srgbClr val="000000"/>
                  </a:solidFill>
                </a:uFill>
                <a:latin typeface="Calibri"/>
                <a:cs typeface="Calibri"/>
              </a:rPr>
              <a:t>Run</a:t>
            </a:r>
            <a:r>
              <a:rPr sz="1500" b="1">
                <a:latin typeface="Calibri"/>
                <a:cs typeface="Calibri"/>
              </a:rPr>
              <a:t> </a:t>
            </a:r>
            <a:r>
              <a:rPr sz="1500">
                <a:latin typeface="Calibri"/>
                <a:cs typeface="Calibri"/>
              </a:rPr>
              <a:t>by one </a:t>
            </a:r>
            <a:r>
              <a:rPr sz="1500" spc="-325">
                <a:latin typeface="Calibri"/>
                <a:cs typeface="Calibri"/>
              </a:rPr>
              <a:t> </a:t>
            </a:r>
            <a:r>
              <a:rPr sz="1500" spc="-10">
                <a:latin typeface="Calibri"/>
                <a:cs typeface="Calibri"/>
              </a:rPr>
              <a:t>player</a:t>
            </a:r>
            <a:endParaRPr sz="1500">
              <a:latin typeface="Calibri"/>
              <a:cs typeface="Calibri"/>
            </a:endParaRPr>
          </a:p>
        </p:txBody>
      </p:sp>
      <p:sp>
        <p:nvSpPr>
          <p:cNvPr id="14" name="object 14"/>
          <p:cNvSpPr txBox="1"/>
          <p:nvPr/>
        </p:nvSpPr>
        <p:spPr>
          <a:xfrm>
            <a:off x="6240036" y="3492500"/>
            <a:ext cx="26416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10">
                <a:latin typeface="Calibri"/>
                <a:cs typeface="Calibri"/>
              </a:rPr>
              <a:t>s</a:t>
            </a:r>
            <a:endParaRPr sz="900">
              <a:latin typeface="Calibri"/>
              <a:cs typeface="Calibri"/>
            </a:endParaRPr>
          </a:p>
        </p:txBody>
      </p:sp>
      <p:sp>
        <p:nvSpPr>
          <p:cNvPr id="15" name="object 15"/>
          <p:cNvSpPr txBox="1"/>
          <p:nvPr/>
        </p:nvSpPr>
        <p:spPr>
          <a:xfrm>
            <a:off x="5277209" y="4381500"/>
            <a:ext cx="3448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15">
                <a:latin typeface="Calibri"/>
                <a:cs typeface="Calibri"/>
              </a:rPr>
              <a:t>y</a:t>
            </a:r>
            <a:r>
              <a:rPr sz="900" spc="-15">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16" name="object 16"/>
          <p:cNvSpPr txBox="1"/>
          <p:nvPr/>
        </p:nvSpPr>
        <p:spPr>
          <a:xfrm>
            <a:off x="7511324" y="3297767"/>
            <a:ext cx="387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OccurIn</a:t>
            </a:r>
            <a:endParaRPr sz="900">
              <a:latin typeface="Calibri"/>
              <a:cs typeface="Calibri"/>
            </a:endParaRPr>
          </a:p>
        </p:txBody>
      </p:sp>
      <p:sp>
        <p:nvSpPr>
          <p:cNvPr id="17" name="object 17"/>
          <p:cNvSpPr txBox="1"/>
          <p:nvPr/>
        </p:nvSpPr>
        <p:spPr>
          <a:xfrm>
            <a:off x="6074936" y="4381500"/>
            <a:ext cx="59372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Y</a:t>
            </a:r>
            <a:r>
              <a:rPr sz="900" spc="-10">
                <a:latin typeface="Calibri"/>
                <a:cs typeface="Calibri"/>
              </a:rPr>
              <a:t>a</a:t>
            </a:r>
            <a:r>
              <a:rPr sz="900" spc="-5">
                <a:latin typeface="Calibri"/>
                <a:cs typeface="Calibri"/>
              </a:rPr>
              <a:t>rd</a:t>
            </a:r>
            <a:r>
              <a:rPr sz="900" spc="-10">
                <a:latin typeface="Calibri"/>
                <a:cs typeface="Calibri"/>
              </a:rPr>
              <a:t>a</a:t>
            </a:r>
            <a:r>
              <a:rPr sz="900">
                <a:latin typeface="Calibri"/>
                <a:cs typeface="Calibri"/>
              </a:rPr>
              <a:t>g</a:t>
            </a:r>
            <a:r>
              <a:rPr sz="900" spc="15">
                <a:latin typeface="Calibri"/>
                <a:cs typeface="Calibri"/>
              </a:rPr>
              <a:t>e</a:t>
            </a:r>
            <a:r>
              <a:rPr sz="900" spc="-20">
                <a:latin typeface="Calibri"/>
                <a:cs typeface="Calibri"/>
              </a:rPr>
              <a:t> </a:t>
            </a:r>
            <a:r>
              <a:rPr sz="900" spc="-5">
                <a:latin typeface="Calibri"/>
                <a:cs typeface="Calibri"/>
              </a:rPr>
              <a:t>D</a:t>
            </a:r>
            <a:r>
              <a:rPr sz="900">
                <a:latin typeface="Calibri"/>
                <a:cs typeface="Calibri"/>
              </a:rPr>
              <a:t>if</a:t>
            </a:r>
            <a:r>
              <a:rPr sz="900" spc="10">
                <a:latin typeface="Calibri"/>
                <a:cs typeface="Calibri"/>
              </a:rPr>
              <a:t>f</a:t>
            </a:r>
            <a:endParaRPr sz="900">
              <a:latin typeface="Calibri"/>
              <a:cs typeface="Calibri"/>
            </a:endParaRPr>
          </a:p>
        </p:txBody>
      </p:sp>
      <p:sp>
        <p:nvSpPr>
          <p:cNvPr id="18" name="object 18"/>
          <p:cNvSpPr txBox="1"/>
          <p:nvPr/>
        </p:nvSpPr>
        <p:spPr>
          <a:xfrm>
            <a:off x="7000506" y="4381500"/>
            <a:ext cx="5734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Touchdown</a:t>
            </a:r>
            <a:endParaRPr sz="900">
              <a:latin typeface="Calibri"/>
              <a:cs typeface="Calibri"/>
            </a:endParaRPr>
          </a:p>
        </p:txBody>
      </p:sp>
      <p:sp>
        <p:nvSpPr>
          <p:cNvPr id="19" name="object 19"/>
          <p:cNvSpPr txBox="1"/>
          <p:nvPr/>
        </p:nvSpPr>
        <p:spPr>
          <a:xfrm>
            <a:off x="3605025" y="2281767"/>
            <a:ext cx="36131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5">
                <a:latin typeface="Calibri"/>
                <a:cs typeface="Calibri"/>
              </a:rPr>
              <a:t>er</a:t>
            </a:r>
            <a:r>
              <a:rPr sz="900" spc="10">
                <a:latin typeface="Calibri"/>
                <a:cs typeface="Calibri"/>
              </a:rPr>
              <a:t>s</a:t>
            </a:r>
            <a:endParaRPr sz="900">
              <a:latin typeface="Calibri"/>
              <a:cs typeface="Calibri"/>
            </a:endParaRPr>
          </a:p>
        </p:txBody>
      </p:sp>
      <p:sp>
        <p:nvSpPr>
          <p:cNvPr id="20" name="object 20"/>
          <p:cNvSpPr txBox="1"/>
          <p:nvPr/>
        </p:nvSpPr>
        <p:spPr>
          <a:xfrm>
            <a:off x="2902546" y="1646767"/>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sp>
        <p:nvSpPr>
          <p:cNvPr id="21" name="object 21"/>
          <p:cNvSpPr txBox="1"/>
          <p:nvPr/>
        </p:nvSpPr>
        <p:spPr>
          <a:xfrm>
            <a:off x="4713072" y="2061634"/>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sp>
        <p:nvSpPr>
          <p:cNvPr id="22" name="object 22"/>
          <p:cNvSpPr txBox="1"/>
          <p:nvPr/>
        </p:nvSpPr>
        <p:spPr>
          <a:xfrm>
            <a:off x="3796298" y="1646767"/>
            <a:ext cx="441959"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e</a:t>
            </a:r>
            <a:r>
              <a:rPr sz="900" spc="10">
                <a:latin typeface="Calibri"/>
                <a:cs typeface="Calibri"/>
              </a:rPr>
              <a:t>r</a:t>
            </a:r>
            <a:r>
              <a:rPr sz="900" spc="-20">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23" name="object 23"/>
          <p:cNvSpPr txBox="1"/>
          <p:nvPr/>
        </p:nvSpPr>
        <p:spPr>
          <a:xfrm>
            <a:off x="8436195" y="2493434"/>
            <a:ext cx="346710" cy="155171"/>
          </a:xfrm>
          <a:prstGeom prst="rect">
            <a:avLst/>
          </a:prstGeom>
        </p:spPr>
        <p:txBody>
          <a:bodyPr vert="horz" wrap="square" lIns="0" tIns="16510" rIns="0" bIns="0" rtlCol="0">
            <a:spAutoFit/>
          </a:bodyPr>
          <a:lstStyle/>
          <a:p>
            <a:pPr marL="12700">
              <a:spcBef>
                <a:spcPts val="130"/>
              </a:spcBef>
            </a:pPr>
            <a:r>
              <a:rPr sz="900" spc="-10">
                <a:latin typeface="Calibri"/>
                <a:cs typeface="Calibri"/>
              </a:rPr>
              <a:t>G</a:t>
            </a:r>
            <a:r>
              <a:rPr sz="900" spc="-5">
                <a:latin typeface="Calibri"/>
                <a:cs typeface="Calibri"/>
              </a:rPr>
              <a:t>am</a:t>
            </a:r>
            <a:r>
              <a:rPr sz="900">
                <a:latin typeface="Calibri"/>
                <a:cs typeface="Calibri"/>
              </a:rPr>
              <a:t>e</a:t>
            </a:r>
            <a:r>
              <a:rPr sz="900" spc="10">
                <a:latin typeface="Calibri"/>
                <a:cs typeface="Calibri"/>
              </a:rPr>
              <a:t>s</a:t>
            </a:r>
            <a:endParaRPr sz="900">
              <a:latin typeface="Calibri"/>
              <a:cs typeface="Calibri"/>
            </a:endParaRPr>
          </a:p>
        </p:txBody>
      </p:sp>
      <p:sp>
        <p:nvSpPr>
          <p:cNvPr id="24" name="object 24"/>
          <p:cNvSpPr txBox="1"/>
          <p:nvPr/>
        </p:nvSpPr>
        <p:spPr>
          <a:xfrm>
            <a:off x="7723187" y="1502834"/>
            <a:ext cx="236854"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d</a:t>
            </a:r>
            <a:r>
              <a:rPr sz="900" spc="-10">
                <a:latin typeface="Calibri"/>
                <a:cs typeface="Calibri"/>
              </a:rPr>
              <a:t>a</a:t>
            </a:r>
            <a:r>
              <a:rPr sz="900" spc="-5">
                <a:latin typeface="Calibri"/>
                <a:cs typeface="Calibri"/>
              </a:rPr>
              <a:t>t</a:t>
            </a:r>
            <a:r>
              <a:rPr sz="900" spc="15">
                <a:latin typeface="Calibri"/>
                <a:cs typeface="Calibri"/>
              </a:rPr>
              <a:t>e</a:t>
            </a:r>
            <a:endParaRPr sz="900">
              <a:latin typeface="Calibri"/>
              <a:cs typeface="Calibri"/>
            </a:endParaRPr>
          </a:p>
        </p:txBody>
      </p:sp>
      <p:sp>
        <p:nvSpPr>
          <p:cNvPr id="25" name="object 25"/>
          <p:cNvSpPr txBox="1"/>
          <p:nvPr/>
        </p:nvSpPr>
        <p:spPr>
          <a:xfrm>
            <a:off x="6025185" y="1858434"/>
            <a:ext cx="33083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Teams</a:t>
            </a:r>
            <a:endParaRPr sz="900">
              <a:latin typeface="Calibri"/>
              <a:cs typeface="Calibri"/>
            </a:endParaRPr>
          </a:p>
        </p:txBody>
      </p:sp>
      <p:sp>
        <p:nvSpPr>
          <p:cNvPr id="26" name="object 26"/>
          <p:cNvSpPr txBox="1"/>
          <p:nvPr/>
        </p:nvSpPr>
        <p:spPr>
          <a:xfrm>
            <a:off x="5908267" y="1291167"/>
            <a:ext cx="4114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t>
            </a:r>
            <a:r>
              <a:rPr sz="900" spc="-10">
                <a:latin typeface="Calibri"/>
                <a:cs typeface="Calibri"/>
              </a:rPr>
              <a:t>a</a:t>
            </a:r>
            <a:r>
              <a:rPr sz="900" spc="25">
                <a:latin typeface="Calibri"/>
                <a:cs typeface="Calibri"/>
              </a:rPr>
              <a:t>m</a:t>
            </a:r>
            <a:r>
              <a:rPr sz="900" spc="-25">
                <a:latin typeface="Calibri"/>
                <a:cs typeface="Calibri"/>
              </a:rPr>
              <a:t> </a:t>
            </a:r>
            <a:r>
              <a:rPr sz="900" spc="-10">
                <a:latin typeface="Calibri"/>
                <a:cs typeface="Calibri"/>
              </a:rPr>
              <a:t>I</a:t>
            </a:r>
            <a:r>
              <a:rPr sz="900" spc="20">
                <a:latin typeface="Calibri"/>
                <a:cs typeface="Calibri"/>
              </a:rPr>
              <a:t>D</a:t>
            </a:r>
            <a:endParaRPr sz="900">
              <a:latin typeface="Calibri"/>
              <a:cs typeface="Calibri"/>
            </a:endParaRPr>
          </a:p>
        </p:txBody>
      </p:sp>
      <p:sp>
        <p:nvSpPr>
          <p:cNvPr id="27" name="object 27"/>
          <p:cNvSpPr txBox="1"/>
          <p:nvPr/>
        </p:nvSpPr>
        <p:spPr>
          <a:xfrm>
            <a:off x="6876710" y="2595034"/>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sp>
        <p:nvSpPr>
          <p:cNvPr id="28" name="object 28"/>
          <p:cNvSpPr txBox="1"/>
          <p:nvPr/>
        </p:nvSpPr>
        <p:spPr>
          <a:xfrm>
            <a:off x="8714882" y="1485900"/>
            <a:ext cx="4025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location</a:t>
            </a:r>
            <a:endParaRPr sz="900">
              <a:latin typeface="Calibri"/>
              <a:cs typeface="Calibri"/>
            </a:endParaRPr>
          </a:p>
        </p:txBody>
      </p:sp>
      <p:sp>
        <p:nvSpPr>
          <p:cNvPr id="29" name="object 29"/>
          <p:cNvSpPr txBox="1"/>
          <p:nvPr/>
        </p:nvSpPr>
        <p:spPr>
          <a:xfrm>
            <a:off x="6890203" y="2061634"/>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sp>
        <p:nvSpPr>
          <p:cNvPr id="30" name="object 30"/>
          <p:cNvSpPr txBox="1"/>
          <p:nvPr/>
        </p:nvSpPr>
        <p:spPr>
          <a:xfrm>
            <a:off x="4190724" y="3086100"/>
            <a:ext cx="8705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Participation</a:t>
            </a:r>
            <a:r>
              <a:rPr sz="900" spc="-45">
                <a:latin typeface="Calibri"/>
                <a:cs typeface="Calibri"/>
              </a:rPr>
              <a:t> </a:t>
            </a:r>
            <a:r>
              <a:rPr sz="900">
                <a:latin typeface="Calibri"/>
                <a:cs typeface="Calibri"/>
              </a:rPr>
              <a:t>Type</a:t>
            </a:r>
          </a:p>
        </p:txBody>
      </p:sp>
      <p:sp>
        <p:nvSpPr>
          <p:cNvPr id="31" name="Slide Number Placeholder 30">
            <a:extLst>
              <a:ext uri="{FF2B5EF4-FFF2-40B4-BE49-F238E27FC236}">
                <a16:creationId xmlns:a16="http://schemas.microsoft.com/office/drawing/2014/main" id="{7319BB3F-E7F1-4602-9201-EE7E36E3D50C}"/>
              </a:ext>
            </a:extLst>
          </p:cNvPr>
          <p:cNvSpPr>
            <a:spLocks noGrp="1"/>
          </p:cNvSpPr>
          <p:nvPr>
            <p:ph type="sldNum" sz="quarter" idx="12"/>
          </p:nvPr>
        </p:nvSpPr>
        <p:spPr/>
        <p:txBody>
          <a:bodyPr/>
          <a:lstStyle/>
          <a:p>
            <a:fld id="{641C0F02-33DC-3A41-9F51-431B7FE03ABE}"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39528" y="1571029"/>
            <a:ext cx="6739614" cy="3502612"/>
          </a:xfrm>
          <a:prstGeom prst="rect">
            <a:avLst/>
          </a:prstGeom>
        </p:spPr>
      </p:pic>
      <p:sp>
        <p:nvSpPr>
          <p:cNvPr id="3" name="object 3"/>
          <p:cNvSpPr txBox="1"/>
          <p:nvPr/>
        </p:nvSpPr>
        <p:spPr>
          <a:xfrm>
            <a:off x="4150455" y="4364567"/>
            <a:ext cx="618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ParticipateIn</a:t>
            </a:r>
            <a:endParaRPr sz="900">
              <a:latin typeface="Calibri"/>
              <a:cs typeface="Calibri"/>
            </a:endParaRPr>
          </a:p>
        </p:txBody>
      </p:sp>
      <p:sp>
        <p:nvSpPr>
          <p:cNvPr id="4" name="object 4"/>
          <p:cNvSpPr txBox="1"/>
          <p:nvPr/>
        </p:nvSpPr>
        <p:spPr>
          <a:xfrm>
            <a:off x="6268413" y="3890434"/>
            <a:ext cx="26416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10">
                <a:latin typeface="Calibri"/>
                <a:cs typeface="Calibri"/>
              </a:rPr>
              <a:t>s</a:t>
            </a:r>
            <a:endParaRPr sz="900">
              <a:latin typeface="Calibri"/>
              <a:cs typeface="Calibri"/>
            </a:endParaRPr>
          </a:p>
        </p:txBody>
      </p:sp>
      <p:sp>
        <p:nvSpPr>
          <p:cNvPr id="5" name="object 5"/>
          <p:cNvSpPr txBox="1"/>
          <p:nvPr/>
        </p:nvSpPr>
        <p:spPr>
          <a:xfrm>
            <a:off x="5305587" y="4779434"/>
            <a:ext cx="3448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15">
                <a:latin typeface="Calibri"/>
                <a:cs typeface="Calibri"/>
              </a:rPr>
              <a:t>y</a:t>
            </a:r>
            <a:r>
              <a:rPr sz="900" spc="-15">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6" name="object 6"/>
          <p:cNvSpPr txBox="1"/>
          <p:nvPr/>
        </p:nvSpPr>
        <p:spPr>
          <a:xfrm>
            <a:off x="6103314" y="4779434"/>
            <a:ext cx="59372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Y</a:t>
            </a:r>
            <a:r>
              <a:rPr sz="900" spc="-10">
                <a:latin typeface="Calibri"/>
                <a:cs typeface="Calibri"/>
              </a:rPr>
              <a:t>a</a:t>
            </a:r>
            <a:r>
              <a:rPr sz="900" spc="-5">
                <a:latin typeface="Calibri"/>
                <a:cs typeface="Calibri"/>
              </a:rPr>
              <a:t>rd</a:t>
            </a:r>
            <a:r>
              <a:rPr sz="900" spc="-10">
                <a:latin typeface="Calibri"/>
                <a:cs typeface="Calibri"/>
              </a:rPr>
              <a:t>a</a:t>
            </a:r>
            <a:r>
              <a:rPr sz="900">
                <a:latin typeface="Calibri"/>
                <a:cs typeface="Calibri"/>
              </a:rPr>
              <a:t>g</a:t>
            </a:r>
            <a:r>
              <a:rPr sz="900" spc="15">
                <a:latin typeface="Calibri"/>
                <a:cs typeface="Calibri"/>
              </a:rPr>
              <a:t>e</a:t>
            </a:r>
            <a:r>
              <a:rPr sz="900" spc="-20">
                <a:latin typeface="Calibri"/>
                <a:cs typeface="Calibri"/>
              </a:rPr>
              <a:t> </a:t>
            </a:r>
            <a:r>
              <a:rPr sz="900" spc="-5">
                <a:latin typeface="Calibri"/>
                <a:cs typeface="Calibri"/>
              </a:rPr>
              <a:t>D</a:t>
            </a:r>
            <a:r>
              <a:rPr sz="900">
                <a:latin typeface="Calibri"/>
                <a:cs typeface="Calibri"/>
              </a:rPr>
              <a:t>if</a:t>
            </a:r>
            <a:r>
              <a:rPr sz="900" spc="10">
                <a:latin typeface="Calibri"/>
                <a:cs typeface="Calibri"/>
              </a:rPr>
              <a:t>f</a:t>
            </a:r>
            <a:endParaRPr sz="900">
              <a:latin typeface="Calibri"/>
              <a:cs typeface="Calibri"/>
            </a:endParaRPr>
          </a:p>
        </p:txBody>
      </p:sp>
      <p:sp>
        <p:nvSpPr>
          <p:cNvPr id="7" name="object 7"/>
          <p:cNvSpPr txBox="1"/>
          <p:nvPr/>
        </p:nvSpPr>
        <p:spPr>
          <a:xfrm>
            <a:off x="7028884" y="4779434"/>
            <a:ext cx="5734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Touchdown</a:t>
            </a:r>
            <a:endParaRPr sz="900">
              <a:latin typeface="Calibri"/>
              <a:cs typeface="Calibri"/>
            </a:endParaRPr>
          </a:p>
        </p:txBody>
      </p:sp>
      <p:sp>
        <p:nvSpPr>
          <p:cNvPr id="8" name="object 8"/>
          <p:cNvSpPr txBox="1"/>
          <p:nvPr/>
        </p:nvSpPr>
        <p:spPr>
          <a:xfrm>
            <a:off x="3633403" y="2679700"/>
            <a:ext cx="36131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5">
                <a:latin typeface="Calibri"/>
                <a:cs typeface="Calibri"/>
              </a:rPr>
              <a:t>er</a:t>
            </a:r>
            <a:r>
              <a:rPr sz="900" spc="10">
                <a:latin typeface="Calibri"/>
                <a:cs typeface="Calibri"/>
              </a:rPr>
              <a:t>s</a:t>
            </a:r>
            <a:endParaRPr sz="900">
              <a:latin typeface="Calibri"/>
              <a:cs typeface="Calibri"/>
            </a:endParaRPr>
          </a:p>
        </p:txBody>
      </p:sp>
      <p:sp>
        <p:nvSpPr>
          <p:cNvPr id="9" name="object 9"/>
          <p:cNvSpPr txBox="1"/>
          <p:nvPr/>
        </p:nvSpPr>
        <p:spPr>
          <a:xfrm>
            <a:off x="2930925" y="2044700"/>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sp>
        <p:nvSpPr>
          <p:cNvPr id="10" name="object 10"/>
          <p:cNvSpPr txBox="1"/>
          <p:nvPr/>
        </p:nvSpPr>
        <p:spPr>
          <a:xfrm>
            <a:off x="4741449" y="2459567"/>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sp>
        <p:nvSpPr>
          <p:cNvPr id="11" name="object 11"/>
          <p:cNvSpPr txBox="1"/>
          <p:nvPr/>
        </p:nvSpPr>
        <p:spPr>
          <a:xfrm>
            <a:off x="3824677" y="2044700"/>
            <a:ext cx="441959"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e</a:t>
            </a:r>
            <a:r>
              <a:rPr sz="900" spc="10">
                <a:latin typeface="Calibri"/>
                <a:cs typeface="Calibri"/>
              </a:rPr>
              <a:t>r</a:t>
            </a:r>
            <a:r>
              <a:rPr sz="900" spc="-20">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12" name="object 12"/>
          <p:cNvSpPr txBox="1"/>
          <p:nvPr/>
        </p:nvSpPr>
        <p:spPr>
          <a:xfrm>
            <a:off x="6053564" y="2256367"/>
            <a:ext cx="33083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Teams</a:t>
            </a:r>
            <a:endParaRPr sz="900">
              <a:latin typeface="Calibri"/>
              <a:cs typeface="Calibri"/>
            </a:endParaRPr>
          </a:p>
        </p:txBody>
      </p:sp>
      <p:sp>
        <p:nvSpPr>
          <p:cNvPr id="13" name="object 13"/>
          <p:cNvSpPr txBox="1"/>
          <p:nvPr/>
        </p:nvSpPr>
        <p:spPr>
          <a:xfrm>
            <a:off x="5936645" y="1689100"/>
            <a:ext cx="4114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t>
            </a:r>
            <a:r>
              <a:rPr sz="900" spc="-10">
                <a:latin typeface="Calibri"/>
                <a:cs typeface="Calibri"/>
              </a:rPr>
              <a:t>a</a:t>
            </a:r>
            <a:r>
              <a:rPr sz="900" spc="25">
                <a:latin typeface="Calibri"/>
                <a:cs typeface="Calibri"/>
              </a:rPr>
              <a:t>m</a:t>
            </a:r>
            <a:r>
              <a:rPr sz="900" spc="-25">
                <a:latin typeface="Calibri"/>
                <a:cs typeface="Calibri"/>
              </a:rPr>
              <a:t> </a:t>
            </a:r>
            <a:r>
              <a:rPr sz="900" spc="-10">
                <a:latin typeface="Calibri"/>
                <a:cs typeface="Calibri"/>
              </a:rPr>
              <a:t>I</a:t>
            </a:r>
            <a:r>
              <a:rPr sz="900" spc="20">
                <a:latin typeface="Calibri"/>
                <a:cs typeface="Calibri"/>
              </a:rPr>
              <a:t>D</a:t>
            </a:r>
            <a:endParaRPr sz="900">
              <a:latin typeface="Calibri"/>
              <a:cs typeface="Calibri"/>
            </a:endParaRPr>
          </a:p>
        </p:txBody>
      </p:sp>
      <p:sp>
        <p:nvSpPr>
          <p:cNvPr id="14" name="object 14"/>
          <p:cNvSpPr txBox="1"/>
          <p:nvPr/>
        </p:nvSpPr>
        <p:spPr>
          <a:xfrm>
            <a:off x="4219102" y="3484034"/>
            <a:ext cx="8705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Participation</a:t>
            </a:r>
            <a:r>
              <a:rPr sz="900" spc="-45">
                <a:latin typeface="Calibri"/>
                <a:cs typeface="Calibri"/>
              </a:rPr>
              <a:t> </a:t>
            </a:r>
            <a:r>
              <a:rPr sz="900">
                <a:latin typeface="Calibri"/>
                <a:cs typeface="Calibri"/>
              </a:rPr>
              <a:t>Type</a:t>
            </a:r>
          </a:p>
        </p:txBody>
      </p:sp>
      <p:sp>
        <p:nvSpPr>
          <p:cNvPr id="15" name="object 15"/>
          <p:cNvSpPr txBox="1"/>
          <p:nvPr/>
        </p:nvSpPr>
        <p:spPr>
          <a:xfrm>
            <a:off x="2047544" y="4610099"/>
            <a:ext cx="1343660" cy="14020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A</a:t>
            </a:r>
            <a:r>
              <a:rPr sz="1500" spc="-50">
                <a:latin typeface="Calibri"/>
                <a:cs typeface="Calibri"/>
              </a:rPr>
              <a:t> </a:t>
            </a:r>
            <a:r>
              <a:rPr sz="1500" spc="-10">
                <a:latin typeface="Calibri"/>
                <a:cs typeface="Calibri"/>
              </a:rPr>
              <a:t>player</a:t>
            </a:r>
            <a:r>
              <a:rPr sz="1500" spc="-35">
                <a:latin typeface="Calibri"/>
                <a:cs typeface="Calibri"/>
              </a:rPr>
              <a:t> </a:t>
            </a:r>
            <a:r>
              <a:rPr sz="1500" spc="-5">
                <a:latin typeface="Calibri"/>
                <a:cs typeface="Calibri"/>
              </a:rPr>
              <a:t>can</a:t>
            </a:r>
            <a:r>
              <a:rPr sz="1500" spc="-40">
                <a:latin typeface="Calibri"/>
                <a:cs typeface="Calibri"/>
              </a:rPr>
              <a:t> </a:t>
            </a:r>
            <a:r>
              <a:rPr sz="1500">
                <a:latin typeface="Calibri"/>
                <a:cs typeface="Calibri"/>
              </a:rPr>
              <a:t>only </a:t>
            </a:r>
            <a:r>
              <a:rPr sz="1500" spc="-325">
                <a:latin typeface="Calibri"/>
                <a:cs typeface="Calibri"/>
              </a:rPr>
              <a:t> </a:t>
            </a:r>
            <a:r>
              <a:rPr sz="1500">
                <a:latin typeface="Calibri"/>
                <a:cs typeface="Calibri"/>
              </a:rPr>
              <a:t>belong </a:t>
            </a:r>
            <a:r>
              <a:rPr sz="1500" spc="-5">
                <a:latin typeface="Calibri"/>
                <a:cs typeface="Calibri"/>
              </a:rPr>
              <a:t>to one </a:t>
            </a:r>
            <a:r>
              <a:rPr sz="1500">
                <a:latin typeface="Calibri"/>
                <a:cs typeface="Calibri"/>
              </a:rPr>
              <a:t> </a:t>
            </a:r>
            <a:r>
              <a:rPr sz="1500" spc="-5">
                <a:latin typeface="Calibri"/>
                <a:cs typeface="Calibri"/>
              </a:rPr>
              <a:t>team, </a:t>
            </a:r>
            <a:r>
              <a:rPr sz="1500" spc="15">
                <a:latin typeface="Calibri"/>
                <a:cs typeface="Calibri"/>
              </a:rPr>
              <a:t>a </a:t>
            </a:r>
            <a:r>
              <a:rPr sz="1500" spc="-5">
                <a:latin typeface="Calibri"/>
                <a:cs typeface="Calibri"/>
              </a:rPr>
              <a:t>play can </a:t>
            </a:r>
            <a:r>
              <a:rPr sz="1500">
                <a:latin typeface="Calibri"/>
                <a:cs typeface="Calibri"/>
              </a:rPr>
              <a:t> only </a:t>
            </a:r>
            <a:r>
              <a:rPr sz="1500" spc="5">
                <a:latin typeface="Calibri"/>
                <a:cs typeface="Calibri"/>
              </a:rPr>
              <a:t>be </a:t>
            </a:r>
            <a:r>
              <a:rPr sz="1500" spc="10">
                <a:latin typeface="Calibri"/>
                <a:cs typeface="Calibri"/>
              </a:rPr>
              <a:t>in </a:t>
            </a:r>
            <a:r>
              <a:rPr sz="1500">
                <a:latin typeface="Calibri"/>
                <a:cs typeface="Calibri"/>
              </a:rPr>
              <a:t>one </a:t>
            </a:r>
            <a:r>
              <a:rPr sz="1500" spc="5">
                <a:latin typeface="Calibri"/>
                <a:cs typeface="Calibri"/>
              </a:rPr>
              <a:t> </a:t>
            </a:r>
            <a:r>
              <a:rPr sz="1500" spc="-10">
                <a:latin typeface="Calibri"/>
                <a:cs typeface="Calibri"/>
              </a:rPr>
              <a:t>game, </a:t>
            </a:r>
            <a:r>
              <a:rPr sz="1500" spc="15">
                <a:latin typeface="Calibri"/>
                <a:cs typeface="Calibri"/>
              </a:rPr>
              <a:t>a </a:t>
            </a:r>
            <a:r>
              <a:rPr sz="1500" spc="20">
                <a:latin typeface="Calibri"/>
                <a:cs typeface="Calibri"/>
              </a:rPr>
              <a:t> </a:t>
            </a:r>
            <a:r>
              <a:rPr sz="1500" spc="-5">
                <a:latin typeface="Calibri"/>
                <a:cs typeface="Calibri"/>
              </a:rPr>
              <a:t>pass/run..?</a:t>
            </a:r>
            <a:endParaRPr sz="1500">
              <a:latin typeface="Calibri"/>
              <a:cs typeface="Calibri"/>
            </a:endParaRPr>
          </a:p>
        </p:txBody>
      </p:sp>
      <p:sp>
        <p:nvSpPr>
          <p:cNvPr id="16" name="object 16"/>
          <p:cNvSpPr txBox="1"/>
          <p:nvPr/>
        </p:nvSpPr>
        <p:spPr>
          <a:xfrm>
            <a:off x="7539701" y="3695700"/>
            <a:ext cx="387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OccurIn</a:t>
            </a:r>
            <a:endParaRPr sz="900">
              <a:latin typeface="Calibri"/>
              <a:cs typeface="Calibri"/>
            </a:endParaRPr>
          </a:p>
        </p:txBody>
      </p:sp>
      <p:sp>
        <p:nvSpPr>
          <p:cNvPr id="17" name="object 17"/>
          <p:cNvSpPr txBox="1"/>
          <p:nvPr/>
        </p:nvSpPr>
        <p:spPr>
          <a:xfrm>
            <a:off x="8464574" y="2891367"/>
            <a:ext cx="346710" cy="155171"/>
          </a:xfrm>
          <a:prstGeom prst="rect">
            <a:avLst/>
          </a:prstGeom>
        </p:spPr>
        <p:txBody>
          <a:bodyPr vert="horz" wrap="square" lIns="0" tIns="16510" rIns="0" bIns="0" rtlCol="0">
            <a:spAutoFit/>
          </a:bodyPr>
          <a:lstStyle/>
          <a:p>
            <a:pPr marL="12700">
              <a:spcBef>
                <a:spcPts val="130"/>
              </a:spcBef>
            </a:pPr>
            <a:r>
              <a:rPr sz="900" spc="-10">
                <a:latin typeface="Calibri"/>
                <a:cs typeface="Calibri"/>
              </a:rPr>
              <a:t>G</a:t>
            </a:r>
            <a:r>
              <a:rPr sz="900" spc="-5">
                <a:latin typeface="Calibri"/>
                <a:cs typeface="Calibri"/>
              </a:rPr>
              <a:t>am</a:t>
            </a:r>
            <a:r>
              <a:rPr sz="900">
                <a:latin typeface="Calibri"/>
                <a:cs typeface="Calibri"/>
              </a:rPr>
              <a:t>e</a:t>
            </a:r>
            <a:r>
              <a:rPr sz="900" spc="10">
                <a:latin typeface="Calibri"/>
                <a:cs typeface="Calibri"/>
              </a:rPr>
              <a:t>s</a:t>
            </a:r>
            <a:endParaRPr sz="900">
              <a:latin typeface="Calibri"/>
              <a:cs typeface="Calibri"/>
            </a:endParaRPr>
          </a:p>
        </p:txBody>
      </p:sp>
      <p:sp>
        <p:nvSpPr>
          <p:cNvPr id="18" name="object 18"/>
          <p:cNvSpPr txBox="1"/>
          <p:nvPr/>
        </p:nvSpPr>
        <p:spPr>
          <a:xfrm>
            <a:off x="7751564" y="1900767"/>
            <a:ext cx="236854"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d</a:t>
            </a:r>
            <a:r>
              <a:rPr sz="900" spc="-10">
                <a:latin typeface="Calibri"/>
                <a:cs typeface="Calibri"/>
              </a:rPr>
              <a:t>a</a:t>
            </a:r>
            <a:r>
              <a:rPr sz="900" spc="-5">
                <a:latin typeface="Calibri"/>
                <a:cs typeface="Calibri"/>
              </a:rPr>
              <a:t>t</a:t>
            </a:r>
            <a:r>
              <a:rPr sz="900" spc="15">
                <a:latin typeface="Calibri"/>
                <a:cs typeface="Calibri"/>
              </a:rPr>
              <a:t>e</a:t>
            </a:r>
            <a:endParaRPr sz="900">
              <a:latin typeface="Calibri"/>
              <a:cs typeface="Calibri"/>
            </a:endParaRPr>
          </a:p>
        </p:txBody>
      </p:sp>
      <p:sp>
        <p:nvSpPr>
          <p:cNvPr id="19" name="object 19"/>
          <p:cNvSpPr txBox="1"/>
          <p:nvPr/>
        </p:nvSpPr>
        <p:spPr>
          <a:xfrm>
            <a:off x="6905087" y="2992967"/>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sp>
        <p:nvSpPr>
          <p:cNvPr id="20" name="object 20"/>
          <p:cNvSpPr txBox="1"/>
          <p:nvPr/>
        </p:nvSpPr>
        <p:spPr>
          <a:xfrm>
            <a:off x="8743259" y="1883834"/>
            <a:ext cx="4025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location</a:t>
            </a:r>
            <a:endParaRPr sz="900">
              <a:latin typeface="Calibri"/>
              <a:cs typeface="Calibri"/>
            </a:endParaRPr>
          </a:p>
        </p:txBody>
      </p:sp>
      <p:sp>
        <p:nvSpPr>
          <p:cNvPr id="21" name="object 21"/>
          <p:cNvSpPr txBox="1"/>
          <p:nvPr/>
        </p:nvSpPr>
        <p:spPr>
          <a:xfrm>
            <a:off x="6918581" y="2459567"/>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pic>
        <p:nvPicPr>
          <p:cNvPr id="22" name="object 22"/>
          <p:cNvPicPr/>
          <p:nvPr/>
        </p:nvPicPr>
        <p:blipFill>
          <a:blip r:embed="rId3" cstate="print"/>
          <a:stretch>
            <a:fillRect/>
          </a:stretch>
        </p:blipFill>
        <p:spPr>
          <a:xfrm>
            <a:off x="1879600" y="3479800"/>
            <a:ext cx="1524000" cy="1049866"/>
          </a:xfrm>
          <a:prstGeom prst="rect">
            <a:avLst/>
          </a:prstGeom>
        </p:spPr>
      </p:pic>
      <p:sp>
        <p:nvSpPr>
          <p:cNvPr id="23" name="Slide Number Placeholder 22">
            <a:extLst>
              <a:ext uri="{FF2B5EF4-FFF2-40B4-BE49-F238E27FC236}">
                <a16:creationId xmlns:a16="http://schemas.microsoft.com/office/drawing/2014/main" id="{08C5E6EC-DBB7-41D8-B766-6EBB48810485}"/>
              </a:ext>
            </a:extLst>
          </p:cNvPr>
          <p:cNvSpPr>
            <a:spLocks noGrp="1"/>
          </p:cNvSpPr>
          <p:nvPr>
            <p:ph type="sldNum" sz="quarter" idx="12"/>
          </p:nvPr>
        </p:nvSpPr>
        <p:spPr/>
        <p:txBody>
          <a:bodyPr/>
          <a:lstStyle/>
          <a:p>
            <a:fld id="{641C0F02-33DC-3A41-9F51-431B7FE03ABE}"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321EEF-E77C-9BE0-EE7C-A3674CFA9FA0}"/>
              </a:ext>
            </a:extLst>
          </p:cNvPr>
          <p:cNvSpPr>
            <a:spLocks noGrp="1"/>
          </p:cNvSpPr>
          <p:nvPr>
            <p:ph type="sldNum" sz="quarter" idx="12"/>
          </p:nvPr>
        </p:nvSpPr>
        <p:spPr/>
        <p:txBody>
          <a:bodyPr/>
          <a:lstStyle/>
          <a:p>
            <a:fld id="{641C0F02-33DC-3A41-9F51-431B7FE03ABE}" type="slidenum">
              <a:rPr lang="en-US" smtClean="0"/>
              <a:t>55</a:t>
            </a:fld>
            <a:endParaRPr lang="en-US"/>
          </a:p>
        </p:txBody>
      </p:sp>
      <p:sp>
        <p:nvSpPr>
          <p:cNvPr id="4" name="object 5">
            <a:extLst>
              <a:ext uri="{FF2B5EF4-FFF2-40B4-BE49-F238E27FC236}">
                <a16:creationId xmlns:a16="http://schemas.microsoft.com/office/drawing/2014/main" id="{42C03F17-E5D2-3F6D-187E-735A6847299A}"/>
              </a:ext>
            </a:extLst>
          </p:cNvPr>
          <p:cNvSpPr txBox="1"/>
          <p:nvPr/>
        </p:nvSpPr>
        <p:spPr>
          <a:xfrm>
            <a:off x="4743972" y="3287182"/>
            <a:ext cx="1518920" cy="9448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a:t>
            </a:r>
            <a:r>
              <a:rPr sz="1500" spc="-35">
                <a:latin typeface="Calibri"/>
                <a:cs typeface="Calibri"/>
              </a:rPr>
              <a:t> </a:t>
            </a:r>
            <a:r>
              <a:rPr sz="1500" spc="-5">
                <a:latin typeface="Calibri"/>
                <a:cs typeface="Calibri"/>
              </a:rPr>
              <a:t>can</a:t>
            </a:r>
            <a:r>
              <a:rPr sz="1500" spc="-45">
                <a:latin typeface="Calibri"/>
                <a:cs typeface="Calibri"/>
              </a:rPr>
              <a:t> </a:t>
            </a:r>
            <a:r>
              <a:rPr sz="1500" spc="-5">
                <a:latin typeface="Calibri"/>
                <a:cs typeface="Calibri"/>
              </a:rPr>
              <a:t>achieve </a:t>
            </a:r>
            <a:r>
              <a:rPr sz="1500" spc="-325">
                <a:latin typeface="Calibri"/>
                <a:cs typeface="Calibri"/>
              </a:rPr>
              <a:t> </a:t>
            </a:r>
            <a:r>
              <a:rPr sz="1500" spc="15">
                <a:latin typeface="Calibri"/>
                <a:cs typeface="Calibri"/>
              </a:rPr>
              <a:t>a </a:t>
            </a:r>
            <a:r>
              <a:rPr sz="1500" b="1" u="heavy" spc="-10">
                <a:uFill>
                  <a:solidFill>
                    <a:srgbClr val="000000"/>
                  </a:solidFill>
                </a:uFill>
                <a:latin typeface="Calibri"/>
                <a:cs typeface="Calibri"/>
              </a:rPr>
              <a:t>Personal Record </a:t>
            </a:r>
            <a:r>
              <a:rPr sz="1500" b="1" spc="-5">
                <a:latin typeface="Calibri"/>
                <a:cs typeface="Calibri"/>
              </a:rPr>
              <a:t> </a:t>
            </a:r>
            <a:r>
              <a:rPr sz="1500" spc="-5">
                <a:latin typeface="Calibri"/>
                <a:cs typeface="Calibri"/>
              </a:rPr>
              <a:t>linked to </a:t>
            </a:r>
            <a:r>
              <a:rPr sz="1500" spc="15">
                <a:latin typeface="Calibri"/>
                <a:cs typeface="Calibri"/>
              </a:rPr>
              <a:t>a </a:t>
            </a:r>
            <a:r>
              <a:rPr sz="1500">
                <a:latin typeface="Calibri"/>
                <a:cs typeface="Calibri"/>
              </a:rPr>
              <a:t>specific </a:t>
            </a:r>
            <a:r>
              <a:rPr sz="1500" spc="5">
                <a:latin typeface="Calibri"/>
                <a:cs typeface="Calibri"/>
              </a:rPr>
              <a:t> </a:t>
            </a:r>
            <a:r>
              <a:rPr sz="1500">
                <a:latin typeface="Calibri"/>
                <a:cs typeface="Calibri"/>
              </a:rPr>
              <a:t>Game</a:t>
            </a:r>
            <a:r>
              <a:rPr sz="1500" spc="-25">
                <a:latin typeface="Calibri"/>
                <a:cs typeface="Calibri"/>
              </a:rPr>
              <a:t> </a:t>
            </a:r>
            <a:r>
              <a:rPr sz="1500">
                <a:latin typeface="Calibri"/>
                <a:cs typeface="Calibri"/>
              </a:rPr>
              <a:t>and</a:t>
            </a:r>
            <a:r>
              <a:rPr sz="1500" spc="-25">
                <a:latin typeface="Calibri"/>
                <a:cs typeface="Calibri"/>
              </a:rPr>
              <a:t> </a:t>
            </a:r>
            <a:r>
              <a:rPr sz="1500" spc="-5">
                <a:latin typeface="Calibri"/>
                <a:cs typeface="Calibri"/>
              </a:rPr>
              <a:t>Play</a:t>
            </a:r>
            <a:endParaRPr sz="1500">
              <a:latin typeface="Calibri"/>
              <a:cs typeface="Calibri"/>
            </a:endParaRPr>
          </a:p>
        </p:txBody>
      </p:sp>
      <p:pic>
        <p:nvPicPr>
          <p:cNvPr id="6" name="object 8">
            <a:extLst>
              <a:ext uri="{FF2B5EF4-FFF2-40B4-BE49-F238E27FC236}">
                <a16:creationId xmlns:a16="http://schemas.microsoft.com/office/drawing/2014/main" id="{65A7A42E-E2A8-344F-3B5B-ED00962FDD0B}"/>
              </a:ext>
            </a:extLst>
          </p:cNvPr>
          <p:cNvPicPr/>
          <p:nvPr/>
        </p:nvPicPr>
        <p:blipFill>
          <a:blip r:embed="rId2" cstate="print"/>
          <a:stretch>
            <a:fillRect/>
          </a:stretch>
        </p:blipFill>
        <p:spPr>
          <a:xfrm>
            <a:off x="2192866" y="3234266"/>
            <a:ext cx="1481666" cy="1049866"/>
          </a:xfrm>
          <a:prstGeom prst="rect">
            <a:avLst/>
          </a:prstGeom>
        </p:spPr>
      </p:pic>
    </p:spTree>
    <p:extLst>
      <p:ext uri="{BB962C8B-B14F-4D97-AF65-F5344CB8AC3E}">
        <p14:creationId xmlns:p14="http://schemas.microsoft.com/office/powerpoint/2010/main" val="2994253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29921" y="516467"/>
            <a:ext cx="5901055" cy="482600"/>
          </a:xfrm>
          <a:prstGeom prst="rect">
            <a:avLst/>
          </a:prstGeom>
        </p:spPr>
        <p:txBody>
          <a:bodyPr vert="horz" wrap="square" lIns="0" tIns="12700" rIns="0" bIns="0" rtlCol="0" anchor="ctr">
            <a:spAutoFit/>
          </a:bodyPr>
          <a:lstStyle/>
          <a:p>
            <a:pPr marL="12700">
              <a:lnSpc>
                <a:spcPct val="100000"/>
              </a:lnSpc>
              <a:spcBef>
                <a:spcPts val="100"/>
              </a:spcBef>
            </a:pPr>
            <a:r>
              <a:rPr sz="3000" b="1" spc="-5">
                <a:latin typeface="Arial"/>
                <a:cs typeface="Arial"/>
              </a:rPr>
              <a:t>ENHANCE</a:t>
            </a:r>
            <a:r>
              <a:rPr sz="3000" b="1" spc="-70">
                <a:latin typeface="Arial"/>
                <a:cs typeface="Arial"/>
              </a:rPr>
              <a:t> </a:t>
            </a:r>
            <a:r>
              <a:rPr sz="3000" b="1" spc="-5">
                <a:latin typeface="Arial"/>
                <a:cs typeface="Arial"/>
              </a:rPr>
              <a:t>YOUR</a:t>
            </a:r>
            <a:r>
              <a:rPr sz="3000" b="1" spc="-15">
                <a:latin typeface="Arial"/>
                <a:cs typeface="Arial"/>
              </a:rPr>
              <a:t> </a:t>
            </a:r>
            <a:r>
              <a:rPr sz="3000" b="1">
                <a:latin typeface="Arial"/>
                <a:cs typeface="Arial"/>
              </a:rPr>
              <a:t>E/R</a:t>
            </a:r>
            <a:r>
              <a:rPr sz="3000" b="1" spc="-15">
                <a:latin typeface="Arial"/>
                <a:cs typeface="Arial"/>
              </a:rPr>
              <a:t> </a:t>
            </a:r>
            <a:r>
              <a:rPr sz="3000" b="1" spc="-5">
                <a:latin typeface="Arial"/>
                <a:cs typeface="Arial"/>
              </a:rPr>
              <a:t>DIAGRAM!</a:t>
            </a:r>
            <a:endParaRPr sz="3000">
              <a:latin typeface="Arial"/>
              <a:cs typeface="Arial"/>
            </a:endParaRPr>
          </a:p>
        </p:txBody>
      </p:sp>
      <p:sp>
        <p:nvSpPr>
          <p:cNvPr id="4" name="object 4"/>
          <p:cNvSpPr txBox="1"/>
          <p:nvPr/>
        </p:nvSpPr>
        <p:spPr>
          <a:xfrm>
            <a:off x="2231390" y="4483099"/>
            <a:ext cx="1343660" cy="14020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A</a:t>
            </a:r>
            <a:r>
              <a:rPr sz="1500" spc="-50">
                <a:latin typeface="Calibri"/>
                <a:cs typeface="Calibri"/>
              </a:rPr>
              <a:t> </a:t>
            </a:r>
            <a:r>
              <a:rPr sz="1500" spc="-10">
                <a:latin typeface="Calibri"/>
                <a:cs typeface="Calibri"/>
              </a:rPr>
              <a:t>player</a:t>
            </a:r>
            <a:r>
              <a:rPr sz="1500" spc="-35">
                <a:latin typeface="Calibri"/>
                <a:cs typeface="Calibri"/>
              </a:rPr>
              <a:t> </a:t>
            </a:r>
            <a:r>
              <a:rPr sz="1500" spc="-5">
                <a:latin typeface="Calibri"/>
                <a:cs typeface="Calibri"/>
              </a:rPr>
              <a:t>can</a:t>
            </a:r>
            <a:r>
              <a:rPr sz="1500" spc="-40">
                <a:latin typeface="Calibri"/>
                <a:cs typeface="Calibri"/>
              </a:rPr>
              <a:t> </a:t>
            </a:r>
            <a:r>
              <a:rPr sz="1500">
                <a:latin typeface="Calibri"/>
                <a:cs typeface="Calibri"/>
              </a:rPr>
              <a:t>only </a:t>
            </a:r>
            <a:r>
              <a:rPr sz="1500" spc="-325">
                <a:latin typeface="Calibri"/>
                <a:cs typeface="Calibri"/>
              </a:rPr>
              <a:t> </a:t>
            </a:r>
            <a:r>
              <a:rPr sz="1500">
                <a:latin typeface="Calibri"/>
                <a:cs typeface="Calibri"/>
              </a:rPr>
              <a:t>belong </a:t>
            </a:r>
            <a:r>
              <a:rPr sz="1500" spc="-5">
                <a:latin typeface="Calibri"/>
                <a:cs typeface="Calibri"/>
              </a:rPr>
              <a:t>to one </a:t>
            </a:r>
            <a:r>
              <a:rPr sz="1500">
                <a:latin typeface="Calibri"/>
                <a:cs typeface="Calibri"/>
              </a:rPr>
              <a:t> </a:t>
            </a:r>
            <a:r>
              <a:rPr sz="1500" spc="-5">
                <a:latin typeface="Calibri"/>
                <a:cs typeface="Calibri"/>
              </a:rPr>
              <a:t>team, </a:t>
            </a:r>
            <a:r>
              <a:rPr sz="1500" spc="15">
                <a:latin typeface="Calibri"/>
                <a:cs typeface="Calibri"/>
              </a:rPr>
              <a:t>a </a:t>
            </a:r>
            <a:r>
              <a:rPr sz="1500" spc="-5">
                <a:latin typeface="Calibri"/>
                <a:cs typeface="Calibri"/>
              </a:rPr>
              <a:t>play can </a:t>
            </a:r>
            <a:r>
              <a:rPr sz="1500">
                <a:latin typeface="Calibri"/>
                <a:cs typeface="Calibri"/>
              </a:rPr>
              <a:t> only </a:t>
            </a:r>
            <a:r>
              <a:rPr sz="1500" spc="5">
                <a:latin typeface="Calibri"/>
                <a:cs typeface="Calibri"/>
              </a:rPr>
              <a:t>be </a:t>
            </a:r>
            <a:r>
              <a:rPr sz="1500" spc="10">
                <a:latin typeface="Calibri"/>
                <a:cs typeface="Calibri"/>
              </a:rPr>
              <a:t>in </a:t>
            </a:r>
            <a:r>
              <a:rPr sz="1500">
                <a:latin typeface="Calibri"/>
                <a:cs typeface="Calibri"/>
              </a:rPr>
              <a:t>one </a:t>
            </a:r>
            <a:r>
              <a:rPr sz="1500" spc="5">
                <a:latin typeface="Calibri"/>
                <a:cs typeface="Calibri"/>
              </a:rPr>
              <a:t> </a:t>
            </a:r>
            <a:r>
              <a:rPr sz="1500" spc="-10">
                <a:latin typeface="Calibri"/>
                <a:cs typeface="Calibri"/>
              </a:rPr>
              <a:t>game, </a:t>
            </a:r>
            <a:r>
              <a:rPr sz="1500" spc="15">
                <a:latin typeface="Calibri"/>
                <a:cs typeface="Calibri"/>
              </a:rPr>
              <a:t>a </a:t>
            </a:r>
            <a:r>
              <a:rPr sz="1500" spc="20">
                <a:latin typeface="Calibri"/>
                <a:cs typeface="Calibri"/>
              </a:rPr>
              <a:t> </a:t>
            </a:r>
            <a:r>
              <a:rPr sz="1500" spc="-5">
                <a:latin typeface="Calibri"/>
                <a:cs typeface="Calibri"/>
              </a:rPr>
              <a:t>pass/run..?</a:t>
            </a:r>
            <a:endParaRPr sz="1500">
              <a:latin typeface="Calibri"/>
              <a:cs typeface="Calibri"/>
            </a:endParaRPr>
          </a:p>
        </p:txBody>
      </p:sp>
      <p:sp>
        <p:nvSpPr>
          <p:cNvPr id="5" name="object 5"/>
          <p:cNvSpPr txBox="1"/>
          <p:nvPr/>
        </p:nvSpPr>
        <p:spPr>
          <a:xfrm>
            <a:off x="5315472" y="4483099"/>
            <a:ext cx="1518920" cy="9448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a:t>
            </a:r>
            <a:r>
              <a:rPr sz="1500" spc="-35">
                <a:latin typeface="Calibri"/>
                <a:cs typeface="Calibri"/>
              </a:rPr>
              <a:t> </a:t>
            </a:r>
            <a:r>
              <a:rPr sz="1500" spc="-5">
                <a:latin typeface="Calibri"/>
                <a:cs typeface="Calibri"/>
              </a:rPr>
              <a:t>can</a:t>
            </a:r>
            <a:r>
              <a:rPr sz="1500" spc="-45">
                <a:latin typeface="Calibri"/>
                <a:cs typeface="Calibri"/>
              </a:rPr>
              <a:t> </a:t>
            </a:r>
            <a:r>
              <a:rPr sz="1500" spc="-5">
                <a:latin typeface="Calibri"/>
                <a:cs typeface="Calibri"/>
              </a:rPr>
              <a:t>achieve </a:t>
            </a:r>
            <a:r>
              <a:rPr sz="1500" spc="-325">
                <a:latin typeface="Calibri"/>
                <a:cs typeface="Calibri"/>
              </a:rPr>
              <a:t> </a:t>
            </a:r>
            <a:r>
              <a:rPr sz="1500" spc="15">
                <a:latin typeface="Calibri"/>
                <a:cs typeface="Calibri"/>
              </a:rPr>
              <a:t>a </a:t>
            </a:r>
            <a:r>
              <a:rPr sz="1500" b="1" u="heavy" spc="-10">
                <a:uFill>
                  <a:solidFill>
                    <a:srgbClr val="000000"/>
                  </a:solidFill>
                </a:uFill>
                <a:latin typeface="Calibri"/>
                <a:cs typeface="Calibri"/>
              </a:rPr>
              <a:t>Personal Record </a:t>
            </a:r>
            <a:r>
              <a:rPr sz="1500" b="1" spc="-5">
                <a:latin typeface="Calibri"/>
                <a:cs typeface="Calibri"/>
              </a:rPr>
              <a:t> </a:t>
            </a:r>
            <a:r>
              <a:rPr sz="1500" spc="-5">
                <a:latin typeface="Calibri"/>
                <a:cs typeface="Calibri"/>
              </a:rPr>
              <a:t>linked to </a:t>
            </a:r>
            <a:r>
              <a:rPr sz="1500" spc="15">
                <a:latin typeface="Calibri"/>
                <a:cs typeface="Calibri"/>
              </a:rPr>
              <a:t>a </a:t>
            </a:r>
            <a:r>
              <a:rPr sz="1500">
                <a:latin typeface="Calibri"/>
                <a:cs typeface="Calibri"/>
              </a:rPr>
              <a:t>specific </a:t>
            </a:r>
            <a:r>
              <a:rPr sz="1500" spc="5">
                <a:latin typeface="Calibri"/>
                <a:cs typeface="Calibri"/>
              </a:rPr>
              <a:t> </a:t>
            </a:r>
            <a:r>
              <a:rPr sz="1500">
                <a:latin typeface="Calibri"/>
                <a:cs typeface="Calibri"/>
              </a:rPr>
              <a:t>Game</a:t>
            </a:r>
            <a:r>
              <a:rPr sz="1500" spc="-25">
                <a:latin typeface="Calibri"/>
                <a:cs typeface="Calibri"/>
              </a:rPr>
              <a:t> </a:t>
            </a:r>
            <a:r>
              <a:rPr sz="1500">
                <a:latin typeface="Calibri"/>
                <a:cs typeface="Calibri"/>
              </a:rPr>
              <a:t>and</a:t>
            </a:r>
            <a:r>
              <a:rPr sz="1500" spc="-25">
                <a:latin typeface="Calibri"/>
                <a:cs typeface="Calibri"/>
              </a:rPr>
              <a:t> </a:t>
            </a:r>
            <a:r>
              <a:rPr sz="1500" spc="-5">
                <a:latin typeface="Calibri"/>
                <a:cs typeface="Calibri"/>
              </a:rPr>
              <a:t>Play</a:t>
            </a:r>
            <a:endParaRPr sz="1500">
              <a:latin typeface="Calibri"/>
              <a:cs typeface="Calibri"/>
            </a:endParaRPr>
          </a:p>
        </p:txBody>
      </p:sp>
      <p:sp>
        <p:nvSpPr>
          <p:cNvPr id="6" name="object 6"/>
          <p:cNvSpPr txBox="1"/>
          <p:nvPr/>
        </p:nvSpPr>
        <p:spPr>
          <a:xfrm>
            <a:off x="2231391" y="2366432"/>
            <a:ext cx="4716145" cy="299720"/>
          </a:xfrm>
          <a:prstGeom prst="rect">
            <a:avLst/>
          </a:prstGeom>
        </p:spPr>
        <p:txBody>
          <a:bodyPr vert="horz" wrap="square" lIns="0" tIns="12700" rIns="0" bIns="0" rtlCol="0">
            <a:spAutoFit/>
          </a:bodyPr>
          <a:lstStyle/>
          <a:p>
            <a:pPr marL="12700">
              <a:spcBef>
                <a:spcPts val="100"/>
              </a:spcBef>
            </a:pPr>
            <a:r>
              <a:rPr spc="-5">
                <a:latin typeface="Calibri"/>
                <a:cs typeface="Calibri"/>
              </a:rPr>
              <a:t>Also</a:t>
            </a:r>
            <a:r>
              <a:rPr>
                <a:latin typeface="Calibri"/>
                <a:cs typeface="Calibri"/>
              </a:rPr>
              <a:t> </a:t>
            </a:r>
            <a:r>
              <a:rPr spc="-20">
                <a:latin typeface="Calibri"/>
                <a:cs typeface="Calibri"/>
              </a:rPr>
              <a:t>make</a:t>
            </a:r>
            <a:r>
              <a:rPr spc="5">
                <a:latin typeface="Calibri"/>
                <a:cs typeface="Calibri"/>
              </a:rPr>
              <a:t> </a:t>
            </a:r>
            <a:r>
              <a:rPr spc="-10">
                <a:latin typeface="Calibri"/>
                <a:cs typeface="Calibri"/>
              </a:rPr>
              <a:t>sure</a:t>
            </a:r>
            <a:r>
              <a:rPr spc="5">
                <a:latin typeface="Calibri"/>
                <a:cs typeface="Calibri"/>
              </a:rPr>
              <a:t> </a:t>
            </a:r>
            <a:r>
              <a:rPr spc="-15">
                <a:latin typeface="Calibri"/>
                <a:cs typeface="Calibri"/>
              </a:rPr>
              <a:t>to</a:t>
            </a:r>
            <a:r>
              <a:rPr>
                <a:latin typeface="Calibri"/>
                <a:cs typeface="Calibri"/>
              </a:rPr>
              <a:t> add</a:t>
            </a:r>
            <a:r>
              <a:rPr spc="-5">
                <a:latin typeface="Calibri"/>
                <a:cs typeface="Calibri"/>
              </a:rPr>
              <a:t> </a:t>
            </a:r>
            <a:r>
              <a:rPr b="1" u="heavy" spc="-10">
                <a:uFill>
                  <a:solidFill>
                    <a:srgbClr val="000000"/>
                  </a:solidFill>
                </a:uFill>
                <a:latin typeface="Calibri"/>
                <a:cs typeface="Calibri"/>
              </a:rPr>
              <a:t>(new</a:t>
            </a:r>
            <a:r>
              <a:rPr b="1" u="heavy" spc="-5">
                <a:uFill>
                  <a:solidFill>
                    <a:srgbClr val="000000"/>
                  </a:solidFill>
                </a:uFill>
                <a:latin typeface="Calibri"/>
                <a:cs typeface="Calibri"/>
              </a:rPr>
              <a:t> </a:t>
            </a:r>
            <a:r>
              <a:rPr b="1" u="heavy" spc="-10">
                <a:uFill>
                  <a:solidFill>
                    <a:srgbClr val="000000"/>
                  </a:solidFill>
                </a:uFill>
                <a:latin typeface="Calibri"/>
                <a:cs typeface="Calibri"/>
              </a:rPr>
              <a:t>concepts</a:t>
            </a:r>
            <a:r>
              <a:rPr b="1" u="heavy" spc="-5">
                <a:uFill>
                  <a:solidFill>
                    <a:srgbClr val="000000"/>
                  </a:solidFill>
                </a:uFill>
                <a:latin typeface="Calibri"/>
                <a:cs typeface="Calibri"/>
              </a:rPr>
              <a:t> underlined):</a:t>
            </a:r>
            <a:endParaRPr>
              <a:latin typeface="Calibri"/>
              <a:cs typeface="Calibri"/>
            </a:endParaRPr>
          </a:p>
        </p:txBody>
      </p:sp>
      <p:pic>
        <p:nvPicPr>
          <p:cNvPr id="8" name="object 8"/>
          <p:cNvPicPr/>
          <p:nvPr/>
        </p:nvPicPr>
        <p:blipFill>
          <a:blip r:embed="rId2" cstate="print"/>
          <a:stretch>
            <a:fillRect/>
          </a:stretch>
        </p:blipFill>
        <p:spPr>
          <a:xfrm>
            <a:off x="2192866" y="3234266"/>
            <a:ext cx="1481666" cy="1049866"/>
          </a:xfrm>
          <a:prstGeom prst="rect">
            <a:avLst/>
          </a:prstGeom>
        </p:spPr>
      </p:pic>
      <p:pic>
        <p:nvPicPr>
          <p:cNvPr id="9" name="object 9"/>
          <p:cNvPicPr/>
          <p:nvPr/>
        </p:nvPicPr>
        <p:blipFill>
          <a:blip r:embed="rId3" cstate="print"/>
          <a:stretch>
            <a:fillRect/>
          </a:stretch>
        </p:blipFill>
        <p:spPr>
          <a:xfrm>
            <a:off x="5173133" y="3141132"/>
            <a:ext cx="1693332" cy="1143000"/>
          </a:xfrm>
          <a:prstGeom prst="rect">
            <a:avLst/>
          </a:prstGeom>
        </p:spPr>
      </p:pic>
      <p:sp>
        <p:nvSpPr>
          <p:cNvPr id="2" name="Slide Number Placeholder 1">
            <a:extLst>
              <a:ext uri="{FF2B5EF4-FFF2-40B4-BE49-F238E27FC236}">
                <a16:creationId xmlns:a16="http://schemas.microsoft.com/office/drawing/2014/main" id="{386B2360-DF81-48BF-900B-AC3A3930BFFA}"/>
              </a:ext>
            </a:extLst>
          </p:cNvPr>
          <p:cNvSpPr>
            <a:spLocks noGrp="1"/>
          </p:cNvSpPr>
          <p:nvPr>
            <p:ph type="sldNum" sz="quarter" idx="12"/>
          </p:nvPr>
        </p:nvSpPr>
        <p:spPr/>
        <p:txBody>
          <a:bodyPr/>
          <a:lstStyle/>
          <a:p>
            <a:fld id="{641C0F02-33DC-3A41-9F51-431B7FE03ABE}"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39528" y="1571029"/>
            <a:ext cx="6739614" cy="3502612"/>
          </a:xfrm>
          <a:prstGeom prst="rect">
            <a:avLst/>
          </a:prstGeom>
        </p:spPr>
      </p:pic>
      <p:sp>
        <p:nvSpPr>
          <p:cNvPr id="3" name="object 3"/>
          <p:cNvSpPr txBox="1"/>
          <p:nvPr/>
        </p:nvSpPr>
        <p:spPr>
          <a:xfrm>
            <a:off x="4600325" y="3661834"/>
            <a:ext cx="618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ParticipateIn</a:t>
            </a:r>
            <a:endParaRPr sz="900">
              <a:latin typeface="Calibri"/>
              <a:cs typeface="Calibri"/>
            </a:endParaRPr>
          </a:p>
        </p:txBody>
      </p:sp>
      <p:sp>
        <p:nvSpPr>
          <p:cNvPr id="4" name="object 4"/>
          <p:cNvSpPr txBox="1"/>
          <p:nvPr/>
        </p:nvSpPr>
        <p:spPr>
          <a:xfrm>
            <a:off x="6268413" y="3890434"/>
            <a:ext cx="26416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10">
                <a:latin typeface="Calibri"/>
                <a:cs typeface="Calibri"/>
              </a:rPr>
              <a:t>s</a:t>
            </a:r>
            <a:endParaRPr sz="900">
              <a:latin typeface="Calibri"/>
              <a:cs typeface="Calibri"/>
            </a:endParaRPr>
          </a:p>
        </p:txBody>
      </p:sp>
      <p:sp>
        <p:nvSpPr>
          <p:cNvPr id="5" name="object 5"/>
          <p:cNvSpPr txBox="1"/>
          <p:nvPr/>
        </p:nvSpPr>
        <p:spPr>
          <a:xfrm>
            <a:off x="5305587" y="4779434"/>
            <a:ext cx="3448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15">
                <a:latin typeface="Calibri"/>
                <a:cs typeface="Calibri"/>
              </a:rPr>
              <a:t>y</a:t>
            </a:r>
            <a:r>
              <a:rPr sz="900" spc="-15">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6" name="object 6"/>
          <p:cNvSpPr txBox="1"/>
          <p:nvPr/>
        </p:nvSpPr>
        <p:spPr>
          <a:xfrm>
            <a:off x="6103314" y="4779434"/>
            <a:ext cx="59372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Y</a:t>
            </a:r>
            <a:r>
              <a:rPr sz="900" spc="-10">
                <a:latin typeface="Calibri"/>
                <a:cs typeface="Calibri"/>
              </a:rPr>
              <a:t>a</a:t>
            </a:r>
            <a:r>
              <a:rPr sz="900" spc="-5">
                <a:latin typeface="Calibri"/>
                <a:cs typeface="Calibri"/>
              </a:rPr>
              <a:t>rd</a:t>
            </a:r>
            <a:r>
              <a:rPr sz="900" spc="-10">
                <a:latin typeface="Calibri"/>
                <a:cs typeface="Calibri"/>
              </a:rPr>
              <a:t>a</a:t>
            </a:r>
            <a:r>
              <a:rPr sz="900">
                <a:latin typeface="Calibri"/>
                <a:cs typeface="Calibri"/>
              </a:rPr>
              <a:t>g</a:t>
            </a:r>
            <a:r>
              <a:rPr sz="900" spc="15">
                <a:latin typeface="Calibri"/>
                <a:cs typeface="Calibri"/>
              </a:rPr>
              <a:t>e</a:t>
            </a:r>
            <a:r>
              <a:rPr sz="900" spc="-20">
                <a:latin typeface="Calibri"/>
                <a:cs typeface="Calibri"/>
              </a:rPr>
              <a:t> </a:t>
            </a:r>
            <a:r>
              <a:rPr sz="900" spc="-5">
                <a:latin typeface="Calibri"/>
                <a:cs typeface="Calibri"/>
              </a:rPr>
              <a:t>D</a:t>
            </a:r>
            <a:r>
              <a:rPr sz="900">
                <a:latin typeface="Calibri"/>
                <a:cs typeface="Calibri"/>
              </a:rPr>
              <a:t>if</a:t>
            </a:r>
            <a:r>
              <a:rPr sz="900" spc="10">
                <a:latin typeface="Calibri"/>
                <a:cs typeface="Calibri"/>
              </a:rPr>
              <a:t>f</a:t>
            </a:r>
            <a:endParaRPr sz="900">
              <a:latin typeface="Calibri"/>
              <a:cs typeface="Calibri"/>
            </a:endParaRPr>
          </a:p>
        </p:txBody>
      </p:sp>
      <p:sp>
        <p:nvSpPr>
          <p:cNvPr id="7" name="object 7"/>
          <p:cNvSpPr txBox="1"/>
          <p:nvPr/>
        </p:nvSpPr>
        <p:spPr>
          <a:xfrm>
            <a:off x="7028884" y="4779434"/>
            <a:ext cx="5734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Touchdown</a:t>
            </a:r>
            <a:endParaRPr sz="900">
              <a:latin typeface="Calibri"/>
              <a:cs typeface="Calibri"/>
            </a:endParaRPr>
          </a:p>
        </p:txBody>
      </p:sp>
      <p:sp>
        <p:nvSpPr>
          <p:cNvPr id="8" name="object 8"/>
          <p:cNvSpPr txBox="1"/>
          <p:nvPr/>
        </p:nvSpPr>
        <p:spPr>
          <a:xfrm>
            <a:off x="3633403" y="2679700"/>
            <a:ext cx="36131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5">
                <a:latin typeface="Calibri"/>
                <a:cs typeface="Calibri"/>
              </a:rPr>
              <a:t>er</a:t>
            </a:r>
            <a:r>
              <a:rPr sz="900" spc="10">
                <a:latin typeface="Calibri"/>
                <a:cs typeface="Calibri"/>
              </a:rPr>
              <a:t>s</a:t>
            </a:r>
            <a:endParaRPr sz="900">
              <a:latin typeface="Calibri"/>
              <a:cs typeface="Calibri"/>
            </a:endParaRPr>
          </a:p>
        </p:txBody>
      </p:sp>
      <p:sp>
        <p:nvSpPr>
          <p:cNvPr id="9" name="object 9"/>
          <p:cNvSpPr txBox="1"/>
          <p:nvPr/>
        </p:nvSpPr>
        <p:spPr>
          <a:xfrm>
            <a:off x="2930925" y="2044700"/>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sp>
        <p:nvSpPr>
          <p:cNvPr id="10" name="object 10"/>
          <p:cNvSpPr txBox="1"/>
          <p:nvPr/>
        </p:nvSpPr>
        <p:spPr>
          <a:xfrm>
            <a:off x="4741449" y="2459567"/>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sp>
        <p:nvSpPr>
          <p:cNvPr id="11" name="object 11"/>
          <p:cNvSpPr txBox="1"/>
          <p:nvPr/>
        </p:nvSpPr>
        <p:spPr>
          <a:xfrm>
            <a:off x="3824677" y="2044700"/>
            <a:ext cx="441959"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e</a:t>
            </a:r>
            <a:r>
              <a:rPr sz="900" spc="10">
                <a:latin typeface="Calibri"/>
                <a:cs typeface="Calibri"/>
              </a:rPr>
              <a:t>r</a:t>
            </a:r>
            <a:r>
              <a:rPr sz="900" spc="-20">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12" name="object 12"/>
          <p:cNvSpPr txBox="1"/>
          <p:nvPr/>
        </p:nvSpPr>
        <p:spPr>
          <a:xfrm>
            <a:off x="6053564" y="2256367"/>
            <a:ext cx="33083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Teams</a:t>
            </a:r>
            <a:endParaRPr sz="900">
              <a:latin typeface="Calibri"/>
              <a:cs typeface="Calibri"/>
            </a:endParaRPr>
          </a:p>
        </p:txBody>
      </p:sp>
      <p:sp>
        <p:nvSpPr>
          <p:cNvPr id="13" name="object 13"/>
          <p:cNvSpPr txBox="1"/>
          <p:nvPr/>
        </p:nvSpPr>
        <p:spPr>
          <a:xfrm>
            <a:off x="5936645" y="1689100"/>
            <a:ext cx="4114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t>
            </a:r>
            <a:r>
              <a:rPr sz="900" spc="-10">
                <a:latin typeface="Calibri"/>
                <a:cs typeface="Calibri"/>
              </a:rPr>
              <a:t>a</a:t>
            </a:r>
            <a:r>
              <a:rPr sz="900" spc="25">
                <a:latin typeface="Calibri"/>
                <a:cs typeface="Calibri"/>
              </a:rPr>
              <a:t>m</a:t>
            </a:r>
            <a:r>
              <a:rPr sz="900" spc="-25">
                <a:latin typeface="Calibri"/>
                <a:cs typeface="Calibri"/>
              </a:rPr>
              <a:t> </a:t>
            </a:r>
            <a:r>
              <a:rPr sz="900" spc="-10">
                <a:latin typeface="Calibri"/>
                <a:cs typeface="Calibri"/>
              </a:rPr>
              <a:t>I</a:t>
            </a:r>
            <a:r>
              <a:rPr sz="900" spc="20">
                <a:latin typeface="Calibri"/>
                <a:cs typeface="Calibri"/>
              </a:rPr>
              <a:t>D</a:t>
            </a:r>
            <a:endParaRPr sz="900">
              <a:latin typeface="Calibri"/>
              <a:cs typeface="Calibri"/>
            </a:endParaRPr>
          </a:p>
        </p:txBody>
      </p:sp>
      <p:sp>
        <p:nvSpPr>
          <p:cNvPr id="14" name="object 14"/>
          <p:cNvSpPr txBox="1"/>
          <p:nvPr/>
        </p:nvSpPr>
        <p:spPr>
          <a:xfrm>
            <a:off x="4989563" y="3103034"/>
            <a:ext cx="8705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Participation</a:t>
            </a:r>
            <a:r>
              <a:rPr sz="900" spc="-45">
                <a:latin typeface="Calibri"/>
                <a:cs typeface="Calibri"/>
              </a:rPr>
              <a:t> </a:t>
            </a:r>
            <a:r>
              <a:rPr sz="900">
                <a:latin typeface="Calibri"/>
                <a:cs typeface="Calibri"/>
              </a:rPr>
              <a:t>Type</a:t>
            </a:r>
          </a:p>
        </p:txBody>
      </p:sp>
      <p:sp>
        <p:nvSpPr>
          <p:cNvPr id="15" name="object 15"/>
          <p:cNvSpPr txBox="1"/>
          <p:nvPr/>
        </p:nvSpPr>
        <p:spPr>
          <a:xfrm>
            <a:off x="7539701" y="3695700"/>
            <a:ext cx="387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OccurIn</a:t>
            </a:r>
            <a:endParaRPr sz="900">
              <a:latin typeface="Calibri"/>
              <a:cs typeface="Calibri"/>
            </a:endParaRPr>
          </a:p>
        </p:txBody>
      </p:sp>
      <p:sp>
        <p:nvSpPr>
          <p:cNvPr id="16" name="object 16"/>
          <p:cNvSpPr txBox="1"/>
          <p:nvPr/>
        </p:nvSpPr>
        <p:spPr>
          <a:xfrm>
            <a:off x="8464574" y="2891367"/>
            <a:ext cx="346710" cy="155171"/>
          </a:xfrm>
          <a:prstGeom prst="rect">
            <a:avLst/>
          </a:prstGeom>
        </p:spPr>
        <p:txBody>
          <a:bodyPr vert="horz" wrap="square" lIns="0" tIns="16510" rIns="0" bIns="0" rtlCol="0">
            <a:spAutoFit/>
          </a:bodyPr>
          <a:lstStyle/>
          <a:p>
            <a:pPr marL="12700">
              <a:spcBef>
                <a:spcPts val="130"/>
              </a:spcBef>
            </a:pPr>
            <a:r>
              <a:rPr sz="900" spc="-10">
                <a:latin typeface="Calibri"/>
                <a:cs typeface="Calibri"/>
              </a:rPr>
              <a:t>G</a:t>
            </a:r>
            <a:r>
              <a:rPr sz="900" spc="-5">
                <a:latin typeface="Calibri"/>
                <a:cs typeface="Calibri"/>
              </a:rPr>
              <a:t>am</a:t>
            </a:r>
            <a:r>
              <a:rPr sz="900">
                <a:latin typeface="Calibri"/>
                <a:cs typeface="Calibri"/>
              </a:rPr>
              <a:t>e</a:t>
            </a:r>
            <a:r>
              <a:rPr sz="900" spc="10">
                <a:latin typeface="Calibri"/>
                <a:cs typeface="Calibri"/>
              </a:rPr>
              <a:t>s</a:t>
            </a:r>
            <a:endParaRPr sz="900">
              <a:latin typeface="Calibri"/>
              <a:cs typeface="Calibri"/>
            </a:endParaRPr>
          </a:p>
        </p:txBody>
      </p:sp>
      <p:sp>
        <p:nvSpPr>
          <p:cNvPr id="17" name="object 17"/>
          <p:cNvSpPr txBox="1"/>
          <p:nvPr/>
        </p:nvSpPr>
        <p:spPr>
          <a:xfrm>
            <a:off x="7751564" y="1900767"/>
            <a:ext cx="236854"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d</a:t>
            </a:r>
            <a:r>
              <a:rPr sz="900" spc="-10">
                <a:latin typeface="Calibri"/>
                <a:cs typeface="Calibri"/>
              </a:rPr>
              <a:t>a</a:t>
            </a:r>
            <a:r>
              <a:rPr sz="900" spc="-5">
                <a:latin typeface="Calibri"/>
                <a:cs typeface="Calibri"/>
              </a:rPr>
              <a:t>t</a:t>
            </a:r>
            <a:r>
              <a:rPr sz="900" spc="15">
                <a:latin typeface="Calibri"/>
                <a:cs typeface="Calibri"/>
              </a:rPr>
              <a:t>e</a:t>
            </a:r>
            <a:endParaRPr sz="900">
              <a:latin typeface="Calibri"/>
              <a:cs typeface="Calibri"/>
            </a:endParaRPr>
          </a:p>
        </p:txBody>
      </p:sp>
      <p:sp>
        <p:nvSpPr>
          <p:cNvPr id="18" name="object 18"/>
          <p:cNvSpPr txBox="1"/>
          <p:nvPr/>
        </p:nvSpPr>
        <p:spPr>
          <a:xfrm>
            <a:off x="6905087" y="2992967"/>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sp>
        <p:nvSpPr>
          <p:cNvPr id="19" name="object 19"/>
          <p:cNvSpPr txBox="1"/>
          <p:nvPr/>
        </p:nvSpPr>
        <p:spPr>
          <a:xfrm>
            <a:off x="8743259" y="1883834"/>
            <a:ext cx="4025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location</a:t>
            </a:r>
            <a:endParaRPr sz="900">
              <a:latin typeface="Calibri"/>
              <a:cs typeface="Calibri"/>
            </a:endParaRPr>
          </a:p>
        </p:txBody>
      </p:sp>
      <p:sp>
        <p:nvSpPr>
          <p:cNvPr id="20" name="object 20"/>
          <p:cNvSpPr txBox="1"/>
          <p:nvPr/>
        </p:nvSpPr>
        <p:spPr>
          <a:xfrm>
            <a:off x="6918581" y="2459567"/>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pic>
        <p:nvPicPr>
          <p:cNvPr id="21" name="object 21"/>
          <p:cNvPicPr/>
          <p:nvPr/>
        </p:nvPicPr>
        <p:blipFill>
          <a:blip r:embed="rId3" cstate="print"/>
          <a:stretch>
            <a:fillRect/>
          </a:stretch>
        </p:blipFill>
        <p:spPr>
          <a:xfrm>
            <a:off x="8966201" y="3445933"/>
            <a:ext cx="1354667" cy="1143000"/>
          </a:xfrm>
          <a:prstGeom prst="rect">
            <a:avLst/>
          </a:prstGeom>
        </p:spPr>
      </p:pic>
      <p:sp>
        <p:nvSpPr>
          <p:cNvPr id="22" name="object 22"/>
          <p:cNvSpPr txBox="1"/>
          <p:nvPr/>
        </p:nvSpPr>
        <p:spPr>
          <a:xfrm>
            <a:off x="9049819" y="4779433"/>
            <a:ext cx="1518920" cy="9448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a:t>
            </a:r>
            <a:r>
              <a:rPr sz="1500" spc="-35">
                <a:latin typeface="Calibri"/>
                <a:cs typeface="Calibri"/>
              </a:rPr>
              <a:t> </a:t>
            </a:r>
            <a:r>
              <a:rPr sz="1500" spc="-5">
                <a:latin typeface="Calibri"/>
                <a:cs typeface="Calibri"/>
              </a:rPr>
              <a:t>can</a:t>
            </a:r>
            <a:r>
              <a:rPr sz="1500" spc="-45">
                <a:latin typeface="Calibri"/>
                <a:cs typeface="Calibri"/>
              </a:rPr>
              <a:t> </a:t>
            </a:r>
            <a:r>
              <a:rPr sz="1500" spc="-5">
                <a:latin typeface="Calibri"/>
                <a:cs typeface="Calibri"/>
              </a:rPr>
              <a:t>achieve </a:t>
            </a:r>
            <a:r>
              <a:rPr sz="1500" spc="-325">
                <a:latin typeface="Calibri"/>
                <a:cs typeface="Calibri"/>
              </a:rPr>
              <a:t> </a:t>
            </a:r>
            <a:r>
              <a:rPr sz="1500" spc="15">
                <a:latin typeface="Calibri"/>
                <a:cs typeface="Calibri"/>
              </a:rPr>
              <a:t>a </a:t>
            </a:r>
            <a:r>
              <a:rPr sz="1500" b="1" u="heavy" spc="-10">
                <a:uFill>
                  <a:solidFill>
                    <a:srgbClr val="000000"/>
                  </a:solidFill>
                </a:uFill>
                <a:latin typeface="Calibri"/>
                <a:cs typeface="Calibri"/>
              </a:rPr>
              <a:t>Personal Record </a:t>
            </a:r>
            <a:r>
              <a:rPr sz="1500" b="1" spc="-5">
                <a:latin typeface="Calibri"/>
                <a:cs typeface="Calibri"/>
              </a:rPr>
              <a:t> </a:t>
            </a:r>
            <a:r>
              <a:rPr sz="1500" spc="-5">
                <a:latin typeface="Calibri"/>
                <a:cs typeface="Calibri"/>
              </a:rPr>
              <a:t>linked to </a:t>
            </a:r>
            <a:r>
              <a:rPr sz="1500" spc="15">
                <a:latin typeface="Calibri"/>
                <a:cs typeface="Calibri"/>
              </a:rPr>
              <a:t>a </a:t>
            </a:r>
            <a:r>
              <a:rPr sz="1500">
                <a:latin typeface="Calibri"/>
                <a:cs typeface="Calibri"/>
              </a:rPr>
              <a:t>specific </a:t>
            </a:r>
            <a:r>
              <a:rPr sz="1500" spc="5">
                <a:latin typeface="Calibri"/>
                <a:cs typeface="Calibri"/>
              </a:rPr>
              <a:t> </a:t>
            </a:r>
            <a:r>
              <a:rPr sz="1500">
                <a:latin typeface="Calibri"/>
                <a:cs typeface="Calibri"/>
              </a:rPr>
              <a:t>Game</a:t>
            </a:r>
            <a:r>
              <a:rPr sz="1500" spc="-25">
                <a:latin typeface="Calibri"/>
                <a:cs typeface="Calibri"/>
              </a:rPr>
              <a:t> </a:t>
            </a:r>
            <a:r>
              <a:rPr sz="1500">
                <a:latin typeface="Calibri"/>
                <a:cs typeface="Calibri"/>
              </a:rPr>
              <a:t>and</a:t>
            </a:r>
            <a:r>
              <a:rPr sz="1500" spc="-25">
                <a:latin typeface="Calibri"/>
                <a:cs typeface="Calibri"/>
              </a:rPr>
              <a:t> </a:t>
            </a:r>
            <a:r>
              <a:rPr sz="1500" spc="-5">
                <a:latin typeface="Calibri"/>
                <a:cs typeface="Calibri"/>
              </a:rPr>
              <a:t>Play</a:t>
            </a:r>
            <a:endParaRPr sz="1500">
              <a:latin typeface="Calibri"/>
              <a:cs typeface="Calibri"/>
            </a:endParaRPr>
          </a:p>
        </p:txBody>
      </p:sp>
      <p:grpSp>
        <p:nvGrpSpPr>
          <p:cNvPr id="23" name="object 23"/>
          <p:cNvGrpSpPr/>
          <p:nvPr/>
        </p:nvGrpSpPr>
        <p:grpSpPr>
          <a:xfrm>
            <a:off x="4038988" y="3984458"/>
            <a:ext cx="956310" cy="408305"/>
            <a:chOff x="2514988" y="3984457"/>
            <a:chExt cx="956310" cy="408305"/>
          </a:xfrm>
        </p:grpSpPr>
        <p:sp>
          <p:nvSpPr>
            <p:cNvPr id="24" name="object 24"/>
            <p:cNvSpPr/>
            <p:nvPr/>
          </p:nvSpPr>
          <p:spPr>
            <a:xfrm>
              <a:off x="2519751" y="3989219"/>
              <a:ext cx="946785" cy="398780"/>
            </a:xfrm>
            <a:custGeom>
              <a:avLst/>
              <a:gdLst/>
              <a:ahLst/>
              <a:cxnLst/>
              <a:rect l="l" t="t" r="r" b="b"/>
              <a:pathLst>
                <a:path w="946785" h="398779">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25" name="object 25"/>
            <p:cNvSpPr/>
            <p:nvPr/>
          </p:nvSpPr>
          <p:spPr>
            <a:xfrm>
              <a:off x="2519751" y="3989219"/>
              <a:ext cx="946785" cy="398780"/>
            </a:xfrm>
            <a:custGeom>
              <a:avLst/>
              <a:gdLst/>
              <a:ahLst/>
              <a:cxnLst/>
              <a:rect l="l" t="t" r="r" b="b"/>
              <a:pathLst>
                <a:path w="946785"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26" name="object 26"/>
          <p:cNvSpPr txBox="1"/>
          <p:nvPr/>
        </p:nvSpPr>
        <p:spPr>
          <a:xfrm>
            <a:off x="4399546" y="4102100"/>
            <a:ext cx="237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PRI</a:t>
            </a:r>
            <a:r>
              <a:rPr sz="900" spc="15">
                <a:latin typeface="Calibri"/>
                <a:cs typeface="Calibri"/>
              </a:rPr>
              <a:t>n</a:t>
            </a:r>
            <a:endParaRPr sz="900">
              <a:latin typeface="Calibri"/>
              <a:cs typeface="Calibri"/>
            </a:endParaRPr>
          </a:p>
        </p:txBody>
      </p:sp>
      <p:grpSp>
        <p:nvGrpSpPr>
          <p:cNvPr id="27" name="object 27"/>
          <p:cNvGrpSpPr/>
          <p:nvPr/>
        </p:nvGrpSpPr>
        <p:grpSpPr>
          <a:xfrm>
            <a:off x="3808028" y="2917115"/>
            <a:ext cx="2051685" cy="1276350"/>
            <a:chOff x="2284027" y="2917115"/>
            <a:chExt cx="2051685" cy="1276350"/>
          </a:xfrm>
        </p:grpSpPr>
        <p:sp>
          <p:nvSpPr>
            <p:cNvPr id="28" name="object 28"/>
            <p:cNvSpPr/>
            <p:nvPr/>
          </p:nvSpPr>
          <p:spPr>
            <a:xfrm>
              <a:off x="3466292" y="3983174"/>
              <a:ext cx="864869" cy="205740"/>
            </a:xfrm>
            <a:custGeom>
              <a:avLst/>
              <a:gdLst/>
              <a:ahLst/>
              <a:cxnLst/>
              <a:rect l="l" t="t" r="r" b="b"/>
              <a:pathLst>
                <a:path w="864870" h="205739">
                  <a:moveTo>
                    <a:pt x="864548" y="0"/>
                  </a:moveTo>
                  <a:lnTo>
                    <a:pt x="0" y="205172"/>
                  </a:lnTo>
                </a:path>
              </a:pathLst>
            </a:custGeom>
            <a:solidFill>
              <a:srgbClr val="C0C0C0">
                <a:alpha val="50199"/>
              </a:srgbClr>
            </a:solidFill>
          </p:spPr>
          <p:txBody>
            <a:bodyPr wrap="square" lIns="0" tIns="0" rIns="0" bIns="0" rtlCol="0"/>
            <a:lstStyle/>
            <a:p>
              <a:endParaRPr/>
            </a:p>
          </p:txBody>
        </p:sp>
        <p:sp>
          <p:nvSpPr>
            <p:cNvPr id="29" name="object 29"/>
            <p:cNvSpPr/>
            <p:nvPr/>
          </p:nvSpPr>
          <p:spPr>
            <a:xfrm>
              <a:off x="3466292" y="3983175"/>
              <a:ext cx="864869" cy="205740"/>
            </a:xfrm>
            <a:custGeom>
              <a:avLst/>
              <a:gdLst/>
              <a:ahLst/>
              <a:cxnLst/>
              <a:rect l="l" t="t" r="r" b="b"/>
              <a:pathLst>
                <a:path w="864870" h="205739">
                  <a:moveTo>
                    <a:pt x="0" y="205172"/>
                  </a:moveTo>
                  <a:lnTo>
                    <a:pt x="864549" y="0"/>
                  </a:lnTo>
                </a:path>
              </a:pathLst>
            </a:custGeom>
            <a:ln w="9525">
              <a:solidFill>
                <a:srgbClr val="000000"/>
              </a:solidFill>
            </a:ln>
          </p:spPr>
          <p:txBody>
            <a:bodyPr wrap="square" lIns="0" tIns="0" rIns="0" bIns="0" rtlCol="0"/>
            <a:lstStyle/>
            <a:p>
              <a:endParaRPr/>
            </a:p>
          </p:txBody>
        </p:sp>
        <p:sp>
          <p:nvSpPr>
            <p:cNvPr id="30" name="object 30"/>
            <p:cNvSpPr/>
            <p:nvPr/>
          </p:nvSpPr>
          <p:spPr>
            <a:xfrm>
              <a:off x="2288790" y="2921877"/>
              <a:ext cx="231140" cy="1266825"/>
            </a:xfrm>
            <a:custGeom>
              <a:avLst/>
              <a:gdLst/>
              <a:ahLst/>
              <a:cxnLst/>
              <a:rect l="l" t="t" r="r" b="b"/>
              <a:pathLst>
                <a:path w="231139" h="1266825">
                  <a:moveTo>
                    <a:pt x="0" y="0"/>
                  </a:moveTo>
                  <a:lnTo>
                    <a:pt x="230962" y="1266469"/>
                  </a:lnTo>
                </a:path>
              </a:pathLst>
            </a:custGeom>
            <a:solidFill>
              <a:srgbClr val="C0C0C0">
                <a:alpha val="50199"/>
              </a:srgbClr>
            </a:solidFill>
          </p:spPr>
          <p:txBody>
            <a:bodyPr wrap="square" lIns="0" tIns="0" rIns="0" bIns="0" rtlCol="0"/>
            <a:lstStyle/>
            <a:p>
              <a:endParaRPr/>
            </a:p>
          </p:txBody>
        </p:sp>
        <p:sp>
          <p:nvSpPr>
            <p:cNvPr id="31" name="object 31"/>
            <p:cNvSpPr/>
            <p:nvPr/>
          </p:nvSpPr>
          <p:spPr>
            <a:xfrm>
              <a:off x="2288790" y="2921877"/>
              <a:ext cx="231140" cy="1266825"/>
            </a:xfrm>
            <a:custGeom>
              <a:avLst/>
              <a:gdLst/>
              <a:ahLst/>
              <a:cxnLst/>
              <a:rect l="l" t="t" r="r" b="b"/>
              <a:pathLst>
                <a:path w="231139" h="1266825">
                  <a:moveTo>
                    <a:pt x="0" y="0"/>
                  </a:moveTo>
                  <a:lnTo>
                    <a:pt x="230962" y="1266469"/>
                  </a:lnTo>
                </a:path>
              </a:pathLst>
            </a:custGeom>
            <a:ln w="9525">
              <a:solidFill>
                <a:srgbClr val="000000"/>
              </a:solidFill>
            </a:ln>
          </p:spPr>
          <p:txBody>
            <a:bodyPr wrap="square" lIns="0" tIns="0" rIns="0" bIns="0" rtlCol="0"/>
            <a:lstStyle/>
            <a:p>
              <a:endParaRPr/>
            </a:p>
          </p:txBody>
        </p:sp>
      </p:grpSp>
      <p:sp>
        <p:nvSpPr>
          <p:cNvPr id="32" name="Slide Number Placeholder 31">
            <a:extLst>
              <a:ext uri="{FF2B5EF4-FFF2-40B4-BE49-F238E27FC236}">
                <a16:creationId xmlns:a16="http://schemas.microsoft.com/office/drawing/2014/main" id="{6A877B25-078D-4BE8-B278-2EFE033FBF1D}"/>
              </a:ext>
            </a:extLst>
          </p:cNvPr>
          <p:cNvSpPr>
            <a:spLocks noGrp="1"/>
          </p:cNvSpPr>
          <p:nvPr>
            <p:ph type="sldNum" sz="quarter" idx="12"/>
          </p:nvPr>
        </p:nvSpPr>
        <p:spPr/>
        <p:txBody>
          <a:bodyPr/>
          <a:lstStyle/>
          <a:p>
            <a:fld id="{641C0F02-33DC-3A41-9F51-431B7FE03ABE}"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828" y="478852"/>
            <a:ext cx="6969223" cy="693780"/>
          </a:xfrm>
          <a:prstGeom prst="rect">
            <a:avLst/>
          </a:prstGeom>
        </p:spPr>
        <p:txBody>
          <a:bodyPr vert="horz" wrap="square" lIns="0" tIns="16510" rIns="0" bIns="0" rtlCol="0" anchor="ctr">
            <a:spAutoFit/>
          </a:bodyPr>
          <a:lstStyle/>
          <a:p>
            <a:pPr marL="12700">
              <a:lnSpc>
                <a:spcPct val="100000"/>
              </a:lnSpc>
              <a:spcBef>
                <a:spcPts val="130"/>
              </a:spcBef>
            </a:pPr>
            <a:r>
              <a:rPr>
                <a:latin typeface="Calibri" panose="020F0502020204030204" pitchFamily="34" charset="0"/>
                <a:cs typeface="Calibri" panose="020F0502020204030204" pitchFamily="34" charset="0"/>
              </a:rPr>
              <a:t>Mapping</a:t>
            </a:r>
            <a:r>
              <a:rPr spc="-50">
                <a:latin typeface="Calibri" panose="020F0502020204030204" pitchFamily="34" charset="0"/>
                <a:cs typeface="Calibri" panose="020F0502020204030204" pitchFamily="34" charset="0"/>
              </a:rPr>
              <a:t> </a:t>
            </a:r>
            <a:r>
              <a:rPr>
                <a:latin typeface="Calibri" panose="020F0502020204030204" pitchFamily="34" charset="0"/>
                <a:cs typeface="Calibri" panose="020F0502020204030204" pitchFamily="34" charset="0"/>
              </a:rPr>
              <a:t>natural</a:t>
            </a:r>
            <a:r>
              <a:rPr spc="-45">
                <a:latin typeface="Calibri" panose="020F0502020204030204" pitchFamily="34" charset="0"/>
                <a:cs typeface="Calibri" panose="020F0502020204030204" pitchFamily="34" charset="0"/>
              </a:rPr>
              <a:t> </a:t>
            </a:r>
            <a:r>
              <a:rPr spc="-5">
                <a:latin typeface="Calibri" panose="020F0502020204030204" pitchFamily="34" charset="0"/>
                <a:cs typeface="Calibri" panose="020F0502020204030204" pitchFamily="34" charset="0"/>
              </a:rPr>
              <a:t>language</a:t>
            </a:r>
          </a:p>
        </p:txBody>
      </p:sp>
      <p:sp>
        <p:nvSpPr>
          <p:cNvPr id="3" name="object 3"/>
          <p:cNvSpPr txBox="1"/>
          <p:nvPr/>
        </p:nvSpPr>
        <p:spPr>
          <a:xfrm>
            <a:off x="1845340" y="1172632"/>
            <a:ext cx="8482965" cy="1575430"/>
          </a:xfrm>
          <a:prstGeom prst="rect">
            <a:avLst/>
          </a:prstGeom>
        </p:spPr>
        <p:txBody>
          <a:bodyPr vert="horz" wrap="square" lIns="0" tIns="26034" rIns="0" bIns="0" rtlCol="0">
            <a:spAutoFit/>
          </a:bodyPr>
          <a:lstStyle/>
          <a:p>
            <a:pPr marL="256540" indent="-256540">
              <a:lnSpc>
                <a:spcPts val="2870"/>
              </a:lnSpc>
              <a:spcBef>
                <a:spcPts val="204"/>
              </a:spcBef>
              <a:buFont typeface="Arial MT"/>
              <a:buChar char="•"/>
              <a:tabLst>
                <a:tab pos="256540" algn="l"/>
                <a:tab pos="257175" algn="l"/>
              </a:tabLst>
            </a:pPr>
            <a:r>
              <a:rPr sz="2400">
                <a:latin typeface="Calibri"/>
                <a:cs typeface="Calibri"/>
              </a:rPr>
              <a:t>Chen</a:t>
            </a:r>
            <a:r>
              <a:rPr sz="2400" spc="-5">
                <a:latin typeface="Calibri"/>
                <a:cs typeface="Calibri"/>
              </a:rPr>
              <a:t> </a:t>
            </a:r>
            <a:r>
              <a:rPr sz="2400" spc="-10">
                <a:latin typeface="Calibri"/>
                <a:cs typeface="Calibri"/>
              </a:rPr>
              <a:t>proposed</a:t>
            </a:r>
            <a:r>
              <a:rPr sz="2400" spc="-5">
                <a:latin typeface="Calibri"/>
                <a:cs typeface="Calibri"/>
              </a:rPr>
              <a:t> the</a:t>
            </a:r>
            <a:r>
              <a:rPr sz="2400" spc="5">
                <a:latin typeface="Calibri"/>
                <a:cs typeface="Calibri"/>
              </a:rPr>
              <a:t> </a:t>
            </a:r>
            <a:r>
              <a:rPr sz="2400" spc="-10">
                <a:latin typeface="Calibri"/>
                <a:cs typeface="Calibri"/>
              </a:rPr>
              <a:t>following </a:t>
            </a:r>
            <a:r>
              <a:rPr sz="2400">
                <a:latin typeface="Calibri"/>
                <a:cs typeface="Calibri"/>
              </a:rPr>
              <a:t>"rules</a:t>
            </a:r>
            <a:r>
              <a:rPr sz="2400" spc="-5">
                <a:latin typeface="Calibri"/>
                <a:cs typeface="Calibri"/>
              </a:rPr>
              <a:t> of</a:t>
            </a:r>
            <a:r>
              <a:rPr sz="2400">
                <a:latin typeface="Calibri"/>
                <a:cs typeface="Calibri"/>
              </a:rPr>
              <a:t> </a:t>
            </a:r>
            <a:r>
              <a:rPr sz="2400" spc="-5">
                <a:latin typeface="Calibri"/>
                <a:cs typeface="Calibri"/>
              </a:rPr>
              <a:t>thumb"</a:t>
            </a:r>
            <a:r>
              <a:rPr sz="2400">
                <a:latin typeface="Calibri"/>
                <a:cs typeface="Calibri"/>
              </a:rPr>
              <a:t> </a:t>
            </a:r>
            <a:r>
              <a:rPr sz="2400" spc="-20">
                <a:latin typeface="Calibri"/>
                <a:cs typeface="Calibri"/>
              </a:rPr>
              <a:t>for</a:t>
            </a:r>
            <a:r>
              <a:rPr sz="2400" spc="-5">
                <a:latin typeface="Calibri"/>
                <a:cs typeface="Calibri"/>
              </a:rPr>
              <a:t> mapping</a:t>
            </a:r>
            <a:r>
              <a:rPr sz="2400" spc="-10">
                <a:latin typeface="Calibri"/>
                <a:cs typeface="Calibri"/>
              </a:rPr>
              <a:t> </a:t>
            </a:r>
            <a:r>
              <a:rPr sz="2400" spc="-15">
                <a:latin typeface="Calibri"/>
                <a:cs typeface="Calibri"/>
              </a:rPr>
              <a:t>natural </a:t>
            </a:r>
            <a:r>
              <a:rPr sz="2400" spc="-525">
                <a:latin typeface="Calibri"/>
                <a:cs typeface="Calibri"/>
              </a:rPr>
              <a:t> </a:t>
            </a:r>
            <a:r>
              <a:rPr sz="2400" spc="-5">
                <a:latin typeface="Calibri"/>
                <a:cs typeface="Calibri"/>
              </a:rPr>
              <a:t>language descriptions </a:t>
            </a:r>
            <a:r>
              <a:rPr sz="2400" spc="-15">
                <a:latin typeface="Calibri"/>
                <a:cs typeface="Calibri"/>
              </a:rPr>
              <a:t>into </a:t>
            </a:r>
            <a:r>
              <a:rPr sz="2400">
                <a:latin typeface="Calibri"/>
                <a:cs typeface="Calibri"/>
              </a:rPr>
              <a:t>ER </a:t>
            </a:r>
            <a:r>
              <a:rPr sz="2400" spc="-10">
                <a:latin typeface="Calibri"/>
                <a:cs typeface="Calibri"/>
              </a:rPr>
              <a:t>diagrams:</a:t>
            </a:r>
            <a:r>
              <a:rPr sz="2400" spc="-10">
                <a:solidFill>
                  <a:srgbClr val="800080"/>
                </a:solidFill>
                <a:latin typeface="Calibri"/>
                <a:cs typeface="Calibri"/>
              </a:rPr>
              <a:t> </a:t>
            </a:r>
            <a:r>
              <a:rPr sz="2400" u="heavy" spc="-5">
                <a:solidFill>
                  <a:srgbClr val="800080"/>
                </a:solidFill>
                <a:uFill>
                  <a:solidFill>
                    <a:srgbClr val="800080"/>
                  </a:solidFill>
                </a:uFill>
                <a:latin typeface="Calibri"/>
                <a:cs typeface="Calibri"/>
              </a:rPr>
              <a:t>"English, Chinese </a:t>
            </a:r>
            <a:r>
              <a:rPr sz="2400" u="heavy">
                <a:solidFill>
                  <a:srgbClr val="800080"/>
                </a:solidFill>
                <a:uFill>
                  <a:solidFill>
                    <a:srgbClr val="800080"/>
                  </a:solidFill>
                </a:uFill>
                <a:latin typeface="Calibri"/>
                <a:cs typeface="Calibri"/>
              </a:rPr>
              <a:t>and ER </a:t>
            </a:r>
            <a:r>
              <a:rPr sz="2400" spc="5">
                <a:solidFill>
                  <a:srgbClr val="800080"/>
                </a:solidFill>
                <a:latin typeface="Calibri"/>
                <a:cs typeface="Calibri"/>
              </a:rPr>
              <a:t> </a:t>
            </a:r>
            <a:r>
              <a:rPr sz="2400" u="heavy" spc="-10">
                <a:solidFill>
                  <a:srgbClr val="800080"/>
                </a:solidFill>
                <a:uFill>
                  <a:solidFill>
                    <a:srgbClr val="800080"/>
                  </a:solidFill>
                </a:uFill>
                <a:latin typeface="Calibri"/>
                <a:cs typeface="Calibri"/>
              </a:rPr>
              <a:t>diagrams"</a:t>
            </a:r>
            <a:r>
              <a:rPr sz="2400" spc="-10">
                <a:solidFill>
                  <a:srgbClr val="800080"/>
                </a:solidFill>
                <a:latin typeface="Calibri"/>
                <a:cs typeface="Calibri"/>
              </a:rPr>
              <a:t> </a:t>
            </a:r>
            <a:r>
              <a:rPr sz="2400" spc="-10">
                <a:latin typeface="Calibri"/>
                <a:cs typeface="Calibri"/>
              </a:rPr>
              <a:t>by</a:t>
            </a:r>
            <a:r>
              <a:rPr sz="2400" spc="-5">
                <a:latin typeface="Calibri"/>
                <a:cs typeface="Calibri"/>
              </a:rPr>
              <a:t> </a:t>
            </a:r>
            <a:r>
              <a:rPr sz="2400" spc="-20">
                <a:latin typeface="Calibri"/>
                <a:cs typeface="Calibri"/>
              </a:rPr>
              <a:t>Peter</a:t>
            </a:r>
            <a:r>
              <a:rPr sz="2400" spc="-5">
                <a:latin typeface="Calibri"/>
                <a:cs typeface="Calibri"/>
              </a:rPr>
              <a:t> </a:t>
            </a:r>
            <a:r>
              <a:rPr sz="2400">
                <a:latin typeface="Calibri"/>
                <a:cs typeface="Calibri"/>
              </a:rPr>
              <a:t>Chen.</a:t>
            </a:r>
          </a:p>
          <a:p>
            <a:pPr>
              <a:spcBef>
                <a:spcPts val="484"/>
              </a:spcBef>
            </a:pPr>
            <a:r>
              <a:rPr sz="2400">
                <a:latin typeface="Arial MT"/>
                <a:cs typeface="Arial MT"/>
              </a:rPr>
              <a:t>•</a:t>
            </a:r>
          </a:p>
        </p:txBody>
      </p:sp>
      <p:pic>
        <p:nvPicPr>
          <p:cNvPr id="5" name="object 5"/>
          <p:cNvPicPr/>
          <p:nvPr/>
        </p:nvPicPr>
        <p:blipFill>
          <a:blip r:embed="rId2" cstate="print"/>
          <a:stretch>
            <a:fillRect/>
          </a:stretch>
        </p:blipFill>
        <p:spPr>
          <a:xfrm>
            <a:off x="3302001" y="2463800"/>
            <a:ext cx="5604933" cy="3132666"/>
          </a:xfrm>
          <a:prstGeom prst="rect">
            <a:avLst/>
          </a:prstGeom>
        </p:spPr>
      </p:pic>
      <p:sp>
        <p:nvSpPr>
          <p:cNvPr id="6" name="object 6"/>
          <p:cNvSpPr txBox="1"/>
          <p:nvPr/>
        </p:nvSpPr>
        <p:spPr>
          <a:xfrm>
            <a:off x="1524001" y="5710770"/>
            <a:ext cx="9144000" cy="562398"/>
          </a:xfrm>
          <a:prstGeom prst="rect">
            <a:avLst/>
          </a:prstGeom>
        </p:spPr>
        <p:txBody>
          <a:bodyPr vert="horz" wrap="square" lIns="0" tIns="6985" rIns="0" bIns="0" rtlCol="0">
            <a:spAutoFit/>
          </a:bodyPr>
          <a:lstStyle/>
          <a:p>
            <a:pPr marL="12700" marR="5080">
              <a:lnSpc>
                <a:spcPct val="101899"/>
              </a:lnSpc>
              <a:spcBef>
                <a:spcPts val="55"/>
              </a:spcBef>
            </a:pPr>
            <a:r>
              <a:rPr spc="-5">
                <a:latin typeface="Calibri"/>
                <a:cs typeface="Calibri"/>
              </a:rPr>
              <a:t>Source: </a:t>
            </a:r>
            <a:r>
              <a:rPr lang="en-US">
                <a:cs typeface="Calibri"/>
              </a:rPr>
              <a:t>https://</a:t>
            </a:r>
            <a:r>
              <a:rPr lang="en-US" err="1">
                <a:cs typeface="Calibri"/>
              </a:rPr>
              <a:t>en.wikipedia.org</a:t>
            </a:r>
            <a:r>
              <a:rPr lang="en-US">
                <a:cs typeface="Calibri"/>
              </a:rPr>
              <a:t>/wiki/Entity%E2%80%93relationship_model#Mapping_natural_language</a:t>
            </a:r>
            <a:endParaRPr>
              <a:latin typeface="Calibri"/>
              <a:cs typeface="Calibri"/>
            </a:endParaRPr>
          </a:p>
        </p:txBody>
      </p:sp>
      <p:sp>
        <p:nvSpPr>
          <p:cNvPr id="4" name="Slide Number Placeholder 3">
            <a:extLst>
              <a:ext uri="{FF2B5EF4-FFF2-40B4-BE49-F238E27FC236}">
                <a16:creationId xmlns:a16="http://schemas.microsoft.com/office/drawing/2014/main" id="{D6E434A2-8146-4310-9DE0-FF612E22E957}"/>
              </a:ext>
            </a:extLst>
          </p:cNvPr>
          <p:cNvSpPr>
            <a:spLocks noGrp="1"/>
          </p:cNvSpPr>
          <p:nvPr>
            <p:ph type="sldNum" sz="quarter" idx="12"/>
          </p:nvPr>
        </p:nvSpPr>
        <p:spPr/>
        <p:txBody>
          <a:bodyPr/>
          <a:lstStyle/>
          <a:p>
            <a:fld id="{641C0F02-33DC-3A41-9F51-431B7FE03ABE}"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 Summary</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pPr>
                <a:defRPr/>
              </a:pPr>
              <a:t>59</a:t>
            </a:fld>
            <a:endParaRPr lang="en-US"/>
          </a:p>
        </p:txBody>
      </p:sp>
      <p:sp>
        <p:nvSpPr>
          <p:cNvPr id="5" name="Rectangle 3"/>
          <p:cNvSpPr txBox="1">
            <a:spLocks noChangeArrowheads="1"/>
          </p:cNvSpPr>
          <p:nvPr/>
        </p:nvSpPr>
        <p:spPr>
          <a:xfrm>
            <a:off x="2209800" y="1690688"/>
            <a:ext cx="7772400" cy="4114800"/>
          </a:xfrm>
          <a:prstGeom prst="rect">
            <a:avLst/>
          </a:prstGeom>
        </p:spPr>
        <p:txBody>
          <a:bodyPr/>
          <a:lstStyle/>
          <a:p>
            <a:pPr marL="342900" indent="-342900" fontAlgn="base">
              <a:spcBef>
                <a:spcPct val="20000"/>
              </a:spcBef>
              <a:spcAft>
                <a:spcPct val="0"/>
              </a:spcAft>
              <a:buFontTx/>
              <a:buChar char="•"/>
              <a:defRPr/>
            </a:pPr>
            <a:r>
              <a:rPr lang="en-US" sz="2800" kern="0">
                <a:ea typeface="ＭＳ Ｐゴシック" charset="-128"/>
                <a:cs typeface="ＭＳ Ｐゴシック" charset="-128"/>
              </a:rPr>
              <a:t>E/R diagrams are a visual syntax that allows technical and non-technical people to talk</a:t>
            </a:r>
          </a:p>
          <a:p>
            <a:pPr marL="800100" lvl="1" indent="-342900">
              <a:spcBef>
                <a:spcPct val="20000"/>
              </a:spcBef>
              <a:buFontTx/>
              <a:buChar char="•"/>
              <a:defRPr/>
            </a:pPr>
            <a:r>
              <a:rPr lang="en-US" sz="2800" kern="0">
                <a:ea typeface="ＭＳ Ｐゴシック" charset="-128"/>
                <a:cs typeface="ＭＳ Ｐゴシック" charset="-128"/>
              </a:rPr>
              <a:t>For conceptual design</a:t>
            </a:r>
          </a:p>
          <a:p>
            <a:pPr marL="800100" lvl="1" indent="-342900">
              <a:spcBef>
                <a:spcPct val="20000"/>
              </a:spcBef>
              <a:buFontTx/>
              <a:buChar char="•"/>
              <a:defRPr/>
            </a:pPr>
            <a:endParaRPr lang="en-US" sz="2800" kern="0">
              <a:ea typeface="ＭＳ Ｐゴシック" charset="-128"/>
              <a:cs typeface="ＭＳ Ｐゴシック" charset="-128"/>
            </a:endParaRPr>
          </a:p>
          <a:p>
            <a:pPr marL="342900" indent="-342900" fontAlgn="base">
              <a:spcBef>
                <a:spcPct val="20000"/>
              </a:spcBef>
              <a:spcAft>
                <a:spcPct val="0"/>
              </a:spcAft>
              <a:buFontTx/>
              <a:buChar char="•"/>
              <a:defRPr/>
            </a:pPr>
            <a:r>
              <a:rPr lang="en-US" sz="2800" kern="0">
                <a:ea typeface="ＭＳ Ｐゴシック" charset="-128"/>
                <a:cs typeface="ＭＳ Ｐゴシック" charset="-128"/>
              </a:rPr>
              <a:t>Basic constructs: </a:t>
            </a:r>
            <a:r>
              <a:rPr lang="en-US" sz="2800" b="1" kern="0">
                <a:ea typeface="ＭＳ Ｐゴシック" charset="-128"/>
                <a:cs typeface="ＭＳ Ｐゴシック" charset="-128"/>
              </a:rPr>
              <a:t>entity</a:t>
            </a:r>
            <a:r>
              <a:rPr lang="en-US" sz="2800" kern="0">
                <a:ea typeface="ＭＳ Ｐゴシック" charset="-128"/>
                <a:cs typeface="ＭＳ Ｐゴシック" charset="-128"/>
              </a:rPr>
              <a:t>, </a:t>
            </a:r>
            <a:r>
              <a:rPr lang="en-US" sz="2800" b="1" kern="0">
                <a:ea typeface="ＭＳ Ｐゴシック" charset="-128"/>
                <a:cs typeface="ＭＳ Ｐゴシック" charset="-128"/>
              </a:rPr>
              <a:t>relationship</a:t>
            </a:r>
            <a:r>
              <a:rPr lang="en-US" sz="2800" kern="0">
                <a:ea typeface="ＭＳ Ｐゴシック" charset="-128"/>
                <a:cs typeface="ＭＳ Ｐゴシック" charset="-128"/>
              </a:rPr>
              <a:t>, and </a:t>
            </a:r>
            <a:r>
              <a:rPr lang="en-US" sz="2800" b="1" kern="0">
                <a:ea typeface="ＭＳ Ｐゴシック" charset="-128"/>
                <a:cs typeface="ＭＳ Ｐゴシック" charset="-128"/>
              </a:rPr>
              <a:t>attributes</a:t>
            </a:r>
          </a:p>
          <a:p>
            <a:pPr marL="342900" indent="-342900" fontAlgn="base">
              <a:spcBef>
                <a:spcPct val="20000"/>
              </a:spcBef>
              <a:spcAft>
                <a:spcPct val="0"/>
              </a:spcAft>
              <a:buFontTx/>
              <a:buChar char="•"/>
              <a:defRPr/>
            </a:pPr>
            <a:endParaRPr lang="en-US" sz="2800" i="1" kern="0">
              <a:ea typeface="ＭＳ Ｐゴシック" charset="-128"/>
              <a:cs typeface="ＭＳ Ｐゴシック" charset="-128"/>
            </a:endParaRPr>
          </a:p>
          <a:p>
            <a:pPr marL="342900" indent="-342900" fontAlgn="base">
              <a:spcBef>
                <a:spcPct val="20000"/>
              </a:spcBef>
              <a:spcAft>
                <a:spcPct val="0"/>
              </a:spcAft>
              <a:buFontTx/>
              <a:buChar char="•"/>
              <a:defRPr/>
            </a:pPr>
            <a:r>
              <a:rPr lang="en-US" sz="2800" kern="0">
                <a:ea typeface="ＭＳ Ｐゴシック" charset="-128"/>
                <a:cs typeface="ＭＳ Ｐゴシック" charset="-128"/>
              </a:rPr>
              <a:t>A good design is faithful to the constraints of the application, but not overzealous</a:t>
            </a:r>
          </a:p>
          <a:p>
            <a:pPr marL="342900" indent="-342900" fontAlgn="base">
              <a:spcBef>
                <a:spcPct val="20000"/>
              </a:spcBef>
              <a:spcAft>
                <a:spcPct val="0"/>
              </a:spcAft>
              <a:defRPr/>
            </a:pPr>
            <a:endParaRPr lang="en-US" sz="2800" kern="0">
              <a:ea typeface="ＭＳ Ｐゴシック" charset="-128"/>
              <a:cs typeface="ＭＳ Ｐゴシック" charset="-128"/>
            </a:endParaRPr>
          </a:p>
          <a:p>
            <a:pPr marL="342900" indent="-342900" fontAlgn="base">
              <a:spcBef>
                <a:spcPct val="20000"/>
              </a:spcBef>
              <a:spcAft>
                <a:spcPct val="0"/>
              </a:spcAft>
              <a:buFontTx/>
              <a:buChar char="•"/>
              <a:defRPr/>
            </a:pPr>
            <a:endParaRPr lang="en-US" sz="2800" kern="0">
              <a:ea typeface="ＭＳ Ｐゴシック" charset="-128"/>
              <a:cs typeface="ＭＳ Ｐゴシック" charset="-128"/>
            </a:endParaRPr>
          </a:p>
          <a:p>
            <a:pPr marL="342900" indent="-342900" fontAlgn="base">
              <a:spcBef>
                <a:spcPct val="20000"/>
              </a:spcBef>
              <a:spcAft>
                <a:spcPct val="0"/>
              </a:spcAft>
              <a:buFontTx/>
              <a:buChar char="•"/>
              <a:defRPr/>
            </a:pPr>
            <a:endParaRPr lang="en-US" sz="2800" kern="0">
              <a:ea typeface="ＭＳ Ｐゴシック" charset="-128"/>
              <a:cs typeface="ＭＳ Ｐゴシック" charset="-128"/>
            </a:endParaRPr>
          </a:p>
        </p:txBody>
      </p:sp>
      <p:sp>
        <p:nvSpPr>
          <p:cNvPr id="8" name="TextBox 7"/>
          <p:cNvSpPr txBox="1"/>
          <p:nvPr/>
        </p:nvSpPr>
        <p:spPr>
          <a:xfrm>
            <a:off x="188780" y="-22510"/>
            <a:ext cx="950197" cy="307777"/>
          </a:xfrm>
          <a:prstGeom prst="rect">
            <a:avLst/>
          </a:prstGeom>
          <a:noFill/>
        </p:spPr>
        <p:txBody>
          <a:bodyPr wrap="none" rtlCol="0">
            <a:spAutoFit/>
          </a:bodyPr>
          <a:lstStyle/>
          <a:p>
            <a:r>
              <a:rPr lang="en-US" sz="1400" b="1" i="1">
                <a:solidFill>
                  <a:schemeClr val="tx1">
                    <a:lumMod val="65000"/>
                    <a:lumOff val="35000"/>
                  </a:schemeClr>
                </a:solidFill>
                <a:latin typeface="+mj-lt"/>
              </a:rPr>
              <a:t>  Summary</a:t>
            </a:r>
          </a:p>
        </p:txBody>
      </p:sp>
    </p:spTree>
    <p:extLst>
      <p:ext uri="{BB962C8B-B14F-4D97-AF65-F5344CB8AC3E}">
        <p14:creationId xmlns:p14="http://schemas.microsoft.com/office/powerpoint/2010/main" val="59916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Diagrams to Relational Schema</a:t>
            </a:r>
          </a:p>
        </p:txBody>
      </p:sp>
      <p:sp>
        <p:nvSpPr>
          <p:cNvPr id="3" name="Content Placeholder 2"/>
          <p:cNvSpPr>
            <a:spLocks noGrp="1"/>
          </p:cNvSpPr>
          <p:nvPr>
            <p:ph idx="1"/>
          </p:nvPr>
        </p:nvSpPr>
        <p:spPr/>
        <p:txBody>
          <a:bodyPr>
            <a:normAutofit/>
          </a:bodyPr>
          <a:lstStyle/>
          <a:p>
            <a:r>
              <a:rPr lang="en-US" sz="3600"/>
              <a:t>Key concept:</a:t>
            </a:r>
          </a:p>
          <a:p>
            <a:pPr marL="457200" lvl="1" indent="0">
              <a:buNone/>
            </a:pPr>
            <a:endParaRPr lang="en-US" sz="3600"/>
          </a:p>
          <a:p>
            <a:pPr marL="457200" lvl="1" indent="0">
              <a:buNone/>
            </a:pPr>
            <a:r>
              <a:rPr lang="en-US" sz="3600"/>
              <a:t>Both </a:t>
            </a:r>
            <a:r>
              <a:rPr lang="en-US" sz="3600" b="1" i="1"/>
              <a:t>Entity sets </a:t>
            </a:r>
            <a:r>
              <a:rPr lang="en-US" sz="3600"/>
              <a:t>and </a:t>
            </a:r>
            <a:r>
              <a:rPr lang="en-US" sz="3600" b="1" i="1"/>
              <a:t>Relationships</a:t>
            </a:r>
            <a:r>
              <a:rPr lang="en-US" sz="3600"/>
              <a:t> become relations (tables in RDBMS)</a:t>
            </a:r>
          </a:p>
        </p:txBody>
      </p:sp>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60</a:t>
            </a:fld>
            <a:endParaRPr lang="en-US">
              <a:solidFill>
                <a:srgbClr val="000000"/>
              </a:solidFill>
            </a:endParaRPr>
          </a:p>
        </p:txBody>
      </p:sp>
    </p:spTree>
    <p:extLst>
      <p:ext uri="{BB962C8B-B14F-4D97-AF65-F5344CB8AC3E}">
        <p14:creationId xmlns:p14="http://schemas.microsoft.com/office/powerpoint/2010/main" val="160654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Diagrams to Relational Schema</a:t>
            </a:r>
          </a:p>
        </p:txBody>
      </p:sp>
      <p:graphicFrame>
        <p:nvGraphicFramePr>
          <p:cNvPr id="23" name="Content Placeholder 22"/>
          <p:cNvGraphicFramePr>
            <a:graphicFrameLocks noGrp="1"/>
          </p:cNvGraphicFramePr>
          <p:nvPr>
            <p:ph idx="1"/>
            <p:extLst>
              <p:ext uri="{D42A27DB-BD31-4B8C-83A1-F6EECF244321}">
                <p14:modId xmlns:p14="http://schemas.microsoft.com/office/powerpoint/2010/main" val="1177344402"/>
              </p:ext>
            </p:extLst>
          </p:nvPr>
        </p:nvGraphicFramePr>
        <p:xfrm>
          <a:off x="7790604" y="4723722"/>
          <a:ext cx="3391593" cy="1169325"/>
        </p:xfrm>
        <a:graphic>
          <a:graphicData uri="http://schemas.openxmlformats.org/drawingml/2006/table">
            <a:tbl>
              <a:tblPr firstRow="1" bandRow="1">
                <a:tableStyleId>{5C22544A-7EE6-4342-B048-85BDC9FD1C3A}</a:tableStyleId>
              </a:tblPr>
              <a:tblGrid>
                <a:gridCol w="1130531">
                  <a:extLst>
                    <a:ext uri="{9D8B030D-6E8A-4147-A177-3AD203B41FA5}">
                      <a16:colId xmlns:a16="http://schemas.microsoft.com/office/drawing/2014/main" val="20000"/>
                    </a:ext>
                  </a:extLst>
                </a:gridCol>
                <a:gridCol w="1130531">
                  <a:extLst>
                    <a:ext uri="{9D8B030D-6E8A-4147-A177-3AD203B41FA5}">
                      <a16:colId xmlns:a16="http://schemas.microsoft.com/office/drawing/2014/main" val="20001"/>
                    </a:ext>
                  </a:extLst>
                </a:gridCol>
                <a:gridCol w="1130531">
                  <a:extLst>
                    <a:ext uri="{9D8B030D-6E8A-4147-A177-3AD203B41FA5}">
                      <a16:colId xmlns:a16="http://schemas.microsoft.com/office/drawing/2014/main" val="20002"/>
                    </a:ext>
                  </a:extLst>
                </a:gridCol>
              </a:tblGrid>
              <a:tr h="389775">
                <a:tc>
                  <a:txBody>
                    <a:bodyPr/>
                    <a:lstStyle/>
                    <a:p>
                      <a:r>
                        <a:rPr lang="en-US" u="sng"/>
                        <a:t>name</a:t>
                      </a:r>
                    </a:p>
                  </a:txBody>
                  <a:tcPr/>
                </a:tc>
                <a:tc>
                  <a:txBody>
                    <a:bodyPr/>
                    <a:lstStyle/>
                    <a:p>
                      <a:r>
                        <a:rPr lang="en-US" u="none"/>
                        <a:t>price</a:t>
                      </a:r>
                    </a:p>
                  </a:txBody>
                  <a:tcPr/>
                </a:tc>
                <a:tc>
                  <a:txBody>
                    <a:bodyPr/>
                    <a:lstStyle/>
                    <a:p>
                      <a:r>
                        <a:rPr lang="en-US"/>
                        <a:t>category</a:t>
                      </a:r>
                    </a:p>
                  </a:txBody>
                  <a:tcPr/>
                </a:tc>
                <a:extLst>
                  <a:ext uri="{0D108BD9-81ED-4DB2-BD59-A6C34878D82A}">
                    <a16:rowId xmlns:a16="http://schemas.microsoft.com/office/drawing/2014/main" val="10000"/>
                  </a:ext>
                </a:extLst>
              </a:tr>
              <a:tr h="389775">
                <a:tc>
                  <a:txBody>
                    <a:bodyPr/>
                    <a:lstStyle/>
                    <a:p>
                      <a:r>
                        <a:rPr lang="en-US"/>
                        <a:t>Gizmo1</a:t>
                      </a:r>
                    </a:p>
                  </a:txBody>
                  <a:tcPr/>
                </a:tc>
                <a:tc>
                  <a:txBody>
                    <a:bodyPr/>
                    <a:lstStyle/>
                    <a:p>
                      <a:r>
                        <a:rPr lang="en-US"/>
                        <a:t>99.99</a:t>
                      </a:r>
                    </a:p>
                  </a:txBody>
                  <a:tcPr/>
                </a:tc>
                <a:tc>
                  <a:txBody>
                    <a:bodyPr/>
                    <a:lstStyle/>
                    <a:p>
                      <a:r>
                        <a:rPr lang="en-US"/>
                        <a:t>Camera</a:t>
                      </a:r>
                    </a:p>
                  </a:txBody>
                  <a:tcPr/>
                </a:tc>
                <a:extLst>
                  <a:ext uri="{0D108BD9-81ED-4DB2-BD59-A6C34878D82A}">
                    <a16:rowId xmlns:a16="http://schemas.microsoft.com/office/drawing/2014/main" val="10001"/>
                  </a:ext>
                </a:extLst>
              </a:tr>
              <a:tr h="389775">
                <a:tc>
                  <a:txBody>
                    <a:bodyPr/>
                    <a:lstStyle/>
                    <a:p>
                      <a:r>
                        <a:rPr lang="en-US"/>
                        <a:t>Gizmo2</a:t>
                      </a:r>
                    </a:p>
                  </a:txBody>
                  <a:tcPr/>
                </a:tc>
                <a:tc>
                  <a:txBody>
                    <a:bodyPr/>
                    <a:lstStyle/>
                    <a:p>
                      <a:r>
                        <a:rPr lang="en-US"/>
                        <a:t>19.99</a:t>
                      </a:r>
                    </a:p>
                  </a:txBody>
                  <a:tcPr/>
                </a:tc>
                <a:tc>
                  <a:txBody>
                    <a:bodyPr/>
                    <a:lstStyle/>
                    <a:p>
                      <a:r>
                        <a:rPr lang="en-US"/>
                        <a:t>Edible</a:t>
                      </a:r>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61</a:t>
            </a:fld>
            <a:endParaRPr lang="en-US">
              <a:solidFill>
                <a:srgbClr val="000000"/>
              </a:solidFill>
            </a:endParaRPr>
          </a:p>
        </p:txBody>
      </p:sp>
      <p:grpSp>
        <p:nvGrpSpPr>
          <p:cNvPr id="3" name="Group 2"/>
          <p:cNvGrpSpPr/>
          <p:nvPr/>
        </p:nvGrpSpPr>
        <p:grpSpPr>
          <a:xfrm>
            <a:off x="7874790" y="1690596"/>
            <a:ext cx="2835208" cy="1126368"/>
            <a:chOff x="7874790" y="1690596"/>
            <a:chExt cx="2835208" cy="1126368"/>
          </a:xfrm>
        </p:grpSpPr>
        <p:sp>
          <p:nvSpPr>
            <p:cNvPr id="7" name="Rectangle 6"/>
            <p:cNvSpPr>
              <a:spLocks noChangeArrowheads="1"/>
            </p:cNvSpPr>
            <p:nvPr/>
          </p:nvSpPr>
          <p:spPr bwMode="auto">
            <a:xfrm>
              <a:off x="9397402" y="2458574"/>
              <a:ext cx="840062" cy="35839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8" name="Oval 12"/>
            <p:cNvSpPr>
              <a:spLocks noChangeArrowheads="1"/>
            </p:cNvSpPr>
            <p:nvPr/>
          </p:nvSpPr>
          <p:spPr bwMode="auto">
            <a:xfrm>
              <a:off x="8609844" y="1690596"/>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sp>
          <p:nvSpPr>
            <p:cNvPr id="9" name="Oval 13"/>
            <p:cNvSpPr>
              <a:spLocks noChangeArrowheads="1"/>
            </p:cNvSpPr>
            <p:nvPr/>
          </p:nvSpPr>
          <p:spPr bwMode="auto">
            <a:xfrm>
              <a:off x="9712425" y="1741795"/>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10" name="Oval 16"/>
            <p:cNvSpPr>
              <a:spLocks noChangeArrowheads="1"/>
            </p:cNvSpPr>
            <p:nvPr/>
          </p:nvSpPr>
          <p:spPr bwMode="auto">
            <a:xfrm>
              <a:off x="7874790" y="2100184"/>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cxnSp>
          <p:nvCxnSpPr>
            <p:cNvPr id="11" name="Straight Connector 10"/>
            <p:cNvCxnSpPr/>
            <p:nvPr/>
          </p:nvCxnSpPr>
          <p:spPr bwMode="auto">
            <a:xfrm rot="16200000" flipH="1">
              <a:off x="8989699" y="2230065"/>
              <a:ext cx="144278" cy="67113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rot="16200000" flipH="1">
              <a:off x="9452044" y="2093184"/>
              <a:ext cx="374672" cy="35610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rot="5400000">
              <a:off x="9886326" y="2133688"/>
              <a:ext cx="255993" cy="39377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2" name="Down Arrow 21"/>
          <p:cNvSpPr/>
          <p:nvPr/>
        </p:nvSpPr>
        <p:spPr bwMode="auto">
          <a:xfrm>
            <a:off x="9260378" y="3150524"/>
            <a:ext cx="452047" cy="947651"/>
          </a:xfrm>
          <a:prstGeom prst="downArrow">
            <a:avLst/>
          </a:prstGeom>
          <a:solidFill>
            <a:srgbClr val="C0C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24" name="TextBox 23"/>
          <p:cNvSpPr txBox="1"/>
          <p:nvPr/>
        </p:nvSpPr>
        <p:spPr>
          <a:xfrm>
            <a:off x="9034994" y="4354390"/>
            <a:ext cx="902811" cy="369332"/>
          </a:xfrm>
          <a:prstGeom prst="rect">
            <a:avLst/>
          </a:prstGeom>
          <a:noFill/>
        </p:spPr>
        <p:txBody>
          <a:bodyPr wrap="none" rtlCol="0">
            <a:spAutoFit/>
          </a:bodyPr>
          <a:lstStyle/>
          <a:p>
            <a:r>
              <a:rPr lang="en-US"/>
              <a:t>Product</a:t>
            </a:r>
          </a:p>
        </p:txBody>
      </p:sp>
      <p:sp>
        <p:nvSpPr>
          <p:cNvPr id="25" name="Content Placeholder 2"/>
          <p:cNvSpPr txBox="1">
            <a:spLocks/>
          </p:cNvSpPr>
          <p:nvPr/>
        </p:nvSpPr>
        <p:spPr bwMode="auto">
          <a:xfrm>
            <a:off x="914400" y="1981200"/>
            <a:ext cx="6566612"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r>
              <a:rPr lang="en-US" kern="0"/>
              <a:t>An entity set becomes table</a:t>
            </a:r>
          </a:p>
          <a:p>
            <a:pPr lvl="1"/>
            <a:endParaRPr lang="en-US" kern="0"/>
          </a:p>
          <a:p>
            <a:pPr lvl="1"/>
            <a:r>
              <a:rPr lang="en-US" kern="0"/>
              <a:t>Each tuple is one entity</a:t>
            </a:r>
          </a:p>
          <a:p>
            <a:pPr lvl="1"/>
            <a:endParaRPr lang="en-US" kern="0"/>
          </a:p>
          <a:p>
            <a:pPr lvl="1"/>
            <a:r>
              <a:rPr lang="en-US" kern="0"/>
              <a:t>Each tuple is composed of the entity’s attributes, and has the same primary key</a:t>
            </a:r>
          </a:p>
        </p:txBody>
      </p:sp>
    </p:spTree>
    <p:extLst>
      <p:ext uri="{BB962C8B-B14F-4D97-AF65-F5344CB8AC3E}">
        <p14:creationId xmlns:p14="http://schemas.microsoft.com/office/powerpoint/2010/main" val="122570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Diagrams to Relational Schema</a:t>
            </a:r>
          </a:p>
        </p:txBody>
      </p:sp>
      <p:graphicFrame>
        <p:nvGraphicFramePr>
          <p:cNvPr id="23" name="Content Placeholder 22"/>
          <p:cNvGraphicFramePr>
            <a:graphicFrameLocks noGrp="1"/>
          </p:cNvGraphicFramePr>
          <p:nvPr>
            <p:ph idx="1"/>
            <p:extLst>
              <p:ext uri="{D42A27DB-BD31-4B8C-83A1-F6EECF244321}">
                <p14:modId xmlns:p14="http://schemas.microsoft.com/office/powerpoint/2010/main" val="1177344402"/>
              </p:ext>
            </p:extLst>
          </p:nvPr>
        </p:nvGraphicFramePr>
        <p:xfrm>
          <a:off x="7790604" y="4723722"/>
          <a:ext cx="3391593" cy="1169325"/>
        </p:xfrm>
        <a:graphic>
          <a:graphicData uri="http://schemas.openxmlformats.org/drawingml/2006/table">
            <a:tbl>
              <a:tblPr firstRow="1" bandRow="1">
                <a:tableStyleId>{5C22544A-7EE6-4342-B048-85BDC9FD1C3A}</a:tableStyleId>
              </a:tblPr>
              <a:tblGrid>
                <a:gridCol w="1130531">
                  <a:extLst>
                    <a:ext uri="{9D8B030D-6E8A-4147-A177-3AD203B41FA5}">
                      <a16:colId xmlns:a16="http://schemas.microsoft.com/office/drawing/2014/main" val="20000"/>
                    </a:ext>
                  </a:extLst>
                </a:gridCol>
                <a:gridCol w="1130531">
                  <a:extLst>
                    <a:ext uri="{9D8B030D-6E8A-4147-A177-3AD203B41FA5}">
                      <a16:colId xmlns:a16="http://schemas.microsoft.com/office/drawing/2014/main" val="20001"/>
                    </a:ext>
                  </a:extLst>
                </a:gridCol>
                <a:gridCol w="1130531">
                  <a:extLst>
                    <a:ext uri="{9D8B030D-6E8A-4147-A177-3AD203B41FA5}">
                      <a16:colId xmlns:a16="http://schemas.microsoft.com/office/drawing/2014/main" val="20002"/>
                    </a:ext>
                  </a:extLst>
                </a:gridCol>
              </a:tblGrid>
              <a:tr h="389775">
                <a:tc>
                  <a:txBody>
                    <a:bodyPr/>
                    <a:lstStyle/>
                    <a:p>
                      <a:r>
                        <a:rPr lang="en-US" u="sng"/>
                        <a:t>name</a:t>
                      </a:r>
                    </a:p>
                  </a:txBody>
                  <a:tcPr/>
                </a:tc>
                <a:tc>
                  <a:txBody>
                    <a:bodyPr/>
                    <a:lstStyle/>
                    <a:p>
                      <a:r>
                        <a:rPr lang="en-US" u="none"/>
                        <a:t>price</a:t>
                      </a:r>
                    </a:p>
                  </a:txBody>
                  <a:tcPr/>
                </a:tc>
                <a:tc>
                  <a:txBody>
                    <a:bodyPr/>
                    <a:lstStyle/>
                    <a:p>
                      <a:r>
                        <a:rPr lang="en-US"/>
                        <a:t>category</a:t>
                      </a:r>
                    </a:p>
                  </a:txBody>
                  <a:tcPr/>
                </a:tc>
                <a:extLst>
                  <a:ext uri="{0D108BD9-81ED-4DB2-BD59-A6C34878D82A}">
                    <a16:rowId xmlns:a16="http://schemas.microsoft.com/office/drawing/2014/main" val="10000"/>
                  </a:ext>
                </a:extLst>
              </a:tr>
              <a:tr h="389775">
                <a:tc>
                  <a:txBody>
                    <a:bodyPr/>
                    <a:lstStyle/>
                    <a:p>
                      <a:r>
                        <a:rPr lang="en-US"/>
                        <a:t>Gizmo1</a:t>
                      </a:r>
                    </a:p>
                  </a:txBody>
                  <a:tcPr/>
                </a:tc>
                <a:tc>
                  <a:txBody>
                    <a:bodyPr/>
                    <a:lstStyle/>
                    <a:p>
                      <a:r>
                        <a:rPr lang="en-US"/>
                        <a:t>99.99</a:t>
                      </a:r>
                    </a:p>
                  </a:txBody>
                  <a:tcPr/>
                </a:tc>
                <a:tc>
                  <a:txBody>
                    <a:bodyPr/>
                    <a:lstStyle/>
                    <a:p>
                      <a:r>
                        <a:rPr lang="en-US"/>
                        <a:t>Camera</a:t>
                      </a:r>
                    </a:p>
                  </a:txBody>
                  <a:tcPr/>
                </a:tc>
                <a:extLst>
                  <a:ext uri="{0D108BD9-81ED-4DB2-BD59-A6C34878D82A}">
                    <a16:rowId xmlns:a16="http://schemas.microsoft.com/office/drawing/2014/main" val="10001"/>
                  </a:ext>
                </a:extLst>
              </a:tr>
              <a:tr h="389775">
                <a:tc>
                  <a:txBody>
                    <a:bodyPr/>
                    <a:lstStyle/>
                    <a:p>
                      <a:r>
                        <a:rPr lang="en-US"/>
                        <a:t>Gizmo2</a:t>
                      </a:r>
                    </a:p>
                  </a:txBody>
                  <a:tcPr/>
                </a:tc>
                <a:tc>
                  <a:txBody>
                    <a:bodyPr/>
                    <a:lstStyle/>
                    <a:p>
                      <a:r>
                        <a:rPr lang="en-US"/>
                        <a:t>19.99</a:t>
                      </a:r>
                    </a:p>
                  </a:txBody>
                  <a:tcPr/>
                </a:tc>
                <a:tc>
                  <a:txBody>
                    <a:bodyPr/>
                    <a:lstStyle/>
                    <a:p>
                      <a:r>
                        <a:rPr lang="en-US"/>
                        <a:t>Edible</a:t>
                      </a:r>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62</a:t>
            </a:fld>
            <a:endParaRPr lang="en-US">
              <a:solidFill>
                <a:srgbClr val="000000"/>
              </a:solidFill>
            </a:endParaRPr>
          </a:p>
        </p:txBody>
      </p:sp>
      <p:sp>
        <p:nvSpPr>
          <p:cNvPr id="7" name="Rectangle 6"/>
          <p:cNvSpPr>
            <a:spLocks noChangeArrowheads="1"/>
          </p:cNvSpPr>
          <p:nvPr/>
        </p:nvSpPr>
        <p:spPr bwMode="auto">
          <a:xfrm>
            <a:off x="9397402" y="2458574"/>
            <a:ext cx="840062" cy="35839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8" name="Oval 12"/>
          <p:cNvSpPr>
            <a:spLocks noChangeArrowheads="1"/>
          </p:cNvSpPr>
          <p:nvPr/>
        </p:nvSpPr>
        <p:spPr bwMode="auto">
          <a:xfrm>
            <a:off x="8609844" y="1690596"/>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sp>
        <p:nvSpPr>
          <p:cNvPr id="9" name="Oval 13"/>
          <p:cNvSpPr>
            <a:spLocks noChangeArrowheads="1"/>
          </p:cNvSpPr>
          <p:nvPr/>
        </p:nvSpPr>
        <p:spPr bwMode="auto">
          <a:xfrm>
            <a:off x="9712425" y="1741795"/>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10" name="Oval 16"/>
          <p:cNvSpPr>
            <a:spLocks noChangeArrowheads="1"/>
          </p:cNvSpPr>
          <p:nvPr/>
        </p:nvSpPr>
        <p:spPr bwMode="auto">
          <a:xfrm>
            <a:off x="7874790" y="2100184"/>
            <a:ext cx="997573" cy="460787"/>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cxnSp>
        <p:nvCxnSpPr>
          <p:cNvPr id="11" name="Straight Connector 10"/>
          <p:cNvCxnSpPr/>
          <p:nvPr/>
        </p:nvCxnSpPr>
        <p:spPr bwMode="auto">
          <a:xfrm rot="16200000" flipH="1">
            <a:off x="8989699" y="2230065"/>
            <a:ext cx="144278" cy="67113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rot="16200000" flipH="1">
            <a:off x="9452044" y="2093184"/>
            <a:ext cx="374672" cy="35610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rot="5400000">
            <a:off x="9886326" y="2133688"/>
            <a:ext cx="255993" cy="393779"/>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2" name="Down Arrow 21"/>
          <p:cNvSpPr/>
          <p:nvPr/>
        </p:nvSpPr>
        <p:spPr bwMode="auto">
          <a:xfrm>
            <a:off x="9260378" y="3150524"/>
            <a:ext cx="452047" cy="947651"/>
          </a:xfrm>
          <a:prstGeom prst="downArrow">
            <a:avLst/>
          </a:prstGeom>
          <a:solidFill>
            <a:srgbClr val="C0C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24" name="TextBox 23"/>
          <p:cNvSpPr txBox="1"/>
          <p:nvPr/>
        </p:nvSpPr>
        <p:spPr>
          <a:xfrm>
            <a:off x="9034994" y="4354390"/>
            <a:ext cx="902811" cy="369332"/>
          </a:xfrm>
          <a:prstGeom prst="rect">
            <a:avLst/>
          </a:prstGeom>
          <a:noFill/>
        </p:spPr>
        <p:txBody>
          <a:bodyPr wrap="none" rtlCol="0">
            <a:spAutoFit/>
          </a:bodyPr>
          <a:lstStyle/>
          <a:p>
            <a:r>
              <a:rPr lang="en-US"/>
              <a:t>Product</a:t>
            </a:r>
          </a:p>
        </p:txBody>
      </p:sp>
      <p:sp>
        <p:nvSpPr>
          <p:cNvPr id="20" name="Rectangle 35"/>
          <p:cNvSpPr>
            <a:spLocks noChangeArrowheads="1"/>
          </p:cNvSpPr>
          <p:nvPr/>
        </p:nvSpPr>
        <p:spPr bwMode="auto">
          <a:xfrm>
            <a:off x="756023" y="2654853"/>
            <a:ext cx="6320961" cy="193899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none">
            <a:spAutoFit/>
          </a:bodyPr>
          <a:lstStyle/>
          <a:p>
            <a:pPr eaLnBrk="0" hangingPunct="0"/>
            <a:r>
              <a:rPr lang="en-US" sz="2400">
                <a:solidFill>
                  <a:schemeClr val="accent2"/>
                </a:solidFill>
                <a:latin typeface="Menlo" charset="0"/>
                <a:ea typeface="Menlo" charset="0"/>
                <a:cs typeface="Menlo" charset="0"/>
              </a:rPr>
              <a:t>CREATE TABLE</a:t>
            </a:r>
            <a:r>
              <a:rPr lang="en-US" sz="2400">
                <a:latin typeface="Menlo" charset="0"/>
                <a:ea typeface="Menlo" charset="0"/>
                <a:cs typeface="Menlo" charset="0"/>
              </a:rPr>
              <a:t> Product(</a:t>
            </a:r>
          </a:p>
          <a:p>
            <a:pPr eaLnBrk="0" hangingPunct="0"/>
            <a:r>
              <a:rPr lang="en-US" sz="2400">
                <a:latin typeface="Menlo" charset="0"/>
                <a:ea typeface="Menlo" charset="0"/>
                <a:cs typeface="Menlo" charset="0"/>
              </a:rPr>
              <a:t>  name     CHAR(50) PRIMARY KEY,</a:t>
            </a:r>
          </a:p>
          <a:p>
            <a:pPr eaLnBrk="0" hangingPunct="0"/>
            <a:r>
              <a:rPr lang="en-US" sz="2400">
                <a:latin typeface="Menlo" charset="0"/>
                <a:ea typeface="Menlo" charset="0"/>
                <a:cs typeface="Menlo" charset="0"/>
              </a:rPr>
              <a:t>  price    DOUBLE,</a:t>
            </a:r>
          </a:p>
          <a:p>
            <a:pPr eaLnBrk="0" hangingPunct="0"/>
            <a:r>
              <a:rPr lang="en-US" sz="2400">
                <a:latin typeface="Menlo" charset="0"/>
                <a:ea typeface="Menlo" charset="0"/>
                <a:cs typeface="Menlo" charset="0"/>
              </a:rPr>
              <a:t>  category VARCHAR(30)</a:t>
            </a:r>
          </a:p>
          <a:p>
            <a:pPr eaLnBrk="0" hangingPunct="0"/>
            <a:r>
              <a:rPr lang="en-US" sz="2400">
                <a:latin typeface="Menlo" charset="0"/>
                <a:ea typeface="Menlo" charset="0"/>
                <a:cs typeface="Menlo" charset="0"/>
              </a:rPr>
              <a:t>)</a:t>
            </a:r>
          </a:p>
        </p:txBody>
      </p:sp>
    </p:spTree>
    <p:extLst>
      <p:ext uri="{BB962C8B-B14F-4D97-AF65-F5344CB8AC3E}">
        <p14:creationId xmlns:p14="http://schemas.microsoft.com/office/powerpoint/2010/main" val="988051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Diagrams to Relational Schema</a:t>
            </a:r>
          </a:p>
        </p:txBody>
      </p:sp>
      <p:graphicFrame>
        <p:nvGraphicFramePr>
          <p:cNvPr id="23" name="Content Placeholder 22"/>
          <p:cNvGraphicFramePr>
            <a:graphicFrameLocks noGrp="1"/>
          </p:cNvGraphicFramePr>
          <p:nvPr>
            <p:ph idx="1"/>
            <p:extLst>
              <p:ext uri="{D42A27DB-BD31-4B8C-83A1-F6EECF244321}">
                <p14:modId xmlns:p14="http://schemas.microsoft.com/office/powerpoint/2010/main" val="996604324"/>
              </p:ext>
            </p:extLst>
          </p:nvPr>
        </p:nvGraphicFramePr>
        <p:xfrm>
          <a:off x="7790604" y="4723722"/>
          <a:ext cx="4188037" cy="1559100"/>
        </p:xfrm>
        <a:graphic>
          <a:graphicData uri="http://schemas.openxmlformats.org/drawingml/2006/table">
            <a:tbl>
              <a:tblPr firstRow="1" bandRow="1">
                <a:tableStyleId>{5C22544A-7EE6-4342-B048-85BDC9FD1C3A}</a:tableStyleId>
              </a:tblPr>
              <a:tblGrid>
                <a:gridCol w="954385">
                  <a:extLst>
                    <a:ext uri="{9D8B030D-6E8A-4147-A177-3AD203B41FA5}">
                      <a16:colId xmlns:a16="http://schemas.microsoft.com/office/drawing/2014/main" val="20000"/>
                    </a:ext>
                  </a:extLst>
                </a:gridCol>
                <a:gridCol w="1155469">
                  <a:extLst>
                    <a:ext uri="{9D8B030D-6E8A-4147-A177-3AD203B41FA5}">
                      <a16:colId xmlns:a16="http://schemas.microsoft.com/office/drawing/2014/main" val="20001"/>
                    </a:ext>
                  </a:extLst>
                </a:gridCol>
                <a:gridCol w="1155469">
                  <a:extLst>
                    <a:ext uri="{9D8B030D-6E8A-4147-A177-3AD203B41FA5}">
                      <a16:colId xmlns:a16="http://schemas.microsoft.com/office/drawing/2014/main" val="20002"/>
                    </a:ext>
                  </a:extLst>
                </a:gridCol>
                <a:gridCol w="922714">
                  <a:extLst>
                    <a:ext uri="{9D8B030D-6E8A-4147-A177-3AD203B41FA5}">
                      <a16:colId xmlns:a16="http://schemas.microsoft.com/office/drawing/2014/main" val="20003"/>
                    </a:ext>
                  </a:extLst>
                </a:gridCol>
              </a:tblGrid>
              <a:tr h="389775">
                <a:tc>
                  <a:txBody>
                    <a:bodyPr/>
                    <a:lstStyle/>
                    <a:p>
                      <a:r>
                        <a:rPr lang="en-US" sz="1400" u="sng"/>
                        <a:t>name</a:t>
                      </a:r>
                    </a:p>
                  </a:txBody>
                  <a:tcPr/>
                </a:tc>
                <a:tc>
                  <a:txBody>
                    <a:bodyPr/>
                    <a:lstStyle/>
                    <a:p>
                      <a:r>
                        <a:rPr lang="en-US" sz="1400" u="sng" err="1"/>
                        <a:t>firstname</a:t>
                      </a:r>
                      <a:endParaRPr lang="en-US" sz="1400" u="sng"/>
                    </a:p>
                  </a:txBody>
                  <a:tcPr/>
                </a:tc>
                <a:tc>
                  <a:txBody>
                    <a:bodyPr/>
                    <a:lstStyle/>
                    <a:p>
                      <a:r>
                        <a:rPr lang="en-US" sz="1400" u="sng" err="1"/>
                        <a:t>lastname</a:t>
                      </a:r>
                      <a:endParaRPr lang="en-US" sz="1400" u="sng"/>
                    </a:p>
                  </a:txBody>
                  <a:tcPr/>
                </a:tc>
                <a:tc>
                  <a:txBody>
                    <a:bodyPr/>
                    <a:lstStyle/>
                    <a:p>
                      <a:r>
                        <a:rPr lang="en-US" sz="1400"/>
                        <a:t>date</a:t>
                      </a:r>
                    </a:p>
                  </a:txBody>
                  <a:tcPr/>
                </a:tc>
                <a:extLst>
                  <a:ext uri="{0D108BD9-81ED-4DB2-BD59-A6C34878D82A}">
                    <a16:rowId xmlns:a16="http://schemas.microsoft.com/office/drawing/2014/main" val="10000"/>
                  </a:ext>
                </a:extLst>
              </a:tr>
              <a:tr h="389775">
                <a:tc>
                  <a:txBody>
                    <a:bodyPr/>
                    <a:lstStyle/>
                    <a:p>
                      <a:r>
                        <a:rPr lang="en-US" sz="1400"/>
                        <a:t>Gizmo1</a:t>
                      </a:r>
                    </a:p>
                  </a:txBody>
                  <a:tcPr/>
                </a:tc>
                <a:tc>
                  <a:txBody>
                    <a:bodyPr/>
                    <a:lstStyle/>
                    <a:p>
                      <a:r>
                        <a:rPr lang="en-US" sz="1400"/>
                        <a:t>Bob</a:t>
                      </a:r>
                    </a:p>
                  </a:txBody>
                  <a:tcPr/>
                </a:tc>
                <a:tc>
                  <a:txBody>
                    <a:bodyPr/>
                    <a:lstStyle/>
                    <a:p>
                      <a:r>
                        <a:rPr lang="en-US" sz="1400"/>
                        <a:t>Joe</a:t>
                      </a:r>
                    </a:p>
                  </a:txBody>
                  <a:tcPr/>
                </a:tc>
                <a:tc>
                  <a:txBody>
                    <a:bodyPr/>
                    <a:lstStyle/>
                    <a:p>
                      <a:r>
                        <a:rPr lang="en-US" sz="1400"/>
                        <a:t>01/01/15</a:t>
                      </a:r>
                    </a:p>
                  </a:txBody>
                  <a:tcPr/>
                </a:tc>
                <a:extLst>
                  <a:ext uri="{0D108BD9-81ED-4DB2-BD59-A6C34878D82A}">
                    <a16:rowId xmlns:a16="http://schemas.microsoft.com/office/drawing/2014/main" val="10001"/>
                  </a:ext>
                </a:extLst>
              </a:tr>
              <a:tr h="389775">
                <a:tc>
                  <a:txBody>
                    <a:bodyPr/>
                    <a:lstStyle/>
                    <a:p>
                      <a:r>
                        <a:rPr lang="en-US" sz="1400"/>
                        <a:t>Gizmo2</a:t>
                      </a:r>
                    </a:p>
                  </a:txBody>
                  <a:tcPr/>
                </a:tc>
                <a:tc>
                  <a:txBody>
                    <a:bodyPr/>
                    <a:lstStyle/>
                    <a:p>
                      <a:r>
                        <a:rPr lang="en-US" sz="1400"/>
                        <a:t>Joe</a:t>
                      </a:r>
                    </a:p>
                  </a:txBody>
                  <a:tcPr/>
                </a:tc>
                <a:tc>
                  <a:txBody>
                    <a:bodyPr/>
                    <a:lstStyle/>
                    <a:p>
                      <a:r>
                        <a:rPr lang="en-US" sz="1400"/>
                        <a:t>Bob</a:t>
                      </a:r>
                    </a:p>
                  </a:txBody>
                  <a:tcPr/>
                </a:tc>
                <a:tc>
                  <a:txBody>
                    <a:bodyPr/>
                    <a:lstStyle/>
                    <a:p>
                      <a:r>
                        <a:rPr lang="en-US" sz="1400"/>
                        <a:t>01/03/15</a:t>
                      </a:r>
                    </a:p>
                  </a:txBody>
                  <a:tcPr/>
                </a:tc>
                <a:extLst>
                  <a:ext uri="{0D108BD9-81ED-4DB2-BD59-A6C34878D82A}">
                    <a16:rowId xmlns:a16="http://schemas.microsoft.com/office/drawing/2014/main" val="10002"/>
                  </a:ext>
                </a:extLst>
              </a:tr>
              <a:tr h="389775">
                <a:tc>
                  <a:txBody>
                    <a:bodyPr/>
                    <a:lstStyle/>
                    <a:p>
                      <a:r>
                        <a:rPr lang="en-US" sz="1400"/>
                        <a:t>Gizmo1</a:t>
                      </a:r>
                    </a:p>
                  </a:txBody>
                  <a:tcPr/>
                </a:tc>
                <a:tc>
                  <a:txBody>
                    <a:bodyPr/>
                    <a:lstStyle/>
                    <a:p>
                      <a:r>
                        <a:rPr lang="en-US" sz="1400" err="1"/>
                        <a:t>JoeBob</a:t>
                      </a:r>
                      <a:endParaRPr lang="en-US" sz="1400"/>
                    </a:p>
                  </a:txBody>
                  <a:tcPr/>
                </a:tc>
                <a:tc>
                  <a:txBody>
                    <a:bodyPr/>
                    <a:lstStyle/>
                    <a:p>
                      <a:r>
                        <a:rPr lang="en-US" sz="1400"/>
                        <a:t>Smith</a:t>
                      </a:r>
                    </a:p>
                  </a:txBody>
                  <a:tcPr/>
                </a:tc>
                <a:tc>
                  <a:txBody>
                    <a:bodyPr/>
                    <a:lstStyle/>
                    <a:p>
                      <a:r>
                        <a:rPr lang="en-US" sz="1400"/>
                        <a:t>01/05/15</a:t>
                      </a:r>
                    </a:p>
                  </a:txBody>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63</a:t>
            </a:fld>
            <a:endParaRPr lang="en-US">
              <a:solidFill>
                <a:srgbClr val="000000"/>
              </a:solidFill>
            </a:endParaRPr>
          </a:p>
        </p:txBody>
      </p:sp>
      <p:sp>
        <p:nvSpPr>
          <p:cNvPr id="22" name="Down Arrow 21"/>
          <p:cNvSpPr/>
          <p:nvPr/>
        </p:nvSpPr>
        <p:spPr bwMode="auto">
          <a:xfrm>
            <a:off x="9385906" y="3134025"/>
            <a:ext cx="452047" cy="947651"/>
          </a:xfrm>
          <a:prstGeom prst="downArrow">
            <a:avLst/>
          </a:prstGeom>
          <a:solidFill>
            <a:srgbClr val="C0C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24" name="TextBox 23"/>
          <p:cNvSpPr txBox="1"/>
          <p:nvPr/>
        </p:nvSpPr>
        <p:spPr>
          <a:xfrm>
            <a:off x="9136747" y="4344553"/>
            <a:ext cx="1133644" cy="369332"/>
          </a:xfrm>
          <a:prstGeom prst="rect">
            <a:avLst/>
          </a:prstGeom>
          <a:noFill/>
        </p:spPr>
        <p:txBody>
          <a:bodyPr wrap="none" rtlCol="0">
            <a:spAutoFit/>
          </a:bodyPr>
          <a:lstStyle/>
          <a:p>
            <a:r>
              <a:rPr lang="en-US"/>
              <a:t>Purchased</a:t>
            </a:r>
          </a:p>
        </p:txBody>
      </p:sp>
      <p:sp>
        <p:nvSpPr>
          <p:cNvPr id="25" name="Content Placeholder 2"/>
          <p:cNvSpPr txBox="1">
            <a:spLocks/>
          </p:cNvSpPr>
          <p:nvPr/>
        </p:nvSpPr>
        <p:spPr bwMode="auto">
          <a:xfrm>
            <a:off x="624626" y="1369454"/>
            <a:ext cx="7081766"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r>
              <a:rPr lang="en-US" sz="2400" kern="0" dirty="0">
                <a:ea typeface="ＭＳ Ｐゴシック"/>
              </a:rPr>
              <a:t>A relation </a:t>
            </a:r>
            <a:r>
              <a:rPr lang="en-US" sz="2400" u="sng" kern="0" dirty="0">
                <a:ea typeface="ＭＳ Ｐゴシック"/>
              </a:rPr>
              <a:t>between entity sets A</a:t>
            </a:r>
            <a:r>
              <a:rPr lang="en-US" sz="2400" u="sng" kern="0" baseline="-25000" dirty="0">
                <a:ea typeface="ＭＳ Ｐゴシック"/>
              </a:rPr>
              <a:t>1</a:t>
            </a:r>
            <a:r>
              <a:rPr lang="en-US" sz="2400" u="sng" kern="0" dirty="0">
                <a:ea typeface="ＭＳ Ｐゴシック"/>
              </a:rPr>
              <a:t>, …, A</a:t>
            </a:r>
            <a:r>
              <a:rPr lang="en-US" sz="2400" u="sng" kern="0" baseline="-25000" dirty="0">
                <a:ea typeface="ＭＳ Ｐゴシック"/>
              </a:rPr>
              <a:t>N</a:t>
            </a:r>
            <a:r>
              <a:rPr lang="en-US" sz="2400" kern="0" dirty="0">
                <a:ea typeface="ＭＳ Ｐゴシック"/>
              </a:rPr>
              <a:t> </a:t>
            </a:r>
            <a:r>
              <a:rPr lang="en-US" sz="2400" i="1" kern="0" dirty="0">
                <a:ea typeface="ＭＳ Ｐゴシック"/>
              </a:rPr>
              <a:t>also </a:t>
            </a:r>
            <a:r>
              <a:rPr lang="en-US" sz="2400" kern="0" dirty="0">
                <a:ea typeface="ＭＳ Ｐゴシック"/>
              </a:rPr>
              <a:t>becomes a multiset of tuples / a table</a:t>
            </a:r>
          </a:p>
          <a:p>
            <a:endParaRPr lang="en-US" sz="2400" kern="0"/>
          </a:p>
          <a:p>
            <a:pPr lvl="1"/>
            <a:r>
              <a:rPr lang="en-US" sz="2400" kern="0" dirty="0">
                <a:ea typeface="ＭＳ Ｐゴシック"/>
              </a:rPr>
              <a:t>Each row/tuple is one relation, i.e. one unique combination of entities (a</a:t>
            </a:r>
            <a:r>
              <a:rPr lang="en-US" sz="2400" kern="0" baseline="-25000" dirty="0">
                <a:ea typeface="ＭＳ Ｐゴシック"/>
              </a:rPr>
              <a:t>1</a:t>
            </a:r>
            <a:r>
              <a:rPr lang="en-US" sz="2400" kern="0" dirty="0">
                <a:ea typeface="ＭＳ Ｐゴシック"/>
              </a:rPr>
              <a:t>,…,a</a:t>
            </a:r>
            <a:r>
              <a:rPr lang="en-US" sz="2400" kern="0" baseline="-25000" dirty="0">
                <a:ea typeface="ＭＳ Ｐゴシック"/>
              </a:rPr>
              <a:t>N</a:t>
            </a:r>
            <a:r>
              <a:rPr lang="en-US" sz="2400" kern="0" dirty="0">
                <a:ea typeface="ＭＳ Ｐゴシック"/>
              </a:rPr>
              <a:t>)</a:t>
            </a:r>
            <a:endParaRPr lang="en-US" sz="2400" kern="0" dirty="0">
              <a:ea typeface="ＭＳ Ｐゴシック"/>
              <a:cs typeface="Calibri"/>
            </a:endParaRPr>
          </a:p>
          <a:p>
            <a:pPr lvl="1"/>
            <a:endParaRPr lang="en-US" sz="2400" kern="0"/>
          </a:p>
          <a:p>
            <a:pPr lvl="1"/>
            <a:r>
              <a:rPr lang="en-US" sz="2400" kern="0" dirty="0">
                <a:ea typeface="ＭＳ Ｐゴシック"/>
              </a:rPr>
              <a:t>Each row/tuple is </a:t>
            </a:r>
            <a:endParaRPr lang="en-US" sz="2400" kern="0" dirty="0">
              <a:ea typeface="ＭＳ Ｐゴシック"/>
              <a:cs typeface="Calibri"/>
            </a:endParaRPr>
          </a:p>
          <a:p>
            <a:pPr lvl="2"/>
            <a:r>
              <a:rPr lang="en-US" sz="2000" kern="0" dirty="0">
                <a:ea typeface="ＭＳ Ｐゴシック"/>
              </a:rPr>
              <a:t>composed of the </a:t>
            </a:r>
            <a:r>
              <a:rPr lang="en-US" sz="2000" b="1" kern="0" dirty="0">
                <a:ea typeface="ＭＳ Ｐゴシック"/>
              </a:rPr>
              <a:t>union of the entity sets’ keys</a:t>
            </a:r>
            <a:endParaRPr lang="en-US" sz="2000" kern="0" dirty="0">
              <a:ea typeface="ＭＳ Ｐゴシック"/>
            </a:endParaRPr>
          </a:p>
          <a:p>
            <a:pPr lvl="2"/>
            <a:r>
              <a:rPr lang="en-US" sz="2000" kern="0" dirty="0">
                <a:ea typeface="ＭＳ Ｐゴシック"/>
              </a:rPr>
              <a:t>has the entities’ primary keys as foreign keys</a:t>
            </a:r>
            <a:endParaRPr lang="en-US" sz="2000" kern="0" dirty="0">
              <a:ea typeface="ＭＳ Ｐゴシック"/>
              <a:cs typeface="Calibri"/>
            </a:endParaRPr>
          </a:p>
          <a:p>
            <a:pPr lvl="2"/>
            <a:r>
              <a:rPr lang="en-US" sz="2000" kern="0" dirty="0">
                <a:ea typeface="ＭＳ Ｐゴシック"/>
              </a:rPr>
              <a:t>has the union of the entity sets’ keys as primary key</a:t>
            </a:r>
            <a:endParaRPr lang="en-US" sz="2000" kern="0" dirty="0">
              <a:ea typeface="ＭＳ Ｐゴシック"/>
              <a:cs typeface="Calibri"/>
            </a:endParaRPr>
          </a:p>
          <a:p>
            <a:pPr marL="914400" lvl="2" indent="0">
              <a:buNone/>
            </a:pPr>
            <a:endParaRPr lang="en-US" sz="2000" b="1" kern="0" dirty="0">
              <a:ea typeface="ＭＳ Ｐゴシック"/>
              <a:cs typeface="Calibri"/>
            </a:endParaRPr>
          </a:p>
          <a:p>
            <a:pPr marL="914400" lvl="2" indent="0">
              <a:buNone/>
            </a:pPr>
            <a:r>
              <a:rPr lang="en-US" sz="2000" b="1" kern="0" dirty="0">
                <a:ea typeface="ＭＳ Ｐゴシック"/>
                <a:cs typeface="Calibri"/>
              </a:rPr>
              <a:t>For binary One-to-one and One-to-many there are some special cases.</a:t>
            </a:r>
            <a:endParaRPr lang="en-US" sz="2000" b="1" kern="0">
              <a:cs typeface="Calibri"/>
            </a:endParaRPr>
          </a:p>
        </p:txBody>
      </p:sp>
      <p:grpSp>
        <p:nvGrpSpPr>
          <p:cNvPr id="3" name="Group 2"/>
          <p:cNvGrpSpPr/>
          <p:nvPr/>
        </p:nvGrpSpPr>
        <p:grpSpPr>
          <a:xfrm>
            <a:off x="7004792" y="1690688"/>
            <a:ext cx="5113185" cy="1140194"/>
            <a:chOff x="7943078" y="1690688"/>
            <a:chExt cx="4174900" cy="930965"/>
          </a:xfrm>
        </p:grpSpPr>
        <p:grpSp>
          <p:nvGrpSpPr>
            <p:cNvPr id="15" name="Group 14"/>
            <p:cNvGrpSpPr/>
            <p:nvPr/>
          </p:nvGrpSpPr>
          <p:grpSpPr>
            <a:xfrm>
              <a:off x="7943078" y="1690688"/>
              <a:ext cx="3532723" cy="930965"/>
              <a:chOff x="1676400" y="2271055"/>
              <a:chExt cx="8382000" cy="2286000"/>
            </a:xfrm>
          </p:grpSpPr>
          <p:sp>
            <p:nvSpPr>
              <p:cNvPr id="16" name="AutoShape 8"/>
              <p:cNvSpPr>
                <a:spLocks noChangeArrowheads="1"/>
              </p:cNvSpPr>
              <p:nvPr/>
            </p:nvSpPr>
            <p:spPr bwMode="auto">
              <a:xfrm>
                <a:off x="5791200" y="3871255"/>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100">
                    <a:solidFill>
                      <a:srgbClr val="000000"/>
                    </a:solidFill>
                  </a:rPr>
                  <a:t>Purchased</a:t>
                </a:r>
              </a:p>
            </p:txBody>
          </p:sp>
          <p:sp>
            <p:nvSpPr>
              <p:cNvPr id="17" name="Rectangle 16"/>
              <p:cNvSpPr>
                <a:spLocks noChangeArrowheads="1"/>
              </p:cNvSpPr>
              <p:nvPr/>
            </p:nvSpPr>
            <p:spPr bwMode="auto">
              <a:xfrm>
                <a:off x="3886200" y="3947455"/>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8" name="Oval 12"/>
              <p:cNvSpPr>
                <a:spLocks noChangeArrowheads="1"/>
              </p:cNvSpPr>
              <p:nvPr/>
            </p:nvSpPr>
            <p:spPr bwMode="auto">
              <a:xfrm>
                <a:off x="2743200" y="28044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9" name="Oval 13"/>
              <p:cNvSpPr>
                <a:spLocks noChangeArrowheads="1"/>
              </p:cNvSpPr>
              <p:nvPr/>
            </p:nvSpPr>
            <p:spPr bwMode="auto">
              <a:xfrm>
                <a:off x="4343400" y="28806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20" name="Oval 16"/>
              <p:cNvSpPr>
                <a:spLocks noChangeArrowheads="1"/>
              </p:cNvSpPr>
              <p:nvPr/>
            </p:nvSpPr>
            <p:spPr bwMode="auto">
              <a:xfrm>
                <a:off x="1676400" y="3414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1" name="Straight Connector 20"/>
              <p:cNvCxnSpPr/>
              <p:nvPr/>
            </p:nvCxnSpPr>
            <p:spPr bwMode="auto">
              <a:xfrm rot="16200000" flipH="1">
                <a:off x="3291822" y="3619775"/>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rot="16200000" flipH="1">
                <a:off x="3958572" y="3410225"/>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rot="5400000">
                <a:off x="4591050" y="3471205"/>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Rectangle 27"/>
              <p:cNvSpPr>
                <a:spLocks noChangeArrowheads="1"/>
              </p:cNvSpPr>
              <p:nvPr/>
            </p:nvSpPr>
            <p:spPr bwMode="auto">
              <a:xfrm>
                <a:off x="8229600" y="3947454"/>
                <a:ext cx="18288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Person</a:t>
                </a:r>
              </a:p>
            </p:txBody>
          </p:sp>
          <p:sp>
            <p:nvSpPr>
              <p:cNvPr id="29" name="Oval 12"/>
              <p:cNvSpPr>
                <a:spLocks noChangeArrowheads="1"/>
              </p:cNvSpPr>
              <p:nvPr/>
            </p:nvSpPr>
            <p:spPr bwMode="auto">
              <a:xfrm>
                <a:off x="8037854" y="2381425"/>
                <a:ext cx="1447801"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firstname</a:t>
                </a:r>
                <a:endParaRPr lang="en-US" sz="1200" u="sng">
                  <a:solidFill>
                    <a:srgbClr val="000000"/>
                  </a:solidFill>
                </a:endParaRPr>
              </a:p>
            </p:txBody>
          </p:sp>
          <p:cxnSp>
            <p:nvCxnSpPr>
              <p:cNvPr id="30" name="Straight Connector 29"/>
              <p:cNvCxnSpPr>
                <a:stCxn id="29" idx="4"/>
              </p:cNvCxnSpPr>
              <p:nvPr/>
            </p:nvCxnSpPr>
            <p:spPr bwMode="auto">
              <a:xfrm>
                <a:off x="8761754" y="3067225"/>
                <a:ext cx="572748" cy="880232"/>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5105400" y="4214155"/>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7620000" y="4214155"/>
                <a:ext cx="609600" cy="1143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3" name="Oval 13"/>
              <p:cNvSpPr>
                <a:spLocks noChangeArrowheads="1"/>
              </p:cNvSpPr>
              <p:nvPr/>
            </p:nvSpPr>
            <p:spPr bwMode="auto">
              <a:xfrm>
                <a:off x="6172200" y="2271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date</a:t>
                </a:r>
              </a:p>
            </p:txBody>
          </p:sp>
          <p:cxnSp>
            <p:nvCxnSpPr>
              <p:cNvPr id="34" name="Straight Connector 33"/>
              <p:cNvCxnSpPr/>
              <p:nvPr/>
            </p:nvCxnSpPr>
            <p:spPr bwMode="auto">
              <a:xfrm rot="5400000">
                <a:off x="6343650" y="3318805"/>
                <a:ext cx="914400" cy="190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35" name="Oval 12"/>
            <p:cNvSpPr>
              <a:spLocks noChangeArrowheads="1"/>
            </p:cNvSpPr>
            <p:nvPr/>
          </p:nvSpPr>
          <p:spPr bwMode="auto">
            <a:xfrm>
              <a:off x="11439950" y="1725929"/>
              <a:ext cx="678028" cy="313186"/>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lastname</a:t>
              </a:r>
              <a:endParaRPr lang="en-US" sz="1200" u="sng">
                <a:solidFill>
                  <a:srgbClr val="000000"/>
                </a:solidFill>
              </a:endParaRPr>
            </a:p>
          </p:txBody>
        </p:sp>
        <p:cxnSp>
          <p:nvCxnSpPr>
            <p:cNvPr id="36" name="Straight Connector 35"/>
            <p:cNvCxnSpPr>
              <a:stCxn id="35" idx="4"/>
              <a:endCxn id="28" idx="0"/>
            </p:cNvCxnSpPr>
            <p:nvPr/>
          </p:nvCxnSpPr>
          <p:spPr bwMode="auto">
            <a:xfrm flipH="1">
              <a:off x="11090413" y="2039115"/>
              <a:ext cx="688551" cy="33428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65139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Diagrams to Relational Schema</a:t>
            </a:r>
          </a:p>
        </p:txBody>
      </p:sp>
      <p:graphicFrame>
        <p:nvGraphicFramePr>
          <p:cNvPr id="23" name="Content Placeholder 22"/>
          <p:cNvGraphicFramePr>
            <a:graphicFrameLocks noGrp="1"/>
          </p:cNvGraphicFramePr>
          <p:nvPr>
            <p:ph idx="1"/>
            <p:extLst>
              <p:ext uri="{D42A27DB-BD31-4B8C-83A1-F6EECF244321}">
                <p14:modId xmlns:p14="http://schemas.microsoft.com/office/powerpoint/2010/main" val="996604324"/>
              </p:ext>
            </p:extLst>
          </p:nvPr>
        </p:nvGraphicFramePr>
        <p:xfrm>
          <a:off x="7790604" y="4723722"/>
          <a:ext cx="4188037" cy="1559100"/>
        </p:xfrm>
        <a:graphic>
          <a:graphicData uri="http://schemas.openxmlformats.org/drawingml/2006/table">
            <a:tbl>
              <a:tblPr firstRow="1" bandRow="1">
                <a:tableStyleId>{5C22544A-7EE6-4342-B048-85BDC9FD1C3A}</a:tableStyleId>
              </a:tblPr>
              <a:tblGrid>
                <a:gridCol w="954385">
                  <a:extLst>
                    <a:ext uri="{9D8B030D-6E8A-4147-A177-3AD203B41FA5}">
                      <a16:colId xmlns:a16="http://schemas.microsoft.com/office/drawing/2014/main" val="20000"/>
                    </a:ext>
                  </a:extLst>
                </a:gridCol>
                <a:gridCol w="1155469">
                  <a:extLst>
                    <a:ext uri="{9D8B030D-6E8A-4147-A177-3AD203B41FA5}">
                      <a16:colId xmlns:a16="http://schemas.microsoft.com/office/drawing/2014/main" val="20001"/>
                    </a:ext>
                  </a:extLst>
                </a:gridCol>
                <a:gridCol w="1155469">
                  <a:extLst>
                    <a:ext uri="{9D8B030D-6E8A-4147-A177-3AD203B41FA5}">
                      <a16:colId xmlns:a16="http://schemas.microsoft.com/office/drawing/2014/main" val="20002"/>
                    </a:ext>
                  </a:extLst>
                </a:gridCol>
                <a:gridCol w="922714">
                  <a:extLst>
                    <a:ext uri="{9D8B030D-6E8A-4147-A177-3AD203B41FA5}">
                      <a16:colId xmlns:a16="http://schemas.microsoft.com/office/drawing/2014/main" val="20003"/>
                    </a:ext>
                  </a:extLst>
                </a:gridCol>
              </a:tblGrid>
              <a:tr h="389775">
                <a:tc>
                  <a:txBody>
                    <a:bodyPr/>
                    <a:lstStyle/>
                    <a:p>
                      <a:r>
                        <a:rPr lang="en-US" sz="1400" u="sng"/>
                        <a:t>name</a:t>
                      </a:r>
                    </a:p>
                  </a:txBody>
                  <a:tcPr/>
                </a:tc>
                <a:tc>
                  <a:txBody>
                    <a:bodyPr/>
                    <a:lstStyle/>
                    <a:p>
                      <a:r>
                        <a:rPr lang="en-US" sz="1400" u="sng" err="1"/>
                        <a:t>firstname</a:t>
                      </a:r>
                      <a:endParaRPr lang="en-US" sz="1400" u="sng"/>
                    </a:p>
                  </a:txBody>
                  <a:tcPr/>
                </a:tc>
                <a:tc>
                  <a:txBody>
                    <a:bodyPr/>
                    <a:lstStyle/>
                    <a:p>
                      <a:r>
                        <a:rPr lang="en-US" sz="1400" u="sng" err="1"/>
                        <a:t>lastname</a:t>
                      </a:r>
                      <a:endParaRPr lang="en-US" sz="1400" u="sng"/>
                    </a:p>
                  </a:txBody>
                  <a:tcPr/>
                </a:tc>
                <a:tc>
                  <a:txBody>
                    <a:bodyPr/>
                    <a:lstStyle/>
                    <a:p>
                      <a:r>
                        <a:rPr lang="en-US" sz="1400"/>
                        <a:t>date</a:t>
                      </a:r>
                    </a:p>
                  </a:txBody>
                  <a:tcPr/>
                </a:tc>
                <a:extLst>
                  <a:ext uri="{0D108BD9-81ED-4DB2-BD59-A6C34878D82A}">
                    <a16:rowId xmlns:a16="http://schemas.microsoft.com/office/drawing/2014/main" val="10000"/>
                  </a:ext>
                </a:extLst>
              </a:tr>
              <a:tr h="389775">
                <a:tc>
                  <a:txBody>
                    <a:bodyPr/>
                    <a:lstStyle/>
                    <a:p>
                      <a:r>
                        <a:rPr lang="en-US" sz="1400"/>
                        <a:t>Gizmo1</a:t>
                      </a:r>
                    </a:p>
                  </a:txBody>
                  <a:tcPr/>
                </a:tc>
                <a:tc>
                  <a:txBody>
                    <a:bodyPr/>
                    <a:lstStyle/>
                    <a:p>
                      <a:r>
                        <a:rPr lang="en-US" sz="1400"/>
                        <a:t>Bob</a:t>
                      </a:r>
                    </a:p>
                  </a:txBody>
                  <a:tcPr/>
                </a:tc>
                <a:tc>
                  <a:txBody>
                    <a:bodyPr/>
                    <a:lstStyle/>
                    <a:p>
                      <a:r>
                        <a:rPr lang="en-US" sz="1400"/>
                        <a:t>Joe</a:t>
                      </a:r>
                    </a:p>
                  </a:txBody>
                  <a:tcPr/>
                </a:tc>
                <a:tc>
                  <a:txBody>
                    <a:bodyPr/>
                    <a:lstStyle/>
                    <a:p>
                      <a:r>
                        <a:rPr lang="en-US" sz="1400"/>
                        <a:t>01/01/15</a:t>
                      </a:r>
                    </a:p>
                  </a:txBody>
                  <a:tcPr/>
                </a:tc>
                <a:extLst>
                  <a:ext uri="{0D108BD9-81ED-4DB2-BD59-A6C34878D82A}">
                    <a16:rowId xmlns:a16="http://schemas.microsoft.com/office/drawing/2014/main" val="10001"/>
                  </a:ext>
                </a:extLst>
              </a:tr>
              <a:tr h="389775">
                <a:tc>
                  <a:txBody>
                    <a:bodyPr/>
                    <a:lstStyle/>
                    <a:p>
                      <a:r>
                        <a:rPr lang="en-US" sz="1400"/>
                        <a:t>Gizmo2</a:t>
                      </a:r>
                    </a:p>
                  </a:txBody>
                  <a:tcPr/>
                </a:tc>
                <a:tc>
                  <a:txBody>
                    <a:bodyPr/>
                    <a:lstStyle/>
                    <a:p>
                      <a:r>
                        <a:rPr lang="en-US" sz="1400"/>
                        <a:t>Joe</a:t>
                      </a:r>
                    </a:p>
                  </a:txBody>
                  <a:tcPr/>
                </a:tc>
                <a:tc>
                  <a:txBody>
                    <a:bodyPr/>
                    <a:lstStyle/>
                    <a:p>
                      <a:r>
                        <a:rPr lang="en-US" sz="1400"/>
                        <a:t>Bob</a:t>
                      </a:r>
                    </a:p>
                  </a:txBody>
                  <a:tcPr/>
                </a:tc>
                <a:tc>
                  <a:txBody>
                    <a:bodyPr/>
                    <a:lstStyle/>
                    <a:p>
                      <a:r>
                        <a:rPr lang="en-US" sz="1400"/>
                        <a:t>01/03/15</a:t>
                      </a:r>
                    </a:p>
                  </a:txBody>
                  <a:tcPr/>
                </a:tc>
                <a:extLst>
                  <a:ext uri="{0D108BD9-81ED-4DB2-BD59-A6C34878D82A}">
                    <a16:rowId xmlns:a16="http://schemas.microsoft.com/office/drawing/2014/main" val="10002"/>
                  </a:ext>
                </a:extLst>
              </a:tr>
              <a:tr h="389775">
                <a:tc>
                  <a:txBody>
                    <a:bodyPr/>
                    <a:lstStyle/>
                    <a:p>
                      <a:r>
                        <a:rPr lang="en-US" sz="1400"/>
                        <a:t>Gizmo1</a:t>
                      </a:r>
                    </a:p>
                  </a:txBody>
                  <a:tcPr/>
                </a:tc>
                <a:tc>
                  <a:txBody>
                    <a:bodyPr/>
                    <a:lstStyle/>
                    <a:p>
                      <a:r>
                        <a:rPr lang="en-US" sz="1400" err="1"/>
                        <a:t>JoeBob</a:t>
                      </a:r>
                      <a:endParaRPr lang="en-US" sz="1400"/>
                    </a:p>
                  </a:txBody>
                  <a:tcPr/>
                </a:tc>
                <a:tc>
                  <a:txBody>
                    <a:bodyPr/>
                    <a:lstStyle/>
                    <a:p>
                      <a:r>
                        <a:rPr lang="en-US" sz="1400"/>
                        <a:t>Smith</a:t>
                      </a:r>
                    </a:p>
                  </a:txBody>
                  <a:tcPr/>
                </a:tc>
                <a:tc>
                  <a:txBody>
                    <a:bodyPr/>
                    <a:lstStyle/>
                    <a:p>
                      <a:r>
                        <a:rPr lang="en-US" sz="1400"/>
                        <a:t>01/05/15</a:t>
                      </a:r>
                    </a:p>
                  </a:txBody>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64</a:t>
            </a:fld>
            <a:endParaRPr lang="en-US">
              <a:solidFill>
                <a:srgbClr val="000000"/>
              </a:solidFill>
            </a:endParaRPr>
          </a:p>
        </p:txBody>
      </p:sp>
      <p:sp>
        <p:nvSpPr>
          <p:cNvPr id="22" name="Down Arrow 21"/>
          <p:cNvSpPr/>
          <p:nvPr/>
        </p:nvSpPr>
        <p:spPr bwMode="auto">
          <a:xfrm>
            <a:off x="9563706" y="3134025"/>
            <a:ext cx="452047" cy="947651"/>
          </a:xfrm>
          <a:prstGeom prst="downArrow">
            <a:avLst/>
          </a:prstGeom>
          <a:solidFill>
            <a:srgbClr val="C0C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24" name="TextBox 23"/>
          <p:cNvSpPr txBox="1"/>
          <p:nvPr/>
        </p:nvSpPr>
        <p:spPr>
          <a:xfrm>
            <a:off x="9314547" y="4344553"/>
            <a:ext cx="1133644" cy="369332"/>
          </a:xfrm>
          <a:prstGeom prst="rect">
            <a:avLst/>
          </a:prstGeom>
          <a:noFill/>
        </p:spPr>
        <p:txBody>
          <a:bodyPr wrap="none" rtlCol="0">
            <a:spAutoFit/>
          </a:bodyPr>
          <a:lstStyle/>
          <a:p>
            <a:r>
              <a:rPr lang="en-US"/>
              <a:t>Purchased</a:t>
            </a:r>
          </a:p>
        </p:txBody>
      </p:sp>
      <p:grpSp>
        <p:nvGrpSpPr>
          <p:cNvPr id="15" name="Group 14"/>
          <p:cNvGrpSpPr/>
          <p:nvPr/>
        </p:nvGrpSpPr>
        <p:grpSpPr>
          <a:xfrm>
            <a:off x="7660499" y="1675526"/>
            <a:ext cx="3925423" cy="1043955"/>
            <a:chOff x="1676400" y="2271055"/>
            <a:chExt cx="8382000" cy="2286003"/>
          </a:xfrm>
        </p:grpSpPr>
        <p:sp>
          <p:nvSpPr>
            <p:cNvPr id="16" name="AutoShape 8"/>
            <p:cNvSpPr>
              <a:spLocks noChangeArrowheads="1"/>
            </p:cNvSpPr>
            <p:nvPr/>
          </p:nvSpPr>
          <p:spPr bwMode="auto">
            <a:xfrm>
              <a:off x="5791200" y="3871255"/>
              <a:ext cx="1828800" cy="6858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100">
                  <a:solidFill>
                    <a:srgbClr val="000000"/>
                  </a:solidFill>
                </a:rPr>
                <a:t>Purchased</a:t>
              </a:r>
            </a:p>
          </p:txBody>
        </p:sp>
        <p:sp>
          <p:nvSpPr>
            <p:cNvPr id="17" name="Rectangle 16"/>
            <p:cNvSpPr>
              <a:spLocks noChangeArrowheads="1"/>
            </p:cNvSpPr>
            <p:nvPr/>
          </p:nvSpPr>
          <p:spPr bwMode="auto">
            <a:xfrm>
              <a:off x="3886200" y="3947455"/>
              <a:ext cx="1219200" cy="5334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8" name="Oval 12"/>
            <p:cNvSpPr>
              <a:spLocks noChangeArrowheads="1"/>
            </p:cNvSpPr>
            <p:nvPr/>
          </p:nvSpPr>
          <p:spPr bwMode="auto">
            <a:xfrm>
              <a:off x="2743200" y="28044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9" name="Oval 13"/>
            <p:cNvSpPr>
              <a:spLocks noChangeArrowheads="1"/>
            </p:cNvSpPr>
            <p:nvPr/>
          </p:nvSpPr>
          <p:spPr bwMode="auto">
            <a:xfrm>
              <a:off x="4343400" y="28806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20" name="Oval 16"/>
            <p:cNvSpPr>
              <a:spLocks noChangeArrowheads="1"/>
            </p:cNvSpPr>
            <p:nvPr/>
          </p:nvSpPr>
          <p:spPr bwMode="auto">
            <a:xfrm>
              <a:off x="1676400" y="3414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1" name="Straight Connector 20"/>
            <p:cNvCxnSpPr/>
            <p:nvPr/>
          </p:nvCxnSpPr>
          <p:spPr bwMode="auto">
            <a:xfrm rot="16200000" flipH="1">
              <a:off x="3291822" y="3619775"/>
              <a:ext cx="214733" cy="9740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rot="16200000" flipH="1">
              <a:off x="3958572" y="3410225"/>
              <a:ext cx="557633" cy="51682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rot="5400000">
              <a:off x="4591050" y="3471205"/>
              <a:ext cx="381000" cy="571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Rectangle 27"/>
            <p:cNvSpPr>
              <a:spLocks noChangeArrowheads="1"/>
            </p:cNvSpPr>
            <p:nvPr/>
          </p:nvSpPr>
          <p:spPr bwMode="auto">
            <a:xfrm>
              <a:off x="8229600" y="3947457"/>
              <a:ext cx="1828800" cy="609601"/>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Person</a:t>
              </a:r>
            </a:p>
          </p:txBody>
        </p:sp>
        <p:sp>
          <p:nvSpPr>
            <p:cNvPr id="29" name="Oval 12"/>
            <p:cNvSpPr>
              <a:spLocks noChangeArrowheads="1"/>
            </p:cNvSpPr>
            <p:nvPr/>
          </p:nvSpPr>
          <p:spPr bwMode="auto">
            <a:xfrm>
              <a:off x="8037854" y="2381425"/>
              <a:ext cx="1447801"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firstname</a:t>
              </a:r>
              <a:endParaRPr lang="en-US" sz="1200" u="sng">
                <a:solidFill>
                  <a:srgbClr val="000000"/>
                </a:solidFill>
              </a:endParaRPr>
            </a:p>
          </p:txBody>
        </p:sp>
        <p:cxnSp>
          <p:nvCxnSpPr>
            <p:cNvPr id="30" name="Straight Connector 29"/>
            <p:cNvCxnSpPr>
              <a:stCxn id="29" idx="4"/>
            </p:cNvCxnSpPr>
            <p:nvPr/>
          </p:nvCxnSpPr>
          <p:spPr bwMode="auto">
            <a:xfrm>
              <a:off x="8761754" y="3067225"/>
              <a:ext cx="572748" cy="880232"/>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5105400" y="4214155"/>
              <a:ext cx="685800" cy="158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7620000" y="4214155"/>
              <a:ext cx="609600" cy="1143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3" name="Oval 13"/>
            <p:cNvSpPr>
              <a:spLocks noChangeArrowheads="1"/>
            </p:cNvSpPr>
            <p:nvPr/>
          </p:nvSpPr>
          <p:spPr bwMode="auto">
            <a:xfrm>
              <a:off x="6172200" y="2271055"/>
              <a:ext cx="1447800" cy="685800"/>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date</a:t>
              </a:r>
            </a:p>
          </p:txBody>
        </p:sp>
        <p:cxnSp>
          <p:nvCxnSpPr>
            <p:cNvPr id="34" name="Straight Connector 33"/>
            <p:cNvCxnSpPr/>
            <p:nvPr/>
          </p:nvCxnSpPr>
          <p:spPr bwMode="auto">
            <a:xfrm rot="5400000">
              <a:off x="6343650" y="3318805"/>
              <a:ext cx="914400" cy="190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35" name="Oval 12"/>
          <p:cNvSpPr>
            <a:spLocks noChangeArrowheads="1"/>
          </p:cNvSpPr>
          <p:nvPr/>
        </p:nvSpPr>
        <p:spPr bwMode="auto">
          <a:xfrm>
            <a:off x="11439950" y="1725929"/>
            <a:ext cx="678028" cy="313186"/>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lastname</a:t>
            </a:r>
            <a:endParaRPr lang="en-US" sz="1200" u="sng">
              <a:solidFill>
                <a:srgbClr val="000000"/>
              </a:solidFill>
            </a:endParaRPr>
          </a:p>
        </p:txBody>
      </p:sp>
      <p:cxnSp>
        <p:nvCxnSpPr>
          <p:cNvPr id="36" name="Straight Connector 35"/>
          <p:cNvCxnSpPr>
            <a:stCxn id="35" idx="4"/>
            <a:endCxn id="28" idx="0"/>
          </p:cNvCxnSpPr>
          <p:nvPr/>
        </p:nvCxnSpPr>
        <p:spPr bwMode="auto">
          <a:xfrm flipH="1">
            <a:off x="11157694" y="2039115"/>
            <a:ext cx="621270" cy="40197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43" name="Rectangle 35"/>
          <p:cNvSpPr>
            <a:spLocks noChangeArrowheads="1"/>
          </p:cNvSpPr>
          <p:nvPr/>
        </p:nvSpPr>
        <p:spPr bwMode="auto">
          <a:xfrm>
            <a:off x="568541" y="1868912"/>
            <a:ext cx="6647974" cy="3477875"/>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none">
            <a:spAutoFit/>
          </a:bodyPr>
          <a:lstStyle/>
          <a:p>
            <a:pPr eaLnBrk="0" hangingPunct="0"/>
            <a:r>
              <a:rPr lang="en-US" sz="2000">
                <a:solidFill>
                  <a:schemeClr val="accent2"/>
                </a:solidFill>
                <a:latin typeface="Menlo" charset="0"/>
                <a:ea typeface="Menlo" charset="0"/>
                <a:cs typeface="Menlo" charset="0"/>
              </a:rPr>
              <a:t>CREATE TABLE</a:t>
            </a:r>
            <a:r>
              <a:rPr lang="en-US" sz="2000">
                <a:latin typeface="Menlo" charset="0"/>
                <a:ea typeface="Menlo" charset="0"/>
                <a:cs typeface="Menlo" charset="0"/>
              </a:rPr>
              <a:t> Purchased(</a:t>
            </a:r>
          </a:p>
          <a:p>
            <a:pPr eaLnBrk="0" hangingPunct="0"/>
            <a:r>
              <a:rPr lang="en-US" sz="2000">
                <a:latin typeface="Menlo" charset="0"/>
                <a:ea typeface="Menlo" charset="0"/>
                <a:cs typeface="Menlo" charset="0"/>
              </a:rPr>
              <a:t>  name      CHAR(50),</a:t>
            </a:r>
          </a:p>
          <a:p>
            <a:pPr eaLnBrk="0" hangingPunct="0"/>
            <a:r>
              <a:rPr lang="en-US" sz="2000">
                <a:latin typeface="Menlo" charset="0"/>
                <a:ea typeface="Menlo" charset="0"/>
                <a:cs typeface="Menlo" charset="0"/>
              </a:rPr>
              <a:t>  </a:t>
            </a:r>
            <a:r>
              <a:rPr lang="en-US" sz="2000" err="1">
                <a:latin typeface="Menlo" charset="0"/>
                <a:ea typeface="Menlo" charset="0"/>
                <a:cs typeface="Menlo" charset="0"/>
              </a:rPr>
              <a:t>firstname</a:t>
            </a:r>
            <a:r>
              <a:rPr lang="en-US" sz="2000">
                <a:latin typeface="Menlo" charset="0"/>
                <a:ea typeface="Menlo" charset="0"/>
                <a:cs typeface="Menlo" charset="0"/>
              </a:rPr>
              <a:t> CHAR(50),</a:t>
            </a:r>
          </a:p>
          <a:p>
            <a:pPr eaLnBrk="0" hangingPunct="0"/>
            <a:r>
              <a:rPr lang="en-US" sz="2000">
                <a:latin typeface="Menlo" charset="0"/>
                <a:ea typeface="Menlo" charset="0"/>
                <a:cs typeface="Menlo" charset="0"/>
              </a:rPr>
              <a:t>  </a:t>
            </a:r>
            <a:r>
              <a:rPr lang="en-US" sz="2000" err="1">
                <a:latin typeface="Menlo" charset="0"/>
                <a:ea typeface="Menlo" charset="0"/>
                <a:cs typeface="Menlo" charset="0"/>
              </a:rPr>
              <a:t>lastname</a:t>
            </a:r>
            <a:r>
              <a:rPr lang="en-US" sz="2000">
                <a:latin typeface="Menlo" charset="0"/>
                <a:ea typeface="Menlo" charset="0"/>
                <a:cs typeface="Menlo" charset="0"/>
              </a:rPr>
              <a:t>  CHAR(50),</a:t>
            </a:r>
          </a:p>
          <a:p>
            <a:pPr eaLnBrk="0" hangingPunct="0"/>
            <a:r>
              <a:rPr lang="en-US" sz="2000">
                <a:latin typeface="Menlo" charset="0"/>
                <a:ea typeface="Menlo" charset="0"/>
                <a:cs typeface="Menlo" charset="0"/>
              </a:rPr>
              <a:t>  date      DATE,</a:t>
            </a:r>
          </a:p>
          <a:p>
            <a:pPr eaLnBrk="0" hangingPunct="0"/>
            <a:r>
              <a:rPr lang="en-US" sz="2000">
                <a:latin typeface="Menlo" charset="0"/>
                <a:ea typeface="Menlo" charset="0"/>
                <a:cs typeface="Menlo" charset="0"/>
              </a:rPr>
              <a:t>  PRIMARY KEY (name, </a:t>
            </a:r>
            <a:r>
              <a:rPr lang="en-US" sz="2000" err="1">
                <a:latin typeface="Menlo" charset="0"/>
                <a:ea typeface="Menlo" charset="0"/>
                <a:cs typeface="Menlo" charset="0"/>
              </a:rPr>
              <a:t>firstname</a:t>
            </a:r>
            <a:r>
              <a:rPr lang="en-US" sz="2000">
                <a:latin typeface="Menlo" charset="0"/>
                <a:ea typeface="Menlo" charset="0"/>
                <a:cs typeface="Menlo" charset="0"/>
              </a:rPr>
              <a:t>, </a:t>
            </a:r>
            <a:r>
              <a:rPr lang="en-US" sz="2000" err="1">
                <a:latin typeface="Menlo" charset="0"/>
                <a:ea typeface="Menlo" charset="0"/>
                <a:cs typeface="Menlo" charset="0"/>
              </a:rPr>
              <a:t>lastname</a:t>
            </a:r>
            <a:r>
              <a:rPr lang="en-US" sz="2000">
                <a:latin typeface="Menlo" charset="0"/>
                <a:ea typeface="Menlo" charset="0"/>
                <a:cs typeface="Menlo" charset="0"/>
              </a:rPr>
              <a:t>),</a:t>
            </a:r>
          </a:p>
          <a:p>
            <a:pPr eaLnBrk="0" hangingPunct="0"/>
            <a:r>
              <a:rPr lang="en-US" sz="2000">
                <a:latin typeface="Menlo" charset="0"/>
                <a:ea typeface="Menlo" charset="0"/>
                <a:cs typeface="Menlo" charset="0"/>
              </a:rPr>
              <a:t>  FOREIGN KEY (name)</a:t>
            </a:r>
          </a:p>
          <a:p>
            <a:pPr eaLnBrk="0" hangingPunct="0"/>
            <a:r>
              <a:rPr lang="en-US" sz="2000">
                <a:latin typeface="Menlo" charset="0"/>
                <a:ea typeface="Menlo" charset="0"/>
                <a:cs typeface="Menlo" charset="0"/>
              </a:rPr>
              <a:t>	REFERENCES Product,</a:t>
            </a:r>
          </a:p>
          <a:p>
            <a:pPr eaLnBrk="0" hangingPunct="0"/>
            <a:r>
              <a:rPr lang="en-US" sz="2000">
                <a:latin typeface="Menlo" charset="0"/>
                <a:ea typeface="Menlo" charset="0"/>
                <a:cs typeface="Menlo" charset="0"/>
              </a:rPr>
              <a:t>  FOREIGN KEY (</a:t>
            </a:r>
            <a:r>
              <a:rPr lang="en-US" sz="2000" err="1">
                <a:latin typeface="Menlo" charset="0"/>
                <a:ea typeface="Menlo" charset="0"/>
                <a:cs typeface="Menlo" charset="0"/>
              </a:rPr>
              <a:t>firstname</a:t>
            </a:r>
            <a:r>
              <a:rPr lang="en-US" sz="2000">
                <a:latin typeface="Menlo" charset="0"/>
                <a:ea typeface="Menlo" charset="0"/>
                <a:cs typeface="Menlo" charset="0"/>
              </a:rPr>
              <a:t>, </a:t>
            </a:r>
            <a:r>
              <a:rPr lang="en-US" sz="2000" err="1">
                <a:latin typeface="Menlo" charset="0"/>
                <a:ea typeface="Menlo" charset="0"/>
                <a:cs typeface="Menlo" charset="0"/>
              </a:rPr>
              <a:t>lastname</a:t>
            </a:r>
            <a:r>
              <a:rPr lang="en-US" sz="2000">
                <a:latin typeface="Menlo" charset="0"/>
                <a:ea typeface="Menlo" charset="0"/>
                <a:cs typeface="Menlo" charset="0"/>
              </a:rPr>
              <a:t>)</a:t>
            </a:r>
          </a:p>
          <a:p>
            <a:pPr eaLnBrk="0" hangingPunct="0"/>
            <a:r>
              <a:rPr lang="en-US" sz="2000">
                <a:latin typeface="Menlo" charset="0"/>
                <a:ea typeface="Menlo" charset="0"/>
                <a:cs typeface="Menlo" charset="0"/>
              </a:rPr>
              <a:t>	REFERENCES Person</a:t>
            </a:r>
          </a:p>
          <a:p>
            <a:pPr eaLnBrk="0" hangingPunct="0"/>
            <a:r>
              <a:rPr lang="en-US" sz="2000">
                <a:latin typeface="Menlo" charset="0"/>
                <a:ea typeface="Menlo" charset="0"/>
                <a:cs typeface="Menlo" charset="0"/>
              </a:rPr>
              <a:t>)</a:t>
            </a:r>
          </a:p>
        </p:txBody>
      </p:sp>
    </p:spTree>
    <p:extLst>
      <p:ext uri="{BB962C8B-B14F-4D97-AF65-F5344CB8AC3E}">
        <p14:creationId xmlns:p14="http://schemas.microsoft.com/office/powerpoint/2010/main" val="15193268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From E/R Diagram to Relational Schema</a:t>
            </a:r>
          </a:p>
        </p:txBody>
      </p:sp>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65</a:t>
            </a:fld>
            <a:endParaRPr lang="en-US">
              <a:solidFill>
                <a:srgbClr val="000000"/>
              </a:solidFill>
            </a:endParaRPr>
          </a:p>
        </p:txBody>
      </p:sp>
      <p:grpSp>
        <p:nvGrpSpPr>
          <p:cNvPr id="3" name="Group 2">
            <a:extLst>
              <a:ext uri="{FF2B5EF4-FFF2-40B4-BE49-F238E27FC236}">
                <a16:creationId xmlns:a16="http://schemas.microsoft.com/office/drawing/2014/main" id="{C9302409-D370-4675-9E46-F5B05A6BAAFE}"/>
              </a:ext>
            </a:extLst>
          </p:cNvPr>
          <p:cNvGrpSpPr/>
          <p:nvPr/>
        </p:nvGrpSpPr>
        <p:grpSpPr>
          <a:xfrm>
            <a:off x="4982510" y="1509998"/>
            <a:ext cx="7444412" cy="3245878"/>
            <a:chOff x="2390230" y="3196755"/>
            <a:chExt cx="7444412" cy="3245878"/>
          </a:xfrm>
        </p:grpSpPr>
        <p:sp>
          <p:nvSpPr>
            <p:cNvPr id="16" name="AutoShape 8"/>
            <p:cNvSpPr>
              <a:spLocks noChangeArrowheads="1"/>
            </p:cNvSpPr>
            <p:nvPr/>
          </p:nvSpPr>
          <p:spPr bwMode="auto">
            <a:xfrm>
              <a:off x="5503777" y="4377476"/>
              <a:ext cx="1383799" cy="506023"/>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Purchased</a:t>
              </a:r>
            </a:p>
          </p:txBody>
        </p:sp>
        <p:sp>
          <p:nvSpPr>
            <p:cNvPr id="17" name="Rectangle 16"/>
            <p:cNvSpPr>
              <a:spLocks noChangeArrowheads="1"/>
            </p:cNvSpPr>
            <p:nvPr/>
          </p:nvSpPr>
          <p:spPr bwMode="auto">
            <a:xfrm>
              <a:off x="4062320" y="4433700"/>
              <a:ext cx="922533" cy="39357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Product</a:t>
              </a:r>
            </a:p>
          </p:txBody>
        </p:sp>
        <p:sp>
          <p:nvSpPr>
            <p:cNvPr id="18" name="Oval 12"/>
            <p:cNvSpPr>
              <a:spLocks noChangeArrowheads="1"/>
            </p:cNvSpPr>
            <p:nvPr/>
          </p:nvSpPr>
          <p:spPr bwMode="auto">
            <a:xfrm>
              <a:off x="3197445" y="3590328"/>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19" name="Oval 13"/>
            <p:cNvSpPr>
              <a:spLocks noChangeArrowheads="1"/>
            </p:cNvSpPr>
            <p:nvPr/>
          </p:nvSpPr>
          <p:spPr bwMode="auto">
            <a:xfrm>
              <a:off x="4408269" y="3646554"/>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category</a:t>
              </a:r>
            </a:p>
          </p:txBody>
        </p:sp>
        <p:sp>
          <p:nvSpPr>
            <p:cNvPr id="20" name="Oval 16"/>
            <p:cNvSpPr>
              <a:spLocks noChangeArrowheads="1"/>
            </p:cNvSpPr>
            <p:nvPr/>
          </p:nvSpPr>
          <p:spPr bwMode="auto">
            <a:xfrm>
              <a:off x="2390230" y="4040127"/>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price</a:t>
              </a:r>
            </a:p>
          </p:txBody>
        </p:sp>
        <p:cxnSp>
          <p:nvCxnSpPr>
            <p:cNvPr id="21" name="Straight Connector 20"/>
            <p:cNvCxnSpPr/>
            <p:nvPr/>
          </p:nvCxnSpPr>
          <p:spPr bwMode="auto">
            <a:xfrm rot="16200000" flipH="1">
              <a:off x="3614592" y="4182757"/>
              <a:ext cx="158443" cy="73701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rot="16200000" flipH="1">
              <a:off x="4122326" y="4032440"/>
              <a:ext cx="411454" cy="39106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rot="5400000">
              <a:off x="4599243" y="4076920"/>
              <a:ext cx="281124" cy="43243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8" name="Rectangle 27"/>
            <p:cNvSpPr>
              <a:spLocks noChangeArrowheads="1"/>
            </p:cNvSpPr>
            <p:nvPr/>
          </p:nvSpPr>
          <p:spPr bwMode="auto">
            <a:xfrm>
              <a:off x="7348842" y="4433700"/>
              <a:ext cx="1261758" cy="39357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Person</a:t>
              </a:r>
            </a:p>
          </p:txBody>
        </p:sp>
        <p:sp>
          <p:nvSpPr>
            <p:cNvPr id="29" name="Oval 12"/>
            <p:cNvSpPr>
              <a:spLocks noChangeArrowheads="1"/>
            </p:cNvSpPr>
            <p:nvPr/>
          </p:nvSpPr>
          <p:spPr bwMode="auto">
            <a:xfrm>
              <a:off x="7203753" y="3278192"/>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firstname</a:t>
              </a:r>
              <a:endParaRPr lang="en-US" sz="1200" u="sng">
                <a:solidFill>
                  <a:srgbClr val="000000"/>
                </a:solidFill>
              </a:endParaRPr>
            </a:p>
          </p:txBody>
        </p:sp>
        <p:cxnSp>
          <p:nvCxnSpPr>
            <p:cNvPr id="30" name="Straight Connector 29"/>
            <p:cNvCxnSpPr>
              <a:stCxn id="29" idx="4"/>
            </p:cNvCxnSpPr>
            <p:nvPr/>
          </p:nvCxnSpPr>
          <p:spPr bwMode="auto">
            <a:xfrm>
              <a:off x="7751507" y="3784215"/>
              <a:ext cx="433382" cy="64948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4984853" y="4630488"/>
              <a:ext cx="518925" cy="117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6887576" y="4630488"/>
              <a:ext cx="461266" cy="8433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3" name="Oval 13"/>
            <p:cNvSpPr>
              <a:spLocks noChangeArrowheads="1"/>
            </p:cNvSpPr>
            <p:nvPr/>
          </p:nvSpPr>
          <p:spPr bwMode="auto">
            <a:xfrm>
              <a:off x="5792068" y="3196755"/>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date</a:t>
              </a:r>
            </a:p>
          </p:txBody>
        </p:sp>
        <p:cxnSp>
          <p:nvCxnSpPr>
            <p:cNvPr id="34" name="Straight Connector 33"/>
            <p:cNvCxnSpPr/>
            <p:nvPr/>
          </p:nvCxnSpPr>
          <p:spPr bwMode="auto">
            <a:xfrm rot="5400000">
              <a:off x="5930400" y="3968054"/>
              <a:ext cx="674698" cy="14414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35" name="Oval 12"/>
            <p:cNvSpPr>
              <a:spLocks noChangeArrowheads="1"/>
            </p:cNvSpPr>
            <p:nvPr/>
          </p:nvSpPr>
          <p:spPr bwMode="auto">
            <a:xfrm>
              <a:off x="8739134" y="3278192"/>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err="1">
                  <a:solidFill>
                    <a:srgbClr val="000000"/>
                  </a:solidFill>
                </a:rPr>
                <a:t>lastname</a:t>
              </a:r>
              <a:endParaRPr lang="en-US" sz="1200" u="sng">
                <a:solidFill>
                  <a:srgbClr val="000000"/>
                </a:solidFill>
              </a:endParaRPr>
            </a:p>
          </p:txBody>
        </p:sp>
        <p:cxnSp>
          <p:nvCxnSpPr>
            <p:cNvPr id="36" name="Straight Connector 35"/>
            <p:cNvCxnSpPr>
              <a:stCxn id="35" idx="4"/>
              <a:endCxn id="28" idx="0"/>
            </p:cNvCxnSpPr>
            <p:nvPr/>
          </p:nvCxnSpPr>
          <p:spPr bwMode="auto">
            <a:xfrm flipH="1">
              <a:off x="7979721" y="3784215"/>
              <a:ext cx="1307167" cy="64948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40" name="Rectangle 39"/>
            <p:cNvSpPr>
              <a:spLocks noChangeArrowheads="1"/>
            </p:cNvSpPr>
            <p:nvPr/>
          </p:nvSpPr>
          <p:spPr bwMode="auto">
            <a:xfrm>
              <a:off x="4062322" y="6049060"/>
              <a:ext cx="922533" cy="393573"/>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Store</a:t>
              </a:r>
            </a:p>
          </p:txBody>
        </p:sp>
        <p:sp>
          <p:nvSpPr>
            <p:cNvPr id="41" name="Oval 12"/>
            <p:cNvSpPr>
              <a:spLocks noChangeArrowheads="1"/>
            </p:cNvSpPr>
            <p:nvPr/>
          </p:nvSpPr>
          <p:spPr bwMode="auto">
            <a:xfrm>
              <a:off x="3197447" y="5205688"/>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u="sng">
                  <a:solidFill>
                    <a:srgbClr val="000000"/>
                  </a:solidFill>
                </a:rPr>
                <a:t>name</a:t>
              </a:r>
            </a:p>
          </p:txBody>
        </p:sp>
        <p:sp>
          <p:nvSpPr>
            <p:cNvPr id="42" name="Oval 13"/>
            <p:cNvSpPr>
              <a:spLocks noChangeArrowheads="1"/>
            </p:cNvSpPr>
            <p:nvPr/>
          </p:nvSpPr>
          <p:spPr bwMode="auto">
            <a:xfrm>
              <a:off x="4408271" y="5261914"/>
              <a:ext cx="1095508" cy="506023"/>
            </a:xfrm>
            <a:prstGeom prst="ellipse">
              <a:avLst/>
            </a:prstGeom>
            <a:solidFill>
              <a:srgbClr val="00FF00"/>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200">
                  <a:solidFill>
                    <a:srgbClr val="000000"/>
                  </a:solidFill>
                </a:rPr>
                <a:t>address</a:t>
              </a:r>
            </a:p>
          </p:txBody>
        </p:sp>
        <p:cxnSp>
          <p:nvCxnSpPr>
            <p:cNvPr id="43" name="Straight Connector 42"/>
            <p:cNvCxnSpPr/>
            <p:nvPr/>
          </p:nvCxnSpPr>
          <p:spPr bwMode="auto">
            <a:xfrm rot="16200000" flipH="1">
              <a:off x="4122328" y="5647800"/>
              <a:ext cx="411454" cy="39106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rot="5400000">
              <a:off x="4599245" y="5692280"/>
              <a:ext cx="281124" cy="43243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cxnSp>
        <p:nvCxnSpPr>
          <p:cNvPr id="45" name="Straight Connector 44"/>
          <p:cNvCxnSpPr>
            <a:stCxn id="40" idx="3"/>
            <a:endCxn id="16" idx="2"/>
          </p:cNvCxnSpPr>
          <p:nvPr/>
        </p:nvCxnSpPr>
        <p:spPr bwMode="auto">
          <a:xfrm flipV="1">
            <a:off x="7577135" y="3196742"/>
            <a:ext cx="1210822" cy="1362348"/>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9" name="TextBox 8"/>
          <p:cNvSpPr txBox="1"/>
          <p:nvPr/>
        </p:nvSpPr>
        <p:spPr>
          <a:xfrm>
            <a:off x="1330250" y="1690688"/>
            <a:ext cx="3990109" cy="830997"/>
          </a:xfrm>
          <a:prstGeom prst="rect">
            <a:avLst/>
          </a:prstGeom>
          <a:noFill/>
        </p:spPr>
        <p:txBody>
          <a:bodyPr wrap="square" rtlCol="0">
            <a:spAutoFit/>
          </a:bodyPr>
          <a:lstStyle/>
          <a:p>
            <a:r>
              <a:rPr lang="en-US" sz="2400"/>
              <a:t>How do we represent this as a relational schema?</a:t>
            </a:r>
          </a:p>
        </p:txBody>
      </p:sp>
      <p:sp>
        <p:nvSpPr>
          <p:cNvPr id="37" name="Content Placeholder 2">
            <a:extLst>
              <a:ext uri="{FF2B5EF4-FFF2-40B4-BE49-F238E27FC236}">
                <a16:creationId xmlns:a16="http://schemas.microsoft.com/office/drawing/2014/main" id="{50436631-472C-4C5A-9DB8-209A243EBDA4}"/>
              </a:ext>
            </a:extLst>
          </p:cNvPr>
          <p:cNvSpPr>
            <a:spLocks noGrp="1"/>
          </p:cNvSpPr>
          <p:nvPr>
            <p:ph idx="1"/>
          </p:nvPr>
        </p:nvSpPr>
        <p:spPr>
          <a:xfrm>
            <a:off x="375213" y="2690719"/>
            <a:ext cx="5081502" cy="3486244"/>
          </a:xfrm>
        </p:spPr>
        <p:txBody>
          <a:bodyPr vert="horz" lIns="91440" tIns="45720" rIns="91440" bIns="45720" rtlCol="0" anchor="t">
            <a:normAutofit fontScale="70000" lnSpcReduction="20000"/>
          </a:bodyPr>
          <a:lstStyle/>
          <a:p>
            <a:pPr marL="0" indent="0">
              <a:buNone/>
            </a:pPr>
            <a:r>
              <a:rPr lang="en-US" dirty="0"/>
              <a:t>CREATE TABLE purchased (</a:t>
            </a:r>
          </a:p>
          <a:p>
            <a:pPr marL="457200" lvl="1" indent="0">
              <a:buNone/>
            </a:pPr>
            <a:r>
              <a:rPr lang="en-US" dirty="0" err="1"/>
              <a:t>Firstname</a:t>
            </a:r>
            <a:r>
              <a:rPr lang="en-US" dirty="0"/>
              <a:t> varchar(20),</a:t>
            </a:r>
            <a:endParaRPr lang="en-US" dirty="0">
              <a:ea typeface="Calibri"/>
              <a:cs typeface="Calibri"/>
            </a:endParaRPr>
          </a:p>
          <a:p>
            <a:pPr marL="457200" lvl="1" indent="0">
              <a:buNone/>
            </a:pPr>
            <a:r>
              <a:rPr lang="en-US" dirty="0"/>
              <a:t>Lastname varchar(20),</a:t>
            </a:r>
            <a:endParaRPr lang="en-US" dirty="0">
              <a:ea typeface="Calibri"/>
              <a:cs typeface="Calibri"/>
            </a:endParaRPr>
          </a:p>
          <a:p>
            <a:pPr marL="457200" lvl="1" indent="0">
              <a:buNone/>
            </a:pPr>
            <a:r>
              <a:rPr lang="en-US" dirty="0" err="1"/>
              <a:t>Pname</a:t>
            </a:r>
            <a:r>
              <a:rPr lang="en-US" dirty="0"/>
              <a:t> varchar(20),</a:t>
            </a:r>
            <a:endParaRPr lang="en-US" dirty="0">
              <a:ea typeface="Calibri"/>
              <a:cs typeface="Calibri"/>
            </a:endParaRPr>
          </a:p>
          <a:p>
            <a:pPr marL="457200" lvl="1" indent="0">
              <a:buNone/>
            </a:pPr>
            <a:r>
              <a:rPr lang="en-US" dirty="0" err="1"/>
              <a:t>Sname</a:t>
            </a:r>
            <a:r>
              <a:rPr lang="en-US" dirty="0"/>
              <a:t> varchar(20),</a:t>
            </a:r>
            <a:endParaRPr lang="en-US" dirty="0">
              <a:ea typeface="Calibri"/>
              <a:cs typeface="Calibri"/>
            </a:endParaRPr>
          </a:p>
          <a:p>
            <a:pPr marL="457200" lvl="1" indent="0">
              <a:buNone/>
            </a:pPr>
            <a:r>
              <a:rPr lang="en-US" dirty="0" err="1"/>
              <a:t>pdate</a:t>
            </a:r>
            <a:r>
              <a:rPr lang="en-US" dirty="0"/>
              <a:t>  date,</a:t>
            </a:r>
            <a:endParaRPr lang="en-US" dirty="0">
              <a:ea typeface="Calibri"/>
              <a:cs typeface="Calibri"/>
            </a:endParaRPr>
          </a:p>
          <a:p>
            <a:pPr marL="457200" lvl="1" indent="0">
              <a:buNone/>
            </a:pPr>
            <a:r>
              <a:rPr lang="en-US" dirty="0"/>
              <a:t>Primary key (</a:t>
            </a:r>
            <a:r>
              <a:rPr lang="en-US" dirty="0" err="1"/>
              <a:t>firstname</a:t>
            </a:r>
            <a:r>
              <a:rPr lang="en-US" dirty="0"/>
              <a:t>, </a:t>
            </a:r>
            <a:r>
              <a:rPr lang="en-US" dirty="0" err="1"/>
              <a:t>lastname</a:t>
            </a:r>
            <a:r>
              <a:rPr lang="en-US" dirty="0"/>
              <a:t>, </a:t>
            </a:r>
            <a:r>
              <a:rPr lang="en-US" dirty="0" err="1"/>
              <a:t>pname,sname</a:t>
            </a:r>
            <a:r>
              <a:rPr lang="en-US" dirty="0"/>
              <a:t>),</a:t>
            </a:r>
            <a:endParaRPr lang="en-US" dirty="0">
              <a:ea typeface="Calibri"/>
              <a:cs typeface="Calibri"/>
            </a:endParaRPr>
          </a:p>
          <a:p>
            <a:pPr marL="457200" lvl="1" indent="0">
              <a:buNone/>
            </a:pPr>
            <a:r>
              <a:rPr lang="en-US" dirty="0"/>
              <a:t>Foreign key (</a:t>
            </a:r>
            <a:r>
              <a:rPr lang="en-US" dirty="0" err="1"/>
              <a:t>firstname</a:t>
            </a:r>
            <a:r>
              <a:rPr lang="en-US" dirty="0"/>
              <a:t>, </a:t>
            </a:r>
            <a:r>
              <a:rPr lang="en-US" dirty="0" err="1"/>
              <a:t>lastname</a:t>
            </a:r>
            <a:r>
              <a:rPr lang="en-US" dirty="0"/>
              <a:t>) references Person,</a:t>
            </a:r>
            <a:endParaRPr lang="en-US" dirty="0">
              <a:ea typeface="Calibri"/>
              <a:cs typeface="Calibri"/>
            </a:endParaRPr>
          </a:p>
          <a:p>
            <a:pPr marL="457200" lvl="1" indent="0">
              <a:buNone/>
            </a:pPr>
            <a:r>
              <a:rPr lang="en-US" dirty="0"/>
              <a:t>Foreign key (</a:t>
            </a:r>
            <a:r>
              <a:rPr lang="en-US" dirty="0" err="1"/>
              <a:t>pname</a:t>
            </a:r>
            <a:r>
              <a:rPr lang="en-US" dirty="0"/>
              <a:t>) references product(name),</a:t>
            </a:r>
            <a:endParaRPr lang="en-US" dirty="0">
              <a:ea typeface="Calibri"/>
              <a:cs typeface="Calibri"/>
            </a:endParaRPr>
          </a:p>
          <a:p>
            <a:pPr marL="457200" lvl="1" indent="0">
              <a:buNone/>
            </a:pPr>
            <a:r>
              <a:rPr lang="en-US" dirty="0"/>
              <a:t>Foreign key (</a:t>
            </a:r>
            <a:r>
              <a:rPr lang="en-US" dirty="0" err="1"/>
              <a:t>sname</a:t>
            </a:r>
            <a:r>
              <a:rPr lang="en-US" dirty="0"/>
              <a:t>) references store(name)</a:t>
            </a:r>
            <a:endParaRPr lang="en-US" dirty="0">
              <a:ea typeface="Calibri"/>
              <a:cs typeface="Calibri"/>
            </a:endParaRPr>
          </a:p>
          <a:p>
            <a:pPr marL="0" indent="0">
              <a:buNone/>
            </a:pPr>
            <a:r>
              <a:rPr lang="en-US" dirty="0"/>
              <a:t>);</a:t>
            </a:r>
            <a:endParaRPr lang="en-US" dirty="0">
              <a:ea typeface="Calibri"/>
              <a:cs typeface="Calibri"/>
            </a:endParaRPr>
          </a:p>
        </p:txBody>
      </p:sp>
    </p:spTree>
    <p:extLst>
      <p:ext uri="{BB962C8B-B14F-4D97-AF65-F5344CB8AC3E}">
        <p14:creationId xmlns:p14="http://schemas.microsoft.com/office/powerpoint/2010/main" val="5247324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9288-05CA-8145-A076-F31738D344C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1EEE0220-400C-B2A4-7A88-2E8093916F12}"/>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451224" y="938440"/>
            <a:ext cx="9501032" cy="5598343"/>
          </a:xfrm>
        </p:spPr>
      </p:pic>
      <p:sp>
        <p:nvSpPr>
          <p:cNvPr id="4" name="Slide Number Placeholder 3">
            <a:extLst>
              <a:ext uri="{FF2B5EF4-FFF2-40B4-BE49-F238E27FC236}">
                <a16:creationId xmlns:a16="http://schemas.microsoft.com/office/drawing/2014/main" id="{8D9E206B-3DCF-43FB-A24D-84E6A1988111}"/>
              </a:ext>
            </a:extLst>
          </p:cNvPr>
          <p:cNvSpPr>
            <a:spLocks noGrp="1"/>
          </p:cNvSpPr>
          <p:nvPr>
            <p:ph type="sldNum" sz="quarter" idx="12"/>
          </p:nvPr>
        </p:nvSpPr>
        <p:spPr/>
        <p:txBody>
          <a:bodyPr/>
          <a:lstStyle/>
          <a:p>
            <a:fld id="{641C0F02-33DC-3A41-9F51-431B7FE03ABE}" type="slidenum">
              <a:rPr lang="en-US" smtClean="0"/>
              <a:t>66</a:t>
            </a:fld>
            <a:endParaRPr lang="en-US"/>
          </a:p>
        </p:txBody>
      </p:sp>
      <p:sp>
        <p:nvSpPr>
          <p:cNvPr id="5" name="Rectangle 1">
            <a:extLst>
              <a:ext uri="{FF2B5EF4-FFF2-40B4-BE49-F238E27FC236}">
                <a16:creationId xmlns:a16="http://schemas.microsoft.com/office/drawing/2014/main" id="{4BD93D40-25DB-4EF4-AB14-738BC601F0D7}"/>
              </a:ext>
            </a:extLst>
          </p:cNvPr>
          <p:cNvSpPr>
            <a:spLocks noChangeArrowheads="1"/>
          </p:cNvSpPr>
          <p:nvPr/>
        </p:nvSpPr>
        <p:spPr bwMode="auto">
          <a:xfrm rot="10800000" flipV="1">
            <a:off x="387479" y="5425220"/>
            <a:ext cx="78933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Bef>
                <a:spcPct val="0"/>
              </a:spcBef>
              <a:spcAft>
                <a:spcPct val="0"/>
              </a:spcAft>
            </a:pPr>
            <a:r>
              <a:rPr lang="en-US" dirty="0">
                <a:ea typeface="+mn-lt"/>
                <a:cs typeface="+mn-lt"/>
                <a:hlinkClick r:id="rId4"/>
              </a:rPr>
              <a:t>Create statements</a:t>
            </a:r>
            <a:endParaRPr lang="en-US">
              <a:ea typeface="Calibri"/>
              <a:cs typeface="Calibri"/>
            </a:endParaRPr>
          </a:p>
        </p:txBody>
      </p:sp>
    </p:spTree>
    <p:extLst>
      <p:ext uri="{BB962C8B-B14F-4D97-AF65-F5344CB8AC3E}">
        <p14:creationId xmlns:p14="http://schemas.microsoft.com/office/powerpoint/2010/main" val="16138142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D9F4-F863-4CFD-B8C2-A511C74B1C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EA8403-FD31-4F09-B3FB-F011D0E73EC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9473D40-12EC-4C60-B718-1D4A95D51AB5}"/>
              </a:ext>
            </a:extLst>
          </p:cNvPr>
          <p:cNvSpPr>
            <a:spLocks noGrp="1"/>
          </p:cNvSpPr>
          <p:nvPr>
            <p:ph type="sldNum" sz="quarter" idx="12"/>
          </p:nvPr>
        </p:nvSpPr>
        <p:spPr/>
        <p:txBody>
          <a:bodyPr/>
          <a:lstStyle/>
          <a:p>
            <a:fld id="{641C0F02-33DC-3A41-9F51-431B7FE03ABE}" type="slidenum">
              <a:rPr lang="en-US" smtClean="0"/>
              <a:t>67</a:t>
            </a:fld>
            <a:endParaRPr lang="en-US"/>
          </a:p>
        </p:txBody>
      </p:sp>
      <p:pic>
        <p:nvPicPr>
          <p:cNvPr id="1026" name="Picture 2">
            <a:extLst>
              <a:ext uri="{FF2B5EF4-FFF2-40B4-BE49-F238E27FC236}">
                <a16:creationId xmlns:a16="http://schemas.microsoft.com/office/drawing/2014/main" id="{2C01E472-6E5D-4C68-9A42-A765E84D5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7513"/>
            <a:ext cx="12192000" cy="602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15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C00F4-BDFA-4A76-8AD1-A858DD8288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2EBB70-0490-4924-A43E-8D996684CA8A}"/>
              </a:ext>
            </a:extLst>
          </p:cNvPr>
          <p:cNvSpPr>
            <a:spLocks noGrp="1"/>
          </p:cNvSpPr>
          <p:nvPr>
            <p:ph idx="1"/>
          </p:nvPr>
        </p:nvSpPr>
        <p:spPr/>
        <p:txBody>
          <a:bodyPr/>
          <a:lstStyle/>
          <a:p>
            <a:r>
              <a:rPr lang="en-US"/>
              <a:t>It has SQL for the previous example</a:t>
            </a:r>
          </a:p>
        </p:txBody>
      </p:sp>
      <p:sp>
        <p:nvSpPr>
          <p:cNvPr id="4" name="Slide Number Placeholder 3">
            <a:extLst>
              <a:ext uri="{FF2B5EF4-FFF2-40B4-BE49-F238E27FC236}">
                <a16:creationId xmlns:a16="http://schemas.microsoft.com/office/drawing/2014/main" id="{8B716C3A-ED3B-4F53-BC4C-6E4C8D655D8C}"/>
              </a:ext>
            </a:extLst>
          </p:cNvPr>
          <p:cNvSpPr>
            <a:spLocks noGrp="1"/>
          </p:cNvSpPr>
          <p:nvPr>
            <p:ph type="sldNum" sz="quarter" idx="12"/>
          </p:nvPr>
        </p:nvSpPr>
        <p:spPr/>
        <p:txBody>
          <a:bodyPr/>
          <a:lstStyle/>
          <a:p>
            <a:fld id="{641C0F02-33DC-3A41-9F51-431B7FE03ABE}" type="slidenum">
              <a:rPr lang="en-US" smtClean="0"/>
              <a:t>68</a:t>
            </a:fld>
            <a:endParaRPr lang="en-US"/>
          </a:p>
        </p:txBody>
      </p:sp>
    </p:spTree>
    <p:extLst>
      <p:ext uri="{BB962C8B-B14F-4D97-AF65-F5344CB8AC3E}">
        <p14:creationId xmlns:p14="http://schemas.microsoft.com/office/powerpoint/2010/main" val="25129168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F08EC131-7052-F146-B478-A3F129E1E8FC}"/>
              </a:ext>
            </a:extLst>
          </p:cNvPr>
          <p:cNvSpPr>
            <a:spLocks noGrp="1"/>
          </p:cNvSpPr>
          <p:nvPr>
            <p:ph type="title"/>
          </p:nvPr>
        </p:nvSpPr>
        <p:spPr/>
        <p:txBody>
          <a:bodyPr/>
          <a:lstStyle/>
          <a:p>
            <a:r>
              <a:rPr lang="en-US" altLang="en-US"/>
              <a:t>ER-to-Relational Mapping Algorithm</a:t>
            </a:r>
          </a:p>
        </p:txBody>
      </p:sp>
      <p:sp>
        <p:nvSpPr>
          <p:cNvPr id="10243" name="Content Placeholder 2">
            <a:extLst>
              <a:ext uri="{FF2B5EF4-FFF2-40B4-BE49-F238E27FC236}">
                <a16:creationId xmlns:a16="http://schemas.microsoft.com/office/drawing/2014/main" id="{7E1BE1D1-043A-CB41-9706-1F74CF910DCC}"/>
              </a:ext>
            </a:extLst>
          </p:cNvPr>
          <p:cNvSpPr>
            <a:spLocks noGrp="1"/>
          </p:cNvSpPr>
          <p:nvPr>
            <p:ph idx="1"/>
          </p:nvPr>
        </p:nvSpPr>
        <p:spPr/>
        <p:txBody>
          <a:bodyPr/>
          <a:lstStyle/>
          <a:p>
            <a:r>
              <a:rPr lang="en-US" altLang="en-US"/>
              <a:t>COMPANY database example</a:t>
            </a:r>
          </a:p>
          <a:p>
            <a:pPr lvl="1"/>
            <a:r>
              <a:rPr lang="en-US" altLang="en-US"/>
              <a:t>Assume that the mapping will create tables with simple single-valued attributes</a:t>
            </a:r>
          </a:p>
          <a:p>
            <a:r>
              <a:rPr lang="en-US" altLang="en-US"/>
              <a:t>Step 1: Mapping of Regular Entity Types</a:t>
            </a:r>
          </a:p>
          <a:p>
            <a:pPr lvl="1"/>
            <a:r>
              <a:rPr lang="en-US" altLang="en-US"/>
              <a:t>For each regular entity type, create a relation </a:t>
            </a:r>
            <a:r>
              <a:rPr lang="en-US" altLang="en-US" i="1"/>
              <a:t>R</a:t>
            </a:r>
            <a:r>
              <a:rPr lang="en-US" altLang="en-US"/>
              <a:t> that includes all the simple attributes of </a:t>
            </a:r>
            <a:r>
              <a:rPr lang="en-US" altLang="en-US" i="1"/>
              <a:t>E</a:t>
            </a:r>
          </a:p>
          <a:p>
            <a:pPr lvl="1"/>
            <a:r>
              <a:rPr lang="en-US" altLang="en-US"/>
              <a:t>Called </a:t>
            </a:r>
            <a:r>
              <a:rPr lang="en-US" altLang="en-US" b="1"/>
              <a:t>entity relations </a:t>
            </a:r>
            <a:endParaRPr lang="en-US" altLang="en-US"/>
          </a:p>
          <a:p>
            <a:pPr lvl="2"/>
            <a:r>
              <a:rPr lang="en-US" altLang="en-US"/>
              <a:t>Each tuple represents an entity instance</a:t>
            </a:r>
          </a:p>
        </p:txBody>
      </p:sp>
      <p:sp>
        <p:nvSpPr>
          <p:cNvPr id="2" name="Slide Number Placeholder 1">
            <a:extLst>
              <a:ext uri="{FF2B5EF4-FFF2-40B4-BE49-F238E27FC236}">
                <a16:creationId xmlns:a16="http://schemas.microsoft.com/office/drawing/2014/main" id="{6B0B9829-302B-4711-B57D-2E541698CA72}"/>
              </a:ext>
            </a:extLst>
          </p:cNvPr>
          <p:cNvSpPr>
            <a:spLocks noGrp="1"/>
          </p:cNvSpPr>
          <p:nvPr>
            <p:ph type="sldNum" sz="quarter" idx="12"/>
          </p:nvPr>
        </p:nvSpPr>
        <p:spPr/>
        <p:txBody>
          <a:bodyPr/>
          <a:lstStyle/>
          <a:p>
            <a:fld id="{641C0F02-33DC-3A41-9F51-431B7FE03ABE}" type="slidenum">
              <a:rPr lang="en-US" smtClean="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a:extLst>
              <a:ext uri="{FF2B5EF4-FFF2-40B4-BE49-F238E27FC236}">
                <a16:creationId xmlns:a16="http://schemas.microsoft.com/office/drawing/2014/main" id="{6D50FAAC-336B-384A-93D9-66EF3DAAFD35}"/>
              </a:ext>
            </a:extLst>
          </p:cNvPr>
          <p:cNvSpPr>
            <a:spLocks noGrp="1"/>
          </p:cNvSpPr>
          <p:nvPr>
            <p:ph type="title"/>
          </p:nvPr>
        </p:nvSpPr>
        <p:spPr/>
        <p:txBody>
          <a:bodyPr/>
          <a:lstStyle/>
          <a:p>
            <a:r>
              <a:rPr lang="en-US" altLang="en-US"/>
              <a:t>ER-to-Relational Mapping Algorithm (cont’d.)</a:t>
            </a:r>
          </a:p>
        </p:txBody>
      </p:sp>
      <p:sp>
        <p:nvSpPr>
          <p:cNvPr id="2" name="Content Placeholder 1">
            <a:extLst>
              <a:ext uri="{FF2B5EF4-FFF2-40B4-BE49-F238E27FC236}">
                <a16:creationId xmlns:a16="http://schemas.microsoft.com/office/drawing/2014/main" id="{722AB449-2769-A348-BC78-B42CB170646E}"/>
              </a:ext>
            </a:extLst>
          </p:cNvPr>
          <p:cNvSpPr>
            <a:spLocks noGrp="1"/>
          </p:cNvSpPr>
          <p:nvPr>
            <p:ph idx="1"/>
          </p:nvPr>
        </p:nvSpPr>
        <p:spPr/>
        <p:txBody>
          <a:bodyPr/>
          <a:lstStyle/>
          <a:p>
            <a:endParaRPr lang="en-US"/>
          </a:p>
        </p:txBody>
      </p:sp>
      <p:pic>
        <p:nvPicPr>
          <p:cNvPr id="12291" name="Picture 2">
            <a:extLst>
              <a:ext uri="{FF2B5EF4-FFF2-40B4-BE49-F238E27FC236}">
                <a16:creationId xmlns:a16="http://schemas.microsoft.com/office/drawing/2014/main" id="{71EC0C06-65C4-CE41-AF7F-682DE71D3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24000"/>
            <a:ext cx="7958138"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11F5797B-3EFD-44DA-974B-2CE6EFC2D511}"/>
              </a:ext>
            </a:extLst>
          </p:cNvPr>
          <p:cNvSpPr>
            <a:spLocks noGrp="1"/>
          </p:cNvSpPr>
          <p:nvPr>
            <p:ph type="sldNum" sz="quarter" idx="12"/>
          </p:nvPr>
        </p:nvSpPr>
        <p:spPr/>
        <p:txBody>
          <a:bodyPr/>
          <a:lstStyle/>
          <a:p>
            <a:fld id="{641C0F02-33DC-3A41-9F51-431B7FE03ABE}" type="slidenum">
              <a:rPr lang="en-US" smtClean="0"/>
              <a:t>70</a:t>
            </a:fld>
            <a:endParaRPr lang="en-US"/>
          </a:p>
        </p:txBody>
      </p:sp>
      <p:sp>
        <p:nvSpPr>
          <p:cNvPr id="4" name="Rectangle 3">
            <a:extLst>
              <a:ext uri="{FF2B5EF4-FFF2-40B4-BE49-F238E27FC236}">
                <a16:creationId xmlns:a16="http://schemas.microsoft.com/office/drawing/2014/main" id="{DB899FF4-5A2E-C75B-F64E-5B8211F6DB22}"/>
              </a:ext>
            </a:extLst>
          </p:cNvPr>
          <p:cNvSpPr/>
          <p:nvPr/>
        </p:nvSpPr>
        <p:spPr>
          <a:xfrm>
            <a:off x="3917156" y="3607594"/>
            <a:ext cx="5714999" cy="7977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a:extLst>
              <a:ext uri="{FF2B5EF4-FFF2-40B4-BE49-F238E27FC236}">
                <a16:creationId xmlns:a16="http://schemas.microsoft.com/office/drawing/2014/main" id="{66912DCE-536F-7F4C-9687-7759630E82B9}"/>
              </a:ext>
            </a:extLst>
          </p:cNvPr>
          <p:cNvSpPr>
            <a:spLocks noGrp="1"/>
          </p:cNvSpPr>
          <p:nvPr>
            <p:ph type="title"/>
          </p:nvPr>
        </p:nvSpPr>
        <p:spPr/>
        <p:txBody>
          <a:bodyPr/>
          <a:lstStyle/>
          <a:p>
            <a:r>
              <a:rPr lang="en-US" altLang="en-US"/>
              <a:t>ER-to-Relational Mapping Algorithm (cont’d.)</a:t>
            </a:r>
          </a:p>
        </p:txBody>
      </p:sp>
      <p:sp>
        <p:nvSpPr>
          <p:cNvPr id="13315" name="Content Placeholder 2">
            <a:extLst>
              <a:ext uri="{FF2B5EF4-FFF2-40B4-BE49-F238E27FC236}">
                <a16:creationId xmlns:a16="http://schemas.microsoft.com/office/drawing/2014/main" id="{59B7210C-62C7-B046-A9F9-0888FD47FEC4}"/>
              </a:ext>
            </a:extLst>
          </p:cNvPr>
          <p:cNvSpPr>
            <a:spLocks noGrp="1"/>
          </p:cNvSpPr>
          <p:nvPr>
            <p:ph idx="1"/>
          </p:nvPr>
        </p:nvSpPr>
        <p:spPr/>
        <p:txBody>
          <a:bodyPr/>
          <a:lstStyle/>
          <a:p>
            <a:r>
              <a:rPr lang="en-US" altLang="en-US"/>
              <a:t>Step 3: Mapping of Binary 1:1 Relationship Types</a:t>
            </a:r>
          </a:p>
          <a:p>
            <a:pPr lvl="1"/>
            <a:r>
              <a:rPr lang="en-US" altLang="en-US"/>
              <a:t>For each binary 1:1 relationship type </a:t>
            </a:r>
          </a:p>
          <a:p>
            <a:pPr lvl="2"/>
            <a:r>
              <a:rPr lang="en-US" altLang="en-US"/>
              <a:t>Identify relations that correspond to entity types participating in </a:t>
            </a:r>
            <a:r>
              <a:rPr lang="en-US" altLang="en-US" i="1"/>
              <a:t>R</a:t>
            </a:r>
          </a:p>
          <a:p>
            <a:pPr lvl="1"/>
            <a:r>
              <a:rPr lang="en-US" altLang="en-US"/>
              <a:t>Possible approaches: </a:t>
            </a:r>
          </a:p>
          <a:p>
            <a:pPr lvl="2"/>
            <a:r>
              <a:rPr lang="en-US" altLang="en-US" b="1"/>
              <a:t>Foreign key approach</a:t>
            </a:r>
          </a:p>
          <a:p>
            <a:pPr lvl="2"/>
            <a:r>
              <a:rPr lang="en-US" altLang="en-US" b="1"/>
              <a:t>Merged relationship approach</a:t>
            </a:r>
          </a:p>
          <a:p>
            <a:pPr lvl="2"/>
            <a:r>
              <a:rPr lang="en-US" altLang="en-US" b="1" err="1"/>
              <a:t>Crossreference</a:t>
            </a:r>
            <a:r>
              <a:rPr lang="en-US" altLang="en-US" b="1"/>
              <a:t> or relationship relation approach</a:t>
            </a:r>
          </a:p>
          <a:p>
            <a:pPr lvl="2"/>
            <a:endParaRPr lang="en-US" altLang="en-US" b="1"/>
          </a:p>
          <a:p>
            <a:pPr lvl="1"/>
            <a:r>
              <a:rPr lang="en-US" altLang="en-US"/>
              <a:t>Alternative approach (Avoid this)</a:t>
            </a:r>
          </a:p>
          <a:p>
            <a:pPr lvl="2"/>
            <a:r>
              <a:rPr lang="en-US" altLang="en-US"/>
              <a:t>Use the </a:t>
            </a:r>
            <a:r>
              <a:rPr lang="en-US" altLang="en-US" b="1"/>
              <a:t>relationship relation </a:t>
            </a:r>
            <a:r>
              <a:rPr lang="en-US" altLang="en-US"/>
              <a:t>(cross-reference) option as in the third option for binary 1:1 relationships</a:t>
            </a:r>
          </a:p>
          <a:p>
            <a:pPr lvl="2"/>
            <a:endParaRPr lang="en-US" altLang="en-US" b="1"/>
          </a:p>
        </p:txBody>
      </p:sp>
      <p:sp>
        <p:nvSpPr>
          <p:cNvPr id="2" name="Slide Number Placeholder 1">
            <a:extLst>
              <a:ext uri="{FF2B5EF4-FFF2-40B4-BE49-F238E27FC236}">
                <a16:creationId xmlns:a16="http://schemas.microsoft.com/office/drawing/2014/main" id="{45F19B06-3034-4025-B9AA-AA5BA140FF6F}"/>
              </a:ext>
            </a:extLst>
          </p:cNvPr>
          <p:cNvSpPr>
            <a:spLocks noGrp="1"/>
          </p:cNvSpPr>
          <p:nvPr>
            <p:ph type="sldNum" sz="quarter" idx="12"/>
          </p:nvPr>
        </p:nvSpPr>
        <p:spPr/>
        <p:txBody>
          <a:bodyPr/>
          <a:lstStyle/>
          <a:p>
            <a:fld id="{641C0F02-33DC-3A41-9F51-431B7FE03ABE}" type="slidenum">
              <a:rPr lang="en-US" smtClean="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4">
            <a:extLst>
              <a:ext uri="{FF2B5EF4-FFF2-40B4-BE49-F238E27FC236}">
                <a16:creationId xmlns:a16="http://schemas.microsoft.com/office/drawing/2014/main" id="{52083041-EAFA-F248-88F8-07EA9DF42499}"/>
              </a:ext>
            </a:extLst>
          </p:cNvPr>
          <p:cNvSpPr>
            <a:spLocks noGrp="1"/>
          </p:cNvSpPr>
          <p:nvPr>
            <p:ph type="title"/>
          </p:nvPr>
        </p:nvSpPr>
        <p:spPr/>
        <p:txBody>
          <a:bodyPr/>
          <a:lstStyle/>
          <a:p>
            <a:r>
              <a:rPr lang="en-US" altLang="en-US"/>
              <a:t>ER-to-Relational Mapping Algorithm (cont’d.)</a:t>
            </a:r>
          </a:p>
        </p:txBody>
      </p:sp>
      <p:sp>
        <p:nvSpPr>
          <p:cNvPr id="14339" name="Content Placeholder 2">
            <a:extLst>
              <a:ext uri="{FF2B5EF4-FFF2-40B4-BE49-F238E27FC236}">
                <a16:creationId xmlns:a16="http://schemas.microsoft.com/office/drawing/2014/main" id="{505BC300-3004-1045-92E0-1ACD9371FB04}"/>
              </a:ext>
            </a:extLst>
          </p:cNvPr>
          <p:cNvSpPr>
            <a:spLocks noGrp="1"/>
          </p:cNvSpPr>
          <p:nvPr>
            <p:ph idx="1"/>
          </p:nvPr>
        </p:nvSpPr>
        <p:spPr/>
        <p:txBody>
          <a:bodyPr/>
          <a:lstStyle/>
          <a:p>
            <a:r>
              <a:rPr lang="en-US" altLang="en-US"/>
              <a:t>Step 4: Mapping of Binary 1:</a:t>
            </a:r>
            <a:r>
              <a:rPr lang="en-US" altLang="en-US" i="1"/>
              <a:t>N</a:t>
            </a:r>
            <a:r>
              <a:rPr lang="en-US" altLang="en-US"/>
              <a:t> Relationship Types</a:t>
            </a:r>
          </a:p>
          <a:p>
            <a:pPr lvl="1"/>
            <a:r>
              <a:rPr lang="en-US" altLang="en-US"/>
              <a:t>For each regular binary 1:</a:t>
            </a:r>
            <a:r>
              <a:rPr lang="en-US" altLang="en-US" i="1"/>
              <a:t>N</a:t>
            </a:r>
            <a:r>
              <a:rPr lang="en-US" altLang="en-US"/>
              <a:t> relationship type </a:t>
            </a:r>
          </a:p>
          <a:p>
            <a:pPr lvl="2"/>
            <a:r>
              <a:rPr lang="en-US" altLang="en-US"/>
              <a:t>Identify relation that represents participating entity type at </a:t>
            </a:r>
            <a:r>
              <a:rPr lang="en-US" altLang="en-US" i="1"/>
              <a:t>N</a:t>
            </a:r>
            <a:r>
              <a:rPr lang="en-US" altLang="en-US"/>
              <a:t>-side of relationship type</a:t>
            </a:r>
          </a:p>
          <a:p>
            <a:pPr lvl="2"/>
            <a:r>
              <a:rPr lang="en-US" altLang="en-US"/>
              <a:t>Include primary key of other entity type as foreign key in </a:t>
            </a:r>
            <a:r>
              <a:rPr lang="en-US" altLang="en-US" i="1"/>
              <a:t>S </a:t>
            </a:r>
          </a:p>
          <a:p>
            <a:pPr lvl="2"/>
            <a:r>
              <a:rPr lang="en-US" altLang="en-US"/>
              <a:t>Include simple attributes of 1:</a:t>
            </a:r>
            <a:r>
              <a:rPr lang="en-US" altLang="en-US" i="1"/>
              <a:t>N</a:t>
            </a:r>
            <a:r>
              <a:rPr lang="en-US" altLang="en-US"/>
              <a:t> relationship type as attributes of </a:t>
            </a:r>
            <a:r>
              <a:rPr lang="en-US" altLang="en-US" i="1"/>
              <a:t>S</a:t>
            </a:r>
          </a:p>
        </p:txBody>
      </p:sp>
      <p:sp>
        <p:nvSpPr>
          <p:cNvPr id="2" name="Slide Number Placeholder 1">
            <a:extLst>
              <a:ext uri="{FF2B5EF4-FFF2-40B4-BE49-F238E27FC236}">
                <a16:creationId xmlns:a16="http://schemas.microsoft.com/office/drawing/2014/main" id="{D2EB4C70-71B6-44BB-BE54-EB6C66D6CFAF}"/>
              </a:ext>
            </a:extLst>
          </p:cNvPr>
          <p:cNvSpPr>
            <a:spLocks noGrp="1"/>
          </p:cNvSpPr>
          <p:nvPr>
            <p:ph type="sldNum" sz="quarter" idx="12"/>
          </p:nvPr>
        </p:nvSpPr>
        <p:spPr/>
        <p:txBody>
          <a:bodyPr/>
          <a:lstStyle/>
          <a:p>
            <a:fld id="{641C0F02-33DC-3A41-9F51-431B7FE03ABE}" type="slidenum">
              <a:rPr lang="en-US" smtClean="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0161AFD2-EEEA-F242-82F9-A38BDAB5F011}"/>
              </a:ext>
            </a:extLst>
          </p:cNvPr>
          <p:cNvSpPr>
            <a:spLocks noGrp="1"/>
          </p:cNvSpPr>
          <p:nvPr>
            <p:ph type="title"/>
          </p:nvPr>
        </p:nvSpPr>
        <p:spPr/>
        <p:txBody>
          <a:bodyPr/>
          <a:lstStyle/>
          <a:p>
            <a:r>
              <a:rPr lang="en-US" altLang="en-US"/>
              <a:t>ER-to-Relational Mapping Algorithm (cont’d.)</a:t>
            </a:r>
          </a:p>
        </p:txBody>
      </p:sp>
      <p:sp>
        <p:nvSpPr>
          <p:cNvPr id="16387" name="Content Placeholder 2">
            <a:extLst>
              <a:ext uri="{FF2B5EF4-FFF2-40B4-BE49-F238E27FC236}">
                <a16:creationId xmlns:a16="http://schemas.microsoft.com/office/drawing/2014/main" id="{F6D7EC54-5B50-C542-A6DF-E9A988833166}"/>
              </a:ext>
            </a:extLst>
          </p:cNvPr>
          <p:cNvSpPr>
            <a:spLocks noGrp="1"/>
          </p:cNvSpPr>
          <p:nvPr>
            <p:ph idx="1"/>
          </p:nvPr>
        </p:nvSpPr>
        <p:spPr/>
        <p:txBody>
          <a:bodyPr/>
          <a:lstStyle/>
          <a:p>
            <a:r>
              <a:rPr lang="en-US" altLang="en-US"/>
              <a:t>Step 5: Mapping of Binary </a:t>
            </a:r>
            <a:r>
              <a:rPr lang="en-US" altLang="en-US" i="1"/>
              <a:t>M</a:t>
            </a:r>
            <a:r>
              <a:rPr lang="en-US" altLang="en-US"/>
              <a:t>:</a:t>
            </a:r>
            <a:r>
              <a:rPr lang="en-US" altLang="en-US" i="1"/>
              <a:t>N</a:t>
            </a:r>
            <a:r>
              <a:rPr lang="en-US" altLang="en-US"/>
              <a:t> Relationship Types</a:t>
            </a:r>
          </a:p>
          <a:p>
            <a:pPr lvl="1"/>
            <a:r>
              <a:rPr lang="en-US" altLang="en-US"/>
              <a:t>For each binary </a:t>
            </a:r>
            <a:r>
              <a:rPr lang="en-US" altLang="en-US" i="1"/>
              <a:t>M</a:t>
            </a:r>
            <a:r>
              <a:rPr lang="en-US" altLang="en-US"/>
              <a:t>:</a:t>
            </a:r>
            <a:r>
              <a:rPr lang="en-US" altLang="en-US" i="1"/>
              <a:t>N</a:t>
            </a:r>
            <a:r>
              <a:rPr lang="en-US" altLang="en-US"/>
              <a:t> relationship type</a:t>
            </a:r>
          </a:p>
          <a:p>
            <a:pPr lvl="2"/>
            <a:r>
              <a:rPr lang="en-US" altLang="en-US"/>
              <a:t>Create a new relation </a:t>
            </a:r>
            <a:r>
              <a:rPr lang="en-US" altLang="en-US" i="1"/>
              <a:t>S </a:t>
            </a:r>
          </a:p>
          <a:p>
            <a:pPr lvl="2"/>
            <a:r>
              <a:rPr lang="en-US" altLang="en-US"/>
              <a:t>Include primary key of participating entity types as foreign key attributes in </a:t>
            </a:r>
            <a:r>
              <a:rPr lang="en-US" altLang="en-US" i="1"/>
              <a:t>S</a:t>
            </a:r>
            <a:r>
              <a:rPr lang="en-US" altLang="en-US"/>
              <a:t> </a:t>
            </a:r>
          </a:p>
          <a:p>
            <a:pPr lvl="2"/>
            <a:r>
              <a:rPr lang="en-US" altLang="en-US"/>
              <a:t>Include any simple attributes of </a:t>
            </a:r>
            <a:r>
              <a:rPr lang="en-US" altLang="en-US" i="1"/>
              <a:t>M</a:t>
            </a:r>
            <a:r>
              <a:rPr lang="en-US" altLang="en-US"/>
              <a:t>:</a:t>
            </a:r>
            <a:r>
              <a:rPr lang="en-US" altLang="en-US" i="1"/>
              <a:t>N</a:t>
            </a:r>
            <a:r>
              <a:rPr lang="en-US" altLang="en-US"/>
              <a:t> relationship type</a:t>
            </a:r>
          </a:p>
        </p:txBody>
      </p:sp>
      <p:sp>
        <p:nvSpPr>
          <p:cNvPr id="2" name="Slide Number Placeholder 1">
            <a:extLst>
              <a:ext uri="{FF2B5EF4-FFF2-40B4-BE49-F238E27FC236}">
                <a16:creationId xmlns:a16="http://schemas.microsoft.com/office/drawing/2014/main" id="{0753F7CF-F854-4565-A750-D055EB8A28DF}"/>
              </a:ext>
            </a:extLst>
          </p:cNvPr>
          <p:cNvSpPr>
            <a:spLocks noGrp="1"/>
          </p:cNvSpPr>
          <p:nvPr>
            <p:ph type="sldNum" sz="quarter" idx="12"/>
          </p:nvPr>
        </p:nvSpPr>
        <p:spPr/>
        <p:txBody>
          <a:bodyPr/>
          <a:lstStyle/>
          <a:p>
            <a:fld id="{641C0F02-33DC-3A41-9F51-431B7FE03ABE}" type="slidenum">
              <a:rPr lang="en-US" smtClean="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a:extLst>
              <a:ext uri="{FF2B5EF4-FFF2-40B4-BE49-F238E27FC236}">
                <a16:creationId xmlns:a16="http://schemas.microsoft.com/office/drawing/2014/main" id="{CB9B1D38-72C2-D440-98B4-0925B66F090B}"/>
              </a:ext>
            </a:extLst>
          </p:cNvPr>
          <p:cNvSpPr>
            <a:spLocks noGrp="1"/>
          </p:cNvSpPr>
          <p:nvPr>
            <p:ph type="title"/>
          </p:nvPr>
        </p:nvSpPr>
        <p:spPr/>
        <p:txBody>
          <a:bodyPr/>
          <a:lstStyle/>
          <a:p>
            <a:r>
              <a:rPr lang="en-US" altLang="en-US"/>
              <a:t>ER-to-Relational Mapping Algorithm (cont’d.)</a:t>
            </a:r>
          </a:p>
        </p:txBody>
      </p:sp>
      <p:sp>
        <p:nvSpPr>
          <p:cNvPr id="17411" name="Content Placeholder 2">
            <a:extLst>
              <a:ext uri="{FF2B5EF4-FFF2-40B4-BE49-F238E27FC236}">
                <a16:creationId xmlns:a16="http://schemas.microsoft.com/office/drawing/2014/main" id="{31FAE8D7-667A-AE42-8DCE-D20BA3C953E9}"/>
              </a:ext>
            </a:extLst>
          </p:cNvPr>
          <p:cNvSpPr>
            <a:spLocks noGrp="1"/>
          </p:cNvSpPr>
          <p:nvPr>
            <p:ph idx="1"/>
          </p:nvPr>
        </p:nvSpPr>
        <p:spPr/>
        <p:txBody>
          <a:bodyPr/>
          <a:lstStyle/>
          <a:p>
            <a:r>
              <a:rPr lang="en-US" altLang="en-US"/>
              <a:t>Step 6: Mapping of Multivalued Attributes</a:t>
            </a:r>
          </a:p>
          <a:p>
            <a:pPr lvl="1"/>
            <a:r>
              <a:rPr lang="en-US" altLang="en-US"/>
              <a:t>For each multivalued attribute</a:t>
            </a:r>
          </a:p>
          <a:p>
            <a:pPr lvl="2"/>
            <a:r>
              <a:rPr lang="en-US" altLang="en-US"/>
              <a:t>Create a new relation</a:t>
            </a:r>
          </a:p>
          <a:p>
            <a:pPr lvl="2"/>
            <a:r>
              <a:rPr lang="en-US" altLang="en-US"/>
              <a:t>Primary key of </a:t>
            </a:r>
            <a:r>
              <a:rPr lang="en-US" altLang="en-US" i="1"/>
              <a:t>R</a:t>
            </a:r>
            <a:r>
              <a:rPr lang="en-US" altLang="en-US"/>
              <a:t> is the combination of </a:t>
            </a:r>
            <a:r>
              <a:rPr lang="en-US" altLang="en-US" i="1"/>
              <a:t>A</a:t>
            </a:r>
            <a:r>
              <a:rPr lang="en-US" altLang="en-US"/>
              <a:t> and </a:t>
            </a:r>
            <a:r>
              <a:rPr lang="en-US" altLang="en-US" i="1"/>
              <a:t>K</a:t>
            </a:r>
          </a:p>
          <a:p>
            <a:pPr lvl="2"/>
            <a:r>
              <a:rPr lang="en-US" altLang="en-US"/>
              <a:t>If the multivalued attribute is composite, include its simple components</a:t>
            </a:r>
          </a:p>
        </p:txBody>
      </p:sp>
      <p:sp>
        <p:nvSpPr>
          <p:cNvPr id="2" name="Slide Number Placeholder 1">
            <a:extLst>
              <a:ext uri="{FF2B5EF4-FFF2-40B4-BE49-F238E27FC236}">
                <a16:creationId xmlns:a16="http://schemas.microsoft.com/office/drawing/2014/main" id="{57B826B4-4742-4DB1-8DEB-783BAF50085B}"/>
              </a:ext>
            </a:extLst>
          </p:cNvPr>
          <p:cNvSpPr>
            <a:spLocks noGrp="1"/>
          </p:cNvSpPr>
          <p:nvPr>
            <p:ph type="sldNum" sz="quarter" idx="12"/>
          </p:nvPr>
        </p:nvSpPr>
        <p:spPr/>
        <p:txBody>
          <a:bodyPr/>
          <a:lstStyle/>
          <a:p>
            <a:fld id="{641C0F02-33DC-3A41-9F51-431B7FE03ABE}" type="slidenum">
              <a:rPr lang="en-US" smtClean="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a:extLst>
              <a:ext uri="{FF2B5EF4-FFF2-40B4-BE49-F238E27FC236}">
                <a16:creationId xmlns:a16="http://schemas.microsoft.com/office/drawing/2014/main" id="{396124F3-7DE6-4C40-A844-77D55A13D7D2}"/>
              </a:ext>
            </a:extLst>
          </p:cNvPr>
          <p:cNvSpPr>
            <a:spLocks noGrp="1"/>
          </p:cNvSpPr>
          <p:nvPr>
            <p:ph type="title"/>
          </p:nvPr>
        </p:nvSpPr>
        <p:spPr/>
        <p:txBody>
          <a:bodyPr/>
          <a:lstStyle/>
          <a:p>
            <a:r>
              <a:rPr lang="en-US" altLang="en-US"/>
              <a:t>ER-to-Relational Mapping Algorithm (cont’d.)</a:t>
            </a:r>
          </a:p>
        </p:txBody>
      </p:sp>
      <p:sp>
        <p:nvSpPr>
          <p:cNvPr id="18435" name="Content Placeholder 2">
            <a:extLst>
              <a:ext uri="{FF2B5EF4-FFF2-40B4-BE49-F238E27FC236}">
                <a16:creationId xmlns:a16="http://schemas.microsoft.com/office/drawing/2014/main" id="{98486619-7C20-814C-8AAB-E78C5A07F88C}"/>
              </a:ext>
            </a:extLst>
          </p:cNvPr>
          <p:cNvSpPr>
            <a:spLocks noGrp="1"/>
          </p:cNvSpPr>
          <p:nvPr>
            <p:ph idx="1"/>
          </p:nvPr>
        </p:nvSpPr>
        <p:spPr/>
        <p:txBody>
          <a:bodyPr/>
          <a:lstStyle/>
          <a:p>
            <a:r>
              <a:rPr lang="en-US" altLang="en-US"/>
              <a:t>Step 7: Mapping of </a:t>
            </a:r>
            <a:r>
              <a:rPr lang="en-US" altLang="en-US" i="1"/>
              <a:t>N</a:t>
            </a:r>
            <a:r>
              <a:rPr lang="en-US" altLang="en-US"/>
              <a:t>-ary Relationship Types</a:t>
            </a:r>
          </a:p>
          <a:p>
            <a:pPr lvl="1"/>
            <a:r>
              <a:rPr lang="en-US" altLang="en-US"/>
              <a:t>For each </a:t>
            </a:r>
            <a:r>
              <a:rPr lang="en-US" altLang="en-US" i="1"/>
              <a:t>n</a:t>
            </a:r>
            <a:r>
              <a:rPr lang="en-US" altLang="en-US"/>
              <a:t>-ary relationship type </a:t>
            </a:r>
            <a:r>
              <a:rPr lang="en-US" altLang="en-US" i="1"/>
              <a:t>R</a:t>
            </a:r>
          </a:p>
          <a:p>
            <a:pPr lvl="2"/>
            <a:r>
              <a:rPr lang="en-US" altLang="en-US"/>
              <a:t>Create a new relation </a:t>
            </a:r>
            <a:r>
              <a:rPr lang="en-US" altLang="en-US" i="1"/>
              <a:t>S</a:t>
            </a:r>
            <a:r>
              <a:rPr lang="en-US" altLang="en-US"/>
              <a:t> to represent </a:t>
            </a:r>
            <a:r>
              <a:rPr lang="en-US" altLang="en-US" i="1"/>
              <a:t>R</a:t>
            </a:r>
          </a:p>
          <a:p>
            <a:pPr lvl="2"/>
            <a:r>
              <a:rPr lang="en-US" altLang="en-US"/>
              <a:t>Include primary keys of participating entity types as foreign keys</a:t>
            </a:r>
          </a:p>
          <a:p>
            <a:pPr lvl="2"/>
            <a:r>
              <a:rPr lang="en-US" altLang="en-US"/>
              <a:t>Include any simple attributes as attributes </a:t>
            </a:r>
          </a:p>
        </p:txBody>
      </p:sp>
      <p:sp>
        <p:nvSpPr>
          <p:cNvPr id="2" name="Slide Number Placeholder 1">
            <a:extLst>
              <a:ext uri="{FF2B5EF4-FFF2-40B4-BE49-F238E27FC236}">
                <a16:creationId xmlns:a16="http://schemas.microsoft.com/office/drawing/2014/main" id="{1A09B2F7-B34E-4ABD-988F-3E5737ECDFB8}"/>
              </a:ext>
            </a:extLst>
          </p:cNvPr>
          <p:cNvSpPr>
            <a:spLocks noGrp="1"/>
          </p:cNvSpPr>
          <p:nvPr>
            <p:ph type="sldNum" sz="quarter" idx="12"/>
          </p:nvPr>
        </p:nvSpPr>
        <p:spPr/>
        <p:txBody>
          <a:bodyPr/>
          <a:lstStyle/>
          <a:p>
            <a:fld id="{641C0F02-33DC-3A41-9F51-431B7FE03ABE}" type="slidenum">
              <a:rPr lang="en-US" smtClean="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50C2247-24DF-1349-9729-F5D2C4632199}"/>
              </a:ext>
            </a:extLst>
          </p:cNvPr>
          <p:cNvSpPr>
            <a:spLocks noGrp="1"/>
          </p:cNvSpPr>
          <p:nvPr>
            <p:ph type="title"/>
          </p:nvPr>
        </p:nvSpPr>
        <p:spPr/>
        <p:txBody>
          <a:bodyPr>
            <a:normAutofit/>
          </a:bodyPr>
          <a:lstStyle/>
          <a:p>
            <a:r>
              <a:rPr lang="en-US" altLang="en-US"/>
              <a:t>Discussion and Summary of Mapping for ER Model Constructs</a:t>
            </a:r>
          </a:p>
        </p:txBody>
      </p:sp>
      <p:sp>
        <p:nvSpPr>
          <p:cNvPr id="2" name="Content Placeholder 1">
            <a:extLst>
              <a:ext uri="{FF2B5EF4-FFF2-40B4-BE49-F238E27FC236}">
                <a16:creationId xmlns:a16="http://schemas.microsoft.com/office/drawing/2014/main" id="{3FA864DE-6E26-A04B-B649-89F509D6E61A}"/>
              </a:ext>
            </a:extLst>
          </p:cNvPr>
          <p:cNvSpPr>
            <a:spLocks noGrp="1"/>
          </p:cNvSpPr>
          <p:nvPr>
            <p:ph idx="1"/>
          </p:nvPr>
        </p:nvSpPr>
        <p:spPr/>
        <p:txBody>
          <a:bodyPr/>
          <a:lstStyle/>
          <a:p>
            <a:endParaRPr lang="en-US"/>
          </a:p>
        </p:txBody>
      </p:sp>
      <p:pic>
        <p:nvPicPr>
          <p:cNvPr id="19459" name="Picture 2">
            <a:extLst>
              <a:ext uri="{FF2B5EF4-FFF2-40B4-BE49-F238E27FC236}">
                <a16:creationId xmlns:a16="http://schemas.microsoft.com/office/drawing/2014/main" id="{03FF58D4-8233-DE4C-A58B-D3DCFF5BE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438401"/>
            <a:ext cx="653415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7B56544-C15C-44DA-AA37-98E6D01649E5}"/>
                  </a:ext>
                </a:extLst>
              </p14:cNvPr>
              <p14:cNvContentPartPr/>
              <p14:nvPr/>
            </p14:nvContentPartPr>
            <p14:xfrm>
              <a:off x="6305400" y="5226120"/>
              <a:ext cx="360" cy="360"/>
            </p14:xfrm>
          </p:contentPart>
        </mc:Choice>
        <mc:Fallback xmlns="">
          <p:pic>
            <p:nvPicPr>
              <p:cNvPr id="3" name="Ink 2">
                <a:extLst>
                  <a:ext uri="{FF2B5EF4-FFF2-40B4-BE49-F238E27FC236}">
                    <a16:creationId xmlns:a16="http://schemas.microsoft.com/office/drawing/2014/main" id="{E7B56544-C15C-44DA-AA37-98E6D01649E5}"/>
                  </a:ext>
                </a:extLst>
              </p:cNvPr>
              <p:cNvPicPr/>
              <p:nvPr/>
            </p:nvPicPr>
            <p:blipFill>
              <a:blip r:embed="rId4"/>
              <a:stretch>
                <a:fillRect/>
              </a:stretch>
            </p:blipFill>
            <p:spPr>
              <a:xfrm>
                <a:off x="6296040" y="5216760"/>
                <a:ext cx="19080" cy="19080"/>
              </a:xfrm>
              <a:prstGeom prst="rect">
                <a:avLst/>
              </a:prstGeom>
            </p:spPr>
          </p:pic>
        </mc:Fallback>
      </mc:AlternateContent>
      <p:sp>
        <p:nvSpPr>
          <p:cNvPr id="4" name="Slide Number Placeholder 3">
            <a:extLst>
              <a:ext uri="{FF2B5EF4-FFF2-40B4-BE49-F238E27FC236}">
                <a16:creationId xmlns:a16="http://schemas.microsoft.com/office/drawing/2014/main" id="{81E2C21D-0C35-48B6-8CEC-A99328AFB211}"/>
              </a:ext>
            </a:extLst>
          </p:cNvPr>
          <p:cNvSpPr>
            <a:spLocks noGrp="1"/>
          </p:cNvSpPr>
          <p:nvPr>
            <p:ph type="sldNum" sz="quarter" idx="12"/>
          </p:nvPr>
        </p:nvSpPr>
        <p:spPr/>
        <p:txBody>
          <a:bodyPr/>
          <a:lstStyle/>
          <a:p>
            <a:fld id="{641C0F02-33DC-3A41-9F51-431B7FE03ABE}" type="slidenum">
              <a:rPr lang="en-US" smtClean="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F6285E0E-711B-0846-B836-ABA0A2BB7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685801"/>
            <a:ext cx="802957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111640C-2F68-4341-88B6-831F86B5AFB2}"/>
                  </a:ext>
                </a:extLst>
              </p14:cNvPr>
              <p14:cNvContentPartPr/>
              <p14:nvPr/>
            </p14:nvContentPartPr>
            <p14:xfrm>
              <a:off x="8515440" y="2994480"/>
              <a:ext cx="360" cy="360"/>
            </p14:xfrm>
          </p:contentPart>
        </mc:Choice>
        <mc:Fallback xmlns="">
          <p:pic>
            <p:nvPicPr>
              <p:cNvPr id="2" name="Ink 1">
                <a:extLst>
                  <a:ext uri="{FF2B5EF4-FFF2-40B4-BE49-F238E27FC236}">
                    <a16:creationId xmlns:a16="http://schemas.microsoft.com/office/drawing/2014/main" id="{2111640C-2F68-4341-88B6-831F86B5AFB2}"/>
                  </a:ext>
                </a:extLst>
              </p:cNvPr>
              <p:cNvPicPr/>
              <p:nvPr/>
            </p:nvPicPr>
            <p:blipFill>
              <a:blip r:embed="rId4"/>
              <a:stretch>
                <a:fillRect/>
              </a:stretch>
            </p:blipFill>
            <p:spPr>
              <a:xfrm>
                <a:off x="8506080" y="2985120"/>
                <a:ext cx="19080" cy="19080"/>
              </a:xfrm>
              <a:prstGeom prst="rect">
                <a:avLst/>
              </a:prstGeom>
            </p:spPr>
          </p:pic>
        </mc:Fallback>
      </mc:AlternateContent>
      <p:sp>
        <p:nvSpPr>
          <p:cNvPr id="3" name="Slide Number Placeholder 2">
            <a:extLst>
              <a:ext uri="{FF2B5EF4-FFF2-40B4-BE49-F238E27FC236}">
                <a16:creationId xmlns:a16="http://schemas.microsoft.com/office/drawing/2014/main" id="{D880F49F-4F68-4D9A-945B-BE6E209229B8}"/>
              </a:ext>
            </a:extLst>
          </p:cNvPr>
          <p:cNvSpPr>
            <a:spLocks noGrp="1"/>
          </p:cNvSpPr>
          <p:nvPr>
            <p:ph type="sldNum" sz="quarter" idx="12"/>
          </p:nvPr>
        </p:nvSpPr>
        <p:spPr/>
        <p:txBody>
          <a:bodyPr/>
          <a:lstStyle/>
          <a:p>
            <a:fld id="{641C0F02-33DC-3A41-9F51-431B7FE03ABE}" type="slidenum">
              <a:rPr lang="en-US" smtClean="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18EE1-A1DA-BA1B-AB5A-0C55A2E85E87}"/>
              </a:ext>
            </a:extLst>
          </p:cNvPr>
          <p:cNvSpPr>
            <a:spLocks noGrp="1"/>
          </p:cNvSpPr>
          <p:nvPr>
            <p:ph type="title"/>
          </p:nvPr>
        </p:nvSpPr>
        <p:spPr/>
        <p:txBody>
          <a:bodyPr/>
          <a:lstStyle/>
          <a:p>
            <a:r>
              <a:rPr lang="en-US"/>
              <a:t>Mapping Summary</a:t>
            </a:r>
          </a:p>
        </p:txBody>
      </p:sp>
      <p:sp>
        <p:nvSpPr>
          <p:cNvPr id="3" name="Content Placeholder 2">
            <a:extLst>
              <a:ext uri="{FF2B5EF4-FFF2-40B4-BE49-F238E27FC236}">
                <a16:creationId xmlns:a16="http://schemas.microsoft.com/office/drawing/2014/main" id="{27899782-6D33-BEDE-D1C3-E340322DA1CB}"/>
              </a:ext>
            </a:extLst>
          </p:cNvPr>
          <p:cNvSpPr>
            <a:spLocks noGrp="1"/>
          </p:cNvSpPr>
          <p:nvPr>
            <p:ph idx="1"/>
          </p:nvPr>
        </p:nvSpPr>
        <p:spPr/>
        <p:txBody>
          <a:bodyPr vert="horz" lIns="91440" tIns="45720" rIns="91440" bIns="45720" rtlCol="0" anchor="t">
            <a:normAutofit fontScale="92500"/>
          </a:bodyPr>
          <a:lstStyle/>
          <a:p>
            <a:r>
              <a:rPr lang="en-US" dirty="0"/>
              <a:t>Entity set -&gt; table</a:t>
            </a:r>
          </a:p>
          <a:p>
            <a:r>
              <a:rPr lang="en-US" dirty="0"/>
              <a:t>Single attribute </a:t>
            </a:r>
            <a:r>
              <a:rPr lang="en-US" dirty="0">
                <a:sym typeface="Wingdings" pitchFamily="2" charset="2"/>
              </a:rPr>
              <a:t> table attribute (column)</a:t>
            </a:r>
            <a:endParaRPr lang="en-US" dirty="0"/>
          </a:p>
          <a:p>
            <a:r>
              <a:rPr lang="en-US" dirty="0"/>
              <a:t>Multivalued Attribute-&gt; table (with the primary key of the entity set and the attribute)</a:t>
            </a:r>
            <a:endParaRPr lang="en-US" dirty="0">
              <a:ea typeface="Calibri"/>
              <a:cs typeface="Calibri"/>
            </a:endParaRPr>
          </a:p>
          <a:p>
            <a:r>
              <a:rPr lang="en-US" dirty="0"/>
              <a:t>Derived Attributes </a:t>
            </a:r>
            <a:r>
              <a:rPr lang="en-US" dirty="0">
                <a:sym typeface="Wingdings" pitchFamily="2" charset="2"/>
              </a:rPr>
              <a:t> nothing</a:t>
            </a:r>
            <a:endParaRPr lang="en-US" dirty="0">
              <a:ea typeface="Calibri"/>
              <a:cs typeface="Calibri"/>
            </a:endParaRPr>
          </a:p>
          <a:p>
            <a:r>
              <a:rPr lang="en-US" dirty="0">
                <a:sym typeface="Wingdings" pitchFamily="2" charset="2"/>
              </a:rPr>
              <a:t>Many to many binary (or unary) relationship  table</a:t>
            </a:r>
            <a:endParaRPr lang="en-US" dirty="0">
              <a:ea typeface="Calibri"/>
              <a:cs typeface="Calibri"/>
            </a:endParaRPr>
          </a:p>
          <a:p>
            <a:r>
              <a:rPr lang="en-US" dirty="0">
                <a:sym typeface="Wingdings" pitchFamily="2" charset="2"/>
              </a:rPr>
              <a:t>1-1 or 1-many binary (or unary) relationship -&gt; attribute to the one side</a:t>
            </a:r>
            <a:endParaRPr lang="en-US" dirty="0">
              <a:ea typeface="Calibri"/>
              <a:cs typeface="Calibri"/>
            </a:endParaRPr>
          </a:p>
          <a:p>
            <a:r>
              <a:rPr lang="en-US" dirty="0">
                <a:sym typeface="Wingdings" pitchFamily="2" charset="2"/>
              </a:rPr>
              <a:t>3-way or more relationship  table</a:t>
            </a:r>
            <a:endParaRPr lang="en-US" dirty="0">
              <a:ea typeface="Calibri"/>
              <a:cs typeface="Calibri"/>
            </a:endParaRPr>
          </a:p>
          <a:p>
            <a:r>
              <a:rPr lang="en-US" dirty="0">
                <a:sym typeface="Wingdings" pitchFamily="2" charset="2"/>
              </a:rPr>
              <a:t>Total participation  NOT NULL (If possible)</a:t>
            </a:r>
            <a:endParaRPr lang="en-US" dirty="0"/>
          </a:p>
        </p:txBody>
      </p:sp>
      <p:sp>
        <p:nvSpPr>
          <p:cNvPr id="4" name="Slide Number Placeholder 3">
            <a:extLst>
              <a:ext uri="{FF2B5EF4-FFF2-40B4-BE49-F238E27FC236}">
                <a16:creationId xmlns:a16="http://schemas.microsoft.com/office/drawing/2014/main" id="{143EC0CF-E4A8-4C07-947B-B9FB5DB69D38}"/>
              </a:ext>
            </a:extLst>
          </p:cNvPr>
          <p:cNvSpPr>
            <a:spLocks noGrp="1"/>
          </p:cNvSpPr>
          <p:nvPr>
            <p:ph type="sldNum" sz="quarter" idx="12"/>
          </p:nvPr>
        </p:nvSpPr>
        <p:spPr/>
        <p:txBody>
          <a:bodyPr/>
          <a:lstStyle/>
          <a:p>
            <a:fld id="{641C0F02-33DC-3A41-9F51-431B7FE03ABE}" type="slidenum">
              <a:rPr lang="en-US" smtClean="0"/>
              <a:t>78</a:t>
            </a:fld>
            <a:endParaRPr lang="en-US"/>
          </a:p>
        </p:txBody>
      </p:sp>
    </p:spTree>
    <p:extLst>
      <p:ext uri="{BB962C8B-B14F-4D97-AF65-F5344CB8AC3E}">
        <p14:creationId xmlns:p14="http://schemas.microsoft.com/office/powerpoint/2010/main" val="2517418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004A-7BB1-8A3E-70F4-197FE68B10F8}"/>
              </a:ext>
            </a:extLst>
          </p:cNvPr>
          <p:cNvSpPr>
            <a:spLocks noGrp="1"/>
          </p:cNvSpPr>
          <p:nvPr>
            <p:ph type="title"/>
          </p:nvPr>
        </p:nvSpPr>
        <p:spPr/>
        <p:txBody>
          <a:bodyPr/>
          <a:lstStyle/>
          <a:p>
            <a:r>
              <a:rPr lang="en-US"/>
              <a:t>Example in Class</a:t>
            </a:r>
          </a:p>
        </p:txBody>
      </p:sp>
      <p:sp>
        <p:nvSpPr>
          <p:cNvPr id="4" name="Rectangle 3">
            <a:extLst>
              <a:ext uri="{FF2B5EF4-FFF2-40B4-BE49-F238E27FC236}">
                <a16:creationId xmlns:a16="http://schemas.microsoft.com/office/drawing/2014/main" id="{58B40897-9D84-5961-7EF2-DFFE42C20096}"/>
              </a:ext>
            </a:extLst>
          </p:cNvPr>
          <p:cNvSpPr/>
          <p:nvPr/>
        </p:nvSpPr>
        <p:spPr>
          <a:xfrm>
            <a:off x="3112477" y="3147646"/>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Dept</a:t>
            </a:r>
          </a:p>
        </p:txBody>
      </p:sp>
      <p:sp>
        <p:nvSpPr>
          <p:cNvPr id="5" name="Rectangle 4">
            <a:extLst>
              <a:ext uri="{FF2B5EF4-FFF2-40B4-BE49-F238E27FC236}">
                <a16:creationId xmlns:a16="http://schemas.microsoft.com/office/drawing/2014/main" id="{1EEE29D3-1327-2E3E-EA6F-E337BC2562C2}"/>
              </a:ext>
            </a:extLst>
          </p:cNvPr>
          <p:cNvSpPr/>
          <p:nvPr/>
        </p:nvSpPr>
        <p:spPr>
          <a:xfrm>
            <a:off x="8165125" y="3147646"/>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Empl</a:t>
            </a:r>
            <a:endParaRPr lang="en-US"/>
          </a:p>
        </p:txBody>
      </p:sp>
      <p:sp>
        <p:nvSpPr>
          <p:cNvPr id="6" name="Rectangle 5">
            <a:extLst>
              <a:ext uri="{FF2B5EF4-FFF2-40B4-BE49-F238E27FC236}">
                <a16:creationId xmlns:a16="http://schemas.microsoft.com/office/drawing/2014/main" id="{3E879A95-1B57-79B4-8A77-E6F1E021383D}"/>
              </a:ext>
            </a:extLst>
          </p:cNvPr>
          <p:cNvSpPr/>
          <p:nvPr/>
        </p:nvSpPr>
        <p:spPr>
          <a:xfrm rot="18916076">
            <a:off x="5972993" y="2848708"/>
            <a:ext cx="1233589" cy="1132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manages</a:t>
            </a:r>
          </a:p>
        </p:txBody>
      </p:sp>
      <p:cxnSp>
        <p:nvCxnSpPr>
          <p:cNvPr id="8" name="Straight Connector 7">
            <a:extLst>
              <a:ext uri="{FF2B5EF4-FFF2-40B4-BE49-F238E27FC236}">
                <a16:creationId xmlns:a16="http://schemas.microsoft.com/office/drawing/2014/main" id="{14B720D2-8EC5-BA1F-F8F3-82675E8C61A0}"/>
              </a:ext>
            </a:extLst>
          </p:cNvPr>
          <p:cNvCxnSpPr>
            <a:endCxn id="5" idx="1"/>
          </p:cNvCxnSpPr>
          <p:nvPr/>
        </p:nvCxnSpPr>
        <p:spPr>
          <a:xfrm>
            <a:off x="7199772" y="3604846"/>
            <a:ext cx="9653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CD972DF-319D-4635-D8C5-C20123FBF85B}"/>
              </a:ext>
            </a:extLst>
          </p:cNvPr>
          <p:cNvCxnSpPr>
            <a:stCxn id="4" idx="3"/>
          </p:cNvCxnSpPr>
          <p:nvPr/>
        </p:nvCxnSpPr>
        <p:spPr>
          <a:xfrm>
            <a:off x="4026877" y="3604846"/>
            <a:ext cx="1879751"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FAB7393-8DFF-457B-94A1-8B3AF82C4A1B}"/>
              </a:ext>
            </a:extLst>
          </p:cNvPr>
          <p:cNvSpPr>
            <a:spLocks noGrp="1"/>
          </p:cNvSpPr>
          <p:nvPr>
            <p:ph type="sldNum" sz="quarter" idx="12"/>
          </p:nvPr>
        </p:nvSpPr>
        <p:spPr/>
        <p:txBody>
          <a:bodyPr/>
          <a:lstStyle/>
          <a:p>
            <a:fld id="{641C0F02-33DC-3A41-9F51-431B7FE03ABE}" type="slidenum">
              <a:rPr lang="en-US" smtClean="0"/>
              <a:t>79</a:t>
            </a:fld>
            <a:endParaRPr lang="en-US"/>
          </a:p>
        </p:txBody>
      </p:sp>
    </p:spTree>
    <p:extLst>
      <p:ext uri="{BB962C8B-B14F-4D97-AF65-F5344CB8AC3E}">
        <p14:creationId xmlns:p14="http://schemas.microsoft.com/office/powerpoint/2010/main" val="20651206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63250-13A6-04C1-695E-CED4C8FD0AE9}"/>
              </a:ext>
            </a:extLst>
          </p:cNvPr>
          <p:cNvSpPr>
            <a:spLocks noGrp="1"/>
          </p:cNvSpPr>
          <p:nvPr>
            <p:ph type="title"/>
          </p:nvPr>
        </p:nvSpPr>
        <p:spPr/>
        <p:txBody>
          <a:bodyPr/>
          <a:lstStyle/>
          <a:p>
            <a:r>
              <a:rPr lang="en-US"/>
              <a:t>Example in Class</a:t>
            </a:r>
          </a:p>
        </p:txBody>
      </p:sp>
      <p:sp>
        <p:nvSpPr>
          <p:cNvPr id="3" name="Content Placeholder 2">
            <a:extLst>
              <a:ext uri="{FF2B5EF4-FFF2-40B4-BE49-F238E27FC236}">
                <a16:creationId xmlns:a16="http://schemas.microsoft.com/office/drawing/2014/main" id="{24D4BF06-30BF-EBED-D302-F219BA97697D}"/>
              </a:ext>
            </a:extLst>
          </p:cNvPr>
          <p:cNvSpPr>
            <a:spLocks noGrp="1"/>
          </p:cNvSpPr>
          <p:nvPr>
            <p:ph idx="1"/>
          </p:nvPr>
        </p:nvSpPr>
        <p:spPr/>
        <p:txBody>
          <a:bodyPr>
            <a:normAutofit/>
          </a:bodyPr>
          <a:lstStyle/>
          <a:p>
            <a:pPr marL="0" indent="0">
              <a:buNone/>
            </a:pPr>
            <a:r>
              <a:rPr lang="en-US"/>
              <a:t>CREATE TABLE Dept(</a:t>
            </a:r>
          </a:p>
          <a:p>
            <a:pPr marL="457200" lvl="1" indent="0">
              <a:buNone/>
            </a:pPr>
            <a:r>
              <a:rPr lang="en-US"/>
              <a:t>name  char(10) ,</a:t>
            </a:r>
          </a:p>
          <a:p>
            <a:pPr marL="457200" lvl="1" indent="0">
              <a:buNone/>
            </a:pPr>
            <a:r>
              <a:rPr lang="en-US"/>
              <a:t>budget decimal(10,2),</a:t>
            </a:r>
          </a:p>
          <a:p>
            <a:pPr marL="457200" lvl="1" indent="0">
              <a:buNone/>
            </a:pPr>
            <a:r>
              <a:rPr lang="en-US" err="1"/>
              <a:t>managerSSN</a:t>
            </a:r>
            <a:r>
              <a:rPr lang="en-US"/>
              <a:t> char(10) NOT NULL /*Total </a:t>
            </a:r>
            <a:r>
              <a:rPr lang="en-US" err="1"/>
              <a:t>Particpation</a:t>
            </a:r>
            <a:r>
              <a:rPr lang="en-US"/>
              <a:t>*/,</a:t>
            </a:r>
          </a:p>
          <a:p>
            <a:pPr marL="457200" lvl="1" indent="0">
              <a:buNone/>
            </a:pPr>
            <a:r>
              <a:rPr lang="en-US"/>
              <a:t>foreign key </a:t>
            </a:r>
            <a:r>
              <a:rPr lang="en-US" err="1"/>
              <a:t>managerSSN</a:t>
            </a:r>
            <a:r>
              <a:rPr lang="en-US"/>
              <a:t> references Person(</a:t>
            </a:r>
            <a:r>
              <a:rPr lang="en-US" err="1"/>
              <a:t>ssn</a:t>
            </a:r>
            <a:r>
              <a:rPr lang="en-US"/>
              <a:t>),</a:t>
            </a:r>
          </a:p>
          <a:p>
            <a:pPr marL="457200" lvl="1" indent="0">
              <a:buNone/>
            </a:pPr>
            <a:r>
              <a:rPr lang="en-US" err="1"/>
              <a:t>managerstartdate</a:t>
            </a:r>
            <a:r>
              <a:rPr lang="en-US"/>
              <a:t> date</a:t>
            </a:r>
          </a:p>
          <a:p>
            <a:pPr marL="457200" lvl="1" indent="0">
              <a:buNone/>
            </a:pPr>
            <a:r>
              <a:rPr lang="en-US"/>
              <a:t>Primary Key(name)</a:t>
            </a:r>
          </a:p>
          <a:p>
            <a:pPr marL="0" indent="0">
              <a:buNone/>
            </a:pPr>
            <a:r>
              <a:rPr lang="en-US"/>
              <a:t>);</a:t>
            </a:r>
          </a:p>
          <a:p>
            <a:endParaRPr lang="en-US"/>
          </a:p>
          <a:p>
            <a:endParaRPr lang="en-US"/>
          </a:p>
          <a:p>
            <a:endParaRPr lang="en-US"/>
          </a:p>
        </p:txBody>
      </p:sp>
      <p:sp>
        <p:nvSpPr>
          <p:cNvPr id="4" name="Slide Number Placeholder 3">
            <a:extLst>
              <a:ext uri="{FF2B5EF4-FFF2-40B4-BE49-F238E27FC236}">
                <a16:creationId xmlns:a16="http://schemas.microsoft.com/office/drawing/2014/main" id="{330450D7-6436-4D83-A669-C95677888A39}"/>
              </a:ext>
            </a:extLst>
          </p:cNvPr>
          <p:cNvSpPr>
            <a:spLocks noGrp="1"/>
          </p:cNvSpPr>
          <p:nvPr>
            <p:ph type="sldNum" sz="quarter" idx="12"/>
          </p:nvPr>
        </p:nvSpPr>
        <p:spPr/>
        <p:txBody>
          <a:bodyPr/>
          <a:lstStyle/>
          <a:p>
            <a:fld id="{641C0F02-33DC-3A41-9F51-431B7FE03ABE}" type="slidenum">
              <a:rPr lang="en-US" smtClean="0"/>
              <a:t>80</a:t>
            </a:fld>
            <a:endParaRPr lang="en-US"/>
          </a:p>
        </p:txBody>
      </p:sp>
    </p:spTree>
    <p:extLst>
      <p:ext uri="{BB962C8B-B14F-4D97-AF65-F5344CB8AC3E}">
        <p14:creationId xmlns:p14="http://schemas.microsoft.com/office/powerpoint/2010/main" val="38088957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CCC9-EB0B-C514-47EE-B67AFB29BB75}"/>
              </a:ext>
            </a:extLst>
          </p:cNvPr>
          <p:cNvSpPr>
            <a:spLocks noGrp="1"/>
          </p:cNvSpPr>
          <p:nvPr>
            <p:ph type="title"/>
          </p:nvPr>
        </p:nvSpPr>
        <p:spPr/>
        <p:txBody>
          <a:bodyPr/>
          <a:lstStyle/>
          <a:p>
            <a:r>
              <a:rPr lang="en-US" sz="2800">
                <a:latin typeface="Calibri"/>
                <a:ea typeface="Calibri"/>
                <a:cs typeface="Calibri"/>
              </a:rPr>
              <a:t>Not Recommended</a:t>
            </a:r>
          </a:p>
        </p:txBody>
      </p:sp>
      <p:sp>
        <p:nvSpPr>
          <p:cNvPr id="3" name="Content Placeholder 2">
            <a:extLst>
              <a:ext uri="{FF2B5EF4-FFF2-40B4-BE49-F238E27FC236}">
                <a16:creationId xmlns:a16="http://schemas.microsoft.com/office/drawing/2014/main" id="{6B51247B-C0BA-586B-3832-1A4E3B4F561A}"/>
              </a:ext>
            </a:extLst>
          </p:cNvPr>
          <p:cNvSpPr>
            <a:spLocks noGrp="1"/>
          </p:cNvSpPr>
          <p:nvPr>
            <p:ph idx="1"/>
          </p:nvPr>
        </p:nvSpPr>
        <p:spPr/>
        <p:txBody>
          <a:bodyPr>
            <a:normAutofit lnSpcReduction="10000"/>
          </a:bodyPr>
          <a:lstStyle/>
          <a:p>
            <a:r>
              <a:rPr lang="en-US"/>
              <a:t>/* no longer needed*/ Not Recommended</a:t>
            </a:r>
          </a:p>
          <a:p>
            <a:pPr marL="0" indent="0">
              <a:buNone/>
            </a:pPr>
            <a:r>
              <a:rPr lang="en-US"/>
              <a:t>CREATE TABLE Manages(</a:t>
            </a:r>
          </a:p>
          <a:p>
            <a:pPr marL="0" indent="0">
              <a:buNone/>
            </a:pPr>
            <a:r>
              <a:rPr lang="en-US" err="1"/>
              <a:t>managerSSN</a:t>
            </a:r>
            <a:r>
              <a:rPr lang="en-US"/>
              <a:t> char(10),</a:t>
            </a:r>
          </a:p>
          <a:p>
            <a:pPr marL="0" indent="0">
              <a:buNone/>
            </a:pPr>
            <a:r>
              <a:rPr lang="en-US" err="1"/>
              <a:t>deptname</a:t>
            </a:r>
            <a:r>
              <a:rPr lang="en-US"/>
              <a:t> char(10),</a:t>
            </a:r>
          </a:p>
          <a:p>
            <a:pPr marL="0" indent="0">
              <a:buNone/>
            </a:pPr>
            <a:r>
              <a:rPr lang="en-US" err="1"/>
              <a:t>startdate</a:t>
            </a:r>
            <a:r>
              <a:rPr lang="en-US"/>
              <a:t> DATE,</a:t>
            </a:r>
          </a:p>
          <a:p>
            <a:pPr marL="0" indent="0">
              <a:buNone/>
            </a:pPr>
            <a:r>
              <a:rPr lang="en-US"/>
              <a:t>Primary key (</a:t>
            </a:r>
            <a:r>
              <a:rPr lang="en-US" err="1"/>
              <a:t>managerSSN,deptname</a:t>
            </a:r>
            <a:r>
              <a:rPr lang="en-US"/>
              <a:t>),</a:t>
            </a:r>
          </a:p>
          <a:p>
            <a:pPr marL="0" indent="0">
              <a:buNone/>
            </a:pPr>
            <a:r>
              <a:rPr lang="en-US"/>
              <a:t>Foreign Key </a:t>
            </a:r>
            <a:r>
              <a:rPr lang="en-US" err="1"/>
              <a:t>deptname</a:t>
            </a:r>
            <a:r>
              <a:rPr lang="en-US"/>
              <a:t> references dept(name),</a:t>
            </a:r>
          </a:p>
          <a:p>
            <a:pPr marL="0" indent="0">
              <a:buNone/>
            </a:pPr>
            <a:r>
              <a:rPr lang="en-US"/>
              <a:t>Foreign Key </a:t>
            </a:r>
            <a:r>
              <a:rPr lang="en-US" err="1"/>
              <a:t>managerSSN</a:t>
            </a:r>
            <a:r>
              <a:rPr lang="en-US"/>
              <a:t> references person(</a:t>
            </a:r>
            <a:r>
              <a:rPr lang="en-US" err="1"/>
              <a:t>ssn</a:t>
            </a:r>
            <a:r>
              <a:rPr lang="en-US"/>
              <a:t>)</a:t>
            </a:r>
          </a:p>
          <a:p>
            <a:pPr marL="0" indent="0">
              <a:buNone/>
            </a:pPr>
            <a:r>
              <a:rPr lang="en-US"/>
              <a:t>)</a:t>
            </a:r>
          </a:p>
          <a:p>
            <a:endParaRPr lang="en-US"/>
          </a:p>
          <a:p>
            <a:endParaRPr lang="en-US"/>
          </a:p>
        </p:txBody>
      </p:sp>
      <p:sp>
        <p:nvSpPr>
          <p:cNvPr id="4" name="Slide Number Placeholder 3">
            <a:extLst>
              <a:ext uri="{FF2B5EF4-FFF2-40B4-BE49-F238E27FC236}">
                <a16:creationId xmlns:a16="http://schemas.microsoft.com/office/drawing/2014/main" id="{0D3DBCEE-2093-4806-9F51-08E993CFB375}"/>
              </a:ext>
            </a:extLst>
          </p:cNvPr>
          <p:cNvSpPr>
            <a:spLocks noGrp="1"/>
          </p:cNvSpPr>
          <p:nvPr>
            <p:ph type="sldNum" sz="quarter" idx="12"/>
          </p:nvPr>
        </p:nvSpPr>
        <p:spPr/>
        <p:txBody>
          <a:bodyPr/>
          <a:lstStyle/>
          <a:p>
            <a:fld id="{641C0F02-33DC-3A41-9F51-431B7FE03ABE}" type="slidenum">
              <a:rPr lang="en-US" smtClean="0"/>
              <a:t>81</a:t>
            </a:fld>
            <a:endParaRPr lang="en-US"/>
          </a:p>
        </p:txBody>
      </p:sp>
    </p:spTree>
    <p:extLst>
      <p:ext uri="{BB962C8B-B14F-4D97-AF65-F5344CB8AC3E}">
        <p14:creationId xmlns:p14="http://schemas.microsoft.com/office/powerpoint/2010/main" val="32255767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3381-0B14-C6CF-507D-776247E8BD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2527BD-768B-F2FC-5699-FE1E341DD971}"/>
              </a:ext>
            </a:extLst>
          </p:cNvPr>
          <p:cNvSpPr>
            <a:spLocks noGrp="1"/>
          </p:cNvSpPr>
          <p:nvPr>
            <p:ph idx="1"/>
          </p:nvPr>
        </p:nvSpPr>
        <p:spPr/>
        <p:txBody>
          <a:bodyPr>
            <a:normAutofit/>
          </a:bodyPr>
          <a:lstStyle/>
          <a:p>
            <a:pPr marL="0" indent="0">
              <a:buNone/>
            </a:pPr>
            <a:r>
              <a:rPr lang="en-US"/>
              <a:t>CREATE TABLE Person(</a:t>
            </a:r>
          </a:p>
          <a:p>
            <a:pPr marL="0" indent="0">
              <a:buNone/>
            </a:pPr>
            <a:r>
              <a:rPr lang="en-US"/>
              <a:t>name  varchar(100) not null,</a:t>
            </a:r>
          </a:p>
          <a:p>
            <a:pPr marL="0" indent="0">
              <a:buNone/>
            </a:pPr>
            <a:r>
              <a:rPr lang="en-US"/>
              <a:t>salary decimal(10,2),</a:t>
            </a:r>
          </a:p>
          <a:p>
            <a:pPr marL="0" indent="0">
              <a:buNone/>
            </a:pPr>
            <a:r>
              <a:rPr lang="en-US"/>
              <a:t>SSN char(10),</a:t>
            </a:r>
          </a:p>
          <a:p>
            <a:pPr marL="0" indent="0">
              <a:buNone/>
            </a:pPr>
            <a:r>
              <a:rPr lang="en-US"/>
              <a:t>unique(name),</a:t>
            </a:r>
          </a:p>
          <a:p>
            <a:pPr marL="0" indent="0">
              <a:buNone/>
            </a:pPr>
            <a:r>
              <a:rPr lang="en-US"/>
              <a:t>Primary Key(</a:t>
            </a:r>
            <a:r>
              <a:rPr lang="en-US" err="1"/>
              <a:t>ssn</a:t>
            </a:r>
            <a:r>
              <a:rPr lang="en-US"/>
              <a:t>)</a:t>
            </a:r>
          </a:p>
          <a:p>
            <a:pPr marL="0" indent="0">
              <a:buNone/>
            </a:pPr>
            <a:r>
              <a:rPr lang="en-US"/>
              <a:t>);</a:t>
            </a:r>
          </a:p>
          <a:p>
            <a:endParaRPr lang="en-US"/>
          </a:p>
          <a:p>
            <a:endParaRPr lang="en-US"/>
          </a:p>
          <a:p>
            <a:pPr marL="0" indent="0">
              <a:buNone/>
            </a:pPr>
            <a:endParaRPr lang="en-US"/>
          </a:p>
          <a:p>
            <a:endParaRPr lang="en-US"/>
          </a:p>
        </p:txBody>
      </p:sp>
      <p:sp>
        <p:nvSpPr>
          <p:cNvPr id="4" name="Slide Number Placeholder 3">
            <a:extLst>
              <a:ext uri="{FF2B5EF4-FFF2-40B4-BE49-F238E27FC236}">
                <a16:creationId xmlns:a16="http://schemas.microsoft.com/office/drawing/2014/main" id="{E58ED961-74B1-455B-8854-822031A51D15}"/>
              </a:ext>
            </a:extLst>
          </p:cNvPr>
          <p:cNvSpPr>
            <a:spLocks noGrp="1"/>
          </p:cNvSpPr>
          <p:nvPr>
            <p:ph type="sldNum" sz="quarter" idx="12"/>
          </p:nvPr>
        </p:nvSpPr>
        <p:spPr/>
        <p:txBody>
          <a:bodyPr/>
          <a:lstStyle/>
          <a:p>
            <a:fld id="{641C0F02-33DC-3A41-9F51-431B7FE03ABE}" type="slidenum">
              <a:rPr lang="en-US" smtClean="0"/>
              <a:t>82</a:t>
            </a:fld>
            <a:endParaRPr lang="en-US"/>
          </a:p>
        </p:txBody>
      </p:sp>
    </p:spTree>
    <p:extLst>
      <p:ext uri="{BB962C8B-B14F-4D97-AF65-F5344CB8AC3E}">
        <p14:creationId xmlns:p14="http://schemas.microsoft.com/office/powerpoint/2010/main" val="34588874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Advanced E/R Concepts (EERD)</a:t>
            </a:r>
          </a:p>
        </p:txBody>
      </p:sp>
      <p:sp>
        <p:nvSpPr>
          <p:cNvPr id="4" name="Slide Number Placeholder 3"/>
          <p:cNvSpPr>
            <a:spLocks noGrp="1"/>
          </p:cNvSpPr>
          <p:nvPr>
            <p:ph type="sldNum" sz="quarter" idx="12"/>
          </p:nvPr>
        </p:nvSpPr>
        <p:spPr/>
        <p:txBody>
          <a:bodyPr/>
          <a:lstStyle/>
          <a:p>
            <a:fld id="{40A01959-B587-3B45-A9B3-C17F42F09305}" type="slidenum">
              <a:rPr lang="en-US" smtClean="0"/>
              <a:t>83</a:t>
            </a:fld>
            <a:endParaRPr lang="en-US"/>
          </a:p>
        </p:txBody>
      </p:sp>
    </p:spTree>
    <p:extLst>
      <p:ext uri="{BB962C8B-B14F-4D97-AF65-F5344CB8AC3E}">
        <p14:creationId xmlns:p14="http://schemas.microsoft.com/office/powerpoint/2010/main" val="5257649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t>Modeling Subclasses</a:t>
            </a:r>
          </a:p>
        </p:txBody>
      </p:sp>
      <p:sp>
        <p:nvSpPr>
          <p:cNvPr id="49154" name="Slide Number Placeholder 4"/>
          <p:cNvSpPr>
            <a:spLocks noGrp="1"/>
          </p:cNvSpPr>
          <p:nvPr>
            <p:ph type="sldNum" sz="quarter" idx="12"/>
          </p:nvPr>
        </p:nvSpPr>
        <p:spPr>
          <a:noFill/>
        </p:spPr>
        <p:txBody>
          <a:bodyPr/>
          <a:lstStyle/>
          <a:p>
            <a:fld id="{2166FB78-B3E1-D54F-8CC0-4B065FCEED74}" type="slidenum">
              <a:rPr lang="en-US" smtClean="0">
                <a:solidFill>
                  <a:srgbClr val="000000"/>
                </a:solidFill>
              </a:rPr>
              <a:pPr/>
              <a:t>84</a:t>
            </a:fld>
            <a:endParaRPr lang="en-US">
              <a:solidFill>
                <a:srgbClr val="000000"/>
              </a:solidFill>
            </a:endParaRPr>
          </a:p>
        </p:txBody>
      </p:sp>
      <p:sp>
        <p:nvSpPr>
          <p:cNvPr id="49156" name="Text Box 3"/>
          <p:cNvSpPr txBox="1">
            <a:spLocks noChangeArrowheads="1"/>
          </p:cNvSpPr>
          <p:nvPr/>
        </p:nvSpPr>
        <p:spPr bwMode="auto">
          <a:xfrm>
            <a:off x="923731" y="1793054"/>
            <a:ext cx="10039737" cy="2677656"/>
          </a:xfrm>
          <a:prstGeom prst="rect">
            <a:avLst/>
          </a:prstGeom>
          <a:noFill/>
          <a:ln w="9525">
            <a:noFill/>
            <a:miter lim="800000"/>
            <a:headEnd/>
            <a:tailEnd/>
          </a:ln>
        </p:spPr>
        <p:txBody>
          <a:bodyPr wrap="square">
            <a:prstTxWarp prst="textNoShape">
              <a:avLst/>
            </a:prstTxWarp>
            <a:spAutoFit/>
          </a:bodyPr>
          <a:lstStyle/>
          <a:p>
            <a:pPr lvl="1" indent="-342900" eaLnBrk="0" fontAlgn="base" hangingPunct="0">
              <a:spcBef>
                <a:spcPct val="0"/>
              </a:spcBef>
              <a:spcAft>
                <a:spcPct val="0"/>
              </a:spcAft>
              <a:buFontTx/>
              <a:buChar char="•"/>
            </a:pPr>
            <a:r>
              <a:rPr lang="en-US" sz="2400">
                <a:solidFill>
                  <a:srgbClr val="000000"/>
                </a:solidFill>
              </a:rPr>
              <a:t>Some objects in a class may be special, i.e. worthy of their own class</a:t>
            </a:r>
          </a:p>
          <a:p>
            <a:pPr lvl="1" eaLnBrk="0" fontAlgn="base" hangingPunct="0">
              <a:spcBef>
                <a:spcPct val="0"/>
              </a:spcBef>
              <a:spcAft>
                <a:spcPct val="0"/>
              </a:spcAft>
            </a:pPr>
            <a:r>
              <a:rPr lang="en-US" sz="2400">
                <a:solidFill>
                  <a:srgbClr val="000000"/>
                </a:solidFill>
              </a:rPr>
              <a:t> </a:t>
            </a:r>
          </a:p>
          <a:p>
            <a:pPr lvl="1" eaLnBrk="0" fontAlgn="base" hangingPunct="0">
              <a:spcBef>
                <a:spcPct val="0"/>
              </a:spcBef>
              <a:spcAft>
                <a:spcPct val="0"/>
              </a:spcAft>
              <a:buFontTx/>
              <a:buChar char="•"/>
            </a:pPr>
            <a:r>
              <a:rPr lang="en-US" sz="2400">
                <a:solidFill>
                  <a:srgbClr val="000000"/>
                </a:solidFill>
              </a:rPr>
              <a:t> Define a new class?</a:t>
            </a:r>
          </a:p>
          <a:p>
            <a:pPr lvl="2" eaLnBrk="0" fontAlgn="base" hangingPunct="0">
              <a:spcBef>
                <a:spcPct val="0"/>
              </a:spcBef>
              <a:spcAft>
                <a:spcPct val="0"/>
              </a:spcAft>
              <a:buFontTx/>
              <a:buChar char="•"/>
            </a:pPr>
            <a:r>
              <a:rPr lang="en-US" sz="2400" i="1">
                <a:solidFill>
                  <a:srgbClr val="000000"/>
                </a:solidFill>
              </a:rPr>
              <a:t> But what if we want to maintain connection to current class?</a:t>
            </a:r>
          </a:p>
          <a:p>
            <a:pPr lvl="1" eaLnBrk="0" fontAlgn="base" hangingPunct="0">
              <a:spcBef>
                <a:spcPct val="0"/>
              </a:spcBef>
              <a:spcAft>
                <a:spcPct val="0"/>
              </a:spcAft>
              <a:buFontTx/>
              <a:buChar char="•"/>
            </a:pPr>
            <a:endParaRPr lang="en-US" sz="2400">
              <a:solidFill>
                <a:srgbClr val="000000"/>
              </a:solidFill>
            </a:endParaRPr>
          </a:p>
          <a:p>
            <a:pPr lvl="1" eaLnBrk="0" fontAlgn="base" hangingPunct="0">
              <a:spcBef>
                <a:spcPct val="0"/>
              </a:spcBef>
              <a:spcAft>
                <a:spcPct val="0"/>
              </a:spcAft>
              <a:buFontTx/>
              <a:buChar char="•"/>
            </a:pPr>
            <a:r>
              <a:rPr lang="en-US" sz="2400">
                <a:solidFill>
                  <a:srgbClr val="000000"/>
                </a:solidFill>
              </a:rPr>
              <a:t> </a:t>
            </a:r>
            <a:r>
              <a:rPr lang="en-US" sz="2400" u="sng">
                <a:solidFill>
                  <a:srgbClr val="000000"/>
                </a:solidFill>
              </a:rPr>
              <a:t>Better: define a </a:t>
            </a:r>
            <a:r>
              <a:rPr lang="en-US" sz="2400" i="1" u="sng">
                <a:solidFill>
                  <a:srgbClr val="000000"/>
                </a:solidFill>
              </a:rPr>
              <a:t>subclass</a:t>
            </a:r>
          </a:p>
          <a:p>
            <a:pPr lvl="2" eaLnBrk="0" fontAlgn="base" hangingPunct="0">
              <a:spcBef>
                <a:spcPct val="0"/>
              </a:spcBef>
              <a:spcAft>
                <a:spcPct val="0"/>
              </a:spcAft>
              <a:buFontTx/>
              <a:buChar char="•"/>
            </a:pPr>
            <a:r>
              <a:rPr lang="en-US" sz="2400" i="1">
                <a:solidFill>
                  <a:srgbClr val="000000"/>
                </a:solidFill>
              </a:rPr>
              <a:t> Ex:</a:t>
            </a:r>
            <a:endParaRPr lang="en-US" sz="2400">
              <a:solidFill>
                <a:srgbClr val="000000"/>
              </a:solidFill>
            </a:endParaRPr>
          </a:p>
        </p:txBody>
      </p:sp>
      <p:sp>
        <p:nvSpPr>
          <p:cNvPr id="49157" name="Text Box 4"/>
          <p:cNvSpPr txBox="1">
            <a:spLocks noChangeArrowheads="1"/>
          </p:cNvSpPr>
          <p:nvPr/>
        </p:nvSpPr>
        <p:spPr bwMode="auto">
          <a:xfrm>
            <a:off x="5699125" y="4003675"/>
            <a:ext cx="1250950" cy="457200"/>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Products</a:t>
            </a:r>
          </a:p>
        </p:txBody>
      </p:sp>
      <p:sp>
        <p:nvSpPr>
          <p:cNvPr id="49158" name="Text Box 5"/>
          <p:cNvSpPr txBox="1">
            <a:spLocks noChangeArrowheads="1"/>
          </p:cNvSpPr>
          <p:nvPr/>
        </p:nvSpPr>
        <p:spPr bwMode="auto">
          <a:xfrm>
            <a:off x="3962400" y="4876801"/>
            <a:ext cx="1372492" cy="830997"/>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Software </a:t>
            </a:r>
          </a:p>
          <a:p>
            <a:pPr eaLnBrk="0" fontAlgn="base" hangingPunct="0">
              <a:spcBef>
                <a:spcPct val="0"/>
              </a:spcBef>
              <a:spcAft>
                <a:spcPct val="0"/>
              </a:spcAft>
            </a:pPr>
            <a:r>
              <a:rPr lang="en-US" sz="2400">
                <a:solidFill>
                  <a:srgbClr val="000000"/>
                </a:solidFill>
              </a:rPr>
              <a:t>products</a:t>
            </a:r>
          </a:p>
        </p:txBody>
      </p:sp>
      <p:sp>
        <p:nvSpPr>
          <p:cNvPr id="49159" name="Text Box 6"/>
          <p:cNvSpPr txBox="1">
            <a:spLocks noChangeArrowheads="1"/>
          </p:cNvSpPr>
          <p:nvPr/>
        </p:nvSpPr>
        <p:spPr bwMode="auto">
          <a:xfrm>
            <a:off x="6926478" y="4876801"/>
            <a:ext cx="1728358" cy="830997"/>
          </a:xfrm>
          <a:prstGeom prst="rect">
            <a:avLst/>
          </a:prstGeom>
          <a:noFill/>
          <a:ln w="9525">
            <a:noFill/>
            <a:miter lim="800000"/>
            <a:headEnd/>
            <a:tailEnd/>
          </a:ln>
        </p:spPr>
        <p:txBody>
          <a:bodyPr wrap="none">
            <a:prstTxWarp prst="textNoShape">
              <a:avLst/>
            </a:prstTxWarp>
            <a:spAutoFit/>
          </a:bodyPr>
          <a:lstStyle/>
          <a:p>
            <a:pPr algn="ctr" eaLnBrk="0" fontAlgn="base" hangingPunct="0">
              <a:spcBef>
                <a:spcPct val="0"/>
              </a:spcBef>
              <a:spcAft>
                <a:spcPct val="0"/>
              </a:spcAft>
            </a:pPr>
            <a:r>
              <a:rPr lang="en-US" sz="2400">
                <a:solidFill>
                  <a:srgbClr val="000000"/>
                </a:solidFill>
              </a:rPr>
              <a:t>Educational </a:t>
            </a:r>
          </a:p>
          <a:p>
            <a:pPr algn="ctr" eaLnBrk="0" fontAlgn="base" hangingPunct="0">
              <a:spcBef>
                <a:spcPct val="0"/>
              </a:spcBef>
              <a:spcAft>
                <a:spcPct val="0"/>
              </a:spcAft>
            </a:pPr>
            <a:r>
              <a:rPr lang="en-US" sz="2400">
                <a:solidFill>
                  <a:srgbClr val="000000"/>
                </a:solidFill>
              </a:rPr>
              <a:t>products</a:t>
            </a:r>
          </a:p>
        </p:txBody>
      </p:sp>
      <p:sp>
        <p:nvSpPr>
          <p:cNvPr id="49160" name="Line 7"/>
          <p:cNvSpPr>
            <a:spLocks noChangeShapeType="1"/>
          </p:cNvSpPr>
          <p:nvPr/>
        </p:nvSpPr>
        <p:spPr bwMode="auto">
          <a:xfrm flipH="1">
            <a:off x="4572000" y="4495800"/>
            <a:ext cx="1752600" cy="457200"/>
          </a:xfrm>
          <a:prstGeom prst="line">
            <a:avLst/>
          </a:prstGeom>
          <a:noFill/>
          <a:ln w="9525">
            <a:solidFill>
              <a:schemeClr val="tx1"/>
            </a:solidFill>
            <a:round/>
            <a:headEnd/>
            <a:tailEnd type="triangl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49161" name="Line 8"/>
          <p:cNvSpPr>
            <a:spLocks noChangeShapeType="1"/>
          </p:cNvSpPr>
          <p:nvPr/>
        </p:nvSpPr>
        <p:spPr bwMode="auto">
          <a:xfrm>
            <a:off x="6324600" y="4495800"/>
            <a:ext cx="1371600" cy="457200"/>
          </a:xfrm>
          <a:prstGeom prst="line">
            <a:avLst/>
          </a:prstGeom>
          <a:noFill/>
          <a:ln w="9525">
            <a:solidFill>
              <a:schemeClr val="tx1"/>
            </a:solidFill>
            <a:round/>
            <a:headEnd/>
            <a:tailEnd type="triangle" w="med" len="me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 name="TextBox 1"/>
          <p:cNvSpPr txBox="1"/>
          <p:nvPr/>
        </p:nvSpPr>
        <p:spPr>
          <a:xfrm>
            <a:off x="3615737" y="6015692"/>
            <a:ext cx="4960525" cy="523220"/>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none" rtlCol="0">
            <a:spAutoFit/>
          </a:bodyPr>
          <a:lstStyle/>
          <a:p>
            <a:r>
              <a:rPr lang="en-US" sz="2800">
                <a:latin typeface="+mj-lt"/>
              </a:rPr>
              <a:t>We can define </a:t>
            </a:r>
            <a:r>
              <a:rPr lang="en-US" sz="2800" b="1">
                <a:latin typeface="+mj-lt"/>
              </a:rPr>
              <a:t>subclasses</a:t>
            </a:r>
            <a:r>
              <a:rPr lang="en-US" sz="2800">
                <a:latin typeface="+mj-lt"/>
              </a:rPr>
              <a:t> in E/R!</a:t>
            </a:r>
          </a:p>
        </p:txBody>
      </p:sp>
    </p:spTree>
    <p:extLst>
      <p:ext uri="{BB962C8B-B14F-4D97-AF65-F5344CB8AC3E}">
        <p14:creationId xmlns:p14="http://schemas.microsoft.com/office/powerpoint/2010/main" val="71129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15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9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1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1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1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1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15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p:bldP spid="49158" grpId="0"/>
      <p:bldP spid="49159" grpId="0"/>
      <p:bldP spid="49160" grpId="0" animBg="1"/>
      <p:bldP spid="49161" grpId="0" animBg="1"/>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2133600" y="0"/>
            <a:ext cx="7772400" cy="1143000"/>
          </a:xfrm>
        </p:spPr>
        <p:txBody>
          <a:bodyPr>
            <a:normAutofit fontScale="90000"/>
          </a:bodyPr>
          <a:lstStyle/>
          <a:p>
            <a:pPr eaLnBrk="1" hangingPunct="1"/>
            <a:br>
              <a:rPr lang="en-US"/>
            </a:br>
            <a:endParaRPr lang="en-US"/>
          </a:p>
        </p:txBody>
      </p:sp>
      <p:sp>
        <p:nvSpPr>
          <p:cNvPr id="50178" name="Slide Number Placeholder 4"/>
          <p:cNvSpPr>
            <a:spLocks noGrp="1"/>
          </p:cNvSpPr>
          <p:nvPr>
            <p:ph type="sldNum" sz="quarter" idx="12"/>
          </p:nvPr>
        </p:nvSpPr>
        <p:spPr>
          <a:noFill/>
        </p:spPr>
        <p:txBody>
          <a:bodyPr/>
          <a:lstStyle/>
          <a:p>
            <a:fld id="{DEF924F9-EC24-9F43-B878-0FCBAF071D5F}" type="slidenum">
              <a:rPr lang="en-US" smtClean="0">
                <a:solidFill>
                  <a:srgbClr val="000000"/>
                </a:solidFill>
              </a:rPr>
              <a:pPr/>
              <a:t>85</a:t>
            </a:fld>
            <a:endParaRPr lang="en-US">
              <a:solidFill>
                <a:srgbClr val="000000"/>
              </a:solidFill>
            </a:endParaRPr>
          </a:p>
        </p:txBody>
      </p:sp>
      <p:grpSp>
        <p:nvGrpSpPr>
          <p:cNvPr id="2" name="Group 1"/>
          <p:cNvGrpSpPr/>
          <p:nvPr/>
        </p:nvGrpSpPr>
        <p:grpSpPr>
          <a:xfrm>
            <a:off x="4320919" y="1663432"/>
            <a:ext cx="2284701" cy="1991791"/>
            <a:chOff x="4320919" y="1663432"/>
            <a:chExt cx="2284701" cy="1991791"/>
          </a:xfrm>
        </p:grpSpPr>
        <p:sp>
          <p:nvSpPr>
            <p:cNvPr id="50180" name="Rectangle 3"/>
            <p:cNvSpPr>
              <a:spLocks noChangeArrowheads="1"/>
            </p:cNvSpPr>
            <p:nvPr/>
          </p:nvSpPr>
          <p:spPr bwMode="auto">
            <a:xfrm>
              <a:off x="4965322" y="3069402"/>
              <a:ext cx="1640298" cy="585821"/>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Product</a:t>
              </a:r>
            </a:p>
          </p:txBody>
        </p:sp>
        <p:sp>
          <p:nvSpPr>
            <p:cNvPr id="50181" name="Oval 4"/>
            <p:cNvSpPr>
              <a:spLocks noChangeArrowheads="1"/>
            </p:cNvSpPr>
            <p:nvPr/>
          </p:nvSpPr>
          <p:spPr bwMode="auto">
            <a:xfrm>
              <a:off x="5199650" y="1663432"/>
              <a:ext cx="1113059" cy="527239"/>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u="sng">
                  <a:solidFill>
                    <a:srgbClr val="000000"/>
                  </a:solidFill>
                </a:rPr>
                <a:t>name</a:t>
              </a:r>
            </a:p>
          </p:txBody>
        </p:sp>
        <p:sp>
          <p:nvSpPr>
            <p:cNvPr id="50183" name="Oval 6"/>
            <p:cNvSpPr>
              <a:spLocks noChangeArrowheads="1"/>
            </p:cNvSpPr>
            <p:nvPr/>
          </p:nvSpPr>
          <p:spPr bwMode="auto">
            <a:xfrm>
              <a:off x="4320919" y="2366417"/>
              <a:ext cx="1113059" cy="527239"/>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price</a:t>
              </a:r>
            </a:p>
          </p:txBody>
        </p:sp>
        <p:sp>
          <p:nvSpPr>
            <p:cNvPr id="50184" name="Line 7"/>
            <p:cNvSpPr>
              <a:spLocks noChangeShapeType="1"/>
            </p:cNvSpPr>
            <p:nvPr/>
          </p:nvSpPr>
          <p:spPr bwMode="auto">
            <a:xfrm flipH="1" flipV="1">
              <a:off x="5199650" y="2835074"/>
              <a:ext cx="234328" cy="234328"/>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a:solidFill>
                  <a:srgbClr val="000000"/>
                </a:solidFill>
              </a:endParaRPr>
            </a:p>
          </p:txBody>
        </p:sp>
        <p:sp>
          <p:nvSpPr>
            <p:cNvPr id="50185" name="Line 8"/>
            <p:cNvSpPr>
              <a:spLocks noChangeShapeType="1"/>
            </p:cNvSpPr>
            <p:nvPr/>
          </p:nvSpPr>
          <p:spPr bwMode="auto">
            <a:xfrm flipV="1">
              <a:off x="5785471" y="2190671"/>
              <a:ext cx="0" cy="878731"/>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a:solidFill>
                  <a:srgbClr val="000000"/>
                </a:solidFill>
              </a:endParaRPr>
            </a:p>
          </p:txBody>
        </p:sp>
      </p:grpSp>
      <p:grpSp>
        <p:nvGrpSpPr>
          <p:cNvPr id="4" name="Group 3"/>
          <p:cNvGrpSpPr/>
          <p:nvPr/>
        </p:nvGrpSpPr>
        <p:grpSpPr>
          <a:xfrm>
            <a:off x="2563457" y="5061192"/>
            <a:ext cx="2167536" cy="1230224"/>
            <a:chOff x="2563457" y="5061192"/>
            <a:chExt cx="2167536" cy="1230224"/>
          </a:xfrm>
        </p:grpSpPr>
        <p:sp>
          <p:nvSpPr>
            <p:cNvPr id="50190" name="Rectangle 13"/>
            <p:cNvSpPr>
              <a:spLocks noChangeArrowheads="1"/>
            </p:cNvSpPr>
            <p:nvPr/>
          </p:nvSpPr>
          <p:spPr bwMode="auto">
            <a:xfrm>
              <a:off x="2914949" y="5061192"/>
              <a:ext cx="1816044" cy="585821"/>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Software Product</a:t>
              </a:r>
            </a:p>
          </p:txBody>
        </p:sp>
        <p:sp>
          <p:nvSpPr>
            <p:cNvPr id="50195" name="Oval 18"/>
            <p:cNvSpPr>
              <a:spLocks noChangeArrowheads="1"/>
            </p:cNvSpPr>
            <p:nvPr/>
          </p:nvSpPr>
          <p:spPr bwMode="auto">
            <a:xfrm>
              <a:off x="2563457" y="5764177"/>
              <a:ext cx="1113059" cy="527239"/>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platforms</a:t>
              </a:r>
            </a:p>
          </p:txBody>
        </p:sp>
        <p:sp>
          <p:nvSpPr>
            <p:cNvPr id="50196" name="Line 19"/>
            <p:cNvSpPr>
              <a:spLocks noChangeShapeType="1"/>
            </p:cNvSpPr>
            <p:nvPr/>
          </p:nvSpPr>
          <p:spPr bwMode="auto">
            <a:xfrm flipH="1">
              <a:off x="3676516" y="5647013"/>
              <a:ext cx="820149" cy="351492"/>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a:solidFill>
                  <a:srgbClr val="000000"/>
                </a:solidFill>
              </a:endParaRPr>
            </a:p>
          </p:txBody>
        </p:sp>
      </p:grpSp>
      <p:grpSp>
        <p:nvGrpSpPr>
          <p:cNvPr id="5" name="Group 4"/>
          <p:cNvGrpSpPr/>
          <p:nvPr/>
        </p:nvGrpSpPr>
        <p:grpSpPr>
          <a:xfrm>
            <a:off x="6722784" y="5061192"/>
            <a:ext cx="2753358" cy="1230224"/>
            <a:chOff x="6722784" y="5061192"/>
            <a:chExt cx="2753358" cy="1230224"/>
          </a:xfrm>
        </p:grpSpPr>
        <p:sp>
          <p:nvSpPr>
            <p:cNvPr id="50189" name="Rectangle 12"/>
            <p:cNvSpPr>
              <a:spLocks noChangeArrowheads="1"/>
            </p:cNvSpPr>
            <p:nvPr/>
          </p:nvSpPr>
          <p:spPr bwMode="auto">
            <a:xfrm>
              <a:off x="6722784" y="5061192"/>
              <a:ext cx="2050373" cy="585821"/>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a:solidFill>
                    <a:srgbClr val="000000"/>
                  </a:solidFill>
                </a:rPr>
                <a:t>Educational Product</a:t>
              </a:r>
            </a:p>
          </p:txBody>
        </p:sp>
        <p:sp>
          <p:nvSpPr>
            <p:cNvPr id="50194" name="Oval 17"/>
            <p:cNvSpPr>
              <a:spLocks noChangeArrowheads="1"/>
            </p:cNvSpPr>
            <p:nvPr/>
          </p:nvSpPr>
          <p:spPr bwMode="auto">
            <a:xfrm>
              <a:off x="8363083" y="5764177"/>
              <a:ext cx="1113059" cy="527239"/>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err="1">
                  <a:solidFill>
                    <a:srgbClr val="000000"/>
                  </a:solidFill>
                </a:rPr>
                <a:t>ageGroup</a:t>
              </a:r>
              <a:endParaRPr lang="en-US">
                <a:solidFill>
                  <a:srgbClr val="000000"/>
                </a:solidFill>
              </a:endParaRPr>
            </a:p>
          </p:txBody>
        </p:sp>
        <p:sp>
          <p:nvSpPr>
            <p:cNvPr id="50197" name="Line 20"/>
            <p:cNvSpPr>
              <a:spLocks noChangeShapeType="1"/>
            </p:cNvSpPr>
            <p:nvPr/>
          </p:nvSpPr>
          <p:spPr bwMode="auto">
            <a:xfrm>
              <a:off x="7484351" y="5647013"/>
              <a:ext cx="878731" cy="351492"/>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a:solidFill>
                  <a:srgbClr val="000000"/>
                </a:solidFill>
              </a:endParaRPr>
            </a:p>
          </p:txBody>
        </p:sp>
      </p:grpSp>
      <p:grpSp>
        <p:nvGrpSpPr>
          <p:cNvPr id="6" name="Group 5"/>
          <p:cNvGrpSpPr/>
          <p:nvPr/>
        </p:nvGrpSpPr>
        <p:grpSpPr>
          <a:xfrm>
            <a:off x="3852263" y="3655223"/>
            <a:ext cx="3895708" cy="1405970"/>
            <a:chOff x="3852263" y="3655223"/>
            <a:chExt cx="3895708" cy="1405970"/>
          </a:xfrm>
        </p:grpSpPr>
        <p:sp>
          <p:nvSpPr>
            <p:cNvPr id="50187" name="AutoShape 10"/>
            <p:cNvSpPr>
              <a:spLocks noChangeArrowheads="1"/>
            </p:cNvSpPr>
            <p:nvPr/>
          </p:nvSpPr>
          <p:spPr bwMode="auto">
            <a:xfrm>
              <a:off x="5375397" y="4006715"/>
              <a:ext cx="761567" cy="644403"/>
            </a:xfrm>
            <a:prstGeom prst="triangle">
              <a:avLst>
                <a:gd name="adj" fmla="val 50000"/>
              </a:avLst>
            </a:prstGeom>
            <a:solidFill>
              <a:srgbClr val="00B0F0"/>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err="1">
                  <a:solidFill>
                    <a:srgbClr val="000000"/>
                  </a:solidFill>
                </a:rPr>
                <a:t>isA</a:t>
              </a:r>
              <a:endParaRPr lang="en-US">
                <a:solidFill>
                  <a:srgbClr val="000000"/>
                </a:solidFill>
              </a:endParaRPr>
            </a:p>
          </p:txBody>
        </p:sp>
        <p:cxnSp>
          <p:nvCxnSpPr>
            <p:cNvPr id="25" name="Straight Connector 24"/>
            <p:cNvCxnSpPr>
              <a:endCxn id="50187" idx="2"/>
            </p:cNvCxnSpPr>
            <p:nvPr/>
          </p:nvCxnSpPr>
          <p:spPr bwMode="auto">
            <a:xfrm flipV="1">
              <a:off x="3852263" y="4651118"/>
              <a:ext cx="1523134" cy="410075"/>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6" name="Straight Connector 25"/>
            <p:cNvCxnSpPr>
              <a:stCxn id="50189" idx="0"/>
              <a:endCxn id="50187" idx="4"/>
            </p:cNvCxnSpPr>
            <p:nvPr/>
          </p:nvCxnSpPr>
          <p:spPr bwMode="auto">
            <a:xfrm rot="16200000" flipV="1">
              <a:off x="6737430" y="4050652"/>
              <a:ext cx="410075" cy="161100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0" name="Straight Connector 29"/>
            <p:cNvCxnSpPr>
              <a:stCxn id="50187" idx="0"/>
              <a:endCxn id="50180" idx="2"/>
            </p:cNvCxnSpPr>
            <p:nvPr/>
          </p:nvCxnSpPr>
          <p:spPr bwMode="auto">
            <a:xfrm rot="5400000" flipH="1" flipV="1">
              <a:off x="5595079" y="3816323"/>
              <a:ext cx="351492" cy="2929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9" name="Rectangle 2"/>
          <p:cNvSpPr txBox="1">
            <a:spLocks noChangeArrowheads="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Modeling Subclasses</a:t>
            </a:r>
          </a:p>
        </p:txBody>
      </p:sp>
      <p:sp>
        <p:nvSpPr>
          <p:cNvPr id="31" name="TextBox 30"/>
          <p:cNvSpPr txBox="1"/>
          <p:nvPr/>
        </p:nvSpPr>
        <p:spPr>
          <a:xfrm>
            <a:off x="9013371" y="2438398"/>
            <a:ext cx="2743200" cy="1938992"/>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000">
                <a:latin typeface="+mj-lt"/>
              </a:rPr>
              <a:t>Child subclasses contain all the attributes of </a:t>
            </a:r>
            <a:r>
              <a:rPr lang="en-US" sz="2000" i="1">
                <a:latin typeface="+mj-lt"/>
              </a:rPr>
              <a:t>all </a:t>
            </a:r>
            <a:r>
              <a:rPr lang="en-US" sz="2000">
                <a:latin typeface="+mj-lt"/>
              </a:rPr>
              <a:t>of their parent classes </a:t>
            </a:r>
            <a:r>
              <a:rPr lang="en-US" sz="2000" b="1" u="sng">
                <a:latin typeface="+mj-lt"/>
              </a:rPr>
              <a:t>plus</a:t>
            </a:r>
            <a:r>
              <a:rPr lang="en-US" sz="2000">
                <a:latin typeface="+mj-lt"/>
              </a:rPr>
              <a:t> the new attributes shown attached to them in the E/R diagram</a:t>
            </a:r>
          </a:p>
        </p:txBody>
      </p:sp>
    </p:spTree>
    <p:extLst>
      <p:ext uri="{BB962C8B-B14F-4D97-AF65-F5344CB8AC3E}">
        <p14:creationId xmlns:p14="http://schemas.microsoft.com/office/powerpoint/2010/main" val="176829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t>Understanding Subclasses</a:t>
            </a:r>
          </a:p>
        </p:txBody>
      </p:sp>
      <p:sp>
        <p:nvSpPr>
          <p:cNvPr id="51204" name="Rectangle 3"/>
          <p:cNvSpPr>
            <a:spLocks noGrp="1" noChangeArrowheads="1"/>
          </p:cNvSpPr>
          <p:nvPr>
            <p:ph idx="1"/>
          </p:nvPr>
        </p:nvSpPr>
        <p:spPr>
          <a:xfrm>
            <a:off x="3168574" y="1897166"/>
            <a:ext cx="4647041" cy="4048801"/>
          </a:xfrm>
        </p:spPr>
        <p:txBody>
          <a:bodyPr wrap="none">
            <a:spAutoFit/>
          </a:bodyPr>
          <a:lstStyle/>
          <a:p>
            <a:pPr eaLnBrk="1" hangingPunct="1"/>
            <a:r>
              <a:rPr lang="en-US"/>
              <a:t>Think in terms of records; ex:</a:t>
            </a:r>
          </a:p>
          <a:p>
            <a:pPr lvl="1" eaLnBrk="1" hangingPunct="1"/>
            <a:endParaRPr lang="en-US">
              <a:solidFill>
                <a:schemeClr val="accent2"/>
              </a:solidFill>
            </a:endParaRPr>
          </a:p>
          <a:p>
            <a:pPr lvl="1" eaLnBrk="1" hangingPunct="1"/>
            <a:r>
              <a:rPr lang="en-US">
                <a:solidFill>
                  <a:schemeClr val="accent2"/>
                </a:solidFill>
              </a:rPr>
              <a:t>Product</a:t>
            </a:r>
          </a:p>
          <a:p>
            <a:pPr lvl="1" eaLnBrk="1" hangingPunct="1"/>
            <a:endParaRPr lang="en-US">
              <a:solidFill>
                <a:schemeClr val="accent2"/>
              </a:solidFill>
            </a:endParaRPr>
          </a:p>
          <a:p>
            <a:pPr lvl="1" eaLnBrk="1" hangingPunct="1"/>
            <a:endParaRPr lang="en-US">
              <a:solidFill>
                <a:schemeClr val="accent2"/>
              </a:solidFill>
            </a:endParaRPr>
          </a:p>
          <a:p>
            <a:pPr lvl="1" eaLnBrk="1" hangingPunct="1"/>
            <a:r>
              <a:rPr lang="en-US" err="1">
                <a:solidFill>
                  <a:schemeClr val="accent2"/>
                </a:solidFill>
              </a:rPr>
              <a:t>SoftwareProduct</a:t>
            </a:r>
            <a:endParaRPr lang="en-US">
              <a:solidFill>
                <a:schemeClr val="accent2"/>
              </a:solidFill>
            </a:endParaRPr>
          </a:p>
          <a:p>
            <a:pPr lvl="1" eaLnBrk="1" hangingPunct="1"/>
            <a:endParaRPr lang="en-US">
              <a:solidFill>
                <a:schemeClr val="accent2"/>
              </a:solidFill>
            </a:endParaRPr>
          </a:p>
          <a:p>
            <a:pPr lvl="1" eaLnBrk="1" hangingPunct="1"/>
            <a:endParaRPr lang="en-US">
              <a:solidFill>
                <a:schemeClr val="accent2"/>
              </a:solidFill>
            </a:endParaRPr>
          </a:p>
          <a:p>
            <a:pPr lvl="1" eaLnBrk="1" hangingPunct="1"/>
            <a:endParaRPr lang="en-US">
              <a:solidFill>
                <a:schemeClr val="accent2"/>
              </a:solidFill>
            </a:endParaRPr>
          </a:p>
          <a:p>
            <a:pPr lvl="1" eaLnBrk="1" hangingPunct="1"/>
            <a:r>
              <a:rPr lang="en-US" err="1">
                <a:solidFill>
                  <a:schemeClr val="accent2"/>
                </a:solidFill>
              </a:rPr>
              <a:t>EducationalProduct</a:t>
            </a:r>
            <a:endParaRPr lang="en-US">
              <a:solidFill>
                <a:schemeClr val="accent2"/>
              </a:solidFill>
            </a:endParaRPr>
          </a:p>
        </p:txBody>
      </p:sp>
      <p:sp>
        <p:nvSpPr>
          <p:cNvPr id="51202" name="Slide Number Placeholder 5"/>
          <p:cNvSpPr>
            <a:spLocks noGrp="1"/>
          </p:cNvSpPr>
          <p:nvPr>
            <p:ph type="sldNum" sz="quarter" idx="12"/>
          </p:nvPr>
        </p:nvSpPr>
        <p:spPr>
          <a:noFill/>
        </p:spPr>
        <p:txBody>
          <a:bodyPr/>
          <a:lstStyle/>
          <a:p>
            <a:fld id="{51722133-8E06-344C-9044-3F3D88CA4E85}" type="slidenum">
              <a:rPr lang="en-US" smtClean="0">
                <a:solidFill>
                  <a:srgbClr val="000000"/>
                </a:solidFill>
              </a:rPr>
              <a:pPr/>
              <a:t>86</a:t>
            </a:fld>
            <a:endParaRPr lang="en-US">
              <a:solidFill>
                <a:srgbClr val="000000"/>
              </a:solidFill>
            </a:endParaRPr>
          </a:p>
        </p:txBody>
      </p:sp>
      <p:grpSp>
        <p:nvGrpSpPr>
          <p:cNvPr id="5" name="Group 4"/>
          <p:cNvGrpSpPr/>
          <p:nvPr/>
        </p:nvGrpSpPr>
        <p:grpSpPr>
          <a:xfrm>
            <a:off x="6781800" y="4572000"/>
            <a:ext cx="1219200" cy="304800"/>
            <a:chOff x="6781800" y="4572000"/>
            <a:chExt cx="1219200" cy="304800"/>
          </a:xfrm>
        </p:grpSpPr>
        <p:sp>
          <p:nvSpPr>
            <p:cNvPr id="51208" name="Line 13"/>
            <p:cNvSpPr>
              <a:spLocks noChangeShapeType="1"/>
            </p:cNvSpPr>
            <p:nvPr/>
          </p:nvSpPr>
          <p:spPr bwMode="auto">
            <a:xfrm>
              <a:off x="6781800" y="4572000"/>
              <a:ext cx="0" cy="30480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09" name="Line 14"/>
            <p:cNvSpPr>
              <a:spLocks noChangeShapeType="1"/>
            </p:cNvSpPr>
            <p:nvPr/>
          </p:nvSpPr>
          <p:spPr bwMode="auto">
            <a:xfrm>
              <a:off x="6781800" y="4876800"/>
              <a:ext cx="1219200" cy="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10" name="Line 15"/>
            <p:cNvSpPr>
              <a:spLocks noChangeShapeType="1"/>
            </p:cNvSpPr>
            <p:nvPr/>
          </p:nvSpPr>
          <p:spPr bwMode="auto">
            <a:xfrm flipV="1">
              <a:off x="8001000" y="4572000"/>
              <a:ext cx="0" cy="30480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6" name="Group 5"/>
          <p:cNvGrpSpPr/>
          <p:nvPr/>
        </p:nvGrpSpPr>
        <p:grpSpPr>
          <a:xfrm>
            <a:off x="6781800" y="6096000"/>
            <a:ext cx="1219200" cy="228600"/>
            <a:chOff x="6781800" y="6096000"/>
            <a:chExt cx="1219200" cy="228600"/>
          </a:xfrm>
        </p:grpSpPr>
        <p:sp>
          <p:nvSpPr>
            <p:cNvPr id="51211" name="Line 16"/>
            <p:cNvSpPr>
              <a:spLocks noChangeShapeType="1"/>
            </p:cNvSpPr>
            <p:nvPr/>
          </p:nvSpPr>
          <p:spPr bwMode="auto">
            <a:xfrm>
              <a:off x="6781800" y="6096000"/>
              <a:ext cx="0" cy="22860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12" name="Line 17"/>
            <p:cNvSpPr>
              <a:spLocks noChangeShapeType="1"/>
            </p:cNvSpPr>
            <p:nvPr/>
          </p:nvSpPr>
          <p:spPr bwMode="auto">
            <a:xfrm>
              <a:off x="6781800" y="6324600"/>
              <a:ext cx="1219200" cy="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13" name="Line 18"/>
            <p:cNvSpPr>
              <a:spLocks noChangeShapeType="1"/>
            </p:cNvSpPr>
            <p:nvPr/>
          </p:nvSpPr>
          <p:spPr bwMode="auto">
            <a:xfrm flipV="1">
              <a:off x="8001000" y="6096000"/>
              <a:ext cx="0" cy="228600"/>
            </a:xfrm>
            <a:prstGeom prst="line">
              <a:avLst/>
            </a:prstGeom>
            <a:noFill/>
            <a:ln w="9525" cap="rnd">
              <a:solidFill>
                <a:schemeClr val="tx1"/>
              </a:solidFill>
              <a:prstDash val="sysDot"/>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3" name="Group 2"/>
          <p:cNvGrpSpPr/>
          <p:nvPr/>
        </p:nvGrpSpPr>
        <p:grpSpPr>
          <a:xfrm>
            <a:off x="6781800" y="2479676"/>
            <a:ext cx="1219200" cy="919163"/>
            <a:chOff x="6781800" y="2479676"/>
            <a:chExt cx="1219200" cy="919163"/>
          </a:xfrm>
        </p:grpSpPr>
        <p:grpSp>
          <p:nvGrpSpPr>
            <p:cNvPr id="51205" name="Group 4"/>
            <p:cNvGrpSpPr>
              <a:grpSpLocks/>
            </p:cNvGrpSpPr>
            <p:nvPr/>
          </p:nvGrpSpPr>
          <p:grpSpPr bwMode="auto">
            <a:xfrm>
              <a:off x="6781800" y="2514600"/>
              <a:ext cx="1219200" cy="838200"/>
              <a:chOff x="3360" y="1632"/>
              <a:chExt cx="768" cy="528"/>
            </a:xfrm>
          </p:grpSpPr>
          <p:sp>
            <p:nvSpPr>
              <p:cNvPr id="51233" name="Rectangle 5"/>
              <p:cNvSpPr>
                <a:spLocks noChangeArrowheads="1"/>
              </p:cNvSpPr>
              <p:nvPr/>
            </p:nvSpPr>
            <p:spPr bwMode="auto">
              <a:xfrm>
                <a:off x="3360" y="1632"/>
                <a:ext cx="768" cy="528"/>
              </a:xfrm>
              <a:prstGeom prst="rect">
                <a:avLst/>
              </a:prstGeom>
              <a:noFill/>
              <a:ln w="28575">
                <a:solidFill>
                  <a:schemeClr val="tx1"/>
                </a:solidFill>
                <a:miter lim="800000"/>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34" name="Line 6"/>
              <p:cNvSpPr>
                <a:spLocks noChangeShapeType="1"/>
              </p:cNvSpPr>
              <p:nvPr/>
            </p:nvSpPr>
            <p:spPr bwMode="auto">
              <a:xfrm>
                <a:off x="3360" y="1920"/>
                <a:ext cx="768" cy="0"/>
              </a:xfrm>
              <a:prstGeom prst="line">
                <a:avLst/>
              </a:prstGeom>
              <a:noFill/>
              <a:ln w="2857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51217" name="Group 22"/>
            <p:cNvGrpSpPr>
              <a:grpSpLocks/>
            </p:cNvGrpSpPr>
            <p:nvPr/>
          </p:nvGrpSpPr>
          <p:grpSpPr bwMode="auto">
            <a:xfrm>
              <a:off x="6918326" y="2479676"/>
              <a:ext cx="893763" cy="919163"/>
              <a:chOff x="3398" y="1562"/>
              <a:chExt cx="563" cy="579"/>
            </a:xfrm>
          </p:grpSpPr>
          <p:sp>
            <p:nvSpPr>
              <p:cNvPr id="51227" name="Text Box 23"/>
              <p:cNvSpPr txBox="1">
                <a:spLocks noChangeArrowheads="1"/>
              </p:cNvSpPr>
              <p:nvPr/>
            </p:nvSpPr>
            <p:spPr bwMode="auto">
              <a:xfrm>
                <a:off x="3398" y="1562"/>
                <a:ext cx="563"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name</a:t>
                </a:r>
              </a:p>
            </p:txBody>
          </p:sp>
          <p:sp>
            <p:nvSpPr>
              <p:cNvPr id="51228" name="Text Box 24"/>
              <p:cNvSpPr txBox="1">
                <a:spLocks noChangeArrowheads="1"/>
              </p:cNvSpPr>
              <p:nvPr/>
            </p:nvSpPr>
            <p:spPr bwMode="auto">
              <a:xfrm>
                <a:off x="3398" y="1850"/>
                <a:ext cx="509"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price</a:t>
                </a:r>
              </a:p>
            </p:txBody>
          </p:sp>
        </p:grpSp>
      </p:grpSp>
      <p:grpSp>
        <p:nvGrpSpPr>
          <p:cNvPr id="2" name="Group 1"/>
          <p:cNvGrpSpPr/>
          <p:nvPr/>
        </p:nvGrpSpPr>
        <p:grpSpPr>
          <a:xfrm>
            <a:off x="6781800" y="3733800"/>
            <a:ext cx="1219200" cy="1173161"/>
            <a:chOff x="6781800" y="3733800"/>
            <a:chExt cx="1219200" cy="1173161"/>
          </a:xfrm>
        </p:grpSpPr>
        <p:grpSp>
          <p:nvGrpSpPr>
            <p:cNvPr id="51206" name="Group 7"/>
            <p:cNvGrpSpPr>
              <a:grpSpLocks/>
            </p:cNvGrpSpPr>
            <p:nvPr/>
          </p:nvGrpSpPr>
          <p:grpSpPr bwMode="auto">
            <a:xfrm>
              <a:off x="6781800" y="3733800"/>
              <a:ext cx="1219200" cy="838200"/>
              <a:chOff x="3360" y="1632"/>
              <a:chExt cx="768" cy="528"/>
            </a:xfrm>
          </p:grpSpPr>
          <p:sp>
            <p:nvSpPr>
              <p:cNvPr id="51231" name="Rectangle 8"/>
              <p:cNvSpPr>
                <a:spLocks noChangeArrowheads="1"/>
              </p:cNvSpPr>
              <p:nvPr/>
            </p:nvSpPr>
            <p:spPr bwMode="auto">
              <a:xfrm>
                <a:off x="3360" y="1632"/>
                <a:ext cx="768" cy="528"/>
              </a:xfrm>
              <a:prstGeom prst="rect">
                <a:avLst/>
              </a:prstGeom>
              <a:noFill/>
              <a:ln w="28575">
                <a:solidFill>
                  <a:schemeClr val="tx1"/>
                </a:solidFill>
                <a:miter lim="800000"/>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32" name="Line 9"/>
              <p:cNvSpPr>
                <a:spLocks noChangeShapeType="1"/>
              </p:cNvSpPr>
              <p:nvPr/>
            </p:nvSpPr>
            <p:spPr bwMode="auto">
              <a:xfrm>
                <a:off x="3360" y="1920"/>
                <a:ext cx="768" cy="0"/>
              </a:xfrm>
              <a:prstGeom prst="line">
                <a:avLst/>
              </a:prstGeom>
              <a:noFill/>
              <a:ln w="2857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51218" name="Group 25"/>
            <p:cNvGrpSpPr>
              <a:grpSpLocks/>
            </p:cNvGrpSpPr>
            <p:nvPr/>
          </p:nvGrpSpPr>
          <p:grpSpPr bwMode="auto">
            <a:xfrm>
              <a:off x="6934201" y="3733801"/>
              <a:ext cx="893763" cy="919163"/>
              <a:chOff x="3398" y="1562"/>
              <a:chExt cx="563" cy="579"/>
            </a:xfrm>
          </p:grpSpPr>
          <p:sp>
            <p:nvSpPr>
              <p:cNvPr id="51225" name="Text Box 26"/>
              <p:cNvSpPr txBox="1">
                <a:spLocks noChangeArrowheads="1"/>
              </p:cNvSpPr>
              <p:nvPr/>
            </p:nvSpPr>
            <p:spPr bwMode="auto">
              <a:xfrm>
                <a:off x="3398" y="1562"/>
                <a:ext cx="563"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name</a:t>
                </a:r>
              </a:p>
            </p:txBody>
          </p:sp>
          <p:sp>
            <p:nvSpPr>
              <p:cNvPr id="51226" name="Text Box 27"/>
              <p:cNvSpPr txBox="1">
                <a:spLocks noChangeArrowheads="1"/>
              </p:cNvSpPr>
              <p:nvPr/>
            </p:nvSpPr>
            <p:spPr bwMode="auto">
              <a:xfrm>
                <a:off x="3398" y="1850"/>
                <a:ext cx="509"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price</a:t>
                </a:r>
              </a:p>
            </p:txBody>
          </p:sp>
        </p:grpSp>
        <p:sp>
          <p:nvSpPr>
            <p:cNvPr id="51220" name="Text Box 31"/>
            <p:cNvSpPr txBox="1">
              <a:spLocks noChangeArrowheads="1"/>
            </p:cNvSpPr>
            <p:nvPr/>
          </p:nvSpPr>
          <p:spPr bwMode="auto">
            <a:xfrm>
              <a:off x="6895515" y="4537629"/>
              <a:ext cx="1086901" cy="369332"/>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a:solidFill>
                    <a:srgbClr val="000000"/>
                  </a:solidFill>
                </a:rPr>
                <a:t>platforms</a:t>
              </a:r>
              <a:endParaRPr lang="en-US" sz="2000">
                <a:solidFill>
                  <a:srgbClr val="000000"/>
                </a:solidFill>
              </a:endParaRPr>
            </a:p>
          </p:txBody>
        </p:sp>
      </p:grpSp>
      <p:grpSp>
        <p:nvGrpSpPr>
          <p:cNvPr id="4" name="Group 3"/>
          <p:cNvGrpSpPr/>
          <p:nvPr/>
        </p:nvGrpSpPr>
        <p:grpSpPr>
          <a:xfrm>
            <a:off x="6781800" y="5257800"/>
            <a:ext cx="1219200" cy="1145366"/>
            <a:chOff x="6781800" y="5257800"/>
            <a:chExt cx="1219200" cy="1145366"/>
          </a:xfrm>
        </p:grpSpPr>
        <p:grpSp>
          <p:nvGrpSpPr>
            <p:cNvPr id="51207" name="Group 10"/>
            <p:cNvGrpSpPr>
              <a:grpSpLocks/>
            </p:cNvGrpSpPr>
            <p:nvPr/>
          </p:nvGrpSpPr>
          <p:grpSpPr bwMode="auto">
            <a:xfrm>
              <a:off x="6781800" y="5257800"/>
              <a:ext cx="1219200" cy="838200"/>
              <a:chOff x="3360" y="1632"/>
              <a:chExt cx="768" cy="528"/>
            </a:xfrm>
          </p:grpSpPr>
          <p:sp>
            <p:nvSpPr>
              <p:cNvPr id="51229" name="Rectangle 11"/>
              <p:cNvSpPr>
                <a:spLocks noChangeArrowheads="1"/>
              </p:cNvSpPr>
              <p:nvPr/>
            </p:nvSpPr>
            <p:spPr bwMode="auto">
              <a:xfrm>
                <a:off x="3360" y="1632"/>
                <a:ext cx="768" cy="528"/>
              </a:xfrm>
              <a:prstGeom prst="rect">
                <a:avLst/>
              </a:prstGeom>
              <a:noFill/>
              <a:ln w="28575">
                <a:solidFill>
                  <a:schemeClr val="tx1"/>
                </a:solidFill>
                <a:miter lim="800000"/>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1230" name="Line 12"/>
              <p:cNvSpPr>
                <a:spLocks noChangeShapeType="1"/>
              </p:cNvSpPr>
              <p:nvPr/>
            </p:nvSpPr>
            <p:spPr bwMode="auto">
              <a:xfrm>
                <a:off x="3360" y="1920"/>
                <a:ext cx="768" cy="0"/>
              </a:xfrm>
              <a:prstGeom prst="line">
                <a:avLst/>
              </a:prstGeom>
              <a:noFill/>
              <a:ln w="2857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51219" name="Group 28"/>
            <p:cNvGrpSpPr>
              <a:grpSpLocks/>
            </p:cNvGrpSpPr>
            <p:nvPr/>
          </p:nvGrpSpPr>
          <p:grpSpPr bwMode="auto">
            <a:xfrm>
              <a:off x="6934201" y="5257801"/>
              <a:ext cx="893763" cy="919163"/>
              <a:chOff x="3398" y="1562"/>
              <a:chExt cx="563" cy="579"/>
            </a:xfrm>
          </p:grpSpPr>
          <p:sp>
            <p:nvSpPr>
              <p:cNvPr id="51223" name="Text Box 29"/>
              <p:cNvSpPr txBox="1">
                <a:spLocks noChangeArrowheads="1"/>
              </p:cNvSpPr>
              <p:nvPr/>
            </p:nvSpPr>
            <p:spPr bwMode="auto">
              <a:xfrm>
                <a:off x="3398" y="1562"/>
                <a:ext cx="563"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name</a:t>
                </a:r>
              </a:p>
            </p:txBody>
          </p:sp>
          <p:sp>
            <p:nvSpPr>
              <p:cNvPr id="51224" name="Text Box 30"/>
              <p:cNvSpPr txBox="1">
                <a:spLocks noChangeArrowheads="1"/>
              </p:cNvSpPr>
              <p:nvPr/>
            </p:nvSpPr>
            <p:spPr bwMode="auto">
              <a:xfrm>
                <a:off x="3398" y="1850"/>
                <a:ext cx="509" cy="291"/>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rPr>
                  <a:t>price</a:t>
                </a:r>
              </a:p>
            </p:txBody>
          </p:sp>
        </p:grpSp>
        <p:sp>
          <p:nvSpPr>
            <p:cNvPr id="51221" name="Text Box 32"/>
            <p:cNvSpPr txBox="1">
              <a:spLocks noChangeArrowheads="1"/>
            </p:cNvSpPr>
            <p:nvPr/>
          </p:nvSpPr>
          <p:spPr bwMode="auto">
            <a:xfrm>
              <a:off x="6819352" y="6033834"/>
              <a:ext cx="1109123" cy="369332"/>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err="1">
                  <a:solidFill>
                    <a:srgbClr val="000000"/>
                  </a:solidFill>
                </a:rPr>
                <a:t>ageGroup</a:t>
              </a:r>
              <a:endParaRPr lang="en-US">
                <a:solidFill>
                  <a:srgbClr val="000000"/>
                </a:solidFill>
              </a:endParaRPr>
            </a:p>
          </p:txBody>
        </p:sp>
      </p:grpSp>
      <p:sp>
        <p:nvSpPr>
          <p:cNvPr id="38" name="TextBox 37"/>
          <p:cNvSpPr txBox="1"/>
          <p:nvPr/>
        </p:nvSpPr>
        <p:spPr>
          <a:xfrm>
            <a:off x="9013371" y="2438398"/>
            <a:ext cx="2743200" cy="1938992"/>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000">
                <a:latin typeface="+mj-lt"/>
              </a:rPr>
              <a:t>Child subclasses contain all the attributes of </a:t>
            </a:r>
            <a:r>
              <a:rPr lang="en-US" sz="2000" i="1">
                <a:latin typeface="+mj-lt"/>
              </a:rPr>
              <a:t>all </a:t>
            </a:r>
            <a:r>
              <a:rPr lang="en-US" sz="2000">
                <a:latin typeface="+mj-lt"/>
              </a:rPr>
              <a:t>of their parent classes </a:t>
            </a:r>
            <a:r>
              <a:rPr lang="en-US" sz="2000" b="1" u="sng">
                <a:latin typeface="+mj-lt"/>
              </a:rPr>
              <a:t>plus</a:t>
            </a:r>
            <a:r>
              <a:rPr lang="en-US" sz="2000">
                <a:latin typeface="+mj-lt"/>
              </a:rPr>
              <a:t> the new attributes shown attached to them in the E/R diagram</a:t>
            </a:r>
          </a:p>
        </p:txBody>
      </p:sp>
      <p:grpSp>
        <p:nvGrpSpPr>
          <p:cNvPr id="39" name="Group 38"/>
          <p:cNvGrpSpPr/>
          <p:nvPr/>
        </p:nvGrpSpPr>
        <p:grpSpPr>
          <a:xfrm>
            <a:off x="253390" y="2806701"/>
            <a:ext cx="3398119" cy="2275012"/>
            <a:chOff x="1676400" y="838200"/>
            <a:chExt cx="8991600" cy="6019800"/>
          </a:xfrm>
        </p:grpSpPr>
        <p:sp>
          <p:nvSpPr>
            <p:cNvPr id="40" name="Rectangle 3"/>
            <p:cNvSpPr>
              <a:spLocks noChangeArrowheads="1"/>
            </p:cNvSpPr>
            <p:nvPr/>
          </p:nvSpPr>
          <p:spPr bwMode="auto">
            <a:xfrm>
              <a:off x="4800600" y="26670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Product</a:t>
              </a:r>
            </a:p>
          </p:txBody>
        </p:sp>
        <p:sp>
          <p:nvSpPr>
            <p:cNvPr id="41" name="Oval 4"/>
            <p:cNvSpPr>
              <a:spLocks noChangeArrowheads="1"/>
            </p:cNvSpPr>
            <p:nvPr/>
          </p:nvSpPr>
          <p:spPr bwMode="auto">
            <a:xfrm>
              <a:off x="5105400" y="8382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800" u="sng">
                  <a:solidFill>
                    <a:srgbClr val="000000"/>
                  </a:solidFill>
                </a:rPr>
                <a:t>name</a:t>
              </a:r>
            </a:p>
          </p:txBody>
        </p:sp>
        <p:sp>
          <p:nvSpPr>
            <p:cNvPr id="43" name="Oval 6"/>
            <p:cNvSpPr>
              <a:spLocks noChangeArrowheads="1"/>
            </p:cNvSpPr>
            <p:nvPr/>
          </p:nvSpPr>
          <p:spPr bwMode="auto">
            <a:xfrm>
              <a:off x="3962400" y="17526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price</a:t>
              </a:r>
            </a:p>
          </p:txBody>
        </p:sp>
        <p:sp>
          <p:nvSpPr>
            <p:cNvPr id="44" name="Line 7"/>
            <p:cNvSpPr>
              <a:spLocks noChangeShapeType="1"/>
            </p:cNvSpPr>
            <p:nvPr/>
          </p:nvSpPr>
          <p:spPr bwMode="auto">
            <a:xfrm flipH="1" flipV="1">
              <a:off x="5105400" y="2362200"/>
              <a:ext cx="3048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45" name="Line 8"/>
            <p:cNvSpPr>
              <a:spLocks noChangeShapeType="1"/>
            </p:cNvSpPr>
            <p:nvPr/>
          </p:nvSpPr>
          <p:spPr bwMode="auto">
            <a:xfrm flipV="1">
              <a:off x="5867400" y="1524000"/>
              <a:ext cx="0" cy="1143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47" name="AutoShape 10"/>
            <p:cNvSpPr>
              <a:spLocks noChangeArrowheads="1"/>
            </p:cNvSpPr>
            <p:nvPr/>
          </p:nvSpPr>
          <p:spPr bwMode="auto">
            <a:xfrm>
              <a:off x="5334000" y="3886200"/>
              <a:ext cx="990600" cy="838200"/>
            </a:xfrm>
            <a:prstGeom prst="triangle">
              <a:avLst>
                <a:gd name="adj" fmla="val 50000"/>
              </a:avLst>
            </a:prstGeom>
            <a:solidFill>
              <a:srgbClr val="00B0F0"/>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err="1">
                  <a:solidFill>
                    <a:srgbClr val="000000"/>
                  </a:solidFill>
                </a:rPr>
                <a:t>isA</a:t>
              </a:r>
              <a:endParaRPr lang="en-US" sz="800">
                <a:solidFill>
                  <a:srgbClr val="000000"/>
                </a:solidFill>
              </a:endParaRPr>
            </a:p>
          </p:txBody>
        </p:sp>
        <p:sp>
          <p:nvSpPr>
            <p:cNvPr id="48" name="Rectangle 12"/>
            <p:cNvSpPr>
              <a:spLocks noChangeArrowheads="1"/>
            </p:cNvSpPr>
            <p:nvPr/>
          </p:nvSpPr>
          <p:spPr bwMode="auto">
            <a:xfrm>
              <a:off x="7086600" y="5257800"/>
              <a:ext cx="26670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Educational Product</a:t>
              </a:r>
            </a:p>
          </p:txBody>
        </p:sp>
        <p:sp>
          <p:nvSpPr>
            <p:cNvPr id="49" name="Rectangle 13"/>
            <p:cNvSpPr>
              <a:spLocks noChangeArrowheads="1"/>
            </p:cNvSpPr>
            <p:nvPr/>
          </p:nvSpPr>
          <p:spPr bwMode="auto">
            <a:xfrm>
              <a:off x="2133600" y="5257800"/>
              <a:ext cx="23622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Software Product</a:t>
              </a:r>
            </a:p>
          </p:txBody>
        </p:sp>
        <p:sp>
          <p:nvSpPr>
            <p:cNvPr id="50" name="Oval 17"/>
            <p:cNvSpPr>
              <a:spLocks noChangeArrowheads="1"/>
            </p:cNvSpPr>
            <p:nvPr/>
          </p:nvSpPr>
          <p:spPr bwMode="auto">
            <a:xfrm>
              <a:off x="9220200" y="61722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800" err="1">
                  <a:solidFill>
                    <a:srgbClr val="000000"/>
                  </a:solidFill>
                </a:rPr>
                <a:t>ageGroup</a:t>
              </a:r>
              <a:endParaRPr lang="en-US" sz="800">
                <a:solidFill>
                  <a:srgbClr val="000000"/>
                </a:solidFill>
              </a:endParaRPr>
            </a:p>
          </p:txBody>
        </p:sp>
        <p:sp>
          <p:nvSpPr>
            <p:cNvPr id="51" name="Oval 18"/>
            <p:cNvSpPr>
              <a:spLocks noChangeArrowheads="1"/>
            </p:cNvSpPr>
            <p:nvPr/>
          </p:nvSpPr>
          <p:spPr bwMode="auto">
            <a:xfrm>
              <a:off x="1676400" y="61722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800">
                  <a:solidFill>
                    <a:srgbClr val="000000"/>
                  </a:solidFill>
                </a:rPr>
                <a:t>platforms</a:t>
              </a:r>
            </a:p>
          </p:txBody>
        </p:sp>
        <p:sp>
          <p:nvSpPr>
            <p:cNvPr id="52" name="Line 19"/>
            <p:cNvSpPr>
              <a:spLocks noChangeShapeType="1"/>
            </p:cNvSpPr>
            <p:nvPr/>
          </p:nvSpPr>
          <p:spPr bwMode="auto">
            <a:xfrm flipH="1">
              <a:off x="3124200" y="6019800"/>
              <a:ext cx="10668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sp>
          <p:nvSpPr>
            <p:cNvPr id="53" name="Line 20"/>
            <p:cNvSpPr>
              <a:spLocks noChangeShapeType="1"/>
            </p:cNvSpPr>
            <p:nvPr/>
          </p:nvSpPr>
          <p:spPr bwMode="auto">
            <a:xfrm>
              <a:off x="8077200" y="6019800"/>
              <a:ext cx="11430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800">
                <a:solidFill>
                  <a:srgbClr val="000000"/>
                </a:solidFill>
              </a:endParaRPr>
            </a:p>
          </p:txBody>
        </p:sp>
        <p:cxnSp>
          <p:nvCxnSpPr>
            <p:cNvPr id="54" name="Straight Connector 53"/>
            <p:cNvCxnSpPr/>
            <p:nvPr/>
          </p:nvCxnSpPr>
          <p:spPr bwMode="auto">
            <a:xfrm flipV="1">
              <a:off x="3352800" y="4724400"/>
              <a:ext cx="1981200" cy="5334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55" name="Straight Connector 54"/>
            <p:cNvCxnSpPr/>
            <p:nvPr/>
          </p:nvCxnSpPr>
          <p:spPr bwMode="auto">
            <a:xfrm rot="16200000" flipV="1">
              <a:off x="7105650" y="3943350"/>
              <a:ext cx="533400" cy="20955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56" name="Straight Connector 55"/>
            <p:cNvCxnSpPr/>
            <p:nvPr/>
          </p:nvCxnSpPr>
          <p:spPr bwMode="auto">
            <a:xfrm rot="5400000" flipH="1" flipV="1">
              <a:off x="5619750" y="3638550"/>
              <a:ext cx="457200" cy="381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70251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0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0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1905000" y="152400"/>
            <a:ext cx="4800600" cy="990600"/>
          </a:xfrm>
        </p:spPr>
        <p:txBody>
          <a:bodyPr>
            <a:normAutofit fontScale="90000"/>
          </a:bodyPr>
          <a:lstStyle/>
          <a:p>
            <a:pPr eaLnBrk="1" hangingPunct="1"/>
            <a:br>
              <a:rPr lang="en-US"/>
            </a:br>
            <a:r>
              <a:rPr lang="en-US"/>
              <a:t>Think like tables…</a:t>
            </a:r>
            <a:br>
              <a:rPr lang="en-US" sz="2400">
                <a:solidFill>
                  <a:schemeClr val="tx1"/>
                </a:solidFill>
              </a:rPr>
            </a:br>
            <a:endParaRPr lang="en-US" sz="2400">
              <a:solidFill>
                <a:schemeClr val="tx1"/>
              </a:solidFill>
            </a:endParaRPr>
          </a:p>
        </p:txBody>
      </p:sp>
      <p:sp>
        <p:nvSpPr>
          <p:cNvPr id="52226" name="Slide Number Placeholder 4"/>
          <p:cNvSpPr>
            <a:spLocks noGrp="1"/>
          </p:cNvSpPr>
          <p:nvPr>
            <p:ph type="sldNum" sz="quarter" idx="12"/>
          </p:nvPr>
        </p:nvSpPr>
        <p:spPr>
          <a:noFill/>
        </p:spPr>
        <p:txBody>
          <a:bodyPr/>
          <a:lstStyle/>
          <a:p>
            <a:fld id="{2BA61151-1231-314C-A342-846A9F51D9E7}" type="slidenum">
              <a:rPr lang="en-US" smtClean="0">
                <a:solidFill>
                  <a:srgbClr val="000000"/>
                </a:solidFill>
              </a:rPr>
              <a:pPr/>
              <a:t>87</a:t>
            </a:fld>
            <a:endParaRPr lang="en-US">
              <a:solidFill>
                <a:srgbClr val="000000"/>
              </a:solidFill>
            </a:endParaRPr>
          </a:p>
        </p:txBody>
      </p:sp>
      <p:grpSp>
        <p:nvGrpSpPr>
          <p:cNvPr id="52228" name="Group 3"/>
          <p:cNvGrpSpPr>
            <a:grpSpLocks noChangeAspect="1"/>
          </p:cNvGrpSpPr>
          <p:nvPr/>
        </p:nvGrpSpPr>
        <p:grpSpPr bwMode="auto">
          <a:xfrm>
            <a:off x="609601" y="1905000"/>
            <a:ext cx="5867400" cy="3927475"/>
            <a:chOff x="96" y="528"/>
            <a:chExt cx="5664" cy="3792"/>
          </a:xfrm>
        </p:grpSpPr>
        <p:sp>
          <p:nvSpPr>
            <p:cNvPr id="52279" name="Rectangle 4"/>
            <p:cNvSpPr>
              <a:spLocks noChangeAspect="1" noChangeArrowheads="1"/>
            </p:cNvSpPr>
            <p:nvPr/>
          </p:nvSpPr>
          <p:spPr bwMode="auto">
            <a:xfrm>
              <a:off x="2064" y="1680"/>
              <a:ext cx="1344" cy="480"/>
            </a:xfrm>
            <a:prstGeom prst="rect">
              <a:avLst/>
            </a:prstGeom>
            <a:solidFill>
              <a:schemeClr val="accent4">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Product</a:t>
              </a:r>
            </a:p>
          </p:txBody>
        </p:sp>
        <p:sp>
          <p:nvSpPr>
            <p:cNvPr id="52280" name="Oval 5"/>
            <p:cNvSpPr>
              <a:spLocks noChangeAspect="1" noChangeArrowheads="1"/>
            </p:cNvSpPr>
            <p:nvPr/>
          </p:nvSpPr>
          <p:spPr bwMode="auto">
            <a:xfrm>
              <a:off x="2256" y="528"/>
              <a:ext cx="912" cy="432"/>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600" u="sng">
                  <a:solidFill>
                    <a:srgbClr val="000000"/>
                  </a:solidFill>
                </a:rPr>
                <a:t>name</a:t>
              </a:r>
            </a:p>
          </p:txBody>
        </p:sp>
        <p:sp>
          <p:nvSpPr>
            <p:cNvPr id="52282" name="Oval 7"/>
            <p:cNvSpPr>
              <a:spLocks noChangeAspect="1" noChangeArrowheads="1"/>
            </p:cNvSpPr>
            <p:nvPr/>
          </p:nvSpPr>
          <p:spPr bwMode="auto">
            <a:xfrm>
              <a:off x="1536" y="1104"/>
              <a:ext cx="912" cy="432"/>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price</a:t>
              </a:r>
            </a:p>
          </p:txBody>
        </p:sp>
        <p:sp>
          <p:nvSpPr>
            <p:cNvPr id="52283" name="Line 8"/>
            <p:cNvSpPr>
              <a:spLocks noChangeAspect="1" noChangeShapeType="1"/>
            </p:cNvSpPr>
            <p:nvPr/>
          </p:nvSpPr>
          <p:spPr bwMode="auto">
            <a:xfrm flipH="1" flipV="1">
              <a:off x="2256" y="1488"/>
              <a:ext cx="192" cy="192"/>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2284" name="Line 9"/>
            <p:cNvSpPr>
              <a:spLocks noChangeAspect="1" noChangeShapeType="1"/>
            </p:cNvSpPr>
            <p:nvPr/>
          </p:nvSpPr>
          <p:spPr bwMode="auto">
            <a:xfrm flipV="1">
              <a:off x="2736" y="960"/>
              <a:ext cx="0" cy="72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2286" name="AutoShape 11"/>
            <p:cNvSpPr>
              <a:spLocks noChangeAspect="1" noChangeArrowheads="1"/>
            </p:cNvSpPr>
            <p:nvPr/>
          </p:nvSpPr>
          <p:spPr bwMode="auto">
            <a:xfrm>
              <a:off x="2376" y="2294"/>
              <a:ext cx="624" cy="528"/>
            </a:xfrm>
            <a:prstGeom prst="triangle">
              <a:avLst>
                <a:gd name="adj" fmla="val 50000"/>
              </a:avLst>
            </a:prstGeom>
            <a:solidFill>
              <a:srgbClr val="00B0F0"/>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err="1">
                  <a:solidFill>
                    <a:srgbClr val="000000"/>
                  </a:solidFill>
                </a:rPr>
                <a:t>isA</a:t>
              </a:r>
              <a:endParaRPr lang="en-US" sz="1600">
                <a:solidFill>
                  <a:srgbClr val="000000"/>
                </a:solidFill>
              </a:endParaRPr>
            </a:p>
          </p:txBody>
        </p:sp>
        <p:sp>
          <p:nvSpPr>
            <p:cNvPr id="52288" name="Rectangle 13"/>
            <p:cNvSpPr>
              <a:spLocks noChangeAspect="1" noChangeArrowheads="1"/>
            </p:cNvSpPr>
            <p:nvPr/>
          </p:nvSpPr>
          <p:spPr bwMode="auto">
            <a:xfrm>
              <a:off x="3504" y="3312"/>
              <a:ext cx="1680" cy="480"/>
            </a:xfrm>
            <a:prstGeom prst="rect">
              <a:avLst/>
            </a:prstGeom>
            <a:solidFill>
              <a:schemeClr val="accent4">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Educational Product</a:t>
              </a:r>
            </a:p>
          </p:txBody>
        </p:sp>
        <p:sp>
          <p:nvSpPr>
            <p:cNvPr id="52289" name="Rectangle 14"/>
            <p:cNvSpPr>
              <a:spLocks noChangeAspect="1" noChangeArrowheads="1"/>
            </p:cNvSpPr>
            <p:nvPr/>
          </p:nvSpPr>
          <p:spPr bwMode="auto">
            <a:xfrm>
              <a:off x="384" y="3312"/>
              <a:ext cx="1488" cy="480"/>
            </a:xfrm>
            <a:prstGeom prst="rect">
              <a:avLst/>
            </a:prstGeom>
            <a:solidFill>
              <a:schemeClr val="accent4">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Software Product</a:t>
              </a:r>
            </a:p>
          </p:txBody>
        </p:sp>
        <p:sp>
          <p:nvSpPr>
            <p:cNvPr id="52293" name="Oval 18"/>
            <p:cNvSpPr>
              <a:spLocks noChangeAspect="1" noChangeArrowheads="1"/>
            </p:cNvSpPr>
            <p:nvPr/>
          </p:nvSpPr>
          <p:spPr bwMode="auto">
            <a:xfrm>
              <a:off x="4848" y="3888"/>
              <a:ext cx="912" cy="432"/>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600" err="1">
                  <a:solidFill>
                    <a:srgbClr val="000000"/>
                  </a:solidFill>
                </a:rPr>
                <a:t>ageGroup</a:t>
              </a:r>
              <a:endParaRPr lang="en-US" sz="1600">
                <a:solidFill>
                  <a:srgbClr val="000000"/>
                </a:solidFill>
              </a:endParaRPr>
            </a:p>
          </p:txBody>
        </p:sp>
        <p:sp>
          <p:nvSpPr>
            <p:cNvPr id="52294" name="Oval 19"/>
            <p:cNvSpPr>
              <a:spLocks noChangeAspect="1" noChangeArrowheads="1"/>
            </p:cNvSpPr>
            <p:nvPr/>
          </p:nvSpPr>
          <p:spPr bwMode="auto">
            <a:xfrm>
              <a:off x="96" y="3888"/>
              <a:ext cx="912" cy="432"/>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1600">
                  <a:solidFill>
                    <a:srgbClr val="000000"/>
                  </a:solidFill>
                </a:rPr>
                <a:t>platforms</a:t>
              </a:r>
            </a:p>
          </p:txBody>
        </p:sp>
        <p:sp>
          <p:nvSpPr>
            <p:cNvPr id="52295" name="Line 20"/>
            <p:cNvSpPr>
              <a:spLocks noChangeAspect="1" noChangeShapeType="1"/>
            </p:cNvSpPr>
            <p:nvPr/>
          </p:nvSpPr>
          <p:spPr bwMode="auto">
            <a:xfrm flipH="1">
              <a:off x="1008" y="3792"/>
              <a:ext cx="672" cy="288"/>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52296" name="Line 21"/>
            <p:cNvSpPr>
              <a:spLocks noChangeAspect="1" noChangeShapeType="1"/>
            </p:cNvSpPr>
            <p:nvPr/>
          </p:nvSpPr>
          <p:spPr bwMode="auto">
            <a:xfrm>
              <a:off x="4128" y="3792"/>
              <a:ext cx="720" cy="288"/>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aphicFrame>
        <p:nvGraphicFramePr>
          <p:cNvPr id="423959" name="Group 23"/>
          <p:cNvGraphicFramePr>
            <a:graphicFrameLocks noGrp="1"/>
          </p:cNvGraphicFramePr>
          <p:nvPr>
            <p:extLst>
              <p:ext uri="{D42A27DB-BD31-4B8C-83A1-F6EECF244321}">
                <p14:modId xmlns:p14="http://schemas.microsoft.com/office/powerpoint/2010/main" val="3973727192"/>
              </p:ext>
            </p:extLst>
          </p:nvPr>
        </p:nvGraphicFramePr>
        <p:xfrm>
          <a:off x="7010400" y="914400"/>
          <a:ext cx="2286000" cy="1981200"/>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sng" strike="noStrike" cap="none" normalizeH="0" baseline="0">
                          <a:ln>
                            <a:noFill/>
                          </a:ln>
                          <a:solidFill>
                            <a:schemeClr val="accent2"/>
                          </a:solidFill>
                          <a:effectLst/>
                          <a:latin typeface="Times New Roman"/>
                        </a:rPr>
                        <a:t>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accent2"/>
                          </a:solidFill>
                          <a:effectLst/>
                          <a:latin typeface="Times New Roman"/>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Camera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49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Toy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a:rPr>
                        <a:t>39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23981" name="Group 45"/>
          <p:cNvGraphicFramePr>
            <a:graphicFrameLocks noGrp="1"/>
          </p:cNvGraphicFramePr>
          <p:nvPr>
            <p:extLst>
              <p:ext uri="{D42A27DB-BD31-4B8C-83A1-F6EECF244321}">
                <p14:modId xmlns:p14="http://schemas.microsoft.com/office/powerpoint/2010/main" val="415342701"/>
              </p:ext>
            </p:extLst>
          </p:nvPr>
        </p:nvGraphicFramePr>
        <p:xfrm>
          <a:off x="7772400" y="3276600"/>
          <a:ext cx="2667000" cy="990600"/>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sng" strike="noStrike" cap="none" normalizeH="0" baseline="0">
                          <a:ln>
                            <a:noFill/>
                          </a:ln>
                          <a:solidFill>
                            <a:schemeClr val="accent2"/>
                          </a:solidFill>
                          <a:effectLst/>
                          <a:latin typeface="Times New Roman" charset="0"/>
                        </a:rPr>
                        <a:t>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accent2"/>
                          </a:solidFill>
                          <a:effectLst/>
                          <a:latin typeface="Times New Roman" charset="0"/>
                        </a:rPr>
                        <a:t>platforms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err="1">
                          <a:ln>
                            <a:noFill/>
                          </a:ln>
                          <a:solidFill>
                            <a:schemeClr val="tx1"/>
                          </a:solidFill>
                          <a:effectLst/>
                          <a:latin typeface="Times New Roman" charset="0"/>
                        </a:rPr>
                        <a:t>unix</a:t>
                      </a:r>
                      <a:endParaRPr kumimoji="0" lang="en-US" sz="2000" b="0" i="0" u="none" strike="noStrike" cap="none" normalizeH="0" baseline="0">
                        <a:ln>
                          <a:noFill/>
                        </a:ln>
                        <a:solidFill>
                          <a:schemeClr val="tx1"/>
                        </a:solidFill>
                        <a:effectLst/>
                        <a:latin typeface="Times New Roman"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23992" name="Group 56"/>
          <p:cNvGraphicFramePr>
            <a:graphicFrameLocks noGrp="1"/>
          </p:cNvGraphicFramePr>
          <p:nvPr>
            <p:extLst>
              <p:ext uri="{D42A27DB-BD31-4B8C-83A1-F6EECF244321}">
                <p14:modId xmlns:p14="http://schemas.microsoft.com/office/powerpoint/2010/main" val="1740262300"/>
              </p:ext>
            </p:extLst>
          </p:nvPr>
        </p:nvGraphicFramePr>
        <p:xfrm>
          <a:off x="7696200" y="4800600"/>
          <a:ext cx="2667000" cy="1485900"/>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sng" strike="noStrike" cap="none" normalizeH="0" baseline="0">
                          <a:ln>
                            <a:noFill/>
                          </a:ln>
                          <a:solidFill>
                            <a:schemeClr val="accent2"/>
                          </a:solidFill>
                          <a:effectLst/>
                          <a:latin typeface="Times New Roman" charset="0"/>
                        </a:rPr>
                        <a:t>name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err="1">
                          <a:ln>
                            <a:noFill/>
                          </a:ln>
                          <a:solidFill>
                            <a:schemeClr val="accent2"/>
                          </a:solidFill>
                          <a:effectLst/>
                          <a:latin typeface="Times New Roman" charset="0"/>
                        </a:rPr>
                        <a:t>ageGroup</a:t>
                      </a:r>
                      <a:endParaRPr kumimoji="0" lang="en-US" sz="2000" b="0" i="0" u="none" strike="noStrike" cap="none" normalizeH="0" baseline="0">
                        <a:ln>
                          <a:noFill/>
                        </a:ln>
                        <a:solidFill>
                          <a:schemeClr val="accent2"/>
                        </a:solidFill>
                        <a:effectLst/>
                        <a:latin typeface="Times New Roman"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Gizmo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toddler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Toy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retired</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2276" name="Text Box 70"/>
          <p:cNvSpPr txBox="1">
            <a:spLocks noChangeArrowheads="1"/>
          </p:cNvSpPr>
          <p:nvPr/>
        </p:nvSpPr>
        <p:spPr bwMode="auto">
          <a:xfrm>
            <a:off x="6562726" y="385742"/>
            <a:ext cx="1163973" cy="461665"/>
          </a:xfrm>
          <a:prstGeom prst="rect">
            <a:avLst/>
          </a:prstGeom>
          <a:noFill/>
          <a:ln w="9525">
            <a:noFill/>
            <a:miter lim="800000"/>
            <a:headEnd/>
            <a:tailEnd/>
          </a:ln>
        </p:spPr>
        <p:txBody>
          <a:bodyPr wrap="none">
            <a:prstTxWarp prst="textNoShape">
              <a:avLst/>
            </a:prstTxWarp>
            <a:spAutoFit/>
          </a:bodyPr>
          <a:lstStyle/>
          <a:p>
            <a:pPr fontAlgn="base">
              <a:spcBef>
                <a:spcPct val="0"/>
              </a:spcBef>
              <a:spcAft>
                <a:spcPct val="0"/>
              </a:spcAft>
            </a:pPr>
            <a:r>
              <a:rPr lang="en-US" sz="2400">
                <a:solidFill>
                  <a:schemeClr val="accent2"/>
                </a:solidFill>
              </a:rPr>
              <a:t>Product</a:t>
            </a:r>
          </a:p>
        </p:txBody>
      </p:sp>
      <p:sp>
        <p:nvSpPr>
          <p:cNvPr id="52277" name="Text Box 71"/>
          <p:cNvSpPr txBox="1">
            <a:spLocks noChangeArrowheads="1"/>
          </p:cNvSpPr>
          <p:nvPr/>
        </p:nvSpPr>
        <p:spPr bwMode="auto">
          <a:xfrm>
            <a:off x="6096001" y="3200400"/>
            <a:ext cx="1598613" cy="457200"/>
          </a:xfrm>
          <a:prstGeom prst="rect">
            <a:avLst/>
          </a:prstGeom>
          <a:noFill/>
          <a:ln w="9525">
            <a:noFill/>
            <a:miter lim="800000"/>
            <a:headEnd/>
            <a:tailEnd/>
          </a:ln>
        </p:spPr>
        <p:txBody>
          <a:bodyPr wrap="none">
            <a:prstTxWarp prst="textNoShape">
              <a:avLst/>
            </a:prstTxWarp>
            <a:spAutoFit/>
          </a:bodyPr>
          <a:lstStyle/>
          <a:p>
            <a:pPr fontAlgn="base">
              <a:spcBef>
                <a:spcPct val="0"/>
              </a:spcBef>
              <a:spcAft>
                <a:spcPct val="0"/>
              </a:spcAft>
            </a:pPr>
            <a:r>
              <a:rPr lang="en-US" sz="2400">
                <a:solidFill>
                  <a:schemeClr val="accent2"/>
                </a:solidFill>
              </a:rPr>
              <a:t>Sw.Product</a:t>
            </a:r>
          </a:p>
        </p:txBody>
      </p:sp>
      <p:sp>
        <p:nvSpPr>
          <p:cNvPr id="52278" name="Text Box 72"/>
          <p:cNvSpPr txBox="1">
            <a:spLocks noChangeArrowheads="1"/>
          </p:cNvSpPr>
          <p:nvPr/>
        </p:nvSpPr>
        <p:spPr bwMode="auto">
          <a:xfrm>
            <a:off x="6629401" y="4267200"/>
            <a:ext cx="1546225" cy="457200"/>
          </a:xfrm>
          <a:prstGeom prst="rect">
            <a:avLst/>
          </a:prstGeom>
          <a:noFill/>
          <a:ln w="9525">
            <a:noFill/>
            <a:miter lim="800000"/>
            <a:headEnd/>
            <a:tailEnd/>
          </a:ln>
        </p:spPr>
        <p:txBody>
          <a:bodyPr wrap="none">
            <a:prstTxWarp prst="textNoShape">
              <a:avLst/>
            </a:prstTxWarp>
            <a:spAutoFit/>
          </a:bodyPr>
          <a:lstStyle/>
          <a:p>
            <a:pPr fontAlgn="base">
              <a:spcBef>
                <a:spcPct val="0"/>
              </a:spcBef>
              <a:spcAft>
                <a:spcPct val="0"/>
              </a:spcAft>
            </a:pPr>
            <a:r>
              <a:rPr lang="en-US" sz="2400">
                <a:solidFill>
                  <a:schemeClr val="accent2"/>
                </a:solidFill>
              </a:rPr>
              <a:t>Ed.Product</a:t>
            </a:r>
          </a:p>
        </p:txBody>
      </p:sp>
      <p:cxnSp>
        <p:nvCxnSpPr>
          <p:cNvPr id="31" name="Straight Connector 30"/>
          <p:cNvCxnSpPr>
            <a:stCxn id="52289" idx="0"/>
            <a:endCxn id="52286" idx="3"/>
          </p:cNvCxnSpPr>
          <p:nvPr/>
        </p:nvCxnSpPr>
        <p:spPr bwMode="auto">
          <a:xfrm flipV="1">
            <a:off x="1678661" y="4280957"/>
            <a:ext cx="1616021" cy="50750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2" name="Straight Connector 31"/>
          <p:cNvCxnSpPr>
            <a:stCxn id="52288" idx="0"/>
            <a:endCxn id="52286" idx="3"/>
          </p:cNvCxnSpPr>
          <p:nvPr/>
        </p:nvCxnSpPr>
        <p:spPr bwMode="auto">
          <a:xfrm flipH="1" flipV="1">
            <a:off x="3294682" y="4280957"/>
            <a:ext cx="1715470" cy="507506"/>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5" name="Straight Connector 34"/>
          <p:cNvCxnSpPr>
            <a:stCxn id="52286" idx="0"/>
            <a:endCxn id="52279" idx="2"/>
          </p:cNvCxnSpPr>
          <p:nvPr/>
        </p:nvCxnSpPr>
        <p:spPr bwMode="auto">
          <a:xfrm flipV="1">
            <a:off x="3294682" y="3595306"/>
            <a:ext cx="49724" cy="138787"/>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6642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39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39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399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6" grpId="0"/>
      <p:bldP spid="52277" grpId="0"/>
      <p:bldP spid="5227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IsA</a:t>
            </a:r>
            <a:r>
              <a:rPr lang="en-US"/>
              <a:t> Review</a:t>
            </a:r>
          </a:p>
        </p:txBody>
      </p:sp>
      <p:sp>
        <p:nvSpPr>
          <p:cNvPr id="3" name="Content Placeholder 2"/>
          <p:cNvSpPr>
            <a:spLocks noGrp="1"/>
          </p:cNvSpPr>
          <p:nvPr>
            <p:ph idx="1"/>
          </p:nvPr>
        </p:nvSpPr>
        <p:spPr/>
        <p:txBody>
          <a:bodyPr/>
          <a:lstStyle/>
          <a:p>
            <a:r>
              <a:rPr lang="en-US"/>
              <a:t>If we declare </a:t>
            </a:r>
            <a:r>
              <a:rPr lang="en-US" b="1" i="1"/>
              <a:t>A </a:t>
            </a:r>
            <a:r>
              <a:rPr lang="en-US" b="1" i="1" err="1"/>
              <a:t>IsA</a:t>
            </a:r>
            <a:r>
              <a:rPr lang="en-US" b="1" i="1"/>
              <a:t> B </a:t>
            </a:r>
            <a:r>
              <a:rPr lang="en-US"/>
              <a:t>then every </a:t>
            </a:r>
            <a:r>
              <a:rPr lang="en-US" b="1"/>
              <a:t>A</a:t>
            </a:r>
            <a:r>
              <a:rPr lang="en-US"/>
              <a:t> is a </a:t>
            </a:r>
            <a:r>
              <a:rPr lang="en-US" b="1"/>
              <a:t>B</a:t>
            </a:r>
          </a:p>
          <a:p>
            <a:endParaRPr lang="en-US"/>
          </a:p>
          <a:p>
            <a:r>
              <a:rPr lang="en-US"/>
              <a:t>We use </a:t>
            </a:r>
            <a:r>
              <a:rPr lang="en-US" err="1"/>
              <a:t>IsA</a:t>
            </a:r>
            <a:r>
              <a:rPr lang="en-US"/>
              <a:t> to</a:t>
            </a:r>
          </a:p>
          <a:p>
            <a:pPr lvl="1"/>
            <a:endParaRPr lang="en-US"/>
          </a:p>
          <a:p>
            <a:pPr lvl="1"/>
            <a:r>
              <a:rPr lang="en-US"/>
              <a:t>Add descriptive attributes to a subclass</a:t>
            </a:r>
          </a:p>
          <a:p>
            <a:pPr lvl="1"/>
            <a:endParaRPr lang="en-US"/>
          </a:p>
          <a:p>
            <a:pPr lvl="1"/>
            <a:r>
              <a:rPr lang="en-US"/>
              <a:t>To identify entities that participate in a relationship</a:t>
            </a:r>
          </a:p>
          <a:p>
            <a:pPr lvl="1"/>
            <a:endParaRPr lang="en-US"/>
          </a:p>
          <a:p>
            <a:r>
              <a:rPr lang="en-US" b="1"/>
              <a:t>No need for multiple inheritance</a:t>
            </a:r>
          </a:p>
          <a:p>
            <a:endParaRPr lang="en-US"/>
          </a:p>
        </p:txBody>
      </p:sp>
      <p:sp>
        <p:nvSpPr>
          <p:cNvPr id="4" name="Slide Number Placeholder 3"/>
          <p:cNvSpPr>
            <a:spLocks noGrp="1"/>
          </p:cNvSpPr>
          <p:nvPr>
            <p:ph type="sldNum" sz="quarter" idx="12"/>
          </p:nvPr>
        </p:nvSpPr>
        <p:spPr/>
        <p:txBody>
          <a:bodyPr/>
          <a:lstStyle/>
          <a:p>
            <a:pPr>
              <a:defRPr/>
            </a:pPr>
            <a:fld id="{C3D4CD00-30DF-8443-816B-88C3C65D8B99}" type="slidenum">
              <a:rPr lang="en-US" smtClean="0">
                <a:solidFill>
                  <a:srgbClr val="000000"/>
                </a:solidFill>
              </a:rPr>
              <a:pPr>
                <a:defRPr/>
              </a:pPr>
              <a:t>88</a:t>
            </a:fld>
            <a:endParaRPr lang="en-US">
              <a:solidFill>
                <a:srgbClr val="000000"/>
              </a:solidFill>
            </a:endParaRPr>
          </a:p>
        </p:txBody>
      </p:sp>
    </p:spTree>
    <p:extLst>
      <p:ext uri="{BB962C8B-B14F-4D97-AF65-F5344CB8AC3E}">
        <p14:creationId xmlns:p14="http://schemas.microsoft.com/office/powerpoint/2010/main" val="115974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t>Modeling UnionTypes With Subclasses</a:t>
            </a:r>
          </a:p>
        </p:txBody>
      </p:sp>
      <p:sp>
        <p:nvSpPr>
          <p:cNvPr id="56322" name="Slide Number Placeholder 5"/>
          <p:cNvSpPr>
            <a:spLocks noGrp="1"/>
          </p:cNvSpPr>
          <p:nvPr>
            <p:ph type="sldNum" sz="quarter" idx="12"/>
          </p:nvPr>
        </p:nvSpPr>
        <p:spPr>
          <a:noFill/>
        </p:spPr>
        <p:txBody>
          <a:bodyPr/>
          <a:lstStyle/>
          <a:p>
            <a:fld id="{686A7F3C-EFFD-084E-AF2F-40723FF13C24}" type="slidenum">
              <a:rPr lang="en-US" smtClean="0">
                <a:solidFill>
                  <a:srgbClr val="000000"/>
                </a:solidFill>
              </a:rPr>
              <a:pPr/>
              <a:t>89</a:t>
            </a:fld>
            <a:endParaRPr lang="en-US">
              <a:solidFill>
                <a:srgbClr val="000000"/>
              </a:solidFill>
            </a:endParaRPr>
          </a:p>
        </p:txBody>
      </p:sp>
      <p:sp>
        <p:nvSpPr>
          <p:cNvPr id="56325" name="Rectangle 7"/>
          <p:cNvSpPr>
            <a:spLocks noChangeArrowheads="1"/>
          </p:cNvSpPr>
          <p:nvPr/>
        </p:nvSpPr>
        <p:spPr bwMode="auto">
          <a:xfrm>
            <a:off x="2895600" y="4747866"/>
            <a:ext cx="6705600" cy="1384995"/>
          </a:xfrm>
          <a:prstGeom prst="rect">
            <a:avLst/>
          </a:prstGeom>
          <a:noFill/>
          <a:ln w="9525">
            <a:noFill/>
            <a:miter lim="800000"/>
            <a:headEnd/>
            <a:tailEnd/>
          </a:ln>
        </p:spPr>
        <p:txBody>
          <a:bodyPr anchor="ctr">
            <a:prstTxWarp prst="textNoShape">
              <a:avLst/>
            </a:prstTxWarp>
            <a:spAutoFit/>
          </a:bodyPr>
          <a:lstStyle/>
          <a:p>
            <a:pPr eaLnBrk="0" fontAlgn="base" hangingPunct="0">
              <a:spcBef>
                <a:spcPct val="0"/>
              </a:spcBef>
              <a:spcAft>
                <a:spcPct val="0"/>
              </a:spcAft>
            </a:pPr>
            <a:r>
              <a:rPr lang="en-US" sz="2800">
                <a:solidFill>
                  <a:srgbClr val="000000"/>
                </a:solidFill>
                <a:latin typeface="+mj-lt"/>
              </a:rPr>
              <a:t>Suppose each piece of furniture is owned either by a person, or by a company.  </a:t>
            </a:r>
            <a:r>
              <a:rPr lang="en-US" sz="2800" i="1">
                <a:solidFill>
                  <a:srgbClr val="000000"/>
                </a:solidFill>
                <a:latin typeface="+mj-lt"/>
              </a:rPr>
              <a:t>How do we represent this?</a:t>
            </a:r>
          </a:p>
        </p:txBody>
      </p:sp>
      <p:sp>
        <p:nvSpPr>
          <p:cNvPr id="12" name="Rectangle 5"/>
          <p:cNvSpPr>
            <a:spLocks noChangeArrowheads="1"/>
          </p:cNvSpPr>
          <p:nvPr/>
        </p:nvSpPr>
        <p:spPr bwMode="auto">
          <a:xfrm>
            <a:off x="5334000" y="2985914"/>
            <a:ext cx="1985963"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FurniturePiece</a:t>
            </a:r>
          </a:p>
        </p:txBody>
      </p:sp>
      <p:sp>
        <p:nvSpPr>
          <p:cNvPr id="13" name="Rectangle 6"/>
          <p:cNvSpPr>
            <a:spLocks noChangeArrowheads="1"/>
          </p:cNvSpPr>
          <p:nvPr/>
        </p:nvSpPr>
        <p:spPr bwMode="auto">
          <a:xfrm>
            <a:off x="2895600" y="2985914"/>
            <a:ext cx="1023938"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Person</a:t>
            </a:r>
          </a:p>
        </p:txBody>
      </p:sp>
      <p:sp>
        <p:nvSpPr>
          <p:cNvPr id="14" name="Rectangle 7"/>
          <p:cNvSpPr>
            <a:spLocks noChangeArrowheads="1"/>
          </p:cNvSpPr>
          <p:nvPr/>
        </p:nvSpPr>
        <p:spPr bwMode="auto">
          <a:xfrm>
            <a:off x="8610600" y="2985914"/>
            <a:ext cx="1377950" cy="466725"/>
          </a:xfrm>
          <a:prstGeom prst="rect">
            <a:avLst/>
          </a:prstGeom>
          <a:solidFill>
            <a:schemeClr val="accent2">
              <a:lumMod val="20000"/>
              <a:lumOff val="80000"/>
            </a:schemeClr>
          </a:solidFill>
          <a:ln w="9525">
            <a:solidFill>
              <a:schemeClr val="tx1"/>
            </a:solidFill>
            <a:miter lim="800000"/>
            <a:headEnd/>
            <a:tailEnd/>
          </a:ln>
        </p:spPr>
        <p:txBody>
          <a:bodyPr wrap="none">
            <a:prstTxWarp prst="textNoShape">
              <a:avLst/>
            </a:prstTxWarp>
            <a:spAutoFit/>
          </a:bodyPr>
          <a:lstStyle/>
          <a:p>
            <a:pPr marL="342900" indent="-342900" fontAlgn="base">
              <a:spcBef>
                <a:spcPct val="20000"/>
              </a:spcBef>
              <a:spcAft>
                <a:spcPct val="0"/>
              </a:spcAft>
            </a:pPr>
            <a:r>
              <a:rPr lang="en-US" sz="2400">
                <a:solidFill>
                  <a:srgbClr val="000000"/>
                </a:solidFill>
              </a:rPr>
              <a:t>Company</a:t>
            </a:r>
          </a:p>
        </p:txBody>
      </p:sp>
    </p:spTree>
    <p:extLst>
      <p:ext uri="{BB962C8B-B14F-4D97-AF65-F5344CB8AC3E}">
        <p14:creationId xmlns:p14="http://schemas.microsoft.com/office/powerpoint/2010/main" val="133522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Modeling Union Types with Subclasses</a:t>
            </a:r>
          </a:p>
        </p:txBody>
      </p:sp>
      <p:sp>
        <p:nvSpPr>
          <p:cNvPr id="57348" name="Rectangle 3"/>
          <p:cNvSpPr>
            <a:spLocks noGrp="1" noChangeArrowheads="1"/>
          </p:cNvSpPr>
          <p:nvPr>
            <p:ph idx="1"/>
          </p:nvPr>
        </p:nvSpPr>
        <p:spPr>
          <a:xfrm>
            <a:off x="1752600" y="1752600"/>
            <a:ext cx="8686800" cy="4114800"/>
          </a:xfrm>
        </p:spPr>
        <p:txBody>
          <a:bodyPr/>
          <a:lstStyle/>
          <a:p>
            <a:pPr eaLnBrk="1" hangingPunct="1">
              <a:buFontTx/>
              <a:buNone/>
            </a:pPr>
            <a:r>
              <a:rPr lang="en-US">
                <a:latin typeface="+mj-lt"/>
              </a:rPr>
              <a:t>Say: each piece of furniture is owned either by a person, or by a company</a:t>
            </a:r>
          </a:p>
          <a:p>
            <a:pPr eaLnBrk="1" hangingPunct="1">
              <a:buFontTx/>
              <a:buNone/>
            </a:pPr>
            <a:endParaRPr lang="en-US">
              <a:latin typeface="+mj-lt"/>
            </a:endParaRPr>
          </a:p>
          <a:p>
            <a:pPr eaLnBrk="1" hangingPunct="1">
              <a:buFontTx/>
              <a:buNone/>
            </a:pPr>
            <a:r>
              <a:rPr lang="en-US" b="1" u="sng">
                <a:latin typeface="+mj-lt"/>
              </a:rPr>
              <a:t>Solution 1.</a:t>
            </a:r>
            <a:r>
              <a:rPr lang="en-US">
                <a:latin typeface="+mj-lt"/>
              </a:rPr>
              <a:t> Acceptable, but imperfect (What’s wrong ?)</a:t>
            </a:r>
          </a:p>
        </p:txBody>
      </p:sp>
      <p:sp>
        <p:nvSpPr>
          <p:cNvPr id="57346" name="Slide Number Placeholder 5"/>
          <p:cNvSpPr>
            <a:spLocks noGrp="1"/>
          </p:cNvSpPr>
          <p:nvPr>
            <p:ph type="sldNum" sz="quarter" idx="12"/>
          </p:nvPr>
        </p:nvSpPr>
        <p:spPr>
          <a:noFill/>
        </p:spPr>
        <p:txBody>
          <a:bodyPr/>
          <a:lstStyle/>
          <a:p>
            <a:fld id="{CA98AD77-1974-5D42-8093-FA6544DB5CAB}" type="slidenum">
              <a:rPr lang="en-US" smtClean="0">
                <a:solidFill>
                  <a:srgbClr val="000000"/>
                </a:solidFill>
              </a:rPr>
              <a:pPr/>
              <a:t>90</a:t>
            </a:fld>
            <a:endParaRPr lang="en-US">
              <a:solidFill>
                <a:srgbClr val="000000"/>
              </a:solidFill>
            </a:endParaRPr>
          </a:p>
        </p:txBody>
      </p:sp>
      <p:sp>
        <p:nvSpPr>
          <p:cNvPr id="57350" name="Rectangle 5"/>
          <p:cNvSpPr>
            <a:spLocks noChangeArrowheads="1"/>
          </p:cNvSpPr>
          <p:nvPr/>
        </p:nvSpPr>
        <p:spPr bwMode="auto">
          <a:xfrm>
            <a:off x="5181600" y="3979862"/>
            <a:ext cx="1985963"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FurniturePiece</a:t>
            </a:r>
          </a:p>
        </p:txBody>
      </p:sp>
      <p:sp>
        <p:nvSpPr>
          <p:cNvPr id="57351" name="Rectangle 6"/>
          <p:cNvSpPr>
            <a:spLocks noChangeArrowheads="1"/>
          </p:cNvSpPr>
          <p:nvPr/>
        </p:nvSpPr>
        <p:spPr bwMode="auto">
          <a:xfrm>
            <a:off x="2743200" y="3979862"/>
            <a:ext cx="1023938"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Person</a:t>
            </a:r>
          </a:p>
        </p:txBody>
      </p:sp>
      <p:sp>
        <p:nvSpPr>
          <p:cNvPr id="57352" name="Rectangle 7"/>
          <p:cNvSpPr>
            <a:spLocks noChangeArrowheads="1"/>
          </p:cNvSpPr>
          <p:nvPr/>
        </p:nvSpPr>
        <p:spPr bwMode="auto">
          <a:xfrm>
            <a:off x="8458200" y="3979862"/>
            <a:ext cx="1377950" cy="466725"/>
          </a:xfrm>
          <a:prstGeom prst="rect">
            <a:avLst/>
          </a:prstGeom>
          <a:solidFill>
            <a:schemeClr val="accent2">
              <a:lumMod val="20000"/>
              <a:lumOff val="80000"/>
            </a:schemeClr>
          </a:solidFill>
          <a:ln w="9525">
            <a:solidFill>
              <a:schemeClr val="tx1"/>
            </a:solidFill>
            <a:miter lim="800000"/>
            <a:headEnd/>
            <a:tailEnd/>
          </a:ln>
        </p:spPr>
        <p:txBody>
          <a:bodyPr wrap="none">
            <a:prstTxWarp prst="textNoShape">
              <a:avLst/>
            </a:prstTxWarp>
            <a:spAutoFit/>
          </a:bodyPr>
          <a:lstStyle/>
          <a:p>
            <a:pPr marL="342900" indent="-342900" fontAlgn="base">
              <a:spcBef>
                <a:spcPct val="20000"/>
              </a:spcBef>
              <a:spcAft>
                <a:spcPct val="0"/>
              </a:spcAft>
            </a:pPr>
            <a:r>
              <a:rPr lang="en-US" sz="2400">
                <a:solidFill>
                  <a:srgbClr val="000000"/>
                </a:solidFill>
              </a:rPr>
              <a:t>Company</a:t>
            </a:r>
          </a:p>
        </p:txBody>
      </p:sp>
      <p:sp>
        <p:nvSpPr>
          <p:cNvPr id="57353" name="AutoShape 8"/>
          <p:cNvSpPr>
            <a:spLocks noChangeArrowheads="1"/>
          </p:cNvSpPr>
          <p:nvPr/>
        </p:nvSpPr>
        <p:spPr bwMode="auto">
          <a:xfrm>
            <a:off x="3505200" y="5122862"/>
            <a:ext cx="2286000" cy="141605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ownedByPerson</a:t>
            </a:r>
          </a:p>
        </p:txBody>
      </p:sp>
      <p:sp>
        <p:nvSpPr>
          <p:cNvPr id="57354" name="AutoShape 9"/>
          <p:cNvSpPr>
            <a:spLocks noChangeArrowheads="1"/>
          </p:cNvSpPr>
          <p:nvPr/>
        </p:nvSpPr>
        <p:spPr bwMode="auto">
          <a:xfrm>
            <a:off x="6705600" y="5122862"/>
            <a:ext cx="2286000" cy="141605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err="1">
                <a:solidFill>
                  <a:srgbClr val="000000"/>
                </a:solidFill>
              </a:rPr>
              <a:t>ownedByComp</a:t>
            </a:r>
            <a:endParaRPr lang="en-US" sz="2400">
              <a:solidFill>
                <a:srgbClr val="000000"/>
              </a:solidFill>
            </a:endParaRPr>
          </a:p>
        </p:txBody>
      </p:sp>
      <p:cxnSp>
        <p:nvCxnSpPr>
          <p:cNvPr id="16" name="Straight Arrow Connector 15"/>
          <p:cNvCxnSpPr>
            <a:stCxn id="57350" idx="2"/>
            <a:endCxn id="57353" idx="3"/>
          </p:cNvCxnSpPr>
          <p:nvPr/>
        </p:nvCxnSpPr>
        <p:spPr bwMode="auto">
          <a:xfrm rot="5400000">
            <a:off x="5290741" y="4947046"/>
            <a:ext cx="1384300" cy="383382"/>
          </a:xfrm>
          <a:prstGeom prst="straightConnector1">
            <a:avLst/>
          </a:prstGeom>
          <a:solidFill>
            <a:srgbClr val="C0C0C0">
              <a:alpha val="50000"/>
            </a:srgbClr>
          </a:solidFill>
          <a:ln w="9525" cap="flat" cmpd="sng" algn="ctr">
            <a:solidFill>
              <a:schemeClr val="tx1"/>
            </a:solidFill>
            <a:prstDash val="solid"/>
            <a:round/>
            <a:headEnd type="none" w="med" len="med"/>
            <a:tailEnd type="triangle" w="lg" len="lg"/>
          </a:ln>
          <a:effectLst/>
        </p:spPr>
      </p:cxnSp>
      <p:cxnSp>
        <p:nvCxnSpPr>
          <p:cNvPr id="18" name="Straight Arrow Connector 17"/>
          <p:cNvCxnSpPr>
            <a:stCxn id="57350" idx="2"/>
            <a:endCxn id="57354" idx="1"/>
          </p:cNvCxnSpPr>
          <p:nvPr/>
        </p:nvCxnSpPr>
        <p:spPr bwMode="auto">
          <a:xfrm rot="16200000" flipH="1">
            <a:off x="5747941" y="4873228"/>
            <a:ext cx="1384300" cy="531018"/>
          </a:xfrm>
          <a:prstGeom prst="straightConnector1">
            <a:avLst/>
          </a:prstGeom>
          <a:solidFill>
            <a:srgbClr val="C0C0C0">
              <a:alpha val="50000"/>
            </a:srgbClr>
          </a:solidFill>
          <a:ln w="9525" cap="flat" cmpd="sng" algn="ctr">
            <a:solidFill>
              <a:schemeClr val="tx1"/>
            </a:solidFill>
            <a:prstDash val="solid"/>
            <a:round/>
            <a:headEnd type="none" w="med" len="med"/>
            <a:tailEnd type="triangle" w="lg" len="lg"/>
          </a:ln>
          <a:effectLst/>
        </p:spPr>
      </p:cxnSp>
      <p:cxnSp>
        <p:nvCxnSpPr>
          <p:cNvPr id="20" name="Straight Connector 19"/>
          <p:cNvCxnSpPr>
            <a:stCxn id="57353" idx="1"/>
            <a:endCxn id="57351" idx="2"/>
          </p:cNvCxnSpPr>
          <p:nvPr/>
        </p:nvCxnSpPr>
        <p:spPr bwMode="auto">
          <a:xfrm rot="10800000">
            <a:off x="3255171" y="4446587"/>
            <a:ext cx="250031" cy="13843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21" name="Straight Connector 20"/>
          <p:cNvCxnSpPr>
            <a:stCxn id="57354" idx="3"/>
            <a:endCxn id="57352" idx="2"/>
          </p:cNvCxnSpPr>
          <p:nvPr/>
        </p:nvCxnSpPr>
        <p:spPr bwMode="auto">
          <a:xfrm flipV="1">
            <a:off x="8991601" y="4446587"/>
            <a:ext cx="155575" cy="138430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0547539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n-US"/>
              <a:t>Modeling Union Types with Subclasses</a:t>
            </a:r>
          </a:p>
        </p:txBody>
      </p:sp>
      <p:sp>
        <p:nvSpPr>
          <p:cNvPr id="58372" name="Rectangle 3"/>
          <p:cNvSpPr>
            <a:spLocks noGrp="1" noChangeArrowheads="1"/>
          </p:cNvSpPr>
          <p:nvPr>
            <p:ph idx="1"/>
          </p:nvPr>
        </p:nvSpPr>
        <p:spPr>
          <a:xfrm>
            <a:off x="914400" y="1750071"/>
            <a:ext cx="10363200" cy="4114800"/>
          </a:xfrm>
        </p:spPr>
        <p:txBody>
          <a:bodyPr/>
          <a:lstStyle/>
          <a:p>
            <a:pPr eaLnBrk="1" hangingPunct="1">
              <a:buFontTx/>
              <a:buNone/>
            </a:pPr>
            <a:r>
              <a:rPr lang="en-US"/>
              <a:t>Solution 2: better (though more laborious)</a:t>
            </a:r>
          </a:p>
        </p:txBody>
      </p:sp>
      <p:sp>
        <p:nvSpPr>
          <p:cNvPr id="58370" name="Slide Number Placeholder 5"/>
          <p:cNvSpPr>
            <a:spLocks noGrp="1"/>
          </p:cNvSpPr>
          <p:nvPr>
            <p:ph type="sldNum" sz="quarter" idx="12"/>
          </p:nvPr>
        </p:nvSpPr>
        <p:spPr>
          <a:noFill/>
        </p:spPr>
        <p:txBody>
          <a:bodyPr/>
          <a:lstStyle/>
          <a:p>
            <a:fld id="{01A54DBA-92F2-4B41-B2E1-CEAA340DECD1}" type="slidenum">
              <a:rPr lang="en-US" smtClean="0">
                <a:solidFill>
                  <a:srgbClr val="000000"/>
                </a:solidFill>
              </a:rPr>
              <a:pPr/>
              <a:t>91</a:t>
            </a:fld>
            <a:endParaRPr lang="en-US">
              <a:solidFill>
                <a:srgbClr val="000000"/>
              </a:solidFill>
            </a:endParaRPr>
          </a:p>
        </p:txBody>
      </p:sp>
      <p:sp>
        <p:nvSpPr>
          <p:cNvPr id="58376" name="Rectangle 7"/>
          <p:cNvSpPr>
            <a:spLocks noGrp="1" noChangeArrowheads="1"/>
          </p:cNvSpPr>
          <p:nvPr>
            <p:ph type="body" idx="4294967295"/>
          </p:nvPr>
        </p:nvSpPr>
        <p:spPr>
          <a:xfrm>
            <a:off x="8319294" y="5105401"/>
            <a:ext cx="1377950" cy="466725"/>
          </a:xfrm>
          <a:solidFill>
            <a:schemeClr val="accent2">
              <a:lumMod val="20000"/>
              <a:lumOff val="80000"/>
            </a:schemeClr>
          </a:solidFill>
          <a:ln>
            <a:solidFill>
              <a:schemeClr val="tx1"/>
            </a:solidFill>
          </a:ln>
        </p:spPr>
        <p:txBody>
          <a:bodyPr wrap="none">
            <a:spAutoFit/>
          </a:bodyPr>
          <a:lstStyle/>
          <a:p>
            <a:pPr eaLnBrk="1" hangingPunct="1">
              <a:buFontTx/>
              <a:buNone/>
            </a:pPr>
            <a:r>
              <a:rPr lang="en-US" sz="2400"/>
              <a:t>Company</a:t>
            </a:r>
          </a:p>
        </p:txBody>
      </p:sp>
      <p:sp>
        <p:nvSpPr>
          <p:cNvPr id="58374" name="Rectangle 5"/>
          <p:cNvSpPr>
            <a:spLocks noChangeArrowheads="1"/>
          </p:cNvSpPr>
          <p:nvPr/>
        </p:nvSpPr>
        <p:spPr bwMode="auto">
          <a:xfrm>
            <a:off x="5257801" y="2514601"/>
            <a:ext cx="1985963"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err="1">
                <a:solidFill>
                  <a:srgbClr val="000000"/>
                </a:solidFill>
              </a:rPr>
              <a:t>FurniturePiece</a:t>
            </a:r>
            <a:endParaRPr lang="en-US" sz="2400">
              <a:solidFill>
                <a:srgbClr val="000000"/>
              </a:solidFill>
            </a:endParaRPr>
          </a:p>
        </p:txBody>
      </p:sp>
      <p:sp>
        <p:nvSpPr>
          <p:cNvPr id="58375" name="Rectangle 6"/>
          <p:cNvSpPr>
            <a:spLocks noChangeArrowheads="1"/>
          </p:cNvSpPr>
          <p:nvPr/>
        </p:nvSpPr>
        <p:spPr bwMode="auto">
          <a:xfrm>
            <a:off x="3429000" y="5105401"/>
            <a:ext cx="1023036" cy="46166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Person</a:t>
            </a:r>
          </a:p>
        </p:txBody>
      </p:sp>
      <p:sp>
        <p:nvSpPr>
          <p:cNvPr id="58377" name="AutoShape 8"/>
          <p:cNvSpPr>
            <a:spLocks noChangeArrowheads="1"/>
          </p:cNvSpPr>
          <p:nvPr/>
        </p:nvSpPr>
        <p:spPr bwMode="auto">
          <a:xfrm>
            <a:off x="5105400" y="3581400"/>
            <a:ext cx="2286000" cy="8382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ownedBy</a:t>
            </a:r>
          </a:p>
        </p:txBody>
      </p:sp>
      <p:sp>
        <p:nvSpPr>
          <p:cNvPr id="58378" name="Rectangle 9"/>
          <p:cNvSpPr>
            <a:spLocks noChangeArrowheads="1"/>
          </p:cNvSpPr>
          <p:nvPr/>
        </p:nvSpPr>
        <p:spPr bwMode="auto">
          <a:xfrm>
            <a:off x="5715001" y="4953001"/>
            <a:ext cx="1023937" cy="466725"/>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Owner</a:t>
            </a:r>
          </a:p>
        </p:txBody>
      </p:sp>
      <p:sp>
        <p:nvSpPr>
          <p:cNvPr id="58379" name="AutoShape 10"/>
          <p:cNvSpPr>
            <a:spLocks noChangeAspect="1" noChangeArrowheads="1"/>
          </p:cNvSpPr>
          <p:nvPr/>
        </p:nvSpPr>
        <p:spPr bwMode="auto">
          <a:xfrm>
            <a:off x="5867400" y="5867401"/>
            <a:ext cx="762000" cy="644525"/>
          </a:xfrm>
          <a:prstGeom prst="triangle">
            <a:avLst>
              <a:gd name="adj" fmla="val 50000"/>
            </a:avLst>
          </a:prstGeom>
          <a:solidFill>
            <a:srgbClr val="00B0F0"/>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err="1">
                <a:solidFill>
                  <a:srgbClr val="000000"/>
                </a:solidFill>
              </a:rPr>
              <a:t>isa</a:t>
            </a:r>
            <a:endParaRPr lang="en-US" sz="2400">
              <a:solidFill>
                <a:srgbClr val="000000"/>
              </a:solidFill>
            </a:endParaRPr>
          </a:p>
        </p:txBody>
      </p:sp>
      <p:cxnSp>
        <p:nvCxnSpPr>
          <p:cNvPr id="23" name="Straight Connector 22"/>
          <p:cNvCxnSpPr>
            <a:stCxn id="58374" idx="2"/>
            <a:endCxn id="58377" idx="0"/>
          </p:cNvCxnSpPr>
          <p:nvPr/>
        </p:nvCxnSpPr>
        <p:spPr bwMode="auto">
          <a:xfrm rot="5400000">
            <a:off x="5949555" y="3280171"/>
            <a:ext cx="600075" cy="2382"/>
          </a:xfrm>
          <a:prstGeom prst="line">
            <a:avLst/>
          </a:prstGeom>
          <a:solidFill>
            <a:srgbClr val="C0C0C0">
              <a:alpha val="50000"/>
            </a:srgbClr>
          </a:solidFill>
          <a:ln w="9525" cap="flat" cmpd="sng" algn="ctr">
            <a:solidFill>
              <a:schemeClr val="tx1"/>
            </a:solidFill>
            <a:prstDash val="solid"/>
            <a:round/>
            <a:headEnd type="none" w="med" len="med"/>
            <a:tailEnd type="triangle" w="lg" len="lg"/>
          </a:ln>
          <a:effectLst/>
        </p:spPr>
      </p:cxnSp>
      <p:cxnSp>
        <p:nvCxnSpPr>
          <p:cNvPr id="25" name="Straight Connector 24"/>
          <p:cNvCxnSpPr>
            <a:stCxn id="58377" idx="2"/>
            <a:endCxn id="58378" idx="0"/>
          </p:cNvCxnSpPr>
          <p:nvPr/>
        </p:nvCxnSpPr>
        <p:spPr bwMode="auto">
          <a:xfrm rot="5400000">
            <a:off x="5970985" y="4675586"/>
            <a:ext cx="533400" cy="2143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7" name="Straight Connector 36"/>
          <p:cNvCxnSpPr>
            <a:stCxn id="58378" idx="2"/>
            <a:endCxn id="58379" idx="0"/>
          </p:cNvCxnSpPr>
          <p:nvPr/>
        </p:nvCxnSpPr>
        <p:spPr bwMode="auto">
          <a:xfrm rot="16200000" flipH="1">
            <a:off x="6013848" y="5632847"/>
            <a:ext cx="447675" cy="21431"/>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39" name="Elbow Connector 38"/>
          <p:cNvCxnSpPr>
            <a:stCxn id="58375" idx="2"/>
            <a:endCxn id="58379" idx="3"/>
          </p:cNvCxnSpPr>
          <p:nvPr/>
        </p:nvCxnSpPr>
        <p:spPr bwMode="auto">
          <a:xfrm rot="16200000" flipH="1">
            <a:off x="4622029" y="4885554"/>
            <a:ext cx="944860" cy="2307882"/>
          </a:xfrm>
          <a:prstGeom prst="bentConnector3">
            <a:avLst>
              <a:gd name="adj1" fmla="val 124194"/>
            </a:avLst>
          </a:prstGeom>
          <a:solidFill>
            <a:srgbClr val="C0C0C0">
              <a:alpha val="50000"/>
            </a:srgbClr>
          </a:solidFill>
          <a:ln w="9525" cap="flat" cmpd="sng" algn="ctr">
            <a:solidFill>
              <a:schemeClr val="tx1"/>
            </a:solidFill>
            <a:prstDash val="solid"/>
            <a:round/>
            <a:headEnd type="none" w="med" len="med"/>
            <a:tailEnd type="none" w="med" len="med"/>
          </a:ln>
          <a:effectLst/>
        </p:spPr>
      </p:cxnSp>
      <p:cxnSp>
        <p:nvCxnSpPr>
          <p:cNvPr id="41" name="Elbow Connector 40"/>
          <p:cNvCxnSpPr>
            <a:stCxn id="58379" idx="3"/>
            <a:endCxn id="58376" idx="2"/>
          </p:cNvCxnSpPr>
          <p:nvPr/>
        </p:nvCxnSpPr>
        <p:spPr bwMode="auto">
          <a:xfrm rot="5400000" flipH="1" flipV="1">
            <a:off x="7158434" y="4662091"/>
            <a:ext cx="939800" cy="2759869"/>
          </a:xfrm>
          <a:prstGeom prst="bentConnector3">
            <a:avLst>
              <a:gd name="adj1" fmla="val -24324"/>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2" name="TextBox 1"/>
          <p:cNvSpPr txBox="1"/>
          <p:nvPr/>
        </p:nvSpPr>
        <p:spPr>
          <a:xfrm>
            <a:off x="8397551" y="3009708"/>
            <a:ext cx="3269806" cy="461665"/>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none" rtlCol="0">
            <a:spAutoFit/>
          </a:bodyPr>
          <a:lstStyle/>
          <a:p>
            <a:r>
              <a:rPr lang="en-US" sz="2400">
                <a:latin typeface="+mj-lt"/>
              </a:rPr>
              <a:t>What is happening here?</a:t>
            </a:r>
          </a:p>
        </p:txBody>
      </p:sp>
    </p:spTree>
    <p:extLst>
      <p:ext uri="{BB962C8B-B14F-4D97-AF65-F5344CB8AC3E}">
        <p14:creationId xmlns:p14="http://schemas.microsoft.com/office/powerpoint/2010/main" val="56542957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2209800" y="381001"/>
            <a:ext cx="7772400" cy="1143000"/>
          </a:xfrm>
        </p:spPr>
        <p:txBody>
          <a:bodyPr/>
          <a:lstStyle/>
          <a:p>
            <a:pPr eaLnBrk="1" hangingPunct="1"/>
            <a:r>
              <a:rPr lang="en-US"/>
              <a:t>Constraints in E/R Diagrams</a:t>
            </a:r>
          </a:p>
        </p:txBody>
      </p:sp>
      <p:sp>
        <p:nvSpPr>
          <p:cNvPr id="59394" name="Slide Number Placeholder 4"/>
          <p:cNvSpPr>
            <a:spLocks noGrp="1"/>
          </p:cNvSpPr>
          <p:nvPr>
            <p:ph type="sldNum" sz="quarter" idx="12"/>
          </p:nvPr>
        </p:nvSpPr>
        <p:spPr>
          <a:noFill/>
        </p:spPr>
        <p:txBody>
          <a:bodyPr/>
          <a:lstStyle/>
          <a:p>
            <a:fld id="{E8045D88-1492-AE41-AA3B-0C79F03A2829}" type="slidenum">
              <a:rPr lang="en-US" smtClean="0">
                <a:solidFill>
                  <a:srgbClr val="000000"/>
                </a:solidFill>
              </a:rPr>
              <a:pPr/>
              <a:t>92</a:t>
            </a:fld>
            <a:endParaRPr lang="en-US">
              <a:solidFill>
                <a:srgbClr val="000000"/>
              </a:solidFill>
            </a:endParaRPr>
          </a:p>
        </p:txBody>
      </p:sp>
      <p:sp>
        <p:nvSpPr>
          <p:cNvPr id="59396" name="Text Box 3"/>
          <p:cNvSpPr txBox="1">
            <a:spLocks noChangeArrowheads="1"/>
          </p:cNvSpPr>
          <p:nvPr/>
        </p:nvSpPr>
        <p:spPr bwMode="auto">
          <a:xfrm>
            <a:off x="905069" y="1524001"/>
            <a:ext cx="10291666" cy="5262979"/>
          </a:xfrm>
          <a:prstGeom prst="rect">
            <a:avLst/>
          </a:prstGeom>
          <a:noFill/>
          <a:ln w="9525">
            <a:noFill/>
            <a:miter lim="800000"/>
            <a:headEnd/>
            <a:tailEnd/>
          </a:ln>
        </p:spPr>
        <p:txBody>
          <a:bodyPr wrap="square">
            <a:prstTxWarp prst="textNoShape">
              <a:avLst/>
            </a:prstTxWarp>
            <a:spAutoFit/>
          </a:bodyPr>
          <a:lstStyle/>
          <a:p>
            <a:pPr marL="342900" indent="-342900" eaLnBrk="0" fontAlgn="base" hangingPunct="0">
              <a:spcBef>
                <a:spcPct val="0"/>
              </a:spcBef>
              <a:spcAft>
                <a:spcPct val="0"/>
              </a:spcAft>
              <a:buFont typeface="Arial" charset="0"/>
              <a:buChar char="•"/>
            </a:pPr>
            <a:r>
              <a:rPr lang="en-US" sz="2400">
                <a:solidFill>
                  <a:srgbClr val="000000"/>
                </a:solidFill>
              </a:rPr>
              <a:t>Finding constraints is part of the E/R modeling process. Commonly used constraints are:</a:t>
            </a:r>
          </a:p>
          <a:p>
            <a:pPr marL="800100" lvl="1" indent="-342900" eaLnBrk="0" fontAlgn="base" hangingPunct="0">
              <a:spcBef>
                <a:spcPct val="0"/>
              </a:spcBef>
              <a:spcAft>
                <a:spcPct val="0"/>
              </a:spcAft>
              <a:buFont typeface="Arial" charset="0"/>
              <a:buChar char="•"/>
            </a:pPr>
            <a:endParaRPr lang="en-US" sz="2400" u="sng"/>
          </a:p>
          <a:p>
            <a:pPr marL="800100" lvl="1" indent="-342900" eaLnBrk="0" fontAlgn="base" hangingPunct="0">
              <a:spcBef>
                <a:spcPct val="0"/>
              </a:spcBef>
              <a:spcAft>
                <a:spcPct val="0"/>
              </a:spcAft>
              <a:buFont typeface="Arial" charset="0"/>
              <a:buChar char="•"/>
            </a:pPr>
            <a:r>
              <a:rPr lang="en-US" sz="2400" u="sng"/>
              <a:t>Keys</a:t>
            </a:r>
            <a:r>
              <a:rPr lang="en-US" sz="2400">
                <a:solidFill>
                  <a:srgbClr val="3333CC"/>
                </a:solidFill>
              </a:rPr>
              <a:t>:</a:t>
            </a:r>
            <a:r>
              <a:rPr lang="en-US" sz="2400">
                <a:solidFill>
                  <a:srgbClr val="000000"/>
                </a:solidFill>
              </a:rPr>
              <a:t> Implicit constraints on uniqueness of entities</a:t>
            </a:r>
          </a:p>
          <a:p>
            <a:pPr marL="1257300" lvl="2" indent="-342900" eaLnBrk="0" fontAlgn="base" hangingPunct="0">
              <a:spcBef>
                <a:spcPct val="0"/>
              </a:spcBef>
              <a:spcAft>
                <a:spcPct val="0"/>
              </a:spcAft>
              <a:buFont typeface="Arial" charset="0"/>
              <a:buChar char="•"/>
            </a:pPr>
            <a:r>
              <a:rPr lang="en-US" sz="2400" i="1">
                <a:solidFill>
                  <a:srgbClr val="000000"/>
                </a:solidFill>
              </a:rPr>
              <a:t>Ex: An SSN uniquely identifies a person</a:t>
            </a:r>
          </a:p>
          <a:p>
            <a:pPr marL="1257300" lvl="2" indent="-342900" eaLnBrk="0" fontAlgn="base" hangingPunct="0">
              <a:spcBef>
                <a:spcPct val="0"/>
              </a:spcBef>
              <a:spcAft>
                <a:spcPct val="0"/>
              </a:spcAft>
              <a:buFont typeface="Arial" charset="0"/>
              <a:buChar char="•"/>
            </a:pPr>
            <a:endParaRPr lang="en-US" sz="2400" i="1">
              <a:solidFill>
                <a:srgbClr val="000000"/>
              </a:solidFill>
            </a:endParaRPr>
          </a:p>
          <a:p>
            <a:pPr marL="800100" lvl="1" indent="-342900" eaLnBrk="0" fontAlgn="base" hangingPunct="0">
              <a:spcBef>
                <a:spcPct val="0"/>
              </a:spcBef>
              <a:spcAft>
                <a:spcPct val="0"/>
              </a:spcAft>
              <a:buFont typeface="Arial" charset="0"/>
              <a:buChar char="•"/>
            </a:pPr>
            <a:r>
              <a:rPr lang="en-US" sz="2400" u="sng"/>
              <a:t>Single-value constraints:</a:t>
            </a:r>
            <a:r>
              <a:rPr lang="en-US" sz="2400"/>
              <a:t> </a:t>
            </a:r>
          </a:p>
          <a:p>
            <a:pPr marL="1257300" lvl="2" indent="-342900" eaLnBrk="0" fontAlgn="base" hangingPunct="0">
              <a:spcBef>
                <a:spcPct val="0"/>
              </a:spcBef>
              <a:spcAft>
                <a:spcPct val="0"/>
              </a:spcAft>
              <a:buFont typeface="Arial" charset="0"/>
              <a:buChar char="•"/>
            </a:pPr>
            <a:r>
              <a:rPr lang="en-US" sz="2400" i="1">
                <a:solidFill>
                  <a:srgbClr val="000000"/>
                </a:solidFill>
              </a:rPr>
              <a:t>Ex: a person can have only one father</a:t>
            </a:r>
          </a:p>
          <a:p>
            <a:pPr marL="1257300" lvl="2" indent="-342900" eaLnBrk="0" fontAlgn="base" hangingPunct="0">
              <a:spcBef>
                <a:spcPct val="0"/>
              </a:spcBef>
              <a:spcAft>
                <a:spcPct val="0"/>
              </a:spcAft>
              <a:buFont typeface="Arial" charset="0"/>
              <a:buChar char="•"/>
            </a:pPr>
            <a:endParaRPr lang="en-US" sz="2400" i="1">
              <a:solidFill>
                <a:srgbClr val="000000"/>
              </a:solidFill>
            </a:endParaRPr>
          </a:p>
          <a:p>
            <a:pPr marL="800100" lvl="1" indent="-342900" eaLnBrk="0" fontAlgn="base" hangingPunct="0">
              <a:spcBef>
                <a:spcPct val="0"/>
              </a:spcBef>
              <a:spcAft>
                <a:spcPct val="0"/>
              </a:spcAft>
              <a:buFont typeface="Arial" charset="0"/>
              <a:buChar char="•"/>
            </a:pPr>
            <a:r>
              <a:rPr lang="en-US" sz="2400" u="sng"/>
              <a:t>Referential integrity constraints:</a:t>
            </a:r>
            <a:r>
              <a:rPr lang="en-US" sz="2400">
                <a:solidFill>
                  <a:srgbClr val="000000"/>
                </a:solidFill>
              </a:rPr>
              <a:t> Referenced entities must exist</a:t>
            </a:r>
          </a:p>
          <a:p>
            <a:pPr marL="1257300" lvl="2" indent="-342900" eaLnBrk="0" fontAlgn="base" hangingPunct="0">
              <a:spcBef>
                <a:spcPct val="0"/>
              </a:spcBef>
              <a:spcAft>
                <a:spcPct val="0"/>
              </a:spcAft>
              <a:buFont typeface="Arial" charset="0"/>
              <a:buChar char="•"/>
            </a:pPr>
            <a:r>
              <a:rPr lang="en-US" sz="2400" i="1">
                <a:solidFill>
                  <a:srgbClr val="000000"/>
                </a:solidFill>
              </a:rPr>
              <a:t>Ex: if you work for a company, it must exist in the database</a:t>
            </a:r>
          </a:p>
          <a:p>
            <a:pPr marL="1257300" lvl="2" indent="-342900" eaLnBrk="0" fontAlgn="base" hangingPunct="0">
              <a:spcBef>
                <a:spcPct val="0"/>
              </a:spcBef>
              <a:spcAft>
                <a:spcPct val="0"/>
              </a:spcAft>
              <a:buFont typeface="Arial" charset="0"/>
              <a:buChar char="•"/>
            </a:pPr>
            <a:endParaRPr lang="en-US" sz="2400" i="1">
              <a:solidFill>
                <a:srgbClr val="000000"/>
              </a:solidFill>
            </a:endParaRPr>
          </a:p>
          <a:p>
            <a:pPr marL="800100" lvl="1" indent="-342900" eaLnBrk="0" fontAlgn="base" hangingPunct="0">
              <a:spcBef>
                <a:spcPct val="0"/>
              </a:spcBef>
              <a:spcAft>
                <a:spcPct val="0"/>
              </a:spcAft>
              <a:buFont typeface="Arial" charset="0"/>
              <a:buChar char="•"/>
            </a:pPr>
            <a:r>
              <a:rPr lang="en-US" sz="2400" u="sng"/>
              <a:t>Other constraints:</a:t>
            </a:r>
            <a:r>
              <a:rPr lang="en-US" sz="2400">
                <a:solidFill>
                  <a:srgbClr val="000000"/>
                </a:solidFill>
              </a:rPr>
              <a:t>  </a:t>
            </a:r>
          </a:p>
          <a:p>
            <a:pPr marL="1257300" lvl="2" indent="-342900" eaLnBrk="0" fontAlgn="base" hangingPunct="0">
              <a:spcBef>
                <a:spcPct val="0"/>
              </a:spcBef>
              <a:spcAft>
                <a:spcPct val="0"/>
              </a:spcAft>
              <a:buFont typeface="Arial" charset="0"/>
              <a:buChar char="•"/>
            </a:pPr>
            <a:r>
              <a:rPr lang="en-US" sz="2400" i="1">
                <a:solidFill>
                  <a:srgbClr val="000000"/>
                </a:solidFill>
              </a:rPr>
              <a:t>Ex: peoples’ ages are between 0 and 150</a:t>
            </a:r>
          </a:p>
        </p:txBody>
      </p:sp>
      <p:sp>
        <p:nvSpPr>
          <p:cNvPr id="2" name="TextBox 1"/>
          <p:cNvSpPr txBox="1"/>
          <p:nvPr/>
        </p:nvSpPr>
        <p:spPr>
          <a:xfrm>
            <a:off x="10170366" y="4802497"/>
            <a:ext cx="1390262" cy="120032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400">
                <a:latin typeface="+mj-lt"/>
              </a:rPr>
              <a:t>Recall FOREIGN KEYs!</a:t>
            </a:r>
          </a:p>
        </p:txBody>
      </p:sp>
    </p:spTree>
    <p:extLst>
      <p:ext uri="{BB962C8B-B14F-4D97-AF65-F5344CB8AC3E}">
        <p14:creationId xmlns:p14="http://schemas.microsoft.com/office/powerpoint/2010/main" val="55974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39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939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39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9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39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9396">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39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Participation Constraints: Partial v. Total</a:t>
            </a:r>
          </a:p>
        </p:txBody>
      </p:sp>
      <p:sp>
        <p:nvSpPr>
          <p:cNvPr id="3" name="Slide Number Placeholder 2"/>
          <p:cNvSpPr>
            <a:spLocks noGrp="1"/>
          </p:cNvSpPr>
          <p:nvPr>
            <p:ph type="sldNum" sz="quarter" idx="12"/>
          </p:nvPr>
        </p:nvSpPr>
        <p:spPr/>
        <p:txBody>
          <a:bodyPr/>
          <a:lstStyle/>
          <a:p>
            <a:pPr>
              <a:defRPr/>
            </a:pPr>
            <a:fld id="{200DBD32-CD2A-B549-9651-2282F12F571E}" type="slidenum">
              <a:rPr lang="en-US" smtClean="0">
                <a:solidFill>
                  <a:srgbClr val="000000"/>
                </a:solidFill>
              </a:rPr>
              <a:pPr>
                <a:defRPr/>
              </a:pPr>
              <a:t>93</a:t>
            </a:fld>
            <a:endParaRPr lang="en-US">
              <a:solidFill>
                <a:srgbClr val="000000"/>
              </a:solidFill>
            </a:endParaRPr>
          </a:p>
        </p:txBody>
      </p:sp>
      <p:grpSp>
        <p:nvGrpSpPr>
          <p:cNvPr id="6" name="Group 5"/>
          <p:cNvGrpSpPr/>
          <p:nvPr/>
        </p:nvGrpSpPr>
        <p:grpSpPr>
          <a:xfrm>
            <a:off x="1981200" y="1793054"/>
            <a:ext cx="7811278" cy="1371600"/>
            <a:chOff x="1981200" y="1793054"/>
            <a:chExt cx="7811278" cy="1371600"/>
          </a:xfrm>
        </p:grpSpPr>
        <p:sp>
          <p:nvSpPr>
            <p:cNvPr id="4" name="AutoShape 8"/>
            <p:cNvSpPr>
              <a:spLocks noChangeArrowheads="1"/>
            </p:cNvSpPr>
            <p:nvPr/>
          </p:nvSpPr>
          <p:spPr bwMode="auto">
            <a:xfrm>
              <a:off x="5162939" y="1793054"/>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5" name="Rectangle 11"/>
            <p:cNvSpPr>
              <a:spLocks noChangeArrowheads="1"/>
            </p:cNvSpPr>
            <p:nvPr/>
          </p:nvSpPr>
          <p:spPr bwMode="auto">
            <a:xfrm>
              <a:off x="1981200" y="20978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cxnSp>
          <p:nvCxnSpPr>
            <p:cNvPr id="8" name="Straight Connector 7"/>
            <p:cNvCxnSpPr>
              <a:stCxn id="5" idx="3"/>
              <a:endCxn id="4" idx="1"/>
            </p:cNvCxnSpPr>
            <p:nvPr/>
          </p:nvCxnSpPr>
          <p:spPr bwMode="auto">
            <a:xfrm>
              <a:off x="4114800" y="2478854"/>
              <a:ext cx="1048139"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sp>
          <p:nvSpPr>
            <p:cNvPr id="10" name="Rectangle 11"/>
            <p:cNvSpPr>
              <a:spLocks noChangeArrowheads="1"/>
            </p:cNvSpPr>
            <p:nvPr/>
          </p:nvSpPr>
          <p:spPr bwMode="auto">
            <a:xfrm>
              <a:off x="7658878" y="20978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cxnSp>
          <p:nvCxnSpPr>
            <p:cNvPr id="11" name="Straight Connector 10"/>
            <p:cNvCxnSpPr>
              <a:stCxn id="4" idx="3"/>
              <a:endCxn id="10" idx="1"/>
            </p:cNvCxnSpPr>
            <p:nvPr/>
          </p:nvCxnSpPr>
          <p:spPr bwMode="auto">
            <a:xfrm>
              <a:off x="6686939" y="2478854"/>
              <a:ext cx="971939"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14" name="TextBox 13"/>
          <p:cNvSpPr txBox="1"/>
          <p:nvPr/>
        </p:nvSpPr>
        <p:spPr>
          <a:xfrm>
            <a:off x="3162300" y="3349378"/>
            <a:ext cx="5867400" cy="830997"/>
          </a:xfrm>
          <a:prstGeom prst="rect">
            <a:avLst/>
          </a:prstGeom>
          <a:noFill/>
        </p:spPr>
        <p:txBody>
          <a:bodyPr wrap="square" rtlCol="0">
            <a:spAutoFit/>
          </a:bodyPr>
          <a:lstStyle/>
          <a:p>
            <a:pPr fontAlgn="base">
              <a:spcBef>
                <a:spcPct val="0"/>
              </a:spcBef>
              <a:spcAft>
                <a:spcPct val="0"/>
              </a:spcAft>
            </a:pPr>
            <a:r>
              <a:rPr lang="en-US" sz="2400">
                <a:solidFill>
                  <a:srgbClr val="000000"/>
                </a:solidFill>
                <a:latin typeface="+mj-lt"/>
              </a:rPr>
              <a:t>Are there products made by no company? Companies that don’t make a product?</a:t>
            </a:r>
          </a:p>
        </p:txBody>
      </p:sp>
      <p:grpSp>
        <p:nvGrpSpPr>
          <p:cNvPr id="7" name="Group 6"/>
          <p:cNvGrpSpPr/>
          <p:nvPr/>
        </p:nvGrpSpPr>
        <p:grpSpPr>
          <a:xfrm>
            <a:off x="1981200" y="4374477"/>
            <a:ext cx="7811278" cy="1371600"/>
            <a:chOff x="1981200" y="4374477"/>
            <a:chExt cx="7811278" cy="1371600"/>
          </a:xfrm>
        </p:grpSpPr>
        <p:sp>
          <p:nvSpPr>
            <p:cNvPr id="15" name="AutoShape 8"/>
            <p:cNvSpPr>
              <a:spLocks noChangeArrowheads="1"/>
            </p:cNvSpPr>
            <p:nvPr/>
          </p:nvSpPr>
          <p:spPr bwMode="auto">
            <a:xfrm>
              <a:off x="5162939" y="4374477"/>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16" name="Rectangle 11"/>
            <p:cNvSpPr>
              <a:spLocks noChangeArrowheads="1"/>
            </p:cNvSpPr>
            <p:nvPr/>
          </p:nvSpPr>
          <p:spPr bwMode="auto">
            <a:xfrm>
              <a:off x="1981200" y="4679277"/>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cxnSp>
          <p:nvCxnSpPr>
            <p:cNvPr id="17" name="Straight Connector 16"/>
            <p:cNvCxnSpPr>
              <a:stCxn id="16" idx="3"/>
              <a:endCxn id="15" idx="1"/>
            </p:cNvCxnSpPr>
            <p:nvPr/>
          </p:nvCxnSpPr>
          <p:spPr bwMode="auto">
            <a:xfrm>
              <a:off x="4114800" y="5060277"/>
              <a:ext cx="1048139" cy="0"/>
            </a:xfrm>
            <a:prstGeom prst="line">
              <a:avLst/>
            </a:prstGeom>
            <a:solidFill>
              <a:srgbClr val="C0C0C0">
                <a:alpha val="50000"/>
              </a:srgbClr>
            </a:solidFill>
            <a:ln w="50800" cap="flat" cmpd="sng" algn="ctr">
              <a:solidFill>
                <a:schemeClr val="tx1"/>
              </a:solidFill>
              <a:prstDash val="solid"/>
              <a:round/>
              <a:headEnd type="none" w="med" len="med"/>
              <a:tailEnd type="none" w="med" len="med"/>
            </a:ln>
            <a:effectLst/>
          </p:spPr>
        </p:cxnSp>
        <p:sp>
          <p:nvSpPr>
            <p:cNvPr id="18" name="Rectangle 11"/>
            <p:cNvSpPr>
              <a:spLocks noChangeArrowheads="1"/>
            </p:cNvSpPr>
            <p:nvPr/>
          </p:nvSpPr>
          <p:spPr bwMode="auto">
            <a:xfrm>
              <a:off x="7658878" y="4679277"/>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cxnSp>
          <p:nvCxnSpPr>
            <p:cNvPr id="19" name="Straight Connector 18"/>
            <p:cNvCxnSpPr>
              <a:stCxn id="15" idx="3"/>
              <a:endCxn id="18" idx="1"/>
            </p:cNvCxnSpPr>
            <p:nvPr/>
          </p:nvCxnSpPr>
          <p:spPr bwMode="auto">
            <a:xfrm>
              <a:off x="6686939" y="5060277"/>
              <a:ext cx="971939" cy="0"/>
            </a:xfrm>
            <a:prstGeom prst="line">
              <a:avLst/>
            </a:prstGeom>
            <a:solidFill>
              <a:srgbClr val="C0C0C0">
                <a:alpha val="50000"/>
              </a:srgbClr>
            </a:solidFill>
            <a:ln w="9525" cap="flat" cmpd="sng" algn="ctr">
              <a:solidFill>
                <a:schemeClr val="tx1"/>
              </a:solidFill>
              <a:prstDash val="solid"/>
              <a:round/>
              <a:headEnd type="none" w="med" len="med"/>
              <a:tailEnd type="none" w="med" len="med"/>
            </a:ln>
            <a:effectLst/>
          </p:spPr>
        </p:cxnSp>
      </p:grpSp>
      <p:sp>
        <p:nvSpPr>
          <p:cNvPr id="20" name="TextBox 19"/>
          <p:cNvSpPr txBox="1"/>
          <p:nvPr/>
        </p:nvSpPr>
        <p:spPr>
          <a:xfrm>
            <a:off x="914399" y="6167736"/>
            <a:ext cx="10689771" cy="461665"/>
          </a:xfrm>
          <a:prstGeom prst="rect">
            <a:avLst/>
          </a:prstGeom>
          <a:solidFill>
            <a:schemeClr val="accent6">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400">
                <a:solidFill>
                  <a:srgbClr val="000000"/>
                </a:solidFill>
                <a:latin typeface="+mj-lt"/>
              </a:rPr>
              <a:t>Bold line indicates </a:t>
            </a:r>
            <a:r>
              <a:rPr lang="en-US" sz="2400" i="1" u="sng">
                <a:solidFill>
                  <a:srgbClr val="000000"/>
                </a:solidFill>
                <a:latin typeface="+mj-lt"/>
              </a:rPr>
              <a:t>total participation</a:t>
            </a:r>
            <a:r>
              <a:rPr lang="en-US" sz="2400">
                <a:solidFill>
                  <a:srgbClr val="000000"/>
                </a:solidFill>
                <a:latin typeface="+mj-lt"/>
              </a:rPr>
              <a:t> (i.e. here: all products are made by a company)</a:t>
            </a:r>
            <a:endParaRPr lang="en-US" sz="2400" i="1" u="sng">
              <a:solidFill>
                <a:srgbClr val="000000"/>
              </a:solidFill>
              <a:latin typeface="+mj-lt"/>
            </a:endParaRPr>
          </a:p>
        </p:txBody>
      </p:sp>
      <p:sp>
        <p:nvSpPr>
          <p:cNvPr id="22" name="Rectangle 21"/>
          <p:cNvSpPr/>
          <p:nvPr/>
        </p:nvSpPr>
        <p:spPr>
          <a:xfrm>
            <a:off x="0" y="0"/>
            <a:ext cx="12192000" cy="2627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400" b="1" i="1">
              <a:solidFill>
                <a:schemeClr val="tx1">
                  <a:lumMod val="65000"/>
                  <a:lumOff val="35000"/>
                </a:schemeClr>
              </a:solidFill>
              <a:latin typeface="+mj-lt"/>
            </a:endParaRPr>
          </a:p>
        </p:txBody>
      </p:sp>
    </p:spTree>
    <p:extLst>
      <p:ext uri="{BB962C8B-B14F-4D97-AF65-F5344CB8AC3E}">
        <p14:creationId xmlns:p14="http://schemas.microsoft.com/office/powerpoint/2010/main" val="51769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2209800" y="228600"/>
            <a:ext cx="7772400" cy="1143000"/>
          </a:xfrm>
        </p:spPr>
        <p:txBody>
          <a:bodyPr/>
          <a:lstStyle/>
          <a:p>
            <a:pPr eaLnBrk="1" hangingPunct="1"/>
            <a:r>
              <a:rPr lang="en-US"/>
              <a:t> Keys in E/R Diagrams</a:t>
            </a:r>
          </a:p>
        </p:txBody>
      </p:sp>
      <p:sp>
        <p:nvSpPr>
          <p:cNvPr id="60418" name="Slide Number Placeholder 4"/>
          <p:cNvSpPr>
            <a:spLocks noGrp="1"/>
          </p:cNvSpPr>
          <p:nvPr>
            <p:ph type="sldNum" sz="quarter" idx="12"/>
          </p:nvPr>
        </p:nvSpPr>
        <p:spPr>
          <a:noFill/>
        </p:spPr>
        <p:txBody>
          <a:bodyPr/>
          <a:lstStyle/>
          <a:p>
            <a:fld id="{A3EFBE4F-2750-BB47-A06D-10F33BA80AD9}" type="slidenum">
              <a:rPr lang="en-US" smtClean="0">
                <a:solidFill>
                  <a:srgbClr val="000000"/>
                </a:solidFill>
              </a:rPr>
              <a:pPr/>
              <a:t>94</a:t>
            </a:fld>
            <a:endParaRPr lang="en-US">
              <a:solidFill>
                <a:srgbClr val="000000"/>
              </a:solidFill>
            </a:endParaRPr>
          </a:p>
        </p:txBody>
      </p:sp>
      <p:sp>
        <p:nvSpPr>
          <p:cNvPr id="60420" name="Oval 3"/>
          <p:cNvSpPr>
            <a:spLocks noChangeArrowheads="1"/>
          </p:cNvSpPr>
          <p:nvPr/>
        </p:nvSpPr>
        <p:spPr bwMode="auto">
          <a:xfrm>
            <a:off x="2819400" y="60198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address</a:t>
            </a:r>
          </a:p>
        </p:txBody>
      </p:sp>
      <p:sp>
        <p:nvSpPr>
          <p:cNvPr id="60421" name="Oval 4"/>
          <p:cNvSpPr>
            <a:spLocks noChangeArrowheads="1"/>
          </p:cNvSpPr>
          <p:nvPr/>
        </p:nvSpPr>
        <p:spPr bwMode="auto">
          <a:xfrm>
            <a:off x="5410200" y="59436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60422" name="Oval 5"/>
          <p:cNvSpPr>
            <a:spLocks noChangeArrowheads="1"/>
          </p:cNvSpPr>
          <p:nvPr/>
        </p:nvSpPr>
        <p:spPr bwMode="auto">
          <a:xfrm>
            <a:off x="8077200" y="59436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ssn</a:t>
            </a:r>
          </a:p>
        </p:txBody>
      </p:sp>
      <p:sp>
        <p:nvSpPr>
          <p:cNvPr id="60423" name="Rectangle 6"/>
          <p:cNvSpPr>
            <a:spLocks noChangeArrowheads="1"/>
          </p:cNvSpPr>
          <p:nvPr/>
        </p:nvSpPr>
        <p:spPr bwMode="auto">
          <a:xfrm>
            <a:off x="4953000" y="47244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Person</a:t>
            </a:r>
          </a:p>
        </p:txBody>
      </p:sp>
      <p:sp>
        <p:nvSpPr>
          <p:cNvPr id="60424" name="Rectangle 7"/>
          <p:cNvSpPr>
            <a:spLocks noChangeArrowheads="1"/>
          </p:cNvSpPr>
          <p:nvPr/>
        </p:nvSpPr>
        <p:spPr bwMode="auto">
          <a:xfrm>
            <a:off x="4953000" y="34290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0425" name="Oval 8"/>
          <p:cNvSpPr>
            <a:spLocks noChangeArrowheads="1"/>
          </p:cNvSpPr>
          <p:nvPr/>
        </p:nvSpPr>
        <p:spPr bwMode="auto">
          <a:xfrm>
            <a:off x="5257800" y="16002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60426" name="Oval 9"/>
          <p:cNvSpPr>
            <a:spLocks noChangeArrowheads="1"/>
          </p:cNvSpPr>
          <p:nvPr/>
        </p:nvSpPr>
        <p:spPr bwMode="auto">
          <a:xfrm>
            <a:off x="6858000" y="16002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category</a:t>
            </a:r>
          </a:p>
        </p:txBody>
      </p:sp>
      <p:sp>
        <p:nvSpPr>
          <p:cNvPr id="60427" name="Oval 10"/>
          <p:cNvSpPr>
            <a:spLocks noChangeArrowheads="1"/>
          </p:cNvSpPr>
          <p:nvPr/>
        </p:nvSpPr>
        <p:spPr bwMode="auto">
          <a:xfrm>
            <a:off x="4114800" y="25146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price</a:t>
            </a:r>
          </a:p>
        </p:txBody>
      </p:sp>
      <p:sp>
        <p:nvSpPr>
          <p:cNvPr id="60428" name="Line 11"/>
          <p:cNvSpPr>
            <a:spLocks noChangeShapeType="1"/>
          </p:cNvSpPr>
          <p:nvPr/>
        </p:nvSpPr>
        <p:spPr bwMode="auto">
          <a:xfrm flipH="1" flipV="1">
            <a:off x="5257800" y="3124200"/>
            <a:ext cx="3048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29" name="Line 12"/>
          <p:cNvSpPr>
            <a:spLocks noChangeShapeType="1"/>
          </p:cNvSpPr>
          <p:nvPr/>
        </p:nvSpPr>
        <p:spPr bwMode="auto">
          <a:xfrm flipV="1">
            <a:off x="6019800" y="2286000"/>
            <a:ext cx="0" cy="1143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0" name="Line 13"/>
          <p:cNvSpPr>
            <a:spLocks noChangeShapeType="1"/>
          </p:cNvSpPr>
          <p:nvPr/>
        </p:nvSpPr>
        <p:spPr bwMode="auto">
          <a:xfrm flipV="1">
            <a:off x="6629400" y="2286000"/>
            <a:ext cx="762000" cy="1143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1" name="Line 14"/>
          <p:cNvSpPr>
            <a:spLocks noChangeShapeType="1"/>
          </p:cNvSpPr>
          <p:nvPr/>
        </p:nvSpPr>
        <p:spPr bwMode="auto">
          <a:xfrm flipH="1">
            <a:off x="4114800" y="5486400"/>
            <a:ext cx="1676400" cy="685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2" name="Line 15"/>
          <p:cNvSpPr>
            <a:spLocks noChangeShapeType="1"/>
          </p:cNvSpPr>
          <p:nvPr/>
        </p:nvSpPr>
        <p:spPr bwMode="auto">
          <a:xfrm>
            <a:off x="5791200" y="5486400"/>
            <a:ext cx="304800" cy="4572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3" name="Line 16"/>
          <p:cNvSpPr>
            <a:spLocks noChangeShapeType="1"/>
          </p:cNvSpPr>
          <p:nvPr/>
        </p:nvSpPr>
        <p:spPr bwMode="auto">
          <a:xfrm>
            <a:off x="6553200" y="5486400"/>
            <a:ext cx="1676400" cy="5334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4" name="Line 17"/>
          <p:cNvSpPr>
            <a:spLocks noChangeShapeType="1"/>
          </p:cNvSpPr>
          <p:nvPr/>
        </p:nvSpPr>
        <p:spPr bwMode="auto">
          <a:xfrm>
            <a:off x="5638800" y="2057400"/>
            <a:ext cx="6858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5" name="Line 18"/>
          <p:cNvSpPr>
            <a:spLocks noChangeShapeType="1"/>
          </p:cNvSpPr>
          <p:nvPr/>
        </p:nvSpPr>
        <p:spPr bwMode="auto">
          <a:xfrm>
            <a:off x="7086600" y="2133600"/>
            <a:ext cx="9906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6" name="Line 19"/>
          <p:cNvSpPr>
            <a:spLocks noChangeShapeType="1"/>
          </p:cNvSpPr>
          <p:nvPr/>
        </p:nvSpPr>
        <p:spPr bwMode="auto">
          <a:xfrm>
            <a:off x="8534400" y="6400800"/>
            <a:ext cx="6096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0438" name="Text Box 21"/>
          <p:cNvSpPr txBox="1">
            <a:spLocks noChangeArrowheads="1"/>
          </p:cNvSpPr>
          <p:nvPr/>
        </p:nvSpPr>
        <p:spPr bwMode="auto">
          <a:xfrm>
            <a:off x="1897779" y="1824335"/>
            <a:ext cx="2113014" cy="461665"/>
          </a:xfrm>
          <a:prstGeom prst="rect">
            <a:avLst/>
          </a:prstGeom>
          <a:noFill/>
          <a:ln w="9525">
            <a:noFill/>
            <a:miter lim="800000"/>
            <a:headEnd/>
            <a:tailEnd/>
          </a:ln>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latin typeface="+mj-lt"/>
              </a:rPr>
              <a:t>Underline keys:</a:t>
            </a:r>
          </a:p>
        </p:txBody>
      </p:sp>
      <p:sp>
        <p:nvSpPr>
          <p:cNvPr id="2" name="TextBox 1"/>
          <p:cNvSpPr txBox="1"/>
          <p:nvPr/>
        </p:nvSpPr>
        <p:spPr>
          <a:xfrm>
            <a:off x="8534400" y="2943394"/>
            <a:ext cx="2536371" cy="1569660"/>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2400">
                <a:latin typeface="+mj-lt"/>
              </a:rPr>
              <a:t>Note: no formal way to specify </a:t>
            </a:r>
            <a:r>
              <a:rPr lang="en-US" sz="2400" i="1">
                <a:latin typeface="+mj-lt"/>
              </a:rPr>
              <a:t>multiple</a:t>
            </a:r>
            <a:r>
              <a:rPr lang="en-US" sz="2400">
                <a:latin typeface="+mj-lt"/>
              </a:rPr>
              <a:t> keys in E/R diagrams…</a:t>
            </a:r>
          </a:p>
        </p:txBody>
      </p:sp>
    </p:spTree>
    <p:extLst>
      <p:ext uri="{BB962C8B-B14F-4D97-AF65-F5344CB8AC3E}">
        <p14:creationId xmlns:p14="http://schemas.microsoft.com/office/powerpoint/2010/main" val="167024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en-US"/>
              <a:t>Single Value Constraints</a:t>
            </a:r>
          </a:p>
        </p:txBody>
      </p:sp>
      <p:sp>
        <p:nvSpPr>
          <p:cNvPr id="61442" name="Slide Number Placeholder 4"/>
          <p:cNvSpPr>
            <a:spLocks noGrp="1"/>
          </p:cNvSpPr>
          <p:nvPr>
            <p:ph type="sldNum" sz="quarter" idx="12"/>
          </p:nvPr>
        </p:nvSpPr>
        <p:spPr>
          <a:noFill/>
        </p:spPr>
        <p:txBody>
          <a:bodyPr/>
          <a:lstStyle/>
          <a:p>
            <a:fld id="{D2B092C9-5AF5-9145-B594-631B0A09120C}" type="slidenum">
              <a:rPr lang="en-US" smtClean="0">
                <a:solidFill>
                  <a:srgbClr val="000000"/>
                </a:solidFill>
              </a:rPr>
              <a:pPr/>
              <a:t>95</a:t>
            </a:fld>
            <a:endParaRPr lang="en-US">
              <a:solidFill>
                <a:srgbClr val="000000"/>
              </a:solidFill>
            </a:endParaRPr>
          </a:p>
        </p:txBody>
      </p:sp>
      <p:sp>
        <p:nvSpPr>
          <p:cNvPr id="61444" name="AutoShape 3"/>
          <p:cNvSpPr>
            <a:spLocks noChangeAspect="1" noChangeArrowheads="1"/>
          </p:cNvSpPr>
          <p:nvPr/>
        </p:nvSpPr>
        <p:spPr bwMode="auto">
          <a:xfrm>
            <a:off x="5097278" y="2722359"/>
            <a:ext cx="1927141" cy="917079"/>
          </a:xfrm>
          <a:prstGeom prst="diamond">
            <a:avLst/>
          </a:prstGeom>
          <a:solidFill>
            <a:schemeClr val="accent1"/>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makes</a:t>
            </a:r>
          </a:p>
        </p:txBody>
      </p:sp>
      <p:sp>
        <p:nvSpPr>
          <p:cNvPr id="61445" name="Line 4"/>
          <p:cNvSpPr>
            <a:spLocks noChangeAspect="1" noChangeShapeType="1"/>
          </p:cNvSpPr>
          <p:nvPr/>
        </p:nvSpPr>
        <p:spPr bwMode="auto">
          <a:xfrm flipH="1">
            <a:off x="4640035" y="3180897"/>
            <a:ext cx="552450" cy="0"/>
          </a:xfrm>
          <a:prstGeom prst="line">
            <a:avLst/>
          </a:prstGeom>
          <a:noFill/>
          <a:ln w="9525">
            <a:solidFill>
              <a:schemeClr val="tx1"/>
            </a:solidFill>
            <a:round/>
            <a:headEnd type="triangle" w="lg" len="lg"/>
            <a:tailEnd type="none"/>
          </a:ln>
        </p:spPr>
        <p:txBody>
          <a:bodyPr wrap="none" anchor="ctr">
            <a:prstTxWarp prst="textNoShape">
              <a:avLst/>
            </a:prstTxWarp>
            <a:spAutoFit/>
          </a:bodyPr>
          <a:lstStyle/>
          <a:p>
            <a:pPr fontAlgn="base">
              <a:spcBef>
                <a:spcPct val="0"/>
              </a:spcBef>
              <a:spcAft>
                <a:spcPct val="0"/>
              </a:spcAft>
            </a:pPr>
            <a:endParaRPr lang="en-US" sz="2400">
              <a:solidFill>
                <a:srgbClr val="000000"/>
              </a:solidFill>
            </a:endParaRPr>
          </a:p>
        </p:txBody>
      </p:sp>
      <p:sp>
        <p:nvSpPr>
          <p:cNvPr id="61446" name="Line 5"/>
          <p:cNvSpPr>
            <a:spLocks noChangeAspect="1" noChangeShapeType="1"/>
          </p:cNvSpPr>
          <p:nvPr/>
        </p:nvSpPr>
        <p:spPr bwMode="auto">
          <a:xfrm>
            <a:off x="6945086" y="3180897"/>
            <a:ext cx="506413" cy="0"/>
          </a:xfrm>
          <a:prstGeom prst="line">
            <a:avLst/>
          </a:prstGeom>
          <a:noFill/>
          <a:ln w="9525">
            <a:solidFill>
              <a:schemeClr val="tx1"/>
            </a:solidFill>
            <a:round/>
            <a:headEnd/>
            <a:tailEnd type="none" w="lg" len="lg"/>
          </a:ln>
        </p:spPr>
        <p:txBody>
          <a:bodyPr wrap="none" anchor="ctr">
            <a:prstTxWarp prst="textNoShape">
              <a:avLst/>
            </a:prstTxWarp>
            <a:spAutoFit/>
          </a:bodyPr>
          <a:lstStyle/>
          <a:p>
            <a:pPr fontAlgn="base">
              <a:spcBef>
                <a:spcPct val="0"/>
              </a:spcBef>
              <a:spcAft>
                <a:spcPct val="0"/>
              </a:spcAft>
            </a:pPr>
            <a:endParaRPr lang="en-US" sz="2400">
              <a:solidFill>
                <a:srgbClr val="000000"/>
              </a:solidFill>
            </a:endParaRPr>
          </a:p>
        </p:txBody>
      </p:sp>
      <p:sp>
        <p:nvSpPr>
          <p:cNvPr id="61447" name="AutoShape 6"/>
          <p:cNvSpPr>
            <a:spLocks noChangeAspect="1" noChangeArrowheads="1"/>
          </p:cNvSpPr>
          <p:nvPr/>
        </p:nvSpPr>
        <p:spPr bwMode="auto">
          <a:xfrm>
            <a:off x="5116328" y="4633709"/>
            <a:ext cx="1927141" cy="917079"/>
          </a:xfrm>
          <a:prstGeom prst="diamond">
            <a:avLst/>
          </a:prstGeom>
          <a:solidFill>
            <a:schemeClr val="accent1"/>
          </a:solidFill>
          <a:ln w="9525">
            <a:solidFill>
              <a:schemeClr val="tx1"/>
            </a:solidFill>
            <a:miter lim="800000"/>
            <a:headEnd/>
            <a:tailEnd/>
          </a:ln>
        </p:spPr>
        <p:txBody>
          <a:bodyPr wrap="none" anchor="ctr">
            <a:prstTxWarp prst="textNoShape">
              <a:avLst/>
            </a:prstTxWarp>
            <a:spAutoFit/>
          </a:bodyPr>
          <a:lstStyle/>
          <a:p>
            <a:pPr algn="ctr" eaLnBrk="0" fontAlgn="base" hangingPunct="0">
              <a:spcBef>
                <a:spcPct val="0"/>
              </a:spcBef>
              <a:spcAft>
                <a:spcPct val="0"/>
              </a:spcAft>
            </a:pPr>
            <a:r>
              <a:rPr lang="en-US" sz="2400">
                <a:solidFill>
                  <a:srgbClr val="000000"/>
                </a:solidFill>
              </a:rPr>
              <a:t>makes</a:t>
            </a:r>
          </a:p>
        </p:txBody>
      </p:sp>
      <p:sp>
        <p:nvSpPr>
          <p:cNvPr id="61448" name="Line 7"/>
          <p:cNvSpPr>
            <a:spLocks noChangeAspect="1" noChangeShapeType="1"/>
          </p:cNvSpPr>
          <p:nvPr/>
        </p:nvSpPr>
        <p:spPr bwMode="auto">
          <a:xfrm flipH="1">
            <a:off x="4659085" y="5092247"/>
            <a:ext cx="552450" cy="0"/>
          </a:xfrm>
          <a:prstGeom prst="line">
            <a:avLst/>
          </a:prstGeom>
          <a:noFill/>
          <a:ln w="9525">
            <a:solidFill>
              <a:schemeClr val="tx1"/>
            </a:solidFill>
            <a:round/>
            <a:headEnd/>
            <a:tailEnd/>
          </a:ln>
        </p:spPr>
        <p:txBody>
          <a:bodyPr wrap="none" anchor="ctr">
            <a:prstTxWarp prst="textNoShape">
              <a:avLst/>
            </a:prstTxWarp>
            <a:spAutoFit/>
          </a:bodyPr>
          <a:lstStyle/>
          <a:p>
            <a:pPr fontAlgn="base">
              <a:spcBef>
                <a:spcPct val="0"/>
              </a:spcBef>
              <a:spcAft>
                <a:spcPct val="0"/>
              </a:spcAft>
            </a:pPr>
            <a:endParaRPr lang="en-US" sz="2400">
              <a:solidFill>
                <a:srgbClr val="000000"/>
              </a:solidFill>
            </a:endParaRPr>
          </a:p>
        </p:txBody>
      </p:sp>
      <p:sp>
        <p:nvSpPr>
          <p:cNvPr id="61449" name="Line 8"/>
          <p:cNvSpPr>
            <a:spLocks noChangeAspect="1" noChangeShapeType="1"/>
          </p:cNvSpPr>
          <p:nvPr/>
        </p:nvSpPr>
        <p:spPr bwMode="auto">
          <a:xfrm>
            <a:off x="6964136" y="5092247"/>
            <a:ext cx="506413" cy="0"/>
          </a:xfrm>
          <a:prstGeom prst="line">
            <a:avLst/>
          </a:prstGeom>
          <a:noFill/>
          <a:ln w="9525">
            <a:solidFill>
              <a:schemeClr val="tx1"/>
            </a:solidFill>
            <a:round/>
            <a:headEnd/>
            <a:tailEnd type="none" w="lg" len="lg"/>
          </a:ln>
        </p:spPr>
        <p:txBody>
          <a:bodyPr wrap="none" anchor="ctr">
            <a:prstTxWarp prst="textNoShape">
              <a:avLst/>
            </a:prstTxWarp>
            <a:spAutoFit/>
          </a:bodyPr>
          <a:lstStyle/>
          <a:p>
            <a:pPr fontAlgn="base">
              <a:spcBef>
                <a:spcPct val="0"/>
              </a:spcBef>
              <a:spcAft>
                <a:spcPct val="0"/>
              </a:spcAft>
            </a:pPr>
            <a:endParaRPr lang="en-US" sz="2400">
              <a:solidFill>
                <a:srgbClr val="000000"/>
              </a:solidFill>
            </a:endParaRPr>
          </a:p>
        </p:txBody>
      </p:sp>
      <p:sp>
        <p:nvSpPr>
          <p:cNvPr id="61450" name="Text Box 9"/>
          <p:cNvSpPr txBox="1">
            <a:spLocks noChangeArrowheads="1"/>
          </p:cNvSpPr>
          <p:nvPr/>
        </p:nvSpPr>
        <p:spPr bwMode="auto">
          <a:xfrm>
            <a:off x="5651273" y="3907972"/>
            <a:ext cx="684212" cy="457200"/>
          </a:xfrm>
          <a:prstGeom prst="rect">
            <a:avLst/>
          </a:prstGeom>
          <a:noFill/>
          <a:ln w="9525">
            <a:noFill/>
            <a:miter lim="800000"/>
            <a:headEnd/>
            <a:tailEnd/>
          </a:ln>
        </p:spPr>
        <p:txBody>
          <a:bodyPr wrap="none">
            <a:prstTxWarp prst="textNoShape">
              <a:avLst/>
            </a:prstTxWarp>
            <a:spAutoFit/>
          </a:bodyPr>
          <a:lstStyle/>
          <a:p>
            <a:pPr fontAlgn="base">
              <a:spcBef>
                <a:spcPct val="0"/>
              </a:spcBef>
              <a:spcAft>
                <a:spcPct val="0"/>
              </a:spcAft>
            </a:pPr>
            <a:r>
              <a:rPr lang="en-US" sz="2400">
                <a:solidFill>
                  <a:srgbClr val="000000"/>
                </a:solidFill>
              </a:rPr>
              <a:t>v. s.</a:t>
            </a:r>
          </a:p>
        </p:txBody>
      </p:sp>
      <p:sp>
        <p:nvSpPr>
          <p:cNvPr id="2" name="TextBox 1"/>
          <p:cNvSpPr txBox="1"/>
          <p:nvPr/>
        </p:nvSpPr>
        <p:spPr>
          <a:xfrm>
            <a:off x="838200" y="2174182"/>
            <a:ext cx="3286797" cy="523220"/>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none" rtlCol="0">
            <a:spAutoFit/>
          </a:bodyPr>
          <a:lstStyle/>
          <a:p>
            <a:r>
              <a:rPr lang="en-US" sz="2800">
                <a:latin typeface="+mj-lt"/>
              </a:rPr>
              <a:t>See previous section!</a:t>
            </a:r>
          </a:p>
        </p:txBody>
      </p:sp>
    </p:spTree>
    <p:extLst>
      <p:ext uri="{BB962C8B-B14F-4D97-AF65-F5344CB8AC3E}">
        <p14:creationId xmlns:p14="http://schemas.microsoft.com/office/powerpoint/2010/main" val="204457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t>Referential Integrity Constraints</a:t>
            </a:r>
          </a:p>
        </p:txBody>
      </p:sp>
      <p:sp>
        <p:nvSpPr>
          <p:cNvPr id="62466" name="Slide Number Placeholder 4"/>
          <p:cNvSpPr>
            <a:spLocks noGrp="1"/>
          </p:cNvSpPr>
          <p:nvPr>
            <p:ph type="sldNum" sz="quarter" idx="12"/>
          </p:nvPr>
        </p:nvSpPr>
        <p:spPr>
          <a:noFill/>
        </p:spPr>
        <p:txBody>
          <a:bodyPr/>
          <a:lstStyle/>
          <a:p>
            <a:fld id="{EC766959-3E10-8A4D-B797-4FADED7A8352}" type="slidenum">
              <a:rPr lang="en-US" smtClean="0">
                <a:solidFill>
                  <a:srgbClr val="000000"/>
                </a:solidFill>
              </a:rPr>
              <a:pPr/>
              <a:t>96</a:t>
            </a:fld>
            <a:endParaRPr lang="en-US">
              <a:solidFill>
                <a:srgbClr val="000000"/>
              </a:solidFill>
            </a:endParaRPr>
          </a:p>
        </p:txBody>
      </p:sp>
      <p:grpSp>
        <p:nvGrpSpPr>
          <p:cNvPr id="2" name="Group 1"/>
          <p:cNvGrpSpPr/>
          <p:nvPr/>
        </p:nvGrpSpPr>
        <p:grpSpPr>
          <a:xfrm>
            <a:off x="2286000" y="1793054"/>
            <a:ext cx="7543800" cy="1371600"/>
            <a:chOff x="2286000" y="1793054"/>
            <a:chExt cx="7543800" cy="1371600"/>
          </a:xfrm>
        </p:grpSpPr>
        <p:sp>
          <p:nvSpPr>
            <p:cNvPr id="62468" name="Rectangle 3"/>
            <p:cNvSpPr>
              <a:spLocks noChangeArrowheads="1"/>
            </p:cNvSpPr>
            <p:nvPr/>
          </p:nvSpPr>
          <p:spPr bwMode="auto">
            <a:xfrm>
              <a:off x="7696200" y="21740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sp>
          <p:nvSpPr>
            <p:cNvPr id="62469" name="Rectangle 4"/>
            <p:cNvSpPr>
              <a:spLocks noChangeArrowheads="1"/>
            </p:cNvSpPr>
            <p:nvPr/>
          </p:nvSpPr>
          <p:spPr bwMode="auto">
            <a:xfrm>
              <a:off x="2286000" y="21740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2470" name="AutoShape 5"/>
            <p:cNvSpPr>
              <a:spLocks noChangeArrowheads="1"/>
            </p:cNvSpPr>
            <p:nvPr/>
          </p:nvSpPr>
          <p:spPr bwMode="auto">
            <a:xfrm>
              <a:off x="5334000" y="1793054"/>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62471" name="Line 6"/>
            <p:cNvSpPr>
              <a:spLocks noChangeShapeType="1"/>
            </p:cNvSpPr>
            <p:nvPr/>
          </p:nvSpPr>
          <p:spPr bwMode="auto">
            <a:xfrm flipH="1">
              <a:off x="4419600" y="2478854"/>
              <a:ext cx="914400" cy="0"/>
            </a:xfrm>
            <a:prstGeom prst="line">
              <a:avLst/>
            </a:prstGeom>
            <a:noFill/>
            <a:ln w="9525">
              <a:solidFill>
                <a:schemeClr val="tx1"/>
              </a:solidFill>
              <a:round/>
              <a:headEnd type="triangle" w="lg" len="lg"/>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2472" name="Line 7"/>
            <p:cNvSpPr>
              <a:spLocks noChangeShapeType="1"/>
            </p:cNvSpPr>
            <p:nvPr/>
          </p:nvSpPr>
          <p:spPr bwMode="auto">
            <a:xfrm>
              <a:off x="6858000" y="2478854"/>
              <a:ext cx="838200" cy="0"/>
            </a:xfrm>
            <a:prstGeom prst="line">
              <a:avLst/>
            </a:prstGeom>
            <a:noFill/>
            <a:ln w="9525">
              <a:solidFill>
                <a:schemeClr val="tx1"/>
              </a:solidFill>
              <a:round/>
              <a:headEnd/>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grpSp>
        <p:nvGrpSpPr>
          <p:cNvPr id="3" name="Group 2"/>
          <p:cNvGrpSpPr/>
          <p:nvPr/>
        </p:nvGrpSpPr>
        <p:grpSpPr>
          <a:xfrm>
            <a:off x="2286000" y="4307654"/>
            <a:ext cx="7543800" cy="1371600"/>
            <a:chOff x="2286000" y="4307654"/>
            <a:chExt cx="7543800" cy="1371600"/>
          </a:xfrm>
        </p:grpSpPr>
        <p:sp>
          <p:nvSpPr>
            <p:cNvPr id="62473" name="Rectangle 8"/>
            <p:cNvSpPr>
              <a:spLocks noChangeArrowheads="1"/>
            </p:cNvSpPr>
            <p:nvPr/>
          </p:nvSpPr>
          <p:spPr bwMode="auto">
            <a:xfrm>
              <a:off x="7696200" y="46886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Company</a:t>
              </a:r>
            </a:p>
          </p:txBody>
        </p:sp>
        <p:sp>
          <p:nvSpPr>
            <p:cNvPr id="62474" name="Rectangle 9"/>
            <p:cNvSpPr>
              <a:spLocks noChangeArrowheads="1"/>
            </p:cNvSpPr>
            <p:nvPr/>
          </p:nvSpPr>
          <p:spPr bwMode="auto">
            <a:xfrm>
              <a:off x="2286000" y="4688654"/>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Product</a:t>
              </a:r>
            </a:p>
          </p:txBody>
        </p:sp>
        <p:sp>
          <p:nvSpPr>
            <p:cNvPr id="62475" name="AutoShape 10"/>
            <p:cNvSpPr>
              <a:spLocks noChangeArrowheads="1"/>
            </p:cNvSpPr>
            <p:nvPr/>
          </p:nvSpPr>
          <p:spPr bwMode="auto">
            <a:xfrm>
              <a:off x="5334000" y="4307654"/>
              <a:ext cx="1524000" cy="1371600"/>
            </a:xfrm>
            <a:prstGeom prst="diamond">
              <a:avLst/>
            </a:prstGeom>
            <a:solidFill>
              <a:schemeClr val="accent1"/>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makes</a:t>
              </a:r>
            </a:p>
          </p:txBody>
        </p:sp>
        <p:sp>
          <p:nvSpPr>
            <p:cNvPr id="62476" name="Line 11"/>
            <p:cNvSpPr>
              <a:spLocks noChangeShapeType="1"/>
            </p:cNvSpPr>
            <p:nvPr/>
          </p:nvSpPr>
          <p:spPr bwMode="auto">
            <a:xfrm flipH="1">
              <a:off x="4419600" y="4993454"/>
              <a:ext cx="914400" cy="0"/>
            </a:xfrm>
            <a:prstGeom prst="line">
              <a:avLst/>
            </a:prstGeom>
            <a:noFill/>
            <a:ln w="38100">
              <a:solidFill>
                <a:schemeClr val="tx1"/>
              </a:solidFill>
              <a:round/>
              <a:headEnd type="triangle" w="lg" len="lg"/>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2477" name="Line 12"/>
            <p:cNvSpPr>
              <a:spLocks noChangeShapeType="1"/>
            </p:cNvSpPr>
            <p:nvPr/>
          </p:nvSpPr>
          <p:spPr bwMode="auto">
            <a:xfrm>
              <a:off x="6858000" y="4993454"/>
              <a:ext cx="838200" cy="0"/>
            </a:xfrm>
            <a:prstGeom prst="line">
              <a:avLst/>
            </a:prstGeom>
            <a:noFill/>
            <a:ln w="9525">
              <a:solidFill>
                <a:schemeClr val="tx1"/>
              </a:solidFill>
              <a:round/>
              <a:headEnd/>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62479" name="Text Box 14"/>
          <p:cNvSpPr txBox="1">
            <a:spLocks noChangeArrowheads="1"/>
          </p:cNvSpPr>
          <p:nvPr/>
        </p:nvSpPr>
        <p:spPr bwMode="auto">
          <a:xfrm>
            <a:off x="3247688" y="3262344"/>
            <a:ext cx="5696624" cy="830997"/>
          </a:xfrm>
          <a:prstGeom prst="rect">
            <a:avLst/>
          </a:prstGeom>
          <a:noFill/>
          <a:ln w="9525">
            <a:noFill/>
            <a:miter lim="800000"/>
            <a:headEnd/>
            <a:tailEnd/>
          </a:ln>
        </p:spPr>
        <p:txBody>
          <a:bodyPr wrap="none">
            <a:prstTxWarp prst="textNoShape">
              <a:avLst/>
            </a:prstTxWarp>
            <a:spAutoFit/>
          </a:bodyPr>
          <a:lstStyle/>
          <a:p>
            <a:pPr fontAlgn="base">
              <a:spcBef>
                <a:spcPct val="0"/>
              </a:spcBef>
              <a:spcAft>
                <a:spcPct val="0"/>
              </a:spcAft>
            </a:pPr>
            <a:r>
              <a:rPr lang="en-US" sz="2400">
                <a:solidFill>
                  <a:srgbClr val="000000"/>
                </a:solidFill>
                <a:latin typeface="+mj-lt"/>
              </a:rPr>
              <a:t>Each product made by at most one company.</a:t>
            </a:r>
          </a:p>
          <a:p>
            <a:pPr fontAlgn="base">
              <a:spcBef>
                <a:spcPct val="0"/>
              </a:spcBef>
              <a:spcAft>
                <a:spcPct val="0"/>
              </a:spcAft>
            </a:pPr>
            <a:r>
              <a:rPr lang="en-US" sz="2400">
                <a:solidFill>
                  <a:srgbClr val="000000"/>
                </a:solidFill>
                <a:latin typeface="+mj-lt"/>
              </a:rPr>
              <a:t>Some products made by no company?</a:t>
            </a:r>
          </a:p>
        </p:txBody>
      </p:sp>
      <p:sp>
        <p:nvSpPr>
          <p:cNvPr id="62480" name="Text Box 15"/>
          <p:cNvSpPr txBox="1">
            <a:spLocks noChangeArrowheads="1"/>
          </p:cNvSpPr>
          <p:nvPr/>
        </p:nvSpPr>
        <p:spPr bwMode="auto">
          <a:xfrm>
            <a:off x="3278187" y="6096000"/>
            <a:ext cx="5635625" cy="457200"/>
          </a:xfrm>
          <a:prstGeom prst="rect">
            <a:avLst/>
          </a:prstGeom>
          <a:solidFill>
            <a:schemeClr val="accent6">
              <a:lumMod val="20000"/>
              <a:lumOff val="80000"/>
            </a:schemeClr>
          </a:solidFill>
          <a:ln w="9525">
            <a:noFill/>
            <a:miter lim="800000"/>
            <a:headEnd/>
            <a:tailEnd/>
          </a:ln>
          <a:effectLst>
            <a:outerShdw blurRad="50800" dist="12700" dir="2700000" algn="tl" rotWithShape="0">
              <a:prstClr val="black">
                <a:alpha val="40000"/>
              </a:prstClr>
            </a:outerShdw>
          </a:effectLst>
        </p:spPr>
        <p:txBody>
          <a:bodyPr wrap="none">
            <a:prstTxWarp prst="textNoShape">
              <a:avLst/>
            </a:prstTxWarp>
            <a:spAutoFit/>
          </a:bodyPr>
          <a:lstStyle/>
          <a:p>
            <a:pPr fontAlgn="base">
              <a:spcBef>
                <a:spcPct val="0"/>
              </a:spcBef>
              <a:spcAft>
                <a:spcPct val="0"/>
              </a:spcAft>
            </a:pPr>
            <a:r>
              <a:rPr lang="en-US" sz="2400">
                <a:solidFill>
                  <a:srgbClr val="000000"/>
                </a:solidFill>
                <a:latin typeface="+mj-lt"/>
              </a:rPr>
              <a:t>Each product made by </a:t>
            </a:r>
            <a:r>
              <a:rPr lang="en-US" sz="2400" i="1" u="sng">
                <a:solidFill>
                  <a:srgbClr val="000000"/>
                </a:solidFill>
                <a:latin typeface="+mj-lt"/>
              </a:rPr>
              <a:t>exactly</a:t>
            </a:r>
            <a:r>
              <a:rPr lang="en-US" sz="2400">
                <a:solidFill>
                  <a:srgbClr val="000000"/>
                </a:solidFill>
                <a:latin typeface="+mj-lt"/>
              </a:rPr>
              <a:t> one company.</a:t>
            </a:r>
          </a:p>
        </p:txBody>
      </p:sp>
    </p:spTree>
    <p:extLst>
      <p:ext uri="{BB962C8B-B14F-4D97-AF65-F5344CB8AC3E}">
        <p14:creationId xmlns:p14="http://schemas.microsoft.com/office/powerpoint/2010/main" val="134393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9" grpId="0"/>
      <p:bldP spid="62480"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en-US"/>
              <a:t>Weak Entity Sets</a:t>
            </a:r>
          </a:p>
        </p:txBody>
      </p:sp>
      <p:sp>
        <p:nvSpPr>
          <p:cNvPr id="64514" name="Slide Number Placeholder 4"/>
          <p:cNvSpPr>
            <a:spLocks noGrp="1"/>
          </p:cNvSpPr>
          <p:nvPr>
            <p:ph type="sldNum" sz="quarter" idx="12"/>
          </p:nvPr>
        </p:nvSpPr>
        <p:spPr>
          <a:xfrm>
            <a:off x="10194966" y="6151418"/>
            <a:ext cx="1905000" cy="457200"/>
          </a:xfrm>
          <a:noFill/>
        </p:spPr>
        <p:txBody>
          <a:bodyPr/>
          <a:lstStyle/>
          <a:p>
            <a:fld id="{1F35A8C0-0553-7848-AB31-9B3F8A8B5DB6}" type="slidenum">
              <a:rPr lang="en-US" smtClean="0">
                <a:solidFill>
                  <a:srgbClr val="000000"/>
                </a:solidFill>
              </a:rPr>
              <a:pPr/>
              <a:t>97</a:t>
            </a:fld>
            <a:endParaRPr lang="en-US">
              <a:solidFill>
                <a:srgbClr val="000000"/>
              </a:solidFill>
            </a:endParaRPr>
          </a:p>
        </p:txBody>
      </p:sp>
      <p:sp>
        <p:nvSpPr>
          <p:cNvPr id="64516" name="Text Box 3"/>
          <p:cNvSpPr txBox="1">
            <a:spLocks noChangeArrowheads="1"/>
          </p:cNvSpPr>
          <p:nvPr/>
        </p:nvSpPr>
        <p:spPr bwMode="auto">
          <a:xfrm>
            <a:off x="2695069" y="1585572"/>
            <a:ext cx="6801862" cy="830997"/>
          </a:xfrm>
          <a:prstGeom prst="rect">
            <a:avLst/>
          </a:prstGeom>
          <a:solidFill>
            <a:schemeClr val="accent5">
              <a:lumMod val="20000"/>
              <a:lumOff val="80000"/>
            </a:schemeClr>
          </a:solidFill>
          <a:ln w="9525">
            <a:noFill/>
            <a:miter lim="800000"/>
            <a:headEnd/>
            <a:tailEnd/>
          </a:ln>
          <a:effectLst>
            <a:outerShdw blurRad="50800" dist="12700" dir="2700000" algn="tl" rotWithShape="0">
              <a:prstClr val="black">
                <a:alpha val="40000"/>
              </a:prstClr>
            </a:outerShdw>
          </a:effectLst>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latin typeface="+mj-lt"/>
              </a:rPr>
              <a:t>Entity sets are </a:t>
            </a:r>
            <a:r>
              <a:rPr lang="en-US" sz="2400" i="1" u="sng">
                <a:solidFill>
                  <a:srgbClr val="000000"/>
                </a:solidFill>
                <a:latin typeface="+mj-lt"/>
              </a:rPr>
              <a:t>weak</a:t>
            </a:r>
            <a:r>
              <a:rPr lang="en-US" sz="2400">
                <a:solidFill>
                  <a:srgbClr val="000000"/>
                </a:solidFill>
                <a:latin typeface="+mj-lt"/>
              </a:rPr>
              <a:t> when their key comes from other</a:t>
            </a:r>
          </a:p>
          <a:p>
            <a:pPr eaLnBrk="0" fontAlgn="base" hangingPunct="0">
              <a:spcBef>
                <a:spcPct val="0"/>
              </a:spcBef>
              <a:spcAft>
                <a:spcPct val="0"/>
              </a:spcAft>
            </a:pPr>
            <a:r>
              <a:rPr lang="en-US" sz="2400">
                <a:solidFill>
                  <a:srgbClr val="000000"/>
                </a:solidFill>
                <a:latin typeface="+mj-lt"/>
              </a:rPr>
              <a:t>classes to which they are related.</a:t>
            </a:r>
          </a:p>
        </p:txBody>
      </p:sp>
      <p:sp>
        <p:nvSpPr>
          <p:cNvPr id="21" name="TextBox 20"/>
          <p:cNvSpPr txBox="1"/>
          <p:nvPr/>
        </p:nvSpPr>
        <p:spPr>
          <a:xfrm>
            <a:off x="5164494" y="5127231"/>
            <a:ext cx="3750906" cy="1015663"/>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pPr fontAlgn="base">
              <a:spcBef>
                <a:spcPct val="0"/>
              </a:spcBef>
              <a:spcAft>
                <a:spcPct val="0"/>
              </a:spcAft>
            </a:pPr>
            <a:r>
              <a:rPr lang="en-US" sz="2000">
                <a:solidFill>
                  <a:srgbClr val="000000"/>
                </a:solidFill>
                <a:latin typeface="+mj-lt"/>
              </a:rPr>
              <a:t>“Football team” v. “</a:t>
            </a:r>
            <a:r>
              <a:rPr lang="en-US" sz="2000" b="1" i="1">
                <a:solidFill>
                  <a:srgbClr val="000000"/>
                </a:solidFill>
                <a:latin typeface="+mj-lt"/>
              </a:rPr>
              <a:t>The Stanford </a:t>
            </a:r>
            <a:r>
              <a:rPr lang="en-US" sz="2000">
                <a:solidFill>
                  <a:srgbClr val="000000"/>
                </a:solidFill>
                <a:latin typeface="+mj-lt"/>
              </a:rPr>
              <a:t>Football team” </a:t>
            </a:r>
            <a:r>
              <a:rPr lang="en-US" sz="2000" i="1">
                <a:solidFill>
                  <a:srgbClr val="000000"/>
                </a:solidFill>
                <a:latin typeface="+mj-lt"/>
              </a:rPr>
              <a:t>(E.g., Berkeley has a football team too, sort of)</a:t>
            </a:r>
          </a:p>
        </p:txBody>
      </p:sp>
      <p:grpSp>
        <p:nvGrpSpPr>
          <p:cNvPr id="3" name="Group 2"/>
          <p:cNvGrpSpPr/>
          <p:nvPr/>
        </p:nvGrpSpPr>
        <p:grpSpPr>
          <a:xfrm>
            <a:off x="1905000" y="2743200"/>
            <a:ext cx="8077200" cy="2133600"/>
            <a:chOff x="1905000" y="2743200"/>
            <a:chExt cx="8077200" cy="2133600"/>
          </a:xfrm>
        </p:grpSpPr>
        <p:grpSp>
          <p:nvGrpSpPr>
            <p:cNvPr id="2" name="Group 1"/>
            <p:cNvGrpSpPr/>
            <p:nvPr/>
          </p:nvGrpSpPr>
          <p:grpSpPr>
            <a:xfrm>
              <a:off x="1905000" y="2743200"/>
              <a:ext cx="8077200" cy="2133600"/>
              <a:chOff x="1905000" y="2743200"/>
              <a:chExt cx="8077200" cy="2133600"/>
            </a:xfrm>
          </p:grpSpPr>
          <p:sp>
            <p:nvSpPr>
              <p:cNvPr id="64524" name="Oval 11"/>
              <p:cNvSpPr>
                <a:spLocks noChangeArrowheads="1"/>
              </p:cNvSpPr>
              <p:nvPr/>
            </p:nvSpPr>
            <p:spPr bwMode="auto">
              <a:xfrm>
                <a:off x="77724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64517" name="Rectangle 4"/>
              <p:cNvSpPr>
                <a:spLocks noChangeArrowheads="1"/>
              </p:cNvSpPr>
              <p:nvPr/>
            </p:nvSpPr>
            <p:spPr bwMode="auto">
              <a:xfrm>
                <a:off x="7848600" y="31242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University</a:t>
                </a:r>
              </a:p>
            </p:txBody>
          </p:sp>
          <p:sp>
            <p:nvSpPr>
              <p:cNvPr id="64518" name="Rectangle 5"/>
              <p:cNvSpPr>
                <a:spLocks noChangeArrowheads="1"/>
              </p:cNvSpPr>
              <p:nvPr/>
            </p:nvSpPr>
            <p:spPr bwMode="auto">
              <a:xfrm>
                <a:off x="2438400" y="3124200"/>
                <a:ext cx="2133600" cy="762000"/>
              </a:xfrm>
              <a:prstGeom prst="rect">
                <a:avLst/>
              </a:prstGeom>
              <a:solidFill>
                <a:schemeClr val="accent2">
                  <a:lumMod val="20000"/>
                  <a:lumOff val="80000"/>
                </a:schemeClr>
              </a:solidFill>
              <a:ln w="50800">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Team</a:t>
                </a:r>
              </a:p>
            </p:txBody>
          </p:sp>
          <p:sp>
            <p:nvSpPr>
              <p:cNvPr id="64519" name="AutoShape 6"/>
              <p:cNvSpPr>
                <a:spLocks noChangeArrowheads="1"/>
              </p:cNvSpPr>
              <p:nvPr/>
            </p:nvSpPr>
            <p:spPr bwMode="auto">
              <a:xfrm>
                <a:off x="5486400" y="2743200"/>
                <a:ext cx="1524000" cy="1371600"/>
              </a:xfrm>
              <a:prstGeom prst="diamond">
                <a:avLst/>
              </a:prstGeom>
              <a:solidFill>
                <a:schemeClr val="accent1"/>
              </a:solidFill>
              <a:ln w="50800">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affiliation</a:t>
                </a:r>
              </a:p>
            </p:txBody>
          </p:sp>
          <p:sp>
            <p:nvSpPr>
              <p:cNvPr id="64520" name="Line 7"/>
              <p:cNvSpPr>
                <a:spLocks noChangeShapeType="1"/>
              </p:cNvSpPr>
              <p:nvPr/>
            </p:nvSpPr>
            <p:spPr bwMode="auto">
              <a:xfrm flipH="1">
                <a:off x="4572000" y="3429000"/>
                <a:ext cx="914400" cy="0"/>
              </a:xfrm>
              <a:prstGeom prst="line">
                <a:avLst/>
              </a:prstGeom>
              <a:noFill/>
              <a:ln w="50800">
                <a:solidFill>
                  <a:schemeClr val="tx1"/>
                </a:solidFill>
                <a:round/>
                <a:headEnd type="arrow"/>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21" name="Line 8"/>
              <p:cNvSpPr>
                <a:spLocks noChangeShapeType="1"/>
              </p:cNvSpPr>
              <p:nvPr/>
            </p:nvSpPr>
            <p:spPr bwMode="auto">
              <a:xfrm>
                <a:off x="7010400" y="3429000"/>
                <a:ext cx="838200" cy="0"/>
              </a:xfrm>
              <a:prstGeom prst="line">
                <a:avLst/>
              </a:prstGeom>
              <a:noFill/>
              <a:ln w="9525">
                <a:solidFill>
                  <a:schemeClr val="tx1"/>
                </a:solidFill>
                <a:round/>
                <a:headEnd/>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22" name="Oval 9"/>
              <p:cNvSpPr>
                <a:spLocks noChangeArrowheads="1"/>
              </p:cNvSpPr>
              <p:nvPr/>
            </p:nvSpPr>
            <p:spPr bwMode="auto">
              <a:xfrm>
                <a:off x="40386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number</a:t>
                </a:r>
              </a:p>
            </p:txBody>
          </p:sp>
          <p:sp>
            <p:nvSpPr>
              <p:cNvPr id="64523" name="Oval 10"/>
              <p:cNvSpPr>
                <a:spLocks noChangeArrowheads="1"/>
              </p:cNvSpPr>
              <p:nvPr/>
            </p:nvSpPr>
            <p:spPr bwMode="auto">
              <a:xfrm>
                <a:off x="19050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sport</a:t>
                </a:r>
              </a:p>
            </p:txBody>
          </p:sp>
          <p:sp>
            <p:nvSpPr>
              <p:cNvPr id="64529" name="Line 16"/>
              <p:cNvSpPr>
                <a:spLocks noChangeShapeType="1"/>
              </p:cNvSpPr>
              <p:nvPr/>
            </p:nvSpPr>
            <p:spPr bwMode="auto">
              <a:xfrm flipH="1">
                <a:off x="3048000" y="3886200"/>
                <a:ext cx="381000" cy="381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30" name="Line 17"/>
              <p:cNvSpPr>
                <a:spLocks noChangeShapeType="1"/>
              </p:cNvSpPr>
              <p:nvPr/>
            </p:nvSpPr>
            <p:spPr bwMode="auto">
              <a:xfrm>
                <a:off x="3581400" y="3886200"/>
                <a:ext cx="762000" cy="381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31" name="Line 18"/>
              <p:cNvSpPr>
                <a:spLocks noChangeShapeType="1"/>
              </p:cNvSpPr>
              <p:nvPr/>
            </p:nvSpPr>
            <p:spPr bwMode="auto">
              <a:xfrm flipH="1">
                <a:off x="8382000" y="3886200"/>
                <a:ext cx="2286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
          <p:nvSpPr>
            <p:cNvPr id="64528" name="Line 15"/>
            <p:cNvSpPr>
              <a:spLocks noChangeShapeType="1"/>
            </p:cNvSpPr>
            <p:nvPr/>
          </p:nvSpPr>
          <p:spPr bwMode="auto">
            <a:xfrm>
              <a:off x="8153400" y="4724400"/>
              <a:ext cx="6858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2" name="Line 14"/>
            <p:cNvSpPr>
              <a:spLocks noChangeShapeType="1"/>
            </p:cNvSpPr>
            <p:nvPr/>
          </p:nvSpPr>
          <p:spPr bwMode="auto">
            <a:xfrm>
              <a:off x="4267200" y="4724400"/>
              <a:ext cx="990600" cy="0"/>
            </a:xfrm>
            <a:prstGeom prst="line">
              <a:avLst/>
            </a:prstGeom>
            <a:noFill/>
            <a:ln w="9525">
              <a:solidFill>
                <a:schemeClr val="tx1"/>
              </a:solidFill>
              <a:prstDash val="dash"/>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grpSp>
    </p:spTree>
    <p:extLst>
      <p:ext uri="{BB962C8B-B14F-4D97-AF65-F5344CB8AC3E}">
        <p14:creationId xmlns:p14="http://schemas.microsoft.com/office/powerpoint/2010/main" val="33641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nimBg="1"/>
      <p:bldP spid="21"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en-US"/>
              <a:t>Weak Entity Sets</a:t>
            </a:r>
          </a:p>
        </p:txBody>
      </p:sp>
      <p:sp>
        <p:nvSpPr>
          <p:cNvPr id="64514" name="Slide Number Placeholder 4"/>
          <p:cNvSpPr>
            <a:spLocks noGrp="1"/>
          </p:cNvSpPr>
          <p:nvPr>
            <p:ph type="sldNum" sz="quarter" idx="12"/>
          </p:nvPr>
        </p:nvSpPr>
        <p:spPr>
          <a:xfrm>
            <a:off x="8077200" y="5943600"/>
            <a:ext cx="1905000" cy="457200"/>
          </a:xfrm>
          <a:noFill/>
        </p:spPr>
        <p:txBody>
          <a:bodyPr/>
          <a:lstStyle/>
          <a:p>
            <a:fld id="{1F35A8C0-0553-7848-AB31-9B3F8A8B5DB6}" type="slidenum">
              <a:rPr lang="en-US" smtClean="0">
                <a:solidFill>
                  <a:srgbClr val="000000"/>
                </a:solidFill>
              </a:rPr>
              <a:pPr/>
              <a:t>98</a:t>
            </a:fld>
            <a:endParaRPr lang="en-US">
              <a:solidFill>
                <a:srgbClr val="000000"/>
              </a:solidFill>
            </a:endParaRPr>
          </a:p>
        </p:txBody>
      </p:sp>
      <p:sp>
        <p:nvSpPr>
          <p:cNvPr id="64516" name="Text Box 3"/>
          <p:cNvSpPr txBox="1">
            <a:spLocks noChangeArrowheads="1"/>
          </p:cNvSpPr>
          <p:nvPr/>
        </p:nvSpPr>
        <p:spPr bwMode="auto">
          <a:xfrm>
            <a:off x="2695069" y="1585572"/>
            <a:ext cx="6801862" cy="830997"/>
          </a:xfrm>
          <a:prstGeom prst="rect">
            <a:avLst/>
          </a:prstGeom>
          <a:solidFill>
            <a:schemeClr val="accent5">
              <a:lumMod val="20000"/>
              <a:lumOff val="80000"/>
            </a:schemeClr>
          </a:solidFill>
          <a:ln w="9525">
            <a:noFill/>
            <a:miter lim="800000"/>
            <a:headEnd/>
            <a:tailEnd/>
          </a:ln>
          <a:effectLst>
            <a:outerShdw blurRad="50800" dist="12700" dir="2700000" algn="tl" rotWithShape="0">
              <a:prstClr val="black">
                <a:alpha val="40000"/>
              </a:prstClr>
            </a:outerShdw>
          </a:effectLst>
        </p:spPr>
        <p:txBody>
          <a:bodyPr wrap="none">
            <a:prstTxWarp prst="textNoShape">
              <a:avLst/>
            </a:prstTxWarp>
            <a:spAutoFit/>
          </a:bodyPr>
          <a:lstStyle/>
          <a:p>
            <a:pPr eaLnBrk="0" fontAlgn="base" hangingPunct="0">
              <a:spcBef>
                <a:spcPct val="0"/>
              </a:spcBef>
              <a:spcAft>
                <a:spcPct val="0"/>
              </a:spcAft>
            </a:pPr>
            <a:r>
              <a:rPr lang="en-US" sz="2400">
                <a:solidFill>
                  <a:srgbClr val="000000"/>
                </a:solidFill>
                <a:latin typeface="+mj-lt"/>
              </a:rPr>
              <a:t>Entity sets are </a:t>
            </a:r>
            <a:r>
              <a:rPr lang="en-US" sz="2400" i="1" u="sng">
                <a:solidFill>
                  <a:srgbClr val="000000"/>
                </a:solidFill>
                <a:latin typeface="+mj-lt"/>
              </a:rPr>
              <a:t>weak</a:t>
            </a:r>
            <a:r>
              <a:rPr lang="en-US" sz="2400">
                <a:solidFill>
                  <a:srgbClr val="000000"/>
                </a:solidFill>
                <a:latin typeface="+mj-lt"/>
              </a:rPr>
              <a:t> when their key comes from other</a:t>
            </a:r>
          </a:p>
          <a:p>
            <a:pPr eaLnBrk="0" fontAlgn="base" hangingPunct="0">
              <a:spcBef>
                <a:spcPct val="0"/>
              </a:spcBef>
              <a:spcAft>
                <a:spcPct val="0"/>
              </a:spcAft>
            </a:pPr>
            <a:r>
              <a:rPr lang="en-US" sz="2400">
                <a:solidFill>
                  <a:srgbClr val="000000"/>
                </a:solidFill>
                <a:latin typeface="+mj-lt"/>
              </a:rPr>
              <a:t>classes to which they are related.</a:t>
            </a:r>
          </a:p>
        </p:txBody>
      </p:sp>
      <p:sp>
        <p:nvSpPr>
          <p:cNvPr id="64517" name="Rectangle 4"/>
          <p:cNvSpPr>
            <a:spLocks noChangeArrowheads="1"/>
          </p:cNvSpPr>
          <p:nvPr/>
        </p:nvSpPr>
        <p:spPr bwMode="auto">
          <a:xfrm>
            <a:off x="7848600" y="3124200"/>
            <a:ext cx="2133600" cy="762000"/>
          </a:xfrm>
          <a:prstGeom prst="rect">
            <a:avLst/>
          </a:prstGeom>
          <a:solidFill>
            <a:schemeClr val="accent2">
              <a:lumMod val="20000"/>
              <a:lumOff val="80000"/>
            </a:schemeClr>
          </a:solidFill>
          <a:ln w="9525">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University</a:t>
            </a:r>
          </a:p>
        </p:txBody>
      </p:sp>
      <p:sp>
        <p:nvSpPr>
          <p:cNvPr id="64518" name="Rectangle 5"/>
          <p:cNvSpPr>
            <a:spLocks noChangeArrowheads="1"/>
          </p:cNvSpPr>
          <p:nvPr/>
        </p:nvSpPr>
        <p:spPr bwMode="auto">
          <a:xfrm>
            <a:off x="2438400" y="3124200"/>
            <a:ext cx="2133600" cy="762000"/>
          </a:xfrm>
          <a:prstGeom prst="rect">
            <a:avLst/>
          </a:prstGeom>
          <a:solidFill>
            <a:schemeClr val="accent2">
              <a:lumMod val="20000"/>
              <a:lumOff val="80000"/>
            </a:schemeClr>
          </a:solidFill>
          <a:ln w="50800">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Team</a:t>
            </a:r>
          </a:p>
        </p:txBody>
      </p:sp>
      <p:sp>
        <p:nvSpPr>
          <p:cNvPr id="64519" name="AutoShape 6"/>
          <p:cNvSpPr>
            <a:spLocks noChangeArrowheads="1"/>
          </p:cNvSpPr>
          <p:nvPr/>
        </p:nvSpPr>
        <p:spPr bwMode="auto">
          <a:xfrm>
            <a:off x="5486400" y="2743200"/>
            <a:ext cx="1524000" cy="1371600"/>
          </a:xfrm>
          <a:prstGeom prst="diamond">
            <a:avLst/>
          </a:prstGeom>
          <a:solidFill>
            <a:schemeClr val="accent1"/>
          </a:solidFill>
          <a:ln w="50800">
            <a:solidFill>
              <a:schemeClr val="tx1"/>
            </a:solidFill>
            <a:miter lim="800000"/>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affiliation</a:t>
            </a:r>
          </a:p>
        </p:txBody>
      </p:sp>
      <p:sp>
        <p:nvSpPr>
          <p:cNvPr id="64520" name="Line 7"/>
          <p:cNvSpPr>
            <a:spLocks noChangeShapeType="1"/>
          </p:cNvSpPr>
          <p:nvPr/>
        </p:nvSpPr>
        <p:spPr bwMode="auto">
          <a:xfrm flipH="1">
            <a:off x="4572000" y="3429000"/>
            <a:ext cx="914400" cy="0"/>
          </a:xfrm>
          <a:prstGeom prst="line">
            <a:avLst/>
          </a:prstGeom>
          <a:noFill/>
          <a:ln w="50800">
            <a:solidFill>
              <a:schemeClr val="tx1"/>
            </a:solidFill>
            <a:round/>
            <a:headEnd type="arrow"/>
            <a:tailEnd type="none"/>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21" name="Line 8"/>
          <p:cNvSpPr>
            <a:spLocks noChangeShapeType="1"/>
          </p:cNvSpPr>
          <p:nvPr/>
        </p:nvSpPr>
        <p:spPr bwMode="auto">
          <a:xfrm>
            <a:off x="7010400" y="3429000"/>
            <a:ext cx="838200" cy="0"/>
          </a:xfrm>
          <a:prstGeom prst="line">
            <a:avLst/>
          </a:prstGeom>
          <a:noFill/>
          <a:ln w="9525">
            <a:solidFill>
              <a:schemeClr val="tx1"/>
            </a:solidFill>
            <a:round/>
            <a:headEnd/>
            <a:tailEnd type="none" w="lg" len="lg"/>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22" name="Oval 9"/>
          <p:cNvSpPr>
            <a:spLocks noChangeArrowheads="1"/>
          </p:cNvSpPr>
          <p:nvPr/>
        </p:nvSpPr>
        <p:spPr bwMode="auto">
          <a:xfrm>
            <a:off x="40386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number</a:t>
            </a:r>
          </a:p>
        </p:txBody>
      </p:sp>
      <p:sp>
        <p:nvSpPr>
          <p:cNvPr id="64523" name="Oval 10"/>
          <p:cNvSpPr>
            <a:spLocks noChangeArrowheads="1"/>
          </p:cNvSpPr>
          <p:nvPr/>
        </p:nvSpPr>
        <p:spPr bwMode="auto">
          <a:xfrm>
            <a:off x="19050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sport</a:t>
            </a:r>
          </a:p>
        </p:txBody>
      </p:sp>
      <p:sp>
        <p:nvSpPr>
          <p:cNvPr id="64524" name="Oval 11"/>
          <p:cNvSpPr>
            <a:spLocks noChangeArrowheads="1"/>
          </p:cNvSpPr>
          <p:nvPr/>
        </p:nvSpPr>
        <p:spPr bwMode="auto">
          <a:xfrm>
            <a:off x="7772400" y="4191000"/>
            <a:ext cx="1447800" cy="685800"/>
          </a:xfrm>
          <a:prstGeom prst="ellipse">
            <a:avLst/>
          </a:prstGeom>
          <a:solidFill>
            <a:srgbClr val="99FF66"/>
          </a:solidFill>
          <a:ln w="9525">
            <a:solidFill>
              <a:schemeClr val="tx1"/>
            </a:solidFill>
            <a:round/>
            <a:headEnd/>
            <a:tailEnd/>
          </a:ln>
        </p:spPr>
        <p:txBody>
          <a:bodyPr wrap="none" anchor="ctr">
            <a:prstTxWarp prst="textNoShape">
              <a:avLst/>
            </a:prstTxWarp>
          </a:bodyPr>
          <a:lstStyle/>
          <a:p>
            <a:pPr algn="ctr" eaLnBrk="0" fontAlgn="base" hangingPunct="0">
              <a:spcBef>
                <a:spcPct val="0"/>
              </a:spcBef>
              <a:spcAft>
                <a:spcPct val="0"/>
              </a:spcAft>
            </a:pPr>
            <a:r>
              <a:rPr lang="en-US" sz="2400">
                <a:solidFill>
                  <a:srgbClr val="000000"/>
                </a:solidFill>
              </a:rPr>
              <a:t>name</a:t>
            </a:r>
          </a:p>
        </p:txBody>
      </p:sp>
      <p:sp>
        <p:nvSpPr>
          <p:cNvPr id="64528" name="Line 15"/>
          <p:cNvSpPr>
            <a:spLocks noChangeShapeType="1"/>
          </p:cNvSpPr>
          <p:nvPr/>
        </p:nvSpPr>
        <p:spPr bwMode="auto">
          <a:xfrm>
            <a:off x="8153400" y="4724400"/>
            <a:ext cx="685800" cy="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29" name="Line 16"/>
          <p:cNvSpPr>
            <a:spLocks noChangeShapeType="1"/>
          </p:cNvSpPr>
          <p:nvPr/>
        </p:nvSpPr>
        <p:spPr bwMode="auto">
          <a:xfrm flipH="1">
            <a:off x="3048000" y="3886200"/>
            <a:ext cx="381000" cy="381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30" name="Line 17"/>
          <p:cNvSpPr>
            <a:spLocks noChangeShapeType="1"/>
          </p:cNvSpPr>
          <p:nvPr/>
        </p:nvSpPr>
        <p:spPr bwMode="auto">
          <a:xfrm>
            <a:off x="3581400" y="3886200"/>
            <a:ext cx="762000" cy="3810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64531" name="Line 18"/>
          <p:cNvSpPr>
            <a:spLocks noChangeShapeType="1"/>
          </p:cNvSpPr>
          <p:nvPr/>
        </p:nvSpPr>
        <p:spPr bwMode="auto">
          <a:xfrm flipH="1">
            <a:off x="8382000" y="3886200"/>
            <a:ext cx="228600" cy="304800"/>
          </a:xfrm>
          <a:prstGeom prst="line">
            <a:avLst/>
          </a:prstGeom>
          <a:noFill/>
          <a:ln w="9525">
            <a:solidFill>
              <a:schemeClr val="tx1"/>
            </a:solidFill>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2" name="Line 14"/>
          <p:cNvSpPr>
            <a:spLocks noChangeShapeType="1"/>
          </p:cNvSpPr>
          <p:nvPr/>
        </p:nvSpPr>
        <p:spPr bwMode="auto">
          <a:xfrm>
            <a:off x="4267200" y="4724400"/>
            <a:ext cx="990600" cy="0"/>
          </a:xfrm>
          <a:prstGeom prst="line">
            <a:avLst/>
          </a:prstGeom>
          <a:noFill/>
          <a:ln w="9525">
            <a:solidFill>
              <a:schemeClr val="tx1"/>
            </a:solidFill>
            <a:prstDash val="dash"/>
            <a:round/>
            <a:headEnd/>
            <a:tailEnd/>
          </a:ln>
        </p:spPr>
        <p:txBody>
          <a:bodyPr wrap="none" anchor="ctr">
            <a:prstTxWarp prst="textNoShape">
              <a:avLst/>
            </a:prstTxWarp>
          </a:bodyPr>
          <a:lstStyle/>
          <a:p>
            <a:pPr fontAlgn="base">
              <a:spcBef>
                <a:spcPct val="0"/>
              </a:spcBef>
              <a:spcAft>
                <a:spcPct val="0"/>
              </a:spcAft>
            </a:pPr>
            <a:endParaRPr lang="en-US" sz="2400">
              <a:solidFill>
                <a:srgbClr val="000000"/>
              </a:solidFill>
            </a:endParaRPr>
          </a:p>
        </p:txBody>
      </p:sp>
      <p:sp>
        <p:nvSpPr>
          <p:cNvPr id="25" name="TextBox 24"/>
          <p:cNvSpPr txBox="1"/>
          <p:nvPr/>
        </p:nvSpPr>
        <p:spPr>
          <a:xfrm>
            <a:off x="2247900" y="5319712"/>
            <a:ext cx="7696200" cy="1200329"/>
          </a:xfrm>
          <a:prstGeom prst="rect">
            <a:avLst/>
          </a:prstGeom>
          <a:noFill/>
        </p:spPr>
        <p:txBody>
          <a:bodyPr wrap="square" rtlCol="0">
            <a:spAutoFit/>
          </a:bodyPr>
          <a:lstStyle/>
          <a:p>
            <a:pPr marL="457200" indent="-457200" fontAlgn="base">
              <a:spcBef>
                <a:spcPct val="0"/>
              </a:spcBef>
              <a:spcAft>
                <a:spcPct val="0"/>
              </a:spcAft>
              <a:buFont typeface="Arial" charset="0"/>
              <a:buChar char="•"/>
            </a:pPr>
            <a:r>
              <a:rPr lang="en-US" sz="2400">
                <a:solidFill>
                  <a:srgbClr val="000000"/>
                </a:solidFill>
              </a:rPr>
              <a:t>number is a </a:t>
            </a:r>
            <a:r>
              <a:rPr lang="en-US" sz="2400" i="1" u="sng">
                <a:solidFill>
                  <a:srgbClr val="000000"/>
                </a:solidFill>
              </a:rPr>
              <a:t>partial key</a:t>
            </a:r>
            <a:r>
              <a:rPr lang="en-US" sz="2400">
                <a:solidFill>
                  <a:srgbClr val="000000"/>
                </a:solidFill>
              </a:rPr>
              <a:t>. (denote with dashed underline).</a:t>
            </a:r>
          </a:p>
          <a:p>
            <a:pPr marL="457200" indent="-457200" fontAlgn="base">
              <a:spcBef>
                <a:spcPct val="0"/>
              </a:spcBef>
              <a:spcAft>
                <a:spcPct val="0"/>
              </a:spcAft>
              <a:buFont typeface="Arial" charset="0"/>
              <a:buChar char="•"/>
            </a:pPr>
            <a:r>
              <a:rPr lang="en-US" sz="2400">
                <a:solidFill>
                  <a:srgbClr val="000000"/>
                </a:solidFill>
              </a:rPr>
              <a:t>University is called the </a:t>
            </a:r>
            <a:r>
              <a:rPr lang="en-US" sz="2400" i="1" u="sng">
                <a:solidFill>
                  <a:srgbClr val="000000"/>
                </a:solidFill>
              </a:rPr>
              <a:t>identifying owner</a:t>
            </a:r>
            <a:r>
              <a:rPr lang="en-US" sz="2400">
                <a:solidFill>
                  <a:srgbClr val="000000"/>
                </a:solidFill>
              </a:rPr>
              <a:t>.</a:t>
            </a:r>
          </a:p>
          <a:p>
            <a:pPr marL="457200" indent="-457200" fontAlgn="base">
              <a:spcBef>
                <a:spcPct val="0"/>
              </a:spcBef>
              <a:spcAft>
                <a:spcPct val="0"/>
              </a:spcAft>
              <a:buFont typeface="Arial" charset="0"/>
              <a:buChar char="•"/>
            </a:pPr>
            <a:r>
              <a:rPr lang="en-US" sz="2400">
                <a:solidFill>
                  <a:srgbClr val="000000"/>
                </a:solidFill>
              </a:rPr>
              <a:t>Participation in affiliation must be total. Why?</a:t>
            </a:r>
          </a:p>
        </p:txBody>
      </p:sp>
    </p:spTree>
    <p:extLst>
      <p:ext uri="{BB962C8B-B14F-4D97-AF65-F5344CB8AC3E}">
        <p14:creationId xmlns:p14="http://schemas.microsoft.com/office/powerpoint/2010/main" val="7146570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600" y="173566"/>
            <a:ext cx="10515600" cy="1325563"/>
          </a:xfrm>
          <a:prstGeom prst="rect">
            <a:avLst/>
          </a:prstGeom>
        </p:spPr>
        <p:txBody>
          <a:bodyPr vert="horz" wrap="square" lIns="0" tIns="16510" rIns="0" bIns="0" rtlCol="0" anchor="ctr">
            <a:spAutoFit/>
          </a:bodyPr>
          <a:lstStyle/>
          <a:p>
            <a:pPr marL="12700">
              <a:lnSpc>
                <a:spcPct val="100000"/>
              </a:lnSpc>
              <a:spcBef>
                <a:spcPts val="130"/>
              </a:spcBef>
            </a:pPr>
            <a:r>
              <a:t>Strong</a:t>
            </a:r>
            <a:r>
              <a:rPr spc="-40"/>
              <a:t> </a:t>
            </a:r>
            <a:r>
              <a:t>and</a:t>
            </a:r>
            <a:r>
              <a:rPr spc="-40"/>
              <a:t> </a:t>
            </a:r>
            <a:r>
              <a:rPr spc="-15"/>
              <a:t>Weak</a:t>
            </a:r>
            <a:r>
              <a:rPr spc="-30"/>
              <a:t> </a:t>
            </a:r>
            <a:r>
              <a:rPr spc="-5"/>
              <a:t>Entities</a:t>
            </a:r>
          </a:p>
        </p:txBody>
      </p:sp>
      <p:sp>
        <p:nvSpPr>
          <p:cNvPr id="4" name="object 4"/>
          <p:cNvSpPr txBox="1"/>
          <p:nvPr/>
        </p:nvSpPr>
        <p:spPr>
          <a:xfrm>
            <a:off x="1593850" y="1825625"/>
            <a:ext cx="8547100" cy="3202305"/>
          </a:xfrm>
          <a:prstGeom prst="rect">
            <a:avLst/>
          </a:prstGeom>
        </p:spPr>
        <p:txBody>
          <a:bodyPr vert="horz" wrap="square" lIns="0" tIns="26034" rIns="0" bIns="0" rtlCol="0">
            <a:spAutoFit/>
          </a:bodyPr>
          <a:lstStyle/>
          <a:p>
            <a:pPr marL="269875" marR="433070" indent="-257175">
              <a:lnSpc>
                <a:spcPts val="2870"/>
              </a:lnSpc>
              <a:spcBef>
                <a:spcPts val="204"/>
              </a:spcBef>
              <a:buFont typeface="Arial MT"/>
              <a:buChar char="•"/>
              <a:tabLst>
                <a:tab pos="269240" algn="l"/>
                <a:tab pos="269875" algn="l"/>
              </a:tabLst>
            </a:pPr>
            <a:r>
              <a:rPr sz="2400">
                <a:latin typeface="Calibri"/>
                <a:cs typeface="Calibri"/>
              </a:rPr>
              <a:t>A</a:t>
            </a:r>
            <a:r>
              <a:rPr sz="2400" spc="-10">
                <a:latin typeface="Calibri"/>
                <a:cs typeface="Calibri"/>
              </a:rPr>
              <a:t> </a:t>
            </a:r>
            <a:r>
              <a:rPr sz="2400" spc="-10">
                <a:solidFill>
                  <a:srgbClr val="FF0000"/>
                </a:solidFill>
                <a:latin typeface="Calibri"/>
                <a:cs typeface="Calibri"/>
              </a:rPr>
              <a:t>weak entity</a:t>
            </a:r>
            <a:r>
              <a:rPr sz="2400" spc="-5">
                <a:solidFill>
                  <a:srgbClr val="FF0000"/>
                </a:solidFill>
                <a:latin typeface="Calibri"/>
                <a:cs typeface="Calibri"/>
              </a:rPr>
              <a:t> </a:t>
            </a:r>
            <a:r>
              <a:rPr sz="2400" spc="-5">
                <a:latin typeface="Calibri"/>
                <a:cs typeface="Calibri"/>
              </a:rPr>
              <a:t>is</a:t>
            </a:r>
            <a:r>
              <a:rPr sz="2400" spc="-10">
                <a:latin typeface="Calibri"/>
                <a:cs typeface="Calibri"/>
              </a:rPr>
              <a:t> </a:t>
            </a:r>
            <a:r>
              <a:rPr sz="2400">
                <a:latin typeface="Calibri"/>
                <a:cs typeface="Calibri"/>
              </a:rPr>
              <a:t>an</a:t>
            </a:r>
            <a:r>
              <a:rPr sz="2400" spc="-5">
                <a:latin typeface="Calibri"/>
                <a:cs typeface="Calibri"/>
              </a:rPr>
              <a:t> </a:t>
            </a:r>
            <a:r>
              <a:rPr sz="2400" spc="-10">
                <a:latin typeface="Calibri"/>
                <a:cs typeface="Calibri"/>
              </a:rPr>
              <a:t>entity</a:t>
            </a:r>
            <a:r>
              <a:rPr sz="2400">
                <a:latin typeface="Calibri"/>
                <a:cs typeface="Calibri"/>
              </a:rPr>
              <a:t> </a:t>
            </a:r>
            <a:r>
              <a:rPr sz="2400" spc="-5">
                <a:latin typeface="Calibri"/>
                <a:cs typeface="Calibri"/>
              </a:rPr>
              <a:t>whose</a:t>
            </a:r>
            <a:r>
              <a:rPr sz="2400">
                <a:latin typeface="Calibri"/>
                <a:cs typeface="Calibri"/>
              </a:rPr>
              <a:t> </a:t>
            </a:r>
            <a:r>
              <a:rPr sz="2400" spc="-10">
                <a:latin typeface="Calibri"/>
                <a:cs typeface="Calibri"/>
              </a:rPr>
              <a:t>instances </a:t>
            </a:r>
            <a:r>
              <a:rPr sz="2400" b="1" spc="-5">
                <a:latin typeface="Calibri"/>
                <a:cs typeface="Calibri"/>
              </a:rPr>
              <a:t>cannot </a:t>
            </a:r>
            <a:r>
              <a:rPr sz="2400" spc="-15">
                <a:latin typeface="Calibri"/>
                <a:cs typeface="Calibri"/>
              </a:rPr>
              <a:t>exist</a:t>
            </a:r>
            <a:r>
              <a:rPr sz="2400" spc="-10">
                <a:latin typeface="Calibri"/>
                <a:cs typeface="Calibri"/>
              </a:rPr>
              <a:t> </a:t>
            </a:r>
            <a:r>
              <a:rPr sz="2400" spc="-5">
                <a:latin typeface="Calibri"/>
                <a:cs typeface="Calibri"/>
              </a:rPr>
              <a:t>in</a:t>
            </a:r>
            <a:r>
              <a:rPr sz="2400">
                <a:latin typeface="Calibri"/>
                <a:cs typeface="Calibri"/>
              </a:rPr>
              <a:t> </a:t>
            </a:r>
            <a:r>
              <a:rPr sz="2400" spc="-5">
                <a:latin typeface="Calibri"/>
                <a:cs typeface="Calibri"/>
              </a:rPr>
              <a:t>the </a:t>
            </a:r>
            <a:r>
              <a:rPr sz="2400">
                <a:latin typeface="Calibri"/>
                <a:cs typeface="Calibri"/>
              </a:rPr>
              <a:t> </a:t>
            </a:r>
            <a:r>
              <a:rPr sz="2400" spc="-10">
                <a:latin typeface="Calibri"/>
                <a:cs typeface="Calibri"/>
              </a:rPr>
              <a:t>database</a:t>
            </a:r>
            <a:r>
              <a:rPr sz="2400">
                <a:latin typeface="Calibri"/>
                <a:cs typeface="Calibri"/>
              </a:rPr>
              <a:t> </a:t>
            </a:r>
            <a:r>
              <a:rPr sz="2400" spc="-5">
                <a:latin typeface="Calibri"/>
                <a:cs typeface="Calibri"/>
              </a:rPr>
              <a:t>without the</a:t>
            </a:r>
            <a:r>
              <a:rPr sz="2400" spc="5">
                <a:latin typeface="Calibri"/>
                <a:cs typeface="Calibri"/>
              </a:rPr>
              <a:t> </a:t>
            </a:r>
            <a:r>
              <a:rPr sz="2400" spc="-15">
                <a:latin typeface="Calibri"/>
                <a:cs typeface="Calibri"/>
              </a:rPr>
              <a:t>existence</a:t>
            </a:r>
            <a:r>
              <a:rPr sz="2400" spc="5">
                <a:latin typeface="Calibri"/>
                <a:cs typeface="Calibri"/>
              </a:rPr>
              <a:t> </a:t>
            </a:r>
            <a:r>
              <a:rPr sz="2400" spc="-5">
                <a:latin typeface="Calibri"/>
                <a:cs typeface="Calibri"/>
              </a:rPr>
              <a:t>of</a:t>
            </a:r>
            <a:r>
              <a:rPr sz="2400">
                <a:latin typeface="Calibri"/>
                <a:cs typeface="Calibri"/>
              </a:rPr>
              <a:t> an </a:t>
            </a:r>
            <a:r>
              <a:rPr sz="2400" spc="-10">
                <a:latin typeface="Calibri"/>
                <a:cs typeface="Calibri"/>
              </a:rPr>
              <a:t>instance</a:t>
            </a:r>
            <a:r>
              <a:rPr sz="2400" spc="5">
                <a:latin typeface="Calibri"/>
                <a:cs typeface="Calibri"/>
              </a:rPr>
              <a:t> </a:t>
            </a:r>
            <a:r>
              <a:rPr sz="2400" spc="-5">
                <a:latin typeface="Calibri"/>
                <a:cs typeface="Calibri"/>
              </a:rPr>
              <a:t>of</a:t>
            </a:r>
            <a:r>
              <a:rPr sz="2400" spc="5">
                <a:latin typeface="Calibri"/>
                <a:cs typeface="Calibri"/>
              </a:rPr>
              <a:t> </a:t>
            </a:r>
            <a:r>
              <a:rPr sz="2400" spc="-5">
                <a:latin typeface="Calibri"/>
                <a:cs typeface="Calibri"/>
              </a:rPr>
              <a:t>another </a:t>
            </a:r>
            <a:r>
              <a:rPr sz="2400" spc="-10">
                <a:latin typeface="Calibri"/>
                <a:cs typeface="Calibri"/>
              </a:rPr>
              <a:t>entity</a:t>
            </a:r>
            <a:endParaRPr sz="2400">
              <a:latin typeface="Calibri"/>
              <a:cs typeface="Calibri"/>
            </a:endParaRPr>
          </a:p>
          <a:p>
            <a:pPr>
              <a:spcBef>
                <a:spcPts val="45"/>
              </a:spcBef>
              <a:buFont typeface="Arial MT"/>
              <a:buChar char="•"/>
            </a:pPr>
            <a:endParaRPr sz="3200">
              <a:latin typeface="Calibri"/>
              <a:cs typeface="Calibri"/>
            </a:endParaRPr>
          </a:p>
          <a:p>
            <a:pPr marL="269875" indent="-257175">
              <a:buFont typeface="Arial MT"/>
              <a:buChar char="•"/>
              <a:tabLst>
                <a:tab pos="269240" algn="l"/>
                <a:tab pos="269875" algn="l"/>
              </a:tabLst>
            </a:pPr>
            <a:r>
              <a:rPr sz="2400" spc="-20">
                <a:latin typeface="Calibri"/>
                <a:cs typeface="Calibri"/>
              </a:rPr>
              <a:t>Any</a:t>
            </a:r>
            <a:r>
              <a:rPr sz="2400" spc="-10">
                <a:latin typeface="Calibri"/>
                <a:cs typeface="Calibri"/>
              </a:rPr>
              <a:t> </a:t>
            </a:r>
            <a:r>
              <a:rPr sz="2400" spc="-5">
                <a:latin typeface="Calibri"/>
                <a:cs typeface="Calibri"/>
              </a:rPr>
              <a:t>entity </a:t>
            </a:r>
            <a:r>
              <a:rPr sz="2400" spc="-10">
                <a:latin typeface="Calibri"/>
                <a:cs typeface="Calibri"/>
              </a:rPr>
              <a:t>that</a:t>
            </a:r>
            <a:r>
              <a:rPr sz="2400" spc="-15">
                <a:latin typeface="Calibri"/>
                <a:cs typeface="Calibri"/>
              </a:rPr>
              <a:t> </a:t>
            </a:r>
            <a:r>
              <a:rPr sz="2400" spc="-5">
                <a:latin typeface="Calibri"/>
                <a:cs typeface="Calibri"/>
              </a:rPr>
              <a:t>is not</a:t>
            </a:r>
            <a:r>
              <a:rPr sz="2400" spc="-15">
                <a:latin typeface="Calibri"/>
                <a:cs typeface="Calibri"/>
              </a:rPr>
              <a:t> </a:t>
            </a:r>
            <a:r>
              <a:rPr sz="2400" spc="-5">
                <a:latin typeface="Calibri"/>
                <a:cs typeface="Calibri"/>
              </a:rPr>
              <a:t>weak</a:t>
            </a:r>
            <a:r>
              <a:rPr sz="2400" spc="-15">
                <a:latin typeface="Calibri"/>
                <a:cs typeface="Calibri"/>
              </a:rPr>
              <a:t> </a:t>
            </a:r>
            <a:r>
              <a:rPr sz="2400" spc="-5">
                <a:latin typeface="Calibri"/>
                <a:cs typeface="Calibri"/>
              </a:rPr>
              <a:t>entity is</a:t>
            </a:r>
            <a:r>
              <a:rPr sz="2400" spc="-10">
                <a:latin typeface="Calibri"/>
                <a:cs typeface="Calibri"/>
              </a:rPr>
              <a:t> </a:t>
            </a:r>
            <a:r>
              <a:rPr sz="2400" spc="-5">
                <a:latin typeface="Calibri"/>
                <a:cs typeface="Calibri"/>
              </a:rPr>
              <a:t>called </a:t>
            </a:r>
            <a:r>
              <a:rPr sz="2400">
                <a:latin typeface="Calibri"/>
                <a:cs typeface="Calibri"/>
              </a:rPr>
              <a:t>a</a:t>
            </a:r>
            <a:r>
              <a:rPr sz="2400" spc="-10">
                <a:latin typeface="Calibri"/>
                <a:cs typeface="Calibri"/>
              </a:rPr>
              <a:t> </a:t>
            </a:r>
            <a:r>
              <a:rPr sz="2400" spc="-15">
                <a:solidFill>
                  <a:srgbClr val="00B050"/>
                </a:solidFill>
                <a:latin typeface="Calibri"/>
                <a:cs typeface="Calibri"/>
              </a:rPr>
              <a:t>strong </a:t>
            </a:r>
            <a:r>
              <a:rPr sz="2400" spc="-10">
                <a:solidFill>
                  <a:srgbClr val="00B050"/>
                </a:solidFill>
                <a:latin typeface="Calibri"/>
                <a:cs typeface="Calibri"/>
              </a:rPr>
              <a:t>entity</a:t>
            </a:r>
            <a:endParaRPr sz="2400">
              <a:latin typeface="Calibri"/>
              <a:cs typeface="Calibri"/>
            </a:endParaRPr>
          </a:p>
          <a:p>
            <a:pPr marL="355600">
              <a:spcBef>
                <a:spcPts val="490"/>
              </a:spcBef>
            </a:pPr>
            <a:r>
              <a:rPr sz="2100" spc="15">
                <a:latin typeface="Arial MT"/>
                <a:cs typeface="Arial MT"/>
              </a:rPr>
              <a:t>–</a:t>
            </a:r>
            <a:r>
              <a:rPr sz="2100" spc="-80">
                <a:latin typeface="Arial MT"/>
                <a:cs typeface="Arial MT"/>
              </a:rPr>
              <a:t> </a:t>
            </a:r>
            <a:r>
              <a:rPr sz="2100" spc="-10">
                <a:latin typeface="Calibri"/>
                <a:cs typeface="Calibri"/>
              </a:rPr>
              <a:t>Instances </a:t>
            </a:r>
            <a:r>
              <a:rPr sz="2100" spc="5">
                <a:latin typeface="Calibri"/>
                <a:cs typeface="Calibri"/>
              </a:rPr>
              <a:t>of</a:t>
            </a:r>
            <a:r>
              <a:rPr sz="2100" spc="-15">
                <a:latin typeface="Calibri"/>
                <a:cs typeface="Calibri"/>
              </a:rPr>
              <a:t> </a:t>
            </a:r>
            <a:r>
              <a:rPr sz="2100" spc="15">
                <a:latin typeface="Calibri"/>
                <a:cs typeface="Calibri"/>
              </a:rPr>
              <a:t>a</a:t>
            </a:r>
            <a:r>
              <a:rPr sz="2100" spc="-20">
                <a:latin typeface="Calibri"/>
                <a:cs typeface="Calibri"/>
              </a:rPr>
              <a:t> </a:t>
            </a:r>
            <a:r>
              <a:rPr sz="2100" spc="-10">
                <a:latin typeface="Calibri"/>
                <a:cs typeface="Calibri"/>
              </a:rPr>
              <a:t>strong</a:t>
            </a:r>
            <a:r>
              <a:rPr sz="2100" spc="-15">
                <a:latin typeface="Calibri"/>
                <a:cs typeface="Calibri"/>
              </a:rPr>
              <a:t> </a:t>
            </a:r>
            <a:r>
              <a:rPr sz="2100" spc="-5">
                <a:latin typeface="Calibri"/>
                <a:cs typeface="Calibri"/>
              </a:rPr>
              <a:t>entity</a:t>
            </a:r>
            <a:r>
              <a:rPr sz="2100" spc="-15">
                <a:latin typeface="Calibri"/>
                <a:cs typeface="Calibri"/>
              </a:rPr>
              <a:t> </a:t>
            </a:r>
            <a:r>
              <a:rPr sz="2100" spc="-5">
                <a:latin typeface="Calibri"/>
                <a:cs typeface="Calibri"/>
              </a:rPr>
              <a:t>can</a:t>
            </a:r>
            <a:r>
              <a:rPr sz="2100" spc="-25">
                <a:latin typeface="Calibri"/>
                <a:cs typeface="Calibri"/>
              </a:rPr>
              <a:t> </a:t>
            </a:r>
            <a:r>
              <a:rPr sz="2100" spc="-10">
                <a:latin typeface="Calibri"/>
                <a:cs typeface="Calibri"/>
              </a:rPr>
              <a:t>exist</a:t>
            </a:r>
            <a:r>
              <a:rPr sz="2100" spc="-15">
                <a:latin typeface="Calibri"/>
                <a:cs typeface="Calibri"/>
              </a:rPr>
              <a:t> </a:t>
            </a:r>
            <a:r>
              <a:rPr sz="2100" spc="10">
                <a:latin typeface="Calibri"/>
                <a:cs typeface="Calibri"/>
              </a:rPr>
              <a:t>in</a:t>
            </a:r>
            <a:r>
              <a:rPr sz="2100" spc="-25">
                <a:latin typeface="Calibri"/>
                <a:cs typeface="Calibri"/>
              </a:rPr>
              <a:t> </a:t>
            </a:r>
            <a:r>
              <a:rPr sz="2100">
                <a:latin typeface="Calibri"/>
                <a:cs typeface="Calibri"/>
              </a:rPr>
              <a:t>the</a:t>
            </a:r>
            <a:r>
              <a:rPr sz="2100" spc="-10">
                <a:latin typeface="Calibri"/>
                <a:cs typeface="Calibri"/>
              </a:rPr>
              <a:t> database</a:t>
            </a:r>
            <a:r>
              <a:rPr sz="2100" spc="-20">
                <a:latin typeface="Calibri"/>
                <a:cs typeface="Calibri"/>
              </a:rPr>
              <a:t> </a:t>
            </a:r>
            <a:r>
              <a:rPr sz="2100" spc="-5">
                <a:latin typeface="Calibri"/>
                <a:cs typeface="Calibri"/>
              </a:rPr>
              <a:t>independently</a:t>
            </a:r>
            <a:endParaRPr sz="2100">
              <a:latin typeface="Calibri"/>
              <a:cs typeface="Calibri"/>
            </a:endParaRPr>
          </a:p>
          <a:p>
            <a:pPr>
              <a:spcBef>
                <a:spcPts val="20"/>
              </a:spcBef>
            </a:pPr>
            <a:endParaRPr sz="3000">
              <a:latin typeface="Calibri"/>
              <a:cs typeface="Calibri"/>
            </a:endParaRPr>
          </a:p>
          <a:p>
            <a:pPr marL="269875" marR="5080" indent="-257175">
              <a:lnSpc>
                <a:spcPts val="2870"/>
              </a:lnSpc>
              <a:buFont typeface="Arial MT"/>
              <a:buChar char="•"/>
              <a:tabLst>
                <a:tab pos="269240" algn="l"/>
                <a:tab pos="269875" algn="l"/>
              </a:tabLst>
            </a:pPr>
            <a:r>
              <a:rPr sz="2400">
                <a:latin typeface="Calibri"/>
                <a:cs typeface="Calibri"/>
              </a:rPr>
              <a:t>The </a:t>
            </a:r>
            <a:r>
              <a:rPr sz="2400" spc="-10">
                <a:solidFill>
                  <a:srgbClr val="FF0000"/>
                </a:solidFill>
                <a:latin typeface="Calibri"/>
                <a:cs typeface="Calibri"/>
              </a:rPr>
              <a:t>weak </a:t>
            </a:r>
            <a:r>
              <a:rPr sz="2400" spc="-15">
                <a:solidFill>
                  <a:srgbClr val="FF0000"/>
                </a:solidFill>
                <a:latin typeface="Calibri"/>
                <a:cs typeface="Calibri"/>
              </a:rPr>
              <a:t>entity’s</a:t>
            </a:r>
            <a:r>
              <a:rPr sz="2400" spc="-5">
                <a:solidFill>
                  <a:srgbClr val="FF0000"/>
                </a:solidFill>
                <a:latin typeface="Calibri"/>
                <a:cs typeface="Calibri"/>
              </a:rPr>
              <a:t> </a:t>
            </a:r>
            <a:r>
              <a:rPr sz="2400" spc="-5">
                <a:solidFill>
                  <a:srgbClr val="00B050"/>
                </a:solidFill>
                <a:latin typeface="Calibri"/>
                <a:cs typeface="Calibri"/>
              </a:rPr>
              <a:t>identifier </a:t>
            </a:r>
            <a:r>
              <a:rPr sz="2400" spc="-5">
                <a:latin typeface="Calibri"/>
                <a:cs typeface="Calibri"/>
              </a:rPr>
              <a:t>is</a:t>
            </a:r>
            <a:r>
              <a:rPr sz="2400" spc="-10">
                <a:latin typeface="Calibri"/>
                <a:cs typeface="Calibri"/>
              </a:rPr>
              <a:t> </a:t>
            </a:r>
            <a:r>
              <a:rPr sz="2400">
                <a:latin typeface="Calibri"/>
                <a:cs typeface="Calibri"/>
              </a:rPr>
              <a:t>a</a:t>
            </a:r>
            <a:r>
              <a:rPr sz="2400" spc="-5">
                <a:latin typeface="Calibri"/>
                <a:cs typeface="Calibri"/>
              </a:rPr>
              <a:t> </a:t>
            </a:r>
            <a:r>
              <a:rPr sz="2400" spc="-10">
                <a:latin typeface="Calibri"/>
                <a:cs typeface="Calibri"/>
              </a:rPr>
              <a:t>combination</a:t>
            </a:r>
            <a:r>
              <a:rPr sz="2400" spc="-5">
                <a:latin typeface="Calibri"/>
                <a:cs typeface="Calibri"/>
              </a:rPr>
              <a:t> of</a:t>
            </a:r>
            <a:r>
              <a:rPr sz="2400">
                <a:latin typeface="Calibri"/>
                <a:cs typeface="Calibri"/>
              </a:rPr>
              <a:t> </a:t>
            </a:r>
            <a:r>
              <a:rPr sz="2400" spc="-5">
                <a:latin typeface="Calibri"/>
                <a:cs typeface="Calibri"/>
              </a:rPr>
              <a:t>the </a:t>
            </a:r>
            <a:r>
              <a:rPr sz="2400" spc="-5">
                <a:solidFill>
                  <a:srgbClr val="0070C0"/>
                </a:solidFill>
                <a:latin typeface="Calibri"/>
                <a:cs typeface="Calibri"/>
              </a:rPr>
              <a:t>identifier </a:t>
            </a:r>
            <a:r>
              <a:rPr sz="2400" spc="-5">
                <a:latin typeface="Calibri"/>
                <a:cs typeface="Calibri"/>
              </a:rPr>
              <a:t>of the </a:t>
            </a:r>
            <a:r>
              <a:rPr sz="2400" spc="-530">
                <a:latin typeface="Calibri"/>
                <a:cs typeface="Calibri"/>
              </a:rPr>
              <a:t> </a:t>
            </a:r>
            <a:r>
              <a:rPr sz="2400" spc="-5">
                <a:latin typeface="Calibri"/>
                <a:cs typeface="Calibri"/>
              </a:rPr>
              <a:t>owner </a:t>
            </a:r>
            <a:r>
              <a:rPr sz="2400" spc="-10">
                <a:latin typeface="Calibri"/>
                <a:cs typeface="Calibri"/>
              </a:rPr>
              <a:t>entity</a:t>
            </a:r>
            <a:r>
              <a:rPr sz="2400" spc="-5">
                <a:latin typeface="Calibri"/>
                <a:cs typeface="Calibri"/>
              </a:rPr>
              <a:t> </a:t>
            </a:r>
            <a:r>
              <a:rPr sz="2400">
                <a:latin typeface="Calibri"/>
                <a:cs typeface="Calibri"/>
              </a:rPr>
              <a:t>and</a:t>
            </a:r>
            <a:r>
              <a:rPr sz="2400" spc="-5">
                <a:latin typeface="Calibri"/>
                <a:cs typeface="Calibri"/>
              </a:rPr>
              <a:t> the</a:t>
            </a:r>
            <a:r>
              <a:rPr sz="2400">
                <a:latin typeface="Calibri"/>
                <a:cs typeface="Calibri"/>
              </a:rPr>
              <a:t> </a:t>
            </a:r>
            <a:r>
              <a:rPr sz="2400" spc="-5">
                <a:solidFill>
                  <a:srgbClr val="215968"/>
                </a:solidFill>
                <a:latin typeface="Calibri"/>
                <a:cs typeface="Calibri"/>
              </a:rPr>
              <a:t>partial</a:t>
            </a:r>
            <a:r>
              <a:rPr sz="2400" spc="-10">
                <a:solidFill>
                  <a:srgbClr val="215968"/>
                </a:solidFill>
                <a:latin typeface="Calibri"/>
                <a:cs typeface="Calibri"/>
              </a:rPr>
              <a:t> </a:t>
            </a:r>
            <a:r>
              <a:rPr sz="2400" spc="-35">
                <a:solidFill>
                  <a:srgbClr val="215968"/>
                </a:solidFill>
                <a:latin typeface="Calibri"/>
                <a:cs typeface="Calibri"/>
              </a:rPr>
              <a:t>key</a:t>
            </a:r>
            <a:r>
              <a:rPr sz="2400" spc="-10">
                <a:solidFill>
                  <a:srgbClr val="215968"/>
                </a:solidFill>
                <a:latin typeface="Calibri"/>
                <a:cs typeface="Calibri"/>
              </a:rPr>
              <a:t> </a:t>
            </a:r>
            <a:r>
              <a:rPr sz="2400" spc="-5">
                <a:latin typeface="Calibri"/>
                <a:cs typeface="Calibri"/>
              </a:rPr>
              <a:t>of the</a:t>
            </a:r>
            <a:r>
              <a:rPr sz="2400">
                <a:latin typeface="Calibri"/>
                <a:cs typeface="Calibri"/>
              </a:rPr>
              <a:t> </a:t>
            </a:r>
            <a:r>
              <a:rPr sz="2400" spc="-5">
                <a:latin typeface="Calibri"/>
                <a:cs typeface="Calibri"/>
              </a:rPr>
              <a:t>weak</a:t>
            </a:r>
            <a:r>
              <a:rPr sz="2400" spc="-10">
                <a:latin typeface="Calibri"/>
                <a:cs typeface="Calibri"/>
              </a:rPr>
              <a:t> </a:t>
            </a:r>
            <a:r>
              <a:rPr sz="2400" spc="-30">
                <a:latin typeface="Calibri"/>
                <a:cs typeface="Calibri"/>
              </a:rPr>
              <a:t>entity.</a:t>
            </a:r>
            <a:endParaRPr sz="2400">
              <a:latin typeface="Calibri"/>
              <a:cs typeface="Calibri"/>
            </a:endParaRPr>
          </a:p>
        </p:txBody>
      </p:sp>
      <p:sp>
        <p:nvSpPr>
          <p:cNvPr id="2" name="Slide Number Placeholder 1">
            <a:extLst>
              <a:ext uri="{FF2B5EF4-FFF2-40B4-BE49-F238E27FC236}">
                <a16:creationId xmlns:a16="http://schemas.microsoft.com/office/drawing/2014/main" id="{813FCD19-FFFD-412B-9947-1E891AFEC9FC}"/>
              </a:ext>
            </a:extLst>
          </p:cNvPr>
          <p:cNvSpPr>
            <a:spLocks noGrp="1"/>
          </p:cNvSpPr>
          <p:nvPr>
            <p:ph type="sldNum" sz="quarter" idx="12"/>
          </p:nvPr>
        </p:nvSpPr>
        <p:spPr/>
        <p:txBody>
          <a:bodyPr/>
          <a:lstStyle/>
          <a:p>
            <a:fld id="{641C0F02-33DC-3A41-9F51-431B7FE03ABE}" type="slidenum">
              <a:rPr lang="en-US" smtClean="0"/>
              <a:t>99</a:t>
            </a:fld>
            <a:endParaRPr lang="en-US"/>
          </a:p>
        </p:txBody>
      </p:sp>
    </p:spTree>
    <p:extLst>
      <p:ext uri="{BB962C8B-B14F-4D97-AF65-F5344CB8AC3E}">
        <p14:creationId xmlns:p14="http://schemas.microsoft.com/office/powerpoint/2010/main" val="14092530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B12B-0E65-E3F5-7B50-1F3819AF2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EA717-0564-BCD6-52EB-519F3D985B08}"/>
              </a:ext>
            </a:extLst>
          </p:cNvPr>
          <p:cNvSpPr>
            <a:spLocks noGrp="1"/>
          </p:cNvSpPr>
          <p:nvPr>
            <p:ph type="title"/>
          </p:nvPr>
        </p:nvSpPr>
        <p:spPr/>
        <p:txBody>
          <a:bodyPr/>
          <a:lstStyle/>
          <a:p>
            <a:r>
              <a:rPr lang="en-US"/>
              <a:t>ACTIVITY: E/R Diagrams</a:t>
            </a:r>
          </a:p>
        </p:txBody>
      </p:sp>
      <p:sp>
        <p:nvSpPr>
          <p:cNvPr id="4" name="Slide Number Placeholder 3">
            <a:extLst>
              <a:ext uri="{FF2B5EF4-FFF2-40B4-BE49-F238E27FC236}">
                <a16:creationId xmlns:a16="http://schemas.microsoft.com/office/drawing/2014/main" id="{50E912FD-D6D1-DE89-A140-5DBE98D37D56}"/>
              </a:ext>
            </a:extLst>
          </p:cNvPr>
          <p:cNvSpPr>
            <a:spLocks noGrp="1"/>
          </p:cNvSpPr>
          <p:nvPr>
            <p:ph type="sldNum" sz="quarter" idx="12"/>
          </p:nvPr>
        </p:nvSpPr>
        <p:spPr/>
        <p:txBody>
          <a:bodyPr/>
          <a:lstStyle/>
          <a:p>
            <a:fld id="{40A01959-B587-3B45-A9B3-C17F42F09305}" type="slidenum">
              <a:rPr lang="en-US" smtClean="0"/>
              <a:t>100</a:t>
            </a:fld>
            <a:endParaRPr lang="en-US"/>
          </a:p>
        </p:txBody>
      </p:sp>
    </p:spTree>
    <p:extLst>
      <p:ext uri="{BB962C8B-B14F-4D97-AF65-F5344CB8AC3E}">
        <p14:creationId xmlns:p14="http://schemas.microsoft.com/office/powerpoint/2010/main" val="24282646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0B1EB0-A968-6311-4564-570DF10BB357}"/>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4A75BE56-3622-74FC-9AE1-ACC5E7A3610E}"/>
              </a:ext>
            </a:extLst>
          </p:cNvPr>
          <p:cNvSpPr>
            <a:spLocks noGrp="1"/>
          </p:cNvSpPr>
          <p:nvPr>
            <p:ph idx="1"/>
          </p:nvPr>
        </p:nvSpPr>
        <p:spPr/>
        <p:txBody>
          <a:bodyPr/>
          <a:lstStyle/>
          <a:p>
            <a:endParaRPr lang="en-US"/>
          </a:p>
        </p:txBody>
      </p:sp>
      <p:sp>
        <p:nvSpPr>
          <p:cNvPr id="8" name="TextBox 15">
            <a:extLst>
              <a:ext uri="{FF2B5EF4-FFF2-40B4-BE49-F238E27FC236}">
                <a16:creationId xmlns:a16="http://schemas.microsoft.com/office/drawing/2014/main" id="{0FDB63A9-8103-4452-0F3C-603C5EF30B34}"/>
              </a:ext>
            </a:extLst>
          </p:cNvPr>
          <p:cNvSpPr txBox="1"/>
          <p:nvPr/>
        </p:nvSpPr>
        <p:spPr>
          <a:xfrm>
            <a:off x="7237405" y="4084333"/>
            <a:ext cx="2282810"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atin typeface="+mj-lt"/>
              </a:rPr>
              <a:t>Players have a </a:t>
            </a:r>
            <a:r>
              <a:rPr lang="en-US" sz="2000" b="1" u="sng">
                <a:latin typeface="+mj-lt"/>
              </a:rPr>
              <a:t>weight</a:t>
            </a:r>
            <a:r>
              <a:rPr lang="en-US" sz="2000">
                <a:latin typeface="+mj-lt"/>
              </a:rPr>
              <a:t> which changes in on vs. off-season</a:t>
            </a:r>
          </a:p>
        </p:txBody>
      </p:sp>
      <p:pic>
        <p:nvPicPr>
          <p:cNvPr id="9" name="Picture 8">
            <a:extLst>
              <a:ext uri="{FF2B5EF4-FFF2-40B4-BE49-F238E27FC236}">
                <a16:creationId xmlns:a16="http://schemas.microsoft.com/office/drawing/2014/main" id="{EDAF29ED-FC0B-A98F-31D1-938FC73A7D3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237405" y="2337466"/>
            <a:ext cx="1168041" cy="1557388"/>
          </a:xfrm>
          <a:prstGeom prst="rect">
            <a:avLst/>
          </a:prstGeom>
        </p:spPr>
      </p:pic>
      <p:sp>
        <p:nvSpPr>
          <p:cNvPr id="2" name="Slide Number Placeholder 1">
            <a:extLst>
              <a:ext uri="{FF2B5EF4-FFF2-40B4-BE49-F238E27FC236}">
                <a16:creationId xmlns:a16="http://schemas.microsoft.com/office/drawing/2014/main" id="{B3C0F751-CD0D-49AA-9313-6097E350D1A9}"/>
              </a:ext>
            </a:extLst>
          </p:cNvPr>
          <p:cNvSpPr>
            <a:spLocks noGrp="1"/>
          </p:cNvSpPr>
          <p:nvPr>
            <p:ph type="sldNum" sz="quarter" idx="12"/>
          </p:nvPr>
        </p:nvSpPr>
        <p:spPr/>
        <p:txBody>
          <a:bodyPr/>
          <a:lstStyle/>
          <a:p>
            <a:fld id="{641C0F02-33DC-3A41-9F51-431B7FE03ABE}" type="slidenum">
              <a:rPr lang="en-US" smtClean="0"/>
              <a:t>101</a:t>
            </a:fld>
            <a:endParaRPr lang="en-US"/>
          </a:p>
        </p:txBody>
      </p:sp>
    </p:spTree>
    <p:extLst>
      <p:ext uri="{BB962C8B-B14F-4D97-AF65-F5344CB8AC3E}">
        <p14:creationId xmlns:p14="http://schemas.microsoft.com/office/powerpoint/2010/main" val="23742236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639528" y="1571029"/>
            <a:ext cx="6739614" cy="3502612"/>
          </a:xfrm>
          <a:prstGeom prst="rect">
            <a:avLst/>
          </a:prstGeom>
        </p:spPr>
      </p:pic>
      <p:sp>
        <p:nvSpPr>
          <p:cNvPr id="3" name="object 3"/>
          <p:cNvSpPr txBox="1"/>
          <p:nvPr/>
        </p:nvSpPr>
        <p:spPr>
          <a:xfrm>
            <a:off x="4600325" y="3661834"/>
            <a:ext cx="618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ParticipateIn</a:t>
            </a:r>
            <a:endParaRPr sz="900">
              <a:latin typeface="Calibri"/>
              <a:cs typeface="Calibri"/>
            </a:endParaRPr>
          </a:p>
        </p:txBody>
      </p:sp>
      <p:sp>
        <p:nvSpPr>
          <p:cNvPr id="4" name="object 4"/>
          <p:cNvSpPr txBox="1"/>
          <p:nvPr/>
        </p:nvSpPr>
        <p:spPr>
          <a:xfrm>
            <a:off x="6268413" y="3890434"/>
            <a:ext cx="26416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10">
                <a:latin typeface="Calibri"/>
                <a:cs typeface="Calibri"/>
              </a:rPr>
              <a:t>s</a:t>
            </a:r>
            <a:endParaRPr sz="900">
              <a:latin typeface="Calibri"/>
              <a:cs typeface="Calibri"/>
            </a:endParaRPr>
          </a:p>
        </p:txBody>
      </p:sp>
      <p:sp>
        <p:nvSpPr>
          <p:cNvPr id="5" name="object 5"/>
          <p:cNvSpPr txBox="1"/>
          <p:nvPr/>
        </p:nvSpPr>
        <p:spPr>
          <a:xfrm>
            <a:off x="5305587" y="4779434"/>
            <a:ext cx="3448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15">
                <a:latin typeface="Calibri"/>
                <a:cs typeface="Calibri"/>
              </a:rPr>
              <a:t>y</a:t>
            </a:r>
            <a:r>
              <a:rPr sz="900" spc="-15">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6" name="object 6"/>
          <p:cNvSpPr txBox="1"/>
          <p:nvPr/>
        </p:nvSpPr>
        <p:spPr>
          <a:xfrm>
            <a:off x="6103314" y="4779434"/>
            <a:ext cx="59372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Y</a:t>
            </a:r>
            <a:r>
              <a:rPr sz="900" spc="-10">
                <a:latin typeface="Calibri"/>
                <a:cs typeface="Calibri"/>
              </a:rPr>
              <a:t>a</a:t>
            </a:r>
            <a:r>
              <a:rPr sz="900" spc="-5">
                <a:latin typeface="Calibri"/>
                <a:cs typeface="Calibri"/>
              </a:rPr>
              <a:t>rd</a:t>
            </a:r>
            <a:r>
              <a:rPr sz="900" spc="-10">
                <a:latin typeface="Calibri"/>
                <a:cs typeface="Calibri"/>
              </a:rPr>
              <a:t>a</a:t>
            </a:r>
            <a:r>
              <a:rPr sz="900">
                <a:latin typeface="Calibri"/>
                <a:cs typeface="Calibri"/>
              </a:rPr>
              <a:t>g</a:t>
            </a:r>
            <a:r>
              <a:rPr sz="900" spc="15">
                <a:latin typeface="Calibri"/>
                <a:cs typeface="Calibri"/>
              </a:rPr>
              <a:t>e</a:t>
            </a:r>
            <a:r>
              <a:rPr sz="900" spc="-20">
                <a:latin typeface="Calibri"/>
                <a:cs typeface="Calibri"/>
              </a:rPr>
              <a:t> </a:t>
            </a:r>
            <a:r>
              <a:rPr sz="900" spc="-5">
                <a:latin typeface="Calibri"/>
                <a:cs typeface="Calibri"/>
              </a:rPr>
              <a:t>D</a:t>
            </a:r>
            <a:r>
              <a:rPr sz="900">
                <a:latin typeface="Calibri"/>
                <a:cs typeface="Calibri"/>
              </a:rPr>
              <a:t>if</a:t>
            </a:r>
            <a:r>
              <a:rPr sz="900" spc="10">
                <a:latin typeface="Calibri"/>
                <a:cs typeface="Calibri"/>
              </a:rPr>
              <a:t>f</a:t>
            </a:r>
            <a:endParaRPr sz="900">
              <a:latin typeface="Calibri"/>
              <a:cs typeface="Calibri"/>
            </a:endParaRPr>
          </a:p>
        </p:txBody>
      </p:sp>
      <p:sp>
        <p:nvSpPr>
          <p:cNvPr id="7" name="object 7"/>
          <p:cNvSpPr txBox="1"/>
          <p:nvPr/>
        </p:nvSpPr>
        <p:spPr>
          <a:xfrm>
            <a:off x="7028884" y="4779434"/>
            <a:ext cx="57340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Touchdown</a:t>
            </a:r>
            <a:endParaRPr sz="900">
              <a:latin typeface="Calibri"/>
              <a:cs typeface="Calibri"/>
            </a:endParaRPr>
          </a:p>
        </p:txBody>
      </p:sp>
      <p:sp>
        <p:nvSpPr>
          <p:cNvPr id="8" name="object 8"/>
          <p:cNvSpPr txBox="1"/>
          <p:nvPr/>
        </p:nvSpPr>
        <p:spPr>
          <a:xfrm>
            <a:off x="3633403" y="2679700"/>
            <a:ext cx="36131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spc="-5">
                <a:latin typeface="Calibri"/>
                <a:cs typeface="Calibri"/>
              </a:rPr>
              <a:t>er</a:t>
            </a:r>
            <a:r>
              <a:rPr sz="900" spc="10">
                <a:latin typeface="Calibri"/>
                <a:cs typeface="Calibri"/>
              </a:rPr>
              <a:t>s</a:t>
            </a:r>
            <a:endParaRPr sz="900">
              <a:latin typeface="Calibri"/>
              <a:cs typeface="Calibri"/>
            </a:endParaRPr>
          </a:p>
        </p:txBody>
      </p:sp>
      <p:sp>
        <p:nvSpPr>
          <p:cNvPr id="9" name="object 9"/>
          <p:cNvSpPr txBox="1"/>
          <p:nvPr/>
        </p:nvSpPr>
        <p:spPr>
          <a:xfrm>
            <a:off x="2930925" y="2044700"/>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sp>
        <p:nvSpPr>
          <p:cNvPr id="10" name="object 10"/>
          <p:cNvSpPr txBox="1"/>
          <p:nvPr/>
        </p:nvSpPr>
        <p:spPr>
          <a:xfrm>
            <a:off x="4741449" y="2459567"/>
            <a:ext cx="542925" cy="155171"/>
          </a:xfrm>
          <a:prstGeom prst="rect">
            <a:avLst/>
          </a:prstGeom>
        </p:spPr>
        <p:txBody>
          <a:bodyPr vert="horz" wrap="square" lIns="0" tIns="16510" rIns="0" bIns="0" rtlCol="0">
            <a:spAutoFit/>
          </a:bodyPr>
          <a:lstStyle/>
          <a:p>
            <a:pPr marL="12700">
              <a:spcBef>
                <a:spcPts val="130"/>
              </a:spcBef>
            </a:pPr>
            <a:r>
              <a:rPr sz="900">
                <a:latin typeface="Calibri"/>
                <a:cs typeface="Calibri"/>
              </a:rPr>
              <a:t>MemberO</a:t>
            </a:r>
            <a:r>
              <a:rPr sz="900" spc="10">
                <a:latin typeface="Calibri"/>
                <a:cs typeface="Calibri"/>
              </a:rPr>
              <a:t>f</a:t>
            </a:r>
            <a:endParaRPr sz="900">
              <a:latin typeface="Calibri"/>
              <a:cs typeface="Calibri"/>
            </a:endParaRPr>
          </a:p>
        </p:txBody>
      </p:sp>
      <p:sp>
        <p:nvSpPr>
          <p:cNvPr id="11" name="object 11"/>
          <p:cNvSpPr txBox="1"/>
          <p:nvPr/>
        </p:nvSpPr>
        <p:spPr>
          <a:xfrm>
            <a:off x="3824677" y="2044700"/>
            <a:ext cx="441959"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e</a:t>
            </a:r>
            <a:r>
              <a:rPr sz="900" spc="10">
                <a:latin typeface="Calibri"/>
                <a:cs typeface="Calibri"/>
              </a:rPr>
              <a:t>r</a:t>
            </a:r>
            <a:r>
              <a:rPr sz="900" spc="-20">
                <a:latin typeface="Calibri"/>
                <a:cs typeface="Calibri"/>
              </a:rPr>
              <a:t> </a:t>
            </a:r>
            <a:r>
              <a:rPr sz="900" spc="-5">
                <a:latin typeface="Calibri"/>
                <a:cs typeface="Calibri"/>
              </a:rPr>
              <a:t>I</a:t>
            </a:r>
            <a:r>
              <a:rPr sz="900" spc="20">
                <a:latin typeface="Calibri"/>
                <a:cs typeface="Calibri"/>
              </a:rPr>
              <a:t>D</a:t>
            </a:r>
            <a:endParaRPr sz="900">
              <a:latin typeface="Calibri"/>
              <a:cs typeface="Calibri"/>
            </a:endParaRPr>
          </a:p>
        </p:txBody>
      </p:sp>
      <p:sp>
        <p:nvSpPr>
          <p:cNvPr id="12" name="object 12"/>
          <p:cNvSpPr txBox="1"/>
          <p:nvPr/>
        </p:nvSpPr>
        <p:spPr>
          <a:xfrm>
            <a:off x="6053564" y="2256367"/>
            <a:ext cx="33083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Teams</a:t>
            </a:r>
            <a:endParaRPr sz="900">
              <a:latin typeface="Calibri"/>
              <a:cs typeface="Calibri"/>
            </a:endParaRPr>
          </a:p>
        </p:txBody>
      </p:sp>
      <p:sp>
        <p:nvSpPr>
          <p:cNvPr id="13" name="object 13"/>
          <p:cNvSpPr txBox="1"/>
          <p:nvPr/>
        </p:nvSpPr>
        <p:spPr>
          <a:xfrm>
            <a:off x="5936645" y="1689100"/>
            <a:ext cx="4114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Te</a:t>
            </a:r>
            <a:r>
              <a:rPr sz="900" spc="-10">
                <a:latin typeface="Calibri"/>
                <a:cs typeface="Calibri"/>
              </a:rPr>
              <a:t>a</a:t>
            </a:r>
            <a:r>
              <a:rPr sz="900" spc="25">
                <a:latin typeface="Calibri"/>
                <a:cs typeface="Calibri"/>
              </a:rPr>
              <a:t>m</a:t>
            </a:r>
            <a:r>
              <a:rPr sz="900" spc="-25">
                <a:latin typeface="Calibri"/>
                <a:cs typeface="Calibri"/>
              </a:rPr>
              <a:t> </a:t>
            </a:r>
            <a:r>
              <a:rPr sz="900" spc="-10">
                <a:latin typeface="Calibri"/>
                <a:cs typeface="Calibri"/>
              </a:rPr>
              <a:t>I</a:t>
            </a:r>
            <a:r>
              <a:rPr sz="900" spc="20">
                <a:latin typeface="Calibri"/>
                <a:cs typeface="Calibri"/>
              </a:rPr>
              <a:t>D</a:t>
            </a:r>
            <a:endParaRPr sz="900">
              <a:latin typeface="Calibri"/>
              <a:cs typeface="Calibri"/>
            </a:endParaRPr>
          </a:p>
        </p:txBody>
      </p:sp>
      <p:sp>
        <p:nvSpPr>
          <p:cNvPr id="14" name="object 14"/>
          <p:cNvSpPr txBox="1"/>
          <p:nvPr/>
        </p:nvSpPr>
        <p:spPr>
          <a:xfrm>
            <a:off x="4989563" y="3103034"/>
            <a:ext cx="8705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Participation</a:t>
            </a:r>
            <a:r>
              <a:rPr sz="900" spc="-45">
                <a:latin typeface="Calibri"/>
                <a:cs typeface="Calibri"/>
              </a:rPr>
              <a:t> </a:t>
            </a:r>
            <a:r>
              <a:rPr sz="900">
                <a:latin typeface="Calibri"/>
                <a:cs typeface="Calibri"/>
              </a:rPr>
              <a:t>Type</a:t>
            </a:r>
          </a:p>
        </p:txBody>
      </p:sp>
      <p:sp>
        <p:nvSpPr>
          <p:cNvPr id="15" name="object 15"/>
          <p:cNvSpPr txBox="1"/>
          <p:nvPr/>
        </p:nvSpPr>
        <p:spPr>
          <a:xfrm>
            <a:off x="7539701" y="3695700"/>
            <a:ext cx="387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OccurIn</a:t>
            </a:r>
            <a:endParaRPr sz="900">
              <a:latin typeface="Calibri"/>
              <a:cs typeface="Calibri"/>
            </a:endParaRPr>
          </a:p>
        </p:txBody>
      </p:sp>
      <p:sp>
        <p:nvSpPr>
          <p:cNvPr id="16" name="object 16"/>
          <p:cNvSpPr txBox="1"/>
          <p:nvPr/>
        </p:nvSpPr>
        <p:spPr>
          <a:xfrm>
            <a:off x="8464574" y="2891367"/>
            <a:ext cx="346710" cy="155171"/>
          </a:xfrm>
          <a:prstGeom prst="rect">
            <a:avLst/>
          </a:prstGeom>
        </p:spPr>
        <p:txBody>
          <a:bodyPr vert="horz" wrap="square" lIns="0" tIns="16510" rIns="0" bIns="0" rtlCol="0">
            <a:spAutoFit/>
          </a:bodyPr>
          <a:lstStyle/>
          <a:p>
            <a:pPr marL="12700">
              <a:spcBef>
                <a:spcPts val="130"/>
              </a:spcBef>
            </a:pPr>
            <a:r>
              <a:rPr sz="900" spc="-10">
                <a:latin typeface="Calibri"/>
                <a:cs typeface="Calibri"/>
              </a:rPr>
              <a:t>G</a:t>
            </a:r>
            <a:r>
              <a:rPr sz="900" spc="-5">
                <a:latin typeface="Calibri"/>
                <a:cs typeface="Calibri"/>
              </a:rPr>
              <a:t>am</a:t>
            </a:r>
            <a:r>
              <a:rPr sz="900">
                <a:latin typeface="Calibri"/>
                <a:cs typeface="Calibri"/>
              </a:rPr>
              <a:t>e</a:t>
            </a:r>
            <a:r>
              <a:rPr sz="900" spc="10">
                <a:latin typeface="Calibri"/>
                <a:cs typeface="Calibri"/>
              </a:rPr>
              <a:t>s</a:t>
            </a:r>
            <a:endParaRPr sz="900">
              <a:latin typeface="Calibri"/>
              <a:cs typeface="Calibri"/>
            </a:endParaRPr>
          </a:p>
        </p:txBody>
      </p:sp>
      <p:sp>
        <p:nvSpPr>
          <p:cNvPr id="17" name="object 17"/>
          <p:cNvSpPr txBox="1"/>
          <p:nvPr/>
        </p:nvSpPr>
        <p:spPr>
          <a:xfrm>
            <a:off x="7751564" y="1900767"/>
            <a:ext cx="236854"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d</a:t>
            </a:r>
            <a:r>
              <a:rPr sz="900" spc="-10">
                <a:latin typeface="Calibri"/>
                <a:cs typeface="Calibri"/>
              </a:rPr>
              <a:t>a</a:t>
            </a:r>
            <a:r>
              <a:rPr sz="900" spc="-5">
                <a:latin typeface="Calibri"/>
                <a:cs typeface="Calibri"/>
              </a:rPr>
              <a:t>t</a:t>
            </a:r>
            <a:r>
              <a:rPr sz="900" spc="15">
                <a:latin typeface="Calibri"/>
                <a:cs typeface="Calibri"/>
              </a:rPr>
              <a:t>e</a:t>
            </a:r>
            <a:endParaRPr sz="900">
              <a:latin typeface="Calibri"/>
              <a:cs typeface="Calibri"/>
            </a:endParaRPr>
          </a:p>
        </p:txBody>
      </p:sp>
      <p:sp>
        <p:nvSpPr>
          <p:cNvPr id="18" name="object 18"/>
          <p:cNvSpPr txBox="1"/>
          <p:nvPr/>
        </p:nvSpPr>
        <p:spPr>
          <a:xfrm>
            <a:off x="6905087" y="2992967"/>
            <a:ext cx="641985"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a:t>
            </a:r>
            <a:r>
              <a:rPr sz="900">
                <a:latin typeface="Calibri"/>
                <a:cs typeface="Calibri"/>
              </a:rPr>
              <a:t>l</a:t>
            </a:r>
            <a:r>
              <a:rPr sz="900" spc="-10">
                <a:latin typeface="Calibri"/>
                <a:cs typeface="Calibri"/>
              </a:rPr>
              <a:t>a</a:t>
            </a:r>
            <a:r>
              <a:rPr sz="900" spc="5">
                <a:latin typeface="Calibri"/>
                <a:cs typeface="Calibri"/>
              </a:rPr>
              <a:t>y</a:t>
            </a:r>
            <a:r>
              <a:rPr sz="900">
                <a:latin typeface="Calibri"/>
                <a:cs typeface="Calibri"/>
              </a:rPr>
              <a:t>i</a:t>
            </a:r>
            <a:r>
              <a:rPr sz="900" spc="-5">
                <a:latin typeface="Calibri"/>
                <a:cs typeface="Calibri"/>
              </a:rPr>
              <a:t>n</a:t>
            </a:r>
            <a:r>
              <a:rPr sz="900">
                <a:latin typeface="Calibri"/>
                <a:cs typeface="Calibri"/>
              </a:rPr>
              <a:t>g</a:t>
            </a:r>
            <a:r>
              <a:rPr sz="900" spc="-5">
                <a:latin typeface="Calibri"/>
                <a:cs typeface="Calibri"/>
              </a:rPr>
              <a:t>Ho</a:t>
            </a:r>
            <a:r>
              <a:rPr sz="900">
                <a:latin typeface="Calibri"/>
                <a:cs typeface="Calibri"/>
              </a:rPr>
              <a:t>m</a:t>
            </a:r>
            <a:r>
              <a:rPr sz="900" spc="15">
                <a:latin typeface="Calibri"/>
                <a:cs typeface="Calibri"/>
              </a:rPr>
              <a:t>e</a:t>
            </a:r>
            <a:endParaRPr sz="900">
              <a:latin typeface="Calibri"/>
              <a:cs typeface="Calibri"/>
            </a:endParaRPr>
          </a:p>
        </p:txBody>
      </p:sp>
      <p:sp>
        <p:nvSpPr>
          <p:cNvPr id="19" name="object 19"/>
          <p:cNvSpPr txBox="1"/>
          <p:nvPr/>
        </p:nvSpPr>
        <p:spPr>
          <a:xfrm>
            <a:off x="8743259" y="1883834"/>
            <a:ext cx="4025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location</a:t>
            </a:r>
            <a:endParaRPr sz="900">
              <a:latin typeface="Calibri"/>
              <a:cs typeface="Calibri"/>
            </a:endParaRPr>
          </a:p>
        </p:txBody>
      </p:sp>
      <p:sp>
        <p:nvSpPr>
          <p:cNvPr id="20" name="object 20"/>
          <p:cNvSpPr txBox="1"/>
          <p:nvPr/>
        </p:nvSpPr>
        <p:spPr>
          <a:xfrm>
            <a:off x="6918581" y="2459567"/>
            <a:ext cx="61468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PlayingAway</a:t>
            </a:r>
            <a:endParaRPr sz="900">
              <a:latin typeface="Calibri"/>
              <a:cs typeface="Calibri"/>
            </a:endParaRPr>
          </a:p>
        </p:txBody>
      </p:sp>
      <p:sp>
        <p:nvSpPr>
          <p:cNvPr id="21" name="object 21"/>
          <p:cNvSpPr txBox="1"/>
          <p:nvPr/>
        </p:nvSpPr>
        <p:spPr>
          <a:xfrm>
            <a:off x="4399546" y="4102100"/>
            <a:ext cx="23749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PRI</a:t>
            </a:r>
            <a:r>
              <a:rPr sz="900" spc="15">
                <a:latin typeface="Calibri"/>
                <a:cs typeface="Calibri"/>
              </a:rPr>
              <a:t>n</a:t>
            </a:r>
            <a:endParaRPr sz="900">
              <a:latin typeface="Calibri"/>
              <a:cs typeface="Calibri"/>
            </a:endParaRPr>
          </a:p>
        </p:txBody>
      </p:sp>
      <p:sp>
        <p:nvSpPr>
          <p:cNvPr id="22" name="object 22"/>
          <p:cNvSpPr txBox="1"/>
          <p:nvPr/>
        </p:nvSpPr>
        <p:spPr>
          <a:xfrm>
            <a:off x="9384732" y="2696633"/>
            <a:ext cx="1172845" cy="9448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 </a:t>
            </a:r>
            <a:r>
              <a:rPr sz="1500" spc="-5">
                <a:latin typeface="Calibri"/>
                <a:cs typeface="Calibri"/>
              </a:rPr>
              <a:t>might </a:t>
            </a:r>
            <a:r>
              <a:rPr sz="1500">
                <a:latin typeface="Calibri"/>
                <a:cs typeface="Calibri"/>
              </a:rPr>
              <a:t> </a:t>
            </a:r>
            <a:r>
              <a:rPr sz="1500" spc="-10">
                <a:latin typeface="Calibri"/>
                <a:cs typeface="Calibri"/>
              </a:rPr>
              <a:t>have different </a:t>
            </a:r>
            <a:r>
              <a:rPr sz="1500" spc="-5">
                <a:latin typeface="Calibri"/>
                <a:cs typeface="Calibri"/>
              </a:rPr>
              <a:t> weights </a:t>
            </a:r>
            <a:r>
              <a:rPr sz="1500" spc="-10">
                <a:latin typeface="Calibri"/>
                <a:cs typeface="Calibri"/>
              </a:rPr>
              <a:t>at </a:t>
            </a:r>
            <a:r>
              <a:rPr sz="1500" spc="-5">
                <a:latin typeface="Calibri"/>
                <a:cs typeface="Calibri"/>
              </a:rPr>
              <a:t> </a:t>
            </a:r>
            <a:r>
              <a:rPr sz="1500" spc="-10">
                <a:latin typeface="Calibri"/>
                <a:cs typeface="Calibri"/>
              </a:rPr>
              <a:t>different</a:t>
            </a:r>
            <a:r>
              <a:rPr sz="1500" spc="-70">
                <a:latin typeface="Calibri"/>
                <a:cs typeface="Calibri"/>
              </a:rPr>
              <a:t> </a:t>
            </a:r>
            <a:r>
              <a:rPr sz="1500">
                <a:latin typeface="Calibri"/>
                <a:cs typeface="Calibri"/>
              </a:rPr>
              <a:t>times</a:t>
            </a:r>
          </a:p>
        </p:txBody>
      </p:sp>
      <p:grpSp>
        <p:nvGrpSpPr>
          <p:cNvPr id="23" name="object 23"/>
          <p:cNvGrpSpPr/>
          <p:nvPr/>
        </p:nvGrpSpPr>
        <p:grpSpPr>
          <a:xfrm>
            <a:off x="7848600" y="4013200"/>
            <a:ext cx="2819400" cy="1955800"/>
            <a:chOff x="6324600" y="4013200"/>
            <a:chExt cx="2819400" cy="1955800"/>
          </a:xfrm>
        </p:grpSpPr>
        <p:pic>
          <p:nvPicPr>
            <p:cNvPr id="24" name="object 24"/>
            <p:cNvPicPr/>
            <p:nvPr/>
          </p:nvPicPr>
          <p:blipFill>
            <a:blip r:embed="rId4" cstate="print"/>
            <a:stretch>
              <a:fillRect/>
            </a:stretch>
          </p:blipFill>
          <p:spPr>
            <a:xfrm>
              <a:off x="6366932" y="4038600"/>
              <a:ext cx="2777067" cy="1862667"/>
            </a:xfrm>
            <a:prstGeom prst="rect">
              <a:avLst/>
            </a:prstGeom>
          </p:spPr>
        </p:pic>
        <p:pic>
          <p:nvPicPr>
            <p:cNvPr id="25" name="object 25"/>
            <p:cNvPicPr/>
            <p:nvPr/>
          </p:nvPicPr>
          <p:blipFill>
            <a:blip r:embed="rId5" cstate="print"/>
            <a:stretch>
              <a:fillRect/>
            </a:stretch>
          </p:blipFill>
          <p:spPr>
            <a:xfrm>
              <a:off x="6324600" y="4013200"/>
              <a:ext cx="2819400" cy="1955800"/>
            </a:xfrm>
            <a:prstGeom prst="rect">
              <a:avLst/>
            </a:prstGeom>
          </p:spPr>
        </p:pic>
        <p:sp>
          <p:nvSpPr>
            <p:cNvPr id="26" name="object 26"/>
            <p:cNvSpPr/>
            <p:nvPr/>
          </p:nvSpPr>
          <p:spPr>
            <a:xfrm>
              <a:off x="6413413" y="4082116"/>
              <a:ext cx="2688590" cy="1754505"/>
            </a:xfrm>
            <a:custGeom>
              <a:avLst/>
              <a:gdLst/>
              <a:ahLst/>
              <a:cxnLst/>
              <a:rect l="l" t="t" r="r" b="b"/>
              <a:pathLst>
                <a:path w="2688590" h="1754504">
                  <a:moveTo>
                    <a:pt x="2688389" y="0"/>
                  </a:moveTo>
                  <a:lnTo>
                    <a:pt x="0" y="0"/>
                  </a:lnTo>
                  <a:lnTo>
                    <a:pt x="0" y="1754325"/>
                  </a:lnTo>
                  <a:lnTo>
                    <a:pt x="2688389" y="1754325"/>
                  </a:lnTo>
                  <a:lnTo>
                    <a:pt x="2688389" y="0"/>
                  </a:lnTo>
                  <a:close/>
                </a:path>
              </a:pathLst>
            </a:custGeom>
            <a:solidFill>
              <a:srgbClr val="E6E0EC"/>
            </a:solidFill>
          </p:spPr>
          <p:txBody>
            <a:bodyPr wrap="square" lIns="0" tIns="0" rIns="0" bIns="0" rtlCol="0"/>
            <a:lstStyle/>
            <a:p>
              <a:endParaRPr/>
            </a:p>
          </p:txBody>
        </p:sp>
      </p:grpSp>
      <p:sp>
        <p:nvSpPr>
          <p:cNvPr id="27" name="object 27"/>
          <p:cNvSpPr txBox="1"/>
          <p:nvPr/>
        </p:nvSpPr>
        <p:spPr>
          <a:xfrm>
            <a:off x="7995895" y="4165301"/>
            <a:ext cx="2470785" cy="1671320"/>
          </a:xfrm>
          <a:prstGeom prst="rect">
            <a:avLst/>
          </a:prstGeom>
        </p:spPr>
        <p:txBody>
          <a:bodyPr vert="horz" wrap="square" lIns="0" tIns="12700" rIns="0" bIns="0" rtlCol="0">
            <a:spAutoFit/>
          </a:bodyPr>
          <a:lstStyle/>
          <a:p>
            <a:pPr marL="12700" marR="5080">
              <a:spcBef>
                <a:spcPts val="100"/>
              </a:spcBef>
            </a:pPr>
            <a:r>
              <a:rPr spc="-5">
                <a:latin typeface="Calibri"/>
                <a:cs typeface="Calibri"/>
              </a:rPr>
              <a:t>Note:</a:t>
            </a:r>
            <a:r>
              <a:rPr>
                <a:latin typeface="Calibri"/>
                <a:cs typeface="Calibri"/>
              </a:rPr>
              <a:t> </a:t>
            </a:r>
            <a:r>
              <a:rPr spc="-5">
                <a:latin typeface="Calibri"/>
                <a:cs typeface="Calibri"/>
              </a:rPr>
              <a:t>point </a:t>
            </a:r>
            <a:r>
              <a:rPr spc="-10">
                <a:latin typeface="Calibri"/>
                <a:cs typeface="Calibri"/>
              </a:rPr>
              <a:t>here</a:t>
            </a:r>
            <a:r>
              <a:rPr spc="-5">
                <a:latin typeface="Calibri"/>
                <a:cs typeface="Calibri"/>
              </a:rPr>
              <a:t> is </a:t>
            </a:r>
            <a:r>
              <a:rPr spc="-10">
                <a:latin typeface="Calibri"/>
                <a:cs typeface="Calibri"/>
              </a:rPr>
              <a:t>that </a:t>
            </a:r>
            <a:r>
              <a:rPr spc="-5">
                <a:latin typeface="Calibri"/>
                <a:cs typeface="Calibri"/>
              </a:rPr>
              <a:t> </a:t>
            </a:r>
            <a:r>
              <a:rPr spc="-15">
                <a:latin typeface="Calibri"/>
                <a:cs typeface="Calibri"/>
              </a:rPr>
              <a:t>different</a:t>
            </a:r>
            <a:r>
              <a:rPr spc="-10">
                <a:latin typeface="Calibri"/>
                <a:cs typeface="Calibri"/>
              </a:rPr>
              <a:t> </a:t>
            </a:r>
            <a:r>
              <a:rPr spc="-15">
                <a:latin typeface="Calibri"/>
                <a:cs typeface="Calibri"/>
              </a:rPr>
              <a:t>players</a:t>
            </a:r>
            <a:r>
              <a:rPr spc="-10">
                <a:latin typeface="Calibri"/>
                <a:cs typeface="Calibri"/>
              </a:rPr>
              <a:t> </a:t>
            </a:r>
            <a:r>
              <a:rPr spc="-5">
                <a:latin typeface="Calibri"/>
                <a:cs typeface="Calibri"/>
              </a:rPr>
              <a:t>might </a:t>
            </a:r>
            <a:r>
              <a:rPr>
                <a:latin typeface="Calibri"/>
                <a:cs typeface="Calibri"/>
              </a:rPr>
              <a:t> </a:t>
            </a:r>
            <a:r>
              <a:rPr spc="-15">
                <a:latin typeface="Calibri"/>
                <a:cs typeface="Calibri"/>
              </a:rPr>
              <a:t>have</a:t>
            </a:r>
            <a:r>
              <a:rPr spc="-10">
                <a:latin typeface="Calibri"/>
                <a:cs typeface="Calibri"/>
              </a:rPr>
              <a:t> </a:t>
            </a:r>
            <a:r>
              <a:rPr i="1" spc="-10">
                <a:latin typeface="Calibri"/>
                <a:cs typeface="Calibri"/>
              </a:rPr>
              <a:t>different</a:t>
            </a:r>
            <a:r>
              <a:rPr i="1" spc="-15">
                <a:latin typeface="Calibri"/>
                <a:cs typeface="Calibri"/>
              </a:rPr>
              <a:t> </a:t>
            </a:r>
            <a:r>
              <a:rPr i="1" spc="-5">
                <a:latin typeface="Calibri"/>
                <a:cs typeface="Calibri"/>
              </a:rPr>
              <a:t>numbers </a:t>
            </a:r>
            <a:r>
              <a:rPr>
                <a:latin typeface="Calibri"/>
                <a:cs typeface="Calibri"/>
              </a:rPr>
              <a:t>of </a:t>
            </a:r>
            <a:r>
              <a:rPr spc="5">
                <a:latin typeface="Calibri"/>
                <a:cs typeface="Calibri"/>
              </a:rPr>
              <a:t> </a:t>
            </a:r>
            <a:r>
              <a:rPr spc="-10">
                <a:latin typeface="Calibri"/>
                <a:cs typeface="Calibri"/>
              </a:rPr>
              <a:t>training</a:t>
            </a:r>
            <a:r>
              <a:rPr>
                <a:latin typeface="Calibri"/>
                <a:cs typeface="Calibri"/>
              </a:rPr>
              <a:t> /</a:t>
            </a:r>
            <a:r>
              <a:rPr spc="5">
                <a:latin typeface="Calibri"/>
                <a:cs typeface="Calibri"/>
              </a:rPr>
              <a:t> </a:t>
            </a:r>
            <a:r>
              <a:rPr spc="-10">
                <a:latin typeface="Calibri"/>
                <a:cs typeface="Calibri"/>
              </a:rPr>
              <a:t>weight</a:t>
            </a:r>
            <a:r>
              <a:rPr spc="-5">
                <a:latin typeface="Calibri"/>
                <a:cs typeface="Calibri"/>
              </a:rPr>
              <a:t> phases- </a:t>
            </a:r>
            <a:r>
              <a:rPr>
                <a:latin typeface="Calibri"/>
                <a:cs typeface="Calibri"/>
              </a:rPr>
              <a:t> hence </a:t>
            </a:r>
            <a:r>
              <a:rPr spc="-5">
                <a:latin typeface="Calibri"/>
                <a:cs typeface="Calibri"/>
              </a:rPr>
              <a:t>should </a:t>
            </a:r>
            <a:r>
              <a:rPr spc="-10">
                <a:latin typeface="Calibri"/>
                <a:cs typeface="Calibri"/>
              </a:rPr>
              <a:t>represent </a:t>
            </a:r>
            <a:r>
              <a:rPr spc="-5">
                <a:latin typeface="Calibri"/>
                <a:cs typeface="Calibri"/>
              </a:rPr>
              <a:t>as </a:t>
            </a:r>
            <a:r>
              <a:rPr spc="-395">
                <a:latin typeface="Calibri"/>
                <a:cs typeface="Calibri"/>
              </a:rPr>
              <a:t> </a:t>
            </a:r>
            <a:r>
              <a:rPr spc="-5">
                <a:latin typeface="Calibri"/>
                <a:cs typeface="Calibri"/>
              </a:rPr>
              <a:t>new entity!</a:t>
            </a:r>
            <a:endParaRPr>
              <a:latin typeface="Calibri"/>
              <a:cs typeface="Calibri"/>
            </a:endParaRPr>
          </a:p>
        </p:txBody>
      </p:sp>
      <p:grpSp>
        <p:nvGrpSpPr>
          <p:cNvPr id="28" name="object 28"/>
          <p:cNvGrpSpPr/>
          <p:nvPr/>
        </p:nvGrpSpPr>
        <p:grpSpPr>
          <a:xfrm>
            <a:off x="2472789" y="2762238"/>
            <a:ext cx="982344" cy="363220"/>
            <a:chOff x="948789" y="2762238"/>
            <a:chExt cx="982344" cy="363220"/>
          </a:xfrm>
        </p:grpSpPr>
        <p:sp>
          <p:nvSpPr>
            <p:cNvPr id="29" name="object 29"/>
            <p:cNvSpPr/>
            <p:nvPr/>
          </p:nvSpPr>
          <p:spPr>
            <a:xfrm>
              <a:off x="1722701" y="2767001"/>
              <a:ext cx="203200" cy="192405"/>
            </a:xfrm>
            <a:custGeom>
              <a:avLst/>
              <a:gdLst/>
              <a:ahLst/>
              <a:cxnLst/>
              <a:rect l="l" t="t" r="r" b="b"/>
              <a:pathLst>
                <a:path w="203200" h="192405">
                  <a:moveTo>
                    <a:pt x="203059" y="0"/>
                  </a:moveTo>
                  <a:lnTo>
                    <a:pt x="0" y="191848"/>
                  </a:lnTo>
                </a:path>
              </a:pathLst>
            </a:custGeom>
            <a:solidFill>
              <a:srgbClr val="C0C0C0">
                <a:alpha val="50199"/>
              </a:srgbClr>
            </a:solidFill>
          </p:spPr>
          <p:txBody>
            <a:bodyPr wrap="square" lIns="0" tIns="0" rIns="0" bIns="0" rtlCol="0"/>
            <a:lstStyle/>
            <a:p>
              <a:endParaRPr/>
            </a:p>
          </p:txBody>
        </p:sp>
        <p:sp>
          <p:nvSpPr>
            <p:cNvPr id="30" name="object 30"/>
            <p:cNvSpPr/>
            <p:nvPr/>
          </p:nvSpPr>
          <p:spPr>
            <a:xfrm>
              <a:off x="1722701" y="2767000"/>
              <a:ext cx="203200" cy="192405"/>
            </a:xfrm>
            <a:custGeom>
              <a:avLst/>
              <a:gdLst/>
              <a:ahLst/>
              <a:cxnLst/>
              <a:rect l="l" t="t" r="r" b="b"/>
              <a:pathLst>
                <a:path w="203200" h="192405">
                  <a:moveTo>
                    <a:pt x="0" y="191849"/>
                  </a:moveTo>
                  <a:lnTo>
                    <a:pt x="203060" y="0"/>
                  </a:lnTo>
                </a:path>
              </a:pathLst>
            </a:custGeom>
            <a:ln w="9525">
              <a:solidFill>
                <a:srgbClr val="000000"/>
              </a:solidFill>
            </a:ln>
          </p:spPr>
          <p:txBody>
            <a:bodyPr wrap="square" lIns="0" tIns="0" rIns="0" bIns="0" rtlCol="0"/>
            <a:lstStyle/>
            <a:p>
              <a:endParaRPr/>
            </a:p>
          </p:txBody>
        </p:sp>
        <p:sp>
          <p:nvSpPr>
            <p:cNvPr id="31" name="object 31"/>
            <p:cNvSpPr/>
            <p:nvPr/>
          </p:nvSpPr>
          <p:spPr>
            <a:xfrm>
              <a:off x="953551" y="2797040"/>
              <a:ext cx="769620" cy="323850"/>
            </a:xfrm>
            <a:custGeom>
              <a:avLst/>
              <a:gdLst/>
              <a:ahLst/>
              <a:cxnLst/>
              <a:rect l="l" t="t" r="r" b="b"/>
              <a:pathLst>
                <a:path w="769619" h="323850">
                  <a:moveTo>
                    <a:pt x="384574" y="0"/>
                  </a:moveTo>
                  <a:lnTo>
                    <a:pt x="0" y="161809"/>
                  </a:lnTo>
                  <a:lnTo>
                    <a:pt x="384574" y="323617"/>
                  </a:lnTo>
                  <a:lnTo>
                    <a:pt x="769148" y="161809"/>
                  </a:lnTo>
                  <a:lnTo>
                    <a:pt x="384574" y="0"/>
                  </a:lnTo>
                  <a:close/>
                </a:path>
              </a:pathLst>
            </a:custGeom>
            <a:solidFill>
              <a:srgbClr val="4F81BD"/>
            </a:solidFill>
          </p:spPr>
          <p:txBody>
            <a:bodyPr wrap="square" lIns="0" tIns="0" rIns="0" bIns="0" rtlCol="0"/>
            <a:lstStyle/>
            <a:p>
              <a:endParaRPr/>
            </a:p>
          </p:txBody>
        </p:sp>
        <p:sp>
          <p:nvSpPr>
            <p:cNvPr id="32" name="object 32"/>
            <p:cNvSpPr/>
            <p:nvPr/>
          </p:nvSpPr>
          <p:spPr>
            <a:xfrm>
              <a:off x="953551" y="2797040"/>
              <a:ext cx="769620" cy="323850"/>
            </a:xfrm>
            <a:custGeom>
              <a:avLst/>
              <a:gdLst/>
              <a:ahLst/>
              <a:cxnLst/>
              <a:rect l="l" t="t" r="r" b="b"/>
              <a:pathLst>
                <a:path w="769619" h="323850">
                  <a:moveTo>
                    <a:pt x="0" y="161808"/>
                  </a:moveTo>
                  <a:lnTo>
                    <a:pt x="384574" y="0"/>
                  </a:lnTo>
                  <a:lnTo>
                    <a:pt x="769149" y="161808"/>
                  </a:lnTo>
                  <a:lnTo>
                    <a:pt x="384574" y="323617"/>
                  </a:lnTo>
                  <a:lnTo>
                    <a:pt x="0" y="161808"/>
                  </a:lnTo>
                  <a:close/>
                </a:path>
              </a:pathLst>
            </a:custGeom>
            <a:ln w="34925">
              <a:solidFill>
                <a:srgbClr val="000000"/>
              </a:solidFill>
            </a:ln>
          </p:spPr>
          <p:txBody>
            <a:bodyPr wrap="square" lIns="0" tIns="0" rIns="0" bIns="0" rtlCol="0"/>
            <a:lstStyle/>
            <a:p>
              <a:endParaRPr/>
            </a:p>
          </p:txBody>
        </p:sp>
      </p:grpSp>
      <p:sp>
        <p:nvSpPr>
          <p:cNvPr id="33" name="object 33"/>
          <p:cNvSpPr txBox="1"/>
          <p:nvPr/>
        </p:nvSpPr>
        <p:spPr>
          <a:xfrm>
            <a:off x="2624795" y="2865967"/>
            <a:ext cx="476250" cy="155171"/>
          </a:xfrm>
          <a:prstGeom prst="rect">
            <a:avLst/>
          </a:prstGeom>
        </p:spPr>
        <p:txBody>
          <a:bodyPr vert="horz" wrap="square" lIns="0" tIns="16510" rIns="0" bIns="0" rtlCol="0">
            <a:spAutoFit/>
          </a:bodyPr>
          <a:lstStyle/>
          <a:p>
            <a:pPr marL="12700">
              <a:spcBef>
                <a:spcPts val="130"/>
              </a:spcBef>
            </a:pPr>
            <a:r>
              <a:rPr sz="900" spc="-10" err="1">
                <a:latin typeface="Calibri"/>
                <a:cs typeface="Calibri"/>
              </a:rPr>
              <a:t>W</a:t>
            </a:r>
            <a:r>
              <a:rPr sz="900" err="1">
                <a:latin typeface="Calibri"/>
                <a:cs typeface="Calibri"/>
              </a:rPr>
              <a:t>eig</a:t>
            </a:r>
            <a:r>
              <a:rPr sz="900" spc="-5" err="1">
                <a:latin typeface="Calibri"/>
                <a:cs typeface="Calibri"/>
              </a:rPr>
              <a:t>ht</a:t>
            </a:r>
            <a:r>
              <a:rPr sz="900" err="1">
                <a:latin typeface="Calibri"/>
                <a:cs typeface="Calibri"/>
              </a:rPr>
              <a:t>O</a:t>
            </a:r>
            <a:r>
              <a:rPr sz="900" spc="10" err="1">
                <a:latin typeface="Calibri"/>
                <a:cs typeface="Calibri"/>
              </a:rPr>
              <a:t>f</a:t>
            </a:r>
            <a:endParaRPr sz="900">
              <a:latin typeface="Calibri"/>
              <a:cs typeface="Calibri"/>
            </a:endParaRPr>
          </a:p>
        </p:txBody>
      </p:sp>
      <p:sp>
        <p:nvSpPr>
          <p:cNvPr id="35" name="object 35"/>
          <p:cNvSpPr txBox="1"/>
          <p:nvPr/>
        </p:nvSpPr>
        <p:spPr>
          <a:xfrm>
            <a:off x="2157594" y="3342343"/>
            <a:ext cx="590550" cy="192360"/>
          </a:xfrm>
          <a:prstGeom prst="rect">
            <a:avLst/>
          </a:prstGeom>
          <a:ln w="41275">
            <a:solidFill>
              <a:srgbClr val="000000"/>
            </a:solidFill>
          </a:ln>
        </p:spPr>
        <p:txBody>
          <a:bodyPr vert="horz" wrap="square" lIns="0" tIns="53340" rIns="0" bIns="0" rtlCol="0">
            <a:spAutoFit/>
          </a:bodyPr>
          <a:lstStyle/>
          <a:p>
            <a:pPr marL="125730">
              <a:spcBef>
                <a:spcPts val="420"/>
              </a:spcBef>
            </a:pPr>
            <a:r>
              <a:rPr sz="900">
                <a:latin typeface="Calibri"/>
                <a:cs typeface="Calibri"/>
              </a:rPr>
              <a:t>Weight</a:t>
            </a:r>
          </a:p>
        </p:txBody>
      </p:sp>
      <p:grpSp>
        <p:nvGrpSpPr>
          <p:cNvPr id="36" name="object 36"/>
          <p:cNvGrpSpPr/>
          <p:nvPr/>
        </p:nvGrpSpPr>
        <p:grpSpPr>
          <a:xfrm>
            <a:off x="2072011" y="3804040"/>
            <a:ext cx="710565" cy="333375"/>
            <a:chOff x="548010" y="3804039"/>
            <a:chExt cx="710565" cy="333375"/>
          </a:xfrm>
        </p:grpSpPr>
        <p:sp>
          <p:nvSpPr>
            <p:cNvPr id="37" name="object 37"/>
            <p:cNvSpPr/>
            <p:nvPr/>
          </p:nvSpPr>
          <p:spPr>
            <a:xfrm>
              <a:off x="552772" y="3808802"/>
              <a:ext cx="701040" cy="323850"/>
            </a:xfrm>
            <a:custGeom>
              <a:avLst/>
              <a:gdLst/>
              <a:ahLst/>
              <a:cxnLst/>
              <a:rect l="l" t="t" r="r" b="b"/>
              <a:pathLst>
                <a:path w="701040" h="323850">
                  <a:moveTo>
                    <a:pt x="350304" y="0"/>
                  </a:moveTo>
                  <a:lnTo>
                    <a:pt x="287336" y="2606"/>
                  </a:lnTo>
                  <a:lnTo>
                    <a:pt x="228071" y="10123"/>
                  </a:lnTo>
                  <a:lnTo>
                    <a:pt x="173499" y="22091"/>
                  </a:lnTo>
                  <a:lnTo>
                    <a:pt x="124607" y="38055"/>
                  </a:lnTo>
                  <a:lnTo>
                    <a:pt x="82387" y="57557"/>
                  </a:lnTo>
                  <a:lnTo>
                    <a:pt x="47826" y="80141"/>
                  </a:lnTo>
                  <a:lnTo>
                    <a:pt x="5643" y="132723"/>
                  </a:lnTo>
                  <a:lnTo>
                    <a:pt x="0" y="161809"/>
                  </a:lnTo>
                  <a:lnTo>
                    <a:pt x="5643" y="190894"/>
                  </a:lnTo>
                  <a:lnTo>
                    <a:pt x="47826" y="243476"/>
                  </a:lnTo>
                  <a:lnTo>
                    <a:pt x="82387" y="266060"/>
                  </a:lnTo>
                  <a:lnTo>
                    <a:pt x="124607" y="285562"/>
                  </a:lnTo>
                  <a:lnTo>
                    <a:pt x="173499" y="301525"/>
                  </a:lnTo>
                  <a:lnTo>
                    <a:pt x="228071" y="313494"/>
                  </a:lnTo>
                  <a:lnTo>
                    <a:pt x="287336" y="321010"/>
                  </a:lnTo>
                  <a:lnTo>
                    <a:pt x="350304" y="323617"/>
                  </a:lnTo>
                  <a:lnTo>
                    <a:pt x="413272" y="321010"/>
                  </a:lnTo>
                  <a:lnTo>
                    <a:pt x="472537" y="313494"/>
                  </a:lnTo>
                  <a:lnTo>
                    <a:pt x="527109" y="301525"/>
                  </a:lnTo>
                  <a:lnTo>
                    <a:pt x="576001" y="285562"/>
                  </a:lnTo>
                  <a:lnTo>
                    <a:pt x="618221" y="266060"/>
                  </a:lnTo>
                  <a:lnTo>
                    <a:pt x="652782" y="243476"/>
                  </a:lnTo>
                  <a:lnTo>
                    <a:pt x="694965" y="190894"/>
                  </a:lnTo>
                  <a:lnTo>
                    <a:pt x="700608" y="161809"/>
                  </a:lnTo>
                  <a:lnTo>
                    <a:pt x="694965" y="132723"/>
                  </a:lnTo>
                  <a:lnTo>
                    <a:pt x="652782" y="80141"/>
                  </a:lnTo>
                  <a:lnTo>
                    <a:pt x="618221" y="57557"/>
                  </a:lnTo>
                  <a:lnTo>
                    <a:pt x="576001" y="38055"/>
                  </a:lnTo>
                  <a:lnTo>
                    <a:pt x="527109" y="22091"/>
                  </a:lnTo>
                  <a:lnTo>
                    <a:pt x="472537" y="10123"/>
                  </a:lnTo>
                  <a:lnTo>
                    <a:pt x="413272" y="2606"/>
                  </a:lnTo>
                  <a:lnTo>
                    <a:pt x="350304" y="0"/>
                  </a:lnTo>
                  <a:close/>
                </a:path>
              </a:pathLst>
            </a:custGeom>
            <a:solidFill>
              <a:srgbClr val="00FF00"/>
            </a:solidFill>
          </p:spPr>
          <p:txBody>
            <a:bodyPr wrap="square" lIns="0" tIns="0" rIns="0" bIns="0" rtlCol="0"/>
            <a:lstStyle/>
            <a:p>
              <a:endParaRPr/>
            </a:p>
          </p:txBody>
        </p:sp>
        <p:sp>
          <p:nvSpPr>
            <p:cNvPr id="38" name="object 38"/>
            <p:cNvSpPr/>
            <p:nvPr/>
          </p:nvSpPr>
          <p:spPr>
            <a:xfrm>
              <a:off x="552772" y="3808802"/>
              <a:ext cx="701040" cy="323850"/>
            </a:xfrm>
            <a:custGeom>
              <a:avLst/>
              <a:gdLst/>
              <a:ahLst/>
              <a:cxnLst/>
              <a:rect l="l" t="t" r="r" b="b"/>
              <a:pathLst>
                <a:path w="701040" h="32385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ln w="9525">
              <a:solidFill>
                <a:srgbClr val="000000"/>
              </a:solidFill>
            </a:ln>
          </p:spPr>
          <p:txBody>
            <a:bodyPr wrap="square" lIns="0" tIns="0" rIns="0" bIns="0" rtlCol="0"/>
            <a:lstStyle/>
            <a:p>
              <a:endParaRPr/>
            </a:p>
          </p:txBody>
        </p:sp>
      </p:grpSp>
      <p:sp>
        <p:nvSpPr>
          <p:cNvPr id="39" name="object 39"/>
          <p:cNvSpPr txBox="1"/>
          <p:nvPr/>
        </p:nvSpPr>
        <p:spPr>
          <a:xfrm>
            <a:off x="2245308" y="3881967"/>
            <a:ext cx="365760" cy="155171"/>
          </a:xfrm>
          <a:prstGeom prst="rect">
            <a:avLst/>
          </a:prstGeom>
        </p:spPr>
        <p:txBody>
          <a:bodyPr vert="horz" wrap="square" lIns="0" tIns="16510" rIns="0" bIns="0" rtlCol="0">
            <a:spAutoFit/>
          </a:bodyPr>
          <a:lstStyle/>
          <a:p>
            <a:pPr marL="12700">
              <a:spcBef>
                <a:spcPts val="130"/>
              </a:spcBef>
            </a:pPr>
            <a:r>
              <a:rPr sz="900" spc="-10">
                <a:latin typeface="Calibri"/>
                <a:cs typeface="Calibri"/>
              </a:rPr>
              <a:t>W</a:t>
            </a:r>
            <a:r>
              <a:rPr sz="900">
                <a:latin typeface="Calibri"/>
                <a:cs typeface="Calibri"/>
              </a:rPr>
              <a:t>eig</a:t>
            </a:r>
            <a:r>
              <a:rPr sz="900" spc="-5">
                <a:latin typeface="Calibri"/>
                <a:cs typeface="Calibri"/>
              </a:rPr>
              <a:t>h</a:t>
            </a:r>
            <a:r>
              <a:rPr sz="900" spc="10">
                <a:latin typeface="Calibri"/>
                <a:cs typeface="Calibri"/>
              </a:rPr>
              <a:t>t</a:t>
            </a:r>
            <a:endParaRPr sz="900">
              <a:latin typeface="Calibri"/>
              <a:cs typeface="Calibri"/>
            </a:endParaRPr>
          </a:p>
        </p:txBody>
      </p:sp>
      <p:grpSp>
        <p:nvGrpSpPr>
          <p:cNvPr id="46" name="object 46"/>
          <p:cNvGrpSpPr/>
          <p:nvPr/>
        </p:nvGrpSpPr>
        <p:grpSpPr>
          <a:xfrm>
            <a:off x="1879327" y="2958849"/>
            <a:ext cx="1432683" cy="1437744"/>
            <a:chOff x="355326" y="2958849"/>
            <a:chExt cx="1432683" cy="1437744"/>
          </a:xfrm>
        </p:grpSpPr>
        <p:sp>
          <p:nvSpPr>
            <p:cNvPr id="47" name="object 47"/>
            <p:cNvSpPr/>
            <p:nvPr/>
          </p:nvSpPr>
          <p:spPr>
            <a:xfrm>
              <a:off x="355326" y="3563805"/>
              <a:ext cx="603250" cy="483234"/>
            </a:xfrm>
            <a:custGeom>
              <a:avLst/>
              <a:gdLst/>
              <a:ahLst/>
              <a:cxnLst/>
              <a:rect l="l" t="t" r="r" b="b"/>
              <a:pathLst>
                <a:path w="603250" h="483235">
                  <a:moveTo>
                    <a:pt x="603062" y="0"/>
                  </a:moveTo>
                  <a:lnTo>
                    <a:pt x="0" y="482993"/>
                  </a:lnTo>
                </a:path>
              </a:pathLst>
            </a:custGeom>
            <a:solidFill>
              <a:srgbClr val="C0C0C0">
                <a:alpha val="50199"/>
              </a:srgbClr>
            </a:solidFill>
          </p:spPr>
          <p:txBody>
            <a:bodyPr wrap="square" lIns="0" tIns="0" rIns="0" bIns="0" rtlCol="0"/>
            <a:lstStyle/>
            <a:p>
              <a:endParaRPr/>
            </a:p>
          </p:txBody>
        </p:sp>
        <p:sp>
          <p:nvSpPr>
            <p:cNvPr id="48" name="object 48"/>
            <p:cNvSpPr/>
            <p:nvPr/>
          </p:nvSpPr>
          <p:spPr>
            <a:xfrm>
              <a:off x="899160" y="3563805"/>
              <a:ext cx="59416" cy="265668"/>
            </a:xfrm>
            <a:custGeom>
              <a:avLst/>
              <a:gdLst/>
              <a:ahLst/>
              <a:cxnLst/>
              <a:rect l="l" t="t" r="r" b="b"/>
              <a:pathLst>
                <a:path w="603250" h="483235">
                  <a:moveTo>
                    <a:pt x="0" y="482994"/>
                  </a:moveTo>
                  <a:lnTo>
                    <a:pt x="603062" y="0"/>
                  </a:lnTo>
                </a:path>
              </a:pathLst>
            </a:custGeom>
            <a:ln w="9525">
              <a:solidFill>
                <a:srgbClr val="000000"/>
              </a:solidFill>
            </a:ln>
          </p:spPr>
          <p:txBody>
            <a:bodyPr wrap="square" lIns="0" tIns="0" rIns="0" bIns="0" rtlCol="0"/>
            <a:lstStyle/>
            <a:p>
              <a:endParaRPr/>
            </a:p>
          </p:txBody>
        </p:sp>
        <p:sp>
          <p:nvSpPr>
            <p:cNvPr id="49" name="object 49"/>
            <p:cNvSpPr/>
            <p:nvPr/>
          </p:nvSpPr>
          <p:spPr>
            <a:xfrm>
              <a:off x="953551" y="2958849"/>
              <a:ext cx="5080" cy="353695"/>
            </a:xfrm>
            <a:custGeom>
              <a:avLst/>
              <a:gdLst/>
              <a:ahLst/>
              <a:cxnLst/>
              <a:rect l="l" t="t" r="r" b="b"/>
              <a:pathLst>
                <a:path w="5080" h="353695">
                  <a:moveTo>
                    <a:pt x="0" y="0"/>
                  </a:moveTo>
                  <a:lnTo>
                    <a:pt x="4837" y="353253"/>
                  </a:lnTo>
                </a:path>
              </a:pathLst>
            </a:custGeom>
            <a:solidFill>
              <a:srgbClr val="C0C0C0">
                <a:alpha val="50199"/>
              </a:srgbClr>
            </a:solidFill>
          </p:spPr>
          <p:txBody>
            <a:bodyPr wrap="square" lIns="0" tIns="0" rIns="0" bIns="0" rtlCol="0"/>
            <a:lstStyle/>
            <a:p>
              <a:endParaRPr/>
            </a:p>
          </p:txBody>
        </p:sp>
        <p:sp>
          <p:nvSpPr>
            <p:cNvPr id="50" name="object 50"/>
            <p:cNvSpPr/>
            <p:nvPr/>
          </p:nvSpPr>
          <p:spPr>
            <a:xfrm>
              <a:off x="953551" y="2958849"/>
              <a:ext cx="5080" cy="353695"/>
            </a:xfrm>
            <a:custGeom>
              <a:avLst/>
              <a:gdLst/>
              <a:ahLst/>
              <a:cxnLst/>
              <a:rect l="l" t="t" r="r" b="b"/>
              <a:pathLst>
                <a:path w="5080" h="353695">
                  <a:moveTo>
                    <a:pt x="0" y="0"/>
                  </a:moveTo>
                  <a:lnTo>
                    <a:pt x="4837" y="353253"/>
                  </a:lnTo>
                </a:path>
              </a:pathLst>
            </a:custGeom>
            <a:ln w="31750">
              <a:solidFill>
                <a:srgbClr val="000000"/>
              </a:solidFill>
            </a:ln>
          </p:spPr>
          <p:txBody>
            <a:bodyPr wrap="square" lIns="0" tIns="0" rIns="0" bIns="0" rtlCol="0"/>
            <a:lstStyle/>
            <a:p>
              <a:endParaRPr/>
            </a:p>
          </p:txBody>
        </p:sp>
        <p:sp>
          <p:nvSpPr>
            <p:cNvPr id="51" name="object 51"/>
            <p:cNvSpPr/>
            <p:nvPr/>
          </p:nvSpPr>
          <p:spPr>
            <a:xfrm>
              <a:off x="1086969" y="4072743"/>
              <a:ext cx="701040" cy="323850"/>
            </a:xfrm>
            <a:custGeom>
              <a:avLst/>
              <a:gdLst/>
              <a:ahLst/>
              <a:cxnLst/>
              <a:rect l="l" t="t" r="r" b="b"/>
              <a:pathLst>
                <a:path w="701039" h="323850">
                  <a:moveTo>
                    <a:pt x="350303" y="0"/>
                  </a:moveTo>
                  <a:lnTo>
                    <a:pt x="287336" y="2606"/>
                  </a:lnTo>
                  <a:lnTo>
                    <a:pt x="228071" y="10123"/>
                  </a:lnTo>
                  <a:lnTo>
                    <a:pt x="173498" y="22091"/>
                  </a:lnTo>
                  <a:lnTo>
                    <a:pt x="124607" y="38055"/>
                  </a:lnTo>
                  <a:lnTo>
                    <a:pt x="82387" y="57557"/>
                  </a:lnTo>
                  <a:lnTo>
                    <a:pt x="47826" y="80140"/>
                  </a:lnTo>
                  <a:lnTo>
                    <a:pt x="5643" y="132723"/>
                  </a:lnTo>
                  <a:lnTo>
                    <a:pt x="0" y="161808"/>
                  </a:lnTo>
                  <a:lnTo>
                    <a:pt x="5643" y="190893"/>
                  </a:lnTo>
                  <a:lnTo>
                    <a:pt x="47826" y="243476"/>
                  </a:lnTo>
                  <a:lnTo>
                    <a:pt x="82387" y="266059"/>
                  </a:lnTo>
                  <a:lnTo>
                    <a:pt x="124607" y="285561"/>
                  </a:lnTo>
                  <a:lnTo>
                    <a:pt x="173498" y="301524"/>
                  </a:lnTo>
                  <a:lnTo>
                    <a:pt x="228071" y="313493"/>
                  </a:lnTo>
                  <a:lnTo>
                    <a:pt x="287336" y="321009"/>
                  </a:lnTo>
                  <a:lnTo>
                    <a:pt x="350303" y="323616"/>
                  </a:lnTo>
                  <a:lnTo>
                    <a:pt x="413271" y="321009"/>
                  </a:lnTo>
                  <a:lnTo>
                    <a:pt x="472536" y="313493"/>
                  </a:lnTo>
                  <a:lnTo>
                    <a:pt x="527109" y="301524"/>
                  </a:lnTo>
                  <a:lnTo>
                    <a:pt x="576001" y="285561"/>
                  </a:lnTo>
                  <a:lnTo>
                    <a:pt x="618221" y="266059"/>
                  </a:lnTo>
                  <a:lnTo>
                    <a:pt x="652782" y="243476"/>
                  </a:lnTo>
                  <a:lnTo>
                    <a:pt x="694965" y="190893"/>
                  </a:lnTo>
                  <a:lnTo>
                    <a:pt x="700609" y="161808"/>
                  </a:lnTo>
                  <a:lnTo>
                    <a:pt x="694965" y="132723"/>
                  </a:lnTo>
                  <a:lnTo>
                    <a:pt x="652782" y="80140"/>
                  </a:lnTo>
                  <a:lnTo>
                    <a:pt x="618221" y="57557"/>
                  </a:lnTo>
                  <a:lnTo>
                    <a:pt x="576001" y="38055"/>
                  </a:lnTo>
                  <a:lnTo>
                    <a:pt x="527109" y="22091"/>
                  </a:lnTo>
                  <a:lnTo>
                    <a:pt x="472536" y="10123"/>
                  </a:lnTo>
                  <a:lnTo>
                    <a:pt x="413271" y="2606"/>
                  </a:lnTo>
                  <a:lnTo>
                    <a:pt x="350303" y="0"/>
                  </a:lnTo>
                  <a:close/>
                </a:path>
              </a:pathLst>
            </a:custGeom>
            <a:solidFill>
              <a:srgbClr val="00FF00"/>
            </a:solidFill>
          </p:spPr>
          <p:txBody>
            <a:bodyPr wrap="square" lIns="0" tIns="0" rIns="0" bIns="0" rtlCol="0"/>
            <a:lstStyle/>
            <a:p>
              <a:endParaRPr/>
            </a:p>
          </p:txBody>
        </p:sp>
        <p:sp>
          <p:nvSpPr>
            <p:cNvPr id="52" name="object 52"/>
            <p:cNvSpPr/>
            <p:nvPr/>
          </p:nvSpPr>
          <p:spPr>
            <a:xfrm>
              <a:off x="1086969" y="4072743"/>
              <a:ext cx="701040" cy="323850"/>
            </a:xfrm>
            <a:custGeom>
              <a:avLst/>
              <a:gdLst/>
              <a:ahLst/>
              <a:cxnLst/>
              <a:rect l="l" t="t" r="r" b="b"/>
              <a:pathLst>
                <a:path w="701039" h="32385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ln w="9525">
              <a:solidFill>
                <a:srgbClr val="000000"/>
              </a:solidFill>
            </a:ln>
          </p:spPr>
          <p:txBody>
            <a:bodyPr wrap="square" lIns="0" tIns="0" rIns="0" bIns="0" rtlCol="0"/>
            <a:lstStyle/>
            <a:p>
              <a:endParaRPr/>
            </a:p>
          </p:txBody>
        </p:sp>
      </p:grpSp>
      <p:sp>
        <p:nvSpPr>
          <p:cNvPr id="53" name="object 53"/>
          <p:cNvSpPr txBox="1"/>
          <p:nvPr/>
        </p:nvSpPr>
        <p:spPr>
          <a:xfrm>
            <a:off x="2682524" y="4134475"/>
            <a:ext cx="585470" cy="155171"/>
          </a:xfrm>
          <a:prstGeom prst="rect">
            <a:avLst/>
          </a:prstGeom>
        </p:spPr>
        <p:txBody>
          <a:bodyPr vert="horz" wrap="square" lIns="0" tIns="16510" rIns="0" bIns="0" rtlCol="0">
            <a:spAutoFit/>
          </a:bodyPr>
          <a:lstStyle/>
          <a:p>
            <a:pPr marL="12700">
              <a:spcBef>
                <a:spcPts val="130"/>
              </a:spcBef>
            </a:pPr>
            <a:r>
              <a:rPr sz="900" spc="-5">
                <a:uFill>
                  <a:solidFill>
                    <a:srgbClr val="000000"/>
                  </a:solidFill>
                </a:uFill>
                <a:latin typeface="Calibri"/>
                <a:cs typeface="Calibri"/>
              </a:rPr>
              <a:t>T</a:t>
            </a:r>
            <a:r>
              <a:rPr sz="900">
                <a:uFill>
                  <a:solidFill>
                    <a:srgbClr val="000000"/>
                  </a:solidFill>
                </a:uFill>
                <a:latin typeface="Calibri"/>
                <a:cs typeface="Calibri"/>
              </a:rPr>
              <a:t>im</a:t>
            </a:r>
            <a:r>
              <a:rPr sz="900" spc="15">
                <a:uFill>
                  <a:solidFill>
                    <a:srgbClr val="000000"/>
                  </a:solidFill>
                </a:uFill>
                <a:latin typeface="Calibri"/>
                <a:cs typeface="Calibri"/>
              </a:rPr>
              <a:t>e</a:t>
            </a:r>
            <a:r>
              <a:rPr sz="900" spc="-20">
                <a:uFill>
                  <a:solidFill>
                    <a:srgbClr val="000000"/>
                  </a:solidFill>
                </a:uFill>
                <a:latin typeface="Calibri"/>
                <a:cs typeface="Calibri"/>
              </a:rPr>
              <a:t> </a:t>
            </a:r>
            <a:r>
              <a:rPr sz="900" spc="-5">
                <a:uFill>
                  <a:solidFill>
                    <a:srgbClr val="000000"/>
                  </a:solidFill>
                </a:uFill>
                <a:latin typeface="Calibri"/>
                <a:cs typeface="Calibri"/>
              </a:rPr>
              <a:t>Per</a:t>
            </a:r>
            <a:r>
              <a:rPr sz="900">
                <a:uFill>
                  <a:solidFill>
                    <a:srgbClr val="000000"/>
                  </a:solidFill>
                </a:uFill>
                <a:latin typeface="Calibri"/>
                <a:cs typeface="Calibri"/>
              </a:rPr>
              <a:t>i</a:t>
            </a:r>
            <a:r>
              <a:rPr sz="900" spc="-5">
                <a:uFill>
                  <a:solidFill>
                    <a:srgbClr val="000000"/>
                  </a:solidFill>
                </a:uFill>
                <a:latin typeface="Calibri"/>
                <a:cs typeface="Calibri"/>
              </a:rPr>
              <a:t>od</a:t>
            </a:r>
            <a:endParaRPr sz="900">
              <a:latin typeface="Calibri"/>
              <a:cs typeface="Calibri"/>
            </a:endParaRPr>
          </a:p>
        </p:txBody>
      </p:sp>
      <p:grpSp>
        <p:nvGrpSpPr>
          <p:cNvPr id="54" name="object 54"/>
          <p:cNvGrpSpPr/>
          <p:nvPr/>
        </p:nvGrpSpPr>
        <p:grpSpPr>
          <a:xfrm>
            <a:off x="2477625" y="3559043"/>
            <a:ext cx="488950" cy="518795"/>
            <a:chOff x="953625" y="3559042"/>
            <a:chExt cx="488950" cy="518795"/>
          </a:xfrm>
        </p:grpSpPr>
        <p:sp>
          <p:nvSpPr>
            <p:cNvPr id="55" name="object 55"/>
            <p:cNvSpPr/>
            <p:nvPr/>
          </p:nvSpPr>
          <p:spPr>
            <a:xfrm>
              <a:off x="958388" y="3563805"/>
              <a:ext cx="479425" cy="509270"/>
            </a:xfrm>
            <a:custGeom>
              <a:avLst/>
              <a:gdLst/>
              <a:ahLst/>
              <a:cxnLst/>
              <a:rect l="l" t="t" r="r" b="b"/>
              <a:pathLst>
                <a:path w="479425" h="509270">
                  <a:moveTo>
                    <a:pt x="0" y="0"/>
                  </a:moveTo>
                  <a:lnTo>
                    <a:pt x="478886" y="508938"/>
                  </a:lnTo>
                </a:path>
              </a:pathLst>
            </a:custGeom>
            <a:solidFill>
              <a:srgbClr val="C0C0C0">
                <a:alpha val="50199"/>
              </a:srgbClr>
            </a:solidFill>
          </p:spPr>
          <p:txBody>
            <a:bodyPr wrap="square" lIns="0" tIns="0" rIns="0" bIns="0" rtlCol="0"/>
            <a:lstStyle/>
            <a:p>
              <a:endParaRPr/>
            </a:p>
          </p:txBody>
        </p:sp>
        <p:sp>
          <p:nvSpPr>
            <p:cNvPr id="56" name="object 56"/>
            <p:cNvSpPr/>
            <p:nvPr/>
          </p:nvSpPr>
          <p:spPr>
            <a:xfrm>
              <a:off x="958388" y="3563804"/>
              <a:ext cx="479425" cy="509270"/>
            </a:xfrm>
            <a:custGeom>
              <a:avLst/>
              <a:gdLst/>
              <a:ahLst/>
              <a:cxnLst/>
              <a:rect l="l" t="t" r="r" b="b"/>
              <a:pathLst>
                <a:path w="479425" h="509270">
                  <a:moveTo>
                    <a:pt x="478886" y="508939"/>
                  </a:moveTo>
                  <a:lnTo>
                    <a:pt x="0" y="0"/>
                  </a:lnTo>
                </a:path>
              </a:pathLst>
            </a:custGeom>
            <a:ln w="9525">
              <a:solidFill>
                <a:srgbClr val="000000"/>
              </a:solidFill>
            </a:ln>
          </p:spPr>
          <p:txBody>
            <a:bodyPr wrap="square" lIns="0" tIns="0" rIns="0" bIns="0" rtlCol="0"/>
            <a:lstStyle/>
            <a:p>
              <a:endParaRPr/>
            </a:p>
          </p:txBody>
        </p:sp>
      </p:grpSp>
      <p:cxnSp>
        <p:nvCxnSpPr>
          <p:cNvPr id="42" name="Straight Arrow Connector 41">
            <a:extLst>
              <a:ext uri="{FF2B5EF4-FFF2-40B4-BE49-F238E27FC236}">
                <a16:creationId xmlns:a16="http://schemas.microsoft.com/office/drawing/2014/main" id="{66B04915-4BBF-0E38-C6BA-B19FAFAE54AB}"/>
              </a:ext>
            </a:extLst>
          </p:cNvPr>
          <p:cNvCxnSpPr>
            <a:cxnSpLocks/>
          </p:cNvCxnSpPr>
          <p:nvPr/>
        </p:nvCxnSpPr>
        <p:spPr>
          <a:xfrm flipV="1">
            <a:off x="2467144" y="2971479"/>
            <a:ext cx="14733" cy="192124"/>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A83BA7E-C694-A472-5335-1086F2C02DBD}"/>
              </a:ext>
            </a:extLst>
          </p:cNvPr>
          <p:cNvCxnSpPr/>
          <p:nvPr/>
        </p:nvCxnSpPr>
        <p:spPr>
          <a:xfrm>
            <a:off x="2748144" y="4289646"/>
            <a:ext cx="498557"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4" name="Slide Number Placeholder 33">
            <a:extLst>
              <a:ext uri="{FF2B5EF4-FFF2-40B4-BE49-F238E27FC236}">
                <a16:creationId xmlns:a16="http://schemas.microsoft.com/office/drawing/2014/main" id="{DCD8E998-F1B2-4D39-B163-1DC227C6E281}"/>
              </a:ext>
            </a:extLst>
          </p:cNvPr>
          <p:cNvSpPr>
            <a:spLocks noGrp="1"/>
          </p:cNvSpPr>
          <p:nvPr>
            <p:ph type="sldNum" sz="quarter" idx="12"/>
          </p:nvPr>
        </p:nvSpPr>
        <p:spPr/>
        <p:txBody>
          <a:bodyPr/>
          <a:lstStyle/>
          <a:p>
            <a:fld id="{641C0F02-33DC-3A41-9F51-431B7FE03ABE}" type="slidenum">
              <a:rPr lang="en-US" smtClean="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03506" y="464465"/>
            <a:ext cx="9842309" cy="474489"/>
          </a:xfrm>
          <a:prstGeom prst="rect">
            <a:avLst/>
          </a:prstGeom>
        </p:spPr>
        <p:txBody>
          <a:bodyPr vert="horz" wrap="square" lIns="0" tIns="12700" rIns="0" bIns="0" rtlCol="0" anchor="ctr">
            <a:spAutoFit/>
          </a:bodyPr>
          <a:lstStyle/>
          <a:p>
            <a:pPr marL="12700" marR="5080">
              <a:lnSpc>
                <a:spcPct val="100000"/>
              </a:lnSpc>
              <a:spcBef>
                <a:spcPts val="100"/>
              </a:spcBef>
            </a:pPr>
            <a:r>
              <a:rPr sz="3000" b="1" spc="-5">
                <a:latin typeface="Calibri" panose="020F0502020204030204" pitchFamily="34" charset="0"/>
                <a:cs typeface="Calibri" panose="020F0502020204030204" pitchFamily="34" charset="0"/>
              </a:rPr>
              <a:t>ADD IN: SUBCLASSES, CONSTRAINTS, </a:t>
            </a:r>
            <a:r>
              <a:rPr sz="3000" b="1" spc="-819">
                <a:latin typeface="Calibri" panose="020F0502020204030204" pitchFamily="34" charset="0"/>
                <a:cs typeface="Calibri" panose="020F0502020204030204" pitchFamily="34" charset="0"/>
              </a:rPr>
              <a:t> </a:t>
            </a:r>
            <a:r>
              <a:rPr sz="3000" b="1" spc="-5">
                <a:latin typeface="Calibri" panose="020F0502020204030204" pitchFamily="34" charset="0"/>
                <a:cs typeface="Calibri" panose="020F0502020204030204" pitchFamily="34" charset="0"/>
              </a:rPr>
              <a:t>AND</a:t>
            </a:r>
            <a:r>
              <a:rPr sz="3000" b="1" spc="-10">
                <a:latin typeface="Calibri" panose="020F0502020204030204" pitchFamily="34" charset="0"/>
                <a:cs typeface="Calibri" panose="020F0502020204030204" pitchFamily="34" charset="0"/>
              </a:rPr>
              <a:t> </a:t>
            </a:r>
            <a:r>
              <a:rPr sz="3000" b="1" spc="-5">
                <a:latin typeface="Calibri" panose="020F0502020204030204" pitchFamily="34" charset="0"/>
                <a:cs typeface="Calibri" panose="020F0502020204030204" pitchFamily="34" charset="0"/>
              </a:rPr>
              <a:t>WEAK ENTITY</a:t>
            </a:r>
            <a:r>
              <a:rPr sz="3000" b="1" spc="-55">
                <a:latin typeface="Calibri" panose="020F0502020204030204" pitchFamily="34" charset="0"/>
                <a:cs typeface="Calibri" panose="020F0502020204030204" pitchFamily="34" charset="0"/>
              </a:rPr>
              <a:t> </a:t>
            </a:r>
            <a:r>
              <a:rPr sz="3000" b="1" spc="-5">
                <a:latin typeface="Calibri" panose="020F0502020204030204" pitchFamily="34" charset="0"/>
                <a:cs typeface="Calibri" panose="020F0502020204030204" pitchFamily="34" charset="0"/>
              </a:rPr>
              <a:t>SETS</a:t>
            </a:r>
            <a:endParaRPr sz="3000">
              <a:latin typeface="Calibri" panose="020F0502020204030204" pitchFamily="34" charset="0"/>
              <a:cs typeface="Calibri" panose="020F0502020204030204" pitchFamily="34" charset="0"/>
            </a:endParaRPr>
          </a:p>
        </p:txBody>
      </p:sp>
      <p:sp>
        <p:nvSpPr>
          <p:cNvPr id="6" name="object 6"/>
          <p:cNvSpPr txBox="1"/>
          <p:nvPr/>
        </p:nvSpPr>
        <p:spPr>
          <a:xfrm>
            <a:off x="2115228" y="4720166"/>
            <a:ext cx="1309370" cy="716280"/>
          </a:xfrm>
          <a:prstGeom prst="rect">
            <a:avLst/>
          </a:prstGeom>
        </p:spPr>
        <p:txBody>
          <a:bodyPr vert="horz" wrap="square" lIns="0" tIns="16510" rIns="0" bIns="0" rtlCol="0">
            <a:spAutoFit/>
          </a:bodyPr>
          <a:lstStyle/>
          <a:p>
            <a:pPr marL="12700" marR="5080" algn="just">
              <a:spcBef>
                <a:spcPts val="130"/>
              </a:spcBef>
            </a:pPr>
            <a:r>
              <a:rPr sz="1500" spc="-30">
                <a:latin typeface="Calibri"/>
                <a:cs typeface="Calibri"/>
              </a:rPr>
              <a:t>Teams </a:t>
            </a:r>
            <a:r>
              <a:rPr sz="1500">
                <a:latin typeface="Calibri"/>
                <a:cs typeface="Calibri"/>
              </a:rPr>
              <a:t>belong </a:t>
            </a:r>
            <a:r>
              <a:rPr sz="1500" spc="-20">
                <a:latin typeface="Calibri"/>
                <a:cs typeface="Calibri"/>
              </a:rPr>
              <a:t>to </a:t>
            </a:r>
            <a:r>
              <a:rPr sz="1500" spc="-325">
                <a:latin typeface="Calibri"/>
                <a:cs typeface="Calibri"/>
              </a:rPr>
              <a:t> </a:t>
            </a:r>
            <a:r>
              <a:rPr sz="1500">
                <a:latin typeface="Calibri"/>
                <a:cs typeface="Calibri"/>
              </a:rPr>
              <a:t>cities- model as </a:t>
            </a:r>
            <a:r>
              <a:rPr sz="1500" spc="5">
                <a:latin typeface="Calibri"/>
                <a:cs typeface="Calibri"/>
              </a:rPr>
              <a:t> </a:t>
            </a:r>
            <a:r>
              <a:rPr sz="1500" b="1" i="1" spc="-5">
                <a:latin typeface="Calibri"/>
                <a:cs typeface="Calibri"/>
              </a:rPr>
              <a:t>weak</a:t>
            </a:r>
            <a:r>
              <a:rPr sz="1500" b="1" i="1" spc="-35">
                <a:latin typeface="Calibri"/>
                <a:cs typeface="Calibri"/>
              </a:rPr>
              <a:t> </a:t>
            </a:r>
            <a:r>
              <a:rPr sz="1500" b="1" i="1" spc="-5">
                <a:latin typeface="Calibri"/>
                <a:cs typeface="Calibri"/>
              </a:rPr>
              <a:t>entity</a:t>
            </a:r>
            <a:r>
              <a:rPr sz="1500" b="1" i="1" spc="-45">
                <a:latin typeface="Calibri"/>
                <a:cs typeface="Calibri"/>
              </a:rPr>
              <a:t> </a:t>
            </a:r>
            <a:r>
              <a:rPr sz="1500" b="1" i="1" spc="-5">
                <a:latin typeface="Calibri"/>
                <a:cs typeface="Calibri"/>
              </a:rPr>
              <a:t>sets</a:t>
            </a:r>
            <a:endParaRPr sz="1500">
              <a:latin typeface="Calibri"/>
              <a:cs typeface="Calibri"/>
            </a:endParaRPr>
          </a:p>
        </p:txBody>
      </p:sp>
      <p:sp>
        <p:nvSpPr>
          <p:cNvPr id="7" name="object 7"/>
          <p:cNvSpPr txBox="1"/>
          <p:nvPr/>
        </p:nvSpPr>
        <p:spPr>
          <a:xfrm>
            <a:off x="3949886" y="4745566"/>
            <a:ext cx="1374775" cy="11734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a:t>
            </a:r>
            <a:r>
              <a:rPr sz="1500" spc="-40">
                <a:latin typeface="Calibri"/>
                <a:cs typeface="Calibri"/>
              </a:rPr>
              <a:t> </a:t>
            </a:r>
            <a:r>
              <a:rPr sz="1500" spc="-5">
                <a:latin typeface="Calibri"/>
                <a:cs typeface="Calibri"/>
              </a:rPr>
              <a:t>are</a:t>
            </a:r>
            <a:r>
              <a:rPr sz="1500" spc="-40">
                <a:latin typeface="Calibri"/>
                <a:cs typeface="Calibri"/>
              </a:rPr>
              <a:t> </a:t>
            </a:r>
            <a:r>
              <a:rPr sz="1500">
                <a:latin typeface="Calibri"/>
                <a:cs typeface="Calibri"/>
              </a:rPr>
              <a:t>either </a:t>
            </a:r>
            <a:r>
              <a:rPr sz="1500" spc="-325">
                <a:latin typeface="Calibri"/>
                <a:cs typeface="Calibri"/>
              </a:rPr>
              <a:t> </a:t>
            </a:r>
            <a:r>
              <a:rPr sz="1500" spc="5">
                <a:latin typeface="Calibri"/>
                <a:cs typeface="Calibri"/>
              </a:rPr>
              <a:t>on </a:t>
            </a:r>
            <a:r>
              <a:rPr sz="1500" spc="-10">
                <a:latin typeface="Calibri"/>
                <a:cs typeface="Calibri"/>
              </a:rPr>
              <a:t>Offense </a:t>
            </a:r>
            <a:r>
              <a:rPr sz="1500" spc="-15">
                <a:latin typeface="Calibri"/>
                <a:cs typeface="Calibri"/>
              </a:rPr>
              <a:t>or </a:t>
            </a:r>
            <a:r>
              <a:rPr sz="1500" spc="-10">
                <a:latin typeface="Calibri"/>
                <a:cs typeface="Calibri"/>
              </a:rPr>
              <a:t> Defense, </a:t>
            </a:r>
            <a:r>
              <a:rPr sz="1500">
                <a:latin typeface="Calibri"/>
                <a:cs typeface="Calibri"/>
              </a:rPr>
              <a:t>and </a:t>
            </a:r>
            <a:r>
              <a:rPr sz="1500" spc="-5">
                <a:latin typeface="Calibri"/>
                <a:cs typeface="Calibri"/>
              </a:rPr>
              <a:t>are </a:t>
            </a:r>
            <a:r>
              <a:rPr sz="1500" spc="-325">
                <a:latin typeface="Calibri"/>
                <a:cs typeface="Calibri"/>
              </a:rPr>
              <a:t> </a:t>
            </a:r>
            <a:r>
              <a:rPr sz="1500">
                <a:latin typeface="Calibri"/>
                <a:cs typeface="Calibri"/>
              </a:rPr>
              <a:t>of types </a:t>
            </a:r>
            <a:r>
              <a:rPr sz="1500" spc="-10">
                <a:latin typeface="Calibri"/>
                <a:cs typeface="Calibri"/>
              </a:rPr>
              <a:t>(QB, RB, </a:t>
            </a:r>
            <a:r>
              <a:rPr sz="1500" spc="-5">
                <a:latin typeface="Calibri"/>
                <a:cs typeface="Calibri"/>
              </a:rPr>
              <a:t> </a:t>
            </a:r>
            <a:r>
              <a:rPr sz="1500">
                <a:latin typeface="Calibri"/>
                <a:cs typeface="Calibri"/>
              </a:rPr>
              <a:t>WR,</a:t>
            </a:r>
            <a:r>
              <a:rPr sz="1500" spc="-20">
                <a:latin typeface="Calibri"/>
                <a:cs typeface="Calibri"/>
              </a:rPr>
              <a:t> </a:t>
            </a:r>
            <a:r>
              <a:rPr sz="1500">
                <a:latin typeface="Calibri"/>
                <a:cs typeface="Calibri"/>
              </a:rPr>
              <a:t>TE,</a:t>
            </a:r>
            <a:r>
              <a:rPr sz="1500" spc="-20">
                <a:latin typeface="Calibri"/>
                <a:cs typeface="Calibri"/>
              </a:rPr>
              <a:t> </a:t>
            </a:r>
            <a:r>
              <a:rPr sz="1500" spc="-15">
                <a:latin typeface="Calibri"/>
                <a:cs typeface="Calibri"/>
              </a:rPr>
              <a:t>K)</a:t>
            </a:r>
            <a:endParaRPr sz="1500">
              <a:latin typeface="Calibri"/>
              <a:cs typeface="Calibri"/>
            </a:endParaRPr>
          </a:p>
        </p:txBody>
      </p:sp>
      <p:pic>
        <p:nvPicPr>
          <p:cNvPr id="8" name="object 8"/>
          <p:cNvPicPr/>
          <p:nvPr/>
        </p:nvPicPr>
        <p:blipFill>
          <a:blip r:embed="rId2" cstate="print"/>
          <a:stretch>
            <a:fillRect/>
          </a:stretch>
        </p:blipFill>
        <p:spPr>
          <a:xfrm>
            <a:off x="5867400" y="3454400"/>
            <a:ext cx="1363132" cy="1134533"/>
          </a:xfrm>
          <a:prstGeom prst="rect">
            <a:avLst/>
          </a:prstGeom>
        </p:spPr>
      </p:pic>
      <p:sp>
        <p:nvSpPr>
          <p:cNvPr id="9" name="object 9"/>
          <p:cNvSpPr txBox="1"/>
          <p:nvPr/>
        </p:nvSpPr>
        <p:spPr>
          <a:xfrm>
            <a:off x="5942911" y="4770966"/>
            <a:ext cx="1159510" cy="1173480"/>
          </a:xfrm>
          <a:prstGeom prst="rect">
            <a:avLst/>
          </a:prstGeom>
        </p:spPr>
        <p:txBody>
          <a:bodyPr vert="horz" wrap="square" lIns="0" tIns="16510" rIns="0" bIns="0" rtlCol="0">
            <a:spAutoFit/>
          </a:bodyPr>
          <a:lstStyle/>
          <a:p>
            <a:pPr marL="12700" marR="5080">
              <a:spcBef>
                <a:spcPts val="130"/>
              </a:spcBef>
            </a:pPr>
            <a:r>
              <a:rPr sz="1500">
                <a:latin typeface="Calibri"/>
                <a:cs typeface="Calibri"/>
              </a:rPr>
              <a:t>All </a:t>
            </a:r>
            <a:r>
              <a:rPr sz="1500" spc="-5">
                <a:latin typeface="Calibri"/>
                <a:cs typeface="Calibri"/>
              </a:rPr>
              <a:t>passes are </a:t>
            </a:r>
            <a:r>
              <a:rPr sz="1500">
                <a:latin typeface="Calibri"/>
                <a:cs typeface="Calibri"/>
              </a:rPr>
              <a:t> </a:t>
            </a:r>
            <a:r>
              <a:rPr sz="1500" spc="-5">
                <a:latin typeface="Calibri"/>
                <a:cs typeface="Calibri"/>
              </a:rPr>
              <a:t>to </a:t>
            </a:r>
            <a:r>
              <a:rPr sz="1500" spc="-10">
                <a:latin typeface="Calibri"/>
                <a:cs typeface="Calibri"/>
              </a:rPr>
              <a:t>exactly </a:t>
            </a:r>
            <a:r>
              <a:rPr sz="1500">
                <a:latin typeface="Calibri"/>
                <a:cs typeface="Calibri"/>
              </a:rPr>
              <a:t>one </a:t>
            </a:r>
            <a:r>
              <a:rPr sz="1500" spc="5">
                <a:latin typeface="Calibri"/>
                <a:cs typeface="Calibri"/>
              </a:rPr>
              <a:t> </a:t>
            </a:r>
            <a:r>
              <a:rPr sz="1500" spc="-10">
                <a:latin typeface="Calibri"/>
                <a:cs typeface="Calibri"/>
              </a:rPr>
              <a:t>player;</a:t>
            </a:r>
            <a:r>
              <a:rPr sz="1500" spc="-50">
                <a:latin typeface="Calibri"/>
                <a:cs typeface="Calibri"/>
              </a:rPr>
              <a:t> </a:t>
            </a:r>
            <a:r>
              <a:rPr sz="1500">
                <a:latin typeface="Calibri"/>
                <a:cs typeface="Calibri"/>
              </a:rPr>
              <a:t>all</a:t>
            </a:r>
            <a:r>
              <a:rPr sz="1500" spc="-35">
                <a:latin typeface="Calibri"/>
                <a:cs typeface="Calibri"/>
              </a:rPr>
              <a:t> </a:t>
            </a:r>
            <a:r>
              <a:rPr sz="1500" spc="-5">
                <a:latin typeface="Calibri"/>
                <a:cs typeface="Calibri"/>
              </a:rPr>
              <a:t>runs </a:t>
            </a:r>
            <a:r>
              <a:rPr sz="1500" spc="-325">
                <a:latin typeface="Calibri"/>
                <a:cs typeface="Calibri"/>
              </a:rPr>
              <a:t> </a:t>
            </a:r>
            <a:r>
              <a:rPr sz="1500">
                <a:latin typeface="Calibri"/>
                <a:cs typeface="Calibri"/>
              </a:rPr>
              <a:t>include </a:t>
            </a:r>
            <a:r>
              <a:rPr sz="1500" spc="15">
                <a:latin typeface="Calibri"/>
                <a:cs typeface="Calibri"/>
              </a:rPr>
              <a:t>a </a:t>
            </a:r>
            <a:r>
              <a:rPr sz="1500" spc="20">
                <a:latin typeface="Calibri"/>
                <a:cs typeface="Calibri"/>
              </a:rPr>
              <a:t> </a:t>
            </a:r>
            <a:r>
              <a:rPr sz="1500" spc="-10">
                <a:latin typeface="Calibri"/>
                <a:cs typeface="Calibri"/>
              </a:rPr>
              <a:t>player</a:t>
            </a:r>
            <a:endParaRPr sz="1500">
              <a:latin typeface="Calibri"/>
              <a:cs typeface="Calibri"/>
            </a:endParaRPr>
          </a:p>
        </p:txBody>
      </p:sp>
      <p:sp>
        <p:nvSpPr>
          <p:cNvPr id="10" name="object 10"/>
          <p:cNvSpPr txBox="1"/>
          <p:nvPr/>
        </p:nvSpPr>
        <p:spPr>
          <a:xfrm>
            <a:off x="2231391" y="2798232"/>
            <a:ext cx="2708275" cy="299720"/>
          </a:xfrm>
          <a:prstGeom prst="rect">
            <a:avLst/>
          </a:prstGeom>
        </p:spPr>
        <p:txBody>
          <a:bodyPr vert="horz" wrap="square" lIns="0" tIns="12700" rIns="0" bIns="0" rtlCol="0">
            <a:spAutoFit/>
          </a:bodyPr>
          <a:lstStyle/>
          <a:p>
            <a:pPr marL="12700">
              <a:spcBef>
                <a:spcPts val="100"/>
              </a:spcBef>
            </a:pPr>
            <a:r>
              <a:rPr spc="-5">
                <a:latin typeface="Calibri"/>
                <a:cs typeface="Calibri"/>
              </a:rPr>
              <a:t>Concepts </a:t>
            </a:r>
            <a:r>
              <a:rPr spc="-15">
                <a:latin typeface="Calibri"/>
                <a:cs typeface="Calibri"/>
              </a:rPr>
              <a:t>to</a:t>
            </a:r>
            <a:r>
              <a:rPr>
                <a:latin typeface="Calibri"/>
                <a:cs typeface="Calibri"/>
              </a:rPr>
              <a:t> </a:t>
            </a:r>
            <a:r>
              <a:rPr spc="-5">
                <a:latin typeface="Calibri"/>
                <a:cs typeface="Calibri"/>
              </a:rPr>
              <a:t>include</a:t>
            </a:r>
            <a:r>
              <a:rPr spc="5">
                <a:latin typeface="Calibri"/>
                <a:cs typeface="Calibri"/>
              </a:rPr>
              <a:t> </a:t>
            </a:r>
            <a:r>
              <a:rPr>
                <a:latin typeface="Calibri"/>
                <a:cs typeface="Calibri"/>
              </a:rPr>
              <a:t>/</a:t>
            </a:r>
            <a:r>
              <a:rPr spc="10">
                <a:latin typeface="Calibri"/>
                <a:cs typeface="Calibri"/>
              </a:rPr>
              <a:t> </a:t>
            </a:r>
            <a:r>
              <a:rPr spc="-5">
                <a:latin typeface="Calibri"/>
                <a:cs typeface="Calibri"/>
              </a:rPr>
              <a:t>model:</a:t>
            </a:r>
            <a:endParaRPr>
              <a:latin typeface="Calibri"/>
              <a:cs typeface="Calibri"/>
            </a:endParaRPr>
          </a:p>
        </p:txBody>
      </p:sp>
      <p:pic>
        <p:nvPicPr>
          <p:cNvPr id="11" name="object 11"/>
          <p:cNvPicPr/>
          <p:nvPr/>
        </p:nvPicPr>
        <p:blipFill>
          <a:blip r:embed="rId3" cstate="print"/>
          <a:stretch>
            <a:fillRect/>
          </a:stretch>
        </p:blipFill>
        <p:spPr>
          <a:xfrm>
            <a:off x="7975600" y="3454400"/>
            <a:ext cx="1346200" cy="1117600"/>
          </a:xfrm>
          <a:prstGeom prst="rect">
            <a:avLst/>
          </a:prstGeom>
        </p:spPr>
      </p:pic>
      <p:sp>
        <p:nvSpPr>
          <p:cNvPr id="12" name="object 12"/>
          <p:cNvSpPr txBox="1"/>
          <p:nvPr/>
        </p:nvSpPr>
        <p:spPr>
          <a:xfrm>
            <a:off x="7907053" y="4720166"/>
            <a:ext cx="1539240" cy="1121410"/>
          </a:xfrm>
          <a:prstGeom prst="rect">
            <a:avLst/>
          </a:prstGeom>
        </p:spPr>
        <p:txBody>
          <a:bodyPr vert="horz" wrap="square" lIns="0" tIns="13335" rIns="0" bIns="0" rtlCol="0">
            <a:spAutoFit/>
          </a:bodyPr>
          <a:lstStyle/>
          <a:p>
            <a:pPr marL="12065" marR="5080" indent="635" algn="ctr">
              <a:lnSpc>
                <a:spcPct val="99800"/>
              </a:lnSpc>
              <a:spcBef>
                <a:spcPts val="105"/>
              </a:spcBef>
            </a:pPr>
            <a:r>
              <a:rPr spc="-20">
                <a:latin typeface="Calibri"/>
                <a:cs typeface="Calibri"/>
              </a:rPr>
              <a:t>Make</a:t>
            </a:r>
            <a:r>
              <a:rPr spc="-10">
                <a:latin typeface="Calibri"/>
                <a:cs typeface="Calibri"/>
              </a:rPr>
              <a:t> sure</a:t>
            </a:r>
            <a:r>
              <a:rPr spc="-5">
                <a:latin typeface="Calibri"/>
                <a:cs typeface="Calibri"/>
              </a:rPr>
              <a:t> </a:t>
            </a:r>
            <a:r>
              <a:rPr spc="-10">
                <a:latin typeface="Calibri"/>
                <a:cs typeface="Calibri"/>
              </a:rPr>
              <a:t>you </a:t>
            </a:r>
            <a:r>
              <a:rPr spc="-5">
                <a:latin typeface="Calibri"/>
                <a:cs typeface="Calibri"/>
              </a:rPr>
              <a:t> </a:t>
            </a:r>
            <a:r>
              <a:rPr spc="-15">
                <a:latin typeface="Calibri"/>
                <a:cs typeface="Calibri"/>
              </a:rPr>
              <a:t>have </a:t>
            </a:r>
            <a:r>
              <a:rPr spc="-10">
                <a:latin typeface="Calibri"/>
                <a:cs typeface="Calibri"/>
              </a:rPr>
              <a:t>designated </a:t>
            </a:r>
            <a:r>
              <a:rPr spc="-395">
                <a:latin typeface="Calibri"/>
                <a:cs typeface="Calibri"/>
              </a:rPr>
              <a:t> </a:t>
            </a:r>
            <a:r>
              <a:rPr spc="-25">
                <a:latin typeface="Calibri"/>
                <a:cs typeface="Calibri"/>
              </a:rPr>
              <a:t>keys</a:t>
            </a:r>
            <a:r>
              <a:rPr spc="-15">
                <a:latin typeface="Calibri"/>
                <a:cs typeface="Calibri"/>
              </a:rPr>
              <a:t> for</a:t>
            </a:r>
            <a:r>
              <a:rPr spc="-10">
                <a:latin typeface="Calibri"/>
                <a:cs typeface="Calibri"/>
              </a:rPr>
              <a:t> </a:t>
            </a:r>
            <a:r>
              <a:rPr spc="-5">
                <a:latin typeface="Calibri"/>
                <a:cs typeface="Calibri"/>
              </a:rPr>
              <a:t>all</a:t>
            </a:r>
            <a:r>
              <a:rPr spc="-10">
                <a:latin typeface="Calibri"/>
                <a:cs typeface="Calibri"/>
              </a:rPr>
              <a:t> </a:t>
            </a:r>
            <a:r>
              <a:rPr>
                <a:latin typeface="Calibri"/>
                <a:cs typeface="Calibri"/>
              </a:rPr>
              <a:t>our </a:t>
            </a:r>
            <a:r>
              <a:rPr spc="5">
                <a:latin typeface="Calibri"/>
                <a:cs typeface="Calibri"/>
              </a:rPr>
              <a:t> </a:t>
            </a:r>
            <a:r>
              <a:rPr spc="-5">
                <a:latin typeface="Calibri"/>
                <a:cs typeface="Calibri"/>
              </a:rPr>
              <a:t>concepts!</a:t>
            </a:r>
            <a:endParaRPr>
              <a:latin typeface="Calibri"/>
              <a:cs typeface="Calibri"/>
            </a:endParaRPr>
          </a:p>
        </p:txBody>
      </p:sp>
      <p:pic>
        <p:nvPicPr>
          <p:cNvPr id="13" name="object 13"/>
          <p:cNvPicPr/>
          <p:nvPr/>
        </p:nvPicPr>
        <p:blipFill>
          <a:blip r:embed="rId4" cstate="print"/>
          <a:stretch>
            <a:fillRect/>
          </a:stretch>
        </p:blipFill>
        <p:spPr>
          <a:xfrm>
            <a:off x="2192866" y="3547533"/>
            <a:ext cx="1481666" cy="1041400"/>
          </a:xfrm>
          <a:prstGeom prst="rect">
            <a:avLst/>
          </a:prstGeom>
        </p:spPr>
      </p:pic>
      <p:pic>
        <p:nvPicPr>
          <p:cNvPr id="14" name="object 14"/>
          <p:cNvPicPr/>
          <p:nvPr/>
        </p:nvPicPr>
        <p:blipFill>
          <a:blip r:embed="rId5" cstate="print"/>
          <a:stretch>
            <a:fillRect/>
          </a:stretch>
        </p:blipFill>
        <p:spPr>
          <a:xfrm>
            <a:off x="3979332" y="3496733"/>
            <a:ext cx="1701800" cy="1143000"/>
          </a:xfrm>
          <a:prstGeom prst="rect">
            <a:avLst/>
          </a:prstGeom>
        </p:spPr>
      </p:pic>
      <p:sp>
        <p:nvSpPr>
          <p:cNvPr id="2" name="Slide Number Placeholder 1">
            <a:extLst>
              <a:ext uri="{FF2B5EF4-FFF2-40B4-BE49-F238E27FC236}">
                <a16:creationId xmlns:a16="http://schemas.microsoft.com/office/drawing/2014/main" id="{AAB99691-A194-4F5E-9F30-1FF978E34E5B}"/>
              </a:ext>
            </a:extLst>
          </p:cNvPr>
          <p:cNvSpPr>
            <a:spLocks noGrp="1"/>
          </p:cNvSpPr>
          <p:nvPr>
            <p:ph type="sldNum" sz="quarter" idx="12"/>
          </p:nvPr>
        </p:nvSpPr>
        <p:spPr/>
        <p:txBody>
          <a:bodyPr/>
          <a:lstStyle/>
          <a:p>
            <a:fld id="{641C0F02-33DC-3A41-9F51-431B7FE03ABE}" type="slidenum">
              <a:rPr lang="en-US" smtClean="0"/>
              <a:t>103</a:t>
            </a:fld>
            <a:endParaRPr lang="en-US"/>
          </a:p>
        </p:txBody>
      </p:sp>
    </p:spTree>
    <p:extLst>
      <p:ext uri="{BB962C8B-B14F-4D97-AF65-F5344CB8AC3E}">
        <p14:creationId xmlns:p14="http://schemas.microsoft.com/office/powerpoint/2010/main" val="29487086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11927" y="2170507"/>
            <a:ext cx="735965" cy="319405"/>
            <a:chOff x="4087926" y="2170506"/>
            <a:chExt cx="735965" cy="319405"/>
          </a:xfrm>
        </p:grpSpPr>
        <p:sp>
          <p:nvSpPr>
            <p:cNvPr id="3" name="object 3"/>
            <p:cNvSpPr/>
            <p:nvPr/>
          </p:nvSpPr>
          <p:spPr>
            <a:xfrm>
              <a:off x="4092689" y="2175268"/>
              <a:ext cx="726440" cy="309880"/>
            </a:xfrm>
            <a:custGeom>
              <a:avLst/>
              <a:gdLst/>
              <a:ahLst/>
              <a:cxnLst/>
              <a:rect l="l" t="t" r="r" b="b"/>
              <a:pathLst>
                <a:path w="726439" h="309880">
                  <a:moveTo>
                    <a:pt x="726056" y="0"/>
                  </a:moveTo>
                  <a:lnTo>
                    <a:pt x="0" y="0"/>
                  </a:lnTo>
                  <a:lnTo>
                    <a:pt x="0" y="309752"/>
                  </a:lnTo>
                  <a:lnTo>
                    <a:pt x="726056" y="309752"/>
                  </a:lnTo>
                  <a:lnTo>
                    <a:pt x="726056" y="0"/>
                  </a:lnTo>
                  <a:close/>
                </a:path>
              </a:pathLst>
            </a:custGeom>
            <a:solidFill>
              <a:srgbClr val="F2DCDB"/>
            </a:solidFill>
          </p:spPr>
          <p:txBody>
            <a:bodyPr wrap="square" lIns="0" tIns="0" rIns="0" bIns="0" rtlCol="0"/>
            <a:lstStyle/>
            <a:p>
              <a:endParaRPr/>
            </a:p>
          </p:txBody>
        </p:sp>
        <p:sp>
          <p:nvSpPr>
            <p:cNvPr id="4" name="object 4"/>
            <p:cNvSpPr/>
            <p:nvPr/>
          </p:nvSpPr>
          <p:spPr>
            <a:xfrm>
              <a:off x="4092689" y="2175268"/>
              <a:ext cx="726440" cy="309880"/>
            </a:xfrm>
            <a:custGeom>
              <a:avLst/>
              <a:gdLst/>
              <a:ahLst/>
              <a:cxnLst/>
              <a:rect l="l" t="t" r="r" b="b"/>
              <a:pathLst>
                <a:path w="726439" h="309880">
                  <a:moveTo>
                    <a:pt x="0" y="0"/>
                  </a:moveTo>
                  <a:lnTo>
                    <a:pt x="726057" y="0"/>
                  </a:lnTo>
                  <a:lnTo>
                    <a:pt x="726057" y="309753"/>
                  </a:lnTo>
                  <a:lnTo>
                    <a:pt x="0" y="309753"/>
                  </a:lnTo>
                  <a:lnTo>
                    <a:pt x="0" y="0"/>
                  </a:lnTo>
                  <a:close/>
                </a:path>
              </a:pathLst>
            </a:custGeom>
            <a:ln w="9525">
              <a:solidFill>
                <a:srgbClr val="000000"/>
              </a:solidFill>
            </a:ln>
          </p:spPr>
          <p:txBody>
            <a:bodyPr wrap="square" lIns="0" tIns="0" rIns="0" bIns="0" rtlCol="0"/>
            <a:lstStyle/>
            <a:p>
              <a:endParaRPr/>
            </a:p>
          </p:txBody>
        </p:sp>
      </p:grpSp>
      <p:grpSp>
        <p:nvGrpSpPr>
          <p:cNvPr id="5" name="object 5"/>
          <p:cNvGrpSpPr/>
          <p:nvPr/>
        </p:nvGrpSpPr>
        <p:grpSpPr>
          <a:xfrm>
            <a:off x="5543859" y="1521838"/>
            <a:ext cx="871855" cy="654050"/>
            <a:chOff x="4019858" y="1521838"/>
            <a:chExt cx="871855" cy="654050"/>
          </a:xfrm>
        </p:grpSpPr>
        <p:sp>
          <p:nvSpPr>
            <p:cNvPr id="6" name="object 6"/>
            <p:cNvSpPr/>
            <p:nvPr/>
          </p:nvSpPr>
          <p:spPr>
            <a:xfrm>
              <a:off x="4455717" y="1924855"/>
              <a:ext cx="0" cy="250825"/>
            </a:xfrm>
            <a:custGeom>
              <a:avLst/>
              <a:gdLst/>
              <a:ahLst/>
              <a:cxnLst/>
              <a:rect l="l" t="t" r="r" b="b"/>
              <a:pathLst>
                <a:path h="250825">
                  <a:moveTo>
                    <a:pt x="0" y="0"/>
                  </a:moveTo>
                  <a:lnTo>
                    <a:pt x="1" y="250413"/>
                  </a:lnTo>
                </a:path>
              </a:pathLst>
            </a:custGeom>
            <a:solidFill>
              <a:srgbClr val="C0C0C0">
                <a:alpha val="50199"/>
              </a:srgbClr>
            </a:solidFill>
          </p:spPr>
          <p:txBody>
            <a:bodyPr wrap="square" lIns="0" tIns="0" rIns="0" bIns="0" rtlCol="0"/>
            <a:lstStyle/>
            <a:p>
              <a:endParaRPr/>
            </a:p>
          </p:txBody>
        </p:sp>
        <p:sp>
          <p:nvSpPr>
            <p:cNvPr id="7" name="object 7"/>
            <p:cNvSpPr/>
            <p:nvPr/>
          </p:nvSpPr>
          <p:spPr>
            <a:xfrm>
              <a:off x="4455717" y="1924855"/>
              <a:ext cx="0" cy="250825"/>
            </a:xfrm>
            <a:custGeom>
              <a:avLst/>
              <a:gdLst/>
              <a:ahLst/>
              <a:cxnLst/>
              <a:rect l="l" t="t" r="r" b="b"/>
              <a:pathLst>
                <a:path h="250825">
                  <a:moveTo>
                    <a:pt x="0" y="0"/>
                  </a:moveTo>
                  <a:lnTo>
                    <a:pt x="1" y="250414"/>
                  </a:lnTo>
                </a:path>
              </a:pathLst>
            </a:custGeom>
            <a:ln w="9525">
              <a:solidFill>
                <a:srgbClr val="000000"/>
              </a:solidFill>
            </a:ln>
          </p:spPr>
          <p:txBody>
            <a:bodyPr wrap="square" lIns="0" tIns="0" rIns="0" bIns="0" rtlCol="0"/>
            <a:lstStyle/>
            <a:p>
              <a:endParaRPr/>
            </a:p>
          </p:txBody>
        </p:sp>
        <p:sp>
          <p:nvSpPr>
            <p:cNvPr id="8" name="object 8"/>
            <p:cNvSpPr/>
            <p:nvPr/>
          </p:nvSpPr>
          <p:spPr>
            <a:xfrm>
              <a:off x="4024621" y="1526601"/>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9" name="object 9"/>
            <p:cNvSpPr/>
            <p:nvPr/>
          </p:nvSpPr>
          <p:spPr>
            <a:xfrm>
              <a:off x="4024621" y="1526601"/>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grpSp>
        <p:nvGrpSpPr>
          <p:cNvPr id="10" name="object 10"/>
          <p:cNvGrpSpPr/>
          <p:nvPr/>
        </p:nvGrpSpPr>
        <p:grpSpPr>
          <a:xfrm>
            <a:off x="5493747" y="2808616"/>
            <a:ext cx="972185" cy="424180"/>
            <a:chOff x="3969746" y="2808616"/>
            <a:chExt cx="972185" cy="424180"/>
          </a:xfrm>
        </p:grpSpPr>
        <p:sp>
          <p:nvSpPr>
            <p:cNvPr id="11" name="object 11"/>
            <p:cNvSpPr/>
            <p:nvPr/>
          </p:nvSpPr>
          <p:spPr>
            <a:xfrm>
              <a:off x="3982446" y="2821316"/>
              <a:ext cx="946785" cy="398780"/>
            </a:xfrm>
            <a:custGeom>
              <a:avLst/>
              <a:gdLst/>
              <a:ahLst/>
              <a:cxnLst/>
              <a:rect l="l" t="t" r="r" b="b"/>
              <a:pathLst>
                <a:path w="946785" h="398780">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12" name="object 12"/>
            <p:cNvSpPr/>
            <p:nvPr/>
          </p:nvSpPr>
          <p:spPr>
            <a:xfrm>
              <a:off x="3982446" y="2821316"/>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25400">
              <a:solidFill>
                <a:srgbClr val="000000"/>
              </a:solidFill>
            </a:ln>
          </p:spPr>
          <p:txBody>
            <a:bodyPr wrap="square" lIns="0" tIns="0" rIns="0" bIns="0" rtlCol="0"/>
            <a:lstStyle/>
            <a:p>
              <a:endParaRPr/>
            </a:p>
          </p:txBody>
        </p:sp>
      </p:grpSp>
      <p:sp>
        <p:nvSpPr>
          <p:cNvPr id="13" name="object 13"/>
          <p:cNvSpPr txBox="1"/>
          <p:nvPr/>
        </p:nvSpPr>
        <p:spPr>
          <a:xfrm>
            <a:off x="5665963" y="2908299"/>
            <a:ext cx="628650" cy="197490"/>
          </a:xfrm>
          <a:prstGeom prst="rect">
            <a:avLst/>
          </a:prstGeom>
        </p:spPr>
        <p:txBody>
          <a:bodyPr vert="horz" wrap="square" lIns="0" tIns="12700" rIns="0" bIns="0" rtlCol="0">
            <a:spAutoFit/>
          </a:bodyPr>
          <a:lstStyle/>
          <a:p>
            <a:pPr marL="12700">
              <a:spcBef>
                <a:spcPts val="100"/>
              </a:spcBef>
            </a:pPr>
            <a:r>
              <a:rPr sz="1200" spc="-10">
                <a:latin typeface="Calibri"/>
                <a:cs typeface="Calibri"/>
              </a:rPr>
              <a:t>LocatedIn</a:t>
            </a:r>
            <a:endParaRPr sz="1200">
              <a:latin typeface="Calibri"/>
              <a:cs typeface="Calibri"/>
            </a:endParaRPr>
          </a:p>
        </p:txBody>
      </p:sp>
      <p:grpSp>
        <p:nvGrpSpPr>
          <p:cNvPr id="14" name="object 14"/>
          <p:cNvGrpSpPr/>
          <p:nvPr/>
        </p:nvGrpSpPr>
        <p:grpSpPr>
          <a:xfrm>
            <a:off x="5850466" y="2463801"/>
            <a:ext cx="262890" cy="1006475"/>
            <a:chOff x="4326466" y="2463800"/>
            <a:chExt cx="262890" cy="1006475"/>
          </a:xfrm>
        </p:grpSpPr>
        <p:sp>
          <p:nvSpPr>
            <p:cNvPr id="15" name="object 15"/>
            <p:cNvSpPr/>
            <p:nvPr/>
          </p:nvSpPr>
          <p:spPr>
            <a:xfrm>
              <a:off x="4455717" y="2485022"/>
              <a:ext cx="0" cy="336550"/>
            </a:xfrm>
            <a:custGeom>
              <a:avLst/>
              <a:gdLst/>
              <a:ahLst/>
              <a:cxnLst/>
              <a:rect l="l" t="t" r="r" b="b"/>
              <a:pathLst>
                <a:path h="336550">
                  <a:moveTo>
                    <a:pt x="1" y="0"/>
                  </a:moveTo>
                  <a:lnTo>
                    <a:pt x="0" y="336294"/>
                  </a:lnTo>
                </a:path>
              </a:pathLst>
            </a:custGeom>
            <a:solidFill>
              <a:srgbClr val="C0C0C0">
                <a:alpha val="50199"/>
              </a:srgbClr>
            </a:solidFill>
          </p:spPr>
          <p:txBody>
            <a:bodyPr wrap="square" lIns="0" tIns="0" rIns="0" bIns="0" rtlCol="0"/>
            <a:lstStyle/>
            <a:p>
              <a:endParaRPr/>
            </a:p>
          </p:txBody>
        </p:sp>
        <p:sp>
          <p:nvSpPr>
            <p:cNvPr id="16" name="object 16"/>
            <p:cNvSpPr/>
            <p:nvPr/>
          </p:nvSpPr>
          <p:spPr>
            <a:xfrm>
              <a:off x="4455717" y="2485022"/>
              <a:ext cx="0" cy="336550"/>
            </a:xfrm>
            <a:custGeom>
              <a:avLst/>
              <a:gdLst/>
              <a:ahLst/>
              <a:cxnLst/>
              <a:rect l="l" t="t" r="r" b="b"/>
              <a:pathLst>
                <a:path h="336550">
                  <a:moveTo>
                    <a:pt x="0" y="336295"/>
                  </a:moveTo>
                  <a:lnTo>
                    <a:pt x="1" y="0"/>
                  </a:lnTo>
                </a:path>
              </a:pathLst>
            </a:custGeom>
            <a:ln w="9525">
              <a:solidFill>
                <a:srgbClr val="000000"/>
              </a:solidFill>
            </a:ln>
          </p:spPr>
          <p:txBody>
            <a:bodyPr wrap="square" lIns="0" tIns="0" rIns="0" bIns="0" rtlCol="0"/>
            <a:lstStyle/>
            <a:p>
              <a:endParaRPr/>
            </a:p>
          </p:txBody>
        </p:sp>
        <p:sp>
          <p:nvSpPr>
            <p:cNvPr id="17" name="object 17"/>
            <p:cNvSpPr/>
            <p:nvPr/>
          </p:nvSpPr>
          <p:spPr>
            <a:xfrm>
              <a:off x="4455717" y="3219570"/>
              <a:ext cx="0" cy="250825"/>
            </a:xfrm>
            <a:custGeom>
              <a:avLst/>
              <a:gdLst/>
              <a:ahLst/>
              <a:cxnLst/>
              <a:rect l="l" t="t" r="r" b="b"/>
              <a:pathLst>
                <a:path h="250825">
                  <a:moveTo>
                    <a:pt x="1" y="0"/>
                  </a:moveTo>
                  <a:lnTo>
                    <a:pt x="0" y="250414"/>
                  </a:lnTo>
                </a:path>
              </a:pathLst>
            </a:custGeom>
            <a:solidFill>
              <a:srgbClr val="C0C0C0">
                <a:alpha val="50199"/>
              </a:srgbClr>
            </a:solidFill>
          </p:spPr>
          <p:txBody>
            <a:bodyPr wrap="square" lIns="0" tIns="0" rIns="0" bIns="0" rtlCol="0"/>
            <a:lstStyle/>
            <a:p>
              <a:endParaRPr/>
            </a:p>
          </p:txBody>
        </p:sp>
        <p:sp>
          <p:nvSpPr>
            <p:cNvPr id="18" name="object 18"/>
            <p:cNvSpPr/>
            <p:nvPr/>
          </p:nvSpPr>
          <p:spPr>
            <a:xfrm>
              <a:off x="4455717" y="3219570"/>
              <a:ext cx="0" cy="250825"/>
            </a:xfrm>
            <a:custGeom>
              <a:avLst/>
              <a:gdLst/>
              <a:ahLst/>
              <a:cxnLst/>
              <a:rect l="l" t="t" r="r" b="b"/>
              <a:pathLst>
                <a:path h="250825">
                  <a:moveTo>
                    <a:pt x="0" y="250415"/>
                  </a:moveTo>
                  <a:lnTo>
                    <a:pt x="1" y="0"/>
                  </a:lnTo>
                </a:path>
              </a:pathLst>
            </a:custGeom>
            <a:ln w="9525">
              <a:solidFill>
                <a:srgbClr val="000000"/>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4326466" y="2463800"/>
              <a:ext cx="262466" cy="508000"/>
            </a:xfrm>
            <a:prstGeom prst="rect">
              <a:avLst/>
            </a:prstGeom>
          </p:spPr>
        </p:pic>
        <p:sp>
          <p:nvSpPr>
            <p:cNvPr id="20" name="object 20"/>
            <p:cNvSpPr/>
            <p:nvPr/>
          </p:nvSpPr>
          <p:spPr>
            <a:xfrm>
              <a:off x="4412854" y="2485022"/>
              <a:ext cx="85725" cy="336550"/>
            </a:xfrm>
            <a:custGeom>
              <a:avLst/>
              <a:gdLst/>
              <a:ahLst/>
              <a:cxnLst/>
              <a:rect l="l" t="t" r="r" b="b"/>
              <a:pathLst>
                <a:path w="85725" h="336550">
                  <a:moveTo>
                    <a:pt x="28575" y="250569"/>
                  </a:moveTo>
                  <a:lnTo>
                    <a:pt x="0" y="250569"/>
                  </a:lnTo>
                  <a:lnTo>
                    <a:pt x="42863" y="336294"/>
                  </a:lnTo>
                  <a:lnTo>
                    <a:pt x="78581" y="264857"/>
                  </a:lnTo>
                  <a:lnTo>
                    <a:pt x="28575" y="264857"/>
                  </a:lnTo>
                  <a:lnTo>
                    <a:pt x="28575" y="250569"/>
                  </a:lnTo>
                  <a:close/>
                </a:path>
                <a:path w="85725" h="336550">
                  <a:moveTo>
                    <a:pt x="57150" y="0"/>
                  </a:moveTo>
                  <a:lnTo>
                    <a:pt x="28575" y="0"/>
                  </a:lnTo>
                  <a:lnTo>
                    <a:pt x="28575" y="264857"/>
                  </a:lnTo>
                  <a:lnTo>
                    <a:pt x="57150" y="264857"/>
                  </a:lnTo>
                  <a:lnTo>
                    <a:pt x="57150" y="0"/>
                  </a:lnTo>
                  <a:close/>
                </a:path>
                <a:path w="85725" h="336550">
                  <a:moveTo>
                    <a:pt x="85725" y="250569"/>
                  </a:moveTo>
                  <a:lnTo>
                    <a:pt x="57150" y="250569"/>
                  </a:lnTo>
                  <a:lnTo>
                    <a:pt x="57150" y="264857"/>
                  </a:lnTo>
                  <a:lnTo>
                    <a:pt x="78581" y="264857"/>
                  </a:lnTo>
                  <a:lnTo>
                    <a:pt x="85725" y="250569"/>
                  </a:lnTo>
                  <a:close/>
                </a:path>
              </a:pathLst>
            </a:custGeom>
            <a:solidFill>
              <a:srgbClr val="000000"/>
            </a:solidFill>
          </p:spPr>
          <p:txBody>
            <a:bodyPr wrap="square" lIns="0" tIns="0" rIns="0" bIns="0" rtlCol="0"/>
            <a:lstStyle/>
            <a:p>
              <a:endParaRPr/>
            </a:p>
          </p:txBody>
        </p:sp>
      </p:grpSp>
      <p:sp>
        <p:nvSpPr>
          <p:cNvPr id="21" name="object 21"/>
          <p:cNvSpPr txBox="1"/>
          <p:nvPr/>
        </p:nvSpPr>
        <p:spPr>
          <a:xfrm>
            <a:off x="5616689" y="3469986"/>
            <a:ext cx="726440" cy="237243"/>
          </a:xfrm>
          <a:prstGeom prst="rect">
            <a:avLst/>
          </a:prstGeom>
          <a:solidFill>
            <a:srgbClr val="F2DCDB"/>
          </a:solidFill>
          <a:ln w="9525">
            <a:solidFill>
              <a:srgbClr val="000000"/>
            </a:solidFill>
          </a:ln>
        </p:spPr>
        <p:txBody>
          <a:bodyPr vert="horz" wrap="square" lIns="0" tIns="52069" rIns="0" bIns="0" rtlCol="0">
            <a:spAutoFit/>
          </a:bodyPr>
          <a:lstStyle/>
          <a:p>
            <a:pPr marL="193675">
              <a:spcBef>
                <a:spcPts val="409"/>
              </a:spcBef>
            </a:pPr>
            <a:r>
              <a:rPr sz="1200" spc="-5">
                <a:latin typeface="Calibri"/>
                <a:cs typeface="Calibri"/>
              </a:rPr>
              <a:t>Cities</a:t>
            </a:r>
            <a:endParaRPr sz="1200">
              <a:latin typeface="Calibri"/>
              <a:cs typeface="Calibri"/>
            </a:endParaRPr>
          </a:p>
        </p:txBody>
      </p:sp>
      <p:sp>
        <p:nvSpPr>
          <p:cNvPr id="22" name="object 22"/>
          <p:cNvSpPr txBox="1"/>
          <p:nvPr/>
        </p:nvSpPr>
        <p:spPr>
          <a:xfrm>
            <a:off x="5598336" y="1612900"/>
            <a:ext cx="762000" cy="809625"/>
          </a:xfrm>
          <a:prstGeom prst="rect">
            <a:avLst/>
          </a:prstGeom>
        </p:spPr>
        <p:txBody>
          <a:bodyPr vert="horz" wrap="square" lIns="0" tIns="12700" rIns="0" bIns="0" rtlCol="0">
            <a:spAutoFit/>
          </a:bodyPr>
          <a:lstStyle/>
          <a:p>
            <a:pPr algn="ctr">
              <a:spcBef>
                <a:spcPts val="100"/>
              </a:spcBef>
            </a:pPr>
            <a:r>
              <a:rPr sz="1200" u="sng" spc="-30">
                <a:uFill>
                  <a:solidFill>
                    <a:srgbClr val="000000"/>
                  </a:solidFill>
                </a:uFill>
                <a:latin typeface="Calibri"/>
                <a:cs typeface="Calibri"/>
              </a:rPr>
              <a:t>Team</a:t>
            </a:r>
            <a:r>
              <a:rPr sz="1200" u="sng" spc="-40">
                <a:uFill>
                  <a:solidFill>
                    <a:srgbClr val="000000"/>
                  </a:solidFill>
                </a:uFill>
                <a:latin typeface="Calibri"/>
                <a:cs typeface="Calibri"/>
              </a:rPr>
              <a:t> </a:t>
            </a:r>
            <a:r>
              <a:rPr sz="1200" u="sng" spc="-5">
                <a:uFill>
                  <a:solidFill>
                    <a:srgbClr val="000000"/>
                  </a:solidFill>
                </a:uFill>
                <a:latin typeface="Calibri"/>
                <a:cs typeface="Calibri"/>
              </a:rPr>
              <a:t>Nam</a:t>
            </a:r>
            <a:r>
              <a:rPr sz="1200" spc="-5">
                <a:latin typeface="Calibri"/>
                <a:cs typeface="Calibri"/>
              </a:rPr>
              <a:t>e</a:t>
            </a:r>
            <a:endParaRPr sz="1200">
              <a:latin typeface="Calibri"/>
              <a:cs typeface="Calibri"/>
            </a:endParaRPr>
          </a:p>
          <a:p>
            <a:pPr>
              <a:lnSpc>
                <a:spcPct val="100000"/>
              </a:lnSpc>
            </a:pPr>
            <a:endParaRPr sz="1400">
              <a:latin typeface="Calibri"/>
              <a:cs typeface="Calibri"/>
            </a:endParaRPr>
          </a:p>
          <a:p>
            <a:pPr>
              <a:spcBef>
                <a:spcPts val="55"/>
              </a:spcBef>
            </a:pPr>
            <a:endParaRPr sz="1250">
              <a:latin typeface="Calibri"/>
              <a:cs typeface="Calibri"/>
            </a:endParaRPr>
          </a:p>
          <a:p>
            <a:pPr algn="ctr">
              <a:lnSpc>
                <a:spcPct val="100000"/>
              </a:lnSpc>
            </a:pPr>
            <a:r>
              <a:rPr sz="1200" spc="-25">
                <a:latin typeface="Calibri"/>
                <a:cs typeface="Calibri"/>
              </a:rPr>
              <a:t>Teams</a:t>
            </a:r>
            <a:endParaRPr sz="1200">
              <a:latin typeface="Calibri"/>
              <a:cs typeface="Calibri"/>
            </a:endParaRPr>
          </a:p>
        </p:txBody>
      </p:sp>
      <p:sp>
        <p:nvSpPr>
          <p:cNvPr id="23" name="object 23"/>
          <p:cNvSpPr txBox="1"/>
          <p:nvPr/>
        </p:nvSpPr>
        <p:spPr>
          <a:xfrm>
            <a:off x="7518256" y="3467099"/>
            <a:ext cx="1309370" cy="716280"/>
          </a:xfrm>
          <a:prstGeom prst="rect">
            <a:avLst/>
          </a:prstGeom>
        </p:spPr>
        <p:txBody>
          <a:bodyPr vert="horz" wrap="square" lIns="0" tIns="16510" rIns="0" bIns="0" rtlCol="0">
            <a:spAutoFit/>
          </a:bodyPr>
          <a:lstStyle/>
          <a:p>
            <a:pPr marL="12700" marR="5080" algn="just">
              <a:spcBef>
                <a:spcPts val="130"/>
              </a:spcBef>
            </a:pPr>
            <a:r>
              <a:rPr sz="1500" spc="-30">
                <a:latin typeface="Calibri"/>
                <a:cs typeface="Calibri"/>
              </a:rPr>
              <a:t>Teams </a:t>
            </a:r>
            <a:r>
              <a:rPr sz="1500">
                <a:latin typeface="Calibri"/>
                <a:cs typeface="Calibri"/>
              </a:rPr>
              <a:t>belong </a:t>
            </a:r>
            <a:r>
              <a:rPr sz="1500" spc="-20">
                <a:latin typeface="Calibri"/>
                <a:cs typeface="Calibri"/>
              </a:rPr>
              <a:t>to </a:t>
            </a:r>
            <a:r>
              <a:rPr sz="1500" spc="-325">
                <a:latin typeface="Calibri"/>
                <a:cs typeface="Calibri"/>
              </a:rPr>
              <a:t> </a:t>
            </a:r>
            <a:r>
              <a:rPr sz="1500">
                <a:latin typeface="Calibri"/>
                <a:cs typeface="Calibri"/>
              </a:rPr>
              <a:t>cities- model as </a:t>
            </a:r>
            <a:r>
              <a:rPr sz="1500" spc="5">
                <a:latin typeface="Calibri"/>
                <a:cs typeface="Calibri"/>
              </a:rPr>
              <a:t> </a:t>
            </a:r>
            <a:r>
              <a:rPr sz="1500" b="1" i="1" spc="-5">
                <a:latin typeface="Calibri"/>
                <a:cs typeface="Calibri"/>
              </a:rPr>
              <a:t>weak</a:t>
            </a:r>
            <a:r>
              <a:rPr sz="1500" b="1" i="1" spc="-35">
                <a:latin typeface="Calibri"/>
                <a:cs typeface="Calibri"/>
              </a:rPr>
              <a:t> </a:t>
            </a:r>
            <a:r>
              <a:rPr sz="1500" b="1" i="1" spc="-5">
                <a:latin typeface="Calibri"/>
                <a:cs typeface="Calibri"/>
              </a:rPr>
              <a:t>entity</a:t>
            </a:r>
            <a:r>
              <a:rPr sz="1500" b="1" i="1" spc="-45">
                <a:latin typeface="Calibri"/>
                <a:cs typeface="Calibri"/>
              </a:rPr>
              <a:t> </a:t>
            </a:r>
            <a:r>
              <a:rPr sz="1500" b="1" i="1" spc="-5">
                <a:latin typeface="Calibri"/>
                <a:cs typeface="Calibri"/>
              </a:rPr>
              <a:t>sets</a:t>
            </a:r>
            <a:endParaRPr sz="1500">
              <a:latin typeface="Calibri"/>
              <a:cs typeface="Calibri"/>
            </a:endParaRPr>
          </a:p>
        </p:txBody>
      </p:sp>
      <p:grpSp>
        <p:nvGrpSpPr>
          <p:cNvPr id="24" name="object 24"/>
          <p:cNvGrpSpPr/>
          <p:nvPr/>
        </p:nvGrpSpPr>
        <p:grpSpPr>
          <a:xfrm>
            <a:off x="5543859" y="4024935"/>
            <a:ext cx="871855" cy="408305"/>
            <a:chOff x="4019858" y="4024934"/>
            <a:chExt cx="871855" cy="408305"/>
          </a:xfrm>
        </p:grpSpPr>
        <p:sp>
          <p:nvSpPr>
            <p:cNvPr id="25" name="object 25"/>
            <p:cNvSpPr/>
            <p:nvPr/>
          </p:nvSpPr>
          <p:spPr>
            <a:xfrm>
              <a:off x="4024621" y="4029697"/>
              <a:ext cx="862330" cy="398780"/>
            </a:xfrm>
            <a:custGeom>
              <a:avLst/>
              <a:gdLst/>
              <a:ahLst/>
              <a:cxnLst/>
              <a:rect l="l" t="t" r="r" b="b"/>
              <a:pathLst>
                <a:path w="862329"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26" name="object 26"/>
            <p:cNvSpPr/>
            <p:nvPr/>
          </p:nvSpPr>
          <p:spPr>
            <a:xfrm>
              <a:off x="4024621" y="4029697"/>
              <a:ext cx="862330" cy="398780"/>
            </a:xfrm>
            <a:custGeom>
              <a:avLst/>
              <a:gdLst/>
              <a:ahLst/>
              <a:cxnLst/>
              <a:rect l="l" t="t" r="r" b="b"/>
              <a:pathLst>
                <a:path w="862329"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27" name="object 27"/>
          <p:cNvSpPr txBox="1"/>
          <p:nvPr/>
        </p:nvSpPr>
        <p:spPr>
          <a:xfrm>
            <a:off x="5782073" y="4119032"/>
            <a:ext cx="394970" cy="197490"/>
          </a:xfrm>
          <a:prstGeom prst="rect">
            <a:avLst/>
          </a:prstGeom>
        </p:spPr>
        <p:txBody>
          <a:bodyPr vert="horz" wrap="square" lIns="0" tIns="12700" rIns="0" bIns="0" rtlCol="0">
            <a:spAutoFit/>
          </a:bodyPr>
          <a:lstStyle/>
          <a:p>
            <a:pPr marL="12700">
              <a:spcBef>
                <a:spcPts val="100"/>
              </a:spcBef>
            </a:pPr>
            <a:r>
              <a:rPr sz="1200" u="sng">
                <a:uFill>
                  <a:solidFill>
                    <a:srgbClr val="000000"/>
                  </a:solidFill>
                </a:uFill>
                <a:latin typeface="Calibri"/>
                <a:cs typeface="Calibri"/>
              </a:rPr>
              <a:t>Name</a:t>
            </a:r>
            <a:endParaRPr sz="1200">
              <a:latin typeface="Calibri"/>
              <a:cs typeface="Calibri"/>
            </a:endParaRPr>
          </a:p>
        </p:txBody>
      </p:sp>
      <p:grpSp>
        <p:nvGrpSpPr>
          <p:cNvPr id="28" name="object 28"/>
          <p:cNvGrpSpPr/>
          <p:nvPr/>
        </p:nvGrpSpPr>
        <p:grpSpPr>
          <a:xfrm>
            <a:off x="5974956" y="3779738"/>
            <a:ext cx="9525" cy="250190"/>
            <a:chOff x="4450955" y="3779738"/>
            <a:chExt cx="9525" cy="250190"/>
          </a:xfrm>
        </p:grpSpPr>
        <p:sp>
          <p:nvSpPr>
            <p:cNvPr id="29" name="object 29"/>
            <p:cNvSpPr/>
            <p:nvPr/>
          </p:nvSpPr>
          <p:spPr>
            <a:xfrm>
              <a:off x="4455717" y="3779738"/>
              <a:ext cx="0" cy="250190"/>
            </a:xfrm>
            <a:custGeom>
              <a:avLst/>
              <a:gdLst/>
              <a:ahLst/>
              <a:cxnLst/>
              <a:rect l="l" t="t" r="r" b="b"/>
              <a:pathLst>
                <a:path h="250189">
                  <a:moveTo>
                    <a:pt x="1" y="0"/>
                  </a:moveTo>
                  <a:lnTo>
                    <a:pt x="0" y="249958"/>
                  </a:lnTo>
                </a:path>
              </a:pathLst>
            </a:custGeom>
            <a:solidFill>
              <a:srgbClr val="C0C0C0">
                <a:alpha val="50199"/>
              </a:srgbClr>
            </a:solidFill>
          </p:spPr>
          <p:txBody>
            <a:bodyPr wrap="square" lIns="0" tIns="0" rIns="0" bIns="0" rtlCol="0"/>
            <a:lstStyle/>
            <a:p>
              <a:endParaRPr/>
            </a:p>
          </p:txBody>
        </p:sp>
        <p:sp>
          <p:nvSpPr>
            <p:cNvPr id="30" name="object 30"/>
            <p:cNvSpPr/>
            <p:nvPr/>
          </p:nvSpPr>
          <p:spPr>
            <a:xfrm>
              <a:off x="4455717" y="3779738"/>
              <a:ext cx="0" cy="250190"/>
            </a:xfrm>
            <a:custGeom>
              <a:avLst/>
              <a:gdLst/>
              <a:ahLst/>
              <a:cxnLst/>
              <a:rect l="l" t="t" r="r" b="b"/>
              <a:pathLst>
                <a:path h="250189">
                  <a:moveTo>
                    <a:pt x="0" y="249959"/>
                  </a:moveTo>
                  <a:lnTo>
                    <a:pt x="1" y="0"/>
                  </a:lnTo>
                </a:path>
              </a:pathLst>
            </a:custGeom>
            <a:ln w="9525">
              <a:solidFill>
                <a:srgbClr val="000000"/>
              </a:solidFill>
            </a:ln>
          </p:spPr>
          <p:txBody>
            <a:bodyPr wrap="square" lIns="0" tIns="0" rIns="0" bIns="0" rtlCol="0"/>
            <a:lstStyle/>
            <a:p>
              <a:endParaRPr/>
            </a:p>
          </p:txBody>
        </p:sp>
      </p:grpSp>
      <p:sp>
        <p:nvSpPr>
          <p:cNvPr id="31" name="Slide Number Placeholder 30">
            <a:extLst>
              <a:ext uri="{FF2B5EF4-FFF2-40B4-BE49-F238E27FC236}">
                <a16:creationId xmlns:a16="http://schemas.microsoft.com/office/drawing/2014/main" id="{F50E17CA-1A52-4F95-9409-6AD9A1BCF62A}"/>
              </a:ext>
            </a:extLst>
          </p:cNvPr>
          <p:cNvSpPr>
            <a:spLocks noGrp="1"/>
          </p:cNvSpPr>
          <p:nvPr>
            <p:ph type="sldNum" sz="quarter" idx="12"/>
          </p:nvPr>
        </p:nvSpPr>
        <p:spPr/>
        <p:txBody>
          <a:bodyPr/>
          <a:lstStyle/>
          <a:p>
            <a:fld id="{641C0F02-33DC-3A41-9F51-431B7FE03ABE}" type="slidenum">
              <a:rPr lang="en-US" smtClean="0"/>
              <a:t>104</a:t>
            </a:fld>
            <a:endParaRPr lang="en-US"/>
          </a:p>
        </p:txBody>
      </p:sp>
    </p:spTree>
    <p:extLst>
      <p:ext uri="{BB962C8B-B14F-4D97-AF65-F5344CB8AC3E}">
        <p14:creationId xmlns:p14="http://schemas.microsoft.com/office/powerpoint/2010/main" val="147312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11927" y="2170507"/>
            <a:ext cx="735965" cy="319405"/>
            <a:chOff x="4087926" y="2170506"/>
            <a:chExt cx="735965" cy="319405"/>
          </a:xfrm>
        </p:grpSpPr>
        <p:sp>
          <p:nvSpPr>
            <p:cNvPr id="3" name="object 3"/>
            <p:cNvSpPr/>
            <p:nvPr/>
          </p:nvSpPr>
          <p:spPr>
            <a:xfrm>
              <a:off x="4092689" y="2175268"/>
              <a:ext cx="726440" cy="309880"/>
            </a:xfrm>
            <a:custGeom>
              <a:avLst/>
              <a:gdLst/>
              <a:ahLst/>
              <a:cxnLst/>
              <a:rect l="l" t="t" r="r" b="b"/>
              <a:pathLst>
                <a:path w="726439" h="309880">
                  <a:moveTo>
                    <a:pt x="726056" y="0"/>
                  </a:moveTo>
                  <a:lnTo>
                    <a:pt x="0" y="0"/>
                  </a:lnTo>
                  <a:lnTo>
                    <a:pt x="0" y="309752"/>
                  </a:lnTo>
                  <a:lnTo>
                    <a:pt x="726056" y="309752"/>
                  </a:lnTo>
                  <a:lnTo>
                    <a:pt x="726056" y="0"/>
                  </a:lnTo>
                  <a:close/>
                </a:path>
              </a:pathLst>
            </a:custGeom>
            <a:solidFill>
              <a:srgbClr val="F2DCDB"/>
            </a:solidFill>
          </p:spPr>
          <p:txBody>
            <a:bodyPr wrap="square" lIns="0" tIns="0" rIns="0" bIns="0" rtlCol="0"/>
            <a:lstStyle/>
            <a:p>
              <a:endParaRPr/>
            </a:p>
          </p:txBody>
        </p:sp>
        <p:sp>
          <p:nvSpPr>
            <p:cNvPr id="4" name="object 4"/>
            <p:cNvSpPr/>
            <p:nvPr/>
          </p:nvSpPr>
          <p:spPr>
            <a:xfrm>
              <a:off x="4092689" y="2175268"/>
              <a:ext cx="726440" cy="309880"/>
            </a:xfrm>
            <a:custGeom>
              <a:avLst/>
              <a:gdLst/>
              <a:ahLst/>
              <a:cxnLst/>
              <a:rect l="l" t="t" r="r" b="b"/>
              <a:pathLst>
                <a:path w="726439" h="309880">
                  <a:moveTo>
                    <a:pt x="0" y="0"/>
                  </a:moveTo>
                  <a:lnTo>
                    <a:pt x="726057" y="0"/>
                  </a:lnTo>
                  <a:lnTo>
                    <a:pt x="726057" y="309753"/>
                  </a:lnTo>
                  <a:lnTo>
                    <a:pt x="0" y="309753"/>
                  </a:lnTo>
                  <a:lnTo>
                    <a:pt x="0" y="0"/>
                  </a:lnTo>
                  <a:close/>
                </a:path>
              </a:pathLst>
            </a:custGeom>
            <a:ln w="9525">
              <a:solidFill>
                <a:srgbClr val="000000"/>
              </a:solidFill>
            </a:ln>
          </p:spPr>
          <p:txBody>
            <a:bodyPr wrap="square" lIns="0" tIns="0" rIns="0" bIns="0" rtlCol="0"/>
            <a:lstStyle/>
            <a:p>
              <a:endParaRPr/>
            </a:p>
          </p:txBody>
        </p:sp>
      </p:grpSp>
      <p:sp>
        <p:nvSpPr>
          <p:cNvPr id="5" name="object 5"/>
          <p:cNvSpPr txBox="1"/>
          <p:nvPr/>
        </p:nvSpPr>
        <p:spPr>
          <a:xfrm>
            <a:off x="5770580" y="2214032"/>
            <a:ext cx="417830" cy="197490"/>
          </a:xfrm>
          <a:prstGeom prst="rect">
            <a:avLst/>
          </a:prstGeom>
        </p:spPr>
        <p:txBody>
          <a:bodyPr vert="horz" wrap="square" lIns="0" tIns="12700" rIns="0" bIns="0" rtlCol="0">
            <a:spAutoFit/>
          </a:bodyPr>
          <a:lstStyle/>
          <a:p>
            <a:pPr marL="12700">
              <a:spcBef>
                <a:spcPts val="100"/>
              </a:spcBef>
            </a:pPr>
            <a:r>
              <a:rPr sz="1200" spc="-105">
                <a:latin typeface="Calibri"/>
                <a:cs typeface="Calibri"/>
              </a:rPr>
              <a:t>T</a:t>
            </a:r>
            <a:r>
              <a:rPr sz="1200">
                <a:latin typeface="Calibri"/>
                <a:cs typeface="Calibri"/>
              </a:rPr>
              <a:t>e</a:t>
            </a:r>
            <a:r>
              <a:rPr sz="1200" spc="-5">
                <a:latin typeface="Calibri"/>
                <a:cs typeface="Calibri"/>
              </a:rPr>
              <a:t>a</a:t>
            </a:r>
            <a:r>
              <a:rPr sz="1200">
                <a:latin typeface="Calibri"/>
                <a:cs typeface="Calibri"/>
              </a:rPr>
              <a:t>ms</a:t>
            </a:r>
          </a:p>
        </p:txBody>
      </p:sp>
      <p:grpSp>
        <p:nvGrpSpPr>
          <p:cNvPr id="6" name="object 6"/>
          <p:cNvGrpSpPr/>
          <p:nvPr/>
        </p:nvGrpSpPr>
        <p:grpSpPr>
          <a:xfrm>
            <a:off x="5493747" y="2808616"/>
            <a:ext cx="972185" cy="424180"/>
            <a:chOff x="3969746" y="2808616"/>
            <a:chExt cx="972185" cy="424180"/>
          </a:xfrm>
        </p:grpSpPr>
        <p:sp>
          <p:nvSpPr>
            <p:cNvPr id="7" name="object 7"/>
            <p:cNvSpPr/>
            <p:nvPr/>
          </p:nvSpPr>
          <p:spPr>
            <a:xfrm>
              <a:off x="3982446" y="2821316"/>
              <a:ext cx="946785" cy="398780"/>
            </a:xfrm>
            <a:custGeom>
              <a:avLst/>
              <a:gdLst/>
              <a:ahLst/>
              <a:cxnLst/>
              <a:rect l="l" t="t" r="r" b="b"/>
              <a:pathLst>
                <a:path w="946785" h="398780">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8" name="object 8"/>
            <p:cNvSpPr/>
            <p:nvPr/>
          </p:nvSpPr>
          <p:spPr>
            <a:xfrm>
              <a:off x="3982446" y="2821316"/>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25400">
              <a:solidFill>
                <a:srgbClr val="000000"/>
              </a:solidFill>
            </a:ln>
          </p:spPr>
          <p:txBody>
            <a:bodyPr wrap="square" lIns="0" tIns="0" rIns="0" bIns="0" rtlCol="0"/>
            <a:lstStyle/>
            <a:p>
              <a:endParaRPr/>
            </a:p>
          </p:txBody>
        </p:sp>
      </p:grpSp>
      <p:grpSp>
        <p:nvGrpSpPr>
          <p:cNvPr id="9" name="object 9"/>
          <p:cNvGrpSpPr/>
          <p:nvPr/>
        </p:nvGrpSpPr>
        <p:grpSpPr>
          <a:xfrm>
            <a:off x="5543859" y="1521838"/>
            <a:ext cx="871855" cy="654050"/>
            <a:chOff x="4019858" y="1521838"/>
            <a:chExt cx="871855" cy="654050"/>
          </a:xfrm>
        </p:grpSpPr>
        <p:sp>
          <p:nvSpPr>
            <p:cNvPr id="10" name="object 10"/>
            <p:cNvSpPr/>
            <p:nvPr/>
          </p:nvSpPr>
          <p:spPr>
            <a:xfrm>
              <a:off x="4455717" y="1924855"/>
              <a:ext cx="0" cy="250825"/>
            </a:xfrm>
            <a:custGeom>
              <a:avLst/>
              <a:gdLst/>
              <a:ahLst/>
              <a:cxnLst/>
              <a:rect l="l" t="t" r="r" b="b"/>
              <a:pathLst>
                <a:path h="250825">
                  <a:moveTo>
                    <a:pt x="0" y="0"/>
                  </a:moveTo>
                  <a:lnTo>
                    <a:pt x="1" y="250413"/>
                  </a:lnTo>
                </a:path>
              </a:pathLst>
            </a:custGeom>
            <a:solidFill>
              <a:srgbClr val="C0C0C0">
                <a:alpha val="50199"/>
              </a:srgbClr>
            </a:solidFill>
          </p:spPr>
          <p:txBody>
            <a:bodyPr wrap="square" lIns="0" tIns="0" rIns="0" bIns="0" rtlCol="0"/>
            <a:lstStyle/>
            <a:p>
              <a:endParaRPr/>
            </a:p>
          </p:txBody>
        </p:sp>
        <p:sp>
          <p:nvSpPr>
            <p:cNvPr id="11" name="object 11"/>
            <p:cNvSpPr/>
            <p:nvPr/>
          </p:nvSpPr>
          <p:spPr>
            <a:xfrm>
              <a:off x="4455717" y="1924855"/>
              <a:ext cx="0" cy="250825"/>
            </a:xfrm>
            <a:custGeom>
              <a:avLst/>
              <a:gdLst/>
              <a:ahLst/>
              <a:cxnLst/>
              <a:rect l="l" t="t" r="r" b="b"/>
              <a:pathLst>
                <a:path h="250825">
                  <a:moveTo>
                    <a:pt x="0" y="0"/>
                  </a:moveTo>
                  <a:lnTo>
                    <a:pt x="1" y="250414"/>
                  </a:lnTo>
                </a:path>
              </a:pathLst>
            </a:custGeom>
            <a:ln w="9525">
              <a:solidFill>
                <a:srgbClr val="000000"/>
              </a:solidFill>
            </a:ln>
          </p:spPr>
          <p:txBody>
            <a:bodyPr wrap="square" lIns="0" tIns="0" rIns="0" bIns="0" rtlCol="0"/>
            <a:lstStyle/>
            <a:p>
              <a:endParaRPr/>
            </a:p>
          </p:txBody>
        </p:sp>
        <p:sp>
          <p:nvSpPr>
            <p:cNvPr id="12" name="object 12"/>
            <p:cNvSpPr/>
            <p:nvPr/>
          </p:nvSpPr>
          <p:spPr>
            <a:xfrm>
              <a:off x="4024621" y="1526601"/>
              <a:ext cx="862330" cy="398780"/>
            </a:xfrm>
            <a:custGeom>
              <a:avLst/>
              <a:gdLst/>
              <a:ahLst/>
              <a:cxnLst/>
              <a:rect l="l" t="t" r="r" b="b"/>
              <a:pathLst>
                <a:path w="862329" h="398780">
                  <a:moveTo>
                    <a:pt x="431096" y="0"/>
                  </a:moveTo>
                  <a:lnTo>
                    <a:pt x="367392" y="2159"/>
                  </a:lnTo>
                  <a:lnTo>
                    <a:pt x="306590" y="8430"/>
                  </a:lnTo>
                  <a:lnTo>
                    <a:pt x="249356" y="18507"/>
                  </a:lnTo>
                  <a:lnTo>
                    <a:pt x="196359" y="32080"/>
                  </a:lnTo>
                  <a:lnTo>
                    <a:pt x="148265" y="48842"/>
                  </a:lnTo>
                  <a:lnTo>
                    <a:pt x="105740" y="68485"/>
                  </a:lnTo>
                  <a:lnTo>
                    <a:pt x="69452" y="90700"/>
                  </a:lnTo>
                  <a:lnTo>
                    <a:pt x="40067" y="115180"/>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3" name="object 13"/>
            <p:cNvSpPr/>
            <p:nvPr/>
          </p:nvSpPr>
          <p:spPr>
            <a:xfrm>
              <a:off x="4024621" y="1526601"/>
              <a:ext cx="862330" cy="398780"/>
            </a:xfrm>
            <a:custGeom>
              <a:avLst/>
              <a:gdLst/>
              <a:ahLst/>
              <a:cxnLst/>
              <a:rect l="l" t="t" r="r" b="b"/>
              <a:pathLst>
                <a:path w="862329"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665963" y="2908299"/>
            <a:ext cx="628650" cy="197490"/>
          </a:xfrm>
          <a:prstGeom prst="rect">
            <a:avLst/>
          </a:prstGeom>
        </p:spPr>
        <p:txBody>
          <a:bodyPr vert="horz" wrap="square" lIns="0" tIns="12700" rIns="0" bIns="0" rtlCol="0">
            <a:spAutoFit/>
          </a:bodyPr>
          <a:lstStyle/>
          <a:p>
            <a:pPr marL="12700">
              <a:spcBef>
                <a:spcPts val="100"/>
              </a:spcBef>
            </a:pPr>
            <a:r>
              <a:rPr sz="1200" spc="-10">
                <a:latin typeface="Calibri"/>
                <a:cs typeface="Calibri"/>
              </a:rPr>
              <a:t>LocatedIn</a:t>
            </a:r>
            <a:endParaRPr sz="1200">
              <a:latin typeface="Calibri"/>
              <a:cs typeface="Calibri"/>
            </a:endParaRPr>
          </a:p>
        </p:txBody>
      </p:sp>
      <p:grpSp>
        <p:nvGrpSpPr>
          <p:cNvPr id="15" name="object 15"/>
          <p:cNvGrpSpPr/>
          <p:nvPr/>
        </p:nvGrpSpPr>
        <p:grpSpPr>
          <a:xfrm>
            <a:off x="5850466" y="2463801"/>
            <a:ext cx="262890" cy="1006475"/>
            <a:chOff x="4326466" y="2463800"/>
            <a:chExt cx="262890" cy="1006475"/>
          </a:xfrm>
        </p:grpSpPr>
        <p:sp>
          <p:nvSpPr>
            <p:cNvPr id="16" name="object 16"/>
            <p:cNvSpPr/>
            <p:nvPr/>
          </p:nvSpPr>
          <p:spPr>
            <a:xfrm>
              <a:off x="4455717" y="2485022"/>
              <a:ext cx="0" cy="336550"/>
            </a:xfrm>
            <a:custGeom>
              <a:avLst/>
              <a:gdLst/>
              <a:ahLst/>
              <a:cxnLst/>
              <a:rect l="l" t="t" r="r" b="b"/>
              <a:pathLst>
                <a:path h="336550">
                  <a:moveTo>
                    <a:pt x="1" y="0"/>
                  </a:moveTo>
                  <a:lnTo>
                    <a:pt x="0" y="336294"/>
                  </a:lnTo>
                </a:path>
              </a:pathLst>
            </a:custGeom>
            <a:solidFill>
              <a:srgbClr val="C0C0C0">
                <a:alpha val="50199"/>
              </a:srgbClr>
            </a:solidFill>
          </p:spPr>
          <p:txBody>
            <a:bodyPr wrap="square" lIns="0" tIns="0" rIns="0" bIns="0" rtlCol="0"/>
            <a:lstStyle/>
            <a:p>
              <a:endParaRPr/>
            </a:p>
          </p:txBody>
        </p:sp>
        <p:sp>
          <p:nvSpPr>
            <p:cNvPr id="17" name="object 17"/>
            <p:cNvSpPr/>
            <p:nvPr/>
          </p:nvSpPr>
          <p:spPr>
            <a:xfrm>
              <a:off x="4455717" y="2485022"/>
              <a:ext cx="0" cy="336550"/>
            </a:xfrm>
            <a:custGeom>
              <a:avLst/>
              <a:gdLst/>
              <a:ahLst/>
              <a:cxnLst/>
              <a:rect l="l" t="t" r="r" b="b"/>
              <a:pathLst>
                <a:path h="336550">
                  <a:moveTo>
                    <a:pt x="0" y="336295"/>
                  </a:moveTo>
                  <a:lnTo>
                    <a:pt x="1" y="0"/>
                  </a:lnTo>
                </a:path>
              </a:pathLst>
            </a:custGeom>
            <a:ln w="9525">
              <a:solidFill>
                <a:srgbClr val="000000"/>
              </a:solidFill>
            </a:ln>
          </p:spPr>
          <p:txBody>
            <a:bodyPr wrap="square" lIns="0" tIns="0" rIns="0" bIns="0" rtlCol="0"/>
            <a:lstStyle/>
            <a:p>
              <a:endParaRPr/>
            </a:p>
          </p:txBody>
        </p:sp>
        <p:sp>
          <p:nvSpPr>
            <p:cNvPr id="18" name="object 18"/>
            <p:cNvSpPr/>
            <p:nvPr/>
          </p:nvSpPr>
          <p:spPr>
            <a:xfrm>
              <a:off x="4455717" y="3219570"/>
              <a:ext cx="0" cy="250825"/>
            </a:xfrm>
            <a:custGeom>
              <a:avLst/>
              <a:gdLst/>
              <a:ahLst/>
              <a:cxnLst/>
              <a:rect l="l" t="t" r="r" b="b"/>
              <a:pathLst>
                <a:path h="250825">
                  <a:moveTo>
                    <a:pt x="1" y="0"/>
                  </a:moveTo>
                  <a:lnTo>
                    <a:pt x="0" y="250414"/>
                  </a:lnTo>
                </a:path>
              </a:pathLst>
            </a:custGeom>
            <a:solidFill>
              <a:srgbClr val="C0C0C0">
                <a:alpha val="50199"/>
              </a:srgbClr>
            </a:solidFill>
          </p:spPr>
          <p:txBody>
            <a:bodyPr wrap="square" lIns="0" tIns="0" rIns="0" bIns="0" rtlCol="0"/>
            <a:lstStyle/>
            <a:p>
              <a:endParaRPr/>
            </a:p>
          </p:txBody>
        </p:sp>
        <p:sp>
          <p:nvSpPr>
            <p:cNvPr id="19" name="object 19"/>
            <p:cNvSpPr/>
            <p:nvPr/>
          </p:nvSpPr>
          <p:spPr>
            <a:xfrm>
              <a:off x="4455717" y="3219570"/>
              <a:ext cx="0" cy="250825"/>
            </a:xfrm>
            <a:custGeom>
              <a:avLst/>
              <a:gdLst/>
              <a:ahLst/>
              <a:cxnLst/>
              <a:rect l="l" t="t" r="r" b="b"/>
              <a:pathLst>
                <a:path h="250825">
                  <a:moveTo>
                    <a:pt x="0" y="250415"/>
                  </a:moveTo>
                  <a:lnTo>
                    <a:pt x="1" y="0"/>
                  </a:lnTo>
                </a:path>
              </a:pathLst>
            </a:custGeom>
            <a:ln w="9525">
              <a:solidFill>
                <a:srgbClr val="000000"/>
              </a:solidFill>
            </a:ln>
          </p:spPr>
          <p:txBody>
            <a:bodyPr wrap="square" lIns="0" tIns="0" rIns="0" bIns="0" rtlCol="0"/>
            <a:lstStyle/>
            <a:p>
              <a:endParaRPr/>
            </a:p>
          </p:txBody>
        </p:sp>
        <p:pic>
          <p:nvPicPr>
            <p:cNvPr id="20" name="object 20"/>
            <p:cNvPicPr/>
            <p:nvPr/>
          </p:nvPicPr>
          <p:blipFill>
            <a:blip r:embed="rId3" cstate="print"/>
            <a:stretch>
              <a:fillRect/>
            </a:stretch>
          </p:blipFill>
          <p:spPr>
            <a:xfrm>
              <a:off x="4326466" y="2463800"/>
              <a:ext cx="262466" cy="508000"/>
            </a:xfrm>
            <a:prstGeom prst="rect">
              <a:avLst/>
            </a:prstGeom>
          </p:spPr>
        </p:pic>
        <p:sp>
          <p:nvSpPr>
            <p:cNvPr id="21" name="object 21"/>
            <p:cNvSpPr/>
            <p:nvPr/>
          </p:nvSpPr>
          <p:spPr>
            <a:xfrm>
              <a:off x="4412854" y="2485022"/>
              <a:ext cx="85725" cy="336550"/>
            </a:xfrm>
            <a:custGeom>
              <a:avLst/>
              <a:gdLst/>
              <a:ahLst/>
              <a:cxnLst/>
              <a:rect l="l" t="t" r="r" b="b"/>
              <a:pathLst>
                <a:path w="85725" h="336550">
                  <a:moveTo>
                    <a:pt x="28575" y="250569"/>
                  </a:moveTo>
                  <a:lnTo>
                    <a:pt x="0" y="250569"/>
                  </a:lnTo>
                  <a:lnTo>
                    <a:pt x="42863" y="336294"/>
                  </a:lnTo>
                  <a:lnTo>
                    <a:pt x="78581" y="264857"/>
                  </a:lnTo>
                  <a:lnTo>
                    <a:pt x="28575" y="264857"/>
                  </a:lnTo>
                  <a:lnTo>
                    <a:pt x="28575" y="250569"/>
                  </a:lnTo>
                  <a:close/>
                </a:path>
                <a:path w="85725" h="336550">
                  <a:moveTo>
                    <a:pt x="57150" y="0"/>
                  </a:moveTo>
                  <a:lnTo>
                    <a:pt x="28575" y="0"/>
                  </a:lnTo>
                  <a:lnTo>
                    <a:pt x="28575" y="264857"/>
                  </a:lnTo>
                  <a:lnTo>
                    <a:pt x="57150" y="264857"/>
                  </a:lnTo>
                  <a:lnTo>
                    <a:pt x="57150" y="0"/>
                  </a:lnTo>
                  <a:close/>
                </a:path>
                <a:path w="85725" h="336550">
                  <a:moveTo>
                    <a:pt x="85725" y="250569"/>
                  </a:moveTo>
                  <a:lnTo>
                    <a:pt x="57150" y="250569"/>
                  </a:lnTo>
                  <a:lnTo>
                    <a:pt x="57150" y="264857"/>
                  </a:lnTo>
                  <a:lnTo>
                    <a:pt x="78581" y="264857"/>
                  </a:lnTo>
                  <a:lnTo>
                    <a:pt x="85725" y="250569"/>
                  </a:lnTo>
                  <a:close/>
                </a:path>
              </a:pathLst>
            </a:custGeom>
            <a:solidFill>
              <a:srgbClr val="000000"/>
            </a:solidFill>
          </p:spPr>
          <p:txBody>
            <a:bodyPr wrap="square" lIns="0" tIns="0" rIns="0" bIns="0" rtlCol="0"/>
            <a:lstStyle/>
            <a:p>
              <a:endParaRPr/>
            </a:p>
          </p:txBody>
        </p:sp>
      </p:grpSp>
      <p:sp>
        <p:nvSpPr>
          <p:cNvPr id="22" name="object 22"/>
          <p:cNvSpPr txBox="1"/>
          <p:nvPr/>
        </p:nvSpPr>
        <p:spPr>
          <a:xfrm>
            <a:off x="5616689" y="3469986"/>
            <a:ext cx="726440" cy="237243"/>
          </a:xfrm>
          <a:prstGeom prst="rect">
            <a:avLst/>
          </a:prstGeom>
          <a:solidFill>
            <a:srgbClr val="F2DCDB"/>
          </a:solidFill>
          <a:ln w="9525">
            <a:solidFill>
              <a:srgbClr val="000000"/>
            </a:solidFill>
          </a:ln>
        </p:spPr>
        <p:txBody>
          <a:bodyPr vert="horz" wrap="square" lIns="0" tIns="52069" rIns="0" bIns="0" rtlCol="0">
            <a:spAutoFit/>
          </a:bodyPr>
          <a:lstStyle/>
          <a:p>
            <a:pPr marL="193675">
              <a:spcBef>
                <a:spcPts val="409"/>
              </a:spcBef>
            </a:pPr>
            <a:r>
              <a:rPr sz="1200" spc="-5">
                <a:latin typeface="Calibri"/>
                <a:cs typeface="Calibri"/>
              </a:rPr>
              <a:t>Cities</a:t>
            </a:r>
            <a:endParaRPr sz="1200">
              <a:latin typeface="Calibri"/>
              <a:cs typeface="Calibri"/>
            </a:endParaRPr>
          </a:p>
        </p:txBody>
      </p:sp>
      <p:sp>
        <p:nvSpPr>
          <p:cNvPr id="23" name="object 23"/>
          <p:cNvSpPr txBox="1"/>
          <p:nvPr/>
        </p:nvSpPr>
        <p:spPr>
          <a:xfrm>
            <a:off x="5598336" y="1612899"/>
            <a:ext cx="762000" cy="197490"/>
          </a:xfrm>
          <a:prstGeom prst="rect">
            <a:avLst/>
          </a:prstGeom>
        </p:spPr>
        <p:txBody>
          <a:bodyPr vert="horz" wrap="square" lIns="0" tIns="12700" rIns="0" bIns="0" rtlCol="0">
            <a:spAutoFit/>
          </a:bodyPr>
          <a:lstStyle/>
          <a:p>
            <a:pPr marL="12700">
              <a:spcBef>
                <a:spcPts val="100"/>
              </a:spcBef>
            </a:pPr>
            <a:r>
              <a:rPr sz="1200" u="sng" spc="-105">
                <a:uFill>
                  <a:solidFill>
                    <a:srgbClr val="000000"/>
                  </a:solidFill>
                </a:uFill>
                <a:latin typeface="Calibri"/>
                <a:cs typeface="Calibri"/>
              </a:rPr>
              <a:t>T</a:t>
            </a:r>
            <a:r>
              <a:rPr sz="1200" u="sng">
                <a:uFill>
                  <a:solidFill>
                    <a:srgbClr val="000000"/>
                  </a:solidFill>
                </a:uFill>
                <a:latin typeface="Calibri"/>
                <a:cs typeface="Calibri"/>
              </a:rPr>
              <a:t>e</a:t>
            </a:r>
            <a:r>
              <a:rPr sz="1200" u="sng" spc="-5">
                <a:uFill>
                  <a:solidFill>
                    <a:srgbClr val="000000"/>
                  </a:solidFill>
                </a:uFill>
                <a:latin typeface="Calibri"/>
                <a:cs typeface="Calibri"/>
              </a:rPr>
              <a:t>a</a:t>
            </a:r>
            <a:r>
              <a:rPr sz="1200" u="sng">
                <a:uFill>
                  <a:solidFill>
                    <a:srgbClr val="000000"/>
                  </a:solidFill>
                </a:uFill>
                <a:latin typeface="Calibri"/>
                <a:cs typeface="Calibri"/>
              </a:rPr>
              <a:t>m</a:t>
            </a:r>
            <a:r>
              <a:rPr sz="1200" u="sng" spc="5">
                <a:uFill>
                  <a:solidFill>
                    <a:srgbClr val="000000"/>
                  </a:solidFill>
                </a:uFill>
                <a:latin typeface="Calibri"/>
                <a:cs typeface="Calibri"/>
              </a:rPr>
              <a:t> </a:t>
            </a:r>
            <a:r>
              <a:rPr sz="1200" u="sng">
                <a:uFill>
                  <a:solidFill>
                    <a:srgbClr val="000000"/>
                  </a:solidFill>
                </a:uFill>
                <a:latin typeface="Calibri"/>
                <a:cs typeface="Calibri"/>
              </a:rPr>
              <a:t>N</a:t>
            </a:r>
            <a:r>
              <a:rPr sz="1200" u="sng" spc="-5">
                <a:uFill>
                  <a:solidFill>
                    <a:srgbClr val="000000"/>
                  </a:solidFill>
                </a:uFill>
                <a:latin typeface="Calibri"/>
                <a:cs typeface="Calibri"/>
              </a:rPr>
              <a:t>a</a:t>
            </a:r>
            <a:r>
              <a:rPr sz="1200" u="sng">
                <a:uFill>
                  <a:solidFill>
                    <a:srgbClr val="000000"/>
                  </a:solidFill>
                </a:uFill>
                <a:latin typeface="Calibri"/>
                <a:cs typeface="Calibri"/>
              </a:rPr>
              <a:t>m</a:t>
            </a:r>
            <a:r>
              <a:rPr sz="1200">
                <a:latin typeface="Calibri"/>
                <a:cs typeface="Calibri"/>
              </a:rPr>
              <a:t>e</a:t>
            </a:r>
          </a:p>
        </p:txBody>
      </p:sp>
      <p:grpSp>
        <p:nvGrpSpPr>
          <p:cNvPr id="24" name="object 24"/>
          <p:cNvGrpSpPr/>
          <p:nvPr/>
        </p:nvGrpSpPr>
        <p:grpSpPr>
          <a:xfrm>
            <a:off x="5543859" y="4024935"/>
            <a:ext cx="871855" cy="408305"/>
            <a:chOff x="4019858" y="4024934"/>
            <a:chExt cx="871855" cy="408305"/>
          </a:xfrm>
        </p:grpSpPr>
        <p:sp>
          <p:nvSpPr>
            <p:cNvPr id="25" name="object 25"/>
            <p:cNvSpPr/>
            <p:nvPr/>
          </p:nvSpPr>
          <p:spPr>
            <a:xfrm>
              <a:off x="4024621" y="4029697"/>
              <a:ext cx="862330" cy="398780"/>
            </a:xfrm>
            <a:custGeom>
              <a:avLst/>
              <a:gdLst/>
              <a:ahLst/>
              <a:cxnLst/>
              <a:rect l="l" t="t" r="r" b="b"/>
              <a:pathLst>
                <a:path w="862329"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26" name="object 26"/>
            <p:cNvSpPr/>
            <p:nvPr/>
          </p:nvSpPr>
          <p:spPr>
            <a:xfrm>
              <a:off x="4024621" y="4029697"/>
              <a:ext cx="862330" cy="398780"/>
            </a:xfrm>
            <a:custGeom>
              <a:avLst/>
              <a:gdLst/>
              <a:ahLst/>
              <a:cxnLst/>
              <a:rect l="l" t="t" r="r" b="b"/>
              <a:pathLst>
                <a:path w="862329"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27" name="object 27"/>
          <p:cNvSpPr txBox="1"/>
          <p:nvPr/>
        </p:nvSpPr>
        <p:spPr>
          <a:xfrm>
            <a:off x="5782073" y="4119032"/>
            <a:ext cx="394970" cy="197490"/>
          </a:xfrm>
          <a:prstGeom prst="rect">
            <a:avLst/>
          </a:prstGeom>
        </p:spPr>
        <p:txBody>
          <a:bodyPr vert="horz" wrap="square" lIns="0" tIns="12700" rIns="0" bIns="0" rtlCol="0">
            <a:spAutoFit/>
          </a:bodyPr>
          <a:lstStyle/>
          <a:p>
            <a:pPr marL="12700">
              <a:spcBef>
                <a:spcPts val="100"/>
              </a:spcBef>
            </a:pPr>
            <a:r>
              <a:rPr sz="1200" u="sng">
                <a:uFill>
                  <a:solidFill>
                    <a:srgbClr val="000000"/>
                  </a:solidFill>
                </a:uFill>
                <a:latin typeface="Calibri"/>
                <a:cs typeface="Calibri"/>
              </a:rPr>
              <a:t>Name</a:t>
            </a:r>
            <a:endParaRPr sz="1200">
              <a:latin typeface="Calibri"/>
              <a:cs typeface="Calibri"/>
            </a:endParaRPr>
          </a:p>
        </p:txBody>
      </p:sp>
      <p:grpSp>
        <p:nvGrpSpPr>
          <p:cNvPr id="28" name="object 28"/>
          <p:cNvGrpSpPr/>
          <p:nvPr/>
        </p:nvGrpSpPr>
        <p:grpSpPr>
          <a:xfrm>
            <a:off x="5974956" y="3779738"/>
            <a:ext cx="9525" cy="250190"/>
            <a:chOff x="4450955" y="3779738"/>
            <a:chExt cx="9525" cy="250190"/>
          </a:xfrm>
        </p:grpSpPr>
        <p:sp>
          <p:nvSpPr>
            <p:cNvPr id="29" name="object 29"/>
            <p:cNvSpPr/>
            <p:nvPr/>
          </p:nvSpPr>
          <p:spPr>
            <a:xfrm>
              <a:off x="4455717" y="3779738"/>
              <a:ext cx="0" cy="250190"/>
            </a:xfrm>
            <a:custGeom>
              <a:avLst/>
              <a:gdLst/>
              <a:ahLst/>
              <a:cxnLst/>
              <a:rect l="l" t="t" r="r" b="b"/>
              <a:pathLst>
                <a:path h="250189">
                  <a:moveTo>
                    <a:pt x="1" y="0"/>
                  </a:moveTo>
                  <a:lnTo>
                    <a:pt x="0" y="249958"/>
                  </a:lnTo>
                </a:path>
              </a:pathLst>
            </a:custGeom>
            <a:solidFill>
              <a:srgbClr val="C0C0C0">
                <a:alpha val="50199"/>
              </a:srgbClr>
            </a:solidFill>
          </p:spPr>
          <p:txBody>
            <a:bodyPr wrap="square" lIns="0" tIns="0" rIns="0" bIns="0" rtlCol="0"/>
            <a:lstStyle/>
            <a:p>
              <a:endParaRPr/>
            </a:p>
          </p:txBody>
        </p:sp>
        <p:sp>
          <p:nvSpPr>
            <p:cNvPr id="30" name="object 30"/>
            <p:cNvSpPr/>
            <p:nvPr/>
          </p:nvSpPr>
          <p:spPr>
            <a:xfrm>
              <a:off x="4455717" y="3779738"/>
              <a:ext cx="0" cy="250190"/>
            </a:xfrm>
            <a:custGeom>
              <a:avLst/>
              <a:gdLst/>
              <a:ahLst/>
              <a:cxnLst/>
              <a:rect l="l" t="t" r="r" b="b"/>
              <a:pathLst>
                <a:path h="250189">
                  <a:moveTo>
                    <a:pt x="0" y="249959"/>
                  </a:moveTo>
                  <a:lnTo>
                    <a:pt x="1" y="0"/>
                  </a:lnTo>
                </a:path>
              </a:pathLst>
            </a:custGeom>
            <a:ln w="9525">
              <a:solidFill>
                <a:srgbClr val="000000"/>
              </a:solidFill>
            </a:ln>
          </p:spPr>
          <p:txBody>
            <a:bodyPr wrap="square" lIns="0" tIns="0" rIns="0" bIns="0" rtlCol="0"/>
            <a:lstStyle/>
            <a:p>
              <a:endParaRPr/>
            </a:p>
          </p:txBody>
        </p:sp>
      </p:grpSp>
      <p:grpSp>
        <p:nvGrpSpPr>
          <p:cNvPr id="31" name="object 31"/>
          <p:cNvGrpSpPr/>
          <p:nvPr/>
        </p:nvGrpSpPr>
        <p:grpSpPr>
          <a:xfrm>
            <a:off x="3395495" y="2310294"/>
            <a:ext cx="735965" cy="319405"/>
            <a:chOff x="1871494" y="2310293"/>
            <a:chExt cx="735965" cy="319405"/>
          </a:xfrm>
        </p:grpSpPr>
        <p:sp>
          <p:nvSpPr>
            <p:cNvPr id="32" name="object 32"/>
            <p:cNvSpPr/>
            <p:nvPr/>
          </p:nvSpPr>
          <p:spPr>
            <a:xfrm>
              <a:off x="1876257" y="2315056"/>
              <a:ext cx="726440" cy="309880"/>
            </a:xfrm>
            <a:custGeom>
              <a:avLst/>
              <a:gdLst/>
              <a:ahLst/>
              <a:cxnLst/>
              <a:rect l="l" t="t" r="r" b="b"/>
              <a:pathLst>
                <a:path w="726439" h="309880">
                  <a:moveTo>
                    <a:pt x="726056" y="0"/>
                  </a:moveTo>
                  <a:lnTo>
                    <a:pt x="0" y="0"/>
                  </a:lnTo>
                  <a:lnTo>
                    <a:pt x="0" y="309752"/>
                  </a:lnTo>
                  <a:lnTo>
                    <a:pt x="726056" y="309752"/>
                  </a:lnTo>
                  <a:lnTo>
                    <a:pt x="726056" y="0"/>
                  </a:lnTo>
                  <a:close/>
                </a:path>
              </a:pathLst>
            </a:custGeom>
            <a:solidFill>
              <a:srgbClr val="F2DCDB"/>
            </a:solidFill>
          </p:spPr>
          <p:txBody>
            <a:bodyPr wrap="square" lIns="0" tIns="0" rIns="0" bIns="0" rtlCol="0"/>
            <a:lstStyle/>
            <a:p>
              <a:endParaRPr/>
            </a:p>
          </p:txBody>
        </p:sp>
        <p:sp>
          <p:nvSpPr>
            <p:cNvPr id="33" name="object 33"/>
            <p:cNvSpPr/>
            <p:nvPr/>
          </p:nvSpPr>
          <p:spPr>
            <a:xfrm>
              <a:off x="1876257" y="2315056"/>
              <a:ext cx="726440" cy="309880"/>
            </a:xfrm>
            <a:custGeom>
              <a:avLst/>
              <a:gdLst/>
              <a:ahLst/>
              <a:cxnLst/>
              <a:rect l="l" t="t" r="r" b="b"/>
              <a:pathLst>
                <a:path w="726439" h="309880">
                  <a:moveTo>
                    <a:pt x="0" y="0"/>
                  </a:moveTo>
                  <a:lnTo>
                    <a:pt x="726057" y="0"/>
                  </a:lnTo>
                  <a:lnTo>
                    <a:pt x="726057" y="309753"/>
                  </a:lnTo>
                  <a:lnTo>
                    <a:pt x="0" y="309753"/>
                  </a:lnTo>
                  <a:lnTo>
                    <a:pt x="0" y="0"/>
                  </a:lnTo>
                  <a:close/>
                </a:path>
              </a:pathLst>
            </a:custGeom>
            <a:ln w="9525">
              <a:solidFill>
                <a:srgbClr val="000000"/>
              </a:solidFill>
            </a:ln>
          </p:spPr>
          <p:txBody>
            <a:bodyPr wrap="square" lIns="0" tIns="0" rIns="0" bIns="0" rtlCol="0"/>
            <a:lstStyle/>
            <a:p>
              <a:endParaRPr/>
            </a:p>
          </p:txBody>
        </p:sp>
      </p:grpSp>
      <p:sp>
        <p:nvSpPr>
          <p:cNvPr id="34" name="object 34"/>
          <p:cNvSpPr txBox="1"/>
          <p:nvPr/>
        </p:nvSpPr>
        <p:spPr>
          <a:xfrm>
            <a:off x="3531986" y="2357966"/>
            <a:ext cx="462280" cy="197490"/>
          </a:xfrm>
          <a:prstGeom prst="rect">
            <a:avLst/>
          </a:prstGeom>
        </p:spPr>
        <p:txBody>
          <a:bodyPr vert="horz" wrap="square" lIns="0" tIns="12700" rIns="0" bIns="0" rtlCol="0">
            <a:spAutoFit/>
          </a:bodyPr>
          <a:lstStyle/>
          <a:p>
            <a:pPr marL="12700">
              <a:spcBef>
                <a:spcPts val="100"/>
              </a:spcBef>
            </a:pPr>
            <a:r>
              <a:rPr sz="1200" spc="-15">
                <a:latin typeface="Calibri"/>
                <a:cs typeface="Calibri"/>
              </a:rPr>
              <a:t>Players</a:t>
            </a:r>
            <a:endParaRPr sz="1200">
              <a:latin typeface="Calibri"/>
              <a:cs typeface="Calibri"/>
            </a:endParaRPr>
          </a:p>
        </p:txBody>
      </p:sp>
      <p:grpSp>
        <p:nvGrpSpPr>
          <p:cNvPr id="35" name="object 35"/>
          <p:cNvGrpSpPr/>
          <p:nvPr/>
        </p:nvGrpSpPr>
        <p:grpSpPr>
          <a:xfrm>
            <a:off x="2831600" y="1614442"/>
            <a:ext cx="871855" cy="408305"/>
            <a:chOff x="1307599" y="1614441"/>
            <a:chExt cx="871855" cy="408305"/>
          </a:xfrm>
        </p:grpSpPr>
        <p:sp>
          <p:nvSpPr>
            <p:cNvPr id="36" name="object 36"/>
            <p:cNvSpPr/>
            <p:nvPr/>
          </p:nvSpPr>
          <p:spPr>
            <a:xfrm>
              <a:off x="1312362" y="1619204"/>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37" name="object 37"/>
            <p:cNvSpPr/>
            <p:nvPr/>
          </p:nvSpPr>
          <p:spPr>
            <a:xfrm>
              <a:off x="1312362" y="1619204"/>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38" name="object 38"/>
          <p:cNvSpPr txBox="1"/>
          <p:nvPr/>
        </p:nvSpPr>
        <p:spPr>
          <a:xfrm>
            <a:off x="3079339" y="1706032"/>
            <a:ext cx="375920" cy="197490"/>
          </a:xfrm>
          <a:prstGeom prst="rect">
            <a:avLst/>
          </a:prstGeom>
        </p:spPr>
        <p:txBody>
          <a:bodyPr vert="horz" wrap="square" lIns="0" tIns="12700" rIns="0" bIns="0" rtlCol="0">
            <a:spAutoFit/>
          </a:bodyPr>
          <a:lstStyle/>
          <a:p>
            <a:pPr marL="12700">
              <a:spcBef>
                <a:spcPts val="100"/>
              </a:spcBef>
            </a:pPr>
            <a:r>
              <a:rPr sz="1200" spc="-10">
                <a:latin typeface="Calibri"/>
                <a:cs typeface="Calibri"/>
              </a:rPr>
              <a:t>n</a:t>
            </a:r>
            <a:r>
              <a:rPr sz="1200" spc="-5">
                <a:latin typeface="Calibri"/>
                <a:cs typeface="Calibri"/>
              </a:rPr>
              <a:t>a</a:t>
            </a:r>
            <a:r>
              <a:rPr sz="1200">
                <a:latin typeface="Calibri"/>
                <a:cs typeface="Calibri"/>
              </a:rPr>
              <a:t>me</a:t>
            </a:r>
          </a:p>
        </p:txBody>
      </p:sp>
      <p:grpSp>
        <p:nvGrpSpPr>
          <p:cNvPr id="39" name="object 39"/>
          <p:cNvGrpSpPr/>
          <p:nvPr/>
        </p:nvGrpSpPr>
        <p:grpSpPr>
          <a:xfrm>
            <a:off x="3278000" y="2003655"/>
            <a:ext cx="2113280" cy="574675"/>
            <a:chOff x="1754000" y="2003654"/>
            <a:chExt cx="2113280" cy="574675"/>
          </a:xfrm>
        </p:grpSpPr>
        <p:sp>
          <p:nvSpPr>
            <p:cNvPr id="40" name="object 40"/>
            <p:cNvSpPr/>
            <p:nvPr/>
          </p:nvSpPr>
          <p:spPr>
            <a:xfrm>
              <a:off x="1758763" y="2008417"/>
              <a:ext cx="495934" cy="297815"/>
            </a:xfrm>
            <a:custGeom>
              <a:avLst/>
              <a:gdLst/>
              <a:ahLst/>
              <a:cxnLst/>
              <a:rect l="l" t="t" r="r" b="b"/>
              <a:pathLst>
                <a:path w="495935" h="297814">
                  <a:moveTo>
                    <a:pt x="0" y="0"/>
                  </a:moveTo>
                  <a:lnTo>
                    <a:pt x="495827" y="297600"/>
                  </a:lnTo>
                </a:path>
              </a:pathLst>
            </a:custGeom>
            <a:solidFill>
              <a:srgbClr val="C0C0C0">
                <a:alpha val="50199"/>
              </a:srgbClr>
            </a:solidFill>
          </p:spPr>
          <p:txBody>
            <a:bodyPr wrap="square" lIns="0" tIns="0" rIns="0" bIns="0" rtlCol="0"/>
            <a:lstStyle/>
            <a:p>
              <a:endParaRPr/>
            </a:p>
          </p:txBody>
        </p:sp>
        <p:sp>
          <p:nvSpPr>
            <p:cNvPr id="41" name="object 41"/>
            <p:cNvSpPr/>
            <p:nvPr/>
          </p:nvSpPr>
          <p:spPr>
            <a:xfrm>
              <a:off x="1758763" y="2008417"/>
              <a:ext cx="495934" cy="297815"/>
            </a:xfrm>
            <a:custGeom>
              <a:avLst/>
              <a:gdLst/>
              <a:ahLst/>
              <a:cxnLst/>
              <a:rect l="l" t="t" r="r" b="b"/>
              <a:pathLst>
                <a:path w="495935" h="297814">
                  <a:moveTo>
                    <a:pt x="0" y="0"/>
                  </a:moveTo>
                  <a:lnTo>
                    <a:pt x="495827" y="297600"/>
                  </a:lnTo>
                </a:path>
              </a:pathLst>
            </a:custGeom>
            <a:ln w="9525">
              <a:solidFill>
                <a:srgbClr val="000000"/>
              </a:solidFill>
            </a:ln>
          </p:spPr>
          <p:txBody>
            <a:bodyPr wrap="square" lIns="0" tIns="0" rIns="0" bIns="0" rtlCol="0"/>
            <a:lstStyle/>
            <a:p>
              <a:endParaRPr/>
            </a:p>
          </p:txBody>
        </p:sp>
        <p:sp>
          <p:nvSpPr>
            <p:cNvPr id="42" name="object 42"/>
            <p:cNvSpPr/>
            <p:nvPr/>
          </p:nvSpPr>
          <p:spPr>
            <a:xfrm>
              <a:off x="2915895" y="2175269"/>
              <a:ext cx="946785" cy="398780"/>
            </a:xfrm>
            <a:custGeom>
              <a:avLst/>
              <a:gdLst/>
              <a:ahLst/>
              <a:cxnLst/>
              <a:rect l="l" t="t" r="r" b="b"/>
              <a:pathLst>
                <a:path w="946785" h="398780">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43" name="object 43"/>
            <p:cNvSpPr/>
            <p:nvPr/>
          </p:nvSpPr>
          <p:spPr>
            <a:xfrm>
              <a:off x="2915895" y="2175269"/>
              <a:ext cx="946785" cy="398780"/>
            </a:xfrm>
            <a:custGeom>
              <a:avLst/>
              <a:gdLst/>
              <a:ahLst/>
              <a:cxnLst/>
              <a:rect l="l" t="t" r="r" b="b"/>
              <a:pathLst>
                <a:path w="946785" h="398780">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44" name="object 44"/>
          <p:cNvSpPr txBox="1"/>
          <p:nvPr/>
        </p:nvSpPr>
        <p:spPr>
          <a:xfrm>
            <a:off x="4558361" y="2264832"/>
            <a:ext cx="710565" cy="197490"/>
          </a:xfrm>
          <a:prstGeom prst="rect">
            <a:avLst/>
          </a:prstGeom>
        </p:spPr>
        <p:txBody>
          <a:bodyPr vert="horz" wrap="square" lIns="0" tIns="12700" rIns="0" bIns="0" rtlCol="0">
            <a:spAutoFit/>
          </a:bodyPr>
          <a:lstStyle/>
          <a:p>
            <a:pPr marL="12700">
              <a:spcBef>
                <a:spcPts val="100"/>
              </a:spcBef>
            </a:pPr>
            <a:r>
              <a:rPr sz="1200" spc="-5">
                <a:latin typeface="Calibri"/>
                <a:cs typeface="Calibri"/>
              </a:rPr>
              <a:t>MemberOf</a:t>
            </a:r>
            <a:endParaRPr sz="1200">
              <a:latin typeface="Calibri"/>
              <a:cs typeface="Calibri"/>
            </a:endParaRPr>
          </a:p>
        </p:txBody>
      </p:sp>
      <p:grpSp>
        <p:nvGrpSpPr>
          <p:cNvPr id="45" name="object 45"/>
          <p:cNvGrpSpPr/>
          <p:nvPr/>
        </p:nvGrpSpPr>
        <p:grpSpPr>
          <a:xfrm>
            <a:off x="3758524" y="1634637"/>
            <a:ext cx="871855" cy="408305"/>
            <a:chOff x="2234523" y="1634636"/>
            <a:chExt cx="871855" cy="408305"/>
          </a:xfrm>
        </p:grpSpPr>
        <p:sp>
          <p:nvSpPr>
            <p:cNvPr id="46" name="object 46"/>
            <p:cNvSpPr/>
            <p:nvPr/>
          </p:nvSpPr>
          <p:spPr>
            <a:xfrm>
              <a:off x="2239285" y="1639398"/>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0"/>
                  </a:lnTo>
                  <a:lnTo>
                    <a:pt x="0" y="199125"/>
                  </a:lnTo>
                  <a:lnTo>
                    <a:pt x="4674" y="228551"/>
                  </a:lnTo>
                  <a:lnTo>
                    <a:pt x="40067" y="283073"/>
                  </a:lnTo>
                  <a:lnTo>
                    <a:pt x="69452" y="307552"/>
                  </a:lnTo>
                  <a:lnTo>
                    <a:pt x="105740" y="329768"/>
                  </a:lnTo>
                  <a:lnTo>
                    <a:pt x="148265" y="349410"/>
                  </a:lnTo>
                  <a:lnTo>
                    <a:pt x="196359" y="366172"/>
                  </a:lnTo>
                  <a:lnTo>
                    <a:pt x="249356" y="379745"/>
                  </a:lnTo>
                  <a:lnTo>
                    <a:pt x="306590" y="389822"/>
                  </a:lnTo>
                  <a:lnTo>
                    <a:pt x="367392" y="396093"/>
                  </a:lnTo>
                  <a:lnTo>
                    <a:pt x="431096" y="398252"/>
                  </a:lnTo>
                  <a:lnTo>
                    <a:pt x="494800" y="396093"/>
                  </a:lnTo>
                  <a:lnTo>
                    <a:pt x="555602" y="389822"/>
                  </a:lnTo>
                  <a:lnTo>
                    <a:pt x="612835" y="379745"/>
                  </a:lnTo>
                  <a:lnTo>
                    <a:pt x="665832" y="366172"/>
                  </a:lnTo>
                  <a:lnTo>
                    <a:pt x="713926" y="349410"/>
                  </a:lnTo>
                  <a:lnTo>
                    <a:pt x="756451" y="329768"/>
                  </a:lnTo>
                  <a:lnTo>
                    <a:pt x="792740" y="307552"/>
                  </a:lnTo>
                  <a:lnTo>
                    <a:pt x="822125" y="283073"/>
                  </a:lnTo>
                  <a:lnTo>
                    <a:pt x="857518" y="228551"/>
                  </a:lnTo>
                  <a:lnTo>
                    <a:pt x="862192" y="199125"/>
                  </a:lnTo>
                  <a:lnTo>
                    <a:pt x="857518" y="169700"/>
                  </a:lnTo>
                  <a:lnTo>
                    <a:pt x="822125" y="115179"/>
                  </a:lnTo>
                  <a:lnTo>
                    <a:pt x="792740" y="90699"/>
                  </a:lnTo>
                  <a:lnTo>
                    <a:pt x="756451" y="68484"/>
                  </a:lnTo>
                  <a:lnTo>
                    <a:pt x="713926" y="48842"/>
                  </a:lnTo>
                  <a:lnTo>
                    <a:pt x="665832"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47" name="object 47"/>
            <p:cNvSpPr/>
            <p:nvPr/>
          </p:nvSpPr>
          <p:spPr>
            <a:xfrm>
              <a:off x="2239285" y="1639398"/>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48" name="object 48"/>
          <p:cNvSpPr txBox="1"/>
          <p:nvPr/>
        </p:nvSpPr>
        <p:spPr>
          <a:xfrm>
            <a:off x="3908601" y="1722966"/>
            <a:ext cx="572135" cy="197490"/>
          </a:xfrm>
          <a:prstGeom prst="rect">
            <a:avLst/>
          </a:prstGeom>
        </p:spPr>
        <p:txBody>
          <a:bodyPr vert="horz" wrap="square" lIns="0" tIns="12700" rIns="0" bIns="0" rtlCol="0">
            <a:spAutoFit/>
          </a:bodyPr>
          <a:lstStyle/>
          <a:p>
            <a:pPr marL="12700">
              <a:spcBef>
                <a:spcPts val="100"/>
              </a:spcBef>
            </a:pPr>
            <a:r>
              <a:rPr sz="1200" u="sng" spc="5">
                <a:uFill>
                  <a:solidFill>
                    <a:srgbClr val="000000"/>
                  </a:solidFill>
                </a:uFill>
                <a:latin typeface="Calibri"/>
                <a:cs typeface="Calibri"/>
              </a:rPr>
              <a:t>P</a:t>
            </a:r>
            <a:r>
              <a:rPr sz="1200" u="sng">
                <a:uFill>
                  <a:solidFill>
                    <a:srgbClr val="000000"/>
                  </a:solidFill>
                </a:uFill>
                <a:latin typeface="Calibri"/>
                <a:cs typeface="Calibri"/>
              </a:rPr>
              <a:t>l</a:t>
            </a:r>
            <a:r>
              <a:rPr sz="1200" u="sng" spc="-25">
                <a:uFill>
                  <a:solidFill>
                    <a:srgbClr val="000000"/>
                  </a:solidFill>
                </a:uFill>
                <a:latin typeface="Calibri"/>
                <a:cs typeface="Calibri"/>
              </a:rPr>
              <a:t>ay</a:t>
            </a:r>
            <a:r>
              <a:rPr sz="1200" u="sng">
                <a:uFill>
                  <a:solidFill>
                    <a:srgbClr val="000000"/>
                  </a:solidFill>
                </a:uFill>
                <a:latin typeface="Calibri"/>
                <a:cs typeface="Calibri"/>
              </a:rPr>
              <a:t>er</a:t>
            </a:r>
            <a:r>
              <a:rPr sz="1200" u="sng" spc="-5">
                <a:uFill>
                  <a:solidFill>
                    <a:srgbClr val="000000"/>
                  </a:solidFill>
                </a:uFill>
                <a:latin typeface="Calibri"/>
                <a:cs typeface="Calibri"/>
              </a:rPr>
              <a:t> I</a:t>
            </a:r>
            <a:r>
              <a:rPr sz="1200" u="sng">
                <a:uFill>
                  <a:solidFill>
                    <a:srgbClr val="000000"/>
                  </a:solidFill>
                </a:uFill>
                <a:latin typeface="Calibri"/>
                <a:cs typeface="Calibri"/>
              </a:rPr>
              <a:t>D</a:t>
            </a:r>
            <a:endParaRPr sz="1200">
              <a:latin typeface="Calibri"/>
              <a:cs typeface="Calibri"/>
            </a:endParaRPr>
          </a:p>
        </p:txBody>
      </p:sp>
      <p:grpSp>
        <p:nvGrpSpPr>
          <p:cNvPr id="49" name="object 49"/>
          <p:cNvGrpSpPr/>
          <p:nvPr/>
        </p:nvGrpSpPr>
        <p:grpSpPr>
          <a:xfrm>
            <a:off x="2831599" y="2032890"/>
            <a:ext cx="1367790" cy="1356995"/>
            <a:chOff x="1307599" y="2032889"/>
            <a:chExt cx="1367790" cy="1356995"/>
          </a:xfrm>
        </p:grpSpPr>
        <p:sp>
          <p:nvSpPr>
            <p:cNvPr id="50" name="object 50"/>
            <p:cNvSpPr/>
            <p:nvPr/>
          </p:nvSpPr>
          <p:spPr>
            <a:xfrm>
              <a:off x="2239286" y="2037651"/>
              <a:ext cx="431165" cy="277495"/>
            </a:xfrm>
            <a:custGeom>
              <a:avLst/>
              <a:gdLst/>
              <a:ahLst/>
              <a:cxnLst/>
              <a:rect l="l" t="t" r="r" b="b"/>
              <a:pathLst>
                <a:path w="431164" h="277494">
                  <a:moveTo>
                    <a:pt x="431096" y="0"/>
                  </a:moveTo>
                  <a:lnTo>
                    <a:pt x="0" y="277404"/>
                  </a:lnTo>
                </a:path>
              </a:pathLst>
            </a:custGeom>
            <a:solidFill>
              <a:srgbClr val="C0C0C0">
                <a:alpha val="50199"/>
              </a:srgbClr>
            </a:solidFill>
          </p:spPr>
          <p:txBody>
            <a:bodyPr wrap="square" lIns="0" tIns="0" rIns="0" bIns="0" rtlCol="0"/>
            <a:lstStyle/>
            <a:p>
              <a:endParaRPr/>
            </a:p>
          </p:txBody>
        </p:sp>
        <p:sp>
          <p:nvSpPr>
            <p:cNvPr id="51" name="object 51"/>
            <p:cNvSpPr/>
            <p:nvPr/>
          </p:nvSpPr>
          <p:spPr>
            <a:xfrm>
              <a:off x="2239287" y="2037651"/>
              <a:ext cx="431165" cy="277495"/>
            </a:xfrm>
            <a:custGeom>
              <a:avLst/>
              <a:gdLst/>
              <a:ahLst/>
              <a:cxnLst/>
              <a:rect l="l" t="t" r="r" b="b"/>
              <a:pathLst>
                <a:path w="431164" h="277494">
                  <a:moveTo>
                    <a:pt x="431096" y="0"/>
                  </a:moveTo>
                  <a:lnTo>
                    <a:pt x="0" y="277406"/>
                  </a:lnTo>
                </a:path>
              </a:pathLst>
            </a:custGeom>
            <a:ln w="9525">
              <a:solidFill>
                <a:srgbClr val="000000"/>
              </a:solidFill>
            </a:ln>
          </p:spPr>
          <p:txBody>
            <a:bodyPr wrap="square" lIns="0" tIns="0" rIns="0" bIns="0" rtlCol="0"/>
            <a:lstStyle/>
            <a:p>
              <a:endParaRPr/>
            </a:p>
          </p:txBody>
        </p:sp>
        <p:sp>
          <p:nvSpPr>
            <p:cNvPr id="52" name="object 52"/>
            <p:cNvSpPr/>
            <p:nvPr/>
          </p:nvSpPr>
          <p:spPr>
            <a:xfrm>
              <a:off x="1312362" y="2986803"/>
              <a:ext cx="946785" cy="398780"/>
            </a:xfrm>
            <a:custGeom>
              <a:avLst/>
              <a:gdLst/>
              <a:ahLst/>
              <a:cxnLst/>
              <a:rect l="l" t="t" r="r" b="b"/>
              <a:pathLst>
                <a:path w="946785" h="398779">
                  <a:moveTo>
                    <a:pt x="473270" y="0"/>
                  </a:moveTo>
                  <a:lnTo>
                    <a:pt x="0" y="199127"/>
                  </a:lnTo>
                  <a:lnTo>
                    <a:pt x="473270" y="398254"/>
                  </a:lnTo>
                  <a:lnTo>
                    <a:pt x="946541" y="199127"/>
                  </a:lnTo>
                  <a:lnTo>
                    <a:pt x="473270" y="0"/>
                  </a:lnTo>
                  <a:close/>
                </a:path>
              </a:pathLst>
            </a:custGeom>
            <a:solidFill>
              <a:srgbClr val="4F81BD"/>
            </a:solidFill>
          </p:spPr>
          <p:txBody>
            <a:bodyPr wrap="square" lIns="0" tIns="0" rIns="0" bIns="0" rtlCol="0"/>
            <a:lstStyle/>
            <a:p>
              <a:endParaRPr/>
            </a:p>
          </p:txBody>
        </p:sp>
        <p:sp>
          <p:nvSpPr>
            <p:cNvPr id="53" name="object 53"/>
            <p:cNvSpPr/>
            <p:nvPr/>
          </p:nvSpPr>
          <p:spPr>
            <a:xfrm>
              <a:off x="1312362" y="2986803"/>
              <a:ext cx="946785" cy="398780"/>
            </a:xfrm>
            <a:custGeom>
              <a:avLst/>
              <a:gdLst/>
              <a:ahLst/>
              <a:cxnLst/>
              <a:rect l="l" t="t" r="r" b="b"/>
              <a:pathLst>
                <a:path w="946785" h="398779">
                  <a:moveTo>
                    <a:pt x="0" y="199127"/>
                  </a:moveTo>
                  <a:lnTo>
                    <a:pt x="473270" y="0"/>
                  </a:lnTo>
                  <a:lnTo>
                    <a:pt x="946541" y="199127"/>
                  </a:lnTo>
                  <a:lnTo>
                    <a:pt x="473270" y="398254"/>
                  </a:lnTo>
                  <a:lnTo>
                    <a:pt x="0" y="199127"/>
                  </a:lnTo>
                  <a:close/>
                </a:path>
              </a:pathLst>
            </a:custGeom>
            <a:ln w="9525">
              <a:solidFill>
                <a:srgbClr val="000000"/>
              </a:solidFill>
            </a:ln>
          </p:spPr>
          <p:txBody>
            <a:bodyPr wrap="square" lIns="0" tIns="0" rIns="0" bIns="0" rtlCol="0"/>
            <a:lstStyle/>
            <a:p>
              <a:endParaRPr/>
            </a:p>
          </p:txBody>
        </p:sp>
      </p:grpSp>
      <p:sp>
        <p:nvSpPr>
          <p:cNvPr id="54" name="object 54"/>
          <p:cNvSpPr txBox="1"/>
          <p:nvPr/>
        </p:nvSpPr>
        <p:spPr>
          <a:xfrm>
            <a:off x="2891802" y="3069166"/>
            <a:ext cx="836930" cy="197490"/>
          </a:xfrm>
          <a:prstGeom prst="rect">
            <a:avLst/>
          </a:prstGeom>
        </p:spPr>
        <p:txBody>
          <a:bodyPr vert="horz" wrap="square" lIns="0" tIns="12700" rIns="0" bIns="0" rtlCol="0">
            <a:spAutoFit/>
          </a:bodyPr>
          <a:lstStyle/>
          <a:p>
            <a:pPr marL="12700">
              <a:spcBef>
                <a:spcPts val="100"/>
              </a:spcBef>
            </a:pPr>
            <a:r>
              <a:rPr sz="1200" spc="5">
                <a:latin typeface="Calibri"/>
                <a:cs typeface="Calibri"/>
              </a:rPr>
              <a:t>P</a:t>
            </a:r>
            <a:r>
              <a:rPr sz="1200">
                <a:latin typeface="Calibri"/>
                <a:cs typeface="Calibri"/>
              </a:rPr>
              <a:t>l</a:t>
            </a:r>
            <a:r>
              <a:rPr sz="1200" spc="-25">
                <a:latin typeface="Calibri"/>
                <a:cs typeface="Calibri"/>
              </a:rPr>
              <a:t>a</a:t>
            </a:r>
            <a:r>
              <a:rPr sz="1200" spc="-20">
                <a:latin typeface="Calibri"/>
                <a:cs typeface="Calibri"/>
              </a:rPr>
              <a:t>y</a:t>
            </a:r>
            <a:r>
              <a:rPr sz="1200" spc="5">
                <a:latin typeface="Calibri"/>
                <a:cs typeface="Calibri"/>
              </a:rPr>
              <a:t>s</a:t>
            </a:r>
            <a:r>
              <a:rPr sz="1200" spc="-20">
                <a:latin typeface="Calibri"/>
                <a:cs typeface="Calibri"/>
              </a:rPr>
              <a:t>P</a:t>
            </a:r>
            <a:r>
              <a:rPr sz="1200" spc="5">
                <a:latin typeface="Calibri"/>
                <a:cs typeface="Calibri"/>
              </a:rPr>
              <a:t>os</a:t>
            </a:r>
            <a:r>
              <a:rPr sz="1200" spc="-5">
                <a:latin typeface="Calibri"/>
                <a:cs typeface="Calibri"/>
              </a:rPr>
              <a:t>iti</a:t>
            </a:r>
            <a:r>
              <a:rPr sz="1200" spc="5">
                <a:latin typeface="Calibri"/>
                <a:cs typeface="Calibri"/>
              </a:rPr>
              <a:t>o</a:t>
            </a:r>
            <a:r>
              <a:rPr sz="1200">
                <a:latin typeface="Calibri"/>
                <a:cs typeface="Calibri"/>
              </a:rPr>
              <a:t>n</a:t>
            </a:r>
          </a:p>
        </p:txBody>
      </p:sp>
      <p:grpSp>
        <p:nvGrpSpPr>
          <p:cNvPr id="55" name="object 55"/>
          <p:cNvGrpSpPr/>
          <p:nvPr/>
        </p:nvGrpSpPr>
        <p:grpSpPr>
          <a:xfrm>
            <a:off x="1566624" y="4760798"/>
            <a:ext cx="2594798" cy="319405"/>
            <a:chOff x="345888" y="4760797"/>
            <a:chExt cx="1898650" cy="319405"/>
          </a:xfrm>
        </p:grpSpPr>
        <p:sp>
          <p:nvSpPr>
            <p:cNvPr id="56" name="object 56"/>
            <p:cNvSpPr/>
            <p:nvPr/>
          </p:nvSpPr>
          <p:spPr>
            <a:xfrm>
              <a:off x="350651" y="4765559"/>
              <a:ext cx="826135" cy="309880"/>
            </a:xfrm>
            <a:custGeom>
              <a:avLst/>
              <a:gdLst/>
              <a:ahLst/>
              <a:cxnLst/>
              <a:rect l="l" t="t" r="r" b="b"/>
              <a:pathLst>
                <a:path w="826135" h="309879">
                  <a:moveTo>
                    <a:pt x="826091" y="0"/>
                  </a:moveTo>
                  <a:lnTo>
                    <a:pt x="0" y="0"/>
                  </a:lnTo>
                  <a:lnTo>
                    <a:pt x="0" y="309752"/>
                  </a:lnTo>
                  <a:lnTo>
                    <a:pt x="826091" y="309752"/>
                  </a:lnTo>
                  <a:lnTo>
                    <a:pt x="826091" y="0"/>
                  </a:lnTo>
                  <a:close/>
                </a:path>
              </a:pathLst>
            </a:custGeom>
            <a:solidFill>
              <a:srgbClr val="F2DCDB"/>
            </a:solidFill>
          </p:spPr>
          <p:txBody>
            <a:bodyPr wrap="square" lIns="0" tIns="0" rIns="0" bIns="0" rtlCol="0"/>
            <a:lstStyle/>
            <a:p>
              <a:endParaRPr/>
            </a:p>
          </p:txBody>
        </p:sp>
        <p:sp>
          <p:nvSpPr>
            <p:cNvPr id="57" name="object 57"/>
            <p:cNvSpPr/>
            <p:nvPr/>
          </p:nvSpPr>
          <p:spPr>
            <a:xfrm>
              <a:off x="350651" y="4765559"/>
              <a:ext cx="826135" cy="309880"/>
            </a:xfrm>
            <a:custGeom>
              <a:avLst/>
              <a:gdLst/>
              <a:ahLst/>
              <a:cxnLst/>
              <a:rect l="l" t="t" r="r" b="b"/>
              <a:pathLst>
                <a:path w="826135" h="309879">
                  <a:moveTo>
                    <a:pt x="0" y="0"/>
                  </a:moveTo>
                  <a:lnTo>
                    <a:pt x="826092" y="0"/>
                  </a:lnTo>
                  <a:lnTo>
                    <a:pt x="826092" y="309753"/>
                  </a:lnTo>
                  <a:lnTo>
                    <a:pt x="0" y="309753"/>
                  </a:lnTo>
                  <a:lnTo>
                    <a:pt x="0" y="0"/>
                  </a:lnTo>
                  <a:close/>
                </a:path>
              </a:pathLst>
            </a:custGeom>
            <a:ln w="9525">
              <a:solidFill>
                <a:srgbClr val="000000"/>
              </a:solidFill>
            </a:ln>
          </p:spPr>
          <p:txBody>
            <a:bodyPr wrap="square" lIns="0" tIns="0" rIns="0" bIns="0" rtlCol="0"/>
            <a:lstStyle/>
            <a:p>
              <a:endParaRPr/>
            </a:p>
          </p:txBody>
        </p:sp>
        <p:sp>
          <p:nvSpPr>
            <p:cNvPr id="58" name="object 58"/>
            <p:cNvSpPr/>
            <p:nvPr/>
          </p:nvSpPr>
          <p:spPr>
            <a:xfrm>
              <a:off x="1356207" y="4765559"/>
              <a:ext cx="883285" cy="309880"/>
            </a:xfrm>
            <a:custGeom>
              <a:avLst/>
              <a:gdLst/>
              <a:ahLst/>
              <a:cxnLst/>
              <a:rect l="l" t="t" r="r" b="b"/>
              <a:pathLst>
                <a:path w="883285" h="309879">
                  <a:moveTo>
                    <a:pt x="883077" y="0"/>
                  </a:moveTo>
                  <a:lnTo>
                    <a:pt x="0" y="0"/>
                  </a:lnTo>
                  <a:lnTo>
                    <a:pt x="0" y="309752"/>
                  </a:lnTo>
                  <a:lnTo>
                    <a:pt x="883077" y="309752"/>
                  </a:lnTo>
                  <a:lnTo>
                    <a:pt x="883077" y="0"/>
                  </a:lnTo>
                  <a:close/>
                </a:path>
              </a:pathLst>
            </a:custGeom>
            <a:solidFill>
              <a:srgbClr val="F2DCDB"/>
            </a:solidFill>
          </p:spPr>
          <p:txBody>
            <a:bodyPr wrap="square" lIns="0" tIns="0" rIns="0" bIns="0" rtlCol="0"/>
            <a:lstStyle/>
            <a:p>
              <a:endParaRPr/>
            </a:p>
          </p:txBody>
        </p:sp>
        <p:sp>
          <p:nvSpPr>
            <p:cNvPr id="59" name="object 59"/>
            <p:cNvSpPr/>
            <p:nvPr/>
          </p:nvSpPr>
          <p:spPr>
            <a:xfrm>
              <a:off x="1356207" y="4765559"/>
              <a:ext cx="883285" cy="309880"/>
            </a:xfrm>
            <a:custGeom>
              <a:avLst/>
              <a:gdLst/>
              <a:ahLst/>
              <a:cxnLst/>
              <a:rect l="l" t="t" r="r" b="b"/>
              <a:pathLst>
                <a:path w="883285" h="309879">
                  <a:moveTo>
                    <a:pt x="0" y="0"/>
                  </a:moveTo>
                  <a:lnTo>
                    <a:pt x="883078" y="0"/>
                  </a:lnTo>
                  <a:lnTo>
                    <a:pt x="883078" y="309753"/>
                  </a:lnTo>
                  <a:lnTo>
                    <a:pt x="0" y="309753"/>
                  </a:lnTo>
                  <a:lnTo>
                    <a:pt x="0" y="0"/>
                  </a:lnTo>
                  <a:close/>
                </a:path>
              </a:pathLst>
            </a:custGeom>
            <a:ln w="9525">
              <a:solidFill>
                <a:srgbClr val="000000"/>
              </a:solidFill>
            </a:ln>
          </p:spPr>
          <p:txBody>
            <a:bodyPr wrap="square" lIns="0" tIns="0" rIns="0" bIns="0" rtlCol="0"/>
            <a:lstStyle/>
            <a:p>
              <a:endParaRPr/>
            </a:p>
          </p:txBody>
        </p:sp>
      </p:grpSp>
      <p:sp>
        <p:nvSpPr>
          <p:cNvPr id="60" name="object 60"/>
          <p:cNvSpPr txBox="1"/>
          <p:nvPr/>
        </p:nvSpPr>
        <p:spPr>
          <a:xfrm>
            <a:off x="1609070" y="4801287"/>
            <a:ext cx="2682273" cy="197490"/>
          </a:xfrm>
          <a:prstGeom prst="rect">
            <a:avLst/>
          </a:prstGeom>
        </p:spPr>
        <p:txBody>
          <a:bodyPr vert="horz" wrap="square" lIns="0" tIns="12700" rIns="0" bIns="0" rtlCol="0">
            <a:spAutoFit/>
          </a:bodyPr>
          <a:lstStyle/>
          <a:p>
            <a:pPr marL="12700">
              <a:spcBef>
                <a:spcPts val="100"/>
              </a:spcBef>
            </a:pPr>
            <a:r>
              <a:rPr sz="1200" spc="-5" err="1">
                <a:latin typeface="Calibri"/>
                <a:cs typeface="Calibri"/>
              </a:rPr>
              <a:t>OffensePosition</a:t>
            </a:r>
            <a:r>
              <a:rPr lang="en-US" sz="1200" spc="-5">
                <a:latin typeface="Calibri"/>
                <a:cs typeface="Calibri"/>
              </a:rPr>
              <a:t> </a:t>
            </a:r>
            <a:r>
              <a:rPr sz="1200" spc="5">
                <a:latin typeface="Calibri"/>
                <a:cs typeface="Calibri"/>
              </a:rPr>
              <a:t> </a:t>
            </a:r>
            <a:r>
              <a:rPr lang="en-US" sz="1200" spc="5">
                <a:latin typeface="Calibri"/>
                <a:cs typeface="Calibri"/>
              </a:rPr>
              <a:t>         </a:t>
            </a:r>
            <a:r>
              <a:rPr sz="1200" spc="-5" err="1">
                <a:latin typeface="Calibri"/>
                <a:cs typeface="Calibri"/>
              </a:rPr>
              <a:t>DefensePosition</a:t>
            </a:r>
            <a:endParaRPr sz="1200">
              <a:latin typeface="Calibri"/>
              <a:cs typeface="Calibri"/>
            </a:endParaRPr>
          </a:p>
        </p:txBody>
      </p:sp>
      <p:sp>
        <p:nvSpPr>
          <p:cNvPr id="61" name="object 61"/>
          <p:cNvSpPr txBox="1"/>
          <p:nvPr/>
        </p:nvSpPr>
        <p:spPr>
          <a:xfrm>
            <a:off x="2417144" y="3529606"/>
            <a:ext cx="726440" cy="236603"/>
          </a:xfrm>
          <a:prstGeom prst="rect">
            <a:avLst/>
          </a:prstGeom>
          <a:solidFill>
            <a:srgbClr val="F2DCDB"/>
          </a:solidFill>
          <a:ln w="9525">
            <a:solidFill>
              <a:srgbClr val="000000"/>
            </a:solidFill>
          </a:ln>
        </p:spPr>
        <p:txBody>
          <a:bodyPr vert="horz" wrap="square" lIns="0" tIns="51435" rIns="0" bIns="0" rtlCol="0">
            <a:spAutoFit/>
          </a:bodyPr>
          <a:lstStyle/>
          <a:p>
            <a:pPr marL="113664">
              <a:spcBef>
                <a:spcPts val="405"/>
              </a:spcBef>
            </a:pPr>
            <a:r>
              <a:rPr sz="1200" spc="-5">
                <a:latin typeface="Calibri"/>
                <a:cs typeface="Calibri"/>
              </a:rPr>
              <a:t>Position</a:t>
            </a:r>
            <a:endParaRPr sz="1200">
              <a:latin typeface="Calibri"/>
              <a:cs typeface="Calibri"/>
            </a:endParaRPr>
          </a:p>
        </p:txBody>
      </p:sp>
      <p:grpSp>
        <p:nvGrpSpPr>
          <p:cNvPr id="62" name="object 62"/>
          <p:cNvGrpSpPr/>
          <p:nvPr/>
        </p:nvGrpSpPr>
        <p:grpSpPr>
          <a:xfrm>
            <a:off x="2553438" y="4045098"/>
            <a:ext cx="454025" cy="385445"/>
            <a:chOff x="1029437" y="4045097"/>
            <a:chExt cx="454025" cy="385445"/>
          </a:xfrm>
        </p:grpSpPr>
        <p:sp>
          <p:nvSpPr>
            <p:cNvPr id="63" name="object 63"/>
            <p:cNvSpPr/>
            <p:nvPr/>
          </p:nvSpPr>
          <p:spPr>
            <a:xfrm>
              <a:off x="1034199" y="4049859"/>
              <a:ext cx="444500" cy="375920"/>
            </a:xfrm>
            <a:custGeom>
              <a:avLst/>
              <a:gdLst/>
              <a:ahLst/>
              <a:cxnLst/>
              <a:rect l="l" t="t" r="r" b="b"/>
              <a:pathLst>
                <a:path w="444500" h="375920">
                  <a:moveTo>
                    <a:pt x="221974" y="0"/>
                  </a:moveTo>
                  <a:lnTo>
                    <a:pt x="0" y="375505"/>
                  </a:lnTo>
                  <a:lnTo>
                    <a:pt x="443947" y="375505"/>
                  </a:lnTo>
                  <a:lnTo>
                    <a:pt x="221974" y="0"/>
                  </a:lnTo>
                  <a:close/>
                </a:path>
              </a:pathLst>
            </a:custGeom>
            <a:solidFill>
              <a:srgbClr val="00B0F0"/>
            </a:solidFill>
          </p:spPr>
          <p:txBody>
            <a:bodyPr wrap="square" lIns="0" tIns="0" rIns="0" bIns="0" rtlCol="0"/>
            <a:lstStyle/>
            <a:p>
              <a:endParaRPr/>
            </a:p>
          </p:txBody>
        </p:sp>
        <p:sp>
          <p:nvSpPr>
            <p:cNvPr id="64" name="object 64"/>
            <p:cNvSpPr/>
            <p:nvPr/>
          </p:nvSpPr>
          <p:spPr>
            <a:xfrm>
              <a:off x="1034199" y="4049859"/>
              <a:ext cx="444500" cy="375920"/>
            </a:xfrm>
            <a:custGeom>
              <a:avLst/>
              <a:gdLst/>
              <a:ahLst/>
              <a:cxnLst/>
              <a:rect l="l" t="t" r="r" b="b"/>
              <a:pathLst>
                <a:path w="444500" h="375920">
                  <a:moveTo>
                    <a:pt x="0" y="375506"/>
                  </a:moveTo>
                  <a:lnTo>
                    <a:pt x="221974" y="0"/>
                  </a:lnTo>
                  <a:lnTo>
                    <a:pt x="443948" y="375506"/>
                  </a:lnTo>
                  <a:lnTo>
                    <a:pt x="0" y="375506"/>
                  </a:lnTo>
                  <a:close/>
                </a:path>
              </a:pathLst>
            </a:custGeom>
            <a:ln w="9525">
              <a:solidFill>
                <a:srgbClr val="000000"/>
              </a:solidFill>
            </a:ln>
          </p:spPr>
          <p:txBody>
            <a:bodyPr wrap="square" lIns="0" tIns="0" rIns="0" bIns="0" rtlCol="0"/>
            <a:lstStyle/>
            <a:p>
              <a:endParaRPr/>
            </a:p>
          </p:txBody>
        </p:sp>
      </p:grpSp>
      <p:sp>
        <p:nvSpPr>
          <p:cNvPr id="65" name="object 65"/>
          <p:cNvSpPr txBox="1"/>
          <p:nvPr/>
        </p:nvSpPr>
        <p:spPr>
          <a:xfrm>
            <a:off x="2683337" y="4220632"/>
            <a:ext cx="193675" cy="197490"/>
          </a:xfrm>
          <a:prstGeom prst="rect">
            <a:avLst/>
          </a:prstGeom>
        </p:spPr>
        <p:txBody>
          <a:bodyPr vert="horz" wrap="square" lIns="0" tIns="12700" rIns="0" bIns="0" rtlCol="0">
            <a:spAutoFit/>
          </a:bodyPr>
          <a:lstStyle/>
          <a:p>
            <a:pPr marL="12700">
              <a:spcBef>
                <a:spcPts val="100"/>
              </a:spcBef>
            </a:pPr>
            <a:r>
              <a:rPr sz="1200" spc="-5">
                <a:latin typeface="Calibri"/>
                <a:cs typeface="Calibri"/>
              </a:rPr>
              <a:t>i</a:t>
            </a:r>
            <a:r>
              <a:rPr sz="1200" spc="5">
                <a:latin typeface="Calibri"/>
                <a:cs typeface="Calibri"/>
              </a:rPr>
              <a:t>s</a:t>
            </a:r>
            <a:r>
              <a:rPr sz="1200">
                <a:latin typeface="Calibri"/>
                <a:cs typeface="Calibri"/>
              </a:rPr>
              <a:t>a</a:t>
            </a:r>
          </a:p>
        </p:txBody>
      </p:sp>
      <p:grpSp>
        <p:nvGrpSpPr>
          <p:cNvPr id="66" name="object 66"/>
          <p:cNvGrpSpPr/>
          <p:nvPr/>
        </p:nvGrpSpPr>
        <p:grpSpPr>
          <a:xfrm>
            <a:off x="2174532" y="2260600"/>
            <a:ext cx="3447415" cy="3215640"/>
            <a:chOff x="650531" y="2260600"/>
            <a:chExt cx="3447415" cy="3215640"/>
          </a:xfrm>
        </p:grpSpPr>
        <p:sp>
          <p:nvSpPr>
            <p:cNvPr id="67" name="object 67"/>
            <p:cNvSpPr/>
            <p:nvPr/>
          </p:nvSpPr>
          <p:spPr>
            <a:xfrm>
              <a:off x="1256174" y="3385058"/>
              <a:ext cx="529590" cy="144780"/>
            </a:xfrm>
            <a:custGeom>
              <a:avLst/>
              <a:gdLst/>
              <a:ahLst/>
              <a:cxnLst/>
              <a:rect l="l" t="t" r="r" b="b"/>
              <a:pathLst>
                <a:path w="529589" h="144779">
                  <a:moveTo>
                    <a:pt x="529458" y="0"/>
                  </a:moveTo>
                  <a:lnTo>
                    <a:pt x="0" y="144547"/>
                  </a:lnTo>
                </a:path>
              </a:pathLst>
            </a:custGeom>
            <a:solidFill>
              <a:srgbClr val="C0C0C0">
                <a:alpha val="50199"/>
              </a:srgbClr>
            </a:solidFill>
          </p:spPr>
          <p:txBody>
            <a:bodyPr wrap="square" lIns="0" tIns="0" rIns="0" bIns="0" rtlCol="0"/>
            <a:lstStyle/>
            <a:p>
              <a:endParaRPr/>
            </a:p>
          </p:txBody>
        </p:sp>
        <p:sp>
          <p:nvSpPr>
            <p:cNvPr id="68" name="object 68"/>
            <p:cNvSpPr/>
            <p:nvPr/>
          </p:nvSpPr>
          <p:spPr>
            <a:xfrm>
              <a:off x="1256173" y="3385058"/>
              <a:ext cx="529590" cy="144780"/>
            </a:xfrm>
            <a:custGeom>
              <a:avLst/>
              <a:gdLst/>
              <a:ahLst/>
              <a:cxnLst/>
              <a:rect l="l" t="t" r="r" b="b"/>
              <a:pathLst>
                <a:path w="529589" h="144779">
                  <a:moveTo>
                    <a:pt x="529459" y="0"/>
                  </a:moveTo>
                  <a:lnTo>
                    <a:pt x="0" y="144548"/>
                  </a:lnTo>
                </a:path>
              </a:pathLst>
            </a:custGeom>
            <a:ln w="9525">
              <a:solidFill>
                <a:srgbClr val="000000"/>
              </a:solidFill>
            </a:ln>
          </p:spPr>
          <p:txBody>
            <a:bodyPr wrap="square" lIns="0" tIns="0" rIns="0" bIns="0" rtlCol="0"/>
            <a:lstStyle/>
            <a:p>
              <a:endParaRPr/>
            </a:p>
          </p:txBody>
        </p:sp>
        <p:pic>
          <p:nvPicPr>
            <p:cNvPr id="69" name="object 69"/>
            <p:cNvPicPr/>
            <p:nvPr/>
          </p:nvPicPr>
          <p:blipFill>
            <a:blip r:embed="rId4" cstate="print"/>
            <a:stretch>
              <a:fillRect/>
            </a:stretch>
          </p:blipFill>
          <p:spPr>
            <a:xfrm>
              <a:off x="1676400" y="2590799"/>
              <a:ext cx="635000" cy="550333"/>
            </a:xfrm>
            <a:prstGeom prst="rect">
              <a:avLst/>
            </a:prstGeom>
          </p:spPr>
        </p:pic>
        <p:sp>
          <p:nvSpPr>
            <p:cNvPr id="70" name="object 70"/>
            <p:cNvSpPr/>
            <p:nvPr/>
          </p:nvSpPr>
          <p:spPr>
            <a:xfrm>
              <a:off x="1805250" y="2613640"/>
              <a:ext cx="462915" cy="373380"/>
            </a:xfrm>
            <a:custGeom>
              <a:avLst/>
              <a:gdLst/>
              <a:ahLst/>
              <a:cxnLst/>
              <a:rect l="l" t="t" r="r" b="b"/>
              <a:pathLst>
                <a:path w="462914" h="373380">
                  <a:moveTo>
                    <a:pt x="40272" y="286190"/>
                  </a:moveTo>
                  <a:lnTo>
                    <a:pt x="0" y="373161"/>
                  </a:lnTo>
                  <a:lnTo>
                    <a:pt x="93741" y="353197"/>
                  </a:lnTo>
                  <a:lnTo>
                    <a:pt x="83029" y="339773"/>
                  </a:lnTo>
                  <a:lnTo>
                    <a:pt x="64750" y="339773"/>
                  </a:lnTo>
                  <a:lnTo>
                    <a:pt x="46927" y="317437"/>
                  </a:lnTo>
                  <a:lnTo>
                    <a:pt x="58095" y="308526"/>
                  </a:lnTo>
                  <a:lnTo>
                    <a:pt x="40272" y="286190"/>
                  </a:lnTo>
                  <a:close/>
                </a:path>
                <a:path w="462914" h="373380">
                  <a:moveTo>
                    <a:pt x="58095" y="308526"/>
                  </a:moveTo>
                  <a:lnTo>
                    <a:pt x="46927" y="317437"/>
                  </a:lnTo>
                  <a:lnTo>
                    <a:pt x="64750" y="339773"/>
                  </a:lnTo>
                  <a:lnTo>
                    <a:pt x="75918" y="330861"/>
                  </a:lnTo>
                  <a:lnTo>
                    <a:pt x="58095" y="308526"/>
                  </a:lnTo>
                  <a:close/>
                </a:path>
                <a:path w="462914" h="373380">
                  <a:moveTo>
                    <a:pt x="75918" y="330861"/>
                  </a:moveTo>
                  <a:lnTo>
                    <a:pt x="64750" y="339773"/>
                  </a:lnTo>
                  <a:lnTo>
                    <a:pt x="83029" y="339773"/>
                  </a:lnTo>
                  <a:lnTo>
                    <a:pt x="75918" y="330861"/>
                  </a:lnTo>
                  <a:close/>
                </a:path>
                <a:path w="462914" h="373380">
                  <a:moveTo>
                    <a:pt x="444742" y="0"/>
                  </a:moveTo>
                  <a:lnTo>
                    <a:pt x="58095" y="308526"/>
                  </a:lnTo>
                  <a:lnTo>
                    <a:pt x="75918" y="330861"/>
                  </a:lnTo>
                  <a:lnTo>
                    <a:pt x="462564" y="22335"/>
                  </a:lnTo>
                  <a:lnTo>
                    <a:pt x="444742" y="0"/>
                  </a:lnTo>
                  <a:close/>
                </a:path>
              </a:pathLst>
            </a:custGeom>
            <a:solidFill>
              <a:srgbClr val="000000"/>
            </a:solidFill>
          </p:spPr>
          <p:txBody>
            <a:bodyPr wrap="square" lIns="0" tIns="0" rIns="0" bIns="0" rtlCol="0"/>
            <a:lstStyle/>
            <a:p>
              <a:endParaRPr/>
            </a:p>
          </p:txBody>
        </p:sp>
        <p:pic>
          <p:nvPicPr>
            <p:cNvPr id="71" name="object 71"/>
            <p:cNvPicPr/>
            <p:nvPr/>
          </p:nvPicPr>
          <p:blipFill>
            <a:blip r:embed="rId5" cstate="print"/>
            <a:stretch>
              <a:fillRect/>
            </a:stretch>
          </p:blipFill>
          <p:spPr>
            <a:xfrm>
              <a:off x="2565400" y="2260600"/>
              <a:ext cx="482600" cy="287866"/>
            </a:xfrm>
            <a:prstGeom prst="rect">
              <a:avLst/>
            </a:prstGeom>
          </p:spPr>
        </p:pic>
        <p:sp>
          <p:nvSpPr>
            <p:cNvPr id="72" name="object 72"/>
            <p:cNvSpPr/>
            <p:nvPr/>
          </p:nvSpPr>
          <p:spPr>
            <a:xfrm>
              <a:off x="2613300" y="2359440"/>
              <a:ext cx="302895" cy="123189"/>
            </a:xfrm>
            <a:custGeom>
              <a:avLst/>
              <a:gdLst/>
              <a:ahLst/>
              <a:cxnLst/>
              <a:rect l="l" t="t" r="r" b="b"/>
              <a:pathLst>
                <a:path w="302894" h="123189">
                  <a:moveTo>
                    <a:pt x="216559" y="27239"/>
                  </a:moveTo>
                  <a:lnTo>
                    <a:pt x="0" y="95881"/>
                  </a:lnTo>
                  <a:lnTo>
                    <a:pt x="8634" y="123120"/>
                  </a:lnTo>
                  <a:lnTo>
                    <a:pt x="225194" y="54478"/>
                  </a:lnTo>
                  <a:lnTo>
                    <a:pt x="216559" y="27239"/>
                  </a:lnTo>
                  <a:close/>
                </a:path>
                <a:path w="302894" h="123189">
                  <a:moveTo>
                    <a:pt x="294390" y="22922"/>
                  </a:moveTo>
                  <a:lnTo>
                    <a:pt x="230179" y="22922"/>
                  </a:lnTo>
                  <a:lnTo>
                    <a:pt x="238813" y="50161"/>
                  </a:lnTo>
                  <a:lnTo>
                    <a:pt x="225194" y="54478"/>
                  </a:lnTo>
                  <a:lnTo>
                    <a:pt x="233828" y="81718"/>
                  </a:lnTo>
                  <a:lnTo>
                    <a:pt x="294390" y="22922"/>
                  </a:lnTo>
                  <a:close/>
                </a:path>
                <a:path w="302894" h="123189">
                  <a:moveTo>
                    <a:pt x="230179" y="22922"/>
                  </a:moveTo>
                  <a:lnTo>
                    <a:pt x="216559" y="27239"/>
                  </a:lnTo>
                  <a:lnTo>
                    <a:pt x="225194" y="54478"/>
                  </a:lnTo>
                  <a:lnTo>
                    <a:pt x="238813" y="50161"/>
                  </a:lnTo>
                  <a:lnTo>
                    <a:pt x="230179" y="22922"/>
                  </a:lnTo>
                  <a:close/>
                </a:path>
                <a:path w="302894" h="123189">
                  <a:moveTo>
                    <a:pt x="207925" y="0"/>
                  </a:moveTo>
                  <a:lnTo>
                    <a:pt x="216559" y="27239"/>
                  </a:lnTo>
                  <a:lnTo>
                    <a:pt x="230179" y="22922"/>
                  </a:lnTo>
                  <a:lnTo>
                    <a:pt x="294390" y="22922"/>
                  </a:lnTo>
                  <a:lnTo>
                    <a:pt x="302595" y="14956"/>
                  </a:lnTo>
                  <a:lnTo>
                    <a:pt x="207925" y="0"/>
                  </a:lnTo>
                  <a:close/>
                </a:path>
              </a:pathLst>
            </a:custGeom>
            <a:solidFill>
              <a:srgbClr val="000000"/>
            </a:solidFill>
          </p:spPr>
          <p:txBody>
            <a:bodyPr wrap="square" lIns="0" tIns="0" rIns="0" bIns="0" rtlCol="0"/>
            <a:lstStyle/>
            <a:p>
              <a:endParaRPr/>
            </a:p>
          </p:txBody>
        </p:sp>
        <p:sp>
          <p:nvSpPr>
            <p:cNvPr id="73" name="object 73"/>
            <p:cNvSpPr/>
            <p:nvPr/>
          </p:nvSpPr>
          <p:spPr>
            <a:xfrm>
              <a:off x="3862436" y="2330145"/>
              <a:ext cx="230504" cy="44450"/>
            </a:xfrm>
            <a:custGeom>
              <a:avLst/>
              <a:gdLst/>
              <a:ahLst/>
              <a:cxnLst/>
              <a:rect l="l" t="t" r="r" b="b"/>
              <a:pathLst>
                <a:path w="230504" h="44450">
                  <a:moveTo>
                    <a:pt x="230252" y="0"/>
                  </a:moveTo>
                  <a:lnTo>
                    <a:pt x="0" y="44251"/>
                  </a:lnTo>
                </a:path>
              </a:pathLst>
            </a:custGeom>
            <a:solidFill>
              <a:srgbClr val="C0C0C0">
                <a:alpha val="50199"/>
              </a:srgbClr>
            </a:solidFill>
          </p:spPr>
          <p:txBody>
            <a:bodyPr wrap="square" lIns="0" tIns="0" rIns="0" bIns="0" rtlCol="0"/>
            <a:lstStyle/>
            <a:p>
              <a:endParaRPr/>
            </a:p>
          </p:txBody>
        </p:sp>
        <p:sp>
          <p:nvSpPr>
            <p:cNvPr id="74" name="object 74"/>
            <p:cNvSpPr/>
            <p:nvPr/>
          </p:nvSpPr>
          <p:spPr>
            <a:xfrm>
              <a:off x="3862436" y="2330145"/>
              <a:ext cx="230504" cy="44450"/>
            </a:xfrm>
            <a:custGeom>
              <a:avLst/>
              <a:gdLst/>
              <a:ahLst/>
              <a:cxnLst/>
              <a:rect l="l" t="t" r="r" b="b"/>
              <a:pathLst>
                <a:path w="230504" h="44450">
                  <a:moveTo>
                    <a:pt x="0" y="44252"/>
                  </a:moveTo>
                  <a:lnTo>
                    <a:pt x="230252" y="0"/>
                  </a:lnTo>
                </a:path>
              </a:pathLst>
            </a:custGeom>
            <a:ln w="9525">
              <a:solidFill>
                <a:srgbClr val="000000"/>
              </a:solidFill>
            </a:ln>
          </p:spPr>
          <p:txBody>
            <a:bodyPr wrap="square" lIns="0" tIns="0" rIns="0" bIns="0" rtlCol="0"/>
            <a:lstStyle/>
            <a:p>
              <a:endParaRPr/>
            </a:p>
          </p:txBody>
        </p:sp>
        <p:sp>
          <p:nvSpPr>
            <p:cNvPr id="75" name="object 75"/>
            <p:cNvSpPr/>
            <p:nvPr/>
          </p:nvSpPr>
          <p:spPr>
            <a:xfrm>
              <a:off x="1256172" y="3839358"/>
              <a:ext cx="0" cy="210820"/>
            </a:xfrm>
            <a:custGeom>
              <a:avLst/>
              <a:gdLst/>
              <a:ahLst/>
              <a:cxnLst/>
              <a:rect l="l" t="t" r="r" b="b"/>
              <a:pathLst>
                <a:path h="210820">
                  <a:moveTo>
                    <a:pt x="0" y="0"/>
                  </a:moveTo>
                  <a:lnTo>
                    <a:pt x="1" y="210501"/>
                  </a:lnTo>
                </a:path>
              </a:pathLst>
            </a:custGeom>
            <a:solidFill>
              <a:srgbClr val="C0C0C0">
                <a:alpha val="50199"/>
              </a:srgbClr>
            </a:solidFill>
          </p:spPr>
          <p:txBody>
            <a:bodyPr wrap="square" lIns="0" tIns="0" rIns="0" bIns="0" rtlCol="0"/>
            <a:lstStyle/>
            <a:p>
              <a:endParaRPr/>
            </a:p>
          </p:txBody>
        </p:sp>
        <p:sp>
          <p:nvSpPr>
            <p:cNvPr id="76" name="object 76"/>
            <p:cNvSpPr/>
            <p:nvPr/>
          </p:nvSpPr>
          <p:spPr>
            <a:xfrm>
              <a:off x="1256172" y="3839358"/>
              <a:ext cx="0" cy="210820"/>
            </a:xfrm>
            <a:custGeom>
              <a:avLst/>
              <a:gdLst/>
              <a:ahLst/>
              <a:cxnLst/>
              <a:rect l="l" t="t" r="r" b="b"/>
              <a:pathLst>
                <a:path h="210820">
                  <a:moveTo>
                    <a:pt x="0" y="0"/>
                  </a:moveTo>
                  <a:lnTo>
                    <a:pt x="1" y="210501"/>
                  </a:lnTo>
                </a:path>
              </a:pathLst>
            </a:custGeom>
            <a:ln w="9525">
              <a:solidFill>
                <a:srgbClr val="000000"/>
              </a:solidFill>
            </a:ln>
          </p:spPr>
          <p:txBody>
            <a:bodyPr wrap="square" lIns="0" tIns="0" rIns="0" bIns="0" rtlCol="0"/>
            <a:lstStyle/>
            <a:p>
              <a:endParaRPr/>
            </a:p>
          </p:txBody>
        </p:sp>
        <p:sp>
          <p:nvSpPr>
            <p:cNvPr id="77" name="object 77"/>
            <p:cNvSpPr/>
            <p:nvPr/>
          </p:nvSpPr>
          <p:spPr>
            <a:xfrm>
              <a:off x="813714" y="4425367"/>
              <a:ext cx="442595" cy="340360"/>
            </a:xfrm>
            <a:custGeom>
              <a:avLst/>
              <a:gdLst/>
              <a:ahLst/>
              <a:cxnLst/>
              <a:rect l="l" t="t" r="r" b="b"/>
              <a:pathLst>
                <a:path w="442594" h="340360">
                  <a:moveTo>
                    <a:pt x="442457" y="0"/>
                  </a:moveTo>
                  <a:lnTo>
                    <a:pt x="0" y="340193"/>
                  </a:lnTo>
                </a:path>
              </a:pathLst>
            </a:custGeom>
            <a:solidFill>
              <a:srgbClr val="C0C0C0">
                <a:alpha val="50199"/>
              </a:srgbClr>
            </a:solidFill>
          </p:spPr>
          <p:txBody>
            <a:bodyPr wrap="square" lIns="0" tIns="0" rIns="0" bIns="0" rtlCol="0"/>
            <a:lstStyle/>
            <a:p>
              <a:endParaRPr/>
            </a:p>
          </p:txBody>
        </p:sp>
        <p:sp>
          <p:nvSpPr>
            <p:cNvPr id="78" name="object 78"/>
            <p:cNvSpPr/>
            <p:nvPr/>
          </p:nvSpPr>
          <p:spPr>
            <a:xfrm>
              <a:off x="813714" y="4425367"/>
              <a:ext cx="442595" cy="340360"/>
            </a:xfrm>
            <a:custGeom>
              <a:avLst/>
              <a:gdLst/>
              <a:ahLst/>
              <a:cxnLst/>
              <a:rect l="l" t="t" r="r" b="b"/>
              <a:pathLst>
                <a:path w="442594" h="340360">
                  <a:moveTo>
                    <a:pt x="442458" y="0"/>
                  </a:moveTo>
                  <a:lnTo>
                    <a:pt x="0" y="340193"/>
                  </a:lnTo>
                </a:path>
              </a:pathLst>
            </a:custGeom>
            <a:ln w="9525">
              <a:solidFill>
                <a:srgbClr val="000000"/>
              </a:solidFill>
            </a:ln>
          </p:spPr>
          <p:txBody>
            <a:bodyPr wrap="square" lIns="0" tIns="0" rIns="0" bIns="0" rtlCol="0"/>
            <a:lstStyle/>
            <a:p>
              <a:endParaRPr/>
            </a:p>
          </p:txBody>
        </p:sp>
        <p:sp>
          <p:nvSpPr>
            <p:cNvPr id="79" name="object 79"/>
            <p:cNvSpPr/>
            <p:nvPr/>
          </p:nvSpPr>
          <p:spPr>
            <a:xfrm>
              <a:off x="1256172" y="4425367"/>
              <a:ext cx="463550" cy="340360"/>
            </a:xfrm>
            <a:custGeom>
              <a:avLst/>
              <a:gdLst/>
              <a:ahLst/>
              <a:cxnLst/>
              <a:rect l="l" t="t" r="r" b="b"/>
              <a:pathLst>
                <a:path w="463550" h="340360">
                  <a:moveTo>
                    <a:pt x="0" y="0"/>
                  </a:moveTo>
                  <a:lnTo>
                    <a:pt x="463064" y="340193"/>
                  </a:lnTo>
                </a:path>
              </a:pathLst>
            </a:custGeom>
            <a:solidFill>
              <a:srgbClr val="C0C0C0">
                <a:alpha val="50199"/>
              </a:srgbClr>
            </a:solidFill>
          </p:spPr>
          <p:txBody>
            <a:bodyPr wrap="square" lIns="0" tIns="0" rIns="0" bIns="0" rtlCol="0"/>
            <a:lstStyle/>
            <a:p>
              <a:endParaRPr/>
            </a:p>
          </p:txBody>
        </p:sp>
        <p:sp>
          <p:nvSpPr>
            <p:cNvPr id="80" name="object 80"/>
            <p:cNvSpPr/>
            <p:nvPr/>
          </p:nvSpPr>
          <p:spPr>
            <a:xfrm>
              <a:off x="1256172" y="4425367"/>
              <a:ext cx="463550" cy="340360"/>
            </a:xfrm>
            <a:custGeom>
              <a:avLst/>
              <a:gdLst/>
              <a:ahLst/>
              <a:cxnLst/>
              <a:rect l="l" t="t" r="r" b="b"/>
              <a:pathLst>
                <a:path w="463550" h="340360">
                  <a:moveTo>
                    <a:pt x="0" y="0"/>
                  </a:moveTo>
                  <a:lnTo>
                    <a:pt x="463064" y="340193"/>
                  </a:lnTo>
                </a:path>
              </a:pathLst>
            </a:custGeom>
            <a:ln w="9525">
              <a:solidFill>
                <a:srgbClr val="000000"/>
              </a:solidFill>
            </a:ln>
          </p:spPr>
          <p:txBody>
            <a:bodyPr wrap="square" lIns="0" tIns="0" rIns="0" bIns="0" rtlCol="0"/>
            <a:lstStyle/>
            <a:p>
              <a:endParaRPr/>
            </a:p>
          </p:txBody>
        </p:sp>
        <p:sp>
          <p:nvSpPr>
            <p:cNvPr id="81" name="object 81"/>
            <p:cNvSpPr/>
            <p:nvPr/>
          </p:nvSpPr>
          <p:spPr>
            <a:xfrm>
              <a:off x="655293" y="5075311"/>
              <a:ext cx="158750" cy="396240"/>
            </a:xfrm>
            <a:custGeom>
              <a:avLst/>
              <a:gdLst/>
              <a:ahLst/>
              <a:cxnLst/>
              <a:rect l="l" t="t" r="r" b="b"/>
              <a:pathLst>
                <a:path w="158750" h="396239">
                  <a:moveTo>
                    <a:pt x="158422" y="0"/>
                  </a:moveTo>
                  <a:lnTo>
                    <a:pt x="0" y="396088"/>
                  </a:lnTo>
                </a:path>
              </a:pathLst>
            </a:custGeom>
            <a:solidFill>
              <a:srgbClr val="C0C0C0">
                <a:alpha val="50199"/>
              </a:srgbClr>
            </a:solidFill>
          </p:spPr>
          <p:txBody>
            <a:bodyPr wrap="square" lIns="0" tIns="0" rIns="0" bIns="0" rtlCol="0"/>
            <a:lstStyle/>
            <a:p>
              <a:endParaRPr/>
            </a:p>
          </p:txBody>
        </p:sp>
        <p:sp>
          <p:nvSpPr>
            <p:cNvPr id="82" name="object 82"/>
            <p:cNvSpPr/>
            <p:nvPr/>
          </p:nvSpPr>
          <p:spPr>
            <a:xfrm>
              <a:off x="655293" y="5075311"/>
              <a:ext cx="158750" cy="396240"/>
            </a:xfrm>
            <a:custGeom>
              <a:avLst/>
              <a:gdLst/>
              <a:ahLst/>
              <a:cxnLst/>
              <a:rect l="l" t="t" r="r" b="b"/>
              <a:pathLst>
                <a:path w="158750" h="396239">
                  <a:moveTo>
                    <a:pt x="158423" y="0"/>
                  </a:moveTo>
                  <a:lnTo>
                    <a:pt x="0" y="396089"/>
                  </a:lnTo>
                </a:path>
              </a:pathLst>
            </a:custGeom>
            <a:ln w="9525">
              <a:solidFill>
                <a:srgbClr val="000000"/>
              </a:solidFill>
            </a:ln>
          </p:spPr>
          <p:txBody>
            <a:bodyPr wrap="square" lIns="0" tIns="0" rIns="0" bIns="0" rtlCol="0"/>
            <a:lstStyle/>
            <a:p>
              <a:endParaRPr/>
            </a:p>
          </p:txBody>
        </p:sp>
        <p:sp>
          <p:nvSpPr>
            <p:cNvPr id="83" name="object 83"/>
            <p:cNvSpPr/>
            <p:nvPr/>
          </p:nvSpPr>
          <p:spPr>
            <a:xfrm>
              <a:off x="1719238" y="5075312"/>
              <a:ext cx="186690" cy="337820"/>
            </a:xfrm>
            <a:custGeom>
              <a:avLst/>
              <a:gdLst/>
              <a:ahLst/>
              <a:cxnLst/>
              <a:rect l="l" t="t" r="r" b="b"/>
              <a:pathLst>
                <a:path w="186689" h="337820">
                  <a:moveTo>
                    <a:pt x="0" y="0"/>
                  </a:moveTo>
                  <a:lnTo>
                    <a:pt x="186632" y="337427"/>
                  </a:lnTo>
                </a:path>
              </a:pathLst>
            </a:custGeom>
            <a:solidFill>
              <a:srgbClr val="C0C0C0">
                <a:alpha val="50199"/>
              </a:srgbClr>
            </a:solidFill>
          </p:spPr>
          <p:txBody>
            <a:bodyPr wrap="square" lIns="0" tIns="0" rIns="0" bIns="0" rtlCol="0"/>
            <a:lstStyle/>
            <a:p>
              <a:endParaRPr/>
            </a:p>
          </p:txBody>
        </p:sp>
        <p:sp>
          <p:nvSpPr>
            <p:cNvPr id="84" name="object 84"/>
            <p:cNvSpPr/>
            <p:nvPr/>
          </p:nvSpPr>
          <p:spPr>
            <a:xfrm>
              <a:off x="1719238" y="5075312"/>
              <a:ext cx="186690" cy="337820"/>
            </a:xfrm>
            <a:custGeom>
              <a:avLst/>
              <a:gdLst/>
              <a:ahLst/>
              <a:cxnLst/>
              <a:rect l="l" t="t" r="r" b="b"/>
              <a:pathLst>
                <a:path w="186689" h="337820">
                  <a:moveTo>
                    <a:pt x="0" y="0"/>
                  </a:moveTo>
                  <a:lnTo>
                    <a:pt x="186633" y="337428"/>
                  </a:lnTo>
                </a:path>
              </a:pathLst>
            </a:custGeom>
            <a:ln w="9525">
              <a:solidFill>
                <a:srgbClr val="000000"/>
              </a:solidFill>
            </a:ln>
          </p:spPr>
          <p:txBody>
            <a:bodyPr wrap="square" lIns="0" tIns="0" rIns="0" bIns="0" rtlCol="0"/>
            <a:lstStyle/>
            <a:p>
              <a:endParaRPr/>
            </a:p>
          </p:txBody>
        </p:sp>
        <p:sp>
          <p:nvSpPr>
            <p:cNvPr id="85" name="object 85"/>
            <p:cNvSpPr/>
            <p:nvPr/>
          </p:nvSpPr>
          <p:spPr>
            <a:xfrm>
              <a:off x="2364789" y="3784569"/>
              <a:ext cx="862330" cy="398780"/>
            </a:xfrm>
            <a:custGeom>
              <a:avLst/>
              <a:gdLst/>
              <a:ahLst/>
              <a:cxnLst/>
              <a:rect l="l" t="t" r="r" b="b"/>
              <a:pathLst>
                <a:path w="862330" h="398779">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4"/>
                  </a:lnTo>
                  <a:lnTo>
                    <a:pt x="69452" y="307554"/>
                  </a:lnTo>
                  <a:lnTo>
                    <a:pt x="105741" y="329769"/>
                  </a:lnTo>
                  <a:lnTo>
                    <a:pt x="148265" y="349411"/>
                  </a:lnTo>
                  <a:lnTo>
                    <a:pt x="196360"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86" name="object 86"/>
            <p:cNvSpPr/>
            <p:nvPr/>
          </p:nvSpPr>
          <p:spPr>
            <a:xfrm>
              <a:off x="2364789" y="3784569"/>
              <a:ext cx="862330" cy="398780"/>
            </a:xfrm>
            <a:custGeom>
              <a:avLst/>
              <a:gdLst/>
              <a:ahLst/>
              <a:cxnLst/>
              <a:rect l="l" t="t" r="r" b="b"/>
              <a:pathLst>
                <a:path w="862330"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pic>
        <p:nvPicPr>
          <p:cNvPr id="87" name="object 87"/>
          <p:cNvPicPr/>
          <p:nvPr/>
        </p:nvPicPr>
        <p:blipFill>
          <a:blip r:embed="rId6" cstate="print"/>
          <a:stretch>
            <a:fillRect/>
          </a:stretch>
        </p:blipFill>
        <p:spPr>
          <a:xfrm>
            <a:off x="7162801" y="2980267"/>
            <a:ext cx="1507067" cy="1109133"/>
          </a:xfrm>
          <a:prstGeom prst="rect">
            <a:avLst/>
          </a:prstGeom>
        </p:spPr>
      </p:pic>
      <p:sp>
        <p:nvSpPr>
          <p:cNvPr id="88" name="object 88"/>
          <p:cNvSpPr txBox="1"/>
          <p:nvPr/>
        </p:nvSpPr>
        <p:spPr>
          <a:xfrm>
            <a:off x="7733316" y="4279899"/>
            <a:ext cx="1374775" cy="1173480"/>
          </a:xfrm>
          <a:prstGeom prst="rect">
            <a:avLst/>
          </a:prstGeom>
        </p:spPr>
        <p:txBody>
          <a:bodyPr vert="horz" wrap="square" lIns="0" tIns="16510" rIns="0" bIns="0" rtlCol="0">
            <a:spAutoFit/>
          </a:bodyPr>
          <a:lstStyle/>
          <a:p>
            <a:pPr marL="12700" marR="5080">
              <a:spcBef>
                <a:spcPts val="130"/>
              </a:spcBef>
            </a:pPr>
            <a:r>
              <a:rPr sz="1500" spc="-15">
                <a:latin typeface="Calibri"/>
                <a:cs typeface="Calibri"/>
              </a:rPr>
              <a:t>Players</a:t>
            </a:r>
            <a:r>
              <a:rPr sz="1500" spc="-40">
                <a:latin typeface="Calibri"/>
                <a:cs typeface="Calibri"/>
              </a:rPr>
              <a:t> </a:t>
            </a:r>
            <a:r>
              <a:rPr sz="1500" spc="-5">
                <a:latin typeface="Calibri"/>
                <a:cs typeface="Calibri"/>
              </a:rPr>
              <a:t>are</a:t>
            </a:r>
            <a:r>
              <a:rPr sz="1500" spc="-40">
                <a:latin typeface="Calibri"/>
                <a:cs typeface="Calibri"/>
              </a:rPr>
              <a:t> </a:t>
            </a:r>
            <a:r>
              <a:rPr sz="1500">
                <a:latin typeface="Calibri"/>
                <a:cs typeface="Calibri"/>
              </a:rPr>
              <a:t>either </a:t>
            </a:r>
            <a:r>
              <a:rPr sz="1500" spc="-325">
                <a:latin typeface="Calibri"/>
                <a:cs typeface="Calibri"/>
              </a:rPr>
              <a:t> </a:t>
            </a:r>
            <a:r>
              <a:rPr sz="1500" spc="5">
                <a:latin typeface="Calibri"/>
                <a:cs typeface="Calibri"/>
              </a:rPr>
              <a:t>on </a:t>
            </a:r>
            <a:r>
              <a:rPr sz="1500" spc="-10">
                <a:latin typeface="Calibri"/>
                <a:cs typeface="Calibri"/>
              </a:rPr>
              <a:t>Offense </a:t>
            </a:r>
            <a:r>
              <a:rPr sz="1500" spc="-15">
                <a:latin typeface="Calibri"/>
                <a:cs typeface="Calibri"/>
              </a:rPr>
              <a:t>or </a:t>
            </a:r>
            <a:r>
              <a:rPr sz="1500" spc="-10">
                <a:latin typeface="Calibri"/>
                <a:cs typeface="Calibri"/>
              </a:rPr>
              <a:t> Defense, </a:t>
            </a:r>
            <a:r>
              <a:rPr sz="1500">
                <a:latin typeface="Calibri"/>
                <a:cs typeface="Calibri"/>
              </a:rPr>
              <a:t>and </a:t>
            </a:r>
            <a:r>
              <a:rPr sz="1500" spc="-5">
                <a:latin typeface="Calibri"/>
                <a:cs typeface="Calibri"/>
              </a:rPr>
              <a:t>are </a:t>
            </a:r>
            <a:r>
              <a:rPr sz="1500" spc="-325">
                <a:latin typeface="Calibri"/>
                <a:cs typeface="Calibri"/>
              </a:rPr>
              <a:t> </a:t>
            </a:r>
            <a:r>
              <a:rPr sz="1500">
                <a:latin typeface="Calibri"/>
                <a:cs typeface="Calibri"/>
              </a:rPr>
              <a:t>of types </a:t>
            </a:r>
            <a:r>
              <a:rPr sz="1500" spc="-10">
                <a:latin typeface="Calibri"/>
                <a:cs typeface="Calibri"/>
              </a:rPr>
              <a:t>(QB, RB, </a:t>
            </a:r>
            <a:r>
              <a:rPr sz="1500" spc="-5">
                <a:latin typeface="Calibri"/>
                <a:cs typeface="Calibri"/>
              </a:rPr>
              <a:t> </a:t>
            </a:r>
            <a:r>
              <a:rPr sz="1500">
                <a:latin typeface="Calibri"/>
                <a:cs typeface="Calibri"/>
              </a:rPr>
              <a:t>WR,</a:t>
            </a:r>
            <a:r>
              <a:rPr sz="1500" spc="-25">
                <a:latin typeface="Calibri"/>
                <a:cs typeface="Calibri"/>
              </a:rPr>
              <a:t> </a:t>
            </a:r>
            <a:r>
              <a:rPr sz="1500">
                <a:latin typeface="Calibri"/>
                <a:cs typeface="Calibri"/>
              </a:rPr>
              <a:t>TE,</a:t>
            </a:r>
            <a:r>
              <a:rPr sz="1500" spc="-15">
                <a:latin typeface="Calibri"/>
                <a:cs typeface="Calibri"/>
              </a:rPr>
              <a:t> </a:t>
            </a:r>
            <a:r>
              <a:rPr sz="1500" spc="-10">
                <a:latin typeface="Calibri"/>
                <a:cs typeface="Calibri"/>
              </a:rPr>
              <a:t>etc.)</a:t>
            </a:r>
            <a:endParaRPr sz="1500">
              <a:latin typeface="Calibri"/>
              <a:cs typeface="Calibri"/>
            </a:endParaRPr>
          </a:p>
        </p:txBody>
      </p:sp>
      <p:sp>
        <p:nvSpPr>
          <p:cNvPr id="89" name="object 89"/>
          <p:cNvSpPr txBox="1"/>
          <p:nvPr/>
        </p:nvSpPr>
        <p:spPr>
          <a:xfrm>
            <a:off x="4127798" y="3873499"/>
            <a:ext cx="384810" cy="197490"/>
          </a:xfrm>
          <a:prstGeom prst="rect">
            <a:avLst/>
          </a:prstGeom>
        </p:spPr>
        <p:txBody>
          <a:bodyPr vert="horz" wrap="square" lIns="0" tIns="12700" rIns="0" bIns="0" rtlCol="0">
            <a:spAutoFit/>
          </a:bodyPr>
          <a:lstStyle/>
          <a:p>
            <a:pPr marL="12700">
              <a:spcBef>
                <a:spcPts val="100"/>
              </a:spcBef>
            </a:pPr>
            <a:r>
              <a:rPr sz="1200" u="sng" spc="-10">
                <a:uFill>
                  <a:solidFill>
                    <a:srgbClr val="000000"/>
                  </a:solidFill>
                </a:uFill>
                <a:latin typeface="Calibri"/>
                <a:cs typeface="Calibri"/>
              </a:rPr>
              <a:t>String</a:t>
            </a:r>
            <a:endParaRPr sz="1200">
              <a:latin typeface="Calibri"/>
              <a:cs typeface="Calibri"/>
            </a:endParaRPr>
          </a:p>
        </p:txBody>
      </p:sp>
      <p:grpSp>
        <p:nvGrpSpPr>
          <p:cNvPr id="90" name="object 90"/>
          <p:cNvGrpSpPr/>
          <p:nvPr/>
        </p:nvGrpSpPr>
        <p:grpSpPr>
          <a:xfrm>
            <a:off x="3138438" y="3302870"/>
            <a:ext cx="1617345" cy="685800"/>
            <a:chOff x="1614437" y="3302870"/>
            <a:chExt cx="1617345" cy="685800"/>
          </a:xfrm>
        </p:grpSpPr>
        <p:sp>
          <p:nvSpPr>
            <p:cNvPr id="91" name="object 91"/>
            <p:cNvSpPr/>
            <p:nvPr/>
          </p:nvSpPr>
          <p:spPr>
            <a:xfrm>
              <a:off x="1619200" y="3684483"/>
              <a:ext cx="746125" cy="299720"/>
            </a:xfrm>
            <a:custGeom>
              <a:avLst/>
              <a:gdLst/>
              <a:ahLst/>
              <a:cxnLst/>
              <a:rect l="l" t="t" r="r" b="b"/>
              <a:pathLst>
                <a:path w="746125" h="299720">
                  <a:moveTo>
                    <a:pt x="0" y="0"/>
                  </a:moveTo>
                  <a:lnTo>
                    <a:pt x="745589" y="299214"/>
                  </a:lnTo>
                </a:path>
              </a:pathLst>
            </a:custGeom>
            <a:solidFill>
              <a:srgbClr val="C0C0C0">
                <a:alpha val="50199"/>
              </a:srgbClr>
            </a:solidFill>
          </p:spPr>
          <p:txBody>
            <a:bodyPr wrap="square" lIns="0" tIns="0" rIns="0" bIns="0" rtlCol="0"/>
            <a:lstStyle/>
            <a:p>
              <a:endParaRPr/>
            </a:p>
          </p:txBody>
        </p:sp>
        <p:sp>
          <p:nvSpPr>
            <p:cNvPr id="92" name="object 92"/>
            <p:cNvSpPr/>
            <p:nvPr/>
          </p:nvSpPr>
          <p:spPr>
            <a:xfrm>
              <a:off x="1619200" y="3684483"/>
              <a:ext cx="746125" cy="299720"/>
            </a:xfrm>
            <a:custGeom>
              <a:avLst/>
              <a:gdLst/>
              <a:ahLst/>
              <a:cxnLst/>
              <a:rect l="l" t="t" r="r" b="b"/>
              <a:pathLst>
                <a:path w="746125" h="299720">
                  <a:moveTo>
                    <a:pt x="745589" y="299215"/>
                  </a:moveTo>
                  <a:lnTo>
                    <a:pt x="0" y="0"/>
                  </a:lnTo>
                </a:path>
              </a:pathLst>
            </a:custGeom>
            <a:ln w="9525">
              <a:solidFill>
                <a:srgbClr val="000000"/>
              </a:solidFill>
            </a:ln>
          </p:spPr>
          <p:txBody>
            <a:bodyPr wrap="square" lIns="0" tIns="0" rIns="0" bIns="0" rtlCol="0"/>
            <a:lstStyle/>
            <a:p>
              <a:endParaRPr/>
            </a:p>
          </p:txBody>
        </p:sp>
        <p:sp>
          <p:nvSpPr>
            <p:cNvPr id="93" name="object 93"/>
            <p:cNvSpPr/>
            <p:nvPr/>
          </p:nvSpPr>
          <p:spPr>
            <a:xfrm>
              <a:off x="2364789" y="3307632"/>
              <a:ext cx="862330" cy="398780"/>
            </a:xfrm>
            <a:custGeom>
              <a:avLst/>
              <a:gdLst/>
              <a:ahLst/>
              <a:cxnLst/>
              <a:rect l="l" t="t" r="r" b="b"/>
              <a:pathLst>
                <a:path w="862330" h="398779">
                  <a:moveTo>
                    <a:pt x="431096" y="0"/>
                  </a:moveTo>
                  <a:lnTo>
                    <a:pt x="367392" y="2159"/>
                  </a:lnTo>
                  <a:lnTo>
                    <a:pt x="306590" y="8430"/>
                  </a:lnTo>
                  <a:lnTo>
                    <a:pt x="249357" y="18507"/>
                  </a:lnTo>
                  <a:lnTo>
                    <a:pt x="196360" y="32080"/>
                  </a:lnTo>
                  <a:lnTo>
                    <a:pt x="148265" y="48842"/>
                  </a:lnTo>
                  <a:lnTo>
                    <a:pt x="105741" y="68485"/>
                  </a:lnTo>
                  <a:lnTo>
                    <a:pt x="69452" y="90700"/>
                  </a:lnTo>
                  <a:lnTo>
                    <a:pt x="40067" y="115180"/>
                  </a:lnTo>
                  <a:lnTo>
                    <a:pt x="4674" y="169701"/>
                  </a:lnTo>
                  <a:lnTo>
                    <a:pt x="0" y="199127"/>
                  </a:lnTo>
                  <a:lnTo>
                    <a:pt x="4674" y="228552"/>
                  </a:lnTo>
                  <a:lnTo>
                    <a:pt x="40067" y="283074"/>
                  </a:lnTo>
                  <a:lnTo>
                    <a:pt x="69452" y="307554"/>
                  </a:lnTo>
                  <a:lnTo>
                    <a:pt x="105741" y="329769"/>
                  </a:lnTo>
                  <a:lnTo>
                    <a:pt x="148265" y="349411"/>
                  </a:lnTo>
                  <a:lnTo>
                    <a:pt x="196360"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9"/>
                  </a:lnTo>
                  <a:lnTo>
                    <a:pt x="792740" y="307554"/>
                  </a:lnTo>
                  <a:lnTo>
                    <a:pt x="822125" y="283074"/>
                  </a:lnTo>
                  <a:lnTo>
                    <a:pt x="857518" y="228552"/>
                  </a:lnTo>
                  <a:lnTo>
                    <a:pt x="862192" y="199127"/>
                  </a:lnTo>
                  <a:lnTo>
                    <a:pt x="857518" y="169701"/>
                  </a:lnTo>
                  <a:lnTo>
                    <a:pt x="822125" y="115180"/>
                  </a:lnTo>
                  <a:lnTo>
                    <a:pt x="792740" y="90700"/>
                  </a:lnTo>
                  <a:lnTo>
                    <a:pt x="756452" y="68485"/>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94" name="object 94"/>
            <p:cNvSpPr/>
            <p:nvPr/>
          </p:nvSpPr>
          <p:spPr>
            <a:xfrm>
              <a:off x="2364789" y="3307632"/>
              <a:ext cx="862330" cy="398780"/>
            </a:xfrm>
            <a:custGeom>
              <a:avLst/>
              <a:gdLst/>
              <a:ahLst/>
              <a:cxnLst/>
              <a:rect l="l" t="t" r="r" b="b"/>
              <a:pathLst>
                <a:path w="862330"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95" name="object 95"/>
          <p:cNvSpPr txBox="1"/>
          <p:nvPr/>
        </p:nvSpPr>
        <p:spPr>
          <a:xfrm>
            <a:off x="4161422" y="3390899"/>
            <a:ext cx="316865" cy="197490"/>
          </a:xfrm>
          <a:prstGeom prst="rect">
            <a:avLst/>
          </a:prstGeom>
        </p:spPr>
        <p:txBody>
          <a:bodyPr vert="horz" wrap="square" lIns="0" tIns="12700" rIns="0" bIns="0" rtlCol="0">
            <a:spAutoFit/>
          </a:bodyPr>
          <a:lstStyle/>
          <a:p>
            <a:pPr marL="12700">
              <a:spcBef>
                <a:spcPts val="100"/>
              </a:spcBef>
            </a:pPr>
            <a:r>
              <a:rPr sz="1200" u="sng" spc="-55">
                <a:uFill>
                  <a:solidFill>
                    <a:srgbClr val="000000"/>
                  </a:solidFill>
                </a:uFill>
                <a:latin typeface="Calibri"/>
                <a:cs typeface="Calibri"/>
              </a:rPr>
              <a:t>T</a:t>
            </a:r>
            <a:r>
              <a:rPr sz="1200" u="sng" spc="-10">
                <a:uFill>
                  <a:solidFill>
                    <a:srgbClr val="000000"/>
                  </a:solidFill>
                </a:uFill>
                <a:latin typeface="Calibri"/>
                <a:cs typeface="Calibri"/>
              </a:rPr>
              <a:t>y</a:t>
            </a:r>
            <a:r>
              <a:rPr sz="1200" u="sng" spc="-5">
                <a:uFill>
                  <a:solidFill>
                    <a:srgbClr val="000000"/>
                  </a:solidFill>
                </a:uFill>
                <a:latin typeface="Calibri"/>
                <a:cs typeface="Calibri"/>
              </a:rPr>
              <a:t>p</a:t>
            </a:r>
            <a:r>
              <a:rPr sz="1200" u="sng">
                <a:uFill>
                  <a:solidFill>
                    <a:srgbClr val="000000"/>
                  </a:solidFill>
                </a:uFill>
                <a:latin typeface="Calibri"/>
                <a:cs typeface="Calibri"/>
              </a:rPr>
              <a:t>e</a:t>
            </a:r>
            <a:endParaRPr sz="1200">
              <a:latin typeface="Calibri"/>
              <a:cs typeface="Calibri"/>
            </a:endParaRPr>
          </a:p>
        </p:txBody>
      </p:sp>
      <p:grpSp>
        <p:nvGrpSpPr>
          <p:cNvPr id="96" name="object 96"/>
          <p:cNvGrpSpPr/>
          <p:nvPr/>
        </p:nvGrpSpPr>
        <p:grpSpPr>
          <a:xfrm>
            <a:off x="1444938" y="3506761"/>
            <a:ext cx="2443703" cy="2363419"/>
            <a:chOff x="224196" y="3506760"/>
            <a:chExt cx="2141129" cy="2363419"/>
          </a:xfrm>
        </p:grpSpPr>
        <p:sp>
          <p:nvSpPr>
            <p:cNvPr id="97" name="object 97"/>
            <p:cNvSpPr/>
            <p:nvPr/>
          </p:nvSpPr>
          <p:spPr>
            <a:xfrm>
              <a:off x="1619200" y="3506760"/>
              <a:ext cx="746125" cy="177800"/>
            </a:xfrm>
            <a:custGeom>
              <a:avLst/>
              <a:gdLst/>
              <a:ahLst/>
              <a:cxnLst/>
              <a:rect l="l" t="t" r="r" b="b"/>
              <a:pathLst>
                <a:path w="746125" h="177800">
                  <a:moveTo>
                    <a:pt x="745589" y="0"/>
                  </a:moveTo>
                  <a:lnTo>
                    <a:pt x="0" y="177722"/>
                  </a:lnTo>
                </a:path>
              </a:pathLst>
            </a:custGeom>
            <a:solidFill>
              <a:srgbClr val="C0C0C0">
                <a:alpha val="50199"/>
              </a:srgbClr>
            </a:solidFill>
          </p:spPr>
          <p:txBody>
            <a:bodyPr wrap="square" lIns="0" tIns="0" rIns="0" bIns="0" rtlCol="0"/>
            <a:lstStyle/>
            <a:p>
              <a:endParaRPr/>
            </a:p>
          </p:txBody>
        </p:sp>
        <p:sp>
          <p:nvSpPr>
            <p:cNvPr id="98" name="object 98"/>
            <p:cNvSpPr/>
            <p:nvPr/>
          </p:nvSpPr>
          <p:spPr>
            <a:xfrm>
              <a:off x="1619200" y="3506760"/>
              <a:ext cx="746125" cy="177800"/>
            </a:xfrm>
            <a:custGeom>
              <a:avLst/>
              <a:gdLst/>
              <a:ahLst/>
              <a:cxnLst/>
              <a:rect l="l" t="t" r="r" b="b"/>
              <a:pathLst>
                <a:path w="746125" h="177800">
                  <a:moveTo>
                    <a:pt x="745589" y="0"/>
                  </a:moveTo>
                  <a:lnTo>
                    <a:pt x="0" y="177722"/>
                  </a:lnTo>
                </a:path>
              </a:pathLst>
            </a:custGeom>
            <a:ln w="9525">
              <a:solidFill>
                <a:srgbClr val="000000"/>
              </a:solidFill>
            </a:ln>
          </p:spPr>
          <p:txBody>
            <a:bodyPr wrap="square" lIns="0" tIns="0" rIns="0" bIns="0" rtlCol="0"/>
            <a:lstStyle/>
            <a:p>
              <a:endParaRPr/>
            </a:p>
          </p:txBody>
        </p:sp>
        <p:sp>
          <p:nvSpPr>
            <p:cNvPr id="99" name="object 99"/>
            <p:cNvSpPr/>
            <p:nvPr/>
          </p:nvSpPr>
          <p:spPr>
            <a:xfrm>
              <a:off x="224196" y="5471399"/>
              <a:ext cx="1100351" cy="398780"/>
            </a:xfrm>
            <a:custGeom>
              <a:avLst/>
              <a:gdLst/>
              <a:ahLst/>
              <a:cxnLst/>
              <a:rect l="l" t="t" r="r" b="b"/>
              <a:pathLst>
                <a:path w="862330" h="398779">
                  <a:moveTo>
                    <a:pt x="431096" y="0"/>
                  </a:moveTo>
                  <a:lnTo>
                    <a:pt x="367392" y="2159"/>
                  </a:lnTo>
                  <a:lnTo>
                    <a:pt x="306590" y="8430"/>
                  </a:lnTo>
                  <a:lnTo>
                    <a:pt x="249357"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7"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00" name="object 100"/>
            <p:cNvSpPr/>
            <p:nvPr/>
          </p:nvSpPr>
          <p:spPr>
            <a:xfrm>
              <a:off x="224197" y="5471399"/>
              <a:ext cx="1085062" cy="398780"/>
            </a:xfrm>
            <a:custGeom>
              <a:avLst/>
              <a:gdLst/>
              <a:ahLst/>
              <a:cxnLst/>
              <a:rect l="l" t="t" r="r" b="b"/>
              <a:pathLst>
                <a:path w="862330"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01" name="object 101"/>
          <p:cNvSpPr txBox="1"/>
          <p:nvPr/>
        </p:nvSpPr>
        <p:spPr>
          <a:xfrm>
            <a:off x="1566624" y="5544518"/>
            <a:ext cx="1116330" cy="197490"/>
          </a:xfrm>
          <a:prstGeom prst="rect">
            <a:avLst/>
          </a:prstGeom>
        </p:spPr>
        <p:txBody>
          <a:bodyPr vert="horz" wrap="square" lIns="0" tIns="12700" rIns="0" bIns="0" rtlCol="0">
            <a:spAutoFit/>
          </a:bodyPr>
          <a:lstStyle/>
          <a:p>
            <a:pPr marL="12700">
              <a:spcBef>
                <a:spcPts val="100"/>
              </a:spcBef>
            </a:pPr>
            <a:r>
              <a:rPr sz="1200" spc="5">
                <a:latin typeface="Calibri"/>
                <a:cs typeface="Calibri"/>
              </a:rPr>
              <a:t>O</a:t>
            </a:r>
            <a:r>
              <a:rPr sz="1200" spc="-15">
                <a:latin typeface="Calibri"/>
                <a:cs typeface="Calibri"/>
              </a:rPr>
              <a:t>f</a:t>
            </a:r>
            <a:r>
              <a:rPr sz="1200" spc="-35">
                <a:latin typeface="Calibri"/>
                <a:cs typeface="Calibri"/>
              </a:rPr>
              <a:t>f</a:t>
            </a:r>
            <a:r>
              <a:rPr sz="1200">
                <a:latin typeface="Calibri"/>
                <a:cs typeface="Calibri"/>
              </a:rPr>
              <a:t>e</a:t>
            </a:r>
            <a:r>
              <a:rPr sz="1200" spc="-10">
                <a:latin typeface="Calibri"/>
                <a:cs typeface="Calibri"/>
              </a:rPr>
              <a:t>n</a:t>
            </a:r>
            <a:r>
              <a:rPr sz="1200" spc="5">
                <a:latin typeface="Calibri"/>
                <a:cs typeface="Calibri"/>
              </a:rPr>
              <a:t>s</a:t>
            </a:r>
            <a:r>
              <a:rPr sz="1200" spc="-5">
                <a:latin typeface="Calibri"/>
                <a:cs typeface="Calibri"/>
              </a:rPr>
              <a:t>i</a:t>
            </a:r>
            <a:r>
              <a:rPr sz="1200" spc="-20">
                <a:latin typeface="Calibri"/>
                <a:cs typeface="Calibri"/>
              </a:rPr>
              <a:t>v</a:t>
            </a:r>
            <a:r>
              <a:rPr sz="1200">
                <a:latin typeface="Calibri"/>
                <a:cs typeface="Calibri"/>
              </a:rPr>
              <a:t>e</a:t>
            </a:r>
            <a:r>
              <a:rPr sz="1200" spc="-20">
                <a:latin typeface="Calibri"/>
                <a:cs typeface="Calibri"/>
              </a:rPr>
              <a:t>P</a:t>
            </a:r>
            <a:r>
              <a:rPr sz="1200" spc="5">
                <a:latin typeface="Calibri"/>
                <a:cs typeface="Calibri"/>
              </a:rPr>
              <a:t>os</a:t>
            </a:r>
            <a:r>
              <a:rPr sz="1200" spc="-55">
                <a:latin typeface="Calibri"/>
                <a:cs typeface="Calibri"/>
              </a:rPr>
              <a:t>T</a:t>
            </a:r>
            <a:r>
              <a:rPr sz="1200" spc="-10">
                <a:latin typeface="Calibri"/>
                <a:cs typeface="Calibri"/>
              </a:rPr>
              <a:t>yp</a:t>
            </a:r>
            <a:r>
              <a:rPr sz="1200">
                <a:latin typeface="Calibri"/>
                <a:cs typeface="Calibri"/>
              </a:rPr>
              <a:t>e</a:t>
            </a:r>
          </a:p>
        </p:txBody>
      </p:sp>
      <p:grpSp>
        <p:nvGrpSpPr>
          <p:cNvPr id="102" name="object 102"/>
          <p:cNvGrpSpPr/>
          <p:nvPr/>
        </p:nvGrpSpPr>
        <p:grpSpPr>
          <a:xfrm>
            <a:off x="2996363" y="5407978"/>
            <a:ext cx="1575637" cy="408305"/>
            <a:chOff x="1472363" y="5407977"/>
            <a:chExt cx="871855" cy="408305"/>
          </a:xfrm>
        </p:grpSpPr>
        <p:sp>
          <p:nvSpPr>
            <p:cNvPr id="103" name="object 103"/>
            <p:cNvSpPr/>
            <p:nvPr/>
          </p:nvSpPr>
          <p:spPr>
            <a:xfrm>
              <a:off x="1477125" y="5412740"/>
              <a:ext cx="862330" cy="398780"/>
            </a:xfrm>
            <a:custGeom>
              <a:avLst/>
              <a:gdLst/>
              <a:ahLst/>
              <a:cxnLst/>
              <a:rect l="l" t="t" r="r" b="b"/>
              <a:pathLst>
                <a:path w="862330" h="398779">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104" name="object 104"/>
            <p:cNvSpPr/>
            <p:nvPr/>
          </p:nvSpPr>
          <p:spPr>
            <a:xfrm>
              <a:off x="1477125" y="5412740"/>
              <a:ext cx="862330" cy="398780"/>
            </a:xfrm>
            <a:custGeom>
              <a:avLst/>
              <a:gdLst/>
              <a:ahLst/>
              <a:cxnLst/>
              <a:rect l="l" t="t" r="r" b="b"/>
              <a:pathLst>
                <a:path w="862330" h="398779">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105" name="object 105"/>
          <p:cNvSpPr txBox="1"/>
          <p:nvPr/>
        </p:nvSpPr>
        <p:spPr>
          <a:xfrm>
            <a:off x="3243239" y="5513581"/>
            <a:ext cx="1138555" cy="197490"/>
          </a:xfrm>
          <a:prstGeom prst="rect">
            <a:avLst/>
          </a:prstGeom>
        </p:spPr>
        <p:txBody>
          <a:bodyPr vert="horz" wrap="square" lIns="0" tIns="12700" rIns="0" bIns="0" rtlCol="0">
            <a:spAutoFit/>
          </a:bodyPr>
          <a:lstStyle/>
          <a:p>
            <a:pPr marL="12700">
              <a:spcBef>
                <a:spcPts val="100"/>
              </a:spcBef>
            </a:pPr>
            <a:r>
              <a:rPr sz="1200" spc="-5">
                <a:latin typeface="Calibri"/>
                <a:cs typeface="Calibri"/>
              </a:rPr>
              <a:t>D</a:t>
            </a:r>
            <a:r>
              <a:rPr sz="1200" spc="-10">
                <a:latin typeface="Calibri"/>
                <a:cs typeface="Calibri"/>
              </a:rPr>
              <a:t>e</a:t>
            </a:r>
            <a:r>
              <a:rPr sz="1200" spc="-35">
                <a:latin typeface="Calibri"/>
                <a:cs typeface="Calibri"/>
              </a:rPr>
              <a:t>f</a:t>
            </a:r>
            <a:r>
              <a:rPr sz="1200">
                <a:latin typeface="Calibri"/>
                <a:cs typeface="Calibri"/>
              </a:rPr>
              <a:t>e</a:t>
            </a:r>
            <a:r>
              <a:rPr sz="1200" spc="-10">
                <a:latin typeface="Calibri"/>
                <a:cs typeface="Calibri"/>
              </a:rPr>
              <a:t>n</a:t>
            </a:r>
            <a:r>
              <a:rPr sz="1200" spc="5">
                <a:latin typeface="Calibri"/>
                <a:cs typeface="Calibri"/>
              </a:rPr>
              <a:t>s</a:t>
            </a:r>
            <a:r>
              <a:rPr sz="1200">
                <a:latin typeface="Calibri"/>
                <a:cs typeface="Calibri"/>
              </a:rPr>
              <a:t>i</a:t>
            </a:r>
            <a:r>
              <a:rPr sz="1200" spc="-20">
                <a:latin typeface="Calibri"/>
                <a:cs typeface="Calibri"/>
              </a:rPr>
              <a:t>v</a:t>
            </a:r>
            <a:r>
              <a:rPr sz="1200">
                <a:latin typeface="Calibri"/>
                <a:cs typeface="Calibri"/>
              </a:rPr>
              <a:t>e</a:t>
            </a:r>
            <a:r>
              <a:rPr sz="1200" spc="-20">
                <a:latin typeface="Calibri"/>
                <a:cs typeface="Calibri"/>
              </a:rPr>
              <a:t>P</a:t>
            </a:r>
            <a:r>
              <a:rPr sz="1200" spc="5">
                <a:latin typeface="Calibri"/>
                <a:cs typeface="Calibri"/>
              </a:rPr>
              <a:t>os</a:t>
            </a:r>
            <a:r>
              <a:rPr sz="1200" spc="-55">
                <a:latin typeface="Calibri"/>
                <a:cs typeface="Calibri"/>
              </a:rPr>
              <a:t>T</a:t>
            </a:r>
            <a:r>
              <a:rPr sz="1200" spc="-10">
                <a:latin typeface="Calibri"/>
                <a:cs typeface="Calibri"/>
              </a:rPr>
              <a:t>yp</a:t>
            </a:r>
            <a:r>
              <a:rPr sz="1200">
                <a:latin typeface="Calibri"/>
                <a:cs typeface="Calibri"/>
              </a:rPr>
              <a:t>e</a:t>
            </a:r>
          </a:p>
        </p:txBody>
      </p:sp>
      <p:sp>
        <p:nvSpPr>
          <p:cNvPr id="106" name="Slide Number Placeholder 105">
            <a:extLst>
              <a:ext uri="{FF2B5EF4-FFF2-40B4-BE49-F238E27FC236}">
                <a16:creationId xmlns:a16="http://schemas.microsoft.com/office/drawing/2014/main" id="{4F78C82B-8929-49C4-8EB3-1EE5C9867F75}"/>
              </a:ext>
            </a:extLst>
          </p:cNvPr>
          <p:cNvSpPr>
            <a:spLocks noGrp="1"/>
          </p:cNvSpPr>
          <p:nvPr>
            <p:ph type="sldNum" sz="quarter" idx="12"/>
          </p:nvPr>
        </p:nvSpPr>
        <p:spPr/>
        <p:txBody>
          <a:bodyPr/>
          <a:lstStyle/>
          <a:p>
            <a:fld id="{641C0F02-33DC-3A41-9F51-431B7FE03ABE}" type="slidenum">
              <a:rPr lang="en-US" smtClean="0"/>
              <a:t>105</a:t>
            </a:fld>
            <a:endParaRPr lang="en-US"/>
          </a:p>
        </p:txBody>
      </p:sp>
    </p:spTree>
    <p:extLst>
      <p:ext uri="{BB962C8B-B14F-4D97-AF65-F5344CB8AC3E}">
        <p14:creationId xmlns:p14="http://schemas.microsoft.com/office/powerpoint/2010/main" val="20850975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a:extLst>
              <a:ext uri="{FF2B5EF4-FFF2-40B4-BE49-F238E27FC236}">
                <a16:creationId xmlns:a16="http://schemas.microsoft.com/office/drawing/2014/main" id="{212F967B-384E-3742-8C5B-23056C159A9F}"/>
              </a:ext>
            </a:extLst>
          </p:cNvPr>
          <p:cNvSpPr>
            <a:spLocks noGrp="1"/>
          </p:cNvSpPr>
          <p:nvPr>
            <p:ph type="title"/>
          </p:nvPr>
        </p:nvSpPr>
        <p:spPr/>
        <p:txBody>
          <a:bodyPr/>
          <a:lstStyle/>
          <a:p>
            <a:r>
              <a:rPr lang="en-US" altLang="en-US"/>
              <a:t>ER-to-Relational Mapping Algorithm (cont’d.)</a:t>
            </a:r>
          </a:p>
        </p:txBody>
      </p:sp>
      <p:sp>
        <p:nvSpPr>
          <p:cNvPr id="11267" name="Content Placeholder 2">
            <a:extLst>
              <a:ext uri="{FF2B5EF4-FFF2-40B4-BE49-F238E27FC236}">
                <a16:creationId xmlns:a16="http://schemas.microsoft.com/office/drawing/2014/main" id="{5B12CECF-E5E9-774C-872C-E5F01DE95E46}"/>
              </a:ext>
            </a:extLst>
          </p:cNvPr>
          <p:cNvSpPr>
            <a:spLocks noGrp="1"/>
          </p:cNvSpPr>
          <p:nvPr>
            <p:ph idx="1"/>
          </p:nvPr>
        </p:nvSpPr>
        <p:spPr/>
        <p:txBody>
          <a:bodyPr/>
          <a:lstStyle/>
          <a:p>
            <a:r>
              <a:rPr lang="en-US" altLang="en-US"/>
              <a:t>Step 2: Mapping of Weak Entity Types</a:t>
            </a:r>
          </a:p>
          <a:p>
            <a:pPr lvl="1"/>
            <a:r>
              <a:rPr lang="en-US" altLang="en-US"/>
              <a:t>For each weak entity type, create a relation </a:t>
            </a:r>
            <a:r>
              <a:rPr lang="en-US" altLang="en-US" i="1"/>
              <a:t>R</a:t>
            </a:r>
            <a:r>
              <a:rPr lang="en-US" altLang="en-US"/>
              <a:t> and include all simple attributes of the entity type as attributes of </a:t>
            </a:r>
            <a:r>
              <a:rPr lang="en-US" altLang="en-US" i="1"/>
              <a:t>R</a:t>
            </a:r>
          </a:p>
          <a:p>
            <a:pPr lvl="1"/>
            <a:r>
              <a:rPr lang="en-US" altLang="en-US"/>
              <a:t>Include primary key attribute of owner as foreign key attributes of </a:t>
            </a:r>
            <a:r>
              <a:rPr lang="en-US" altLang="en-US" i="1"/>
              <a:t>R</a:t>
            </a:r>
          </a:p>
        </p:txBody>
      </p:sp>
      <p:sp>
        <p:nvSpPr>
          <p:cNvPr id="2" name="Slide Number Placeholder 1">
            <a:extLst>
              <a:ext uri="{FF2B5EF4-FFF2-40B4-BE49-F238E27FC236}">
                <a16:creationId xmlns:a16="http://schemas.microsoft.com/office/drawing/2014/main" id="{69B7FA16-CB03-49E5-8826-744677E03E35}"/>
              </a:ext>
            </a:extLst>
          </p:cNvPr>
          <p:cNvSpPr>
            <a:spLocks noGrp="1"/>
          </p:cNvSpPr>
          <p:nvPr>
            <p:ph type="sldNum" sz="quarter" idx="12"/>
          </p:nvPr>
        </p:nvSpPr>
        <p:spPr/>
        <p:txBody>
          <a:bodyPr/>
          <a:lstStyle/>
          <a:p>
            <a:fld id="{641C0F02-33DC-3A41-9F51-431B7FE03ABE}" type="slidenum">
              <a:rPr lang="en-US" smtClean="0"/>
              <a:t>106</a:t>
            </a:fld>
            <a:endParaRPr lang="en-US"/>
          </a:p>
        </p:txBody>
      </p:sp>
    </p:spTree>
    <p:extLst>
      <p:ext uri="{BB962C8B-B14F-4D97-AF65-F5344CB8AC3E}">
        <p14:creationId xmlns:p14="http://schemas.microsoft.com/office/powerpoint/2010/main" val="12348328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object 36">
            <a:extLst>
              <a:ext uri="{FF2B5EF4-FFF2-40B4-BE49-F238E27FC236}">
                <a16:creationId xmlns:a16="http://schemas.microsoft.com/office/drawing/2014/main" id="{C1DF0F0B-C72E-432C-92FC-D5CDF4B9E9BB}"/>
              </a:ext>
            </a:extLst>
          </p:cNvPr>
          <p:cNvSpPr/>
          <p:nvPr/>
        </p:nvSpPr>
        <p:spPr>
          <a:xfrm>
            <a:off x="4092235" y="1682096"/>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4" name="Slide Number Placeholder 3">
            <a:extLst>
              <a:ext uri="{FF2B5EF4-FFF2-40B4-BE49-F238E27FC236}">
                <a16:creationId xmlns:a16="http://schemas.microsoft.com/office/drawing/2014/main" id="{4F325FCF-9D18-4927-BF3D-2FCEABF61CED}"/>
              </a:ext>
            </a:extLst>
          </p:cNvPr>
          <p:cNvSpPr>
            <a:spLocks noGrp="1"/>
          </p:cNvSpPr>
          <p:nvPr>
            <p:ph type="sldNum" sz="quarter" idx="12"/>
          </p:nvPr>
        </p:nvSpPr>
        <p:spPr/>
        <p:txBody>
          <a:bodyPr/>
          <a:lstStyle/>
          <a:p>
            <a:fld id="{641C0F02-33DC-3A41-9F51-431B7FE03ABE}" type="slidenum">
              <a:rPr lang="en-US" smtClean="0"/>
              <a:t>107</a:t>
            </a:fld>
            <a:endParaRPr lang="en-US"/>
          </a:p>
        </p:txBody>
      </p:sp>
      <p:sp>
        <p:nvSpPr>
          <p:cNvPr id="6" name="object 9">
            <a:extLst>
              <a:ext uri="{FF2B5EF4-FFF2-40B4-BE49-F238E27FC236}">
                <a16:creationId xmlns:a16="http://schemas.microsoft.com/office/drawing/2014/main" id="{851DD36E-C840-4116-A2DA-9E332926B35C}"/>
              </a:ext>
            </a:extLst>
          </p:cNvPr>
          <p:cNvSpPr txBox="1"/>
          <p:nvPr/>
        </p:nvSpPr>
        <p:spPr>
          <a:xfrm>
            <a:off x="4377985" y="1818595"/>
            <a:ext cx="290830" cy="155171"/>
          </a:xfrm>
          <a:prstGeom prst="rect">
            <a:avLst/>
          </a:prstGeom>
        </p:spPr>
        <p:txBody>
          <a:bodyPr vert="horz" wrap="square" lIns="0" tIns="16510" rIns="0" bIns="0" rtlCol="0">
            <a:spAutoFit/>
          </a:bodyPr>
          <a:lstStyle/>
          <a:p>
            <a:pPr marL="12700">
              <a:spcBef>
                <a:spcPts val="130"/>
              </a:spcBef>
            </a:pPr>
            <a:r>
              <a:rPr sz="900" spc="-5">
                <a:latin typeface="Calibri"/>
                <a:cs typeface="Calibri"/>
              </a:rPr>
              <a:t>nam</a:t>
            </a:r>
            <a:r>
              <a:rPr sz="900" spc="15">
                <a:latin typeface="Calibri"/>
                <a:cs typeface="Calibri"/>
              </a:rPr>
              <a:t>e</a:t>
            </a:r>
            <a:endParaRPr sz="900">
              <a:latin typeface="Calibri"/>
              <a:cs typeface="Calibri"/>
            </a:endParaRPr>
          </a:p>
        </p:txBody>
      </p:sp>
      <p:grpSp>
        <p:nvGrpSpPr>
          <p:cNvPr id="9" name="object 28">
            <a:extLst>
              <a:ext uri="{FF2B5EF4-FFF2-40B4-BE49-F238E27FC236}">
                <a16:creationId xmlns:a16="http://schemas.microsoft.com/office/drawing/2014/main" id="{763D797C-803C-4C13-8133-337A80ABD844}"/>
              </a:ext>
            </a:extLst>
          </p:cNvPr>
          <p:cNvGrpSpPr/>
          <p:nvPr/>
        </p:nvGrpSpPr>
        <p:grpSpPr>
          <a:xfrm>
            <a:off x="2477551" y="2660054"/>
            <a:ext cx="1038006" cy="460836"/>
            <a:chOff x="953551" y="2660054"/>
            <a:chExt cx="1038006" cy="460836"/>
          </a:xfrm>
        </p:grpSpPr>
        <p:sp>
          <p:nvSpPr>
            <p:cNvPr id="10" name="object 29">
              <a:extLst>
                <a:ext uri="{FF2B5EF4-FFF2-40B4-BE49-F238E27FC236}">
                  <a16:creationId xmlns:a16="http://schemas.microsoft.com/office/drawing/2014/main" id="{C7650D0D-7210-4C7A-BAB6-15445B026649}"/>
                </a:ext>
              </a:extLst>
            </p:cNvPr>
            <p:cNvSpPr/>
            <p:nvPr/>
          </p:nvSpPr>
          <p:spPr>
            <a:xfrm>
              <a:off x="1722701" y="2767001"/>
              <a:ext cx="203200" cy="192405"/>
            </a:xfrm>
            <a:custGeom>
              <a:avLst/>
              <a:gdLst/>
              <a:ahLst/>
              <a:cxnLst/>
              <a:rect l="l" t="t" r="r" b="b"/>
              <a:pathLst>
                <a:path w="203200" h="192405">
                  <a:moveTo>
                    <a:pt x="203059" y="0"/>
                  </a:moveTo>
                  <a:lnTo>
                    <a:pt x="0" y="191848"/>
                  </a:lnTo>
                </a:path>
              </a:pathLst>
            </a:custGeom>
            <a:solidFill>
              <a:srgbClr val="C0C0C0">
                <a:alpha val="50199"/>
              </a:srgbClr>
            </a:solidFill>
          </p:spPr>
          <p:txBody>
            <a:bodyPr wrap="square" lIns="0" tIns="0" rIns="0" bIns="0" rtlCol="0"/>
            <a:lstStyle/>
            <a:p>
              <a:endParaRPr/>
            </a:p>
          </p:txBody>
        </p:sp>
        <p:sp>
          <p:nvSpPr>
            <p:cNvPr id="11" name="object 30">
              <a:extLst>
                <a:ext uri="{FF2B5EF4-FFF2-40B4-BE49-F238E27FC236}">
                  <a16:creationId xmlns:a16="http://schemas.microsoft.com/office/drawing/2014/main" id="{862BE5B7-1D35-491B-B6BA-FB13DDE25780}"/>
                </a:ext>
              </a:extLst>
            </p:cNvPr>
            <p:cNvSpPr/>
            <p:nvPr/>
          </p:nvSpPr>
          <p:spPr>
            <a:xfrm>
              <a:off x="1722701" y="2660054"/>
              <a:ext cx="268856" cy="299351"/>
            </a:xfrm>
            <a:custGeom>
              <a:avLst/>
              <a:gdLst/>
              <a:ahLst/>
              <a:cxnLst/>
              <a:rect l="l" t="t" r="r" b="b"/>
              <a:pathLst>
                <a:path w="203200" h="192405">
                  <a:moveTo>
                    <a:pt x="0" y="191849"/>
                  </a:moveTo>
                  <a:lnTo>
                    <a:pt x="203060" y="0"/>
                  </a:lnTo>
                </a:path>
              </a:pathLst>
            </a:custGeom>
            <a:ln w="9525">
              <a:solidFill>
                <a:srgbClr val="000000"/>
              </a:solidFill>
            </a:ln>
          </p:spPr>
          <p:txBody>
            <a:bodyPr wrap="square" lIns="0" tIns="0" rIns="0" bIns="0" rtlCol="0"/>
            <a:lstStyle/>
            <a:p>
              <a:endParaRPr/>
            </a:p>
          </p:txBody>
        </p:sp>
        <p:sp>
          <p:nvSpPr>
            <p:cNvPr id="12" name="object 31">
              <a:extLst>
                <a:ext uri="{FF2B5EF4-FFF2-40B4-BE49-F238E27FC236}">
                  <a16:creationId xmlns:a16="http://schemas.microsoft.com/office/drawing/2014/main" id="{D01E699D-4456-4C5D-820E-158F1C3A917B}"/>
                </a:ext>
              </a:extLst>
            </p:cNvPr>
            <p:cNvSpPr/>
            <p:nvPr/>
          </p:nvSpPr>
          <p:spPr>
            <a:xfrm>
              <a:off x="953551" y="2797040"/>
              <a:ext cx="769620" cy="323850"/>
            </a:xfrm>
            <a:custGeom>
              <a:avLst/>
              <a:gdLst/>
              <a:ahLst/>
              <a:cxnLst/>
              <a:rect l="l" t="t" r="r" b="b"/>
              <a:pathLst>
                <a:path w="769619" h="323850">
                  <a:moveTo>
                    <a:pt x="384574" y="0"/>
                  </a:moveTo>
                  <a:lnTo>
                    <a:pt x="0" y="161809"/>
                  </a:lnTo>
                  <a:lnTo>
                    <a:pt x="384574" y="323617"/>
                  </a:lnTo>
                  <a:lnTo>
                    <a:pt x="769148" y="161809"/>
                  </a:lnTo>
                  <a:lnTo>
                    <a:pt x="384574" y="0"/>
                  </a:lnTo>
                  <a:close/>
                </a:path>
              </a:pathLst>
            </a:custGeom>
            <a:solidFill>
              <a:srgbClr val="4F81BD"/>
            </a:solidFill>
          </p:spPr>
          <p:txBody>
            <a:bodyPr wrap="square" lIns="0" tIns="0" rIns="0" bIns="0" rtlCol="0"/>
            <a:lstStyle/>
            <a:p>
              <a:endParaRPr/>
            </a:p>
          </p:txBody>
        </p:sp>
        <p:sp>
          <p:nvSpPr>
            <p:cNvPr id="13" name="object 32">
              <a:extLst>
                <a:ext uri="{FF2B5EF4-FFF2-40B4-BE49-F238E27FC236}">
                  <a16:creationId xmlns:a16="http://schemas.microsoft.com/office/drawing/2014/main" id="{97CAC06A-09EF-4344-ADFD-7A032FC8AACF}"/>
                </a:ext>
              </a:extLst>
            </p:cNvPr>
            <p:cNvSpPr/>
            <p:nvPr/>
          </p:nvSpPr>
          <p:spPr>
            <a:xfrm>
              <a:off x="953551" y="2797040"/>
              <a:ext cx="769620" cy="323850"/>
            </a:xfrm>
            <a:custGeom>
              <a:avLst/>
              <a:gdLst/>
              <a:ahLst/>
              <a:cxnLst/>
              <a:rect l="l" t="t" r="r" b="b"/>
              <a:pathLst>
                <a:path w="769619" h="323850">
                  <a:moveTo>
                    <a:pt x="0" y="161808"/>
                  </a:moveTo>
                  <a:lnTo>
                    <a:pt x="384574" y="0"/>
                  </a:lnTo>
                  <a:lnTo>
                    <a:pt x="769149" y="161808"/>
                  </a:lnTo>
                  <a:lnTo>
                    <a:pt x="384574" y="323617"/>
                  </a:lnTo>
                  <a:lnTo>
                    <a:pt x="0" y="161808"/>
                  </a:lnTo>
                  <a:close/>
                </a:path>
              </a:pathLst>
            </a:custGeom>
            <a:ln w="34925">
              <a:solidFill>
                <a:srgbClr val="000000"/>
              </a:solidFill>
            </a:ln>
          </p:spPr>
          <p:txBody>
            <a:bodyPr wrap="square" lIns="0" tIns="0" rIns="0" bIns="0" rtlCol="0"/>
            <a:lstStyle/>
            <a:p>
              <a:endParaRPr/>
            </a:p>
          </p:txBody>
        </p:sp>
      </p:grpSp>
      <p:sp>
        <p:nvSpPr>
          <p:cNvPr id="14" name="object 33">
            <a:extLst>
              <a:ext uri="{FF2B5EF4-FFF2-40B4-BE49-F238E27FC236}">
                <a16:creationId xmlns:a16="http://schemas.microsoft.com/office/drawing/2014/main" id="{3FD6393D-65CF-4A7E-8F92-DF9B291BCA91}"/>
              </a:ext>
            </a:extLst>
          </p:cNvPr>
          <p:cNvSpPr txBox="1"/>
          <p:nvPr/>
        </p:nvSpPr>
        <p:spPr>
          <a:xfrm>
            <a:off x="2624795" y="2865967"/>
            <a:ext cx="476250" cy="155171"/>
          </a:xfrm>
          <a:prstGeom prst="rect">
            <a:avLst/>
          </a:prstGeom>
        </p:spPr>
        <p:txBody>
          <a:bodyPr vert="horz" wrap="square" lIns="0" tIns="16510" rIns="0" bIns="0" rtlCol="0">
            <a:spAutoFit/>
          </a:bodyPr>
          <a:lstStyle/>
          <a:p>
            <a:pPr marL="12700">
              <a:spcBef>
                <a:spcPts val="130"/>
              </a:spcBef>
            </a:pPr>
            <a:r>
              <a:rPr sz="900" spc="-10" err="1">
                <a:latin typeface="Calibri"/>
                <a:cs typeface="Calibri"/>
              </a:rPr>
              <a:t>W</a:t>
            </a:r>
            <a:r>
              <a:rPr sz="900" err="1">
                <a:latin typeface="Calibri"/>
                <a:cs typeface="Calibri"/>
              </a:rPr>
              <a:t>eig</a:t>
            </a:r>
            <a:r>
              <a:rPr sz="900" spc="-5" err="1">
                <a:latin typeface="Calibri"/>
                <a:cs typeface="Calibri"/>
              </a:rPr>
              <a:t>ht</a:t>
            </a:r>
            <a:r>
              <a:rPr sz="900" err="1">
                <a:latin typeface="Calibri"/>
                <a:cs typeface="Calibri"/>
              </a:rPr>
              <a:t>O</a:t>
            </a:r>
            <a:r>
              <a:rPr sz="900" spc="10" err="1">
                <a:latin typeface="Calibri"/>
                <a:cs typeface="Calibri"/>
              </a:rPr>
              <a:t>f</a:t>
            </a:r>
            <a:endParaRPr sz="900">
              <a:latin typeface="Calibri"/>
              <a:cs typeface="Calibri"/>
            </a:endParaRPr>
          </a:p>
        </p:txBody>
      </p:sp>
      <p:sp>
        <p:nvSpPr>
          <p:cNvPr id="15" name="object 35">
            <a:extLst>
              <a:ext uri="{FF2B5EF4-FFF2-40B4-BE49-F238E27FC236}">
                <a16:creationId xmlns:a16="http://schemas.microsoft.com/office/drawing/2014/main" id="{57B8C46A-1654-4DB7-893D-1F5EEAEB8685}"/>
              </a:ext>
            </a:extLst>
          </p:cNvPr>
          <p:cNvSpPr txBox="1"/>
          <p:nvPr/>
        </p:nvSpPr>
        <p:spPr>
          <a:xfrm>
            <a:off x="2157594" y="3342343"/>
            <a:ext cx="590550" cy="192360"/>
          </a:xfrm>
          <a:prstGeom prst="rect">
            <a:avLst/>
          </a:prstGeom>
          <a:ln w="41275">
            <a:solidFill>
              <a:srgbClr val="000000"/>
            </a:solidFill>
          </a:ln>
        </p:spPr>
        <p:txBody>
          <a:bodyPr vert="horz" wrap="square" lIns="0" tIns="53340" rIns="0" bIns="0" rtlCol="0">
            <a:spAutoFit/>
          </a:bodyPr>
          <a:lstStyle/>
          <a:p>
            <a:pPr marL="125730">
              <a:spcBef>
                <a:spcPts val="420"/>
              </a:spcBef>
            </a:pPr>
            <a:r>
              <a:rPr sz="900">
                <a:latin typeface="Calibri"/>
                <a:cs typeface="Calibri"/>
              </a:rPr>
              <a:t>Weight</a:t>
            </a:r>
          </a:p>
        </p:txBody>
      </p:sp>
      <p:grpSp>
        <p:nvGrpSpPr>
          <p:cNvPr id="16" name="object 36">
            <a:extLst>
              <a:ext uri="{FF2B5EF4-FFF2-40B4-BE49-F238E27FC236}">
                <a16:creationId xmlns:a16="http://schemas.microsoft.com/office/drawing/2014/main" id="{A33F8186-3D19-43CE-B924-31E0658F49D6}"/>
              </a:ext>
            </a:extLst>
          </p:cNvPr>
          <p:cNvGrpSpPr/>
          <p:nvPr/>
        </p:nvGrpSpPr>
        <p:grpSpPr>
          <a:xfrm>
            <a:off x="1677881" y="3804040"/>
            <a:ext cx="1104696" cy="333375"/>
            <a:chOff x="548010" y="3804039"/>
            <a:chExt cx="710565" cy="333375"/>
          </a:xfrm>
        </p:grpSpPr>
        <p:sp>
          <p:nvSpPr>
            <p:cNvPr id="17" name="object 37">
              <a:extLst>
                <a:ext uri="{FF2B5EF4-FFF2-40B4-BE49-F238E27FC236}">
                  <a16:creationId xmlns:a16="http://schemas.microsoft.com/office/drawing/2014/main" id="{42A355C9-D4BE-4937-8DB9-8E2D5B5CDDCD}"/>
                </a:ext>
              </a:extLst>
            </p:cNvPr>
            <p:cNvSpPr/>
            <p:nvPr/>
          </p:nvSpPr>
          <p:spPr>
            <a:xfrm>
              <a:off x="552772" y="3808802"/>
              <a:ext cx="701040" cy="323850"/>
            </a:xfrm>
            <a:custGeom>
              <a:avLst/>
              <a:gdLst/>
              <a:ahLst/>
              <a:cxnLst/>
              <a:rect l="l" t="t" r="r" b="b"/>
              <a:pathLst>
                <a:path w="701040" h="323850">
                  <a:moveTo>
                    <a:pt x="350304" y="0"/>
                  </a:moveTo>
                  <a:lnTo>
                    <a:pt x="287336" y="2606"/>
                  </a:lnTo>
                  <a:lnTo>
                    <a:pt x="228071" y="10123"/>
                  </a:lnTo>
                  <a:lnTo>
                    <a:pt x="173499" y="22091"/>
                  </a:lnTo>
                  <a:lnTo>
                    <a:pt x="124607" y="38055"/>
                  </a:lnTo>
                  <a:lnTo>
                    <a:pt x="82387" y="57557"/>
                  </a:lnTo>
                  <a:lnTo>
                    <a:pt x="47826" y="80141"/>
                  </a:lnTo>
                  <a:lnTo>
                    <a:pt x="5643" y="132723"/>
                  </a:lnTo>
                  <a:lnTo>
                    <a:pt x="0" y="161809"/>
                  </a:lnTo>
                  <a:lnTo>
                    <a:pt x="5643" y="190894"/>
                  </a:lnTo>
                  <a:lnTo>
                    <a:pt x="47826" y="243476"/>
                  </a:lnTo>
                  <a:lnTo>
                    <a:pt x="82387" y="266060"/>
                  </a:lnTo>
                  <a:lnTo>
                    <a:pt x="124607" y="285562"/>
                  </a:lnTo>
                  <a:lnTo>
                    <a:pt x="173499" y="301525"/>
                  </a:lnTo>
                  <a:lnTo>
                    <a:pt x="228071" y="313494"/>
                  </a:lnTo>
                  <a:lnTo>
                    <a:pt x="287336" y="321010"/>
                  </a:lnTo>
                  <a:lnTo>
                    <a:pt x="350304" y="323617"/>
                  </a:lnTo>
                  <a:lnTo>
                    <a:pt x="413272" y="321010"/>
                  </a:lnTo>
                  <a:lnTo>
                    <a:pt x="472537" y="313494"/>
                  </a:lnTo>
                  <a:lnTo>
                    <a:pt x="527109" y="301525"/>
                  </a:lnTo>
                  <a:lnTo>
                    <a:pt x="576001" y="285562"/>
                  </a:lnTo>
                  <a:lnTo>
                    <a:pt x="618221" y="266060"/>
                  </a:lnTo>
                  <a:lnTo>
                    <a:pt x="652782" y="243476"/>
                  </a:lnTo>
                  <a:lnTo>
                    <a:pt x="694965" y="190894"/>
                  </a:lnTo>
                  <a:lnTo>
                    <a:pt x="700608" y="161809"/>
                  </a:lnTo>
                  <a:lnTo>
                    <a:pt x="694965" y="132723"/>
                  </a:lnTo>
                  <a:lnTo>
                    <a:pt x="652782" y="80141"/>
                  </a:lnTo>
                  <a:lnTo>
                    <a:pt x="618221" y="57557"/>
                  </a:lnTo>
                  <a:lnTo>
                    <a:pt x="576001" y="38055"/>
                  </a:lnTo>
                  <a:lnTo>
                    <a:pt x="527109" y="22091"/>
                  </a:lnTo>
                  <a:lnTo>
                    <a:pt x="472537" y="10123"/>
                  </a:lnTo>
                  <a:lnTo>
                    <a:pt x="413272" y="2606"/>
                  </a:lnTo>
                  <a:lnTo>
                    <a:pt x="350304" y="0"/>
                  </a:lnTo>
                  <a:close/>
                </a:path>
              </a:pathLst>
            </a:custGeom>
            <a:solidFill>
              <a:srgbClr val="00FF00"/>
            </a:solidFill>
          </p:spPr>
          <p:txBody>
            <a:bodyPr wrap="square" lIns="0" tIns="0" rIns="0" bIns="0" rtlCol="0"/>
            <a:lstStyle/>
            <a:p>
              <a:endParaRPr/>
            </a:p>
          </p:txBody>
        </p:sp>
        <p:sp>
          <p:nvSpPr>
            <p:cNvPr id="18" name="object 38">
              <a:extLst>
                <a:ext uri="{FF2B5EF4-FFF2-40B4-BE49-F238E27FC236}">
                  <a16:creationId xmlns:a16="http://schemas.microsoft.com/office/drawing/2014/main" id="{8DFDD286-2B4B-446A-8772-2B2759882171}"/>
                </a:ext>
              </a:extLst>
            </p:cNvPr>
            <p:cNvSpPr/>
            <p:nvPr/>
          </p:nvSpPr>
          <p:spPr>
            <a:xfrm>
              <a:off x="552772" y="3808802"/>
              <a:ext cx="701040" cy="323850"/>
            </a:xfrm>
            <a:custGeom>
              <a:avLst/>
              <a:gdLst/>
              <a:ahLst/>
              <a:cxnLst/>
              <a:rect l="l" t="t" r="r" b="b"/>
              <a:pathLst>
                <a:path w="701040" h="32385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ln w="9525">
              <a:solidFill>
                <a:srgbClr val="000000"/>
              </a:solidFill>
            </a:ln>
          </p:spPr>
          <p:txBody>
            <a:bodyPr wrap="square" lIns="0" tIns="0" rIns="0" bIns="0" rtlCol="0"/>
            <a:lstStyle/>
            <a:p>
              <a:endParaRPr/>
            </a:p>
          </p:txBody>
        </p:sp>
      </p:grpSp>
      <p:sp>
        <p:nvSpPr>
          <p:cNvPr id="19" name="object 39">
            <a:extLst>
              <a:ext uri="{FF2B5EF4-FFF2-40B4-BE49-F238E27FC236}">
                <a16:creationId xmlns:a16="http://schemas.microsoft.com/office/drawing/2014/main" id="{C5273C79-BE15-47DD-8837-6373987A2188}"/>
              </a:ext>
            </a:extLst>
          </p:cNvPr>
          <p:cNvSpPr txBox="1"/>
          <p:nvPr/>
        </p:nvSpPr>
        <p:spPr>
          <a:xfrm>
            <a:off x="1879327" y="3881967"/>
            <a:ext cx="731741" cy="155171"/>
          </a:xfrm>
          <a:prstGeom prst="rect">
            <a:avLst/>
          </a:prstGeom>
        </p:spPr>
        <p:txBody>
          <a:bodyPr vert="horz" wrap="square" lIns="0" tIns="16510" rIns="0" bIns="0" rtlCol="0">
            <a:spAutoFit/>
          </a:bodyPr>
          <a:lstStyle/>
          <a:p>
            <a:pPr marL="12700">
              <a:spcBef>
                <a:spcPts val="130"/>
              </a:spcBef>
            </a:pPr>
            <a:r>
              <a:rPr sz="900" spc="-10" err="1">
                <a:latin typeface="Calibri"/>
                <a:cs typeface="Calibri"/>
              </a:rPr>
              <a:t>W</a:t>
            </a:r>
            <a:r>
              <a:rPr sz="900" err="1">
                <a:latin typeface="Calibri"/>
                <a:cs typeface="Calibri"/>
              </a:rPr>
              <a:t>eig</a:t>
            </a:r>
            <a:r>
              <a:rPr sz="900" spc="-5" err="1">
                <a:latin typeface="Calibri"/>
                <a:cs typeface="Calibri"/>
              </a:rPr>
              <a:t>h</a:t>
            </a:r>
            <a:r>
              <a:rPr sz="900" spc="10" err="1">
                <a:latin typeface="Calibri"/>
                <a:cs typeface="Calibri"/>
              </a:rPr>
              <a:t>t</a:t>
            </a:r>
            <a:r>
              <a:rPr lang="en-US" sz="900" spc="10" err="1">
                <a:latin typeface="Calibri"/>
                <a:cs typeface="Calibri"/>
              </a:rPr>
              <a:t>inlbs</a:t>
            </a:r>
            <a:endParaRPr sz="900">
              <a:latin typeface="Calibri"/>
              <a:cs typeface="Calibri"/>
            </a:endParaRPr>
          </a:p>
        </p:txBody>
      </p:sp>
      <p:grpSp>
        <p:nvGrpSpPr>
          <p:cNvPr id="20" name="object 46">
            <a:extLst>
              <a:ext uri="{FF2B5EF4-FFF2-40B4-BE49-F238E27FC236}">
                <a16:creationId xmlns:a16="http://schemas.microsoft.com/office/drawing/2014/main" id="{218DA25F-EA76-415F-B0A1-06980E967A8F}"/>
              </a:ext>
            </a:extLst>
          </p:cNvPr>
          <p:cNvGrpSpPr/>
          <p:nvPr/>
        </p:nvGrpSpPr>
        <p:grpSpPr>
          <a:xfrm>
            <a:off x="1879327" y="2958849"/>
            <a:ext cx="1432683" cy="1437744"/>
            <a:chOff x="355326" y="2958849"/>
            <a:chExt cx="1432683" cy="1437744"/>
          </a:xfrm>
        </p:grpSpPr>
        <p:sp>
          <p:nvSpPr>
            <p:cNvPr id="21" name="object 47">
              <a:extLst>
                <a:ext uri="{FF2B5EF4-FFF2-40B4-BE49-F238E27FC236}">
                  <a16:creationId xmlns:a16="http://schemas.microsoft.com/office/drawing/2014/main" id="{C274CA10-6C94-490D-9F6F-E5D6FEBA7103}"/>
                </a:ext>
              </a:extLst>
            </p:cNvPr>
            <p:cNvSpPr/>
            <p:nvPr/>
          </p:nvSpPr>
          <p:spPr>
            <a:xfrm>
              <a:off x="355326" y="3563805"/>
              <a:ext cx="603250" cy="483234"/>
            </a:xfrm>
            <a:custGeom>
              <a:avLst/>
              <a:gdLst/>
              <a:ahLst/>
              <a:cxnLst/>
              <a:rect l="l" t="t" r="r" b="b"/>
              <a:pathLst>
                <a:path w="603250" h="483235">
                  <a:moveTo>
                    <a:pt x="603062" y="0"/>
                  </a:moveTo>
                  <a:lnTo>
                    <a:pt x="0" y="482993"/>
                  </a:lnTo>
                </a:path>
              </a:pathLst>
            </a:custGeom>
            <a:solidFill>
              <a:srgbClr val="C0C0C0">
                <a:alpha val="50199"/>
              </a:srgbClr>
            </a:solidFill>
          </p:spPr>
          <p:txBody>
            <a:bodyPr wrap="square" lIns="0" tIns="0" rIns="0" bIns="0" rtlCol="0"/>
            <a:lstStyle/>
            <a:p>
              <a:endParaRPr/>
            </a:p>
          </p:txBody>
        </p:sp>
        <p:sp>
          <p:nvSpPr>
            <p:cNvPr id="22" name="object 48">
              <a:extLst>
                <a:ext uri="{FF2B5EF4-FFF2-40B4-BE49-F238E27FC236}">
                  <a16:creationId xmlns:a16="http://schemas.microsoft.com/office/drawing/2014/main" id="{A3FE4EA3-E7CB-438D-AC9F-A7CE6F8F1C00}"/>
                </a:ext>
              </a:extLst>
            </p:cNvPr>
            <p:cNvSpPr/>
            <p:nvPr/>
          </p:nvSpPr>
          <p:spPr>
            <a:xfrm>
              <a:off x="899160" y="3563805"/>
              <a:ext cx="59416" cy="265668"/>
            </a:xfrm>
            <a:custGeom>
              <a:avLst/>
              <a:gdLst/>
              <a:ahLst/>
              <a:cxnLst/>
              <a:rect l="l" t="t" r="r" b="b"/>
              <a:pathLst>
                <a:path w="603250" h="483235">
                  <a:moveTo>
                    <a:pt x="0" y="482994"/>
                  </a:moveTo>
                  <a:lnTo>
                    <a:pt x="603062" y="0"/>
                  </a:lnTo>
                </a:path>
              </a:pathLst>
            </a:custGeom>
            <a:ln w="9525">
              <a:solidFill>
                <a:srgbClr val="000000"/>
              </a:solidFill>
            </a:ln>
          </p:spPr>
          <p:txBody>
            <a:bodyPr wrap="square" lIns="0" tIns="0" rIns="0" bIns="0" rtlCol="0"/>
            <a:lstStyle/>
            <a:p>
              <a:endParaRPr/>
            </a:p>
          </p:txBody>
        </p:sp>
        <p:sp>
          <p:nvSpPr>
            <p:cNvPr id="23" name="object 49">
              <a:extLst>
                <a:ext uri="{FF2B5EF4-FFF2-40B4-BE49-F238E27FC236}">
                  <a16:creationId xmlns:a16="http://schemas.microsoft.com/office/drawing/2014/main" id="{AC2A965F-1E64-45B3-8B10-CE422E51174B}"/>
                </a:ext>
              </a:extLst>
            </p:cNvPr>
            <p:cNvSpPr/>
            <p:nvPr/>
          </p:nvSpPr>
          <p:spPr>
            <a:xfrm>
              <a:off x="953551" y="2958849"/>
              <a:ext cx="5080" cy="353695"/>
            </a:xfrm>
            <a:custGeom>
              <a:avLst/>
              <a:gdLst/>
              <a:ahLst/>
              <a:cxnLst/>
              <a:rect l="l" t="t" r="r" b="b"/>
              <a:pathLst>
                <a:path w="5080" h="353695">
                  <a:moveTo>
                    <a:pt x="0" y="0"/>
                  </a:moveTo>
                  <a:lnTo>
                    <a:pt x="4837" y="353253"/>
                  </a:lnTo>
                </a:path>
              </a:pathLst>
            </a:custGeom>
            <a:solidFill>
              <a:srgbClr val="C0C0C0">
                <a:alpha val="50199"/>
              </a:srgbClr>
            </a:solidFill>
          </p:spPr>
          <p:txBody>
            <a:bodyPr wrap="square" lIns="0" tIns="0" rIns="0" bIns="0" rtlCol="0"/>
            <a:lstStyle/>
            <a:p>
              <a:endParaRPr/>
            </a:p>
          </p:txBody>
        </p:sp>
        <p:sp>
          <p:nvSpPr>
            <p:cNvPr id="24" name="object 50">
              <a:extLst>
                <a:ext uri="{FF2B5EF4-FFF2-40B4-BE49-F238E27FC236}">
                  <a16:creationId xmlns:a16="http://schemas.microsoft.com/office/drawing/2014/main" id="{CA0C7D35-EE40-4058-8B00-873E49EB40CF}"/>
                </a:ext>
              </a:extLst>
            </p:cNvPr>
            <p:cNvSpPr/>
            <p:nvPr/>
          </p:nvSpPr>
          <p:spPr>
            <a:xfrm>
              <a:off x="953551" y="2958849"/>
              <a:ext cx="5080" cy="353695"/>
            </a:xfrm>
            <a:custGeom>
              <a:avLst/>
              <a:gdLst/>
              <a:ahLst/>
              <a:cxnLst/>
              <a:rect l="l" t="t" r="r" b="b"/>
              <a:pathLst>
                <a:path w="5080" h="353695">
                  <a:moveTo>
                    <a:pt x="0" y="0"/>
                  </a:moveTo>
                  <a:lnTo>
                    <a:pt x="4837" y="353253"/>
                  </a:lnTo>
                </a:path>
              </a:pathLst>
            </a:custGeom>
            <a:ln w="31750">
              <a:solidFill>
                <a:srgbClr val="000000"/>
              </a:solidFill>
            </a:ln>
          </p:spPr>
          <p:txBody>
            <a:bodyPr wrap="square" lIns="0" tIns="0" rIns="0" bIns="0" rtlCol="0"/>
            <a:lstStyle/>
            <a:p>
              <a:endParaRPr/>
            </a:p>
          </p:txBody>
        </p:sp>
        <p:sp>
          <p:nvSpPr>
            <p:cNvPr id="25" name="object 51">
              <a:extLst>
                <a:ext uri="{FF2B5EF4-FFF2-40B4-BE49-F238E27FC236}">
                  <a16:creationId xmlns:a16="http://schemas.microsoft.com/office/drawing/2014/main" id="{53EA3398-DFBD-4E2B-9E8E-123C664857DB}"/>
                </a:ext>
              </a:extLst>
            </p:cNvPr>
            <p:cNvSpPr/>
            <p:nvPr/>
          </p:nvSpPr>
          <p:spPr>
            <a:xfrm>
              <a:off x="1086969" y="4072743"/>
              <a:ext cx="701040" cy="323850"/>
            </a:xfrm>
            <a:custGeom>
              <a:avLst/>
              <a:gdLst/>
              <a:ahLst/>
              <a:cxnLst/>
              <a:rect l="l" t="t" r="r" b="b"/>
              <a:pathLst>
                <a:path w="701039" h="323850">
                  <a:moveTo>
                    <a:pt x="350303" y="0"/>
                  </a:moveTo>
                  <a:lnTo>
                    <a:pt x="287336" y="2606"/>
                  </a:lnTo>
                  <a:lnTo>
                    <a:pt x="228071" y="10123"/>
                  </a:lnTo>
                  <a:lnTo>
                    <a:pt x="173498" y="22091"/>
                  </a:lnTo>
                  <a:lnTo>
                    <a:pt x="124607" y="38055"/>
                  </a:lnTo>
                  <a:lnTo>
                    <a:pt x="82387" y="57557"/>
                  </a:lnTo>
                  <a:lnTo>
                    <a:pt x="47826" y="80140"/>
                  </a:lnTo>
                  <a:lnTo>
                    <a:pt x="5643" y="132723"/>
                  </a:lnTo>
                  <a:lnTo>
                    <a:pt x="0" y="161808"/>
                  </a:lnTo>
                  <a:lnTo>
                    <a:pt x="5643" y="190893"/>
                  </a:lnTo>
                  <a:lnTo>
                    <a:pt x="47826" y="243476"/>
                  </a:lnTo>
                  <a:lnTo>
                    <a:pt x="82387" y="266059"/>
                  </a:lnTo>
                  <a:lnTo>
                    <a:pt x="124607" y="285561"/>
                  </a:lnTo>
                  <a:lnTo>
                    <a:pt x="173498" y="301524"/>
                  </a:lnTo>
                  <a:lnTo>
                    <a:pt x="228071" y="313493"/>
                  </a:lnTo>
                  <a:lnTo>
                    <a:pt x="287336" y="321009"/>
                  </a:lnTo>
                  <a:lnTo>
                    <a:pt x="350303" y="323616"/>
                  </a:lnTo>
                  <a:lnTo>
                    <a:pt x="413271" y="321009"/>
                  </a:lnTo>
                  <a:lnTo>
                    <a:pt x="472536" y="313493"/>
                  </a:lnTo>
                  <a:lnTo>
                    <a:pt x="527109" y="301524"/>
                  </a:lnTo>
                  <a:lnTo>
                    <a:pt x="576001" y="285561"/>
                  </a:lnTo>
                  <a:lnTo>
                    <a:pt x="618221" y="266059"/>
                  </a:lnTo>
                  <a:lnTo>
                    <a:pt x="652782" y="243476"/>
                  </a:lnTo>
                  <a:lnTo>
                    <a:pt x="694965" y="190893"/>
                  </a:lnTo>
                  <a:lnTo>
                    <a:pt x="700609" y="161808"/>
                  </a:lnTo>
                  <a:lnTo>
                    <a:pt x="694965" y="132723"/>
                  </a:lnTo>
                  <a:lnTo>
                    <a:pt x="652782" y="80140"/>
                  </a:lnTo>
                  <a:lnTo>
                    <a:pt x="618221" y="57557"/>
                  </a:lnTo>
                  <a:lnTo>
                    <a:pt x="576001" y="38055"/>
                  </a:lnTo>
                  <a:lnTo>
                    <a:pt x="527109" y="22091"/>
                  </a:lnTo>
                  <a:lnTo>
                    <a:pt x="472536" y="10123"/>
                  </a:lnTo>
                  <a:lnTo>
                    <a:pt x="413271" y="2606"/>
                  </a:lnTo>
                  <a:lnTo>
                    <a:pt x="350303" y="0"/>
                  </a:lnTo>
                  <a:close/>
                </a:path>
              </a:pathLst>
            </a:custGeom>
            <a:solidFill>
              <a:srgbClr val="00FF00"/>
            </a:solidFill>
          </p:spPr>
          <p:txBody>
            <a:bodyPr wrap="square" lIns="0" tIns="0" rIns="0" bIns="0" rtlCol="0"/>
            <a:lstStyle/>
            <a:p>
              <a:endParaRPr/>
            </a:p>
          </p:txBody>
        </p:sp>
        <p:sp>
          <p:nvSpPr>
            <p:cNvPr id="26" name="object 52">
              <a:extLst>
                <a:ext uri="{FF2B5EF4-FFF2-40B4-BE49-F238E27FC236}">
                  <a16:creationId xmlns:a16="http://schemas.microsoft.com/office/drawing/2014/main" id="{37337B48-79A7-4593-AFC0-35F0E91F178D}"/>
                </a:ext>
              </a:extLst>
            </p:cNvPr>
            <p:cNvSpPr/>
            <p:nvPr/>
          </p:nvSpPr>
          <p:spPr>
            <a:xfrm>
              <a:off x="1086969" y="4072743"/>
              <a:ext cx="701040" cy="323850"/>
            </a:xfrm>
            <a:custGeom>
              <a:avLst/>
              <a:gdLst/>
              <a:ahLst/>
              <a:cxnLst/>
              <a:rect l="l" t="t" r="r" b="b"/>
              <a:pathLst>
                <a:path w="701039" h="323850">
                  <a:moveTo>
                    <a:pt x="0" y="161808"/>
                  </a:moveTo>
                  <a:lnTo>
                    <a:pt x="21915" y="105348"/>
                  </a:lnTo>
                  <a:lnTo>
                    <a:pt x="82387" y="57557"/>
                  </a:lnTo>
                  <a:lnTo>
                    <a:pt x="124607" y="38055"/>
                  </a:lnTo>
                  <a:lnTo>
                    <a:pt x="173499" y="22091"/>
                  </a:lnTo>
                  <a:lnTo>
                    <a:pt x="228071" y="10123"/>
                  </a:lnTo>
                  <a:lnTo>
                    <a:pt x="287336" y="2606"/>
                  </a:lnTo>
                  <a:lnTo>
                    <a:pt x="350304" y="0"/>
                  </a:lnTo>
                  <a:lnTo>
                    <a:pt x="413272" y="2606"/>
                  </a:lnTo>
                  <a:lnTo>
                    <a:pt x="472537" y="10123"/>
                  </a:lnTo>
                  <a:lnTo>
                    <a:pt x="527109" y="22091"/>
                  </a:lnTo>
                  <a:lnTo>
                    <a:pt x="576001" y="38055"/>
                  </a:lnTo>
                  <a:lnTo>
                    <a:pt x="618221" y="57557"/>
                  </a:lnTo>
                  <a:lnTo>
                    <a:pt x="652782" y="80140"/>
                  </a:lnTo>
                  <a:lnTo>
                    <a:pt x="694965" y="132723"/>
                  </a:lnTo>
                  <a:lnTo>
                    <a:pt x="700609" y="161808"/>
                  </a:lnTo>
                  <a:lnTo>
                    <a:pt x="694965" y="190893"/>
                  </a:lnTo>
                  <a:lnTo>
                    <a:pt x="652782" y="243476"/>
                  </a:lnTo>
                  <a:lnTo>
                    <a:pt x="618221" y="266059"/>
                  </a:lnTo>
                  <a:lnTo>
                    <a:pt x="576001" y="285561"/>
                  </a:lnTo>
                  <a:lnTo>
                    <a:pt x="527109" y="301525"/>
                  </a:lnTo>
                  <a:lnTo>
                    <a:pt x="472537" y="313493"/>
                  </a:lnTo>
                  <a:lnTo>
                    <a:pt x="413272" y="321010"/>
                  </a:lnTo>
                  <a:lnTo>
                    <a:pt x="350304" y="323617"/>
                  </a:lnTo>
                  <a:lnTo>
                    <a:pt x="287336" y="321010"/>
                  </a:lnTo>
                  <a:lnTo>
                    <a:pt x="228071" y="313493"/>
                  </a:lnTo>
                  <a:lnTo>
                    <a:pt x="173499" y="301525"/>
                  </a:lnTo>
                  <a:lnTo>
                    <a:pt x="124607" y="285561"/>
                  </a:lnTo>
                  <a:lnTo>
                    <a:pt x="82387" y="266059"/>
                  </a:lnTo>
                  <a:lnTo>
                    <a:pt x="47826" y="243476"/>
                  </a:lnTo>
                  <a:lnTo>
                    <a:pt x="5643" y="190893"/>
                  </a:lnTo>
                  <a:lnTo>
                    <a:pt x="0" y="161808"/>
                  </a:lnTo>
                  <a:close/>
                </a:path>
              </a:pathLst>
            </a:custGeom>
            <a:ln w="9525">
              <a:solidFill>
                <a:srgbClr val="000000"/>
              </a:solidFill>
            </a:ln>
          </p:spPr>
          <p:txBody>
            <a:bodyPr wrap="square" lIns="0" tIns="0" rIns="0" bIns="0" rtlCol="0"/>
            <a:lstStyle/>
            <a:p>
              <a:endParaRPr/>
            </a:p>
          </p:txBody>
        </p:sp>
      </p:grpSp>
      <p:sp>
        <p:nvSpPr>
          <p:cNvPr id="27" name="object 53">
            <a:extLst>
              <a:ext uri="{FF2B5EF4-FFF2-40B4-BE49-F238E27FC236}">
                <a16:creationId xmlns:a16="http://schemas.microsoft.com/office/drawing/2014/main" id="{39988821-9ACE-4C3C-A973-19080E1D1973}"/>
              </a:ext>
            </a:extLst>
          </p:cNvPr>
          <p:cNvSpPr txBox="1"/>
          <p:nvPr/>
        </p:nvSpPr>
        <p:spPr>
          <a:xfrm>
            <a:off x="2682524" y="4134475"/>
            <a:ext cx="585470" cy="155171"/>
          </a:xfrm>
          <a:prstGeom prst="rect">
            <a:avLst/>
          </a:prstGeom>
        </p:spPr>
        <p:txBody>
          <a:bodyPr vert="horz" wrap="square" lIns="0" tIns="16510" rIns="0" bIns="0" rtlCol="0">
            <a:spAutoFit/>
          </a:bodyPr>
          <a:lstStyle/>
          <a:p>
            <a:pPr marL="12700">
              <a:spcBef>
                <a:spcPts val="130"/>
              </a:spcBef>
            </a:pPr>
            <a:r>
              <a:rPr sz="900" spc="-5">
                <a:uFill>
                  <a:solidFill>
                    <a:srgbClr val="000000"/>
                  </a:solidFill>
                </a:uFill>
                <a:latin typeface="Calibri"/>
                <a:cs typeface="Calibri"/>
              </a:rPr>
              <a:t>T</a:t>
            </a:r>
            <a:r>
              <a:rPr sz="900">
                <a:uFill>
                  <a:solidFill>
                    <a:srgbClr val="000000"/>
                  </a:solidFill>
                </a:uFill>
                <a:latin typeface="Calibri"/>
                <a:cs typeface="Calibri"/>
              </a:rPr>
              <a:t>im</a:t>
            </a:r>
            <a:r>
              <a:rPr sz="900" spc="15">
                <a:uFill>
                  <a:solidFill>
                    <a:srgbClr val="000000"/>
                  </a:solidFill>
                </a:uFill>
                <a:latin typeface="Calibri"/>
                <a:cs typeface="Calibri"/>
              </a:rPr>
              <a:t>e</a:t>
            </a:r>
            <a:r>
              <a:rPr sz="900" spc="-20">
                <a:uFill>
                  <a:solidFill>
                    <a:srgbClr val="000000"/>
                  </a:solidFill>
                </a:uFill>
                <a:latin typeface="Calibri"/>
                <a:cs typeface="Calibri"/>
              </a:rPr>
              <a:t> </a:t>
            </a:r>
            <a:r>
              <a:rPr sz="900" spc="-5">
                <a:uFill>
                  <a:solidFill>
                    <a:srgbClr val="000000"/>
                  </a:solidFill>
                </a:uFill>
                <a:latin typeface="Calibri"/>
                <a:cs typeface="Calibri"/>
              </a:rPr>
              <a:t>Per</a:t>
            </a:r>
            <a:r>
              <a:rPr sz="900">
                <a:uFill>
                  <a:solidFill>
                    <a:srgbClr val="000000"/>
                  </a:solidFill>
                </a:uFill>
                <a:latin typeface="Calibri"/>
                <a:cs typeface="Calibri"/>
              </a:rPr>
              <a:t>i</a:t>
            </a:r>
            <a:r>
              <a:rPr sz="900" spc="-5">
                <a:uFill>
                  <a:solidFill>
                    <a:srgbClr val="000000"/>
                  </a:solidFill>
                </a:uFill>
                <a:latin typeface="Calibri"/>
                <a:cs typeface="Calibri"/>
              </a:rPr>
              <a:t>od</a:t>
            </a:r>
            <a:endParaRPr sz="900">
              <a:latin typeface="Calibri"/>
              <a:cs typeface="Calibri"/>
            </a:endParaRPr>
          </a:p>
        </p:txBody>
      </p:sp>
      <p:grpSp>
        <p:nvGrpSpPr>
          <p:cNvPr id="28" name="object 54">
            <a:extLst>
              <a:ext uri="{FF2B5EF4-FFF2-40B4-BE49-F238E27FC236}">
                <a16:creationId xmlns:a16="http://schemas.microsoft.com/office/drawing/2014/main" id="{1E40EA0A-FF6C-450F-89AD-087B3EE188AB}"/>
              </a:ext>
            </a:extLst>
          </p:cNvPr>
          <p:cNvGrpSpPr/>
          <p:nvPr/>
        </p:nvGrpSpPr>
        <p:grpSpPr>
          <a:xfrm>
            <a:off x="2477625" y="3559043"/>
            <a:ext cx="488950" cy="518795"/>
            <a:chOff x="953625" y="3559042"/>
            <a:chExt cx="488950" cy="518795"/>
          </a:xfrm>
        </p:grpSpPr>
        <p:sp>
          <p:nvSpPr>
            <p:cNvPr id="29" name="object 55">
              <a:extLst>
                <a:ext uri="{FF2B5EF4-FFF2-40B4-BE49-F238E27FC236}">
                  <a16:creationId xmlns:a16="http://schemas.microsoft.com/office/drawing/2014/main" id="{BAFE5F25-A73A-4023-8040-F31D669D89DF}"/>
                </a:ext>
              </a:extLst>
            </p:cNvPr>
            <p:cNvSpPr/>
            <p:nvPr/>
          </p:nvSpPr>
          <p:spPr>
            <a:xfrm>
              <a:off x="958388" y="3563805"/>
              <a:ext cx="479425" cy="509270"/>
            </a:xfrm>
            <a:custGeom>
              <a:avLst/>
              <a:gdLst/>
              <a:ahLst/>
              <a:cxnLst/>
              <a:rect l="l" t="t" r="r" b="b"/>
              <a:pathLst>
                <a:path w="479425" h="509270">
                  <a:moveTo>
                    <a:pt x="0" y="0"/>
                  </a:moveTo>
                  <a:lnTo>
                    <a:pt x="478886" y="508938"/>
                  </a:lnTo>
                </a:path>
              </a:pathLst>
            </a:custGeom>
            <a:solidFill>
              <a:srgbClr val="C0C0C0">
                <a:alpha val="50199"/>
              </a:srgbClr>
            </a:solidFill>
          </p:spPr>
          <p:txBody>
            <a:bodyPr wrap="square" lIns="0" tIns="0" rIns="0" bIns="0" rtlCol="0"/>
            <a:lstStyle/>
            <a:p>
              <a:endParaRPr/>
            </a:p>
          </p:txBody>
        </p:sp>
        <p:sp>
          <p:nvSpPr>
            <p:cNvPr id="30" name="object 56">
              <a:extLst>
                <a:ext uri="{FF2B5EF4-FFF2-40B4-BE49-F238E27FC236}">
                  <a16:creationId xmlns:a16="http://schemas.microsoft.com/office/drawing/2014/main" id="{F76E7261-CED5-4BB2-B107-B94A985503FC}"/>
                </a:ext>
              </a:extLst>
            </p:cNvPr>
            <p:cNvSpPr/>
            <p:nvPr/>
          </p:nvSpPr>
          <p:spPr>
            <a:xfrm>
              <a:off x="958388" y="3563804"/>
              <a:ext cx="479425" cy="509270"/>
            </a:xfrm>
            <a:custGeom>
              <a:avLst/>
              <a:gdLst/>
              <a:ahLst/>
              <a:cxnLst/>
              <a:rect l="l" t="t" r="r" b="b"/>
              <a:pathLst>
                <a:path w="479425" h="509270">
                  <a:moveTo>
                    <a:pt x="478886" y="508939"/>
                  </a:moveTo>
                  <a:lnTo>
                    <a:pt x="0" y="0"/>
                  </a:lnTo>
                </a:path>
              </a:pathLst>
            </a:custGeom>
            <a:ln w="9525">
              <a:solidFill>
                <a:srgbClr val="000000"/>
              </a:solidFill>
            </a:ln>
          </p:spPr>
          <p:txBody>
            <a:bodyPr wrap="square" lIns="0" tIns="0" rIns="0" bIns="0" rtlCol="0"/>
            <a:lstStyle/>
            <a:p>
              <a:endParaRPr/>
            </a:p>
          </p:txBody>
        </p:sp>
      </p:grpSp>
      <p:cxnSp>
        <p:nvCxnSpPr>
          <p:cNvPr id="31" name="Straight Arrow Connector 30">
            <a:extLst>
              <a:ext uri="{FF2B5EF4-FFF2-40B4-BE49-F238E27FC236}">
                <a16:creationId xmlns:a16="http://schemas.microsoft.com/office/drawing/2014/main" id="{0D569650-E1B1-433F-BAD0-44017DB2E63F}"/>
              </a:ext>
            </a:extLst>
          </p:cNvPr>
          <p:cNvCxnSpPr>
            <a:cxnSpLocks/>
          </p:cNvCxnSpPr>
          <p:nvPr/>
        </p:nvCxnSpPr>
        <p:spPr>
          <a:xfrm flipV="1">
            <a:off x="2467144" y="2971479"/>
            <a:ext cx="14733" cy="192124"/>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30BAB92-0AB1-45F9-BDE5-DD8A78E6DC18}"/>
              </a:ext>
            </a:extLst>
          </p:cNvPr>
          <p:cNvCxnSpPr/>
          <p:nvPr/>
        </p:nvCxnSpPr>
        <p:spPr>
          <a:xfrm>
            <a:off x="2748144" y="4289646"/>
            <a:ext cx="498557"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33" name="object 31">
            <a:extLst>
              <a:ext uri="{FF2B5EF4-FFF2-40B4-BE49-F238E27FC236}">
                <a16:creationId xmlns:a16="http://schemas.microsoft.com/office/drawing/2014/main" id="{285A05E5-96DD-4E39-952D-45A672FA7AD1}"/>
              </a:ext>
            </a:extLst>
          </p:cNvPr>
          <p:cNvGrpSpPr/>
          <p:nvPr/>
        </p:nvGrpSpPr>
        <p:grpSpPr>
          <a:xfrm>
            <a:off x="3395495" y="2310294"/>
            <a:ext cx="735965" cy="319405"/>
            <a:chOff x="1871494" y="2310293"/>
            <a:chExt cx="735965" cy="319405"/>
          </a:xfrm>
        </p:grpSpPr>
        <p:sp>
          <p:nvSpPr>
            <p:cNvPr id="34" name="object 32">
              <a:extLst>
                <a:ext uri="{FF2B5EF4-FFF2-40B4-BE49-F238E27FC236}">
                  <a16:creationId xmlns:a16="http://schemas.microsoft.com/office/drawing/2014/main" id="{7BFED77B-8E57-402B-88AE-37A8FF1BC36E}"/>
                </a:ext>
              </a:extLst>
            </p:cNvPr>
            <p:cNvSpPr/>
            <p:nvPr/>
          </p:nvSpPr>
          <p:spPr>
            <a:xfrm>
              <a:off x="1876257" y="2315056"/>
              <a:ext cx="726440" cy="309880"/>
            </a:xfrm>
            <a:custGeom>
              <a:avLst/>
              <a:gdLst/>
              <a:ahLst/>
              <a:cxnLst/>
              <a:rect l="l" t="t" r="r" b="b"/>
              <a:pathLst>
                <a:path w="726439" h="309880">
                  <a:moveTo>
                    <a:pt x="726056" y="0"/>
                  </a:moveTo>
                  <a:lnTo>
                    <a:pt x="0" y="0"/>
                  </a:lnTo>
                  <a:lnTo>
                    <a:pt x="0" y="309752"/>
                  </a:lnTo>
                  <a:lnTo>
                    <a:pt x="726056" y="309752"/>
                  </a:lnTo>
                  <a:lnTo>
                    <a:pt x="726056" y="0"/>
                  </a:lnTo>
                  <a:close/>
                </a:path>
              </a:pathLst>
            </a:custGeom>
            <a:solidFill>
              <a:srgbClr val="F2DCDB"/>
            </a:solidFill>
          </p:spPr>
          <p:txBody>
            <a:bodyPr wrap="square" lIns="0" tIns="0" rIns="0" bIns="0" rtlCol="0"/>
            <a:lstStyle/>
            <a:p>
              <a:r>
                <a:rPr lang="en-US"/>
                <a:t>Player</a:t>
              </a:r>
              <a:endParaRPr/>
            </a:p>
          </p:txBody>
        </p:sp>
        <p:sp>
          <p:nvSpPr>
            <p:cNvPr id="35" name="object 33">
              <a:extLst>
                <a:ext uri="{FF2B5EF4-FFF2-40B4-BE49-F238E27FC236}">
                  <a16:creationId xmlns:a16="http://schemas.microsoft.com/office/drawing/2014/main" id="{D0FA3B93-1D48-4AFC-9B35-34E3F6C8A2D5}"/>
                </a:ext>
              </a:extLst>
            </p:cNvPr>
            <p:cNvSpPr/>
            <p:nvPr/>
          </p:nvSpPr>
          <p:spPr>
            <a:xfrm>
              <a:off x="1876257" y="2315056"/>
              <a:ext cx="726440" cy="309880"/>
            </a:xfrm>
            <a:custGeom>
              <a:avLst/>
              <a:gdLst/>
              <a:ahLst/>
              <a:cxnLst/>
              <a:rect l="l" t="t" r="r" b="b"/>
              <a:pathLst>
                <a:path w="726439" h="309880">
                  <a:moveTo>
                    <a:pt x="0" y="0"/>
                  </a:moveTo>
                  <a:lnTo>
                    <a:pt x="726057" y="0"/>
                  </a:lnTo>
                  <a:lnTo>
                    <a:pt x="726057" y="309753"/>
                  </a:lnTo>
                  <a:lnTo>
                    <a:pt x="0" y="309753"/>
                  </a:lnTo>
                  <a:lnTo>
                    <a:pt x="0" y="0"/>
                  </a:lnTo>
                  <a:close/>
                </a:path>
              </a:pathLst>
            </a:custGeom>
            <a:ln w="9525">
              <a:solidFill>
                <a:srgbClr val="000000"/>
              </a:solidFill>
            </a:ln>
          </p:spPr>
          <p:txBody>
            <a:bodyPr wrap="square" lIns="0" tIns="0" rIns="0" bIns="0" rtlCol="0"/>
            <a:lstStyle/>
            <a:p>
              <a:endParaRPr/>
            </a:p>
          </p:txBody>
        </p:sp>
      </p:grpSp>
      <p:grpSp>
        <p:nvGrpSpPr>
          <p:cNvPr id="36" name="object 35">
            <a:extLst>
              <a:ext uri="{FF2B5EF4-FFF2-40B4-BE49-F238E27FC236}">
                <a16:creationId xmlns:a16="http://schemas.microsoft.com/office/drawing/2014/main" id="{E39566AA-EA62-4C1D-94DE-2279D387ED1D}"/>
              </a:ext>
            </a:extLst>
          </p:cNvPr>
          <p:cNvGrpSpPr/>
          <p:nvPr/>
        </p:nvGrpSpPr>
        <p:grpSpPr>
          <a:xfrm>
            <a:off x="2831600" y="1614442"/>
            <a:ext cx="871855" cy="408305"/>
            <a:chOff x="1307599" y="1614441"/>
            <a:chExt cx="871855" cy="408305"/>
          </a:xfrm>
        </p:grpSpPr>
        <p:sp>
          <p:nvSpPr>
            <p:cNvPr id="37" name="object 36">
              <a:extLst>
                <a:ext uri="{FF2B5EF4-FFF2-40B4-BE49-F238E27FC236}">
                  <a16:creationId xmlns:a16="http://schemas.microsoft.com/office/drawing/2014/main" id="{12CD70F9-9714-4F62-B886-35910FA30C28}"/>
                </a:ext>
              </a:extLst>
            </p:cNvPr>
            <p:cNvSpPr/>
            <p:nvPr/>
          </p:nvSpPr>
          <p:spPr>
            <a:xfrm>
              <a:off x="1312362" y="1619204"/>
              <a:ext cx="862330" cy="398780"/>
            </a:xfrm>
            <a:custGeom>
              <a:avLst/>
              <a:gdLst/>
              <a:ahLst/>
              <a:cxnLst/>
              <a:rect l="l" t="t" r="r" b="b"/>
              <a:pathLst>
                <a:path w="862330" h="398780">
                  <a:moveTo>
                    <a:pt x="431096" y="0"/>
                  </a:moveTo>
                  <a:lnTo>
                    <a:pt x="367392" y="2159"/>
                  </a:lnTo>
                  <a:lnTo>
                    <a:pt x="306590" y="8430"/>
                  </a:lnTo>
                  <a:lnTo>
                    <a:pt x="249356" y="18507"/>
                  </a:lnTo>
                  <a:lnTo>
                    <a:pt x="196359" y="32080"/>
                  </a:lnTo>
                  <a:lnTo>
                    <a:pt x="148265" y="48842"/>
                  </a:lnTo>
                  <a:lnTo>
                    <a:pt x="105740" y="68484"/>
                  </a:lnTo>
                  <a:lnTo>
                    <a:pt x="69452" y="90699"/>
                  </a:lnTo>
                  <a:lnTo>
                    <a:pt x="40067" y="115179"/>
                  </a:lnTo>
                  <a:lnTo>
                    <a:pt x="4674" y="169701"/>
                  </a:lnTo>
                  <a:lnTo>
                    <a:pt x="0" y="199127"/>
                  </a:lnTo>
                  <a:lnTo>
                    <a:pt x="4674" y="228552"/>
                  </a:lnTo>
                  <a:lnTo>
                    <a:pt x="40067" y="283073"/>
                  </a:lnTo>
                  <a:lnTo>
                    <a:pt x="69452" y="307553"/>
                  </a:lnTo>
                  <a:lnTo>
                    <a:pt x="105740" y="329768"/>
                  </a:lnTo>
                  <a:lnTo>
                    <a:pt x="148265" y="349411"/>
                  </a:lnTo>
                  <a:lnTo>
                    <a:pt x="196359" y="366173"/>
                  </a:lnTo>
                  <a:lnTo>
                    <a:pt x="249356" y="379746"/>
                  </a:lnTo>
                  <a:lnTo>
                    <a:pt x="306590" y="389823"/>
                  </a:lnTo>
                  <a:lnTo>
                    <a:pt x="367392" y="396095"/>
                  </a:lnTo>
                  <a:lnTo>
                    <a:pt x="431096" y="398254"/>
                  </a:lnTo>
                  <a:lnTo>
                    <a:pt x="494800" y="396095"/>
                  </a:lnTo>
                  <a:lnTo>
                    <a:pt x="555602" y="389823"/>
                  </a:lnTo>
                  <a:lnTo>
                    <a:pt x="612835" y="379746"/>
                  </a:lnTo>
                  <a:lnTo>
                    <a:pt x="665833" y="366173"/>
                  </a:lnTo>
                  <a:lnTo>
                    <a:pt x="713927" y="349411"/>
                  </a:lnTo>
                  <a:lnTo>
                    <a:pt x="756452" y="329768"/>
                  </a:lnTo>
                  <a:lnTo>
                    <a:pt x="792740" y="307553"/>
                  </a:lnTo>
                  <a:lnTo>
                    <a:pt x="822125" y="283073"/>
                  </a:lnTo>
                  <a:lnTo>
                    <a:pt x="857518" y="228552"/>
                  </a:lnTo>
                  <a:lnTo>
                    <a:pt x="862192" y="199127"/>
                  </a:lnTo>
                  <a:lnTo>
                    <a:pt x="857518" y="169701"/>
                  </a:lnTo>
                  <a:lnTo>
                    <a:pt x="822125" y="115179"/>
                  </a:lnTo>
                  <a:lnTo>
                    <a:pt x="792740" y="90699"/>
                  </a:lnTo>
                  <a:lnTo>
                    <a:pt x="756452" y="68484"/>
                  </a:lnTo>
                  <a:lnTo>
                    <a:pt x="713927" y="48842"/>
                  </a:lnTo>
                  <a:lnTo>
                    <a:pt x="665833" y="32080"/>
                  </a:lnTo>
                  <a:lnTo>
                    <a:pt x="612835" y="18507"/>
                  </a:lnTo>
                  <a:lnTo>
                    <a:pt x="555602" y="8430"/>
                  </a:lnTo>
                  <a:lnTo>
                    <a:pt x="494800" y="2159"/>
                  </a:lnTo>
                  <a:lnTo>
                    <a:pt x="431096" y="0"/>
                  </a:lnTo>
                  <a:close/>
                </a:path>
              </a:pathLst>
            </a:custGeom>
            <a:solidFill>
              <a:srgbClr val="00FF00"/>
            </a:solidFill>
          </p:spPr>
          <p:txBody>
            <a:bodyPr wrap="square" lIns="0" tIns="0" rIns="0" bIns="0" rtlCol="0"/>
            <a:lstStyle/>
            <a:p>
              <a:endParaRPr/>
            </a:p>
          </p:txBody>
        </p:sp>
        <p:sp>
          <p:nvSpPr>
            <p:cNvPr id="38" name="object 37">
              <a:extLst>
                <a:ext uri="{FF2B5EF4-FFF2-40B4-BE49-F238E27FC236}">
                  <a16:creationId xmlns:a16="http://schemas.microsoft.com/office/drawing/2014/main" id="{D8DBC4B3-3FCF-4981-8EB2-7BFC9DA1AA85}"/>
                </a:ext>
              </a:extLst>
            </p:cNvPr>
            <p:cNvSpPr/>
            <p:nvPr/>
          </p:nvSpPr>
          <p:spPr>
            <a:xfrm>
              <a:off x="1312362" y="1619204"/>
              <a:ext cx="862330" cy="398780"/>
            </a:xfrm>
            <a:custGeom>
              <a:avLst/>
              <a:gdLst/>
              <a:ahLst/>
              <a:cxnLst/>
              <a:rect l="l" t="t" r="r" b="b"/>
              <a:pathLst>
                <a:path w="862330" h="398780">
                  <a:moveTo>
                    <a:pt x="0" y="199127"/>
                  </a:moveTo>
                  <a:lnTo>
                    <a:pt x="18252" y="141616"/>
                  </a:lnTo>
                  <a:lnTo>
                    <a:pt x="69452" y="90700"/>
                  </a:lnTo>
                  <a:lnTo>
                    <a:pt x="105740" y="68485"/>
                  </a:lnTo>
                  <a:lnTo>
                    <a:pt x="148265" y="48842"/>
                  </a:lnTo>
                  <a:lnTo>
                    <a:pt x="196359" y="32080"/>
                  </a:lnTo>
                  <a:lnTo>
                    <a:pt x="249357" y="18507"/>
                  </a:lnTo>
                  <a:lnTo>
                    <a:pt x="306590" y="8430"/>
                  </a:lnTo>
                  <a:lnTo>
                    <a:pt x="367392" y="2159"/>
                  </a:lnTo>
                  <a:lnTo>
                    <a:pt x="431096" y="0"/>
                  </a:lnTo>
                  <a:lnTo>
                    <a:pt x="494800" y="2159"/>
                  </a:lnTo>
                  <a:lnTo>
                    <a:pt x="555602" y="8430"/>
                  </a:lnTo>
                  <a:lnTo>
                    <a:pt x="612835" y="18507"/>
                  </a:lnTo>
                  <a:lnTo>
                    <a:pt x="665833" y="32080"/>
                  </a:lnTo>
                  <a:lnTo>
                    <a:pt x="713927" y="48842"/>
                  </a:lnTo>
                  <a:lnTo>
                    <a:pt x="756452" y="68485"/>
                  </a:lnTo>
                  <a:lnTo>
                    <a:pt x="792740" y="90700"/>
                  </a:lnTo>
                  <a:lnTo>
                    <a:pt x="822125" y="115180"/>
                  </a:lnTo>
                  <a:lnTo>
                    <a:pt x="857518" y="169701"/>
                  </a:lnTo>
                  <a:lnTo>
                    <a:pt x="862193" y="199127"/>
                  </a:lnTo>
                  <a:lnTo>
                    <a:pt x="857518" y="228552"/>
                  </a:lnTo>
                  <a:lnTo>
                    <a:pt x="822125" y="283073"/>
                  </a:lnTo>
                  <a:lnTo>
                    <a:pt x="792740" y="307553"/>
                  </a:lnTo>
                  <a:lnTo>
                    <a:pt x="756452" y="329768"/>
                  </a:lnTo>
                  <a:lnTo>
                    <a:pt x="713927" y="349411"/>
                  </a:lnTo>
                  <a:lnTo>
                    <a:pt x="665833" y="366173"/>
                  </a:lnTo>
                  <a:lnTo>
                    <a:pt x="612835" y="379746"/>
                  </a:lnTo>
                  <a:lnTo>
                    <a:pt x="555602" y="389823"/>
                  </a:lnTo>
                  <a:lnTo>
                    <a:pt x="494800" y="396094"/>
                  </a:lnTo>
                  <a:lnTo>
                    <a:pt x="431096" y="398254"/>
                  </a:lnTo>
                  <a:lnTo>
                    <a:pt x="367392" y="396094"/>
                  </a:lnTo>
                  <a:lnTo>
                    <a:pt x="306590" y="389823"/>
                  </a:lnTo>
                  <a:lnTo>
                    <a:pt x="249357" y="379746"/>
                  </a:lnTo>
                  <a:lnTo>
                    <a:pt x="196359" y="366173"/>
                  </a:lnTo>
                  <a:lnTo>
                    <a:pt x="148265" y="349411"/>
                  </a:lnTo>
                  <a:lnTo>
                    <a:pt x="105740" y="329768"/>
                  </a:lnTo>
                  <a:lnTo>
                    <a:pt x="69452" y="307553"/>
                  </a:lnTo>
                  <a:lnTo>
                    <a:pt x="40067" y="283073"/>
                  </a:lnTo>
                  <a:lnTo>
                    <a:pt x="4674" y="228552"/>
                  </a:lnTo>
                  <a:lnTo>
                    <a:pt x="0" y="199127"/>
                  </a:lnTo>
                  <a:close/>
                </a:path>
              </a:pathLst>
            </a:custGeom>
            <a:ln w="9525">
              <a:solidFill>
                <a:srgbClr val="000000"/>
              </a:solidFill>
            </a:ln>
          </p:spPr>
          <p:txBody>
            <a:bodyPr wrap="square" lIns="0" tIns="0" rIns="0" bIns="0" rtlCol="0"/>
            <a:lstStyle/>
            <a:p>
              <a:endParaRPr/>
            </a:p>
          </p:txBody>
        </p:sp>
      </p:grpSp>
      <p:sp>
        <p:nvSpPr>
          <p:cNvPr id="44" name="object 48">
            <a:extLst>
              <a:ext uri="{FF2B5EF4-FFF2-40B4-BE49-F238E27FC236}">
                <a16:creationId xmlns:a16="http://schemas.microsoft.com/office/drawing/2014/main" id="{4BDECCF2-DAAC-4B40-806C-CDA4D2751BD9}"/>
              </a:ext>
            </a:extLst>
          </p:cNvPr>
          <p:cNvSpPr txBox="1"/>
          <p:nvPr/>
        </p:nvSpPr>
        <p:spPr>
          <a:xfrm>
            <a:off x="3025942" y="1688220"/>
            <a:ext cx="572135" cy="197490"/>
          </a:xfrm>
          <a:prstGeom prst="rect">
            <a:avLst/>
          </a:prstGeom>
        </p:spPr>
        <p:txBody>
          <a:bodyPr vert="horz" wrap="square" lIns="0" tIns="12700" rIns="0" bIns="0" rtlCol="0">
            <a:spAutoFit/>
          </a:bodyPr>
          <a:lstStyle/>
          <a:p>
            <a:pPr marL="12700">
              <a:spcBef>
                <a:spcPts val="100"/>
              </a:spcBef>
            </a:pPr>
            <a:r>
              <a:rPr sz="1200" u="sng" spc="5">
                <a:uFill>
                  <a:solidFill>
                    <a:srgbClr val="000000"/>
                  </a:solidFill>
                </a:uFill>
                <a:latin typeface="Calibri"/>
                <a:cs typeface="Calibri"/>
              </a:rPr>
              <a:t>P</a:t>
            </a:r>
            <a:r>
              <a:rPr sz="1200" u="sng">
                <a:uFill>
                  <a:solidFill>
                    <a:srgbClr val="000000"/>
                  </a:solidFill>
                </a:uFill>
                <a:latin typeface="Calibri"/>
                <a:cs typeface="Calibri"/>
              </a:rPr>
              <a:t>l</a:t>
            </a:r>
            <a:r>
              <a:rPr sz="1200" u="sng" spc="-25">
                <a:uFill>
                  <a:solidFill>
                    <a:srgbClr val="000000"/>
                  </a:solidFill>
                </a:uFill>
                <a:latin typeface="Calibri"/>
                <a:cs typeface="Calibri"/>
              </a:rPr>
              <a:t>ay</a:t>
            </a:r>
            <a:r>
              <a:rPr sz="1200" u="sng">
                <a:uFill>
                  <a:solidFill>
                    <a:srgbClr val="000000"/>
                  </a:solidFill>
                </a:uFill>
                <a:latin typeface="Calibri"/>
                <a:cs typeface="Calibri"/>
              </a:rPr>
              <a:t>er</a:t>
            </a:r>
            <a:r>
              <a:rPr sz="1200" u="sng" spc="-5">
                <a:uFill>
                  <a:solidFill>
                    <a:srgbClr val="000000"/>
                  </a:solidFill>
                </a:uFill>
                <a:latin typeface="Calibri"/>
                <a:cs typeface="Calibri"/>
              </a:rPr>
              <a:t> I</a:t>
            </a:r>
            <a:r>
              <a:rPr sz="1200" u="sng">
                <a:uFill>
                  <a:solidFill>
                    <a:srgbClr val="000000"/>
                  </a:solidFill>
                </a:uFill>
                <a:latin typeface="Calibri"/>
                <a:cs typeface="Calibri"/>
              </a:rPr>
              <a:t>D</a:t>
            </a:r>
            <a:endParaRPr sz="1200">
              <a:latin typeface="Calibri"/>
              <a:cs typeface="Calibri"/>
            </a:endParaRPr>
          </a:p>
        </p:txBody>
      </p:sp>
      <p:sp>
        <p:nvSpPr>
          <p:cNvPr id="50" name="TextBox 49">
            <a:extLst>
              <a:ext uri="{FF2B5EF4-FFF2-40B4-BE49-F238E27FC236}">
                <a16:creationId xmlns:a16="http://schemas.microsoft.com/office/drawing/2014/main" id="{13D6A17E-B5CF-49D4-8F96-F0527CCD89BB}"/>
              </a:ext>
            </a:extLst>
          </p:cNvPr>
          <p:cNvSpPr txBox="1"/>
          <p:nvPr/>
        </p:nvSpPr>
        <p:spPr>
          <a:xfrm>
            <a:off x="6452284" y="2255605"/>
            <a:ext cx="4329711" cy="923330"/>
          </a:xfrm>
          <a:prstGeom prst="rect">
            <a:avLst/>
          </a:prstGeom>
          <a:noFill/>
        </p:spPr>
        <p:txBody>
          <a:bodyPr wrap="none" lIns="91440" tIns="45720" rIns="91440" bIns="45720" rtlCol="0" anchor="t">
            <a:spAutoFit/>
          </a:bodyPr>
          <a:lstStyle/>
          <a:p>
            <a:r>
              <a:rPr lang="en-US" b="1" dirty="0"/>
              <a:t>Weight</a:t>
            </a:r>
            <a:r>
              <a:rPr lang="en-US" dirty="0"/>
              <a:t>(</a:t>
            </a:r>
            <a:r>
              <a:rPr lang="en-US" u="sng" dirty="0" err="1"/>
              <a:t>Player_id</a:t>
            </a:r>
            <a:r>
              <a:rPr lang="en-US" u="sng" dirty="0"/>
              <a:t>, </a:t>
            </a:r>
            <a:r>
              <a:rPr lang="en-US" u="sng" dirty="0" err="1"/>
              <a:t>time_period</a:t>
            </a:r>
            <a:r>
              <a:rPr lang="en-US" dirty="0"/>
              <a:t>, </a:t>
            </a:r>
            <a:r>
              <a:rPr lang="en-US" dirty="0" err="1"/>
              <a:t>weightinlbs</a:t>
            </a:r>
            <a:r>
              <a:rPr lang="en-US" dirty="0"/>
              <a:t>)</a:t>
            </a:r>
          </a:p>
          <a:p>
            <a:endParaRPr lang="en-US" dirty="0">
              <a:ea typeface="Calibri"/>
              <a:cs typeface="Calibri"/>
            </a:endParaRPr>
          </a:p>
          <a:p>
            <a:r>
              <a:rPr lang="en-US" dirty="0" err="1">
                <a:ea typeface="Calibri"/>
                <a:cs typeface="Calibri"/>
              </a:rPr>
              <a:t>Player_id</a:t>
            </a:r>
            <a:r>
              <a:rPr lang="en-US" dirty="0">
                <a:ea typeface="Calibri"/>
                <a:cs typeface="Calibri"/>
              </a:rPr>
              <a:t> is a foreign key into Player</a:t>
            </a:r>
          </a:p>
        </p:txBody>
      </p:sp>
      <p:cxnSp>
        <p:nvCxnSpPr>
          <p:cNvPr id="53" name="Straight Connector 52">
            <a:extLst>
              <a:ext uri="{FF2B5EF4-FFF2-40B4-BE49-F238E27FC236}">
                <a16:creationId xmlns:a16="http://schemas.microsoft.com/office/drawing/2014/main" id="{24D50F5B-CEDB-4E0F-B1C6-FE9D905CB472}"/>
              </a:ext>
            </a:extLst>
          </p:cNvPr>
          <p:cNvCxnSpPr/>
          <p:nvPr/>
        </p:nvCxnSpPr>
        <p:spPr>
          <a:xfrm flipH="1" flipV="1">
            <a:off x="3400258" y="2017985"/>
            <a:ext cx="363220" cy="297072"/>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8AE3AB5B-0972-4A06-B098-9698D483819C}"/>
              </a:ext>
            </a:extLst>
          </p:cNvPr>
          <p:cNvCxnSpPr/>
          <p:nvPr/>
        </p:nvCxnSpPr>
        <p:spPr>
          <a:xfrm flipH="1">
            <a:off x="4126698" y="2017985"/>
            <a:ext cx="384617" cy="2970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9449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9B75E3A-23EF-D746-AA23-48EC4729E69A}"/>
              </a:ext>
            </a:extLst>
          </p:cNvPr>
          <p:cNvSpPr>
            <a:spLocks noGrp="1"/>
          </p:cNvSpPr>
          <p:nvPr>
            <p:ph type="title"/>
          </p:nvPr>
        </p:nvSpPr>
        <p:spPr/>
        <p:txBody>
          <a:bodyPr/>
          <a:lstStyle/>
          <a:p>
            <a:r>
              <a:rPr lang="en-US" altLang="en-US"/>
              <a:t>Mapping EER Model Constructs to Relations</a:t>
            </a:r>
          </a:p>
        </p:txBody>
      </p:sp>
      <p:sp>
        <p:nvSpPr>
          <p:cNvPr id="21507" name="Content Placeholder 2">
            <a:extLst>
              <a:ext uri="{FF2B5EF4-FFF2-40B4-BE49-F238E27FC236}">
                <a16:creationId xmlns:a16="http://schemas.microsoft.com/office/drawing/2014/main" id="{40E94B21-92ED-A844-ACBB-A39DB3935FCC}"/>
              </a:ext>
            </a:extLst>
          </p:cNvPr>
          <p:cNvSpPr>
            <a:spLocks noGrp="1"/>
          </p:cNvSpPr>
          <p:nvPr>
            <p:ph idx="1"/>
          </p:nvPr>
        </p:nvSpPr>
        <p:spPr/>
        <p:txBody>
          <a:bodyPr/>
          <a:lstStyle/>
          <a:p>
            <a:r>
              <a:rPr lang="en-US" altLang="en-US"/>
              <a:t>Extending ER-to-relational mapping algorithm</a:t>
            </a:r>
          </a:p>
        </p:txBody>
      </p:sp>
      <p:sp>
        <p:nvSpPr>
          <p:cNvPr id="2" name="Slide Number Placeholder 1">
            <a:extLst>
              <a:ext uri="{FF2B5EF4-FFF2-40B4-BE49-F238E27FC236}">
                <a16:creationId xmlns:a16="http://schemas.microsoft.com/office/drawing/2014/main" id="{D4791285-DFBA-4826-B996-5D566148FAD1}"/>
              </a:ext>
            </a:extLst>
          </p:cNvPr>
          <p:cNvSpPr>
            <a:spLocks noGrp="1"/>
          </p:cNvSpPr>
          <p:nvPr>
            <p:ph type="sldNum" sz="quarter" idx="12"/>
          </p:nvPr>
        </p:nvSpPr>
        <p:spPr/>
        <p:txBody>
          <a:bodyPr/>
          <a:lstStyle/>
          <a:p>
            <a:fld id="{641C0F02-33DC-3A41-9F51-431B7FE03ABE}" type="slidenum">
              <a:rPr lang="en-US" smtClean="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B5CDB69-78BC-CC42-9101-8EA903651262}"/>
              </a:ext>
            </a:extLst>
          </p:cNvPr>
          <p:cNvSpPr>
            <a:spLocks noGrp="1"/>
          </p:cNvSpPr>
          <p:nvPr>
            <p:ph type="title"/>
          </p:nvPr>
        </p:nvSpPr>
        <p:spPr/>
        <p:txBody>
          <a:bodyPr/>
          <a:lstStyle/>
          <a:p>
            <a:r>
              <a:rPr lang="en-US" altLang="en-US"/>
              <a:t>Mapping of Specialization or Generalization</a:t>
            </a:r>
          </a:p>
        </p:txBody>
      </p:sp>
      <p:sp>
        <p:nvSpPr>
          <p:cNvPr id="22531" name="Content Placeholder 2">
            <a:extLst>
              <a:ext uri="{FF2B5EF4-FFF2-40B4-BE49-F238E27FC236}">
                <a16:creationId xmlns:a16="http://schemas.microsoft.com/office/drawing/2014/main" id="{B65B5ECA-9A99-3F4A-AC0D-809CBE469159}"/>
              </a:ext>
            </a:extLst>
          </p:cNvPr>
          <p:cNvSpPr>
            <a:spLocks noGrp="1"/>
          </p:cNvSpPr>
          <p:nvPr>
            <p:ph idx="1"/>
          </p:nvPr>
        </p:nvSpPr>
        <p:spPr>
          <a:xfrm>
            <a:off x="867594" y="1548905"/>
            <a:ext cx="6174486" cy="4057689"/>
          </a:xfrm>
        </p:spPr>
        <p:txBody>
          <a:bodyPr>
            <a:normAutofit fontScale="70000" lnSpcReduction="20000"/>
          </a:bodyPr>
          <a:lstStyle/>
          <a:p>
            <a:r>
              <a:rPr lang="en-US" altLang="en-US"/>
              <a:t>Step 8: Options for Mapping Specialization or Generalization</a:t>
            </a:r>
          </a:p>
          <a:p>
            <a:pPr lvl="1"/>
            <a:r>
              <a:rPr lang="en-US" altLang="en-US" b="1"/>
              <a:t>Option 8A: Multiple relations—superclass and subclasses</a:t>
            </a:r>
          </a:p>
          <a:p>
            <a:pPr lvl="2"/>
            <a:r>
              <a:rPr lang="en-US" altLang="en-US"/>
              <a:t>For any specialization (total or partial, disjoint or overlapping)</a:t>
            </a:r>
          </a:p>
          <a:p>
            <a:pPr marL="914400" lvl="2" indent="0">
              <a:buNone/>
            </a:pPr>
            <a:endParaRPr lang="en-US" altLang="en-US" b="1"/>
          </a:p>
          <a:p>
            <a:pPr marL="914400" lvl="2" indent="0">
              <a:buNone/>
            </a:pPr>
            <a:r>
              <a:rPr lang="en-US" altLang="en-US" b="1"/>
              <a:t>Person</a:t>
            </a:r>
            <a:r>
              <a:rPr lang="en-US" altLang="en-US"/>
              <a:t>(</a:t>
            </a:r>
            <a:r>
              <a:rPr lang="en-US" altLang="en-US" u="sng" err="1"/>
              <a:t>ssn</a:t>
            </a:r>
            <a:r>
              <a:rPr lang="en-US" altLang="en-US"/>
              <a:t>, name)</a:t>
            </a:r>
          </a:p>
          <a:p>
            <a:pPr marL="914400" lvl="2" indent="0">
              <a:buNone/>
            </a:pPr>
            <a:r>
              <a:rPr lang="en-US" altLang="en-US" b="1"/>
              <a:t>Employee</a:t>
            </a:r>
            <a:r>
              <a:rPr lang="en-US" altLang="en-US"/>
              <a:t>(</a:t>
            </a:r>
            <a:r>
              <a:rPr lang="en-US" altLang="en-US" u="sng" err="1"/>
              <a:t>ssn</a:t>
            </a:r>
            <a:r>
              <a:rPr lang="en-US" altLang="en-US"/>
              <a:t>, salary)</a:t>
            </a:r>
          </a:p>
          <a:p>
            <a:pPr marL="914400" lvl="2" indent="0">
              <a:buNone/>
            </a:pPr>
            <a:r>
              <a:rPr lang="en-US" altLang="en-US" b="1"/>
              <a:t>Student</a:t>
            </a:r>
            <a:r>
              <a:rPr lang="en-US" altLang="en-US"/>
              <a:t>(</a:t>
            </a:r>
            <a:r>
              <a:rPr lang="en-US" altLang="en-US" u="sng" err="1"/>
              <a:t>ssn</a:t>
            </a:r>
            <a:r>
              <a:rPr lang="en-US" altLang="en-US"/>
              <a:t>, major)</a:t>
            </a:r>
          </a:p>
          <a:p>
            <a:pPr marL="914400" lvl="2" indent="0">
              <a:buNone/>
            </a:pPr>
            <a:r>
              <a:rPr lang="en-US" altLang="en-US" b="1"/>
              <a:t>Alumnus</a:t>
            </a:r>
            <a:r>
              <a:rPr lang="en-US" altLang="en-US"/>
              <a:t>(</a:t>
            </a:r>
            <a:r>
              <a:rPr lang="en-US" altLang="en-US" u="sng" err="1"/>
              <a:t>ssn</a:t>
            </a:r>
            <a:r>
              <a:rPr lang="en-US" altLang="en-US"/>
              <a:t>)</a:t>
            </a:r>
          </a:p>
          <a:p>
            <a:pPr marL="914400" lvl="2" indent="0">
              <a:buNone/>
            </a:pPr>
            <a:endParaRPr lang="en-US" altLang="en-US"/>
          </a:p>
          <a:p>
            <a:pPr lvl="1"/>
            <a:r>
              <a:rPr lang="en-US" altLang="en-US" b="1"/>
              <a:t>Option 8B: Multiple relations—subclass relations only</a:t>
            </a:r>
          </a:p>
          <a:p>
            <a:pPr lvl="2"/>
            <a:r>
              <a:rPr lang="en-US" altLang="en-US"/>
              <a:t>Subclasses are total</a:t>
            </a:r>
          </a:p>
          <a:p>
            <a:pPr lvl="2"/>
            <a:r>
              <a:rPr lang="en-US" altLang="en-US"/>
              <a:t>Specialization has disjointedness constraint</a:t>
            </a:r>
          </a:p>
          <a:p>
            <a:pPr lvl="2"/>
            <a:endParaRPr lang="en-US" altLang="en-US"/>
          </a:p>
          <a:p>
            <a:pPr marL="914400" lvl="2" indent="0">
              <a:buNone/>
            </a:pPr>
            <a:r>
              <a:rPr lang="en-US" altLang="en-US" b="1"/>
              <a:t>Employee</a:t>
            </a:r>
            <a:r>
              <a:rPr lang="en-US" altLang="en-US"/>
              <a:t>(</a:t>
            </a:r>
            <a:r>
              <a:rPr lang="en-US" altLang="en-US" u="sng" err="1"/>
              <a:t>ssn</a:t>
            </a:r>
            <a:r>
              <a:rPr lang="en-US" altLang="en-US"/>
              <a:t>, </a:t>
            </a:r>
            <a:r>
              <a:rPr lang="en-US" altLang="en-US" err="1"/>
              <a:t>name,salary</a:t>
            </a:r>
            <a:r>
              <a:rPr lang="en-US" altLang="en-US"/>
              <a:t>)</a:t>
            </a:r>
          </a:p>
          <a:p>
            <a:pPr marL="914400" lvl="2" indent="0">
              <a:buNone/>
            </a:pPr>
            <a:r>
              <a:rPr lang="en-US" altLang="en-US" b="1"/>
              <a:t>Student</a:t>
            </a:r>
            <a:r>
              <a:rPr lang="en-US" altLang="en-US"/>
              <a:t>(</a:t>
            </a:r>
            <a:r>
              <a:rPr lang="en-US" altLang="en-US" u="sng" err="1"/>
              <a:t>ssn</a:t>
            </a:r>
            <a:r>
              <a:rPr lang="en-US" altLang="en-US"/>
              <a:t>, </a:t>
            </a:r>
            <a:r>
              <a:rPr lang="en-US" altLang="en-US" err="1"/>
              <a:t>name,major</a:t>
            </a:r>
            <a:r>
              <a:rPr lang="en-US" altLang="en-US"/>
              <a:t>)</a:t>
            </a:r>
          </a:p>
          <a:p>
            <a:pPr marL="914400" lvl="2" indent="0">
              <a:buNone/>
            </a:pPr>
            <a:r>
              <a:rPr lang="en-US" altLang="en-US" b="1"/>
              <a:t>Alumnus</a:t>
            </a:r>
            <a:r>
              <a:rPr lang="en-US" altLang="en-US"/>
              <a:t>(</a:t>
            </a:r>
            <a:r>
              <a:rPr lang="en-US" altLang="en-US" u="sng" err="1"/>
              <a:t>ssn</a:t>
            </a:r>
            <a:r>
              <a:rPr lang="en-US" altLang="en-US" err="1"/>
              <a:t>,name</a:t>
            </a:r>
            <a:r>
              <a:rPr lang="en-US" altLang="en-US"/>
              <a:t>)</a:t>
            </a:r>
          </a:p>
          <a:p>
            <a:pPr lvl="2"/>
            <a:endParaRPr lang="en-US" altLang="en-US"/>
          </a:p>
        </p:txBody>
      </p:sp>
      <p:grpSp>
        <p:nvGrpSpPr>
          <p:cNvPr id="33" name="Group 32">
            <a:extLst>
              <a:ext uri="{FF2B5EF4-FFF2-40B4-BE49-F238E27FC236}">
                <a16:creationId xmlns:a16="http://schemas.microsoft.com/office/drawing/2014/main" id="{6D8C541F-8C06-3E9E-AC5E-15CEE224142E}"/>
              </a:ext>
            </a:extLst>
          </p:cNvPr>
          <p:cNvGrpSpPr/>
          <p:nvPr/>
        </p:nvGrpSpPr>
        <p:grpSpPr>
          <a:xfrm>
            <a:off x="7757194" y="21094"/>
            <a:ext cx="4276237" cy="3321269"/>
            <a:chOff x="7757194" y="21094"/>
            <a:chExt cx="4276237" cy="3321269"/>
          </a:xfrm>
        </p:grpSpPr>
        <p:grpSp>
          <p:nvGrpSpPr>
            <p:cNvPr id="21" name="Group 20">
              <a:extLst>
                <a:ext uri="{FF2B5EF4-FFF2-40B4-BE49-F238E27FC236}">
                  <a16:creationId xmlns:a16="http://schemas.microsoft.com/office/drawing/2014/main" id="{F5491722-52F9-85C1-D7E3-0429B99D4FD2}"/>
                </a:ext>
              </a:extLst>
            </p:cNvPr>
            <p:cNvGrpSpPr/>
            <p:nvPr/>
          </p:nvGrpSpPr>
          <p:grpSpPr>
            <a:xfrm>
              <a:off x="8383495" y="21094"/>
              <a:ext cx="3649936" cy="2845963"/>
              <a:chOff x="8383495" y="21094"/>
              <a:chExt cx="3649936" cy="2845963"/>
            </a:xfrm>
          </p:grpSpPr>
          <p:sp>
            <p:nvSpPr>
              <p:cNvPr id="3" name="Rectangle 2">
                <a:extLst>
                  <a:ext uri="{FF2B5EF4-FFF2-40B4-BE49-F238E27FC236}">
                    <a16:creationId xmlns:a16="http://schemas.microsoft.com/office/drawing/2014/main" id="{CDA23CD0-0257-4778-360F-B46C3B1EA9C0}"/>
                  </a:ext>
                </a:extLst>
              </p:cNvPr>
              <p:cNvSpPr/>
              <p:nvPr/>
            </p:nvSpPr>
            <p:spPr>
              <a:xfrm>
                <a:off x="9634322" y="504103"/>
                <a:ext cx="1702051"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Person</a:t>
                </a:r>
              </a:p>
            </p:txBody>
          </p:sp>
          <p:sp>
            <p:nvSpPr>
              <p:cNvPr id="4" name="Isosceles Triangle 3">
                <a:extLst>
                  <a:ext uri="{FF2B5EF4-FFF2-40B4-BE49-F238E27FC236}">
                    <a16:creationId xmlns:a16="http://schemas.microsoft.com/office/drawing/2014/main" id="{408A651C-D42E-05D3-37BD-FE6F6F623FAC}"/>
                  </a:ext>
                </a:extLst>
              </p:cNvPr>
              <p:cNvSpPr/>
              <p:nvPr/>
            </p:nvSpPr>
            <p:spPr>
              <a:xfrm>
                <a:off x="9981407" y="1548269"/>
                <a:ext cx="1039538" cy="533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IsA</a:t>
                </a:r>
                <a:endParaRPr lang="en-US"/>
              </a:p>
            </p:txBody>
          </p:sp>
          <p:cxnSp>
            <p:nvCxnSpPr>
              <p:cNvPr id="6" name="Straight Connector 5">
                <a:extLst>
                  <a:ext uri="{FF2B5EF4-FFF2-40B4-BE49-F238E27FC236}">
                    <a16:creationId xmlns:a16="http://schemas.microsoft.com/office/drawing/2014/main" id="{8174D296-C66A-5902-836D-CF52EC251C8E}"/>
                  </a:ext>
                </a:extLst>
              </p:cNvPr>
              <p:cNvCxnSpPr>
                <a:stCxn id="3" idx="2"/>
                <a:endCxn id="4" idx="0"/>
              </p:cNvCxnSpPr>
              <p:nvPr/>
            </p:nvCxnSpPr>
            <p:spPr>
              <a:xfrm>
                <a:off x="10485348" y="848134"/>
                <a:ext cx="15828" cy="700135"/>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F61E623-9740-01F9-B6AA-7E7EB1D2C2F6}"/>
                  </a:ext>
                </a:extLst>
              </p:cNvPr>
              <p:cNvSpPr/>
              <p:nvPr/>
            </p:nvSpPr>
            <p:spPr>
              <a:xfrm>
                <a:off x="8383495" y="2523026"/>
                <a:ext cx="1250827"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Employee</a:t>
                </a:r>
              </a:p>
            </p:txBody>
          </p:sp>
          <p:sp>
            <p:nvSpPr>
              <p:cNvPr id="8" name="Rectangle 7">
                <a:extLst>
                  <a:ext uri="{FF2B5EF4-FFF2-40B4-BE49-F238E27FC236}">
                    <a16:creationId xmlns:a16="http://schemas.microsoft.com/office/drawing/2014/main" id="{5D8EBCA7-D84A-14A7-9EA5-C84F994FBE68}"/>
                  </a:ext>
                </a:extLst>
              </p:cNvPr>
              <p:cNvSpPr/>
              <p:nvPr/>
            </p:nvSpPr>
            <p:spPr>
              <a:xfrm>
                <a:off x="10972727" y="2495865"/>
                <a:ext cx="1060704"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Alumnus</a:t>
                </a:r>
              </a:p>
            </p:txBody>
          </p:sp>
          <p:sp>
            <p:nvSpPr>
              <p:cNvPr id="9" name="Rectangle 8">
                <a:extLst>
                  <a:ext uri="{FF2B5EF4-FFF2-40B4-BE49-F238E27FC236}">
                    <a16:creationId xmlns:a16="http://schemas.microsoft.com/office/drawing/2014/main" id="{5C30E0BE-BEBA-FD2A-FF6F-54639952D66A}"/>
                  </a:ext>
                </a:extLst>
              </p:cNvPr>
              <p:cNvSpPr/>
              <p:nvPr/>
            </p:nvSpPr>
            <p:spPr>
              <a:xfrm>
                <a:off x="9773172" y="2501901"/>
                <a:ext cx="1060704"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Student</a:t>
                </a:r>
              </a:p>
            </p:txBody>
          </p:sp>
          <p:sp>
            <p:nvSpPr>
              <p:cNvPr id="10" name="Oval 9">
                <a:extLst>
                  <a:ext uri="{FF2B5EF4-FFF2-40B4-BE49-F238E27FC236}">
                    <a16:creationId xmlns:a16="http://schemas.microsoft.com/office/drawing/2014/main" id="{D73935FC-5C7B-C446-EFC8-2726587D5571}"/>
                  </a:ext>
                </a:extLst>
              </p:cNvPr>
              <p:cNvSpPr/>
              <p:nvPr/>
            </p:nvSpPr>
            <p:spPr>
              <a:xfrm>
                <a:off x="9245024" y="21094"/>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SSN</a:t>
                </a:r>
              </a:p>
            </p:txBody>
          </p:sp>
          <p:cxnSp>
            <p:nvCxnSpPr>
              <p:cNvPr id="12" name="Straight Connector 11">
                <a:extLst>
                  <a:ext uri="{FF2B5EF4-FFF2-40B4-BE49-F238E27FC236}">
                    <a16:creationId xmlns:a16="http://schemas.microsoft.com/office/drawing/2014/main" id="{0E6847BB-C380-19FC-BB16-B0C69F7B980B}"/>
                  </a:ext>
                </a:extLst>
              </p:cNvPr>
              <p:cNvCxnSpPr>
                <a:stCxn id="3" idx="0"/>
                <a:endCxn id="10" idx="5"/>
              </p:cNvCxnSpPr>
              <p:nvPr/>
            </p:nvCxnSpPr>
            <p:spPr>
              <a:xfrm flipH="1" flipV="1">
                <a:off x="10133699" y="314743"/>
                <a:ext cx="351649" cy="18936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CC03733-070F-6D7A-9897-1100FCC18AD8}"/>
                  </a:ext>
                </a:extLst>
              </p:cNvPr>
              <p:cNvCxnSpPr>
                <a:stCxn id="4" idx="3"/>
                <a:endCxn id="7" idx="0"/>
              </p:cNvCxnSpPr>
              <p:nvPr/>
            </p:nvCxnSpPr>
            <p:spPr>
              <a:xfrm flipH="1">
                <a:off x="9008909" y="2081669"/>
                <a:ext cx="1492267" cy="441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B6D1955-DA05-85E9-4CB6-811FB74D91BB}"/>
                  </a:ext>
                </a:extLst>
              </p:cNvPr>
              <p:cNvCxnSpPr>
                <a:cxnSpLocks/>
                <a:stCxn id="4" idx="3"/>
                <a:endCxn id="9" idx="0"/>
              </p:cNvCxnSpPr>
              <p:nvPr/>
            </p:nvCxnSpPr>
            <p:spPr>
              <a:xfrm flipH="1">
                <a:off x="10303524" y="2081669"/>
                <a:ext cx="197652" cy="420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23E3ED7-E745-D95B-A0CD-762EAF5C06B7}"/>
                  </a:ext>
                </a:extLst>
              </p:cNvPr>
              <p:cNvCxnSpPr>
                <a:cxnSpLocks/>
                <a:stCxn id="4" idx="3"/>
                <a:endCxn id="8" idx="0"/>
              </p:cNvCxnSpPr>
              <p:nvPr/>
            </p:nvCxnSpPr>
            <p:spPr>
              <a:xfrm>
                <a:off x="10501176" y="2081669"/>
                <a:ext cx="1001903" cy="41419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9F8EE4FA-EA9A-E73F-859C-50C280C79A95}"/>
                </a:ext>
              </a:extLst>
            </p:cNvPr>
            <p:cNvSpPr/>
            <p:nvPr/>
          </p:nvSpPr>
          <p:spPr>
            <a:xfrm>
              <a:off x="9876484" y="2992469"/>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major</a:t>
              </a:r>
            </a:p>
          </p:txBody>
        </p:sp>
        <p:cxnSp>
          <p:nvCxnSpPr>
            <p:cNvPr id="23" name="Straight Connector 22">
              <a:extLst>
                <a:ext uri="{FF2B5EF4-FFF2-40B4-BE49-F238E27FC236}">
                  <a16:creationId xmlns:a16="http://schemas.microsoft.com/office/drawing/2014/main" id="{7FAFCE95-6C0E-87C4-49DF-F9B8096E2E7B}"/>
                </a:ext>
              </a:extLst>
            </p:cNvPr>
            <p:cNvCxnSpPr>
              <a:cxnSpLocks/>
              <a:stCxn id="9" idx="2"/>
              <a:endCxn id="22" idx="0"/>
            </p:cNvCxnSpPr>
            <p:nvPr/>
          </p:nvCxnSpPr>
          <p:spPr>
            <a:xfrm>
              <a:off x="10303524" y="2845932"/>
              <a:ext cx="93534" cy="14653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E17DBAC-E264-F691-E05E-F710A1B1C9A7}"/>
                </a:ext>
              </a:extLst>
            </p:cNvPr>
            <p:cNvSpPr/>
            <p:nvPr/>
          </p:nvSpPr>
          <p:spPr>
            <a:xfrm>
              <a:off x="7757194" y="2998332"/>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salary</a:t>
              </a:r>
            </a:p>
          </p:txBody>
        </p:sp>
        <p:cxnSp>
          <p:nvCxnSpPr>
            <p:cNvPr id="27" name="Straight Connector 26">
              <a:extLst>
                <a:ext uri="{FF2B5EF4-FFF2-40B4-BE49-F238E27FC236}">
                  <a16:creationId xmlns:a16="http://schemas.microsoft.com/office/drawing/2014/main" id="{E526F66F-4A43-C782-7C0F-C446BCA90D2D}"/>
                </a:ext>
              </a:extLst>
            </p:cNvPr>
            <p:cNvCxnSpPr>
              <a:cxnSpLocks/>
              <a:endCxn id="26" idx="0"/>
            </p:cNvCxnSpPr>
            <p:nvPr/>
          </p:nvCxnSpPr>
          <p:spPr>
            <a:xfrm flipH="1">
              <a:off x="8277768" y="2851795"/>
              <a:ext cx="121330" cy="146537"/>
            </a:xfrm>
            <a:prstGeom prst="line">
              <a:avLst/>
            </a:prstGeom>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898F73EE-B01B-2935-6955-7E0D0A6C4B32}"/>
                </a:ext>
              </a:extLst>
            </p:cNvPr>
            <p:cNvSpPr/>
            <p:nvPr/>
          </p:nvSpPr>
          <p:spPr>
            <a:xfrm>
              <a:off x="7930836" y="511662"/>
              <a:ext cx="1113576" cy="31614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Name</a:t>
              </a:r>
            </a:p>
          </p:txBody>
        </p:sp>
        <p:cxnSp>
          <p:nvCxnSpPr>
            <p:cNvPr id="32" name="Straight Connector 31">
              <a:extLst>
                <a:ext uri="{FF2B5EF4-FFF2-40B4-BE49-F238E27FC236}">
                  <a16:creationId xmlns:a16="http://schemas.microsoft.com/office/drawing/2014/main" id="{7CD4131F-D3A7-A003-F64D-5674EC92ACCA}"/>
                </a:ext>
              </a:extLst>
            </p:cNvPr>
            <p:cNvCxnSpPr>
              <a:stCxn id="30" idx="6"/>
            </p:cNvCxnSpPr>
            <p:nvPr/>
          </p:nvCxnSpPr>
          <p:spPr>
            <a:xfrm>
              <a:off x="9044412" y="669737"/>
              <a:ext cx="728760" cy="394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Slide Number Placeholder 4">
            <a:extLst>
              <a:ext uri="{FF2B5EF4-FFF2-40B4-BE49-F238E27FC236}">
                <a16:creationId xmlns:a16="http://schemas.microsoft.com/office/drawing/2014/main" id="{2A8EAFC2-73EE-4BE4-9AB6-D97CA8F385C8}"/>
              </a:ext>
            </a:extLst>
          </p:cNvPr>
          <p:cNvSpPr>
            <a:spLocks noGrp="1"/>
          </p:cNvSpPr>
          <p:nvPr>
            <p:ph type="sldNum" sz="quarter" idx="12"/>
          </p:nvPr>
        </p:nvSpPr>
        <p:spPr/>
        <p:txBody>
          <a:bodyPr/>
          <a:lstStyle/>
          <a:p>
            <a:fld id="{641C0F02-33DC-3A41-9F51-431B7FE03ABE}" type="slidenum">
              <a:rPr lang="en-US" smtClean="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6CDC7D5-031B-D04D-B08A-29D0A3F91476}"/>
              </a:ext>
            </a:extLst>
          </p:cNvPr>
          <p:cNvSpPr>
            <a:spLocks noGrp="1"/>
          </p:cNvSpPr>
          <p:nvPr>
            <p:ph type="title"/>
          </p:nvPr>
        </p:nvSpPr>
        <p:spPr/>
        <p:txBody>
          <a:bodyPr/>
          <a:lstStyle/>
          <a:p>
            <a:r>
              <a:rPr lang="en-US" altLang="en-US"/>
              <a:t>Mapping of Specialization or Generalization (cont’d.)</a:t>
            </a:r>
          </a:p>
        </p:txBody>
      </p:sp>
      <p:sp>
        <p:nvSpPr>
          <p:cNvPr id="23555" name="Content Placeholder 2">
            <a:extLst>
              <a:ext uri="{FF2B5EF4-FFF2-40B4-BE49-F238E27FC236}">
                <a16:creationId xmlns:a16="http://schemas.microsoft.com/office/drawing/2014/main" id="{23C9401B-258C-6E44-82BC-77925C118480}"/>
              </a:ext>
            </a:extLst>
          </p:cNvPr>
          <p:cNvSpPr>
            <a:spLocks noGrp="1"/>
          </p:cNvSpPr>
          <p:nvPr>
            <p:ph idx="1"/>
          </p:nvPr>
        </p:nvSpPr>
        <p:spPr/>
        <p:txBody>
          <a:bodyPr/>
          <a:lstStyle/>
          <a:p>
            <a:pPr lvl="1"/>
            <a:r>
              <a:rPr lang="en-US" altLang="en-US" b="1"/>
              <a:t>Option 8C: Single relation with one type attribute</a:t>
            </a:r>
          </a:p>
          <a:p>
            <a:pPr lvl="2"/>
            <a:r>
              <a:rPr lang="en-US" altLang="en-US"/>
              <a:t>Type or discriminating attribute indicates subclass of tuple</a:t>
            </a:r>
          </a:p>
          <a:p>
            <a:pPr lvl="2"/>
            <a:r>
              <a:rPr lang="en-US" altLang="en-US"/>
              <a:t>Subclasses are disjoint</a:t>
            </a:r>
          </a:p>
          <a:p>
            <a:pPr lvl="3"/>
            <a:r>
              <a:rPr lang="en-US" altLang="en-US"/>
              <a:t>Potential for generating many </a:t>
            </a:r>
            <a:r>
              <a:rPr lang="en-US" altLang="en-US" sz="1600"/>
              <a:t>NULL </a:t>
            </a:r>
            <a:r>
              <a:rPr lang="en-US" altLang="en-US"/>
              <a:t>values if many specific attributes exist in the subclasses</a:t>
            </a:r>
          </a:p>
          <a:p>
            <a:pPr lvl="3"/>
            <a:endParaRPr lang="en-US" altLang="en-US"/>
          </a:p>
          <a:p>
            <a:pPr marL="1371600" lvl="3" indent="0">
              <a:buNone/>
            </a:pPr>
            <a:r>
              <a:rPr lang="en-US" altLang="en-US" b="1"/>
              <a:t>Person</a:t>
            </a:r>
            <a:r>
              <a:rPr lang="en-US" altLang="en-US"/>
              <a:t>(</a:t>
            </a:r>
            <a:r>
              <a:rPr lang="en-US" altLang="en-US" u="sng" err="1"/>
              <a:t>ssn</a:t>
            </a:r>
            <a:r>
              <a:rPr lang="en-US" altLang="en-US"/>
              <a:t>, name, type, salary, major)</a:t>
            </a:r>
          </a:p>
          <a:p>
            <a:pPr lvl="1"/>
            <a:r>
              <a:rPr lang="en-US" altLang="en-US" b="1"/>
              <a:t>Option 8D: Single relation with multiple type attributes</a:t>
            </a:r>
          </a:p>
          <a:p>
            <a:pPr lvl="2"/>
            <a:r>
              <a:rPr lang="en-US" altLang="en-US"/>
              <a:t>Subclasses are overlapping </a:t>
            </a:r>
          </a:p>
          <a:p>
            <a:pPr lvl="2"/>
            <a:r>
              <a:rPr lang="en-US" altLang="en-US"/>
              <a:t>Will also work for a disjoint specialization</a:t>
            </a:r>
          </a:p>
          <a:p>
            <a:pPr lvl="3"/>
            <a:endParaRPr lang="en-US" altLang="en-US" b="1"/>
          </a:p>
          <a:p>
            <a:pPr lvl="3"/>
            <a:r>
              <a:rPr lang="en-US" altLang="en-US" b="1"/>
              <a:t>Person</a:t>
            </a:r>
            <a:r>
              <a:rPr lang="en-US" altLang="en-US"/>
              <a:t>(</a:t>
            </a:r>
            <a:r>
              <a:rPr lang="en-US" altLang="en-US" u="sng" err="1"/>
              <a:t>ssn</a:t>
            </a:r>
            <a:r>
              <a:rPr lang="en-US" altLang="en-US"/>
              <a:t>, name, </a:t>
            </a:r>
            <a:r>
              <a:rPr lang="en-US" altLang="en-US" err="1"/>
              <a:t>isEmployee</a:t>
            </a:r>
            <a:r>
              <a:rPr lang="en-US" altLang="en-US"/>
              <a:t>, </a:t>
            </a:r>
            <a:r>
              <a:rPr lang="en-US" altLang="en-US" err="1"/>
              <a:t>isStudent</a:t>
            </a:r>
            <a:r>
              <a:rPr lang="en-US" altLang="en-US"/>
              <a:t>, </a:t>
            </a:r>
            <a:r>
              <a:rPr lang="en-US" altLang="en-US" err="1"/>
              <a:t>isAlumnus</a:t>
            </a:r>
            <a:r>
              <a:rPr lang="en-US" altLang="en-US"/>
              <a:t>, salary, major)</a:t>
            </a:r>
          </a:p>
          <a:p>
            <a:pPr lvl="3"/>
            <a:endParaRPr lang="en-US" altLang="en-US" b="1"/>
          </a:p>
        </p:txBody>
      </p:sp>
      <p:grpSp>
        <p:nvGrpSpPr>
          <p:cNvPr id="2" name="Group 1">
            <a:extLst>
              <a:ext uri="{FF2B5EF4-FFF2-40B4-BE49-F238E27FC236}">
                <a16:creationId xmlns:a16="http://schemas.microsoft.com/office/drawing/2014/main" id="{3F11F252-1F7A-9FE3-7D1C-3369BFE3EC52}"/>
              </a:ext>
            </a:extLst>
          </p:cNvPr>
          <p:cNvGrpSpPr/>
          <p:nvPr/>
        </p:nvGrpSpPr>
        <p:grpSpPr>
          <a:xfrm>
            <a:off x="7757194" y="21094"/>
            <a:ext cx="4276237" cy="3321269"/>
            <a:chOff x="7757194" y="21094"/>
            <a:chExt cx="4276237" cy="3321269"/>
          </a:xfrm>
        </p:grpSpPr>
        <p:grpSp>
          <p:nvGrpSpPr>
            <p:cNvPr id="3" name="Group 2">
              <a:extLst>
                <a:ext uri="{FF2B5EF4-FFF2-40B4-BE49-F238E27FC236}">
                  <a16:creationId xmlns:a16="http://schemas.microsoft.com/office/drawing/2014/main" id="{635BE1B8-8DEA-ACFB-08F2-4EC361166794}"/>
                </a:ext>
              </a:extLst>
            </p:cNvPr>
            <p:cNvGrpSpPr/>
            <p:nvPr/>
          </p:nvGrpSpPr>
          <p:grpSpPr>
            <a:xfrm>
              <a:off x="8383495" y="21094"/>
              <a:ext cx="3649936" cy="2845963"/>
              <a:chOff x="8383495" y="21094"/>
              <a:chExt cx="3649936" cy="2845963"/>
            </a:xfrm>
          </p:grpSpPr>
          <p:sp>
            <p:nvSpPr>
              <p:cNvPr id="10" name="Rectangle 9">
                <a:extLst>
                  <a:ext uri="{FF2B5EF4-FFF2-40B4-BE49-F238E27FC236}">
                    <a16:creationId xmlns:a16="http://schemas.microsoft.com/office/drawing/2014/main" id="{2D8B56CA-A742-E9C1-100A-DBECCF2E36E0}"/>
                  </a:ext>
                </a:extLst>
              </p:cNvPr>
              <p:cNvSpPr/>
              <p:nvPr/>
            </p:nvSpPr>
            <p:spPr>
              <a:xfrm>
                <a:off x="9634322" y="504103"/>
                <a:ext cx="1702051"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Person</a:t>
                </a:r>
              </a:p>
            </p:txBody>
          </p:sp>
          <p:sp>
            <p:nvSpPr>
              <p:cNvPr id="11" name="Isosceles Triangle 10">
                <a:extLst>
                  <a:ext uri="{FF2B5EF4-FFF2-40B4-BE49-F238E27FC236}">
                    <a16:creationId xmlns:a16="http://schemas.microsoft.com/office/drawing/2014/main" id="{A5BDBAFF-D554-E757-2743-5676673E34CC}"/>
                  </a:ext>
                </a:extLst>
              </p:cNvPr>
              <p:cNvSpPr/>
              <p:nvPr/>
            </p:nvSpPr>
            <p:spPr>
              <a:xfrm>
                <a:off x="9960241" y="1167269"/>
                <a:ext cx="1060704"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IsA</a:t>
                </a:r>
                <a:endParaRPr lang="en-US"/>
              </a:p>
            </p:txBody>
          </p:sp>
          <p:cxnSp>
            <p:nvCxnSpPr>
              <p:cNvPr id="12" name="Straight Connector 11">
                <a:extLst>
                  <a:ext uri="{FF2B5EF4-FFF2-40B4-BE49-F238E27FC236}">
                    <a16:creationId xmlns:a16="http://schemas.microsoft.com/office/drawing/2014/main" id="{02CD9B18-3801-0B0F-C386-727F24EAD37E}"/>
                  </a:ext>
                </a:extLst>
              </p:cNvPr>
              <p:cNvCxnSpPr>
                <a:stCxn id="10" idx="2"/>
                <a:endCxn id="11" idx="0"/>
              </p:cNvCxnSpPr>
              <p:nvPr/>
            </p:nvCxnSpPr>
            <p:spPr>
              <a:xfrm>
                <a:off x="10485348" y="848134"/>
                <a:ext cx="5245" cy="319135"/>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B98F383-B620-CC24-9677-089721AB3EEB}"/>
                  </a:ext>
                </a:extLst>
              </p:cNvPr>
              <p:cNvSpPr/>
              <p:nvPr/>
            </p:nvSpPr>
            <p:spPr>
              <a:xfrm>
                <a:off x="8383495" y="2523026"/>
                <a:ext cx="1250827"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Employee</a:t>
                </a:r>
              </a:p>
            </p:txBody>
          </p:sp>
          <p:sp>
            <p:nvSpPr>
              <p:cNvPr id="14" name="Rectangle 13">
                <a:extLst>
                  <a:ext uri="{FF2B5EF4-FFF2-40B4-BE49-F238E27FC236}">
                    <a16:creationId xmlns:a16="http://schemas.microsoft.com/office/drawing/2014/main" id="{58EA818D-F348-538B-F9E7-FC3BE1F4BE45}"/>
                  </a:ext>
                </a:extLst>
              </p:cNvPr>
              <p:cNvSpPr/>
              <p:nvPr/>
            </p:nvSpPr>
            <p:spPr>
              <a:xfrm>
                <a:off x="10972727" y="2495865"/>
                <a:ext cx="1060704"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Alumnus</a:t>
                </a:r>
              </a:p>
            </p:txBody>
          </p:sp>
          <p:sp>
            <p:nvSpPr>
              <p:cNvPr id="15" name="Rectangle 14">
                <a:extLst>
                  <a:ext uri="{FF2B5EF4-FFF2-40B4-BE49-F238E27FC236}">
                    <a16:creationId xmlns:a16="http://schemas.microsoft.com/office/drawing/2014/main" id="{18DCF2E3-6CFD-EAF5-007F-C339450ECF09}"/>
                  </a:ext>
                </a:extLst>
              </p:cNvPr>
              <p:cNvSpPr/>
              <p:nvPr/>
            </p:nvSpPr>
            <p:spPr>
              <a:xfrm>
                <a:off x="9773172" y="2501901"/>
                <a:ext cx="1060704" cy="3440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Student</a:t>
                </a:r>
              </a:p>
            </p:txBody>
          </p:sp>
          <p:sp>
            <p:nvSpPr>
              <p:cNvPr id="16" name="Oval 15">
                <a:extLst>
                  <a:ext uri="{FF2B5EF4-FFF2-40B4-BE49-F238E27FC236}">
                    <a16:creationId xmlns:a16="http://schemas.microsoft.com/office/drawing/2014/main" id="{DC044E3B-290D-E381-3BA4-C9E4737047F7}"/>
                  </a:ext>
                </a:extLst>
              </p:cNvPr>
              <p:cNvSpPr/>
              <p:nvPr/>
            </p:nvSpPr>
            <p:spPr>
              <a:xfrm>
                <a:off x="9245024" y="21094"/>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SSN</a:t>
                </a:r>
              </a:p>
            </p:txBody>
          </p:sp>
          <p:cxnSp>
            <p:nvCxnSpPr>
              <p:cNvPr id="17" name="Straight Connector 16">
                <a:extLst>
                  <a:ext uri="{FF2B5EF4-FFF2-40B4-BE49-F238E27FC236}">
                    <a16:creationId xmlns:a16="http://schemas.microsoft.com/office/drawing/2014/main" id="{0B1121E0-01C7-5137-13D6-9E564ED2362C}"/>
                  </a:ext>
                </a:extLst>
              </p:cNvPr>
              <p:cNvCxnSpPr>
                <a:stCxn id="10" idx="0"/>
                <a:endCxn id="16" idx="5"/>
              </p:cNvCxnSpPr>
              <p:nvPr/>
            </p:nvCxnSpPr>
            <p:spPr>
              <a:xfrm flipH="1" flipV="1">
                <a:off x="10133699" y="314743"/>
                <a:ext cx="351649" cy="18936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69D3E10-F627-FC0F-DE70-75886DE2D5BC}"/>
                  </a:ext>
                </a:extLst>
              </p:cNvPr>
              <p:cNvCxnSpPr>
                <a:stCxn id="11" idx="3"/>
                <a:endCxn id="13" idx="0"/>
              </p:cNvCxnSpPr>
              <p:nvPr/>
            </p:nvCxnSpPr>
            <p:spPr>
              <a:xfrm flipH="1">
                <a:off x="9136382" y="2081669"/>
                <a:ext cx="1354211" cy="420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615215-F52B-70D8-A1EF-69621257C7BD}"/>
                  </a:ext>
                </a:extLst>
              </p:cNvPr>
              <p:cNvCxnSpPr>
                <a:cxnSpLocks/>
                <a:stCxn id="11" idx="3"/>
                <a:endCxn id="15" idx="0"/>
              </p:cNvCxnSpPr>
              <p:nvPr/>
            </p:nvCxnSpPr>
            <p:spPr>
              <a:xfrm flipH="1">
                <a:off x="10303524" y="2081669"/>
                <a:ext cx="187069" cy="420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D9FE91-437D-77FA-0720-86FCAC1ED8C5}"/>
                  </a:ext>
                </a:extLst>
              </p:cNvPr>
              <p:cNvCxnSpPr>
                <a:cxnSpLocks/>
                <a:stCxn id="11" idx="3"/>
                <a:endCxn id="14" idx="0"/>
              </p:cNvCxnSpPr>
              <p:nvPr/>
            </p:nvCxnSpPr>
            <p:spPr>
              <a:xfrm>
                <a:off x="10490593" y="2081669"/>
                <a:ext cx="1012486" cy="414196"/>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Oval 3">
              <a:extLst>
                <a:ext uri="{FF2B5EF4-FFF2-40B4-BE49-F238E27FC236}">
                  <a16:creationId xmlns:a16="http://schemas.microsoft.com/office/drawing/2014/main" id="{7FB98D90-E557-3649-4305-773E01F96B0A}"/>
                </a:ext>
              </a:extLst>
            </p:cNvPr>
            <p:cNvSpPr/>
            <p:nvPr/>
          </p:nvSpPr>
          <p:spPr>
            <a:xfrm>
              <a:off x="9876484" y="2992469"/>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major</a:t>
              </a:r>
            </a:p>
          </p:txBody>
        </p:sp>
        <p:cxnSp>
          <p:nvCxnSpPr>
            <p:cNvPr id="5" name="Straight Connector 4">
              <a:extLst>
                <a:ext uri="{FF2B5EF4-FFF2-40B4-BE49-F238E27FC236}">
                  <a16:creationId xmlns:a16="http://schemas.microsoft.com/office/drawing/2014/main" id="{ED3F7C86-4DD6-F9E0-4BB9-07636046710C}"/>
                </a:ext>
              </a:extLst>
            </p:cNvPr>
            <p:cNvCxnSpPr>
              <a:cxnSpLocks/>
              <a:stCxn id="15" idx="2"/>
              <a:endCxn id="4" idx="0"/>
            </p:cNvCxnSpPr>
            <p:nvPr/>
          </p:nvCxnSpPr>
          <p:spPr>
            <a:xfrm>
              <a:off x="10303524" y="2845932"/>
              <a:ext cx="93534" cy="146537"/>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DBD1F56D-C088-8096-5203-A3C1D88371A5}"/>
                </a:ext>
              </a:extLst>
            </p:cNvPr>
            <p:cNvSpPr/>
            <p:nvPr/>
          </p:nvSpPr>
          <p:spPr>
            <a:xfrm>
              <a:off x="7757194" y="2998332"/>
              <a:ext cx="1041148" cy="3440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salary</a:t>
              </a:r>
            </a:p>
          </p:txBody>
        </p:sp>
        <p:cxnSp>
          <p:nvCxnSpPr>
            <p:cNvPr id="7" name="Straight Connector 6">
              <a:extLst>
                <a:ext uri="{FF2B5EF4-FFF2-40B4-BE49-F238E27FC236}">
                  <a16:creationId xmlns:a16="http://schemas.microsoft.com/office/drawing/2014/main" id="{9287E241-6569-4EBF-B2FA-1E0B57EAFDD9}"/>
                </a:ext>
              </a:extLst>
            </p:cNvPr>
            <p:cNvCxnSpPr>
              <a:cxnSpLocks/>
              <a:endCxn id="6" idx="0"/>
            </p:cNvCxnSpPr>
            <p:nvPr/>
          </p:nvCxnSpPr>
          <p:spPr>
            <a:xfrm flipH="1">
              <a:off x="8277768" y="2851795"/>
              <a:ext cx="121330" cy="14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C39AADCE-D5CF-ABFE-FDC2-4EB5A5C36058}"/>
                </a:ext>
              </a:extLst>
            </p:cNvPr>
            <p:cNvSpPr/>
            <p:nvPr/>
          </p:nvSpPr>
          <p:spPr>
            <a:xfrm>
              <a:off x="7930836" y="511662"/>
              <a:ext cx="1113576" cy="31614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Name</a:t>
              </a:r>
            </a:p>
          </p:txBody>
        </p:sp>
        <p:cxnSp>
          <p:nvCxnSpPr>
            <p:cNvPr id="9" name="Straight Connector 8">
              <a:extLst>
                <a:ext uri="{FF2B5EF4-FFF2-40B4-BE49-F238E27FC236}">
                  <a16:creationId xmlns:a16="http://schemas.microsoft.com/office/drawing/2014/main" id="{CCA93965-773B-8700-C9E7-42A7198AD521}"/>
                </a:ext>
              </a:extLst>
            </p:cNvPr>
            <p:cNvCxnSpPr>
              <a:stCxn id="8" idx="6"/>
            </p:cNvCxnSpPr>
            <p:nvPr/>
          </p:nvCxnSpPr>
          <p:spPr>
            <a:xfrm>
              <a:off x="9044412" y="669737"/>
              <a:ext cx="728760" cy="394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Slide Number Placeholder 20">
            <a:extLst>
              <a:ext uri="{FF2B5EF4-FFF2-40B4-BE49-F238E27FC236}">
                <a16:creationId xmlns:a16="http://schemas.microsoft.com/office/drawing/2014/main" id="{BD9826E4-8F0D-4714-9007-F0CF75291668}"/>
              </a:ext>
            </a:extLst>
          </p:cNvPr>
          <p:cNvSpPr>
            <a:spLocks noGrp="1"/>
          </p:cNvSpPr>
          <p:nvPr>
            <p:ph type="sldNum" sz="quarter" idx="12"/>
          </p:nvPr>
        </p:nvSpPr>
        <p:spPr/>
        <p:txBody>
          <a:bodyPr/>
          <a:lstStyle/>
          <a:p>
            <a:fld id="{641C0F02-33DC-3A41-9F51-431B7FE03ABE}" type="slidenum">
              <a:rPr lang="en-US" smtClean="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281D6A7F-C92C-E345-A7A9-F12EA9048A12}"/>
              </a:ext>
            </a:extLst>
          </p:cNvPr>
          <p:cNvSpPr>
            <a:spLocks noGrp="1"/>
          </p:cNvSpPr>
          <p:nvPr>
            <p:ph type="title"/>
          </p:nvPr>
        </p:nvSpPr>
        <p:spPr/>
        <p:txBody>
          <a:bodyPr/>
          <a:lstStyle/>
          <a:p>
            <a:r>
              <a:rPr lang="en-US" altLang="en-US"/>
              <a:t>Mapping of Shared Subclasses (Multiple Inheritance)</a:t>
            </a:r>
          </a:p>
        </p:txBody>
      </p:sp>
      <p:sp>
        <p:nvSpPr>
          <p:cNvPr id="24579" name="Content Placeholder 2">
            <a:extLst>
              <a:ext uri="{FF2B5EF4-FFF2-40B4-BE49-F238E27FC236}">
                <a16:creationId xmlns:a16="http://schemas.microsoft.com/office/drawing/2014/main" id="{328FDE2F-97B3-124A-986A-9AEF3D76E790}"/>
              </a:ext>
            </a:extLst>
          </p:cNvPr>
          <p:cNvSpPr>
            <a:spLocks noGrp="1"/>
          </p:cNvSpPr>
          <p:nvPr>
            <p:ph idx="1"/>
          </p:nvPr>
        </p:nvSpPr>
        <p:spPr/>
        <p:txBody>
          <a:bodyPr/>
          <a:lstStyle/>
          <a:p>
            <a:r>
              <a:rPr lang="en-US" altLang="en-US"/>
              <a:t>Apply any of the options discussed in step 8 to a shared subclass</a:t>
            </a:r>
          </a:p>
        </p:txBody>
      </p:sp>
      <p:sp>
        <p:nvSpPr>
          <p:cNvPr id="2" name="Slide Number Placeholder 1">
            <a:extLst>
              <a:ext uri="{FF2B5EF4-FFF2-40B4-BE49-F238E27FC236}">
                <a16:creationId xmlns:a16="http://schemas.microsoft.com/office/drawing/2014/main" id="{8FCB1D02-FFA8-41B1-9283-5BFC5E3C58EE}"/>
              </a:ext>
            </a:extLst>
          </p:cNvPr>
          <p:cNvSpPr>
            <a:spLocks noGrp="1"/>
          </p:cNvSpPr>
          <p:nvPr>
            <p:ph type="sldNum" sz="quarter" idx="12"/>
          </p:nvPr>
        </p:nvSpPr>
        <p:spPr/>
        <p:txBody>
          <a:bodyPr/>
          <a:lstStyle/>
          <a:p>
            <a:fld id="{641C0F02-33DC-3A41-9F51-431B7FE03ABE}" type="slidenum">
              <a:rPr lang="en-US" smtClean="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054B09AB-53DE-5147-B046-34A395EDDB2B}"/>
              </a:ext>
            </a:extLst>
          </p:cNvPr>
          <p:cNvSpPr>
            <a:spLocks noGrp="1"/>
          </p:cNvSpPr>
          <p:nvPr>
            <p:ph type="title"/>
          </p:nvPr>
        </p:nvSpPr>
        <p:spPr/>
        <p:txBody>
          <a:bodyPr/>
          <a:lstStyle/>
          <a:p>
            <a:r>
              <a:rPr lang="en-US" altLang="en-US"/>
              <a:t>Mapping of Categories (Union Types)</a:t>
            </a:r>
          </a:p>
        </p:txBody>
      </p:sp>
      <p:sp>
        <p:nvSpPr>
          <p:cNvPr id="25603" name="Content Placeholder 2">
            <a:extLst>
              <a:ext uri="{FF2B5EF4-FFF2-40B4-BE49-F238E27FC236}">
                <a16:creationId xmlns:a16="http://schemas.microsoft.com/office/drawing/2014/main" id="{122CA16C-3210-2C44-A563-6B64206B4B9A}"/>
              </a:ext>
            </a:extLst>
          </p:cNvPr>
          <p:cNvSpPr>
            <a:spLocks noGrp="1"/>
          </p:cNvSpPr>
          <p:nvPr>
            <p:ph idx="1"/>
          </p:nvPr>
        </p:nvSpPr>
        <p:spPr/>
        <p:txBody>
          <a:bodyPr/>
          <a:lstStyle/>
          <a:p>
            <a:r>
              <a:rPr lang="en-US" altLang="en-US"/>
              <a:t>Step 9: Mapping of Union Types (Categories)</a:t>
            </a:r>
          </a:p>
          <a:p>
            <a:pPr lvl="1"/>
            <a:r>
              <a:rPr lang="en-US" altLang="en-US"/>
              <a:t>Defining superclasses have different keys</a:t>
            </a:r>
          </a:p>
          <a:p>
            <a:pPr lvl="1"/>
            <a:r>
              <a:rPr lang="en-US" altLang="en-US"/>
              <a:t>Specify a new key attribute</a:t>
            </a:r>
          </a:p>
          <a:p>
            <a:pPr lvl="2"/>
            <a:r>
              <a:rPr lang="en-US" altLang="en-US" b="1"/>
              <a:t>Surrogate key</a:t>
            </a:r>
          </a:p>
        </p:txBody>
      </p:sp>
      <p:sp>
        <p:nvSpPr>
          <p:cNvPr id="2" name="Slide Number Placeholder 1">
            <a:extLst>
              <a:ext uri="{FF2B5EF4-FFF2-40B4-BE49-F238E27FC236}">
                <a16:creationId xmlns:a16="http://schemas.microsoft.com/office/drawing/2014/main" id="{6A78A773-5372-4B84-B40B-AE1A4B73763D}"/>
              </a:ext>
            </a:extLst>
          </p:cNvPr>
          <p:cNvSpPr>
            <a:spLocks noGrp="1"/>
          </p:cNvSpPr>
          <p:nvPr>
            <p:ph type="sldNum" sz="quarter" idx="12"/>
          </p:nvPr>
        </p:nvSpPr>
        <p:spPr/>
        <p:txBody>
          <a:bodyPr/>
          <a:lstStyle/>
          <a:p>
            <a:fld id="{641C0F02-33DC-3A41-9F51-431B7FE03ABE}" type="slidenum">
              <a:rPr lang="en-US" smtClean="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406A8B-2E71-84EE-077E-81117E0AF5D5}"/>
              </a:ext>
            </a:extLst>
          </p:cNvPr>
          <p:cNvSpPr/>
          <p:nvPr/>
        </p:nvSpPr>
        <p:spPr>
          <a:xfrm>
            <a:off x="3737668" y="1665847"/>
            <a:ext cx="995881" cy="307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Person</a:t>
            </a:r>
          </a:p>
        </p:txBody>
      </p:sp>
      <p:sp>
        <p:nvSpPr>
          <p:cNvPr id="3" name="Rectangle 2">
            <a:extLst>
              <a:ext uri="{FF2B5EF4-FFF2-40B4-BE49-F238E27FC236}">
                <a16:creationId xmlns:a16="http://schemas.microsoft.com/office/drawing/2014/main" id="{77DEC350-7B1D-FAF5-A88D-88DF52A89CDB}"/>
              </a:ext>
            </a:extLst>
          </p:cNvPr>
          <p:cNvSpPr/>
          <p:nvPr/>
        </p:nvSpPr>
        <p:spPr>
          <a:xfrm>
            <a:off x="2243750" y="1697524"/>
            <a:ext cx="995881" cy="307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Bank</a:t>
            </a:r>
          </a:p>
        </p:txBody>
      </p:sp>
      <p:sp>
        <p:nvSpPr>
          <p:cNvPr id="4" name="Rectangle 3">
            <a:extLst>
              <a:ext uri="{FF2B5EF4-FFF2-40B4-BE49-F238E27FC236}">
                <a16:creationId xmlns:a16="http://schemas.microsoft.com/office/drawing/2014/main" id="{EAE4A389-CF5C-B3E3-41FC-95C7EA417302}"/>
              </a:ext>
            </a:extLst>
          </p:cNvPr>
          <p:cNvSpPr/>
          <p:nvPr/>
        </p:nvSpPr>
        <p:spPr>
          <a:xfrm>
            <a:off x="552262" y="1697524"/>
            <a:ext cx="1228254" cy="307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Company</a:t>
            </a:r>
          </a:p>
        </p:txBody>
      </p:sp>
      <p:sp>
        <p:nvSpPr>
          <p:cNvPr id="5" name="Rectangle 4">
            <a:extLst>
              <a:ext uri="{FF2B5EF4-FFF2-40B4-BE49-F238E27FC236}">
                <a16:creationId xmlns:a16="http://schemas.microsoft.com/office/drawing/2014/main" id="{84D861BE-F5B4-2533-704A-09C7C937B019}"/>
              </a:ext>
            </a:extLst>
          </p:cNvPr>
          <p:cNvSpPr/>
          <p:nvPr/>
        </p:nvSpPr>
        <p:spPr>
          <a:xfrm>
            <a:off x="2044573" y="306402"/>
            <a:ext cx="1394233" cy="307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Owner</a:t>
            </a:r>
          </a:p>
        </p:txBody>
      </p:sp>
      <p:sp>
        <p:nvSpPr>
          <p:cNvPr id="6" name="Isosceles Triangle 5">
            <a:extLst>
              <a:ext uri="{FF2B5EF4-FFF2-40B4-BE49-F238E27FC236}">
                <a16:creationId xmlns:a16="http://schemas.microsoft.com/office/drawing/2014/main" id="{8E5D3EB8-7ABE-A72F-B72D-1DDAF91FDE5B}"/>
              </a:ext>
            </a:extLst>
          </p:cNvPr>
          <p:cNvSpPr/>
          <p:nvPr/>
        </p:nvSpPr>
        <p:spPr>
          <a:xfrm>
            <a:off x="2218103" y="876773"/>
            <a:ext cx="1050473" cy="39976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isA</a:t>
            </a:r>
            <a:endParaRPr lang="en-US"/>
          </a:p>
        </p:txBody>
      </p:sp>
      <p:cxnSp>
        <p:nvCxnSpPr>
          <p:cNvPr id="8" name="Straight Connector 7">
            <a:extLst>
              <a:ext uri="{FF2B5EF4-FFF2-40B4-BE49-F238E27FC236}">
                <a16:creationId xmlns:a16="http://schemas.microsoft.com/office/drawing/2014/main" id="{3005489E-CC94-110F-D960-ED6A1EAFCF34}"/>
              </a:ext>
            </a:extLst>
          </p:cNvPr>
          <p:cNvCxnSpPr>
            <a:cxnSpLocks/>
            <a:stCxn id="5" idx="2"/>
            <a:endCxn id="6" idx="0"/>
          </p:cNvCxnSpPr>
          <p:nvPr/>
        </p:nvCxnSpPr>
        <p:spPr>
          <a:xfrm>
            <a:off x="2741690" y="614220"/>
            <a:ext cx="1650" cy="262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286C83A-D742-E3A7-DABF-7D86D8FEF0EF}"/>
              </a:ext>
            </a:extLst>
          </p:cNvPr>
          <p:cNvCxnSpPr>
            <a:cxnSpLocks/>
            <a:stCxn id="6" idx="3"/>
            <a:endCxn id="4" idx="0"/>
          </p:cNvCxnSpPr>
          <p:nvPr/>
        </p:nvCxnSpPr>
        <p:spPr>
          <a:xfrm flipH="1">
            <a:off x="1166389" y="1276541"/>
            <a:ext cx="1576951" cy="420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C9E58A9-F754-2961-91F3-5BDABFD7F3F3}"/>
              </a:ext>
            </a:extLst>
          </p:cNvPr>
          <p:cNvCxnSpPr>
            <a:cxnSpLocks/>
            <a:stCxn id="6" idx="3"/>
            <a:endCxn id="3" idx="0"/>
          </p:cNvCxnSpPr>
          <p:nvPr/>
        </p:nvCxnSpPr>
        <p:spPr>
          <a:xfrm flipH="1">
            <a:off x="2741691" y="1276541"/>
            <a:ext cx="1649" cy="420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35EFBCD-3D78-CB7E-EEA9-23EE11A3EE99}"/>
              </a:ext>
            </a:extLst>
          </p:cNvPr>
          <p:cNvCxnSpPr>
            <a:cxnSpLocks/>
            <a:stCxn id="6" idx="3"/>
            <a:endCxn id="2" idx="0"/>
          </p:cNvCxnSpPr>
          <p:nvPr/>
        </p:nvCxnSpPr>
        <p:spPr>
          <a:xfrm>
            <a:off x="2743340" y="1276541"/>
            <a:ext cx="1492269" cy="389306"/>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73504959-A511-2F73-55C0-D5EDD0B42790}"/>
              </a:ext>
            </a:extLst>
          </p:cNvPr>
          <p:cNvSpPr/>
          <p:nvPr/>
        </p:nvSpPr>
        <p:spPr>
          <a:xfrm>
            <a:off x="691625" y="2281478"/>
            <a:ext cx="1254353" cy="3078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err="1"/>
              <a:t>cname</a:t>
            </a:r>
            <a:endParaRPr lang="en-US" u="sng"/>
          </a:p>
        </p:txBody>
      </p:sp>
      <p:cxnSp>
        <p:nvCxnSpPr>
          <p:cNvPr id="17" name="Straight Connector 16">
            <a:extLst>
              <a:ext uri="{FF2B5EF4-FFF2-40B4-BE49-F238E27FC236}">
                <a16:creationId xmlns:a16="http://schemas.microsoft.com/office/drawing/2014/main" id="{C0805C0B-328F-D0B9-1BF5-0B8F1C171821}"/>
              </a:ext>
            </a:extLst>
          </p:cNvPr>
          <p:cNvCxnSpPr>
            <a:stCxn id="15" idx="0"/>
            <a:endCxn id="4" idx="2"/>
          </p:cNvCxnSpPr>
          <p:nvPr/>
        </p:nvCxnSpPr>
        <p:spPr>
          <a:xfrm flipH="1" flipV="1">
            <a:off x="1166389" y="2005342"/>
            <a:ext cx="152413" cy="276136"/>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F7C2663-8095-09FD-23A8-C556B2326E55}"/>
              </a:ext>
            </a:extLst>
          </p:cNvPr>
          <p:cNvSpPr/>
          <p:nvPr/>
        </p:nvSpPr>
        <p:spPr>
          <a:xfrm>
            <a:off x="2104754" y="2180192"/>
            <a:ext cx="1254353" cy="3078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err="1"/>
              <a:t>bname</a:t>
            </a:r>
            <a:endParaRPr lang="en-US" u="sng"/>
          </a:p>
        </p:txBody>
      </p:sp>
      <p:cxnSp>
        <p:nvCxnSpPr>
          <p:cNvPr id="19" name="Straight Connector 18">
            <a:extLst>
              <a:ext uri="{FF2B5EF4-FFF2-40B4-BE49-F238E27FC236}">
                <a16:creationId xmlns:a16="http://schemas.microsoft.com/office/drawing/2014/main" id="{10EBD0E1-A065-068B-25D3-FDC2F61640AA}"/>
              </a:ext>
            </a:extLst>
          </p:cNvPr>
          <p:cNvCxnSpPr>
            <a:cxnSpLocks/>
            <a:stCxn id="18" idx="0"/>
            <a:endCxn id="3" idx="2"/>
          </p:cNvCxnSpPr>
          <p:nvPr/>
        </p:nvCxnSpPr>
        <p:spPr>
          <a:xfrm flipV="1">
            <a:off x="2731931" y="2005342"/>
            <a:ext cx="9760" cy="17485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4654E28-E9E3-D600-900B-7D8D80E143E4}"/>
              </a:ext>
            </a:extLst>
          </p:cNvPr>
          <p:cNvSpPr/>
          <p:nvPr/>
        </p:nvSpPr>
        <p:spPr>
          <a:xfrm>
            <a:off x="4061378" y="2187831"/>
            <a:ext cx="1254353" cy="3078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err="1"/>
              <a:t>ssn</a:t>
            </a:r>
            <a:endParaRPr lang="en-US" u="sng"/>
          </a:p>
        </p:txBody>
      </p:sp>
      <p:cxnSp>
        <p:nvCxnSpPr>
          <p:cNvPr id="22" name="Straight Connector 21">
            <a:extLst>
              <a:ext uri="{FF2B5EF4-FFF2-40B4-BE49-F238E27FC236}">
                <a16:creationId xmlns:a16="http://schemas.microsoft.com/office/drawing/2014/main" id="{2215FEF7-442B-F170-FABD-477ED6A9675E}"/>
              </a:ext>
            </a:extLst>
          </p:cNvPr>
          <p:cNvCxnSpPr>
            <a:cxnSpLocks/>
            <a:stCxn id="21" idx="0"/>
            <a:endCxn id="2" idx="2"/>
          </p:cNvCxnSpPr>
          <p:nvPr/>
        </p:nvCxnSpPr>
        <p:spPr>
          <a:xfrm flipH="1" flipV="1">
            <a:off x="4235609" y="1973665"/>
            <a:ext cx="452946" cy="214166"/>
          </a:xfrm>
          <a:prstGeom prst="line">
            <a:avLst/>
          </a:prstGeom>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1F19208-DEA0-2E5F-0CDB-6039A82E74C4}"/>
              </a:ext>
            </a:extLst>
          </p:cNvPr>
          <p:cNvSpPr/>
          <p:nvPr/>
        </p:nvSpPr>
        <p:spPr>
          <a:xfrm>
            <a:off x="7134131" y="568955"/>
            <a:ext cx="2035379" cy="2625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Registered_vehicle</a:t>
            </a:r>
            <a:endParaRPr lang="en-US"/>
          </a:p>
        </p:txBody>
      </p:sp>
      <p:sp>
        <p:nvSpPr>
          <p:cNvPr id="39" name="Rectangle 38">
            <a:extLst>
              <a:ext uri="{FF2B5EF4-FFF2-40B4-BE49-F238E27FC236}">
                <a16:creationId xmlns:a16="http://schemas.microsoft.com/office/drawing/2014/main" id="{C65B9211-74DE-11F2-52FE-330C76303920}"/>
              </a:ext>
            </a:extLst>
          </p:cNvPr>
          <p:cNvSpPr/>
          <p:nvPr/>
        </p:nvSpPr>
        <p:spPr>
          <a:xfrm>
            <a:off x="7639617" y="2048915"/>
            <a:ext cx="852533" cy="2625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car</a:t>
            </a:r>
          </a:p>
        </p:txBody>
      </p:sp>
      <p:sp>
        <p:nvSpPr>
          <p:cNvPr id="40" name="Rectangle 39">
            <a:extLst>
              <a:ext uri="{FF2B5EF4-FFF2-40B4-BE49-F238E27FC236}">
                <a16:creationId xmlns:a16="http://schemas.microsoft.com/office/drawing/2014/main" id="{B8F4AEF9-281A-6837-3999-BA955A9E0178}"/>
              </a:ext>
            </a:extLst>
          </p:cNvPr>
          <p:cNvSpPr/>
          <p:nvPr/>
        </p:nvSpPr>
        <p:spPr>
          <a:xfrm>
            <a:off x="10245506" y="2056554"/>
            <a:ext cx="852533" cy="2625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truck</a:t>
            </a:r>
          </a:p>
        </p:txBody>
      </p:sp>
      <p:sp>
        <p:nvSpPr>
          <p:cNvPr id="41" name="Oval 40">
            <a:extLst>
              <a:ext uri="{FF2B5EF4-FFF2-40B4-BE49-F238E27FC236}">
                <a16:creationId xmlns:a16="http://schemas.microsoft.com/office/drawing/2014/main" id="{77F1A0EC-4EFB-4944-CBCF-92FE05745573}"/>
              </a:ext>
            </a:extLst>
          </p:cNvPr>
          <p:cNvSpPr/>
          <p:nvPr/>
        </p:nvSpPr>
        <p:spPr>
          <a:xfrm>
            <a:off x="9590460" y="876773"/>
            <a:ext cx="1626784" cy="3078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err="1"/>
              <a:t>Vehicle_id</a:t>
            </a:r>
            <a:endParaRPr lang="en-US" sz="1600" u="sng"/>
          </a:p>
        </p:txBody>
      </p:sp>
      <p:cxnSp>
        <p:nvCxnSpPr>
          <p:cNvPr id="42" name="Straight Connector 41">
            <a:extLst>
              <a:ext uri="{FF2B5EF4-FFF2-40B4-BE49-F238E27FC236}">
                <a16:creationId xmlns:a16="http://schemas.microsoft.com/office/drawing/2014/main" id="{9F6918DA-4B18-B0C5-F636-C9019D0AA658}"/>
              </a:ext>
            </a:extLst>
          </p:cNvPr>
          <p:cNvCxnSpPr>
            <a:cxnSpLocks/>
            <a:stCxn id="41" idx="0"/>
            <a:endCxn id="38" idx="3"/>
          </p:cNvCxnSpPr>
          <p:nvPr/>
        </p:nvCxnSpPr>
        <p:spPr>
          <a:xfrm flipH="1" flipV="1">
            <a:off x="9169510" y="700232"/>
            <a:ext cx="1234342" cy="176541"/>
          </a:xfrm>
          <a:prstGeom prst="line">
            <a:avLst/>
          </a:prstGeom>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A9ECBB4B-4A52-4065-6159-8EA36B289A73}"/>
              </a:ext>
            </a:extLst>
          </p:cNvPr>
          <p:cNvSpPr/>
          <p:nvPr/>
        </p:nvSpPr>
        <p:spPr>
          <a:xfrm>
            <a:off x="6009865" y="999704"/>
            <a:ext cx="1747358" cy="3893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Plate number</a:t>
            </a:r>
          </a:p>
        </p:txBody>
      </p:sp>
      <p:cxnSp>
        <p:nvCxnSpPr>
          <p:cNvPr id="46" name="Straight Connector 45">
            <a:extLst>
              <a:ext uri="{FF2B5EF4-FFF2-40B4-BE49-F238E27FC236}">
                <a16:creationId xmlns:a16="http://schemas.microsoft.com/office/drawing/2014/main" id="{14DCB3DE-AD1B-A8EF-DDC8-0D344CC29363}"/>
              </a:ext>
            </a:extLst>
          </p:cNvPr>
          <p:cNvCxnSpPr>
            <a:cxnSpLocks/>
            <a:stCxn id="45" idx="0"/>
            <a:endCxn id="38" idx="2"/>
          </p:cNvCxnSpPr>
          <p:nvPr/>
        </p:nvCxnSpPr>
        <p:spPr>
          <a:xfrm flipV="1">
            <a:off x="6883544" y="831508"/>
            <a:ext cx="1268277" cy="168196"/>
          </a:xfrm>
          <a:prstGeom prst="line">
            <a:avLst/>
          </a:prstGeom>
        </p:spPr>
        <p:style>
          <a:lnRef idx="1">
            <a:schemeClr val="accent1"/>
          </a:lnRef>
          <a:fillRef idx="0">
            <a:schemeClr val="accent1"/>
          </a:fillRef>
          <a:effectRef idx="0">
            <a:schemeClr val="accent1"/>
          </a:effectRef>
          <a:fontRef idx="minor">
            <a:schemeClr val="tx1"/>
          </a:fontRef>
        </p:style>
      </p:cxnSp>
      <p:sp>
        <p:nvSpPr>
          <p:cNvPr id="51" name="Isosceles Triangle 50">
            <a:extLst>
              <a:ext uri="{FF2B5EF4-FFF2-40B4-BE49-F238E27FC236}">
                <a16:creationId xmlns:a16="http://schemas.microsoft.com/office/drawing/2014/main" id="{18875CAC-537D-39BB-E410-949D6BC84D83}"/>
              </a:ext>
            </a:extLst>
          </p:cNvPr>
          <p:cNvSpPr/>
          <p:nvPr/>
        </p:nvSpPr>
        <p:spPr>
          <a:xfrm>
            <a:off x="8197560" y="1229057"/>
            <a:ext cx="1050473" cy="39976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isA</a:t>
            </a:r>
            <a:endParaRPr lang="en-US"/>
          </a:p>
        </p:txBody>
      </p:sp>
      <p:cxnSp>
        <p:nvCxnSpPr>
          <p:cNvPr id="53" name="Straight Connector 52">
            <a:extLst>
              <a:ext uri="{FF2B5EF4-FFF2-40B4-BE49-F238E27FC236}">
                <a16:creationId xmlns:a16="http://schemas.microsoft.com/office/drawing/2014/main" id="{4E876A56-D8EF-63F8-4948-0886571AC898}"/>
              </a:ext>
            </a:extLst>
          </p:cNvPr>
          <p:cNvCxnSpPr>
            <a:stCxn id="51" idx="0"/>
            <a:endCxn id="38" idx="2"/>
          </p:cNvCxnSpPr>
          <p:nvPr/>
        </p:nvCxnSpPr>
        <p:spPr>
          <a:xfrm flipH="1" flipV="1">
            <a:off x="8151821" y="831508"/>
            <a:ext cx="570976" cy="397549"/>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5FC003-BAB1-9105-26C5-CCD5860D2272}"/>
              </a:ext>
            </a:extLst>
          </p:cNvPr>
          <p:cNvCxnSpPr>
            <a:stCxn id="51" idx="3"/>
            <a:endCxn id="39" idx="0"/>
          </p:cNvCxnSpPr>
          <p:nvPr/>
        </p:nvCxnSpPr>
        <p:spPr>
          <a:xfrm flipH="1">
            <a:off x="8065884" y="1628825"/>
            <a:ext cx="656913" cy="420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6C804B8-3B46-B65F-2F7A-9F3E8678704D}"/>
              </a:ext>
            </a:extLst>
          </p:cNvPr>
          <p:cNvCxnSpPr>
            <a:stCxn id="40" idx="0"/>
            <a:endCxn id="51" idx="3"/>
          </p:cNvCxnSpPr>
          <p:nvPr/>
        </p:nvCxnSpPr>
        <p:spPr>
          <a:xfrm flipH="1" flipV="1">
            <a:off x="8722797" y="1628825"/>
            <a:ext cx="1948976" cy="427729"/>
          </a:xfrm>
          <a:prstGeom prst="line">
            <a:avLst/>
          </a:prstGeom>
        </p:spPr>
        <p:style>
          <a:lnRef idx="1">
            <a:schemeClr val="accent1"/>
          </a:lnRef>
          <a:fillRef idx="0">
            <a:schemeClr val="accent1"/>
          </a:fillRef>
          <a:effectRef idx="0">
            <a:schemeClr val="accent1"/>
          </a:effectRef>
          <a:fontRef idx="minor">
            <a:schemeClr val="tx1"/>
          </a:fontRef>
        </p:style>
      </p:cxnSp>
      <p:sp>
        <p:nvSpPr>
          <p:cNvPr id="58" name="Diamond 57">
            <a:extLst>
              <a:ext uri="{FF2B5EF4-FFF2-40B4-BE49-F238E27FC236}">
                <a16:creationId xmlns:a16="http://schemas.microsoft.com/office/drawing/2014/main" id="{E17A2171-2B7C-E1A3-E010-7FEE0D93FE98}"/>
              </a:ext>
            </a:extLst>
          </p:cNvPr>
          <p:cNvSpPr/>
          <p:nvPr/>
        </p:nvSpPr>
        <p:spPr>
          <a:xfrm>
            <a:off x="4517596" y="223023"/>
            <a:ext cx="1394233"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owns</a:t>
            </a:r>
          </a:p>
        </p:txBody>
      </p:sp>
      <p:sp>
        <p:nvSpPr>
          <p:cNvPr id="59" name="Oval 58">
            <a:extLst>
              <a:ext uri="{FF2B5EF4-FFF2-40B4-BE49-F238E27FC236}">
                <a16:creationId xmlns:a16="http://schemas.microsoft.com/office/drawing/2014/main" id="{AE31455E-8D9C-6AE5-FE82-FD61FBAF5FE9}"/>
              </a:ext>
            </a:extLst>
          </p:cNvPr>
          <p:cNvSpPr/>
          <p:nvPr/>
        </p:nvSpPr>
        <p:spPr>
          <a:xfrm>
            <a:off x="5749587" y="0"/>
            <a:ext cx="1747357" cy="3064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Purchase date</a:t>
            </a:r>
          </a:p>
        </p:txBody>
      </p:sp>
      <p:cxnSp>
        <p:nvCxnSpPr>
          <p:cNvPr id="61" name="Straight Connector 60">
            <a:extLst>
              <a:ext uri="{FF2B5EF4-FFF2-40B4-BE49-F238E27FC236}">
                <a16:creationId xmlns:a16="http://schemas.microsoft.com/office/drawing/2014/main" id="{5AD7B3F9-34B1-9A62-34A3-99A1B2D99F95}"/>
              </a:ext>
            </a:extLst>
          </p:cNvPr>
          <p:cNvCxnSpPr>
            <a:cxnSpLocks/>
            <a:stCxn id="59" idx="4"/>
          </p:cNvCxnSpPr>
          <p:nvPr/>
        </p:nvCxnSpPr>
        <p:spPr>
          <a:xfrm flipH="1">
            <a:off x="5576935" y="306402"/>
            <a:ext cx="1046331" cy="262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7F5E24F-FA77-C2A8-2E07-416024CF6852}"/>
              </a:ext>
            </a:extLst>
          </p:cNvPr>
          <p:cNvCxnSpPr>
            <a:stCxn id="5" idx="3"/>
            <a:endCxn id="58" idx="1"/>
          </p:cNvCxnSpPr>
          <p:nvPr/>
        </p:nvCxnSpPr>
        <p:spPr>
          <a:xfrm>
            <a:off x="3438806" y="460311"/>
            <a:ext cx="1078790" cy="2199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25" name="Straight Connector 26624">
            <a:extLst>
              <a:ext uri="{FF2B5EF4-FFF2-40B4-BE49-F238E27FC236}">
                <a16:creationId xmlns:a16="http://schemas.microsoft.com/office/drawing/2014/main" id="{ED6F7246-2373-30B5-4A82-86AB63626E9A}"/>
              </a:ext>
            </a:extLst>
          </p:cNvPr>
          <p:cNvCxnSpPr/>
          <p:nvPr/>
        </p:nvCxnSpPr>
        <p:spPr>
          <a:xfrm>
            <a:off x="5911829" y="722864"/>
            <a:ext cx="1385264" cy="0"/>
          </a:xfrm>
          <a:prstGeom prst="line">
            <a:avLst/>
          </a:prstGeom>
        </p:spPr>
        <p:style>
          <a:lnRef idx="1">
            <a:schemeClr val="accent1"/>
          </a:lnRef>
          <a:fillRef idx="0">
            <a:schemeClr val="accent1"/>
          </a:fillRef>
          <a:effectRef idx="0">
            <a:schemeClr val="accent1"/>
          </a:effectRef>
          <a:fontRef idx="minor">
            <a:schemeClr val="tx1"/>
          </a:fontRef>
        </p:style>
      </p:cxnSp>
      <p:sp>
        <p:nvSpPr>
          <p:cNvPr id="26627" name="Oval 26626">
            <a:extLst>
              <a:ext uri="{FF2B5EF4-FFF2-40B4-BE49-F238E27FC236}">
                <a16:creationId xmlns:a16="http://schemas.microsoft.com/office/drawing/2014/main" id="{F9F0B7CB-AFC5-2019-6DFE-CCDDE0624911}"/>
              </a:ext>
            </a:extLst>
          </p:cNvPr>
          <p:cNvSpPr/>
          <p:nvPr/>
        </p:nvSpPr>
        <p:spPr>
          <a:xfrm>
            <a:off x="7369000" y="2463488"/>
            <a:ext cx="1068309" cy="3893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style</a:t>
            </a:r>
          </a:p>
        </p:txBody>
      </p:sp>
      <p:sp>
        <p:nvSpPr>
          <p:cNvPr id="26628" name="Oval 26627">
            <a:extLst>
              <a:ext uri="{FF2B5EF4-FFF2-40B4-BE49-F238E27FC236}">
                <a16:creationId xmlns:a16="http://schemas.microsoft.com/office/drawing/2014/main" id="{B7E2A7B6-E385-04C2-E33F-A8B670C12DAF}"/>
              </a:ext>
            </a:extLst>
          </p:cNvPr>
          <p:cNvSpPr/>
          <p:nvPr/>
        </p:nvSpPr>
        <p:spPr>
          <a:xfrm>
            <a:off x="10245506" y="2420805"/>
            <a:ext cx="1231386" cy="3893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tonnage</a:t>
            </a:r>
          </a:p>
        </p:txBody>
      </p:sp>
      <p:cxnSp>
        <p:nvCxnSpPr>
          <p:cNvPr id="26630" name="Straight Connector 26629">
            <a:extLst>
              <a:ext uri="{FF2B5EF4-FFF2-40B4-BE49-F238E27FC236}">
                <a16:creationId xmlns:a16="http://schemas.microsoft.com/office/drawing/2014/main" id="{E8EC616A-A097-CDE6-0005-4AE6F4E250E1}"/>
              </a:ext>
            </a:extLst>
          </p:cNvPr>
          <p:cNvCxnSpPr>
            <a:stCxn id="26627" idx="0"/>
            <a:endCxn id="39" idx="2"/>
          </p:cNvCxnSpPr>
          <p:nvPr/>
        </p:nvCxnSpPr>
        <p:spPr>
          <a:xfrm flipV="1">
            <a:off x="7903155" y="2311468"/>
            <a:ext cx="162729" cy="1520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32" name="Straight Connector 26631">
            <a:extLst>
              <a:ext uri="{FF2B5EF4-FFF2-40B4-BE49-F238E27FC236}">
                <a16:creationId xmlns:a16="http://schemas.microsoft.com/office/drawing/2014/main" id="{5F35ABD1-1E9E-7DAA-D0ED-043CE6E0D640}"/>
              </a:ext>
            </a:extLst>
          </p:cNvPr>
          <p:cNvCxnSpPr>
            <a:stCxn id="26628" idx="0"/>
            <a:endCxn id="40" idx="2"/>
          </p:cNvCxnSpPr>
          <p:nvPr/>
        </p:nvCxnSpPr>
        <p:spPr>
          <a:xfrm flipH="1" flipV="1">
            <a:off x="10671773" y="2319107"/>
            <a:ext cx="189426" cy="101698"/>
          </a:xfrm>
          <a:prstGeom prst="line">
            <a:avLst/>
          </a:prstGeom>
        </p:spPr>
        <p:style>
          <a:lnRef idx="1">
            <a:schemeClr val="accent1"/>
          </a:lnRef>
          <a:fillRef idx="0">
            <a:schemeClr val="accent1"/>
          </a:fillRef>
          <a:effectRef idx="0">
            <a:schemeClr val="accent1"/>
          </a:effectRef>
          <a:fontRef idx="minor">
            <a:schemeClr val="tx1"/>
          </a:fontRef>
        </p:style>
      </p:cxnSp>
      <p:sp>
        <p:nvSpPr>
          <p:cNvPr id="26635" name="Oval 26634">
            <a:extLst>
              <a:ext uri="{FF2B5EF4-FFF2-40B4-BE49-F238E27FC236}">
                <a16:creationId xmlns:a16="http://schemas.microsoft.com/office/drawing/2014/main" id="{89ACD205-06B7-6F57-7E0E-5B173CA7A60C}"/>
              </a:ext>
            </a:extLst>
          </p:cNvPr>
          <p:cNvSpPr/>
          <p:nvPr/>
        </p:nvSpPr>
        <p:spPr>
          <a:xfrm>
            <a:off x="552262" y="505577"/>
            <a:ext cx="1301429" cy="2625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err="1"/>
              <a:t>Owner_id</a:t>
            </a:r>
            <a:endParaRPr lang="en-US" sz="1000" u="sng"/>
          </a:p>
        </p:txBody>
      </p:sp>
      <p:cxnSp>
        <p:nvCxnSpPr>
          <p:cNvPr id="26637" name="Straight Connector 26636">
            <a:extLst>
              <a:ext uri="{FF2B5EF4-FFF2-40B4-BE49-F238E27FC236}">
                <a16:creationId xmlns:a16="http://schemas.microsoft.com/office/drawing/2014/main" id="{FAC8E4C0-76D1-EBB1-AE94-7FAA95F04BE9}"/>
              </a:ext>
            </a:extLst>
          </p:cNvPr>
          <p:cNvCxnSpPr>
            <a:stCxn id="26635" idx="0"/>
            <a:endCxn id="5" idx="1"/>
          </p:cNvCxnSpPr>
          <p:nvPr/>
        </p:nvCxnSpPr>
        <p:spPr>
          <a:xfrm flipV="1">
            <a:off x="1202977" y="460311"/>
            <a:ext cx="841596" cy="45266"/>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DEC5580F-6FF9-4E65-BD2D-9F0C1EBA3AF9}"/>
              </a:ext>
            </a:extLst>
          </p:cNvPr>
          <p:cNvSpPr>
            <a:spLocks noGrp="1"/>
          </p:cNvSpPr>
          <p:nvPr>
            <p:ph type="sldNum" sz="quarter" idx="12"/>
          </p:nvPr>
        </p:nvSpPr>
        <p:spPr/>
        <p:txBody>
          <a:bodyPr/>
          <a:lstStyle/>
          <a:p>
            <a:fld id="{641C0F02-33DC-3A41-9F51-431B7FE03ABE}" type="slidenum">
              <a:rPr lang="en-US" smtClean="0"/>
              <a:t>113</a:t>
            </a:fld>
            <a:endParaRPr lang="en-US"/>
          </a:p>
        </p:txBody>
      </p:sp>
      <p:pic>
        <p:nvPicPr>
          <p:cNvPr id="43" name="Picture 2">
            <a:extLst>
              <a:ext uri="{FF2B5EF4-FFF2-40B4-BE49-F238E27FC236}">
                <a16:creationId xmlns:a16="http://schemas.microsoft.com/office/drawing/2014/main" id="{4B01EB6B-DAFA-45BD-881B-1049688258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685" r="1"/>
          <a:stretch/>
        </p:blipFill>
        <p:spPr bwMode="auto">
          <a:xfrm>
            <a:off x="1485857" y="2808832"/>
            <a:ext cx="4011592"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15AAD554-C209-6E86-F55A-1F97713D5039}"/>
              </a:ext>
            </a:extLst>
          </p:cNvPr>
          <p:cNvSpPr txBox="1"/>
          <p:nvPr/>
        </p:nvSpPr>
        <p:spPr>
          <a:xfrm>
            <a:off x="6201833" y="3429000"/>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Owner(  </a:t>
            </a:r>
            <a:r>
              <a:rPr lang="en-US" b="1" u="sng"/>
              <a:t>owner_id)</a:t>
            </a:r>
          </a:p>
          <a:p>
            <a:r>
              <a:rPr lang="en-US" b="1"/>
              <a:t>Company (</a:t>
            </a:r>
            <a:r>
              <a:rPr lang="en-US" b="1" u="sng"/>
              <a:t>cname, </a:t>
            </a:r>
            <a:r>
              <a:rPr lang="en-US" b="1"/>
              <a:t>owner_id)</a:t>
            </a:r>
          </a:p>
          <a:p>
            <a:r>
              <a:rPr lang="en-US" b="1"/>
              <a:t>Bank (b</a:t>
            </a:r>
            <a:r>
              <a:rPr lang="en-US" b="1" u="sng"/>
              <a:t>name, </a:t>
            </a:r>
            <a:r>
              <a:rPr lang="en-US" b="1"/>
              <a:t>owner_id)</a:t>
            </a:r>
          </a:p>
          <a:p>
            <a:r>
              <a:rPr lang="en-US" b="1"/>
              <a:t>Person (</a:t>
            </a:r>
            <a:r>
              <a:rPr lang="en-US" b="1" u="sng"/>
              <a:t>ssn, </a:t>
            </a:r>
            <a:r>
              <a:rPr lang="en-US" b="1"/>
              <a:t>owner_id)</a:t>
            </a:r>
          </a:p>
          <a:p>
            <a:r>
              <a:rPr lang="en-US" b="1"/>
              <a:t>RVehicle(</a:t>
            </a:r>
            <a:r>
              <a:rPr lang="en-US" u="sng"/>
              <a:t>vehicle_id</a:t>
            </a:r>
            <a:r>
              <a:rPr lang="en-US"/>
              <a:t>, platenumber)</a:t>
            </a:r>
          </a:p>
          <a:p>
            <a:r>
              <a:rPr lang="en-US" b="1"/>
              <a:t>Car ( </a:t>
            </a:r>
            <a:r>
              <a:rPr lang="en-US" u="sng"/>
              <a:t>vehicle_id,</a:t>
            </a:r>
            <a:r>
              <a:rPr lang="en-US"/>
              <a:t> style</a:t>
            </a:r>
            <a:r>
              <a:rPr lang="en-US" u="sng"/>
              <a:t>)</a:t>
            </a:r>
          </a:p>
          <a:p>
            <a:r>
              <a:rPr lang="en-US"/>
              <a:t>Truck (</a:t>
            </a:r>
            <a:r>
              <a:rPr lang="en-US" u="sng"/>
              <a:t>vehicle_id, </a:t>
            </a:r>
            <a:r>
              <a:rPr lang="en-US"/>
              <a:t>tonnage</a:t>
            </a:r>
            <a:r>
              <a:rPr lang="en-US" u="sng"/>
              <a:t>)</a:t>
            </a:r>
          </a:p>
          <a:p>
            <a:r>
              <a:rPr lang="en-US" b="1"/>
              <a:t>OWNS( </a:t>
            </a:r>
            <a:r>
              <a:rPr lang="en-US" u="sng"/>
              <a:t>vehicle_id, owner_id, </a:t>
            </a:r>
            <a:r>
              <a:rPr lang="en-US"/>
              <a:t>purchase_date)</a:t>
            </a:r>
          </a:p>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3C11-DF6F-2B4C-B135-2ACA1CEAF634}"/>
              </a:ext>
            </a:extLst>
          </p:cNvPr>
          <p:cNvSpPr>
            <a:spLocks noGrp="1"/>
          </p:cNvSpPr>
          <p:nvPr>
            <p:ph type="title"/>
          </p:nvPr>
        </p:nvSpPr>
        <p:spPr>
          <a:xfrm>
            <a:off x="255429" y="260617"/>
            <a:ext cx="6426234" cy="415498"/>
          </a:xfrm>
        </p:spPr>
        <p:txBody>
          <a:bodyPr>
            <a:normAutofit fontScale="90000"/>
          </a:bodyPr>
          <a:lstStyle/>
          <a:p>
            <a:r>
              <a:rPr lang="en-US"/>
              <a:t>Chen Notation (Summary)</a:t>
            </a:r>
          </a:p>
        </p:txBody>
      </p:sp>
      <p:sp>
        <p:nvSpPr>
          <p:cNvPr id="3" name="Slide Number Placeholder 2">
            <a:extLst>
              <a:ext uri="{FF2B5EF4-FFF2-40B4-BE49-F238E27FC236}">
                <a16:creationId xmlns:a16="http://schemas.microsoft.com/office/drawing/2014/main" id="{6C2C9B05-47F0-4BDF-AFF8-0C0152814358}"/>
              </a:ext>
            </a:extLst>
          </p:cNvPr>
          <p:cNvSpPr>
            <a:spLocks noGrp="1"/>
          </p:cNvSpPr>
          <p:nvPr>
            <p:ph type="sldNum" sz="quarter" idx="12"/>
          </p:nvPr>
        </p:nvSpPr>
        <p:spPr/>
        <p:txBody>
          <a:bodyPr/>
          <a:lstStyle/>
          <a:p>
            <a:fld id="{641C0F02-33DC-3A41-9F51-431B7FE03ABE}" type="slidenum">
              <a:rPr lang="en-US" smtClean="0"/>
              <a:t>114</a:t>
            </a:fld>
            <a:endParaRPr lang="en-US"/>
          </a:p>
        </p:txBody>
      </p:sp>
      <p:sp>
        <p:nvSpPr>
          <p:cNvPr id="4" name="Rectangle 3">
            <a:extLst>
              <a:ext uri="{FF2B5EF4-FFF2-40B4-BE49-F238E27FC236}">
                <a16:creationId xmlns:a16="http://schemas.microsoft.com/office/drawing/2014/main" id="{14200B87-6C7A-0DA6-9BA1-574AE6A2AA66}"/>
              </a:ext>
            </a:extLst>
          </p:cNvPr>
          <p:cNvSpPr/>
          <p:nvPr/>
        </p:nvSpPr>
        <p:spPr>
          <a:xfrm>
            <a:off x="713232" y="881142"/>
            <a:ext cx="1125202"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2431F9-7E29-9A4B-4AD8-A6126C5F1265}"/>
              </a:ext>
            </a:extLst>
          </p:cNvPr>
          <p:cNvSpPr txBox="1"/>
          <p:nvPr/>
        </p:nvSpPr>
        <p:spPr>
          <a:xfrm>
            <a:off x="2020824" y="813562"/>
            <a:ext cx="1077411" cy="369332"/>
          </a:xfrm>
          <a:prstGeom prst="rect">
            <a:avLst/>
          </a:prstGeom>
          <a:noFill/>
        </p:spPr>
        <p:txBody>
          <a:bodyPr wrap="none" rtlCol="0">
            <a:spAutoFit/>
          </a:bodyPr>
          <a:lstStyle/>
          <a:p>
            <a:r>
              <a:rPr lang="en-US"/>
              <a:t>Entity Set</a:t>
            </a:r>
          </a:p>
        </p:txBody>
      </p:sp>
      <p:sp>
        <p:nvSpPr>
          <p:cNvPr id="7" name="Rectangle 6">
            <a:extLst>
              <a:ext uri="{FF2B5EF4-FFF2-40B4-BE49-F238E27FC236}">
                <a16:creationId xmlns:a16="http://schemas.microsoft.com/office/drawing/2014/main" id="{086BFACC-F105-8D50-1B42-07321246424D}"/>
              </a:ext>
            </a:extLst>
          </p:cNvPr>
          <p:cNvSpPr/>
          <p:nvPr/>
        </p:nvSpPr>
        <p:spPr>
          <a:xfrm>
            <a:off x="713232" y="1624102"/>
            <a:ext cx="1125202" cy="369332"/>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907FD11-1B9D-337D-B3B8-DB6C8040AC57}"/>
              </a:ext>
            </a:extLst>
          </p:cNvPr>
          <p:cNvSpPr txBox="1"/>
          <p:nvPr/>
        </p:nvSpPr>
        <p:spPr>
          <a:xfrm>
            <a:off x="2020824" y="1588419"/>
            <a:ext cx="1657249" cy="369332"/>
          </a:xfrm>
          <a:prstGeom prst="rect">
            <a:avLst/>
          </a:prstGeom>
          <a:noFill/>
        </p:spPr>
        <p:txBody>
          <a:bodyPr wrap="none" rtlCol="0">
            <a:spAutoFit/>
          </a:bodyPr>
          <a:lstStyle/>
          <a:p>
            <a:r>
              <a:rPr lang="en-US"/>
              <a:t>Weak Entity Set</a:t>
            </a:r>
          </a:p>
        </p:txBody>
      </p:sp>
      <p:sp>
        <p:nvSpPr>
          <p:cNvPr id="11" name="Flowchart: Decision 10">
            <a:extLst>
              <a:ext uri="{FF2B5EF4-FFF2-40B4-BE49-F238E27FC236}">
                <a16:creationId xmlns:a16="http://schemas.microsoft.com/office/drawing/2014/main" id="{70B7F869-E3AF-AC29-9344-71C8C22B4FFB}"/>
              </a:ext>
            </a:extLst>
          </p:cNvPr>
          <p:cNvSpPr/>
          <p:nvPr/>
        </p:nvSpPr>
        <p:spPr>
          <a:xfrm>
            <a:off x="713232" y="2279755"/>
            <a:ext cx="820745" cy="900671"/>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9304225-DFDA-CADD-0F34-9F251465A96F}"/>
              </a:ext>
            </a:extLst>
          </p:cNvPr>
          <p:cNvSpPr txBox="1"/>
          <p:nvPr/>
        </p:nvSpPr>
        <p:spPr>
          <a:xfrm>
            <a:off x="2219352" y="2545425"/>
            <a:ext cx="1342291" cy="369332"/>
          </a:xfrm>
          <a:prstGeom prst="rect">
            <a:avLst/>
          </a:prstGeom>
          <a:noFill/>
        </p:spPr>
        <p:txBody>
          <a:bodyPr wrap="none" rtlCol="0">
            <a:spAutoFit/>
          </a:bodyPr>
          <a:lstStyle/>
          <a:p>
            <a:r>
              <a:rPr lang="en-US"/>
              <a:t>Relationship</a:t>
            </a:r>
          </a:p>
        </p:txBody>
      </p:sp>
      <p:grpSp>
        <p:nvGrpSpPr>
          <p:cNvPr id="22" name="Group 21">
            <a:extLst>
              <a:ext uri="{FF2B5EF4-FFF2-40B4-BE49-F238E27FC236}">
                <a16:creationId xmlns:a16="http://schemas.microsoft.com/office/drawing/2014/main" id="{B42E58FA-50E7-1B22-F167-D1CFB5D28042}"/>
              </a:ext>
            </a:extLst>
          </p:cNvPr>
          <p:cNvGrpSpPr/>
          <p:nvPr/>
        </p:nvGrpSpPr>
        <p:grpSpPr>
          <a:xfrm>
            <a:off x="4535905" y="881142"/>
            <a:ext cx="1221767" cy="369332"/>
            <a:chOff x="4535905" y="881142"/>
            <a:chExt cx="1221767" cy="369332"/>
          </a:xfrm>
        </p:grpSpPr>
        <p:sp>
          <p:nvSpPr>
            <p:cNvPr id="13" name="Oval 12">
              <a:extLst>
                <a:ext uri="{FF2B5EF4-FFF2-40B4-BE49-F238E27FC236}">
                  <a16:creationId xmlns:a16="http://schemas.microsoft.com/office/drawing/2014/main" id="{1F632890-69AF-E49A-BDCF-E13346F585F8}"/>
                </a:ext>
              </a:extLst>
            </p:cNvPr>
            <p:cNvSpPr/>
            <p:nvPr/>
          </p:nvSpPr>
          <p:spPr>
            <a:xfrm>
              <a:off x="4860380" y="881142"/>
              <a:ext cx="897292"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7919B43-FC9A-9297-77A2-FE58D2979406}"/>
                </a:ext>
              </a:extLst>
            </p:cNvPr>
            <p:cNvCxnSpPr>
              <a:cxnSpLocks/>
              <a:stCxn id="13" idx="2"/>
            </p:cNvCxnSpPr>
            <p:nvPr/>
          </p:nvCxnSpPr>
          <p:spPr>
            <a:xfrm flipH="1">
              <a:off x="4535905" y="1065808"/>
              <a:ext cx="324475" cy="11708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F13837ED-514D-025B-4DB9-F822971B7143}"/>
              </a:ext>
            </a:extLst>
          </p:cNvPr>
          <p:cNvGrpSpPr/>
          <p:nvPr/>
        </p:nvGrpSpPr>
        <p:grpSpPr>
          <a:xfrm>
            <a:off x="4685578" y="1379492"/>
            <a:ext cx="1221767" cy="369332"/>
            <a:chOff x="4535905" y="881142"/>
            <a:chExt cx="1221767" cy="369332"/>
          </a:xfrm>
        </p:grpSpPr>
        <p:sp>
          <p:nvSpPr>
            <p:cNvPr id="24" name="Oval 23">
              <a:extLst>
                <a:ext uri="{FF2B5EF4-FFF2-40B4-BE49-F238E27FC236}">
                  <a16:creationId xmlns:a16="http://schemas.microsoft.com/office/drawing/2014/main" id="{A56320AE-A596-0948-549D-D25D0CD89564}"/>
                </a:ext>
              </a:extLst>
            </p:cNvPr>
            <p:cNvSpPr/>
            <p:nvPr/>
          </p:nvSpPr>
          <p:spPr>
            <a:xfrm>
              <a:off x="4860380" y="881142"/>
              <a:ext cx="897292"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      </a:t>
              </a:r>
            </a:p>
          </p:txBody>
        </p:sp>
        <p:cxnSp>
          <p:nvCxnSpPr>
            <p:cNvPr id="25" name="Straight Connector 24">
              <a:extLst>
                <a:ext uri="{FF2B5EF4-FFF2-40B4-BE49-F238E27FC236}">
                  <a16:creationId xmlns:a16="http://schemas.microsoft.com/office/drawing/2014/main" id="{8A9407B2-19C7-F729-EBA2-22D9E575BD9F}"/>
                </a:ext>
              </a:extLst>
            </p:cNvPr>
            <p:cNvCxnSpPr>
              <a:cxnSpLocks/>
              <a:stCxn id="24" idx="2"/>
            </p:cNvCxnSpPr>
            <p:nvPr/>
          </p:nvCxnSpPr>
          <p:spPr>
            <a:xfrm flipH="1">
              <a:off x="4535905" y="1065808"/>
              <a:ext cx="324475" cy="11708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C2E402FB-653B-0FD8-9A05-EA816D5E4350}"/>
              </a:ext>
            </a:extLst>
          </p:cNvPr>
          <p:cNvCxnSpPr>
            <a:cxnSpLocks/>
          </p:cNvCxnSpPr>
          <p:nvPr/>
        </p:nvCxnSpPr>
        <p:spPr>
          <a:xfrm>
            <a:off x="5223470" y="1602928"/>
            <a:ext cx="470458"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3A67D2B8-8FE8-F68E-1A24-99F6D61372DC}"/>
              </a:ext>
            </a:extLst>
          </p:cNvPr>
          <p:cNvGrpSpPr/>
          <p:nvPr/>
        </p:nvGrpSpPr>
        <p:grpSpPr>
          <a:xfrm>
            <a:off x="4685578" y="1933490"/>
            <a:ext cx="1267918" cy="462835"/>
            <a:chOff x="4698142" y="2707408"/>
            <a:chExt cx="1267918" cy="462835"/>
          </a:xfrm>
        </p:grpSpPr>
        <p:sp>
          <p:nvSpPr>
            <p:cNvPr id="32" name="Oval 31">
              <a:extLst>
                <a:ext uri="{FF2B5EF4-FFF2-40B4-BE49-F238E27FC236}">
                  <a16:creationId xmlns:a16="http://schemas.microsoft.com/office/drawing/2014/main" id="{DE797845-9FA7-CA78-5339-1D6F12FF456D}"/>
                </a:ext>
              </a:extLst>
            </p:cNvPr>
            <p:cNvSpPr/>
            <p:nvPr/>
          </p:nvSpPr>
          <p:spPr>
            <a:xfrm>
              <a:off x="4997328" y="2707408"/>
              <a:ext cx="968732" cy="462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05BE237-D6F8-4E75-164E-A11BC9F23405}"/>
                </a:ext>
              </a:extLst>
            </p:cNvPr>
            <p:cNvGrpSpPr/>
            <p:nvPr/>
          </p:nvGrpSpPr>
          <p:grpSpPr>
            <a:xfrm>
              <a:off x="4698142" y="2756013"/>
              <a:ext cx="1221767" cy="369332"/>
              <a:chOff x="4535905" y="881142"/>
              <a:chExt cx="1221767" cy="369332"/>
            </a:xfrm>
          </p:grpSpPr>
          <p:sp>
            <p:nvSpPr>
              <p:cNvPr id="30" name="Oval 29">
                <a:extLst>
                  <a:ext uri="{FF2B5EF4-FFF2-40B4-BE49-F238E27FC236}">
                    <a16:creationId xmlns:a16="http://schemas.microsoft.com/office/drawing/2014/main" id="{5E959ADD-C427-46C7-048A-A62A7C6BC20F}"/>
                  </a:ext>
                </a:extLst>
              </p:cNvPr>
              <p:cNvSpPr/>
              <p:nvPr/>
            </p:nvSpPr>
            <p:spPr>
              <a:xfrm>
                <a:off x="4860380" y="881142"/>
                <a:ext cx="897292" cy="3693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A1D83569-7428-57F4-C80E-035E71AF3117}"/>
                  </a:ext>
                </a:extLst>
              </p:cNvPr>
              <p:cNvCxnSpPr>
                <a:cxnSpLocks/>
                <a:stCxn id="30" idx="2"/>
              </p:cNvCxnSpPr>
              <p:nvPr/>
            </p:nvCxnSpPr>
            <p:spPr>
              <a:xfrm flipH="1">
                <a:off x="4535905" y="1065808"/>
                <a:ext cx="324475" cy="117086"/>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33" name="Group 32">
            <a:extLst>
              <a:ext uri="{FF2B5EF4-FFF2-40B4-BE49-F238E27FC236}">
                <a16:creationId xmlns:a16="http://schemas.microsoft.com/office/drawing/2014/main" id="{9D2DC1DD-CF84-E9FD-EC46-EF6A9AC78537}"/>
              </a:ext>
            </a:extLst>
          </p:cNvPr>
          <p:cNvGrpSpPr/>
          <p:nvPr/>
        </p:nvGrpSpPr>
        <p:grpSpPr>
          <a:xfrm>
            <a:off x="4726116" y="2652278"/>
            <a:ext cx="1221767" cy="369332"/>
            <a:chOff x="4535905" y="881142"/>
            <a:chExt cx="1221767" cy="369332"/>
          </a:xfrm>
        </p:grpSpPr>
        <p:sp>
          <p:nvSpPr>
            <p:cNvPr id="34" name="Oval 33">
              <a:extLst>
                <a:ext uri="{FF2B5EF4-FFF2-40B4-BE49-F238E27FC236}">
                  <a16:creationId xmlns:a16="http://schemas.microsoft.com/office/drawing/2014/main" id="{D3980AAA-6270-3474-F8A8-99D80E64C23C}"/>
                </a:ext>
              </a:extLst>
            </p:cNvPr>
            <p:cNvSpPr/>
            <p:nvPr/>
          </p:nvSpPr>
          <p:spPr>
            <a:xfrm>
              <a:off x="4860380" y="881142"/>
              <a:ext cx="897292" cy="369332"/>
            </a:xfrm>
            <a:prstGeom prst="ellipse">
              <a:avLst/>
            </a:prstGeom>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3B2308AC-F02E-87AD-FCD3-A7DFF8EB3EDA}"/>
                </a:ext>
              </a:extLst>
            </p:cNvPr>
            <p:cNvCxnSpPr>
              <a:cxnSpLocks/>
              <a:stCxn id="34" idx="2"/>
            </p:cNvCxnSpPr>
            <p:nvPr/>
          </p:nvCxnSpPr>
          <p:spPr>
            <a:xfrm flipH="1">
              <a:off x="4535905" y="1065808"/>
              <a:ext cx="324475" cy="117086"/>
            </a:xfrm>
            <a:prstGeom prst="line">
              <a:avLst/>
            </a:prstGeom>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BBB777B5-5F6D-AD1D-2D1B-AF05599EA113}"/>
              </a:ext>
            </a:extLst>
          </p:cNvPr>
          <p:cNvSpPr txBox="1"/>
          <p:nvPr/>
        </p:nvSpPr>
        <p:spPr>
          <a:xfrm>
            <a:off x="6226609" y="847352"/>
            <a:ext cx="1029064" cy="369332"/>
          </a:xfrm>
          <a:prstGeom prst="rect">
            <a:avLst/>
          </a:prstGeom>
          <a:noFill/>
        </p:spPr>
        <p:txBody>
          <a:bodyPr wrap="none" rtlCol="0">
            <a:spAutoFit/>
          </a:bodyPr>
          <a:lstStyle/>
          <a:p>
            <a:r>
              <a:rPr lang="en-US"/>
              <a:t>Attribute</a:t>
            </a:r>
          </a:p>
        </p:txBody>
      </p:sp>
      <p:sp>
        <p:nvSpPr>
          <p:cNvPr id="38" name="TextBox 37">
            <a:extLst>
              <a:ext uri="{FF2B5EF4-FFF2-40B4-BE49-F238E27FC236}">
                <a16:creationId xmlns:a16="http://schemas.microsoft.com/office/drawing/2014/main" id="{288122AF-3C2B-98AA-CB31-66CD5E000449}"/>
              </a:ext>
            </a:extLst>
          </p:cNvPr>
          <p:cNvSpPr txBox="1"/>
          <p:nvPr/>
        </p:nvSpPr>
        <p:spPr>
          <a:xfrm>
            <a:off x="6210261" y="1311912"/>
            <a:ext cx="1416157" cy="369332"/>
          </a:xfrm>
          <a:prstGeom prst="rect">
            <a:avLst/>
          </a:prstGeom>
          <a:noFill/>
        </p:spPr>
        <p:txBody>
          <a:bodyPr wrap="none" rtlCol="0">
            <a:spAutoFit/>
          </a:bodyPr>
          <a:lstStyle/>
          <a:p>
            <a:r>
              <a:rPr lang="en-US"/>
              <a:t>Key Attribute</a:t>
            </a:r>
          </a:p>
        </p:txBody>
      </p:sp>
      <p:sp>
        <p:nvSpPr>
          <p:cNvPr id="39" name="TextBox 38">
            <a:extLst>
              <a:ext uri="{FF2B5EF4-FFF2-40B4-BE49-F238E27FC236}">
                <a16:creationId xmlns:a16="http://schemas.microsoft.com/office/drawing/2014/main" id="{581BFC3F-1921-D3F8-07FC-DF11700D8F01}"/>
              </a:ext>
            </a:extLst>
          </p:cNvPr>
          <p:cNvSpPr txBox="1"/>
          <p:nvPr/>
        </p:nvSpPr>
        <p:spPr>
          <a:xfrm>
            <a:off x="6173449" y="1957751"/>
            <a:ext cx="2207079" cy="369332"/>
          </a:xfrm>
          <a:prstGeom prst="rect">
            <a:avLst/>
          </a:prstGeom>
          <a:noFill/>
        </p:spPr>
        <p:txBody>
          <a:bodyPr wrap="none" rtlCol="0">
            <a:spAutoFit/>
          </a:bodyPr>
          <a:lstStyle/>
          <a:p>
            <a:r>
              <a:rPr lang="en-US"/>
              <a:t>Multivalued Attribute</a:t>
            </a:r>
          </a:p>
        </p:txBody>
      </p:sp>
      <p:sp>
        <p:nvSpPr>
          <p:cNvPr id="40" name="TextBox 39">
            <a:extLst>
              <a:ext uri="{FF2B5EF4-FFF2-40B4-BE49-F238E27FC236}">
                <a16:creationId xmlns:a16="http://schemas.microsoft.com/office/drawing/2014/main" id="{A0625018-8B20-1F0F-3B06-FAB08A7EF6EB}"/>
              </a:ext>
            </a:extLst>
          </p:cNvPr>
          <p:cNvSpPr txBox="1"/>
          <p:nvPr/>
        </p:nvSpPr>
        <p:spPr>
          <a:xfrm>
            <a:off x="6133866" y="2652278"/>
            <a:ext cx="1812291" cy="369332"/>
          </a:xfrm>
          <a:prstGeom prst="rect">
            <a:avLst/>
          </a:prstGeom>
          <a:noFill/>
        </p:spPr>
        <p:txBody>
          <a:bodyPr wrap="none" rtlCol="0">
            <a:spAutoFit/>
          </a:bodyPr>
          <a:lstStyle/>
          <a:p>
            <a:r>
              <a:rPr lang="en-US"/>
              <a:t>Derived Attribute</a:t>
            </a:r>
          </a:p>
        </p:txBody>
      </p:sp>
      <p:sp>
        <p:nvSpPr>
          <p:cNvPr id="41" name="Rectangle 40">
            <a:extLst>
              <a:ext uri="{FF2B5EF4-FFF2-40B4-BE49-F238E27FC236}">
                <a16:creationId xmlns:a16="http://schemas.microsoft.com/office/drawing/2014/main" id="{F6EB7EB6-1436-A65D-9492-33C9EF3C43E8}"/>
              </a:ext>
            </a:extLst>
          </p:cNvPr>
          <p:cNvSpPr/>
          <p:nvPr/>
        </p:nvSpPr>
        <p:spPr>
          <a:xfrm>
            <a:off x="2555502" y="3649817"/>
            <a:ext cx="914400" cy="531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E1</a:t>
            </a:r>
          </a:p>
        </p:txBody>
      </p:sp>
      <p:sp>
        <p:nvSpPr>
          <p:cNvPr id="42" name="Rectangle 41">
            <a:extLst>
              <a:ext uri="{FF2B5EF4-FFF2-40B4-BE49-F238E27FC236}">
                <a16:creationId xmlns:a16="http://schemas.microsoft.com/office/drawing/2014/main" id="{51073739-DAB8-4CC9-0325-ED05568DB3D9}"/>
              </a:ext>
            </a:extLst>
          </p:cNvPr>
          <p:cNvSpPr/>
          <p:nvPr/>
        </p:nvSpPr>
        <p:spPr>
          <a:xfrm>
            <a:off x="5577449" y="3641200"/>
            <a:ext cx="1022863" cy="548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E2</a:t>
            </a:r>
          </a:p>
        </p:txBody>
      </p:sp>
      <p:sp>
        <p:nvSpPr>
          <p:cNvPr id="43" name="Decision 16">
            <a:extLst>
              <a:ext uri="{FF2B5EF4-FFF2-40B4-BE49-F238E27FC236}">
                <a16:creationId xmlns:a16="http://schemas.microsoft.com/office/drawing/2014/main" id="{841BA0FB-BA13-8693-5A26-D2BF4E18D238}"/>
              </a:ext>
            </a:extLst>
          </p:cNvPr>
          <p:cNvSpPr/>
          <p:nvPr/>
        </p:nvSpPr>
        <p:spPr>
          <a:xfrm>
            <a:off x="4033464" y="3609303"/>
            <a:ext cx="1095555" cy="6126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R</a:t>
            </a:r>
          </a:p>
        </p:txBody>
      </p:sp>
      <p:cxnSp>
        <p:nvCxnSpPr>
          <p:cNvPr id="44" name="Straight Connector 43">
            <a:extLst>
              <a:ext uri="{FF2B5EF4-FFF2-40B4-BE49-F238E27FC236}">
                <a16:creationId xmlns:a16="http://schemas.microsoft.com/office/drawing/2014/main" id="{6E34C4F1-480B-DAE7-0B71-4A2FBAF98EFA}"/>
              </a:ext>
            </a:extLst>
          </p:cNvPr>
          <p:cNvCxnSpPr>
            <a:cxnSpLocks/>
            <a:stCxn id="43" idx="3"/>
            <a:endCxn id="42" idx="1"/>
          </p:cNvCxnSpPr>
          <p:nvPr/>
        </p:nvCxnSpPr>
        <p:spPr>
          <a:xfrm>
            <a:off x="5129018" y="3915627"/>
            <a:ext cx="44843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DF99474-3BD6-DD69-F6F9-2AEEA4A4B426}"/>
              </a:ext>
            </a:extLst>
          </p:cNvPr>
          <p:cNvCxnSpPr>
            <a:cxnSpLocks/>
            <a:stCxn id="41" idx="3"/>
            <a:endCxn id="43" idx="1"/>
          </p:cNvCxnSpPr>
          <p:nvPr/>
        </p:nvCxnSpPr>
        <p:spPr>
          <a:xfrm>
            <a:off x="3469902" y="3915619"/>
            <a:ext cx="563562" cy="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E1B0E81-B016-BBCB-94BC-2ADAA3288AE1}"/>
              </a:ext>
            </a:extLst>
          </p:cNvPr>
          <p:cNvSpPr txBox="1"/>
          <p:nvPr/>
        </p:nvSpPr>
        <p:spPr>
          <a:xfrm>
            <a:off x="7255673" y="3651725"/>
            <a:ext cx="2346155" cy="369332"/>
          </a:xfrm>
          <a:prstGeom prst="rect">
            <a:avLst/>
          </a:prstGeom>
          <a:noFill/>
        </p:spPr>
        <p:txBody>
          <a:bodyPr wrap="none" rtlCol="0">
            <a:spAutoFit/>
          </a:bodyPr>
          <a:lstStyle/>
          <a:p>
            <a:r>
              <a:rPr lang="en-US"/>
              <a:t>E1 has a most one in R </a:t>
            </a:r>
          </a:p>
        </p:txBody>
      </p:sp>
      <p:sp>
        <p:nvSpPr>
          <p:cNvPr id="52" name="Rectangle 51">
            <a:extLst>
              <a:ext uri="{FF2B5EF4-FFF2-40B4-BE49-F238E27FC236}">
                <a16:creationId xmlns:a16="http://schemas.microsoft.com/office/drawing/2014/main" id="{CF80CFD0-EC52-6CBC-2D2E-86ADEF6C7506}"/>
              </a:ext>
            </a:extLst>
          </p:cNvPr>
          <p:cNvSpPr/>
          <p:nvPr/>
        </p:nvSpPr>
        <p:spPr>
          <a:xfrm>
            <a:off x="2639662" y="5207939"/>
            <a:ext cx="914400" cy="531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E1</a:t>
            </a:r>
          </a:p>
        </p:txBody>
      </p:sp>
      <p:sp>
        <p:nvSpPr>
          <p:cNvPr id="53" name="Rectangle 52">
            <a:extLst>
              <a:ext uri="{FF2B5EF4-FFF2-40B4-BE49-F238E27FC236}">
                <a16:creationId xmlns:a16="http://schemas.microsoft.com/office/drawing/2014/main" id="{EDD3F862-94E4-6FE3-260B-19DCD0D58E49}"/>
              </a:ext>
            </a:extLst>
          </p:cNvPr>
          <p:cNvSpPr/>
          <p:nvPr/>
        </p:nvSpPr>
        <p:spPr>
          <a:xfrm>
            <a:off x="5661609" y="5199322"/>
            <a:ext cx="1022863" cy="548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E2</a:t>
            </a:r>
          </a:p>
        </p:txBody>
      </p:sp>
      <p:sp>
        <p:nvSpPr>
          <p:cNvPr id="54" name="Decision 16">
            <a:extLst>
              <a:ext uri="{FF2B5EF4-FFF2-40B4-BE49-F238E27FC236}">
                <a16:creationId xmlns:a16="http://schemas.microsoft.com/office/drawing/2014/main" id="{A3D7AC57-E995-D105-8734-C016C475CB1A}"/>
              </a:ext>
            </a:extLst>
          </p:cNvPr>
          <p:cNvSpPr/>
          <p:nvPr/>
        </p:nvSpPr>
        <p:spPr>
          <a:xfrm>
            <a:off x="4117624" y="5167425"/>
            <a:ext cx="1095555" cy="6126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R</a:t>
            </a:r>
          </a:p>
        </p:txBody>
      </p:sp>
      <p:cxnSp>
        <p:nvCxnSpPr>
          <p:cNvPr id="55" name="Straight Connector 54">
            <a:extLst>
              <a:ext uri="{FF2B5EF4-FFF2-40B4-BE49-F238E27FC236}">
                <a16:creationId xmlns:a16="http://schemas.microsoft.com/office/drawing/2014/main" id="{352DEC5A-F046-B089-3B13-AD05D934629C}"/>
              </a:ext>
            </a:extLst>
          </p:cNvPr>
          <p:cNvCxnSpPr>
            <a:cxnSpLocks/>
            <a:stCxn id="54" idx="3"/>
            <a:endCxn id="53" idx="1"/>
          </p:cNvCxnSpPr>
          <p:nvPr/>
        </p:nvCxnSpPr>
        <p:spPr>
          <a:xfrm>
            <a:off x="5213178" y="5473749"/>
            <a:ext cx="44843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72B3970-98FB-B829-D99B-209FCBF6B88F}"/>
              </a:ext>
            </a:extLst>
          </p:cNvPr>
          <p:cNvCxnSpPr>
            <a:cxnSpLocks/>
            <a:endCxn id="54" idx="1"/>
          </p:cNvCxnSpPr>
          <p:nvPr/>
        </p:nvCxnSpPr>
        <p:spPr>
          <a:xfrm>
            <a:off x="3554062" y="5463364"/>
            <a:ext cx="563562" cy="1038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DB02736-C414-A97E-02CD-9CDE5C472036}"/>
              </a:ext>
            </a:extLst>
          </p:cNvPr>
          <p:cNvSpPr txBox="1"/>
          <p:nvPr/>
        </p:nvSpPr>
        <p:spPr>
          <a:xfrm>
            <a:off x="7318559" y="5278698"/>
            <a:ext cx="3722686" cy="646331"/>
          </a:xfrm>
          <a:prstGeom prst="rect">
            <a:avLst/>
          </a:prstGeom>
          <a:noFill/>
        </p:spPr>
        <p:txBody>
          <a:bodyPr wrap="none" rtlCol="0">
            <a:spAutoFit/>
          </a:bodyPr>
          <a:lstStyle/>
          <a:p>
            <a:r>
              <a:rPr lang="en-US"/>
              <a:t>Each tuple in E2 must participate in R </a:t>
            </a:r>
          </a:p>
          <a:p>
            <a:r>
              <a:rPr lang="en-US"/>
              <a:t>(total participation)</a:t>
            </a:r>
          </a:p>
        </p:txBody>
      </p:sp>
    </p:spTree>
    <p:extLst>
      <p:ext uri="{BB962C8B-B14F-4D97-AF65-F5344CB8AC3E}">
        <p14:creationId xmlns:p14="http://schemas.microsoft.com/office/powerpoint/2010/main" val="34513800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93162-BF98-0497-CC75-0168A7B35C43}"/>
              </a:ext>
            </a:extLst>
          </p:cNvPr>
          <p:cNvSpPr>
            <a:spLocks noGrp="1"/>
          </p:cNvSpPr>
          <p:nvPr>
            <p:ph type="title"/>
          </p:nvPr>
        </p:nvSpPr>
        <p:spPr/>
        <p:txBody>
          <a:bodyPr/>
          <a:lstStyle/>
          <a:p>
            <a:r>
              <a:rPr lang="en-US"/>
              <a:t>Example</a:t>
            </a:r>
          </a:p>
        </p:txBody>
      </p:sp>
      <p:sp>
        <p:nvSpPr>
          <p:cNvPr id="3" name="Slide Number Placeholder 2">
            <a:extLst>
              <a:ext uri="{FF2B5EF4-FFF2-40B4-BE49-F238E27FC236}">
                <a16:creationId xmlns:a16="http://schemas.microsoft.com/office/drawing/2014/main" id="{4F9B084B-0D72-174F-6C73-759EF4DAE7BB}"/>
              </a:ext>
            </a:extLst>
          </p:cNvPr>
          <p:cNvSpPr>
            <a:spLocks noGrp="1"/>
          </p:cNvSpPr>
          <p:nvPr>
            <p:ph type="sldNum" sz="quarter" idx="12"/>
          </p:nvPr>
        </p:nvSpPr>
        <p:spPr/>
        <p:txBody>
          <a:bodyPr/>
          <a:lstStyle/>
          <a:p>
            <a:fld id="{641C0F02-33DC-3A41-9F51-431B7FE03ABE}" type="slidenum">
              <a:rPr lang="en-US" smtClean="0"/>
              <a:t>115</a:t>
            </a:fld>
            <a:endParaRPr lang="en-US"/>
          </a:p>
        </p:txBody>
      </p:sp>
      <p:sp>
        <p:nvSpPr>
          <p:cNvPr id="8" name="TextBox 7">
            <a:extLst>
              <a:ext uri="{FF2B5EF4-FFF2-40B4-BE49-F238E27FC236}">
                <a16:creationId xmlns:a16="http://schemas.microsoft.com/office/drawing/2014/main" id="{FB7C2093-50FC-B74D-B132-21DF8EF887CF}"/>
              </a:ext>
            </a:extLst>
          </p:cNvPr>
          <p:cNvSpPr txBox="1"/>
          <p:nvPr/>
        </p:nvSpPr>
        <p:spPr>
          <a:xfrm>
            <a:off x="4841502" y="3543632"/>
            <a:ext cx="3462038" cy="369332"/>
          </a:xfrm>
          <a:prstGeom prst="rect">
            <a:avLst/>
          </a:prstGeom>
          <a:noFill/>
        </p:spPr>
        <p:txBody>
          <a:bodyPr wrap="none" rtlCol="0">
            <a:spAutoFit/>
          </a:bodyPr>
          <a:lstStyle/>
          <a:p>
            <a:r>
              <a:rPr lang="en-US"/>
              <a:t>1 Employee works in 1 department</a:t>
            </a:r>
          </a:p>
        </p:txBody>
      </p:sp>
      <p:sp>
        <p:nvSpPr>
          <p:cNvPr id="15" name="Rectangle 14">
            <a:extLst>
              <a:ext uri="{FF2B5EF4-FFF2-40B4-BE49-F238E27FC236}">
                <a16:creationId xmlns:a16="http://schemas.microsoft.com/office/drawing/2014/main" id="{9F6A5B2E-2511-3249-9675-864A4F4842A1}"/>
              </a:ext>
            </a:extLst>
          </p:cNvPr>
          <p:cNvSpPr/>
          <p:nvPr/>
        </p:nvSpPr>
        <p:spPr>
          <a:xfrm>
            <a:off x="4384302" y="2536449"/>
            <a:ext cx="914400" cy="531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Employee</a:t>
            </a:r>
          </a:p>
        </p:txBody>
      </p:sp>
      <p:sp>
        <p:nvSpPr>
          <p:cNvPr id="16" name="Rectangle 15">
            <a:extLst>
              <a:ext uri="{FF2B5EF4-FFF2-40B4-BE49-F238E27FC236}">
                <a16:creationId xmlns:a16="http://schemas.microsoft.com/office/drawing/2014/main" id="{5BDF19EA-4A01-5A4D-A981-CC35F46043A9}"/>
              </a:ext>
            </a:extLst>
          </p:cNvPr>
          <p:cNvSpPr/>
          <p:nvPr/>
        </p:nvSpPr>
        <p:spPr>
          <a:xfrm>
            <a:off x="7406249" y="2527832"/>
            <a:ext cx="1022863" cy="548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Department</a:t>
            </a:r>
          </a:p>
        </p:txBody>
      </p:sp>
      <p:sp>
        <p:nvSpPr>
          <p:cNvPr id="17" name="Decision 16">
            <a:extLst>
              <a:ext uri="{FF2B5EF4-FFF2-40B4-BE49-F238E27FC236}">
                <a16:creationId xmlns:a16="http://schemas.microsoft.com/office/drawing/2014/main" id="{13BE4ABC-B4D7-F04B-AE92-F7AFD74CECB6}"/>
              </a:ext>
            </a:extLst>
          </p:cNvPr>
          <p:cNvSpPr/>
          <p:nvPr/>
        </p:nvSpPr>
        <p:spPr>
          <a:xfrm>
            <a:off x="5862264" y="2495935"/>
            <a:ext cx="1095555" cy="6126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works</a:t>
            </a:r>
          </a:p>
        </p:txBody>
      </p:sp>
      <p:cxnSp>
        <p:nvCxnSpPr>
          <p:cNvPr id="19" name="Straight Connector 18">
            <a:extLst>
              <a:ext uri="{FF2B5EF4-FFF2-40B4-BE49-F238E27FC236}">
                <a16:creationId xmlns:a16="http://schemas.microsoft.com/office/drawing/2014/main" id="{A9D79242-490D-514B-9F69-962CC0CC21A8}"/>
              </a:ext>
            </a:extLst>
          </p:cNvPr>
          <p:cNvCxnSpPr>
            <a:cxnSpLocks/>
            <a:stCxn id="17" idx="3"/>
            <a:endCxn id="16" idx="1"/>
          </p:cNvCxnSpPr>
          <p:nvPr/>
        </p:nvCxnSpPr>
        <p:spPr>
          <a:xfrm>
            <a:off x="6957818" y="2802259"/>
            <a:ext cx="4484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972B18-B037-6F46-BC5E-6D40C72C5725}"/>
              </a:ext>
            </a:extLst>
          </p:cNvPr>
          <p:cNvCxnSpPr>
            <a:cxnSpLocks/>
            <a:stCxn id="15" idx="3"/>
            <a:endCxn id="17" idx="1"/>
          </p:cNvCxnSpPr>
          <p:nvPr/>
        </p:nvCxnSpPr>
        <p:spPr>
          <a:xfrm>
            <a:off x="5298702" y="2802251"/>
            <a:ext cx="563562" cy="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67CE62A-3A8C-3A41-98FE-96EE3C923FF8}"/>
              </a:ext>
            </a:extLst>
          </p:cNvPr>
          <p:cNvSpPr txBox="1"/>
          <p:nvPr/>
        </p:nvSpPr>
        <p:spPr>
          <a:xfrm>
            <a:off x="4760166" y="4035480"/>
            <a:ext cx="3901517" cy="369332"/>
          </a:xfrm>
          <a:prstGeom prst="rect">
            <a:avLst/>
          </a:prstGeom>
          <a:noFill/>
        </p:spPr>
        <p:txBody>
          <a:bodyPr wrap="none" rtlCol="0">
            <a:spAutoFit/>
          </a:bodyPr>
          <a:lstStyle/>
          <a:p>
            <a:r>
              <a:rPr lang="en-US"/>
              <a:t>1 Department  have  Many Employees</a:t>
            </a:r>
          </a:p>
        </p:txBody>
      </p:sp>
      <p:sp>
        <p:nvSpPr>
          <p:cNvPr id="4" name="TextBox 3">
            <a:extLst>
              <a:ext uri="{FF2B5EF4-FFF2-40B4-BE49-F238E27FC236}">
                <a16:creationId xmlns:a16="http://schemas.microsoft.com/office/drawing/2014/main" id="{83A65801-F3FE-F7E0-C299-6FC6FC96438F}"/>
              </a:ext>
            </a:extLst>
          </p:cNvPr>
          <p:cNvSpPr txBox="1"/>
          <p:nvPr/>
        </p:nvSpPr>
        <p:spPr>
          <a:xfrm>
            <a:off x="4465460" y="4592195"/>
            <a:ext cx="3944413" cy="369332"/>
          </a:xfrm>
          <a:prstGeom prst="rect">
            <a:avLst/>
          </a:prstGeom>
          <a:noFill/>
        </p:spPr>
        <p:txBody>
          <a:bodyPr wrap="none" rtlCol="0">
            <a:spAutoFit/>
          </a:bodyPr>
          <a:lstStyle/>
          <a:p>
            <a:r>
              <a:rPr lang="en-US"/>
              <a:t>Every employee works for a department</a:t>
            </a:r>
          </a:p>
        </p:txBody>
      </p:sp>
    </p:spTree>
    <p:extLst>
      <p:ext uri="{BB962C8B-B14F-4D97-AF65-F5344CB8AC3E}">
        <p14:creationId xmlns:p14="http://schemas.microsoft.com/office/powerpoint/2010/main" val="8435826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71D-4636-FD4D-8D8B-FA449436579E}"/>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a:t>ERD Examples</a:t>
            </a:r>
          </a:p>
        </p:txBody>
      </p:sp>
      <p:sp>
        <p:nvSpPr>
          <p:cNvPr id="3" name="Slide Number Placeholder 2">
            <a:extLst>
              <a:ext uri="{FF2B5EF4-FFF2-40B4-BE49-F238E27FC236}">
                <a16:creationId xmlns:a16="http://schemas.microsoft.com/office/drawing/2014/main" id="{6478C224-F96E-48BB-853D-1C04388E2BF8}"/>
              </a:ext>
            </a:extLst>
          </p:cNvPr>
          <p:cNvSpPr>
            <a:spLocks noGrp="1"/>
          </p:cNvSpPr>
          <p:nvPr>
            <p:ph type="sldNum" sz="quarter" idx="12"/>
          </p:nvPr>
        </p:nvSpPr>
        <p:spPr/>
        <p:txBody>
          <a:bodyPr/>
          <a:lstStyle/>
          <a:p>
            <a:fld id="{641C0F02-33DC-3A41-9F51-431B7FE03ABE}" type="slidenum">
              <a:rPr lang="en-US" smtClean="0"/>
              <a:t>116</a:t>
            </a:fld>
            <a:endParaRPr lang="en-US"/>
          </a:p>
        </p:txBody>
      </p:sp>
    </p:spTree>
    <p:extLst>
      <p:ext uri="{BB962C8B-B14F-4D97-AF65-F5344CB8AC3E}">
        <p14:creationId xmlns:p14="http://schemas.microsoft.com/office/powerpoint/2010/main" val="2780510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F22C-A45A-D941-9AF4-780B58FDA507}"/>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EDAE963B-E60B-E84B-8994-B1CB648415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0784" y="591428"/>
            <a:ext cx="6450431" cy="626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3F4E8F09-19CF-4E0A-8F7C-9845490F8D7F}"/>
              </a:ext>
            </a:extLst>
          </p:cNvPr>
          <p:cNvSpPr>
            <a:spLocks noGrp="1"/>
          </p:cNvSpPr>
          <p:nvPr>
            <p:ph type="sldNum" sz="quarter" idx="12"/>
          </p:nvPr>
        </p:nvSpPr>
        <p:spPr/>
        <p:txBody>
          <a:bodyPr/>
          <a:lstStyle/>
          <a:p>
            <a:fld id="{641C0F02-33DC-3A41-9F51-431B7FE03ABE}" type="slidenum">
              <a:rPr lang="en-US" smtClean="0"/>
              <a:t>117</a:t>
            </a:fld>
            <a:endParaRPr lang="en-US"/>
          </a:p>
        </p:txBody>
      </p:sp>
    </p:spTree>
    <p:extLst>
      <p:ext uri="{BB962C8B-B14F-4D97-AF65-F5344CB8AC3E}">
        <p14:creationId xmlns:p14="http://schemas.microsoft.com/office/powerpoint/2010/main" val="33749248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DDB30-930A-6647-84AC-1F1B38BC35FA}"/>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5728C41F-8081-224C-BF51-BB02998C2D4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17009" y="365125"/>
            <a:ext cx="6757982" cy="629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10EC9A37-000E-4766-882D-75A762A64D06}"/>
              </a:ext>
            </a:extLst>
          </p:cNvPr>
          <p:cNvSpPr>
            <a:spLocks noGrp="1"/>
          </p:cNvSpPr>
          <p:nvPr>
            <p:ph type="sldNum" sz="quarter" idx="12"/>
          </p:nvPr>
        </p:nvSpPr>
        <p:spPr/>
        <p:txBody>
          <a:bodyPr/>
          <a:lstStyle/>
          <a:p>
            <a:fld id="{641C0F02-33DC-3A41-9F51-431B7FE03ABE}" type="slidenum">
              <a:rPr lang="en-US" smtClean="0"/>
              <a:t>118</a:t>
            </a:fld>
            <a:endParaRPr lang="en-US"/>
          </a:p>
        </p:txBody>
      </p:sp>
    </p:spTree>
    <p:extLst>
      <p:ext uri="{BB962C8B-B14F-4D97-AF65-F5344CB8AC3E}">
        <p14:creationId xmlns:p14="http://schemas.microsoft.com/office/powerpoint/2010/main" val="36170090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EE82-FD53-614B-A470-FF9A1E77CF39}"/>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0A7F661F-DE7A-DE4C-B442-59BE580E0D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3373" y="302217"/>
            <a:ext cx="5928030" cy="5874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A080D32F-2C4C-4374-8AD4-A82D796E8B8C}"/>
              </a:ext>
            </a:extLst>
          </p:cNvPr>
          <p:cNvSpPr>
            <a:spLocks noGrp="1"/>
          </p:cNvSpPr>
          <p:nvPr>
            <p:ph type="sldNum" sz="quarter" idx="12"/>
          </p:nvPr>
        </p:nvSpPr>
        <p:spPr/>
        <p:txBody>
          <a:bodyPr/>
          <a:lstStyle/>
          <a:p>
            <a:fld id="{641C0F02-33DC-3A41-9F51-431B7FE03ABE}" type="slidenum">
              <a:rPr lang="en-US" smtClean="0"/>
              <a:t>119</a:t>
            </a:fld>
            <a:endParaRPr lang="en-US"/>
          </a:p>
        </p:txBody>
      </p:sp>
    </p:spTree>
    <p:extLst>
      <p:ext uri="{BB962C8B-B14F-4D97-AF65-F5344CB8AC3E}">
        <p14:creationId xmlns:p14="http://schemas.microsoft.com/office/powerpoint/2010/main" val="21075391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9B5A-2C8C-784D-9102-479F469B471F}"/>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0454370A-F30A-DC4B-B497-CCDB31D2DB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9037" y="654836"/>
            <a:ext cx="7579186" cy="570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8EF08AC9-60AD-4A7C-88D6-E25EA51B792C}"/>
              </a:ext>
            </a:extLst>
          </p:cNvPr>
          <p:cNvSpPr>
            <a:spLocks noGrp="1"/>
          </p:cNvSpPr>
          <p:nvPr>
            <p:ph type="sldNum" sz="quarter" idx="12"/>
          </p:nvPr>
        </p:nvSpPr>
        <p:spPr/>
        <p:txBody>
          <a:bodyPr/>
          <a:lstStyle/>
          <a:p>
            <a:fld id="{641C0F02-33DC-3A41-9F51-431B7FE03ABE}" type="slidenum">
              <a:rPr lang="en-US" smtClean="0"/>
              <a:t>120</a:t>
            </a:fld>
            <a:endParaRPr lang="en-US"/>
          </a:p>
        </p:txBody>
      </p:sp>
    </p:spTree>
    <p:extLst>
      <p:ext uri="{BB962C8B-B14F-4D97-AF65-F5344CB8AC3E}">
        <p14:creationId xmlns:p14="http://schemas.microsoft.com/office/powerpoint/2010/main" val="37745711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455A-9531-4D4C-98B6-1966A57A13E3}"/>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E8E4610C-5FD8-6B43-98E5-E68E79D0D3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5403" y="760752"/>
            <a:ext cx="6246056" cy="6097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DBCB10A2-8726-4DB0-B922-9F45FAF1F25D}"/>
              </a:ext>
            </a:extLst>
          </p:cNvPr>
          <p:cNvSpPr>
            <a:spLocks noGrp="1"/>
          </p:cNvSpPr>
          <p:nvPr>
            <p:ph type="sldNum" sz="quarter" idx="12"/>
          </p:nvPr>
        </p:nvSpPr>
        <p:spPr/>
        <p:txBody>
          <a:bodyPr/>
          <a:lstStyle/>
          <a:p>
            <a:fld id="{641C0F02-33DC-3A41-9F51-431B7FE03ABE}" type="slidenum">
              <a:rPr lang="en-US" smtClean="0"/>
              <a:t>121</a:t>
            </a:fld>
            <a:endParaRPr lang="en-US"/>
          </a:p>
        </p:txBody>
      </p:sp>
    </p:spTree>
    <p:extLst>
      <p:ext uri="{BB962C8B-B14F-4D97-AF65-F5344CB8AC3E}">
        <p14:creationId xmlns:p14="http://schemas.microsoft.com/office/powerpoint/2010/main" val="14675277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1E499-31B5-9E4D-BBD1-4CB437E67D3D}"/>
              </a:ext>
            </a:extLst>
          </p:cNvPr>
          <p:cNvSpPr>
            <a:spLocks noGrp="1"/>
          </p:cNvSpPr>
          <p:nvPr>
            <p:ph type="title"/>
          </p:nvPr>
        </p:nvSpPr>
        <p:spPr/>
        <p:txBody>
          <a:bodyPr/>
          <a:lstStyle/>
          <a:p>
            <a:r>
              <a:rPr lang="en-US"/>
              <a:t>Advanced Notation</a:t>
            </a:r>
          </a:p>
        </p:txBody>
      </p:sp>
      <p:pic>
        <p:nvPicPr>
          <p:cNvPr id="4" name="Picture 2">
            <a:extLst>
              <a:ext uri="{FF2B5EF4-FFF2-40B4-BE49-F238E27FC236}">
                <a16:creationId xmlns:a16="http://schemas.microsoft.com/office/drawing/2014/main" id="{CA4CF3B3-F6B7-9149-AC3F-D28C0BE031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0824" y="1253136"/>
            <a:ext cx="8058227" cy="52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7A87CB45-BFFE-464C-B712-753F74A9117E}"/>
              </a:ext>
            </a:extLst>
          </p:cNvPr>
          <p:cNvSpPr>
            <a:spLocks noGrp="1"/>
          </p:cNvSpPr>
          <p:nvPr>
            <p:ph type="sldNum" sz="quarter" idx="12"/>
          </p:nvPr>
        </p:nvSpPr>
        <p:spPr/>
        <p:txBody>
          <a:bodyPr/>
          <a:lstStyle/>
          <a:p>
            <a:fld id="{641C0F02-33DC-3A41-9F51-431B7FE03ABE}" type="slidenum">
              <a:rPr lang="en-US" smtClean="0"/>
              <a:t>122</a:t>
            </a:fld>
            <a:endParaRPr lang="en-US"/>
          </a:p>
        </p:txBody>
      </p:sp>
    </p:spTree>
    <p:extLst>
      <p:ext uri="{BB962C8B-B14F-4D97-AF65-F5344CB8AC3E}">
        <p14:creationId xmlns:p14="http://schemas.microsoft.com/office/powerpoint/2010/main" val="68162153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3" name="object 3"/>
          <p:cNvSpPr txBox="1">
            <a:spLocks noGrp="1"/>
          </p:cNvSpPr>
          <p:nvPr>
            <p:ph type="title"/>
          </p:nvPr>
        </p:nvSpPr>
        <p:spPr>
          <a:xfrm>
            <a:off x="238979" y="373021"/>
            <a:ext cx="6380041" cy="693780"/>
          </a:xfrm>
          <a:prstGeom prst="rect">
            <a:avLst/>
          </a:prstGeom>
        </p:spPr>
        <p:txBody>
          <a:bodyPr vert="horz" wrap="square" lIns="0" tIns="16510" rIns="0" bIns="0" rtlCol="0" anchor="ctr">
            <a:spAutoFit/>
          </a:bodyPr>
          <a:lstStyle/>
          <a:p>
            <a:pPr marL="12700">
              <a:lnSpc>
                <a:spcPct val="100000"/>
              </a:lnSpc>
              <a:spcBef>
                <a:spcPts val="130"/>
              </a:spcBef>
            </a:pPr>
            <a:r>
              <a:rPr lang="en-US" spc="5"/>
              <a:t>Weak Entity in</a:t>
            </a:r>
            <a:r>
              <a:rPr spc="-50"/>
              <a:t> </a:t>
            </a:r>
            <a:r>
              <a:rPr spc="5"/>
              <a:t>E/R</a:t>
            </a:r>
            <a:r>
              <a:rPr spc="-50"/>
              <a:t> </a:t>
            </a:r>
            <a:r>
              <a:rPr spc="-5"/>
              <a:t>Diagrams</a:t>
            </a:r>
          </a:p>
        </p:txBody>
      </p:sp>
      <p:sp>
        <p:nvSpPr>
          <p:cNvPr id="4" name="object 4"/>
          <p:cNvSpPr txBox="1"/>
          <p:nvPr/>
        </p:nvSpPr>
        <p:spPr>
          <a:xfrm>
            <a:off x="3505200" y="2743201"/>
            <a:ext cx="1143000" cy="556563"/>
          </a:xfrm>
          <a:prstGeom prst="rect">
            <a:avLst/>
          </a:prstGeom>
          <a:solidFill>
            <a:srgbClr val="4F81BD"/>
          </a:solidFill>
          <a:ln w="9525">
            <a:solidFill>
              <a:srgbClr val="000000"/>
            </a:solidFill>
          </a:ln>
        </p:spPr>
        <p:txBody>
          <a:bodyPr vert="horz" wrap="square" lIns="0" tIns="2540" rIns="0" bIns="0" rtlCol="0">
            <a:spAutoFit/>
          </a:bodyPr>
          <a:lstStyle/>
          <a:p>
            <a:pPr marL="243840"/>
            <a:r>
              <a:rPr lang="en-US">
                <a:latin typeface="Calibri"/>
                <a:cs typeface="Calibri"/>
              </a:rPr>
              <a:t>Player Weight</a:t>
            </a:r>
            <a:endParaRPr>
              <a:latin typeface="Calibri"/>
              <a:cs typeface="Calibri"/>
            </a:endParaRPr>
          </a:p>
        </p:txBody>
      </p:sp>
      <p:sp>
        <p:nvSpPr>
          <p:cNvPr id="5" name="object 5"/>
          <p:cNvSpPr/>
          <p:nvPr/>
        </p:nvSpPr>
        <p:spPr>
          <a:xfrm>
            <a:off x="7391400" y="2743200"/>
            <a:ext cx="1143000" cy="633507"/>
          </a:xfrm>
          <a:custGeom>
            <a:avLst/>
            <a:gdLst/>
            <a:ahLst/>
            <a:cxnLst/>
            <a:rect l="l" t="t" r="r" b="b"/>
            <a:pathLst>
              <a:path w="1143000" h="990600">
                <a:moveTo>
                  <a:pt x="1143000" y="0"/>
                </a:moveTo>
                <a:lnTo>
                  <a:pt x="0" y="0"/>
                </a:lnTo>
                <a:lnTo>
                  <a:pt x="0" y="990600"/>
                </a:lnTo>
                <a:lnTo>
                  <a:pt x="1143000" y="990600"/>
                </a:lnTo>
                <a:lnTo>
                  <a:pt x="1143000" y="0"/>
                </a:lnTo>
                <a:close/>
              </a:path>
            </a:pathLst>
          </a:custGeom>
          <a:solidFill>
            <a:srgbClr val="4F81BD"/>
          </a:solidFill>
        </p:spPr>
        <p:txBody>
          <a:bodyPr wrap="square" lIns="0" tIns="0" rIns="0" bIns="0" rtlCol="0"/>
          <a:lstStyle/>
          <a:p>
            <a:endParaRPr/>
          </a:p>
        </p:txBody>
      </p:sp>
      <p:sp>
        <p:nvSpPr>
          <p:cNvPr id="6" name="object 6"/>
          <p:cNvSpPr txBox="1"/>
          <p:nvPr/>
        </p:nvSpPr>
        <p:spPr>
          <a:xfrm>
            <a:off x="7391400" y="2743201"/>
            <a:ext cx="1143000" cy="556563"/>
          </a:xfrm>
          <a:prstGeom prst="rect">
            <a:avLst/>
          </a:prstGeom>
          <a:ln w="9525">
            <a:solidFill>
              <a:srgbClr val="000000"/>
            </a:solidFill>
          </a:ln>
        </p:spPr>
        <p:txBody>
          <a:bodyPr vert="horz" wrap="square" lIns="0" tIns="2540" rIns="0" bIns="0" rtlCol="0">
            <a:spAutoFit/>
          </a:bodyPr>
          <a:lstStyle/>
          <a:p>
            <a:pPr marL="278130"/>
            <a:endParaRPr lang="en-US" spc="-35">
              <a:latin typeface="Calibri"/>
              <a:cs typeface="Calibri"/>
            </a:endParaRPr>
          </a:p>
          <a:p>
            <a:pPr marL="278130"/>
            <a:r>
              <a:rPr lang="en-US" spc="-35">
                <a:latin typeface="Calibri"/>
                <a:cs typeface="Calibri"/>
              </a:rPr>
              <a:t>Player</a:t>
            </a:r>
            <a:endParaRPr>
              <a:latin typeface="Calibri"/>
              <a:cs typeface="Calibri"/>
            </a:endParaRPr>
          </a:p>
        </p:txBody>
      </p:sp>
      <p:grpSp>
        <p:nvGrpSpPr>
          <p:cNvPr id="7" name="object 7"/>
          <p:cNvGrpSpPr/>
          <p:nvPr/>
        </p:nvGrpSpPr>
        <p:grpSpPr>
          <a:xfrm>
            <a:off x="3429001" y="2667001"/>
            <a:ext cx="3352800" cy="1219200"/>
            <a:chOff x="1905000" y="2667000"/>
            <a:chExt cx="3352800" cy="1219200"/>
          </a:xfrm>
        </p:grpSpPr>
        <p:sp>
          <p:nvSpPr>
            <p:cNvPr id="8" name="object 8"/>
            <p:cNvSpPr/>
            <p:nvPr/>
          </p:nvSpPr>
          <p:spPr>
            <a:xfrm>
              <a:off x="1905000" y="2667000"/>
              <a:ext cx="1295400" cy="761998"/>
            </a:xfrm>
            <a:custGeom>
              <a:avLst/>
              <a:gdLst/>
              <a:ahLst/>
              <a:cxnLst/>
              <a:rect l="l" t="t" r="r" b="b"/>
              <a:pathLst>
                <a:path w="1295400" h="1143000">
                  <a:moveTo>
                    <a:pt x="0" y="0"/>
                  </a:moveTo>
                  <a:lnTo>
                    <a:pt x="1295400" y="0"/>
                  </a:lnTo>
                  <a:lnTo>
                    <a:pt x="1295400" y="1143000"/>
                  </a:lnTo>
                  <a:lnTo>
                    <a:pt x="0" y="1143000"/>
                  </a:lnTo>
                  <a:lnTo>
                    <a:pt x="0" y="0"/>
                  </a:lnTo>
                  <a:close/>
                </a:path>
              </a:pathLst>
            </a:custGeom>
            <a:ln w="9525">
              <a:solidFill>
                <a:srgbClr val="000000"/>
              </a:solidFill>
            </a:ln>
          </p:spPr>
          <p:txBody>
            <a:bodyPr wrap="square" lIns="0" tIns="0" rIns="0" bIns="0" rtlCol="0"/>
            <a:lstStyle/>
            <a:p>
              <a:endParaRPr/>
            </a:p>
          </p:txBody>
        </p:sp>
        <p:sp>
          <p:nvSpPr>
            <p:cNvPr id="9" name="object 9"/>
            <p:cNvSpPr/>
            <p:nvPr/>
          </p:nvSpPr>
          <p:spPr>
            <a:xfrm>
              <a:off x="3885404" y="2667000"/>
              <a:ext cx="1372395" cy="1219200"/>
            </a:xfrm>
            <a:custGeom>
              <a:avLst/>
              <a:gdLst/>
              <a:ahLst/>
              <a:cxnLst/>
              <a:rect l="l" t="t" r="r" b="b"/>
              <a:pathLst>
                <a:path w="1447800" h="1219200">
                  <a:moveTo>
                    <a:pt x="723900" y="0"/>
                  </a:moveTo>
                  <a:lnTo>
                    <a:pt x="0" y="609600"/>
                  </a:lnTo>
                  <a:lnTo>
                    <a:pt x="723900" y="1219200"/>
                  </a:lnTo>
                  <a:lnTo>
                    <a:pt x="1447800" y="609600"/>
                  </a:lnTo>
                  <a:lnTo>
                    <a:pt x="723900" y="0"/>
                  </a:lnTo>
                  <a:close/>
                </a:path>
              </a:pathLst>
            </a:custGeom>
            <a:solidFill>
              <a:srgbClr val="CC99FF"/>
            </a:solidFill>
          </p:spPr>
          <p:txBody>
            <a:bodyPr wrap="square" lIns="0" tIns="0" rIns="0" bIns="0" rtlCol="0"/>
            <a:lstStyle/>
            <a:p>
              <a:endParaRPr/>
            </a:p>
          </p:txBody>
        </p:sp>
        <p:sp>
          <p:nvSpPr>
            <p:cNvPr id="10" name="object 10"/>
            <p:cNvSpPr/>
            <p:nvPr/>
          </p:nvSpPr>
          <p:spPr>
            <a:xfrm>
              <a:off x="3810000" y="2667000"/>
              <a:ext cx="1447800" cy="1219200"/>
            </a:xfrm>
            <a:custGeom>
              <a:avLst/>
              <a:gdLst/>
              <a:ahLst/>
              <a:cxnLst/>
              <a:rect l="l" t="t" r="r" b="b"/>
              <a:pathLst>
                <a:path w="1447800" h="1219200">
                  <a:moveTo>
                    <a:pt x="0" y="609600"/>
                  </a:moveTo>
                  <a:lnTo>
                    <a:pt x="723900" y="0"/>
                  </a:lnTo>
                  <a:lnTo>
                    <a:pt x="1447800" y="609600"/>
                  </a:lnTo>
                  <a:lnTo>
                    <a:pt x="723900" y="1219200"/>
                  </a:lnTo>
                  <a:lnTo>
                    <a:pt x="0" y="609600"/>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6845300" y="2976032"/>
            <a:ext cx="558800" cy="299720"/>
          </a:xfrm>
          <a:prstGeom prst="rect">
            <a:avLst/>
          </a:prstGeom>
        </p:spPr>
        <p:txBody>
          <a:bodyPr vert="horz" wrap="square" lIns="0" tIns="12700" rIns="0" bIns="0" rtlCol="0">
            <a:spAutoFit/>
          </a:bodyPr>
          <a:lstStyle/>
          <a:p>
            <a:pPr marL="12700">
              <a:spcBef>
                <a:spcPts val="100"/>
              </a:spcBef>
              <a:tabLst>
                <a:tab pos="545465" algn="l"/>
              </a:tabLst>
            </a:pPr>
            <a:r>
              <a:rPr u="heavy">
                <a:uFill>
                  <a:solidFill>
                    <a:srgbClr val="4F81BD"/>
                  </a:solidFill>
                </a:uFill>
                <a:latin typeface="Times New Roman"/>
                <a:cs typeface="Times New Roman"/>
              </a:rPr>
              <a:t> 	</a:t>
            </a:r>
            <a:endParaRPr>
              <a:latin typeface="Times New Roman"/>
              <a:cs typeface="Times New Roman"/>
            </a:endParaRPr>
          </a:p>
        </p:txBody>
      </p:sp>
      <p:sp>
        <p:nvSpPr>
          <p:cNvPr id="12" name="object 12"/>
          <p:cNvSpPr txBox="1"/>
          <p:nvPr/>
        </p:nvSpPr>
        <p:spPr>
          <a:xfrm>
            <a:off x="5777707" y="2976032"/>
            <a:ext cx="560705" cy="579120"/>
          </a:xfrm>
          <a:prstGeom prst="rect">
            <a:avLst/>
          </a:prstGeom>
        </p:spPr>
        <p:txBody>
          <a:bodyPr vert="horz" wrap="square" lIns="0" tIns="6985" rIns="0" bIns="0" rtlCol="0">
            <a:spAutoFit/>
          </a:bodyPr>
          <a:lstStyle/>
          <a:p>
            <a:pPr marL="159385" marR="5080" indent="-147320">
              <a:lnSpc>
                <a:spcPct val="101899"/>
              </a:lnSpc>
              <a:spcBef>
                <a:spcPts val="55"/>
              </a:spcBef>
            </a:pPr>
            <a:r>
              <a:rPr spc="-5">
                <a:latin typeface="Calibri"/>
                <a:cs typeface="Calibri"/>
              </a:rPr>
              <a:t>P</a:t>
            </a:r>
            <a:r>
              <a:rPr>
                <a:latin typeface="Calibri"/>
                <a:cs typeface="Calibri"/>
              </a:rPr>
              <a:t>l</a:t>
            </a:r>
            <a:r>
              <a:rPr spc="-35">
                <a:latin typeface="Calibri"/>
                <a:cs typeface="Calibri"/>
              </a:rPr>
              <a:t>a</a:t>
            </a:r>
            <a:r>
              <a:rPr spc="-20">
                <a:latin typeface="Calibri"/>
                <a:cs typeface="Calibri"/>
              </a:rPr>
              <a:t>y</a:t>
            </a:r>
            <a:r>
              <a:rPr spc="-10">
                <a:latin typeface="Calibri"/>
                <a:cs typeface="Calibri"/>
              </a:rPr>
              <a:t>s</a:t>
            </a:r>
            <a:r>
              <a:rPr>
                <a:latin typeface="Calibri"/>
                <a:cs typeface="Calibri"/>
              </a:rPr>
              <a:t>-  on</a:t>
            </a:r>
          </a:p>
        </p:txBody>
      </p:sp>
      <p:grpSp>
        <p:nvGrpSpPr>
          <p:cNvPr id="13" name="object 13"/>
          <p:cNvGrpSpPr/>
          <p:nvPr/>
        </p:nvGrpSpPr>
        <p:grpSpPr>
          <a:xfrm>
            <a:off x="2349821" y="1905001"/>
            <a:ext cx="4508180" cy="2057400"/>
            <a:chOff x="825820" y="1905000"/>
            <a:chExt cx="4508180" cy="2057400"/>
          </a:xfrm>
        </p:grpSpPr>
        <p:sp>
          <p:nvSpPr>
            <p:cNvPr id="14" name="object 14"/>
            <p:cNvSpPr/>
            <p:nvPr/>
          </p:nvSpPr>
          <p:spPr>
            <a:xfrm>
              <a:off x="3733800" y="2590800"/>
              <a:ext cx="1600200" cy="1371600"/>
            </a:xfrm>
            <a:custGeom>
              <a:avLst/>
              <a:gdLst/>
              <a:ahLst/>
              <a:cxnLst/>
              <a:rect l="l" t="t" r="r" b="b"/>
              <a:pathLst>
                <a:path w="1600200" h="1371600">
                  <a:moveTo>
                    <a:pt x="0" y="685800"/>
                  </a:moveTo>
                  <a:lnTo>
                    <a:pt x="800100" y="0"/>
                  </a:lnTo>
                  <a:lnTo>
                    <a:pt x="1600200" y="685800"/>
                  </a:lnTo>
                  <a:lnTo>
                    <a:pt x="800100" y="1371600"/>
                  </a:lnTo>
                  <a:lnTo>
                    <a:pt x="0" y="685800"/>
                  </a:lnTo>
                  <a:close/>
                </a:path>
              </a:pathLst>
            </a:custGeom>
            <a:ln w="9525">
              <a:solidFill>
                <a:srgbClr val="000000"/>
              </a:solidFill>
            </a:ln>
          </p:spPr>
          <p:txBody>
            <a:bodyPr wrap="square" lIns="0" tIns="0" rIns="0" bIns="0" rtlCol="0"/>
            <a:lstStyle/>
            <a:p>
              <a:endParaRPr/>
            </a:p>
          </p:txBody>
        </p:sp>
        <p:sp>
          <p:nvSpPr>
            <p:cNvPr id="15" name="object 15"/>
            <p:cNvSpPr/>
            <p:nvPr/>
          </p:nvSpPr>
          <p:spPr>
            <a:xfrm>
              <a:off x="825820" y="1905000"/>
              <a:ext cx="1307780" cy="533400"/>
            </a:xfrm>
            <a:custGeom>
              <a:avLst/>
              <a:gdLst/>
              <a:ahLst/>
              <a:cxnLst/>
              <a:rect l="l" t="t" r="r" b="b"/>
              <a:pathLst>
                <a:path w="990600" h="533400">
                  <a:moveTo>
                    <a:pt x="495300" y="0"/>
                  </a:moveTo>
                  <a:lnTo>
                    <a:pt x="433170" y="2077"/>
                  </a:lnTo>
                  <a:lnTo>
                    <a:pt x="373344" y="8145"/>
                  </a:lnTo>
                  <a:lnTo>
                    <a:pt x="316284" y="17951"/>
                  </a:lnTo>
                  <a:lnTo>
                    <a:pt x="262457" y="31248"/>
                  </a:lnTo>
                  <a:lnTo>
                    <a:pt x="212324" y="47783"/>
                  </a:lnTo>
                  <a:lnTo>
                    <a:pt x="166351" y="67308"/>
                  </a:lnTo>
                  <a:lnTo>
                    <a:pt x="125002" y="89573"/>
                  </a:lnTo>
                  <a:lnTo>
                    <a:pt x="88741" y="114328"/>
                  </a:lnTo>
                  <a:lnTo>
                    <a:pt x="58032" y="141322"/>
                  </a:lnTo>
                  <a:lnTo>
                    <a:pt x="15126" y="201031"/>
                  </a:lnTo>
                  <a:lnTo>
                    <a:pt x="0" y="266700"/>
                  </a:lnTo>
                  <a:lnTo>
                    <a:pt x="3859" y="300154"/>
                  </a:lnTo>
                  <a:lnTo>
                    <a:pt x="33339" y="363092"/>
                  </a:lnTo>
                  <a:lnTo>
                    <a:pt x="88741" y="419071"/>
                  </a:lnTo>
                  <a:lnTo>
                    <a:pt x="125002" y="443826"/>
                  </a:lnTo>
                  <a:lnTo>
                    <a:pt x="166351" y="466091"/>
                  </a:lnTo>
                  <a:lnTo>
                    <a:pt x="212324" y="485616"/>
                  </a:lnTo>
                  <a:lnTo>
                    <a:pt x="262457" y="502151"/>
                  </a:lnTo>
                  <a:lnTo>
                    <a:pt x="316284" y="515448"/>
                  </a:lnTo>
                  <a:lnTo>
                    <a:pt x="373344" y="525254"/>
                  </a:lnTo>
                  <a:lnTo>
                    <a:pt x="433170" y="531322"/>
                  </a:lnTo>
                  <a:lnTo>
                    <a:pt x="495300" y="533400"/>
                  </a:lnTo>
                  <a:lnTo>
                    <a:pt x="557429" y="531322"/>
                  </a:lnTo>
                  <a:lnTo>
                    <a:pt x="617255" y="525254"/>
                  </a:lnTo>
                  <a:lnTo>
                    <a:pt x="674315" y="515448"/>
                  </a:lnTo>
                  <a:lnTo>
                    <a:pt x="728142" y="502151"/>
                  </a:lnTo>
                  <a:lnTo>
                    <a:pt x="778275" y="485616"/>
                  </a:lnTo>
                  <a:lnTo>
                    <a:pt x="824248" y="466091"/>
                  </a:lnTo>
                  <a:lnTo>
                    <a:pt x="865597" y="443826"/>
                  </a:lnTo>
                  <a:lnTo>
                    <a:pt x="901858" y="419071"/>
                  </a:lnTo>
                  <a:lnTo>
                    <a:pt x="932567" y="392077"/>
                  </a:lnTo>
                  <a:lnTo>
                    <a:pt x="975473" y="332368"/>
                  </a:lnTo>
                  <a:lnTo>
                    <a:pt x="990600" y="266700"/>
                  </a:lnTo>
                  <a:lnTo>
                    <a:pt x="986740" y="233245"/>
                  </a:lnTo>
                  <a:lnTo>
                    <a:pt x="957260" y="170307"/>
                  </a:lnTo>
                  <a:lnTo>
                    <a:pt x="901858" y="114328"/>
                  </a:lnTo>
                  <a:lnTo>
                    <a:pt x="865597" y="89573"/>
                  </a:lnTo>
                  <a:lnTo>
                    <a:pt x="824248" y="67308"/>
                  </a:lnTo>
                  <a:lnTo>
                    <a:pt x="778275" y="47783"/>
                  </a:lnTo>
                  <a:lnTo>
                    <a:pt x="728142" y="31248"/>
                  </a:lnTo>
                  <a:lnTo>
                    <a:pt x="674315" y="17951"/>
                  </a:lnTo>
                  <a:lnTo>
                    <a:pt x="617255" y="8145"/>
                  </a:lnTo>
                  <a:lnTo>
                    <a:pt x="557429" y="2077"/>
                  </a:lnTo>
                  <a:lnTo>
                    <a:pt x="495300" y="0"/>
                  </a:lnTo>
                  <a:close/>
                </a:path>
              </a:pathLst>
            </a:custGeom>
            <a:solidFill>
              <a:srgbClr val="FFFF99"/>
            </a:solidFill>
          </p:spPr>
          <p:txBody>
            <a:bodyPr wrap="square" lIns="0" tIns="0" rIns="0" bIns="0" rtlCol="0"/>
            <a:lstStyle/>
            <a:p>
              <a:endParaRPr/>
            </a:p>
          </p:txBody>
        </p:sp>
        <p:sp>
          <p:nvSpPr>
            <p:cNvPr id="16" name="object 16"/>
            <p:cNvSpPr/>
            <p:nvPr/>
          </p:nvSpPr>
          <p:spPr>
            <a:xfrm>
              <a:off x="838200" y="1905000"/>
              <a:ext cx="1295400" cy="533400"/>
            </a:xfrm>
            <a:custGeom>
              <a:avLst/>
              <a:gdLst/>
              <a:ahLst/>
              <a:cxnLst/>
              <a:rect l="l" t="t" r="r" b="b"/>
              <a:pathLst>
                <a:path w="990600" h="533400">
                  <a:moveTo>
                    <a:pt x="0" y="266700"/>
                  </a:moveTo>
                  <a:lnTo>
                    <a:pt x="15126" y="201031"/>
                  </a:lnTo>
                  <a:lnTo>
                    <a:pt x="58032" y="141322"/>
                  </a:lnTo>
                  <a:lnTo>
                    <a:pt x="88741" y="114328"/>
                  </a:lnTo>
                  <a:lnTo>
                    <a:pt x="125002" y="89573"/>
                  </a:lnTo>
                  <a:lnTo>
                    <a:pt x="166351" y="67308"/>
                  </a:lnTo>
                  <a:lnTo>
                    <a:pt x="212324" y="47783"/>
                  </a:lnTo>
                  <a:lnTo>
                    <a:pt x="262456" y="31248"/>
                  </a:lnTo>
                  <a:lnTo>
                    <a:pt x="316284" y="17951"/>
                  </a:lnTo>
                  <a:lnTo>
                    <a:pt x="373344" y="8145"/>
                  </a:lnTo>
                  <a:lnTo>
                    <a:pt x="433170" y="2077"/>
                  </a:lnTo>
                  <a:lnTo>
                    <a:pt x="495300" y="0"/>
                  </a:lnTo>
                  <a:lnTo>
                    <a:pt x="557429" y="2077"/>
                  </a:lnTo>
                  <a:lnTo>
                    <a:pt x="617255" y="8145"/>
                  </a:lnTo>
                  <a:lnTo>
                    <a:pt x="674315" y="17951"/>
                  </a:lnTo>
                  <a:lnTo>
                    <a:pt x="728143" y="31248"/>
                  </a:lnTo>
                  <a:lnTo>
                    <a:pt x="778275" y="47783"/>
                  </a:lnTo>
                  <a:lnTo>
                    <a:pt x="824248" y="67308"/>
                  </a:lnTo>
                  <a:lnTo>
                    <a:pt x="865597" y="89573"/>
                  </a:lnTo>
                  <a:lnTo>
                    <a:pt x="901858" y="114328"/>
                  </a:lnTo>
                  <a:lnTo>
                    <a:pt x="932567" y="141322"/>
                  </a:lnTo>
                  <a:lnTo>
                    <a:pt x="975473" y="201031"/>
                  </a:lnTo>
                  <a:lnTo>
                    <a:pt x="990600" y="266700"/>
                  </a:lnTo>
                  <a:lnTo>
                    <a:pt x="986740" y="300154"/>
                  </a:lnTo>
                  <a:lnTo>
                    <a:pt x="957260" y="363092"/>
                  </a:lnTo>
                  <a:lnTo>
                    <a:pt x="901858" y="419071"/>
                  </a:lnTo>
                  <a:lnTo>
                    <a:pt x="865597" y="443826"/>
                  </a:lnTo>
                  <a:lnTo>
                    <a:pt x="824248" y="466090"/>
                  </a:lnTo>
                  <a:lnTo>
                    <a:pt x="778275" y="485616"/>
                  </a:lnTo>
                  <a:lnTo>
                    <a:pt x="728143" y="502151"/>
                  </a:lnTo>
                  <a:lnTo>
                    <a:pt x="674315" y="515448"/>
                  </a:lnTo>
                  <a:lnTo>
                    <a:pt x="617255" y="525254"/>
                  </a:lnTo>
                  <a:lnTo>
                    <a:pt x="557429" y="531322"/>
                  </a:lnTo>
                  <a:lnTo>
                    <a:pt x="495300" y="533400"/>
                  </a:lnTo>
                  <a:lnTo>
                    <a:pt x="433170" y="531322"/>
                  </a:lnTo>
                  <a:lnTo>
                    <a:pt x="373344" y="525254"/>
                  </a:lnTo>
                  <a:lnTo>
                    <a:pt x="316284" y="515448"/>
                  </a:lnTo>
                  <a:lnTo>
                    <a:pt x="262456" y="502151"/>
                  </a:lnTo>
                  <a:lnTo>
                    <a:pt x="212324" y="485616"/>
                  </a:lnTo>
                  <a:lnTo>
                    <a:pt x="166351" y="466090"/>
                  </a:lnTo>
                  <a:lnTo>
                    <a:pt x="125002" y="443826"/>
                  </a:lnTo>
                  <a:lnTo>
                    <a:pt x="88741" y="419071"/>
                  </a:lnTo>
                  <a:lnTo>
                    <a:pt x="58032" y="392077"/>
                  </a:lnTo>
                  <a:lnTo>
                    <a:pt x="15126" y="332368"/>
                  </a:lnTo>
                  <a:lnTo>
                    <a:pt x="0" y="266700"/>
                  </a:lnTo>
                  <a:close/>
                </a:path>
              </a:pathLst>
            </a:custGeom>
            <a:ln w="9525">
              <a:solidFill>
                <a:srgbClr val="000000"/>
              </a:solidFill>
            </a:ln>
          </p:spPr>
          <p:txBody>
            <a:bodyPr wrap="square" lIns="0" tIns="0" rIns="0" bIns="0" rtlCol="0"/>
            <a:lstStyle/>
            <a:p>
              <a:endParaRPr/>
            </a:p>
          </p:txBody>
        </p:sp>
      </p:grpSp>
      <p:sp>
        <p:nvSpPr>
          <p:cNvPr id="17" name="object 17"/>
          <p:cNvSpPr txBox="1"/>
          <p:nvPr/>
        </p:nvSpPr>
        <p:spPr>
          <a:xfrm>
            <a:off x="2578100" y="1990068"/>
            <a:ext cx="859791" cy="289823"/>
          </a:xfrm>
          <a:prstGeom prst="rect">
            <a:avLst/>
          </a:prstGeom>
        </p:spPr>
        <p:txBody>
          <a:bodyPr vert="horz" wrap="square" lIns="0" tIns="12700" rIns="0" bIns="0" rtlCol="0">
            <a:spAutoFit/>
          </a:bodyPr>
          <a:lstStyle/>
          <a:p>
            <a:pPr marL="12700">
              <a:spcBef>
                <a:spcPts val="100"/>
              </a:spcBef>
            </a:pPr>
            <a:r>
              <a:rPr lang="en-US">
                <a:latin typeface="Calibri"/>
                <a:cs typeface="Calibri"/>
              </a:rPr>
              <a:t>weight</a:t>
            </a:r>
            <a:endParaRPr>
              <a:latin typeface="Calibri"/>
              <a:cs typeface="Calibri"/>
            </a:endParaRPr>
          </a:p>
        </p:txBody>
      </p:sp>
      <p:grpSp>
        <p:nvGrpSpPr>
          <p:cNvPr id="18" name="object 18"/>
          <p:cNvGrpSpPr/>
          <p:nvPr/>
        </p:nvGrpSpPr>
        <p:grpSpPr>
          <a:xfrm>
            <a:off x="7386638" y="1900238"/>
            <a:ext cx="1000125" cy="542925"/>
            <a:chOff x="5862637" y="1900237"/>
            <a:chExt cx="1000125" cy="542925"/>
          </a:xfrm>
        </p:grpSpPr>
        <p:sp>
          <p:nvSpPr>
            <p:cNvPr id="19" name="object 19"/>
            <p:cNvSpPr/>
            <p:nvPr/>
          </p:nvSpPr>
          <p:spPr>
            <a:xfrm>
              <a:off x="5867400" y="1905000"/>
              <a:ext cx="990600" cy="533400"/>
            </a:xfrm>
            <a:custGeom>
              <a:avLst/>
              <a:gdLst/>
              <a:ahLst/>
              <a:cxnLst/>
              <a:rect l="l" t="t" r="r" b="b"/>
              <a:pathLst>
                <a:path w="990600" h="533400">
                  <a:moveTo>
                    <a:pt x="495300" y="0"/>
                  </a:moveTo>
                  <a:lnTo>
                    <a:pt x="433170" y="2077"/>
                  </a:lnTo>
                  <a:lnTo>
                    <a:pt x="373344" y="8145"/>
                  </a:lnTo>
                  <a:lnTo>
                    <a:pt x="316284" y="17951"/>
                  </a:lnTo>
                  <a:lnTo>
                    <a:pt x="262457" y="31248"/>
                  </a:lnTo>
                  <a:lnTo>
                    <a:pt x="212324" y="47783"/>
                  </a:lnTo>
                  <a:lnTo>
                    <a:pt x="166351" y="67308"/>
                  </a:lnTo>
                  <a:lnTo>
                    <a:pt x="125002" y="89573"/>
                  </a:lnTo>
                  <a:lnTo>
                    <a:pt x="88741" y="114328"/>
                  </a:lnTo>
                  <a:lnTo>
                    <a:pt x="58032" y="141322"/>
                  </a:lnTo>
                  <a:lnTo>
                    <a:pt x="15126" y="201031"/>
                  </a:lnTo>
                  <a:lnTo>
                    <a:pt x="0" y="266700"/>
                  </a:lnTo>
                  <a:lnTo>
                    <a:pt x="3859" y="300154"/>
                  </a:lnTo>
                  <a:lnTo>
                    <a:pt x="33339" y="363092"/>
                  </a:lnTo>
                  <a:lnTo>
                    <a:pt x="88741" y="419071"/>
                  </a:lnTo>
                  <a:lnTo>
                    <a:pt x="125002" y="443826"/>
                  </a:lnTo>
                  <a:lnTo>
                    <a:pt x="166351" y="466091"/>
                  </a:lnTo>
                  <a:lnTo>
                    <a:pt x="212324" y="485616"/>
                  </a:lnTo>
                  <a:lnTo>
                    <a:pt x="262457" y="502151"/>
                  </a:lnTo>
                  <a:lnTo>
                    <a:pt x="316284" y="515448"/>
                  </a:lnTo>
                  <a:lnTo>
                    <a:pt x="373344" y="525254"/>
                  </a:lnTo>
                  <a:lnTo>
                    <a:pt x="433170" y="531322"/>
                  </a:lnTo>
                  <a:lnTo>
                    <a:pt x="495300" y="533400"/>
                  </a:lnTo>
                  <a:lnTo>
                    <a:pt x="557429" y="531322"/>
                  </a:lnTo>
                  <a:lnTo>
                    <a:pt x="617255" y="525254"/>
                  </a:lnTo>
                  <a:lnTo>
                    <a:pt x="674315" y="515448"/>
                  </a:lnTo>
                  <a:lnTo>
                    <a:pt x="728142" y="502151"/>
                  </a:lnTo>
                  <a:lnTo>
                    <a:pt x="778275" y="485616"/>
                  </a:lnTo>
                  <a:lnTo>
                    <a:pt x="824248" y="466091"/>
                  </a:lnTo>
                  <a:lnTo>
                    <a:pt x="865597" y="443826"/>
                  </a:lnTo>
                  <a:lnTo>
                    <a:pt x="901858" y="419071"/>
                  </a:lnTo>
                  <a:lnTo>
                    <a:pt x="932567" y="392077"/>
                  </a:lnTo>
                  <a:lnTo>
                    <a:pt x="975473" y="332368"/>
                  </a:lnTo>
                  <a:lnTo>
                    <a:pt x="990600" y="266700"/>
                  </a:lnTo>
                  <a:lnTo>
                    <a:pt x="986740" y="233245"/>
                  </a:lnTo>
                  <a:lnTo>
                    <a:pt x="957260" y="170307"/>
                  </a:lnTo>
                  <a:lnTo>
                    <a:pt x="901858" y="114328"/>
                  </a:lnTo>
                  <a:lnTo>
                    <a:pt x="865597" y="89573"/>
                  </a:lnTo>
                  <a:lnTo>
                    <a:pt x="824248" y="67308"/>
                  </a:lnTo>
                  <a:lnTo>
                    <a:pt x="778275" y="47783"/>
                  </a:lnTo>
                  <a:lnTo>
                    <a:pt x="728142" y="31248"/>
                  </a:lnTo>
                  <a:lnTo>
                    <a:pt x="674315" y="17951"/>
                  </a:lnTo>
                  <a:lnTo>
                    <a:pt x="617255" y="8145"/>
                  </a:lnTo>
                  <a:lnTo>
                    <a:pt x="557429" y="2077"/>
                  </a:lnTo>
                  <a:lnTo>
                    <a:pt x="495300" y="0"/>
                  </a:lnTo>
                  <a:close/>
                </a:path>
              </a:pathLst>
            </a:custGeom>
            <a:solidFill>
              <a:srgbClr val="FFFF99"/>
            </a:solidFill>
          </p:spPr>
          <p:txBody>
            <a:bodyPr wrap="square" lIns="0" tIns="0" rIns="0" bIns="0" rtlCol="0"/>
            <a:lstStyle/>
            <a:p>
              <a:endParaRPr/>
            </a:p>
          </p:txBody>
        </p:sp>
        <p:sp>
          <p:nvSpPr>
            <p:cNvPr id="20" name="object 20"/>
            <p:cNvSpPr/>
            <p:nvPr/>
          </p:nvSpPr>
          <p:spPr>
            <a:xfrm>
              <a:off x="5867400" y="1905000"/>
              <a:ext cx="990600" cy="533400"/>
            </a:xfrm>
            <a:custGeom>
              <a:avLst/>
              <a:gdLst/>
              <a:ahLst/>
              <a:cxnLst/>
              <a:rect l="l" t="t" r="r" b="b"/>
              <a:pathLst>
                <a:path w="990600" h="533400">
                  <a:moveTo>
                    <a:pt x="0" y="266700"/>
                  </a:moveTo>
                  <a:lnTo>
                    <a:pt x="15126" y="201031"/>
                  </a:lnTo>
                  <a:lnTo>
                    <a:pt x="58032" y="141322"/>
                  </a:lnTo>
                  <a:lnTo>
                    <a:pt x="88741" y="114328"/>
                  </a:lnTo>
                  <a:lnTo>
                    <a:pt x="125002" y="89573"/>
                  </a:lnTo>
                  <a:lnTo>
                    <a:pt x="166351" y="67308"/>
                  </a:lnTo>
                  <a:lnTo>
                    <a:pt x="212324" y="47783"/>
                  </a:lnTo>
                  <a:lnTo>
                    <a:pt x="262456" y="31248"/>
                  </a:lnTo>
                  <a:lnTo>
                    <a:pt x="316284" y="17951"/>
                  </a:lnTo>
                  <a:lnTo>
                    <a:pt x="373344" y="8145"/>
                  </a:lnTo>
                  <a:lnTo>
                    <a:pt x="433170" y="2077"/>
                  </a:lnTo>
                  <a:lnTo>
                    <a:pt x="495300" y="0"/>
                  </a:lnTo>
                  <a:lnTo>
                    <a:pt x="557429" y="2077"/>
                  </a:lnTo>
                  <a:lnTo>
                    <a:pt x="617255" y="8145"/>
                  </a:lnTo>
                  <a:lnTo>
                    <a:pt x="674315" y="17951"/>
                  </a:lnTo>
                  <a:lnTo>
                    <a:pt x="728143" y="31248"/>
                  </a:lnTo>
                  <a:lnTo>
                    <a:pt x="778275" y="47783"/>
                  </a:lnTo>
                  <a:lnTo>
                    <a:pt x="824248" y="67308"/>
                  </a:lnTo>
                  <a:lnTo>
                    <a:pt x="865597" y="89573"/>
                  </a:lnTo>
                  <a:lnTo>
                    <a:pt x="901858" y="114328"/>
                  </a:lnTo>
                  <a:lnTo>
                    <a:pt x="932567" y="141322"/>
                  </a:lnTo>
                  <a:lnTo>
                    <a:pt x="975473" y="201031"/>
                  </a:lnTo>
                  <a:lnTo>
                    <a:pt x="990600" y="266700"/>
                  </a:lnTo>
                  <a:lnTo>
                    <a:pt x="986740" y="300154"/>
                  </a:lnTo>
                  <a:lnTo>
                    <a:pt x="957260" y="363092"/>
                  </a:lnTo>
                  <a:lnTo>
                    <a:pt x="901858" y="419071"/>
                  </a:lnTo>
                  <a:lnTo>
                    <a:pt x="865597" y="443826"/>
                  </a:lnTo>
                  <a:lnTo>
                    <a:pt x="824248" y="466090"/>
                  </a:lnTo>
                  <a:lnTo>
                    <a:pt x="778275" y="485616"/>
                  </a:lnTo>
                  <a:lnTo>
                    <a:pt x="728143" y="502151"/>
                  </a:lnTo>
                  <a:lnTo>
                    <a:pt x="674315" y="515448"/>
                  </a:lnTo>
                  <a:lnTo>
                    <a:pt x="617255" y="525254"/>
                  </a:lnTo>
                  <a:lnTo>
                    <a:pt x="557429" y="531322"/>
                  </a:lnTo>
                  <a:lnTo>
                    <a:pt x="495300" y="533400"/>
                  </a:lnTo>
                  <a:lnTo>
                    <a:pt x="433170" y="531322"/>
                  </a:lnTo>
                  <a:lnTo>
                    <a:pt x="373344" y="525254"/>
                  </a:lnTo>
                  <a:lnTo>
                    <a:pt x="316284" y="515448"/>
                  </a:lnTo>
                  <a:lnTo>
                    <a:pt x="262456" y="502151"/>
                  </a:lnTo>
                  <a:lnTo>
                    <a:pt x="212324" y="485616"/>
                  </a:lnTo>
                  <a:lnTo>
                    <a:pt x="166351" y="466090"/>
                  </a:lnTo>
                  <a:lnTo>
                    <a:pt x="125002" y="443826"/>
                  </a:lnTo>
                  <a:lnTo>
                    <a:pt x="88741" y="419071"/>
                  </a:lnTo>
                  <a:lnTo>
                    <a:pt x="58032" y="392077"/>
                  </a:lnTo>
                  <a:lnTo>
                    <a:pt x="15126" y="332368"/>
                  </a:lnTo>
                  <a:lnTo>
                    <a:pt x="0" y="266700"/>
                  </a:lnTo>
                  <a:close/>
                </a:path>
              </a:pathLst>
            </a:custGeom>
            <a:ln w="9525">
              <a:solidFill>
                <a:srgbClr val="000000"/>
              </a:solidFill>
            </a:ln>
          </p:spPr>
          <p:txBody>
            <a:bodyPr wrap="square" lIns="0" tIns="0" rIns="0" bIns="0" rtlCol="0"/>
            <a:lstStyle/>
            <a:p>
              <a:endParaRPr/>
            </a:p>
          </p:txBody>
        </p:sp>
      </p:grpSp>
      <p:sp>
        <p:nvSpPr>
          <p:cNvPr id="21" name="object 21"/>
          <p:cNvSpPr txBox="1"/>
          <p:nvPr/>
        </p:nvSpPr>
        <p:spPr>
          <a:xfrm>
            <a:off x="7610476" y="2002366"/>
            <a:ext cx="551815" cy="299720"/>
          </a:xfrm>
          <a:prstGeom prst="rect">
            <a:avLst/>
          </a:prstGeom>
        </p:spPr>
        <p:txBody>
          <a:bodyPr vert="horz" wrap="square" lIns="0" tIns="12700" rIns="0" bIns="0" rtlCol="0">
            <a:spAutoFit/>
          </a:bodyPr>
          <a:lstStyle/>
          <a:p>
            <a:pPr marL="12700">
              <a:spcBef>
                <a:spcPts val="100"/>
              </a:spcBef>
            </a:pPr>
            <a:r>
              <a:rPr u="heavy">
                <a:uFill>
                  <a:solidFill>
                    <a:srgbClr val="000000"/>
                  </a:solidFill>
                </a:uFill>
                <a:latin typeface="Calibri"/>
                <a:cs typeface="Calibri"/>
              </a:rPr>
              <a:t>n</a:t>
            </a:r>
            <a:r>
              <a:rPr u="heavy" spc="-5">
                <a:uFill>
                  <a:solidFill>
                    <a:srgbClr val="000000"/>
                  </a:solidFill>
                </a:uFill>
                <a:latin typeface="Calibri"/>
                <a:cs typeface="Calibri"/>
              </a:rPr>
              <a:t>am</a:t>
            </a:r>
            <a:r>
              <a:rPr u="heavy">
                <a:uFill>
                  <a:solidFill>
                    <a:srgbClr val="000000"/>
                  </a:solidFill>
                </a:uFill>
                <a:latin typeface="Calibri"/>
                <a:cs typeface="Calibri"/>
              </a:rPr>
              <a:t>e</a:t>
            </a:r>
            <a:endParaRPr>
              <a:latin typeface="Calibri"/>
              <a:cs typeface="Calibri"/>
            </a:endParaRPr>
          </a:p>
        </p:txBody>
      </p:sp>
      <p:grpSp>
        <p:nvGrpSpPr>
          <p:cNvPr id="22" name="object 22"/>
          <p:cNvGrpSpPr/>
          <p:nvPr/>
        </p:nvGrpSpPr>
        <p:grpSpPr>
          <a:xfrm>
            <a:off x="4033838" y="1900238"/>
            <a:ext cx="1304925" cy="542925"/>
            <a:chOff x="2509837" y="1900237"/>
            <a:chExt cx="1304925" cy="542925"/>
          </a:xfrm>
        </p:grpSpPr>
        <p:sp>
          <p:nvSpPr>
            <p:cNvPr id="23" name="object 23"/>
            <p:cNvSpPr/>
            <p:nvPr/>
          </p:nvSpPr>
          <p:spPr>
            <a:xfrm>
              <a:off x="2514600" y="1905000"/>
              <a:ext cx="1295400" cy="533400"/>
            </a:xfrm>
            <a:custGeom>
              <a:avLst/>
              <a:gdLst/>
              <a:ahLst/>
              <a:cxnLst/>
              <a:rect l="l" t="t" r="r" b="b"/>
              <a:pathLst>
                <a:path w="1295400" h="533400">
                  <a:moveTo>
                    <a:pt x="647700" y="0"/>
                  </a:moveTo>
                  <a:lnTo>
                    <a:pt x="581476" y="1376"/>
                  </a:lnTo>
                  <a:lnTo>
                    <a:pt x="517165" y="5418"/>
                  </a:lnTo>
                  <a:lnTo>
                    <a:pt x="455093" y="11990"/>
                  </a:lnTo>
                  <a:lnTo>
                    <a:pt x="395586" y="20958"/>
                  </a:lnTo>
                  <a:lnTo>
                    <a:pt x="338967" y="32189"/>
                  </a:lnTo>
                  <a:lnTo>
                    <a:pt x="285564" y="45548"/>
                  </a:lnTo>
                  <a:lnTo>
                    <a:pt x="235702" y="60901"/>
                  </a:lnTo>
                  <a:lnTo>
                    <a:pt x="189707" y="78114"/>
                  </a:lnTo>
                  <a:lnTo>
                    <a:pt x="147903" y="97053"/>
                  </a:lnTo>
                  <a:lnTo>
                    <a:pt x="110617" y="117585"/>
                  </a:lnTo>
                  <a:lnTo>
                    <a:pt x="78173" y="139574"/>
                  </a:lnTo>
                  <a:lnTo>
                    <a:pt x="29119" y="187391"/>
                  </a:lnTo>
                  <a:lnTo>
                    <a:pt x="3344" y="239431"/>
                  </a:lnTo>
                  <a:lnTo>
                    <a:pt x="0" y="266700"/>
                  </a:lnTo>
                  <a:lnTo>
                    <a:pt x="3344" y="293968"/>
                  </a:lnTo>
                  <a:lnTo>
                    <a:pt x="29119" y="346008"/>
                  </a:lnTo>
                  <a:lnTo>
                    <a:pt x="78173" y="393825"/>
                  </a:lnTo>
                  <a:lnTo>
                    <a:pt x="110617" y="415814"/>
                  </a:lnTo>
                  <a:lnTo>
                    <a:pt x="147903" y="436346"/>
                  </a:lnTo>
                  <a:lnTo>
                    <a:pt x="189707" y="455285"/>
                  </a:lnTo>
                  <a:lnTo>
                    <a:pt x="235702" y="472498"/>
                  </a:lnTo>
                  <a:lnTo>
                    <a:pt x="285564" y="487851"/>
                  </a:lnTo>
                  <a:lnTo>
                    <a:pt x="338967" y="501210"/>
                  </a:lnTo>
                  <a:lnTo>
                    <a:pt x="395586" y="512441"/>
                  </a:lnTo>
                  <a:lnTo>
                    <a:pt x="455093" y="521409"/>
                  </a:lnTo>
                  <a:lnTo>
                    <a:pt x="517165" y="527981"/>
                  </a:lnTo>
                  <a:lnTo>
                    <a:pt x="581476" y="532023"/>
                  </a:lnTo>
                  <a:lnTo>
                    <a:pt x="647700" y="533400"/>
                  </a:lnTo>
                  <a:lnTo>
                    <a:pt x="713923" y="532023"/>
                  </a:lnTo>
                  <a:lnTo>
                    <a:pt x="778234" y="527981"/>
                  </a:lnTo>
                  <a:lnTo>
                    <a:pt x="840306" y="521409"/>
                  </a:lnTo>
                  <a:lnTo>
                    <a:pt x="899813" y="512441"/>
                  </a:lnTo>
                  <a:lnTo>
                    <a:pt x="956432" y="501210"/>
                  </a:lnTo>
                  <a:lnTo>
                    <a:pt x="1009835" y="487851"/>
                  </a:lnTo>
                  <a:lnTo>
                    <a:pt x="1059697" y="472498"/>
                  </a:lnTo>
                  <a:lnTo>
                    <a:pt x="1105692" y="455285"/>
                  </a:lnTo>
                  <a:lnTo>
                    <a:pt x="1147496" y="436346"/>
                  </a:lnTo>
                  <a:lnTo>
                    <a:pt x="1184782" y="415814"/>
                  </a:lnTo>
                  <a:lnTo>
                    <a:pt x="1217226" y="393825"/>
                  </a:lnTo>
                  <a:lnTo>
                    <a:pt x="1266280" y="346008"/>
                  </a:lnTo>
                  <a:lnTo>
                    <a:pt x="1292055" y="293968"/>
                  </a:lnTo>
                  <a:lnTo>
                    <a:pt x="1295400" y="266700"/>
                  </a:lnTo>
                  <a:lnTo>
                    <a:pt x="1292055" y="239431"/>
                  </a:lnTo>
                  <a:lnTo>
                    <a:pt x="1266280" y="187391"/>
                  </a:lnTo>
                  <a:lnTo>
                    <a:pt x="1217226" y="139574"/>
                  </a:lnTo>
                  <a:lnTo>
                    <a:pt x="1184782" y="117585"/>
                  </a:lnTo>
                  <a:lnTo>
                    <a:pt x="1147496" y="97053"/>
                  </a:lnTo>
                  <a:lnTo>
                    <a:pt x="1105692" y="78114"/>
                  </a:lnTo>
                  <a:lnTo>
                    <a:pt x="1059697" y="60901"/>
                  </a:lnTo>
                  <a:lnTo>
                    <a:pt x="1009835" y="45548"/>
                  </a:lnTo>
                  <a:lnTo>
                    <a:pt x="956432" y="32189"/>
                  </a:lnTo>
                  <a:lnTo>
                    <a:pt x="899813" y="20958"/>
                  </a:lnTo>
                  <a:lnTo>
                    <a:pt x="840306" y="11990"/>
                  </a:lnTo>
                  <a:lnTo>
                    <a:pt x="778234" y="5418"/>
                  </a:lnTo>
                  <a:lnTo>
                    <a:pt x="713923" y="1376"/>
                  </a:lnTo>
                  <a:lnTo>
                    <a:pt x="647700" y="0"/>
                  </a:lnTo>
                  <a:close/>
                </a:path>
              </a:pathLst>
            </a:custGeom>
            <a:solidFill>
              <a:srgbClr val="FFFF99"/>
            </a:solidFill>
          </p:spPr>
          <p:txBody>
            <a:bodyPr wrap="square" lIns="0" tIns="0" rIns="0" bIns="0" rtlCol="0"/>
            <a:lstStyle/>
            <a:p>
              <a:endParaRPr/>
            </a:p>
          </p:txBody>
        </p:sp>
        <p:sp>
          <p:nvSpPr>
            <p:cNvPr id="24" name="object 24"/>
            <p:cNvSpPr/>
            <p:nvPr/>
          </p:nvSpPr>
          <p:spPr>
            <a:xfrm>
              <a:off x="2514600" y="1905000"/>
              <a:ext cx="1295400" cy="533400"/>
            </a:xfrm>
            <a:custGeom>
              <a:avLst/>
              <a:gdLst/>
              <a:ahLst/>
              <a:cxnLst/>
              <a:rect l="l" t="t" r="r" b="b"/>
              <a:pathLst>
                <a:path w="1295400" h="533400">
                  <a:moveTo>
                    <a:pt x="0" y="266700"/>
                  </a:moveTo>
                  <a:lnTo>
                    <a:pt x="13158" y="212950"/>
                  </a:lnTo>
                  <a:lnTo>
                    <a:pt x="50899" y="162888"/>
                  </a:lnTo>
                  <a:lnTo>
                    <a:pt x="110616" y="117585"/>
                  </a:lnTo>
                  <a:lnTo>
                    <a:pt x="147903" y="97054"/>
                  </a:lnTo>
                  <a:lnTo>
                    <a:pt x="189706" y="78114"/>
                  </a:lnTo>
                  <a:lnTo>
                    <a:pt x="235702" y="60901"/>
                  </a:lnTo>
                  <a:lnTo>
                    <a:pt x="285564" y="45548"/>
                  </a:lnTo>
                  <a:lnTo>
                    <a:pt x="338967" y="32189"/>
                  </a:lnTo>
                  <a:lnTo>
                    <a:pt x="395585" y="20958"/>
                  </a:lnTo>
                  <a:lnTo>
                    <a:pt x="455093" y="11990"/>
                  </a:lnTo>
                  <a:lnTo>
                    <a:pt x="517165" y="5418"/>
                  </a:lnTo>
                  <a:lnTo>
                    <a:pt x="581476" y="1376"/>
                  </a:lnTo>
                  <a:lnTo>
                    <a:pt x="647700" y="0"/>
                  </a:lnTo>
                  <a:lnTo>
                    <a:pt x="713923" y="1376"/>
                  </a:lnTo>
                  <a:lnTo>
                    <a:pt x="778234" y="5418"/>
                  </a:lnTo>
                  <a:lnTo>
                    <a:pt x="840306" y="11990"/>
                  </a:lnTo>
                  <a:lnTo>
                    <a:pt x="899814" y="20958"/>
                  </a:lnTo>
                  <a:lnTo>
                    <a:pt x="956432" y="32189"/>
                  </a:lnTo>
                  <a:lnTo>
                    <a:pt x="1009835" y="45548"/>
                  </a:lnTo>
                  <a:lnTo>
                    <a:pt x="1059697" y="60901"/>
                  </a:lnTo>
                  <a:lnTo>
                    <a:pt x="1105693" y="78114"/>
                  </a:lnTo>
                  <a:lnTo>
                    <a:pt x="1147496" y="97054"/>
                  </a:lnTo>
                  <a:lnTo>
                    <a:pt x="1184783" y="117585"/>
                  </a:lnTo>
                  <a:lnTo>
                    <a:pt x="1217226" y="139574"/>
                  </a:lnTo>
                  <a:lnTo>
                    <a:pt x="1266280" y="187391"/>
                  </a:lnTo>
                  <a:lnTo>
                    <a:pt x="1292056" y="239431"/>
                  </a:lnTo>
                  <a:lnTo>
                    <a:pt x="1295400" y="266700"/>
                  </a:lnTo>
                  <a:lnTo>
                    <a:pt x="1292056" y="293968"/>
                  </a:lnTo>
                  <a:lnTo>
                    <a:pt x="1266280" y="346008"/>
                  </a:lnTo>
                  <a:lnTo>
                    <a:pt x="1217226" y="393825"/>
                  </a:lnTo>
                  <a:lnTo>
                    <a:pt x="1184783" y="415814"/>
                  </a:lnTo>
                  <a:lnTo>
                    <a:pt x="1147496" y="436345"/>
                  </a:lnTo>
                  <a:lnTo>
                    <a:pt x="1105693" y="455285"/>
                  </a:lnTo>
                  <a:lnTo>
                    <a:pt x="1059697" y="472498"/>
                  </a:lnTo>
                  <a:lnTo>
                    <a:pt x="1009835" y="487851"/>
                  </a:lnTo>
                  <a:lnTo>
                    <a:pt x="956432" y="501210"/>
                  </a:lnTo>
                  <a:lnTo>
                    <a:pt x="899814" y="512441"/>
                  </a:lnTo>
                  <a:lnTo>
                    <a:pt x="840306" y="521409"/>
                  </a:lnTo>
                  <a:lnTo>
                    <a:pt x="778234" y="527981"/>
                  </a:lnTo>
                  <a:lnTo>
                    <a:pt x="713923" y="532023"/>
                  </a:lnTo>
                  <a:lnTo>
                    <a:pt x="647700" y="533400"/>
                  </a:lnTo>
                  <a:lnTo>
                    <a:pt x="581476" y="532023"/>
                  </a:lnTo>
                  <a:lnTo>
                    <a:pt x="517165" y="527981"/>
                  </a:lnTo>
                  <a:lnTo>
                    <a:pt x="455093" y="521409"/>
                  </a:lnTo>
                  <a:lnTo>
                    <a:pt x="395585" y="512441"/>
                  </a:lnTo>
                  <a:lnTo>
                    <a:pt x="338967" y="501210"/>
                  </a:lnTo>
                  <a:lnTo>
                    <a:pt x="285564" y="487851"/>
                  </a:lnTo>
                  <a:lnTo>
                    <a:pt x="235702" y="472498"/>
                  </a:lnTo>
                  <a:lnTo>
                    <a:pt x="189706" y="455285"/>
                  </a:lnTo>
                  <a:lnTo>
                    <a:pt x="147903" y="436345"/>
                  </a:lnTo>
                  <a:lnTo>
                    <a:pt x="110616" y="415814"/>
                  </a:lnTo>
                  <a:lnTo>
                    <a:pt x="78173" y="393825"/>
                  </a:lnTo>
                  <a:lnTo>
                    <a:pt x="29119" y="346008"/>
                  </a:lnTo>
                  <a:lnTo>
                    <a:pt x="3344" y="293968"/>
                  </a:lnTo>
                  <a:lnTo>
                    <a:pt x="0" y="266700"/>
                  </a:lnTo>
                  <a:close/>
                </a:path>
              </a:pathLst>
            </a:custGeom>
            <a:ln w="9525">
              <a:solidFill>
                <a:srgbClr val="000000"/>
              </a:solidFill>
            </a:ln>
          </p:spPr>
          <p:txBody>
            <a:bodyPr wrap="square" lIns="0" tIns="0" rIns="0" bIns="0" rtlCol="0"/>
            <a:lstStyle/>
            <a:p>
              <a:endParaRPr/>
            </a:p>
          </p:txBody>
        </p:sp>
      </p:grpSp>
      <p:sp>
        <p:nvSpPr>
          <p:cNvPr id="25" name="object 25"/>
          <p:cNvSpPr txBox="1"/>
          <p:nvPr/>
        </p:nvSpPr>
        <p:spPr>
          <a:xfrm>
            <a:off x="4189093" y="1913628"/>
            <a:ext cx="1132208" cy="289823"/>
          </a:xfrm>
          <a:prstGeom prst="rect">
            <a:avLst/>
          </a:prstGeom>
        </p:spPr>
        <p:txBody>
          <a:bodyPr vert="horz" wrap="square" lIns="0" tIns="12700" rIns="0" bIns="0" rtlCol="0">
            <a:spAutoFit/>
          </a:bodyPr>
          <a:lstStyle/>
          <a:p>
            <a:pPr marL="12700">
              <a:spcBef>
                <a:spcPts val="100"/>
              </a:spcBef>
            </a:pPr>
            <a:r>
              <a:rPr lang="en-US" spc="-5">
                <a:uFill>
                  <a:solidFill>
                    <a:srgbClr val="000000"/>
                  </a:solidFill>
                </a:uFill>
                <a:latin typeface="Calibri"/>
                <a:cs typeface="Calibri"/>
              </a:rPr>
              <a:t>Time</a:t>
            </a:r>
            <a:r>
              <a:rPr lang="en-US" u="heavy" spc="-5">
                <a:uFill>
                  <a:solidFill>
                    <a:srgbClr val="000000"/>
                  </a:solidFill>
                </a:uFill>
                <a:latin typeface="Calibri"/>
                <a:cs typeface="Calibri"/>
              </a:rPr>
              <a:t> </a:t>
            </a:r>
            <a:r>
              <a:rPr lang="en-US" spc="-5">
                <a:uFill>
                  <a:solidFill>
                    <a:srgbClr val="000000"/>
                  </a:solidFill>
                </a:uFill>
                <a:latin typeface="Calibri"/>
                <a:cs typeface="Calibri"/>
              </a:rPr>
              <a:t>Period</a:t>
            </a:r>
            <a:endParaRPr>
              <a:latin typeface="Calibri"/>
              <a:cs typeface="Calibri"/>
            </a:endParaRPr>
          </a:p>
        </p:txBody>
      </p:sp>
      <p:grpSp>
        <p:nvGrpSpPr>
          <p:cNvPr id="26" name="object 26"/>
          <p:cNvGrpSpPr/>
          <p:nvPr/>
        </p:nvGrpSpPr>
        <p:grpSpPr>
          <a:xfrm>
            <a:off x="3195637" y="2433638"/>
            <a:ext cx="2062480" cy="847725"/>
            <a:chOff x="1671637" y="2433637"/>
            <a:chExt cx="2062480" cy="847725"/>
          </a:xfrm>
        </p:grpSpPr>
        <p:sp>
          <p:nvSpPr>
            <p:cNvPr id="27" name="object 27"/>
            <p:cNvSpPr/>
            <p:nvPr/>
          </p:nvSpPr>
          <p:spPr>
            <a:xfrm>
              <a:off x="3200400" y="3276600"/>
              <a:ext cx="533400" cy="0"/>
            </a:xfrm>
            <a:custGeom>
              <a:avLst/>
              <a:gdLst/>
              <a:ahLst/>
              <a:cxnLst/>
              <a:rect l="l" t="t" r="r" b="b"/>
              <a:pathLst>
                <a:path w="533400">
                  <a:moveTo>
                    <a:pt x="0" y="0"/>
                  </a:moveTo>
                  <a:lnTo>
                    <a:pt x="533400" y="1"/>
                  </a:lnTo>
                </a:path>
              </a:pathLst>
            </a:custGeom>
            <a:ln w="50800">
              <a:solidFill>
                <a:srgbClr val="000000"/>
              </a:solidFill>
            </a:ln>
          </p:spPr>
          <p:txBody>
            <a:bodyPr wrap="square" lIns="0" tIns="0" rIns="0" bIns="0" rtlCol="0"/>
            <a:lstStyle/>
            <a:p>
              <a:endParaRPr/>
            </a:p>
          </p:txBody>
        </p:sp>
        <p:sp>
          <p:nvSpPr>
            <p:cNvPr id="28" name="object 28"/>
            <p:cNvSpPr/>
            <p:nvPr/>
          </p:nvSpPr>
          <p:spPr>
            <a:xfrm>
              <a:off x="1676400" y="2438400"/>
              <a:ext cx="228600" cy="228600"/>
            </a:xfrm>
            <a:custGeom>
              <a:avLst/>
              <a:gdLst/>
              <a:ahLst/>
              <a:cxnLst/>
              <a:rect l="l" t="t" r="r" b="b"/>
              <a:pathLst>
                <a:path w="228600" h="228600">
                  <a:moveTo>
                    <a:pt x="0" y="0"/>
                  </a:moveTo>
                  <a:lnTo>
                    <a:pt x="228600" y="228600"/>
                  </a:lnTo>
                </a:path>
              </a:pathLst>
            </a:custGeom>
            <a:ln w="9525">
              <a:solidFill>
                <a:srgbClr val="000000"/>
              </a:solidFill>
            </a:ln>
          </p:spPr>
          <p:txBody>
            <a:bodyPr wrap="square" lIns="0" tIns="0" rIns="0" bIns="0" rtlCol="0"/>
            <a:lstStyle/>
            <a:p>
              <a:endParaRPr/>
            </a:p>
          </p:txBody>
        </p:sp>
        <p:sp>
          <p:nvSpPr>
            <p:cNvPr id="29" name="object 29"/>
            <p:cNvSpPr/>
            <p:nvPr/>
          </p:nvSpPr>
          <p:spPr>
            <a:xfrm>
              <a:off x="2819400" y="2438400"/>
              <a:ext cx="381000" cy="228600"/>
            </a:xfrm>
            <a:custGeom>
              <a:avLst/>
              <a:gdLst/>
              <a:ahLst/>
              <a:cxnLst/>
              <a:rect l="l" t="t" r="r" b="b"/>
              <a:pathLst>
                <a:path w="381000" h="228600">
                  <a:moveTo>
                    <a:pt x="381000" y="0"/>
                  </a:moveTo>
                  <a:lnTo>
                    <a:pt x="0" y="228600"/>
                  </a:lnTo>
                </a:path>
              </a:pathLst>
            </a:custGeom>
            <a:ln w="9525">
              <a:solidFill>
                <a:srgbClr val="000000"/>
              </a:solidFill>
            </a:ln>
          </p:spPr>
          <p:txBody>
            <a:bodyPr wrap="square" lIns="0" tIns="0" rIns="0" bIns="0" rtlCol="0"/>
            <a:lstStyle/>
            <a:p>
              <a:endParaRPr/>
            </a:p>
          </p:txBody>
        </p:sp>
      </p:grpSp>
      <p:sp>
        <p:nvSpPr>
          <p:cNvPr id="30" name="object 30"/>
          <p:cNvSpPr/>
          <p:nvPr/>
        </p:nvSpPr>
        <p:spPr>
          <a:xfrm>
            <a:off x="7924800" y="2438400"/>
            <a:ext cx="0" cy="304800"/>
          </a:xfrm>
          <a:custGeom>
            <a:avLst/>
            <a:gdLst/>
            <a:ahLst/>
            <a:cxnLst/>
            <a:rect l="l" t="t" r="r" b="b"/>
            <a:pathLst>
              <a:path h="304800">
                <a:moveTo>
                  <a:pt x="0" y="0"/>
                </a:moveTo>
                <a:lnTo>
                  <a:pt x="1" y="304800"/>
                </a:lnTo>
              </a:path>
            </a:pathLst>
          </a:custGeom>
          <a:ln w="9525">
            <a:solidFill>
              <a:srgbClr val="000000"/>
            </a:solidFill>
          </a:ln>
        </p:spPr>
        <p:txBody>
          <a:bodyPr wrap="square" lIns="0" tIns="0" rIns="0" bIns="0" rtlCol="0"/>
          <a:lstStyle/>
          <a:p>
            <a:endParaRPr/>
          </a:p>
        </p:txBody>
      </p:sp>
      <p:sp>
        <p:nvSpPr>
          <p:cNvPr id="31" name="object 31"/>
          <p:cNvSpPr txBox="1"/>
          <p:nvPr/>
        </p:nvSpPr>
        <p:spPr>
          <a:xfrm>
            <a:off x="2136141" y="5346699"/>
            <a:ext cx="6974205" cy="579120"/>
          </a:xfrm>
          <a:prstGeom prst="rect">
            <a:avLst/>
          </a:prstGeom>
        </p:spPr>
        <p:txBody>
          <a:bodyPr vert="horz" wrap="square" lIns="0" tIns="12700" rIns="0" bIns="0" rtlCol="0">
            <a:spAutoFit/>
          </a:bodyPr>
          <a:lstStyle/>
          <a:p>
            <a:pPr marL="179070" indent="-167005">
              <a:spcBef>
                <a:spcPts val="100"/>
              </a:spcBef>
              <a:buChar char="•"/>
              <a:tabLst>
                <a:tab pos="179705" algn="l"/>
              </a:tabLst>
            </a:pPr>
            <a:r>
              <a:rPr>
                <a:latin typeface="Calibri"/>
                <a:cs typeface="Calibri"/>
              </a:rPr>
              <a:t>Double</a:t>
            </a:r>
            <a:r>
              <a:rPr spc="10">
                <a:latin typeface="Calibri"/>
                <a:cs typeface="Calibri"/>
              </a:rPr>
              <a:t> </a:t>
            </a:r>
            <a:r>
              <a:rPr spc="-5">
                <a:latin typeface="Calibri"/>
                <a:cs typeface="Calibri"/>
              </a:rPr>
              <a:t>diamond</a:t>
            </a:r>
            <a:r>
              <a:rPr spc="10">
                <a:latin typeface="Calibri"/>
                <a:cs typeface="Calibri"/>
              </a:rPr>
              <a:t> </a:t>
            </a:r>
            <a:r>
              <a:rPr spc="-15">
                <a:latin typeface="Calibri"/>
                <a:cs typeface="Calibri"/>
              </a:rPr>
              <a:t>for</a:t>
            </a:r>
            <a:r>
              <a:rPr spc="5">
                <a:latin typeface="Calibri"/>
                <a:cs typeface="Calibri"/>
              </a:rPr>
              <a:t> </a:t>
            </a:r>
            <a:r>
              <a:rPr i="1" spc="-5">
                <a:solidFill>
                  <a:srgbClr val="FF0066"/>
                </a:solidFill>
                <a:latin typeface="Calibri"/>
                <a:cs typeface="Calibri"/>
              </a:rPr>
              <a:t>supporting</a:t>
            </a:r>
            <a:r>
              <a:rPr i="1" spc="425">
                <a:solidFill>
                  <a:srgbClr val="FF0066"/>
                </a:solidFill>
                <a:latin typeface="Calibri"/>
                <a:cs typeface="Calibri"/>
              </a:rPr>
              <a:t> </a:t>
            </a:r>
            <a:r>
              <a:rPr spc="-15">
                <a:latin typeface="Calibri"/>
                <a:cs typeface="Calibri"/>
              </a:rPr>
              <a:t>many-one</a:t>
            </a:r>
            <a:r>
              <a:rPr spc="10">
                <a:latin typeface="Calibri"/>
                <a:cs typeface="Calibri"/>
              </a:rPr>
              <a:t> </a:t>
            </a:r>
            <a:r>
              <a:rPr spc="-10">
                <a:latin typeface="Calibri"/>
                <a:cs typeface="Calibri"/>
              </a:rPr>
              <a:t>relationship</a:t>
            </a:r>
            <a:r>
              <a:rPr spc="10">
                <a:latin typeface="Calibri"/>
                <a:cs typeface="Calibri"/>
              </a:rPr>
              <a:t> </a:t>
            </a:r>
            <a:r>
              <a:rPr spc="-5">
                <a:latin typeface="Calibri"/>
                <a:cs typeface="Calibri"/>
              </a:rPr>
              <a:t>with</a:t>
            </a:r>
            <a:r>
              <a:rPr spc="10">
                <a:latin typeface="Calibri"/>
                <a:cs typeface="Calibri"/>
              </a:rPr>
              <a:t> </a:t>
            </a:r>
            <a:r>
              <a:rPr spc="-20">
                <a:latin typeface="Calibri"/>
                <a:cs typeface="Calibri"/>
              </a:rPr>
              <a:t>Weak</a:t>
            </a:r>
            <a:r>
              <a:rPr spc="-5">
                <a:latin typeface="Calibri"/>
                <a:cs typeface="Calibri"/>
              </a:rPr>
              <a:t> </a:t>
            </a:r>
            <a:r>
              <a:rPr spc="-25">
                <a:latin typeface="Calibri"/>
                <a:cs typeface="Calibri"/>
              </a:rPr>
              <a:t>Entity.</a:t>
            </a:r>
            <a:endParaRPr>
              <a:latin typeface="Calibri"/>
              <a:cs typeface="Calibri"/>
            </a:endParaRPr>
          </a:p>
          <a:p>
            <a:pPr marL="179070" indent="-167005">
              <a:spcBef>
                <a:spcPts val="40"/>
              </a:spcBef>
              <a:buChar char="•"/>
              <a:tabLst>
                <a:tab pos="179705" algn="l"/>
              </a:tabLst>
            </a:pPr>
            <a:r>
              <a:rPr>
                <a:latin typeface="Calibri"/>
                <a:cs typeface="Calibri"/>
              </a:rPr>
              <a:t>Double </a:t>
            </a:r>
            <a:r>
              <a:rPr spc="-10">
                <a:latin typeface="Calibri"/>
                <a:cs typeface="Calibri"/>
              </a:rPr>
              <a:t>rectangle</a:t>
            </a:r>
            <a:r>
              <a:rPr spc="5">
                <a:latin typeface="Calibri"/>
                <a:cs typeface="Calibri"/>
              </a:rPr>
              <a:t> </a:t>
            </a:r>
            <a:r>
              <a:rPr spc="-15">
                <a:latin typeface="Calibri"/>
                <a:cs typeface="Calibri"/>
              </a:rPr>
              <a:t>for</a:t>
            </a:r>
            <a:r>
              <a:rPr spc="-10">
                <a:latin typeface="Calibri"/>
                <a:cs typeface="Calibri"/>
              </a:rPr>
              <a:t> </a:t>
            </a:r>
            <a:r>
              <a:rPr spc="-5">
                <a:latin typeface="Calibri"/>
                <a:cs typeface="Calibri"/>
              </a:rPr>
              <a:t>the</a:t>
            </a:r>
            <a:r>
              <a:rPr>
                <a:latin typeface="Calibri"/>
                <a:cs typeface="Calibri"/>
              </a:rPr>
              <a:t> </a:t>
            </a:r>
            <a:r>
              <a:rPr spc="-5">
                <a:latin typeface="Calibri"/>
                <a:cs typeface="Calibri"/>
              </a:rPr>
              <a:t>weak</a:t>
            </a:r>
            <a:r>
              <a:rPr spc="-10">
                <a:latin typeface="Calibri"/>
                <a:cs typeface="Calibri"/>
              </a:rPr>
              <a:t> </a:t>
            </a:r>
            <a:r>
              <a:rPr spc="-5">
                <a:latin typeface="Calibri"/>
                <a:cs typeface="Calibri"/>
              </a:rPr>
              <a:t>entity</a:t>
            </a:r>
            <a:r>
              <a:rPr spc="-10">
                <a:latin typeface="Calibri"/>
                <a:cs typeface="Calibri"/>
              </a:rPr>
              <a:t> </a:t>
            </a:r>
            <a:r>
              <a:rPr spc="-5">
                <a:latin typeface="Calibri"/>
                <a:cs typeface="Calibri"/>
              </a:rPr>
              <a:t>set.</a:t>
            </a:r>
            <a:endParaRPr>
              <a:latin typeface="Calibri"/>
              <a:cs typeface="Calibri"/>
            </a:endParaRPr>
          </a:p>
        </p:txBody>
      </p:sp>
      <p:sp>
        <p:nvSpPr>
          <p:cNvPr id="33" name="object 27">
            <a:extLst>
              <a:ext uri="{FF2B5EF4-FFF2-40B4-BE49-F238E27FC236}">
                <a16:creationId xmlns:a16="http://schemas.microsoft.com/office/drawing/2014/main" id="{4A8D0212-5DE3-9941-3B02-D54E0E0C9B53}"/>
              </a:ext>
            </a:extLst>
          </p:cNvPr>
          <p:cNvSpPr/>
          <p:nvPr/>
        </p:nvSpPr>
        <p:spPr>
          <a:xfrm flipV="1">
            <a:off x="4724400" y="3080173"/>
            <a:ext cx="685004" cy="45719"/>
          </a:xfrm>
          <a:custGeom>
            <a:avLst/>
            <a:gdLst/>
            <a:ahLst/>
            <a:cxnLst/>
            <a:rect l="l" t="t" r="r" b="b"/>
            <a:pathLst>
              <a:path w="533400">
                <a:moveTo>
                  <a:pt x="0" y="0"/>
                </a:moveTo>
                <a:lnTo>
                  <a:pt x="533400" y="1"/>
                </a:lnTo>
              </a:path>
            </a:pathLst>
          </a:custGeom>
          <a:ln w="57150">
            <a:solidFill>
              <a:srgbClr val="000000"/>
            </a:solidFill>
          </a:ln>
        </p:spPr>
        <p:txBody>
          <a:bodyPr wrap="square" lIns="0" tIns="0" rIns="0" bIns="0" rtlCol="0"/>
          <a:lstStyle/>
          <a:p>
            <a:endParaRPr/>
          </a:p>
        </p:txBody>
      </p:sp>
      <p:cxnSp>
        <p:nvCxnSpPr>
          <p:cNvPr id="35" name="Straight Connector 34">
            <a:extLst>
              <a:ext uri="{FF2B5EF4-FFF2-40B4-BE49-F238E27FC236}">
                <a16:creationId xmlns:a16="http://schemas.microsoft.com/office/drawing/2014/main" id="{C89233C6-065B-67AB-23C3-41E1940C7A6B}"/>
              </a:ext>
            </a:extLst>
          </p:cNvPr>
          <p:cNvCxnSpPr>
            <a:cxnSpLocks/>
          </p:cNvCxnSpPr>
          <p:nvPr/>
        </p:nvCxnSpPr>
        <p:spPr>
          <a:xfrm>
            <a:off x="4286250" y="2267191"/>
            <a:ext cx="876300" cy="0"/>
          </a:xfrm>
          <a:prstGeom prst="line">
            <a:avLst/>
          </a:prstGeom>
          <a:ln w="34925">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7B9D7645-711F-435C-BF72-327B66FED2B0}"/>
              </a:ext>
            </a:extLst>
          </p:cNvPr>
          <p:cNvSpPr>
            <a:spLocks noGrp="1"/>
          </p:cNvSpPr>
          <p:nvPr>
            <p:ph type="sldNum" sz="quarter" idx="12"/>
          </p:nvPr>
        </p:nvSpPr>
        <p:spPr/>
        <p:txBody>
          <a:bodyPr/>
          <a:lstStyle/>
          <a:p>
            <a:fld id="{641C0F02-33DC-3A41-9F51-431B7FE03ABE}" type="slidenum">
              <a:rPr lang="en-US" smtClean="0"/>
              <a:t>123</a:t>
            </a:fld>
            <a:endParaRPr lang="en-US"/>
          </a:p>
        </p:txBody>
      </p:sp>
    </p:spTree>
    <p:extLst>
      <p:ext uri="{BB962C8B-B14F-4D97-AF65-F5344CB8AC3E}">
        <p14:creationId xmlns:p14="http://schemas.microsoft.com/office/powerpoint/2010/main" val="846037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71D-4636-FD4D-8D8B-FA449436579E}"/>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a:t>ERD Problems</a:t>
            </a:r>
          </a:p>
        </p:txBody>
      </p:sp>
      <p:sp>
        <p:nvSpPr>
          <p:cNvPr id="3" name="Slide Number Placeholder 2">
            <a:extLst>
              <a:ext uri="{FF2B5EF4-FFF2-40B4-BE49-F238E27FC236}">
                <a16:creationId xmlns:a16="http://schemas.microsoft.com/office/drawing/2014/main" id="{F196D1C3-3AEF-4748-B6BD-AD1688AAEAE5}"/>
              </a:ext>
            </a:extLst>
          </p:cNvPr>
          <p:cNvSpPr>
            <a:spLocks noGrp="1"/>
          </p:cNvSpPr>
          <p:nvPr>
            <p:ph type="sldNum" sz="quarter" idx="12"/>
          </p:nvPr>
        </p:nvSpPr>
        <p:spPr/>
        <p:txBody>
          <a:bodyPr/>
          <a:lstStyle/>
          <a:p>
            <a:fld id="{641C0F02-33DC-3A41-9F51-431B7FE03ABE}" type="slidenum">
              <a:rPr lang="en-US" smtClean="0"/>
              <a:t>124</a:t>
            </a:fld>
            <a:endParaRPr lang="en-US"/>
          </a:p>
        </p:txBody>
      </p:sp>
    </p:spTree>
    <p:extLst>
      <p:ext uri="{BB962C8B-B14F-4D97-AF65-F5344CB8AC3E}">
        <p14:creationId xmlns:p14="http://schemas.microsoft.com/office/powerpoint/2010/main" val="4057297678"/>
      </p:ext>
    </p:extLst>
  </p:cSld>
  <p:clrMapOvr>
    <a:overrideClrMapping bg1="dk1" tx1="lt1" bg2="dk2" tx2="lt2" accent1="accent1" accent2="accent2" accent3="accent3" accent4="accent4" accent5="accent5" accent6="accent6" hlink="hlink" folHlink="folHlink"/>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87EAD-F3A3-4046-A9F3-89420B8AF3C7}"/>
              </a:ext>
            </a:extLst>
          </p:cNvPr>
          <p:cNvSpPr>
            <a:spLocks noGrp="1"/>
          </p:cNvSpPr>
          <p:nvPr>
            <p:ph type="title"/>
          </p:nvPr>
        </p:nvSpPr>
        <p:spPr>
          <a:xfrm>
            <a:off x="613632" y="373466"/>
            <a:ext cx="10515600" cy="1325563"/>
          </a:xfrm>
        </p:spPr>
        <p:txBody>
          <a:bodyPr/>
          <a:lstStyle/>
          <a:p>
            <a:r>
              <a:rPr lang="en-US" b="1"/>
              <a:t>Congress</a:t>
            </a:r>
          </a:p>
        </p:txBody>
      </p:sp>
      <p:sp>
        <p:nvSpPr>
          <p:cNvPr id="3" name="Content Placeholder 2">
            <a:extLst>
              <a:ext uri="{FF2B5EF4-FFF2-40B4-BE49-F238E27FC236}">
                <a16:creationId xmlns:a16="http://schemas.microsoft.com/office/drawing/2014/main" id="{CE3555BA-3A42-E74B-BF0D-2385D45C3327}"/>
              </a:ext>
            </a:extLst>
          </p:cNvPr>
          <p:cNvSpPr>
            <a:spLocks noGrp="1"/>
          </p:cNvSpPr>
          <p:nvPr>
            <p:ph idx="1"/>
          </p:nvPr>
        </p:nvSpPr>
        <p:spPr>
          <a:xfrm>
            <a:off x="771698" y="1704109"/>
            <a:ext cx="10515600" cy="4780425"/>
          </a:xfrm>
        </p:spPr>
        <p:txBody>
          <a:bodyPr>
            <a:normAutofit fontScale="77500" lnSpcReduction="20000"/>
          </a:bodyPr>
          <a:lstStyle/>
          <a:p>
            <a:r>
              <a:rPr lang="en-US"/>
              <a:t>Design an ER schema for keeping track of information about votes taken in the U.S. House of Representatives during the current two-year congressional session. </a:t>
            </a:r>
          </a:p>
          <a:p>
            <a:r>
              <a:rPr lang="en-US"/>
              <a:t>The database needs to keep track of each U.S. </a:t>
            </a:r>
            <a:r>
              <a:rPr lang="en-US" b="1"/>
              <a:t>STATEs</a:t>
            </a:r>
            <a:r>
              <a:rPr lang="en-US"/>
              <a:t> Name (e.g., Texas, New York, California) and include the Region of the state(whose domain is Northeast, Midwest, Southeast, Southwest, West). </a:t>
            </a:r>
          </a:p>
          <a:p>
            <a:r>
              <a:rPr lang="en-US"/>
              <a:t>Each </a:t>
            </a:r>
            <a:r>
              <a:rPr lang="en-US" b="1"/>
              <a:t>CONGRESSPERSON</a:t>
            </a:r>
            <a:r>
              <a:rPr lang="en-US"/>
              <a:t> in the House of Representatives is described by his or her Name, plus the District represented, the Start date when the congressperson was first elected, and the political Party to which he or she belongs (whose domain is Republican, Democrat, Independent, Other). </a:t>
            </a:r>
          </a:p>
          <a:p>
            <a:r>
              <a:rPr lang="en-US"/>
              <a:t>The database keeps track of each </a:t>
            </a:r>
            <a:r>
              <a:rPr lang="en-US" b="1"/>
              <a:t>BILL</a:t>
            </a:r>
            <a:r>
              <a:rPr lang="en-US"/>
              <a:t> (i.e., proposed law), including the Bill name, the Date of vote on the bill, whether the bill Passed or failed (whose domain is Yes, No), and the Sponsor (the congressperson(s) who </a:t>
            </a:r>
            <a:r>
              <a:rPr lang="en-US" i="1"/>
              <a:t>sponsored</a:t>
            </a:r>
            <a:r>
              <a:rPr lang="en-US"/>
              <a:t> that is, proposed the bill). </a:t>
            </a:r>
          </a:p>
          <a:p>
            <a:r>
              <a:rPr lang="en-US"/>
              <a:t>The database also keeps track of how each congressperson voted on each bill (domain of Vote attribute is Yes, No, Abstain, Absent). </a:t>
            </a:r>
          </a:p>
          <a:p>
            <a:r>
              <a:rPr lang="en-US"/>
              <a:t>Draw an ER schema diagram for this application. State clearly any assumptions you make</a:t>
            </a:r>
          </a:p>
          <a:p>
            <a:endParaRPr lang="en-US"/>
          </a:p>
        </p:txBody>
      </p:sp>
      <p:sp>
        <p:nvSpPr>
          <p:cNvPr id="4" name="Slide Number Placeholder 3">
            <a:extLst>
              <a:ext uri="{FF2B5EF4-FFF2-40B4-BE49-F238E27FC236}">
                <a16:creationId xmlns:a16="http://schemas.microsoft.com/office/drawing/2014/main" id="{5359606F-AE65-4292-BF7D-16F4CF3F1B7A}"/>
              </a:ext>
            </a:extLst>
          </p:cNvPr>
          <p:cNvSpPr>
            <a:spLocks noGrp="1"/>
          </p:cNvSpPr>
          <p:nvPr>
            <p:ph type="sldNum" sz="quarter" idx="12"/>
          </p:nvPr>
        </p:nvSpPr>
        <p:spPr/>
        <p:txBody>
          <a:bodyPr/>
          <a:lstStyle/>
          <a:p>
            <a:fld id="{641C0F02-33DC-3A41-9F51-431B7FE03ABE}" type="slidenum">
              <a:rPr lang="en-US" smtClean="0"/>
              <a:t>125</a:t>
            </a:fld>
            <a:endParaRPr lang="en-US"/>
          </a:p>
        </p:txBody>
      </p:sp>
    </p:spTree>
    <p:extLst>
      <p:ext uri="{BB962C8B-B14F-4D97-AF65-F5344CB8AC3E}">
        <p14:creationId xmlns:p14="http://schemas.microsoft.com/office/powerpoint/2010/main" val="80886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6926-B85A-604A-B7FA-AC1BCD0783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BEB1D1-7704-D54E-9195-328E293152B9}"/>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6C10A0A9-3FA1-4BF4-8E5C-16EA4DF13C3D}"/>
              </a:ext>
            </a:extLst>
          </p:cNvPr>
          <p:cNvSpPr>
            <a:spLocks noGrp="1"/>
          </p:cNvSpPr>
          <p:nvPr>
            <p:ph type="sldNum" sz="quarter" idx="12"/>
          </p:nvPr>
        </p:nvSpPr>
        <p:spPr/>
        <p:txBody>
          <a:bodyPr/>
          <a:lstStyle/>
          <a:p>
            <a:fld id="{641C0F02-33DC-3A41-9F51-431B7FE03ABE}" type="slidenum">
              <a:rPr lang="en-US" smtClean="0"/>
              <a:t>126</a:t>
            </a:fld>
            <a:endParaRPr lang="en-US"/>
          </a:p>
        </p:txBody>
      </p:sp>
      <p:pic>
        <p:nvPicPr>
          <p:cNvPr id="6" name="Picture 5">
            <a:extLst>
              <a:ext uri="{FF2B5EF4-FFF2-40B4-BE49-F238E27FC236}">
                <a16:creationId xmlns:a16="http://schemas.microsoft.com/office/drawing/2014/main" id="{808E0F86-425B-482E-ABE6-8D64AF33DB19}"/>
              </a:ext>
            </a:extLst>
          </p:cNvPr>
          <p:cNvPicPr/>
          <p:nvPr/>
        </p:nvPicPr>
        <p:blipFill>
          <a:blip r:embed="rId2"/>
          <a:stretch>
            <a:fillRect/>
          </a:stretch>
        </p:blipFill>
        <p:spPr>
          <a:xfrm>
            <a:off x="2156919" y="1686968"/>
            <a:ext cx="7737230" cy="3618767"/>
          </a:xfrm>
          <a:prstGeom prst="rect">
            <a:avLst/>
          </a:prstGeom>
        </p:spPr>
      </p:pic>
      <p:sp>
        <p:nvSpPr>
          <p:cNvPr id="8" name="TextBox 7">
            <a:extLst>
              <a:ext uri="{FF2B5EF4-FFF2-40B4-BE49-F238E27FC236}">
                <a16:creationId xmlns:a16="http://schemas.microsoft.com/office/drawing/2014/main" id="{3AB7B696-F3C2-4AC6-98E1-2C77F51B6B22}"/>
              </a:ext>
            </a:extLst>
          </p:cNvPr>
          <p:cNvSpPr txBox="1"/>
          <p:nvPr/>
        </p:nvSpPr>
        <p:spPr>
          <a:xfrm>
            <a:off x="1667696" y="5105622"/>
            <a:ext cx="7596554" cy="923330"/>
          </a:xfrm>
          <a:prstGeom prst="rect">
            <a:avLst/>
          </a:prstGeom>
          <a:noFill/>
        </p:spPr>
        <p:txBody>
          <a:bodyPr wrap="square">
            <a:spAutoFit/>
          </a:bodyPr>
          <a:lstStyle/>
          <a:p>
            <a:r>
              <a:rPr lang="en-US" sz="1800" b="1" u="sng">
                <a:effectLst/>
                <a:latin typeface="Calibri" panose="020F0502020204030204" pitchFamily="34" charset="0"/>
                <a:ea typeface="Calibri" panose="020F0502020204030204" pitchFamily="34" charset="0"/>
              </a:rPr>
              <a:t>Diagram https://www.tldraw.com/r/12YKkWcscWMT87vOHgE_b?d=v0.0.1920.919.page</a:t>
            </a:r>
            <a:endParaRPr lang="en-US"/>
          </a:p>
        </p:txBody>
      </p:sp>
      <p:sp>
        <p:nvSpPr>
          <p:cNvPr id="7" name="TextBox 6">
            <a:extLst>
              <a:ext uri="{FF2B5EF4-FFF2-40B4-BE49-F238E27FC236}">
                <a16:creationId xmlns:a16="http://schemas.microsoft.com/office/drawing/2014/main" id="{CBABA797-7D42-192B-5F24-F05A675C377A}"/>
              </a:ext>
            </a:extLst>
          </p:cNvPr>
          <p:cNvSpPr txBox="1"/>
          <p:nvPr/>
        </p:nvSpPr>
        <p:spPr>
          <a:xfrm>
            <a:off x="3047586" y="5891712"/>
            <a:ext cx="73886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CREATE TABLE statements </a:t>
            </a:r>
            <a:endParaRPr lang="en-US" dirty="0"/>
          </a:p>
          <a:p>
            <a:r>
              <a:rPr lang="en-US" dirty="0">
                <a:ea typeface="+mn-lt"/>
                <a:cs typeface="+mn-lt"/>
              </a:rPr>
              <a:t>https://www.tldraw.com/f/t15jFtJli7Q8_gv-EZ3PD?d=v0.-200.1655.910.page</a:t>
            </a:r>
            <a:endParaRPr lang="en-US"/>
          </a:p>
        </p:txBody>
      </p:sp>
    </p:spTree>
    <p:extLst>
      <p:ext uri="{BB962C8B-B14F-4D97-AF65-F5344CB8AC3E}">
        <p14:creationId xmlns:p14="http://schemas.microsoft.com/office/powerpoint/2010/main" val="29626295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6631-5BA0-AB4D-B08F-6DF1335638E7}"/>
              </a:ext>
            </a:extLst>
          </p:cNvPr>
          <p:cNvSpPr>
            <a:spLocks noGrp="1"/>
          </p:cNvSpPr>
          <p:nvPr>
            <p:ph type="title"/>
          </p:nvPr>
        </p:nvSpPr>
        <p:spPr>
          <a:xfrm>
            <a:off x="177800" y="-233600"/>
            <a:ext cx="10515600" cy="1325563"/>
          </a:xfrm>
        </p:spPr>
        <p:txBody>
          <a:bodyPr/>
          <a:lstStyle/>
          <a:p>
            <a:r>
              <a:rPr lang="en-US"/>
              <a:t>Problem 2</a:t>
            </a:r>
          </a:p>
        </p:txBody>
      </p:sp>
      <p:sp>
        <p:nvSpPr>
          <p:cNvPr id="3" name="Content Placeholder 2">
            <a:extLst>
              <a:ext uri="{FF2B5EF4-FFF2-40B4-BE49-F238E27FC236}">
                <a16:creationId xmlns:a16="http://schemas.microsoft.com/office/drawing/2014/main" id="{D1EF2D79-B631-3F49-9C31-3930D08B21AA}"/>
              </a:ext>
            </a:extLst>
          </p:cNvPr>
          <p:cNvSpPr>
            <a:spLocks noGrp="1"/>
          </p:cNvSpPr>
          <p:nvPr>
            <p:ph idx="1"/>
          </p:nvPr>
        </p:nvSpPr>
        <p:spPr>
          <a:xfrm>
            <a:off x="-1" y="766689"/>
            <a:ext cx="11549575" cy="5324622"/>
          </a:xfrm>
        </p:spPr>
        <p:txBody>
          <a:bodyPr vert="horz" lIns="91440" tIns="45720" rIns="91440" bIns="45720" rtlCol="0" anchor="t">
            <a:noAutofit/>
          </a:bodyPr>
          <a:lstStyle/>
          <a:p>
            <a:r>
              <a:rPr lang="en-US" sz="1600" dirty="0"/>
              <a:t>You have just been hired as a consultant by the local airport. Impressed by your background in databases, they want you to completely redesign their database system. Your first task is to organize the information about all the airplanes stationed and maintained at the airport. The relevant information is as follows:</a:t>
            </a:r>
          </a:p>
          <a:p>
            <a:r>
              <a:rPr lang="en-US" sz="1600" dirty="0"/>
              <a:t>Every airplane has a registration number, and each airplane is of a specific model.</a:t>
            </a:r>
            <a:endParaRPr lang="en-US" sz="1600" dirty="0">
              <a:ea typeface="Calibri"/>
              <a:cs typeface="Calibri"/>
            </a:endParaRPr>
          </a:p>
          <a:p>
            <a:r>
              <a:rPr lang="en-US" sz="1600" dirty="0"/>
              <a:t>The airport accommodates a number of airplane models, and each model is identified by a model number (e.g., DC-</a:t>
            </a:r>
            <a:r>
              <a:rPr lang="en-US" sz="1600" dirty="0" err="1"/>
              <a:t>lO</a:t>
            </a:r>
            <a:r>
              <a:rPr lang="en-US" sz="1600" dirty="0"/>
              <a:t>) and has a</a:t>
            </a:r>
            <a:br>
              <a:rPr lang="en-US" sz="1600" dirty="0"/>
            </a:br>
            <a:r>
              <a:rPr lang="en-US" sz="1600" dirty="0"/>
              <a:t>capacity and a weight.</a:t>
            </a:r>
            <a:endParaRPr lang="en-US" sz="1600" dirty="0">
              <a:ea typeface="Calibri"/>
              <a:cs typeface="Calibri"/>
            </a:endParaRPr>
          </a:p>
          <a:p>
            <a:r>
              <a:rPr lang="en-US" sz="1600" dirty="0"/>
              <a:t>A number of technicians work at the airport. You need to store the name, SSN, address, phone number, and salary of each technician</a:t>
            </a:r>
            <a:endParaRPr lang="en-US" sz="1600" dirty="0">
              <a:ea typeface="Calibri"/>
              <a:cs typeface="Calibri"/>
            </a:endParaRPr>
          </a:p>
          <a:p>
            <a:r>
              <a:rPr lang="en-US" sz="1600" dirty="0"/>
              <a:t>Each technician is an expert on one or more plane model(s), and his or her expertise may overlap with that of other technicians. This information about technicians must also be recorded.</a:t>
            </a:r>
            <a:endParaRPr lang="en-US" sz="1600" dirty="0">
              <a:ea typeface="Calibri"/>
              <a:cs typeface="Calibri"/>
            </a:endParaRPr>
          </a:p>
          <a:p>
            <a:r>
              <a:rPr lang="en-US" sz="1600" dirty="0"/>
              <a:t>Traffic controllers  are union members, must have an annual medical examination. For each traffic controller, you must store the date of the most recent exam.</a:t>
            </a:r>
            <a:endParaRPr lang="en-US" sz="1600" dirty="0">
              <a:ea typeface="Calibri"/>
              <a:cs typeface="Calibri"/>
            </a:endParaRPr>
          </a:p>
          <a:p>
            <a:r>
              <a:rPr lang="en-US" sz="1600" dirty="0"/>
              <a:t>All airport employees (including technicians and traffic controller) belong to a union. You must store the union member-ship number of each employee. You can assume that each employee is uniquely identified by a social security number</a:t>
            </a:r>
            <a:endParaRPr lang="en-US" sz="1600" dirty="0">
              <a:ea typeface="Calibri"/>
              <a:cs typeface="Calibri"/>
            </a:endParaRPr>
          </a:p>
          <a:p>
            <a:r>
              <a:rPr lang="en-US" sz="1600" dirty="0"/>
              <a:t>The airport has a number of tests that are used periodically to ensure that airplanes are still </a:t>
            </a:r>
            <a:r>
              <a:rPr lang="en-US" sz="1600" dirty="0" err="1"/>
              <a:t>airworthy.Each</a:t>
            </a:r>
            <a:r>
              <a:rPr lang="en-US" sz="1600" dirty="0"/>
              <a:t> test has a Federal Aviation Administration (FAA) test number, a name, and a maximum possible score.</a:t>
            </a:r>
            <a:endParaRPr lang="en-US" sz="1600" dirty="0">
              <a:ea typeface="Calibri"/>
              <a:cs typeface="Calibri"/>
            </a:endParaRPr>
          </a:p>
          <a:p>
            <a:r>
              <a:rPr lang="en-US" sz="1600" dirty="0"/>
              <a:t>The FAA requires the airport to keep track of each time a given airplane is tested by a given technician using a given test. For each testing event, the information needed is the date, the number of hours the technician spent doing the test, and the score the airplane received on the test</a:t>
            </a:r>
            <a:endParaRPr lang="en-US" sz="1600" dirty="0">
              <a:ea typeface="Calibri"/>
              <a:cs typeface="Calibri"/>
            </a:endParaRPr>
          </a:p>
          <a:p>
            <a:r>
              <a:rPr lang="en-US" sz="1600" dirty="0"/>
              <a:t>(20 points) Draw an ER diagram for the airport database. Be sure to indicate the various attributes of each entity and relationship set; also specify the key and participation constraints for each relationships. Specify any necessary overlap and covering constraints </a:t>
            </a:r>
            <a:r>
              <a:rPr lang="en-US" sz="1600" dirty="0" err="1"/>
              <a:t>a.s</a:t>
            </a:r>
            <a:r>
              <a:rPr lang="en-US" sz="1600" dirty="0"/>
              <a:t> well (in English)</a:t>
            </a:r>
            <a:br>
              <a:rPr lang="en-US" sz="1600" dirty="0"/>
            </a:br>
            <a:r>
              <a:rPr lang="en-US" sz="1600" dirty="0"/>
              <a:t>(5 points) The FAA passes a regulation that tests on a plane must be conducted by a technician </a:t>
            </a:r>
            <a:r>
              <a:rPr lang="en-US" sz="1600" dirty="0" err="1"/>
              <a:t>whois</a:t>
            </a:r>
            <a:r>
              <a:rPr lang="en-US" sz="1600" dirty="0"/>
              <a:t> an expert on that model. How would you express this constraint in the ER diagram? If you cannot express it, explain briefly.</a:t>
            </a:r>
            <a:endParaRPr lang="en-US" sz="1600" dirty="0">
              <a:ea typeface="Calibri"/>
              <a:cs typeface="Calibri"/>
            </a:endParaRPr>
          </a:p>
          <a:p>
            <a:endParaRPr lang="en-US" sz="1600"/>
          </a:p>
        </p:txBody>
      </p:sp>
      <p:sp>
        <p:nvSpPr>
          <p:cNvPr id="4" name="Slide Number Placeholder 3">
            <a:extLst>
              <a:ext uri="{FF2B5EF4-FFF2-40B4-BE49-F238E27FC236}">
                <a16:creationId xmlns:a16="http://schemas.microsoft.com/office/drawing/2014/main" id="{753F0ECB-C6BA-423A-94F6-9DBF143A89F5}"/>
              </a:ext>
            </a:extLst>
          </p:cNvPr>
          <p:cNvSpPr>
            <a:spLocks noGrp="1"/>
          </p:cNvSpPr>
          <p:nvPr>
            <p:ph type="sldNum" sz="quarter" idx="12"/>
          </p:nvPr>
        </p:nvSpPr>
        <p:spPr/>
        <p:txBody>
          <a:bodyPr/>
          <a:lstStyle/>
          <a:p>
            <a:fld id="{641C0F02-33DC-3A41-9F51-431B7FE03ABE}" type="slidenum">
              <a:rPr lang="en-US" smtClean="0"/>
              <a:t>127</a:t>
            </a:fld>
            <a:endParaRPr lang="en-US"/>
          </a:p>
        </p:txBody>
      </p:sp>
    </p:spTree>
    <p:extLst>
      <p:ext uri="{BB962C8B-B14F-4D97-AF65-F5344CB8AC3E}">
        <p14:creationId xmlns:p14="http://schemas.microsoft.com/office/powerpoint/2010/main" val="392085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0E86-5CC3-FD0D-93D0-BA8F8CCD89C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DB9E443-35D4-82BD-FA8C-F87235864B78}"/>
              </a:ext>
            </a:extLst>
          </p:cNvPr>
          <p:cNvSpPr>
            <a:spLocks noGrp="1"/>
          </p:cNvSpPr>
          <p:nvPr>
            <p:ph type="sldNum" sz="quarter" idx="12"/>
          </p:nvPr>
        </p:nvSpPr>
        <p:spPr/>
        <p:txBody>
          <a:bodyPr/>
          <a:lstStyle/>
          <a:p>
            <a:fld id="{641C0F02-33DC-3A41-9F51-431B7FE03ABE}" type="slidenum">
              <a:rPr lang="en-US" smtClean="0"/>
              <a:t>128</a:t>
            </a:fld>
            <a:endParaRPr lang="en-US"/>
          </a:p>
        </p:txBody>
      </p:sp>
      <p:sp>
        <p:nvSpPr>
          <p:cNvPr id="13" name="Content Placeholder 12">
            <a:extLst>
              <a:ext uri="{FF2B5EF4-FFF2-40B4-BE49-F238E27FC236}">
                <a16:creationId xmlns:a16="http://schemas.microsoft.com/office/drawing/2014/main" id="{FAFFED84-5ECA-FDA2-E6C7-08904FAE9315}"/>
              </a:ext>
            </a:extLst>
          </p:cNvPr>
          <p:cNvSpPr>
            <a:spLocks noGrp="1"/>
          </p:cNvSpPr>
          <p:nvPr>
            <p:ph idx="1"/>
          </p:nvPr>
        </p:nvSpPr>
        <p:spPr/>
        <p:txBody>
          <a:bodyPr vert="horz" lIns="91440" tIns="45720" rIns="91440" bIns="45720" rtlCol="0" anchor="t">
            <a:normAutofit/>
          </a:bodyPr>
          <a:lstStyle/>
          <a:p>
            <a:r>
              <a:rPr lang="en-US" sz="1100">
                <a:solidFill>
                  <a:srgbClr val="C678DD"/>
                </a:solidFill>
                <a:latin typeface="Consolas"/>
                <a:ea typeface="Calibri"/>
                <a:cs typeface="Calibri"/>
              </a:rPr>
              <a:t>Check notes</a:t>
            </a:r>
            <a:endParaRPr lang="en-US">
              <a:ea typeface="Calibri"/>
              <a:cs typeface="Calibri"/>
            </a:endParaRPr>
          </a:p>
        </p:txBody>
      </p:sp>
    </p:spTree>
    <p:extLst>
      <p:ext uri="{BB962C8B-B14F-4D97-AF65-F5344CB8AC3E}">
        <p14:creationId xmlns:p14="http://schemas.microsoft.com/office/powerpoint/2010/main" val="30652257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21F1E9-D138-A544-9146-0207CA5E98E0}"/>
              </a:ext>
            </a:extLst>
          </p:cNvPr>
          <p:cNvPicPr>
            <a:picLocks noGrp="1" noChangeAspect="1"/>
          </p:cNvPicPr>
          <p:nvPr>
            <p:ph idx="1"/>
          </p:nvPr>
        </p:nvPicPr>
        <p:blipFill>
          <a:blip r:embed="rId2"/>
          <a:stretch>
            <a:fillRect/>
          </a:stretch>
        </p:blipFill>
        <p:spPr>
          <a:xfrm>
            <a:off x="3483224" y="228556"/>
            <a:ext cx="5455196" cy="4351338"/>
          </a:xfrm>
          <a:prstGeom prst="rect">
            <a:avLst/>
          </a:prstGeom>
        </p:spPr>
      </p:pic>
      <p:sp>
        <p:nvSpPr>
          <p:cNvPr id="3" name="Slide Number Placeholder 2">
            <a:extLst>
              <a:ext uri="{FF2B5EF4-FFF2-40B4-BE49-F238E27FC236}">
                <a16:creationId xmlns:a16="http://schemas.microsoft.com/office/drawing/2014/main" id="{BDC307E7-E1CA-4452-B039-6C43A8C68A25}"/>
              </a:ext>
            </a:extLst>
          </p:cNvPr>
          <p:cNvSpPr>
            <a:spLocks noGrp="1"/>
          </p:cNvSpPr>
          <p:nvPr>
            <p:ph type="sldNum" sz="quarter" idx="12"/>
          </p:nvPr>
        </p:nvSpPr>
        <p:spPr/>
        <p:txBody>
          <a:bodyPr/>
          <a:lstStyle/>
          <a:p>
            <a:fld id="{641C0F02-33DC-3A41-9F51-431B7FE03ABE}" type="slidenum">
              <a:rPr lang="en-US" smtClean="0"/>
              <a:t>129</a:t>
            </a:fld>
            <a:endParaRPr lang="en-US"/>
          </a:p>
        </p:txBody>
      </p:sp>
    </p:spTree>
    <p:extLst>
      <p:ext uri="{BB962C8B-B14F-4D97-AF65-F5344CB8AC3E}">
        <p14:creationId xmlns:p14="http://schemas.microsoft.com/office/powerpoint/2010/main" val="18367948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7B420-7798-5043-BE02-BD488301113E}"/>
              </a:ext>
            </a:extLst>
          </p:cNvPr>
          <p:cNvSpPr>
            <a:spLocks noGrp="1"/>
          </p:cNvSpPr>
          <p:nvPr>
            <p:ph type="title"/>
          </p:nvPr>
        </p:nvSpPr>
        <p:spPr/>
        <p:txBody>
          <a:bodyPr/>
          <a:lstStyle/>
          <a:p>
            <a:r>
              <a:rPr lang="en-US"/>
              <a:t>Convert to logical Schema</a:t>
            </a:r>
          </a:p>
        </p:txBody>
      </p:sp>
      <p:sp>
        <p:nvSpPr>
          <p:cNvPr id="3" name="Content Placeholder 2">
            <a:extLst>
              <a:ext uri="{FF2B5EF4-FFF2-40B4-BE49-F238E27FC236}">
                <a16:creationId xmlns:a16="http://schemas.microsoft.com/office/drawing/2014/main" id="{D5A33451-900F-F749-ADB3-3AA6826EA0FC}"/>
              </a:ext>
            </a:extLst>
          </p:cNvPr>
          <p:cNvSpPr>
            <a:spLocks noGrp="1"/>
          </p:cNvSpPr>
          <p:nvPr>
            <p:ph idx="1"/>
          </p:nvPr>
        </p:nvSpPr>
        <p:spPr>
          <a:xfrm>
            <a:off x="281247" y="1892127"/>
            <a:ext cx="10515600" cy="4351338"/>
          </a:xfrm>
        </p:spPr>
        <p:txBody>
          <a:bodyPr>
            <a:noAutofit/>
          </a:bodyPr>
          <a:lstStyle/>
          <a:p>
            <a:r>
              <a:rPr lang="en-US" sz="2000"/>
              <a:t>Airport(</a:t>
            </a:r>
            <a:r>
              <a:rPr lang="en-US" sz="2000" u="sng"/>
              <a:t>airport code</a:t>
            </a:r>
            <a:r>
              <a:rPr lang="en-US" sz="2000"/>
              <a:t>, city , state, Name)</a:t>
            </a:r>
          </a:p>
          <a:p>
            <a:r>
              <a:rPr lang="en-US" sz="2000"/>
              <a:t>Airplane(</a:t>
            </a:r>
            <a:r>
              <a:rPr lang="en-US" sz="2000" u="sng" err="1"/>
              <a:t>airplane_id</a:t>
            </a:r>
            <a:r>
              <a:rPr lang="en-US" sz="2000" u="sng"/>
              <a:t> </a:t>
            </a:r>
            <a:r>
              <a:rPr lang="en-US" sz="2000"/>
              <a:t>, </a:t>
            </a:r>
            <a:r>
              <a:rPr lang="en-US" sz="2000" err="1"/>
              <a:t>total_no_of_seats</a:t>
            </a:r>
            <a:r>
              <a:rPr lang="en-US" sz="2000"/>
              <a:t>, </a:t>
            </a:r>
            <a:r>
              <a:rPr lang="en-US" sz="2000" err="1"/>
              <a:t>type_name</a:t>
            </a:r>
            <a:r>
              <a:rPr lang="en-US" sz="2000"/>
              <a:t>)</a:t>
            </a:r>
          </a:p>
          <a:p>
            <a:r>
              <a:rPr lang="en-US" sz="2000" err="1"/>
              <a:t>Airplane_type</a:t>
            </a:r>
            <a:r>
              <a:rPr lang="en-US" sz="2000"/>
              <a:t>(</a:t>
            </a:r>
            <a:r>
              <a:rPr lang="en-US" sz="2000" u="sng" err="1"/>
              <a:t>type_name</a:t>
            </a:r>
            <a:r>
              <a:rPr lang="en-US" sz="2000"/>
              <a:t>, company, </a:t>
            </a:r>
            <a:r>
              <a:rPr lang="en-US" sz="2000" err="1"/>
              <a:t>max_seat</a:t>
            </a:r>
            <a:r>
              <a:rPr lang="en-US" sz="2000"/>
              <a:t>)</a:t>
            </a:r>
          </a:p>
          <a:p>
            <a:r>
              <a:rPr lang="en-US" sz="2000"/>
              <a:t>FLIGHT(</a:t>
            </a:r>
            <a:r>
              <a:rPr lang="en-US" sz="2000" u="sng" err="1"/>
              <a:t>flight</a:t>
            </a:r>
            <a:r>
              <a:rPr lang="en-US" sz="2000" err="1"/>
              <a:t>_</a:t>
            </a:r>
            <a:r>
              <a:rPr lang="en-US" sz="2000" u="sng" err="1"/>
              <a:t>number</a:t>
            </a:r>
            <a:r>
              <a:rPr lang="en-US" sz="2000"/>
              <a:t>, weekdays, airline)</a:t>
            </a:r>
          </a:p>
          <a:p>
            <a:r>
              <a:rPr lang="en-US" sz="2000"/>
              <a:t>CAN_LAND(</a:t>
            </a:r>
            <a:r>
              <a:rPr lang="en-US" sz="2000" u="sng" err="1"/>
              <a:t>airport_code</a:t>
            </a:r>
            <a:r>
              <a:rPr lang="en-US" sz="2000" u="sng"/>
              <a:t>, </a:t>
            </a:r>
            <a:r>
              <a:rPr lang="en-US" sz="2000" u="sng" err="1"/>
              <a:t>type_name</a:t>
            </a:r>
            <a:r>
              <a:rPr lang="en-US" sz="2000"/>
              <a:t>)</a:t>
            </a:r>
          </a:p>
          <a:p>
            <a:endParaRPr lang="en-US" sz="2000"/>
          </a:p>
          <a:p>
            <a:r>
              <a:rPr lang="en-US" sz="2000"/>
              <a:t>FARE(</a:t>
            </a:r>
            <a:r>
              <a:rPr lang="en-US" sz="2000" u="sng"/>
              <a:t>code, </a:t>
            </a:r>
            <a:r>
              <a:rPr lang="en-US" sz="2000" u="sng" err="1"/>
              <a:t>flight_numbe</a:t>
            </a:r>
            <a:r>
              <a:rPr lang="en-US" sz="2000" err="1"/>
              <a:t>r</a:t>
            </a:r>
            <a:r>
              <a:rPr lang="en-US" sz="2000"/>
              <a:t>, amount, restriction)</a:t>
            </a:r>
          </a:p>
          <a:p>
            <a:r>
              <a:rPr lang="en-US" sz="2000"/>
              <a:t>FLIGHT_LEG(</a:t>
            </a:r>
            <a:r>
              <a:rPr lang="en-US" sz="2000" u="sng" err="1"/>
              <a:t>leg_no</a:t>
            </a:r>
            <a:r>
              <a:rPr lang="en-US" sz="2000" u="sng"/>
              <a:t>, </a:t>
            </a:r>
            <a:r>
              <a:rPr lang="en-US" sz="2000" u="sng" err="1"/>
              <a:t>flight_number</a:t>
            </a:r>
            <a:r>
              <a:rPr lang="en-US" sz="2000"/>
              <a:t>, </a:t>
            </a:r>
            <a:r>
              <a:rPr lang="en-US" sz="2000" err="1"/>
              <a:t>dep_airport_code</a:t>
            </a:r>
            <a:r>
              <a:rPr lang="en-US" sz="2000"/>
              <a:t>,</a:t>
            </a:r>
          </a:p>
          <a:p>
            <a:pPr marL="0" indent="0">
              <a:buNone/>
            </a:pPr>
            <a:r>
              <a:rPr lang="en-US" sz="2000" err="1"/>
              <a:t>sch_dep_time</a:t>
            </a:r>
            <a:r>
              <a:rPr lang="en-US" sz="2000"/>
              <a:t>, </a:t>
            </a:r>
            <a:r>
              <a:rPr lang="en-US" sz="2000" err="1"/>
              <a:t>arr_airport_code</a:t>
            </a:r>
            <a:r>
              <a:rPr lang="en-US" sz="2000"/>
              <a:t>, </a:t>
            </a:r>
            <a:r>
              <a:rPr lang="en-US" sz="2000" err="1"/>
              <a:t>sch_arr_time</a:t>
            </a:r>
            <a:r>
              <a:rPr lang="en-US" sz="2000"/>
              <a:t>)</a:t>
            </a:r>
          </a:p>
          <a:p>
            <a:r>
              <a:rPr lang="en-US" sz="2000"/>
              <a:t>LEG_INSTANCE(</a:t>
            </a:r>
            <a:r>
              <a:rPr lang="en-US" sz="2000" u="sng" err="1"/>
              <a:t>leg_no</a:t>
            </a:r>
            <a:r>
              <a:rPr lang="en-US" sz="2000" u="sng"/>
              <a:t>, </a:t>
            </a:r>
            <a:r>
              <a:rPr lang="en-US" sz="2000" u="sng" err="1"/>
              <a:t>flight_number</a:t>
            </a:r>
            <a:r>
              <a:rPr lang="en-US" sz="2000" u="sng"/>
              <a:t>, </a:t>
            </a:r>
            <a:r>
              <a:rPr lang="en-US" sz="2000" u="sng" err="1"/>
              <a:t>date</a:t>
            </a:r>
            <a:r>
              <a:rPr lang="en-US" sz="2000" err="1"/>
              <a:t>,no_of_avail_seats,airplane_id</a:t>
            </a:r>
            <a:r>
              <a:rPr lang="en-US" sz="2000"/>
              <a:t>)</a:t>
            </a:r>
          </a:p>
          <a:p>
            <a:r>
              <a:rPr lang="en-US" sz="2000"/>
              <a:t>SEAT(</a:t>
            </a:r>
            <a:r>
              <a:rPr lang="en-US" sz="2000" u="sng" err="1"/>
              <a:t>leg_no</a:t>
            </a:r>
            <a:r>
              <a:rPr lang="en-US" sz="2000" u="sng"/>
              <a:t>, </a:t>
            </a:r>
            <a:r>
              <a:rPr lang="en-US" sz="2000" u="sng" err="1"/>
              <a:t>flight_number</a:t>
            </a:r>
            <a:r>
              <a:rPr lang="en-US" sz="2000" u="sng"/>
              <a:t>, </a:t>
            </a:r>
            <a:r>
              <a:rPr lang="en-US" sz="2000" u="sng" err="1"/>
              <a:t>date,seat_no</a:t>
            </a:r>
            <a:r>
              <a:rPr lang="en-US" sz="2000"/>
              <a:t>, </a:t>
            </a:r>
            <a:r>
              <a:rPr lang="en-US" sz="2000" err="1"/>
              <a:t>customer_name</a:t>
            </a:r>
            <a:r>
              <a:rPr lang="en-US" sz="2000"/>
              <a:t>, </a:t>
            </a:r>
            <a:r>
              <a:rPr lang="en-US" sz="2000" err="1"/>
              <a:t>cphone</a:t>
            </a:r>
            <a:r>
              <a:rPr lang="en-US" sz="2000"/>
              <a:t>)</a:t>
            </a:r>
          </a:p>
          <a:p>
            <a:endParaRPr lang="en-US" sz="2000"/>
          </a:p>
        </p:txBody>
      </p:sp>
      <p:pic>
        <p:nvPicPr>
          <p:cNvPr id="4" name="Picture 3">
            <a:extLst>
              <a:ext uri="{FF2B5EF4-FFF2-40B4-BE49-F238E27FC236}">
                <a16:creationId xmlns:a16="http://schemas.microsoft.com/office/drawing/2014/main" id="{3ECEBC0D-B879-5C48-B364-E1D1E97EFF13}"/>
              </a:ext>
            </a:extLst>
          </p:cNvPr>
          <p:cNvPicPr>
            <a:picLocks noChangeAspect="1"/>
          </p:cNvPicPr>
          <p:nvPr/>
        </p:nvPicPr>
        <p:blipFill>
          <a:blip r:embed="rId2"/>
          <a:stretch>
            <a:fillRect/>
          </a:stretch>
        </p:blipFill>
        <p:spPr>
          <a:xfrm>
            <a:off x="7719291" y="220153"/>
            <a:ext cx="4525818" cy="6705600"/>
          </a:xfrm>
          <a:prstGeom prst="rect">
            <a:avLst/>
          </a:prstGeom>
        </p:spPr>
      </p:pic>
      <p:sp>
        <p:nvSpPr>
          <p:cNvPr id="5" name="Slide Number Placeholder 4">
            <a:extLst>
              <a:ext uri="{FF2B5EF4-FFF2-40B4-BE49-F238E27FC236}">
                <a16:creationId xmlns:a16="http://schemas.microsoft.com/office/drawing/2014/main" id="{38225CDB-5A0E-49BE-9910-DD4F1C6C548E}"/>
              </a:ext>
            </a:extLst>
          </p:cNvPr>
          <p:cNvSpPr>
            <a:spLocks noGrp="1"/>
          </p:cNvSpPr>
          <p:nvPr>
            <p:ph type="sldNum" sz="quarter" idx="12"/>
          </p:nvPr>
        </p:nvSpPr>
        <p:spPr/>
        <p:txBody>
          <a:bodyPr/>
          <a:lstStyle/>
          <a:p>
            <a:fld id="{641C0F02-33DC-3A41-9F51-431B7FE03ABE}" type="slidenum">
              <a:rPr lang="en-US" smtClean="0"/>
              <a:t>130</a:t>
            </a:fld>
            <a:endParaRPr lang="en-US"/>
          </a:p>
        </p:txBody>
      </p:sp>
    </p:spTree>
    <p:extLst>
      <p:ext uri="{BB962C8B-B14F-4D97-AF65-F5344CB8AC3E}">
        <p14:creationId xmlns:p14="http://schemas.microsoft.com/office/powerpoint/2010/main" val="38297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D6427AD-0488-F147-AF5E-62B5ACE69524}"/>
              </a:ext>
            </a:extLst>
          </p:cNvPr>
          <p:cNvSpPr/>
          <p:nvPr/>
        </p:nvSpPr>
        <p:spPr>
          <a:xfrm>
            <a:off x="1726531" y="4691743"/>
            <a:ext cx="8559996" cy="2031325"/>
          </a:xfrm>
          <a:prstGeom prst="rect">
            <a:avLst/>
          </a:prstGeom>
        </p:spPr>
        <p:txBody>
          <a:bodyPr wrap="square">
            <a:spAutoFit/>
          </a:bodyPr>
          <a:lstStyle/>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Company(</a:t>
            </a:r>
            <a:r>
              <a:rPr lang="en-US" sz="1400" b="1" i="0" u="sng">
                <a:solidFill>
                  <a:srgbClr val="815E38"/>
                </a:solidFill>
                <a:effectLst/>
                <a:latin typeface="Arial" panose="020B0604020202020204" pitchFamily="34" charset="0"/>
              </a:rPr>
              <a:t>ID</a:t>
            </a:r>
            <a:r>
              <a:rPr lang="en-US" sz="1400" b="0" i="0">
                <a:solidFill>
                  <a:srgbClr val="815E38"/>
                </a:solidFill>
                <a:effectLst/>
                <a:latin typeface="Arial" panose="020B0604020202020204" pitchFamily="34" charset="0"/>
              </a:rPr>
              <a:t>, </a:t>
            </a:r>
            <a:r>
              <a:rPr lang="en-US" sz="1400" b="0" i="0" u="sng">
                <a:solidFill>
                  <a:srgbClr val="815E38"/>
                </a:solidFill>
                <a:effectLst/>
                <a:latin typeface="Arial" panose="020B0604020202020204" pitchFamily="34" charset="0"/>
              </a:rPr>
              <a:t> </a:t>
            </a:r>
            <a:r>
              <a:rPr lang="en-US" sz="1400" b="0" i="0">
                <a:solidFill>
                  <a:srgbClr val="815E38"/>
                </a:solidFill>
                <a:effectLst/>
                <a:latin typeface="Arial" panose="020B0604020202020204" pitchFamily="34" charset="0"/>
              </a:rPr>
              <a:t>name , address )</a:t>
            </a:r>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Staff( </a:t>
            </a:r>
            <a:r>
              <a:rPr lang="en-US" sz="1400" b="0" i="0" u="sng" err="1">
                <a:solidFill>
                  <a:srgbClr val="815E38"/>
                </a:solidFill>
                <a:effectLst/>
                <a:latin typeface="Arial" panose="020B0604020202020204" pitchFamily="34" charset="0"/>
              </a:rPr>
              <a:t>StaffID</a:t>
            </a:r>
            <a:r>
              <a:rPr lang="en-US" sz="1400" b="0" i="0">
                <a:solidFill>
                  <a:srgbClr val="815E38"/>
                </a:solidFill>
                <a:effectLst/>
                <a:latin typeface="Arial" panose="020B0604020202020204" pitchFamily="34" charset="0"/>
              </a:rPr>
              <a:t> , dob , address</a:t>
            </a:r>
            <a:r>
              <a:rPr lang="en-US" sz="1400" b="1" i="1">
                <a:solidFill>
                  <a:srgbClr val="815E38"/>
                </a:solidFill>
                <a:effectLst/>
                <a:latin typeface="Arial" panose="020B0604020202020204" pitchFamily="34" charset="0"/>
              </a:rPr>
              <a:t>, </a:t>
            </a:r>
            <a:r>
              <a:rPr lang="en-US" sz="1400" b="1" i="1" err="1">
                <a:solidFill>
                  <a:srgbClr val="815E38"/>
                </a:solidFill>
                <a:effectLst/>
                <a:latin typeface="Arial" panose="020B0604020202020204" pitchFamily="34" charset="0"/>
              </a:rPr>
              <a:t>companyID</a:t>
            </a:r>
            <a:r>
              <a:rPr lang="en-US" sz="1400" b="0" i="0">
                <a:solidFill>
                  <a:srgbClr val="815E38"/>
                </a:solidFill>
                <a:effectLst/>
                <a:latin typeface="Arial" panose="020B0604020202020204" pitchFamily="34" charset="0"/>
              </a:rPr>
              <a:t>, since )</a:t>
            </a:r>
            <a:endParaRPr lang="en-US" sz="1400"/>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Child( </a:t>
            </a:r>
            <a:r>
              <a:rPr lang="en-US" sz="1400" b="0" i="0" u="sng" err="1">
                <a:solidFill>
                  <a:srgbClr val="815E38"/>
                </a:solidFill>
                <a:effectLst/>
                <a:latin typeface="Arial" panose="020B0604020202020204" pitchFamily="34" charset="0"/>
              </a:rPr>
              <a:t>ChildID</a:t>
            </a:r>
            <a:r>
              <a:rPr lang="en-US" sz="1400" b="0" i="0">
                <a:solidFill>
                  <a:srgbClr val="815E38"/>
                </a:solidFill>
                <a:effectLst/>
                <a:latin typeface="Arial" panose="020B0604020202020204" pitchFamily="34" charset="0"/>
              </a:rPr>
              <a:t> , name ,</a:t>
            </a:r>
            <a:r>
              <a:rPr lang="en-US" sz="1400" b="1" i="1">
                <a:solidFill>
                  <a:srgbClr val="815E38"/>
                </a:solidFill>
                <a:effectLst/>
                <a:latin typeface="Georgia" panose="02040502050405020303" pitchFamily="18" charset="0"/>
              </a:rPr>
              <a:t> </a:t>
            </a:r>
            <a:r>
              <a:rPr lang="en-US" sz="1400" b="1" i="1" err="1">
                <a:solidFill>
                  <a:srgbClr val="815E38"/>
                </a:solidFill>
                <a:effectLst/>
                <a:latin typeface="Georgia" panose="02040502050405020303" pitchFamily="18" charset="0"/>
              </a:rPr>
              <a:t>StaffID</a:t>
            </a:r>
            <a:r>
              <a:rPr lang="en-US" sz="1400" b="0" i="0">
                <a:solidFill>
                  <a:srgbClr val="815E38"/>
                </a:solidFill>
                <a:effectLst/>
                <a:latin typeface="Arial" panose="020B0604020202020204" pitchFamily="34" charset="0"/>
              </a:rPr>
              <a:t> )</a:t>
            </a:r>
            <a:endParaRPr lang="en-US" sz="1400"/>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Wife ( </a:t>
            </a:r>
            <a:r>
              <a:rPr lang="en-US" sz="1400" b="0" i="0" u="sng" err="1">
                <a:solidFill>
                  <a:srgbClr val="815E38"/>
                </a:solidFill>
                <a:effectLst/>
                <a:latin typeface="Arial" panose="020B0604020202020204" pitchFamily="34" charset="0"/>
              </a:rPr>
              <a:t>WifeID</a:t>
            </a:r>
            <a:r>
              <a:rPr lang="en-US" sz="1400" b="0" i="0">
                <a:solidFill>
                  <a:srgbClr val="815E38"/>
                </a:solidFill>
                <a:effectLst/>
                <a:latin typeface="Arial" panose="020B0604020202020204" pitchFamily="34" charset="0"/>
              </a:rPr>
              <a:t> , name, </a:t>
            </a:r>
            <a:r>
              <a:rPr lang="en-US" sz="1400" b="1" i="1" err="1">
                <a:solidFill>
                  <a:srgbClr val="815E38"/>
                </a:solidFill>
                <a:latin typeface="Georgia" panose="02040502050405020303" pitchFamily="18" charset="0"/>
              </a:rPr>
              <a:t>StaffID</a:t>
            </a:r>
            <a:r>
              <a:rPr lang="en-US" sz="1400" b="0" i="0">
                <a:solidFill>
                  <a:srgbClr val="815E38"/>
                </a:solidFill>
                <a:effectLst/>
                <a:latin typeface="Arial" panose="020B0604020202020204" pitchFamily="34" charset="0"/>
              </a:rPr>
              <a:t>)</a:t>
            </a:r>
            <a:endParaRPr lang="en-US" sz="1400"/>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Phone( </a:t>
            </a:r>
            <a:r>
              <a:rPr lang="en-US" sz="1400" b="1" i="1" u="sng" err="1">
                <a:solidFill>
                  <a:srgbClr val="815E38"/>
                </a:solidFill>
                <a:latin typeface="Georgia" panose="02040502050405020303" pitchFamily="18" charset="0"/>
              </a:rPr>
              <a:t>StaffID</a:t>
            </a:r>
            <a:r>
              <a:rPr lang="en-US" sz="1400" b="1" i="1">
                <a:solidFill>
                  <a:srgbClr val="815E38"/>
                </a:solidFill>
                <a:latin typeface="Georgia" panose="02040502050405020303" pitchFamily="18" charset="0"/>
              </a:rPr>
              <a:t>, </a:t>
            </a:r>
            <a:r>
              <a:rPr lang="en-US" sz="1400" b="0" i="0" err="1">
                <a:solidFill>
                  <a:srgbClr val="815E38"/>
                </a:solidFill>
                <a:effectLst/>
                <a:latin typeface="Arial" panose="020B0604020202020204" pitchFamily="34" charset="0"/>
              </a:rPr>
              <a:t>phoneNumber</a:t>
            </a:r>
            <a:r>
              <a:rPr lang="en-US" sz="1400" b="0" i="0">
                <a:solidFill>
                  <a:srgbClr val="815E38"/>
                </a:solidFill>
                <a:effectLst/>
                <a:latin typeface="Arial" panose="020B0604020202020204" pitchFamily="34" charset="0"/>
              </a:rPr>
              <a:t> )</a:t>
            </a:r>
            <a:endParaRPr lang="en-US" sz="1400"/>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Task ( </a:t>
            </a:r>
            <a:r>
              <a:rPr lang="en-US" sz="1400" b="0" i="0" u="sng" err="1">
                <a:solidFill>
                  <a:srgbClr val="815E38"/>
                </a:solidFill>
                <a:effectLst/>
                <a:latin typeface="Arial" panose="020B0604020202020204" pitchFamily="34" charset="0"/>
              </a:rPr>
              <a:t>TaskID</a:t>
            </a:r>
            <a:r>
              <a:rPr lang="en-US" sz="1400" b="0" i="0">
                <a:solidFill>
                  <a:srgbClr val="815E38"/>
                </a:solidFill>
                <a:effectLst/>
                <a:latin typeface="Arial" panose="020B0604020202020204" pitchFamily="34" charset="0"/>
              </a:rPr>
              <a:t> , description)</a:t>
            </a:r>
            <a:endParaRPr lang="en-US" sz="1400"/>
          </a:p>
          <a:p>
            <a:pPr marL="285750" indent="-285750">
              <a:buFont typeface="Arial" panose="020B0604020202020204" pitchFamily="34" charset="0"/>
              <a:buChar char="•"/>
            </a:pPr>
            <a:r>
              <a:rPr lang="en-US" sz="1400" b="0" i="0">
                <a:solidFill>
                  <a:srgbClr val="815E38"/>
                </a:solidFill>
                <a:effectLst/>
                <a:latin typeface="Arial" panose="020B0604020202020204" pitchFamily="34" charset="0"/>
              </a:rPr>
              <a:t>Perform(</a:t>
            </a:r>
            <a:r>
              <a:rPr lang="en-US" sz="1400" b="1" i="1" u="sng" err="1">
                <a:solidFill>
                  <a:srgbClr val="815E38"/>
                </a:solidFill>
                <a:effectLst/>
                <a:latin typeface="Georgia" panose="02040502050405020303" pitchFamily="18" charset="0"/>
              </a:rPr>
              <a:t>StaffID</a:t>
            </a:r>
            <a:r>
              <a:rPr lang="en-US" sz="1400" b="1" i="1" u="sng">
                <a:solidFill>
                  <a:srgbClr val="815E38"/>
                </a:solidFill>
                <a:effectLst/>
                <a:latin typeface="Georgia" panose="02040502050405020303" pitchFamily="18" charset="0"/>
              </a:rPr>
              <a:t> , </a:t>
            </a:r>
            <a:r>
              <a:rPr lang="en-US" sz="1400" b="1" i="1" u="sng" err="1">
                <a:solidFill>
                  <a:srgbClr val="815E38"/>
                </a:solidFill>
                <a:effectLst/>
                <a:latin typeface="Georgia" panose="02040502050405020303" pitchFamily="18" charset="0"/>
              </a:rPr>
              <a:t>TaskID</a:t>
            </a:r>
            <a:r>
              <a:rPr lang="en-US" sz="1400" b="1" i="1" u="sng">
                <a:solidFill>
                  <a:srgbClr val="815E38"/>
                </a:solidFill>
                <a:effectLst/>
                <a:latin typeface="Arial" panose="020B0604020202020204" pitchFamily="34" charset="0"/>
              </a:rPr>
              <a:t> </a:t>
            </a:r>
            <a:r>
              <a:rPr lang="en-US" sz="1400" b="0" i="0">
                <a:solidFill>
                  <a:srgbClr val="815E38"/>
                </a:solidFill>
                <a:effectLst/>
                <a:latin typeface="Arial" panose="020B0604020202020204" pitchFamily="34" charset="0"/>
              </a:rPr>
              <a:t>)</a:t>
            </a:r>
          </a:p>
          <a:p>
            <a:endParaRPr lang="en-US" sz="1400">
              <a:solidFill>
                <a:srgbClr val="815E38"/>
              </a:solidFill>
              <a:latin typeface="Arial" panose="020B0604020202020204" pitchFamily="34" charset="0"/>
            </a:endParaRPr>
          </a:p>
          <a:p>
            <a:r>
              <a:rPr lang="en-US" sz="1400" u="sng">
                <a:solidFill>
                  <a:srgbClr val="815E38"/>
                </a:solidFill>
                <a:latin typeface="Arial" panose="020B0604020202020204" pitchFamily="34" charset="0"/>
              </a:rPr>
              <a:t>Primary Key</a:t>
            </a:r>
            <a:r>
              <a:rPr lang="en-US" sz="1400">
                <a:solidFill>
                  <a:srgbClr val="815E38"/>
                </a:solidFill>
                <a:latin typeface="Arial" panose="020B0604020202020204" pitchFamily="34" charset="0"/>
              </a:rPr>
              <a:t> is underlined. </a:t>
            </a:r>
            <a:r>
              <a:rPr lang="en-US" sz="1400" b="1" i="1">
                <a:solidFill>
                  <a:srgbClr val="815E38"/>
                </a:solidFill>
                <a:latin typeface="Arial" panose="020B0604020202020204" pitchFamily="34" charset="0"/>
              </a:rPr>
              <a:t>Foreign key</a:t>
            </a:r>
            <a:r>
              <a:rPr lang="en-US" sz="1400">
                <a:solidFill>
                  <a:srgbClr val="815E38"/>
                </a:solidFill>
                <a:latin typeface="Arial" panose="020B0604020202020204" pitchFamily="34" charset="0"/>
              </a:rPr>
              <a:t> is bold italic </a:t>
            </a:r>
            <a:endParaRPr lang="en-US" sz="1400"/>
          </a:p>
        </p:txBody>
      </p:sp>
      <p:pic>
        <p:nvPicPr>
          <p:cNvPr id="5" name="Picture 4">
            <a:extLst>
              <a:ext uri="{FF2B5EF4-FFF2-40B4-BE49-F238E27FC236}">
                <a16:creationId xmlns:a16="http://schemas.microsoft.com/office/drawing/2014/main" id="{C624F88F-615D-7B46-A8C8-E234B6CEA681}"/>
              </a:ext>
            </a:extLst>
          </p:cNvPr>
          <p:cNvPicPr>
            <a:picLocks noChangeAspect="1"/>
          </p:cNvPicPr>
          <p:nvPr/>
        </p:nvPicPr>
        <p:blipFill>
          <a:blip r:embed="rId2"/>
          <a:stretch>
            <a:fillRect/>
          </a:stretch>
        </p:blipFill>
        <p:spPr>
          <a:xfrm>
            <a:off x="2354745" y="0"/>
            <a:ext cx="7675571" cy="4691743"/>
          </a:xfrm>
          <a:prstGeom prst="rect">
            <a:avLst/>
          </a:prstGeom>
        </p:spPr>
      </p:pic>
      <p:sp>
        <p:nvSpPr>
          <p:cNvPr id="2" name="Slide Number Placeholder 1">
            <a:extLst>
              <a:ext uri="{FF2B5EF4-FFF2-40B4-BE49-F238E27FC236}">
                <a16:creationId xmlns:a16="http://schemas.microsoft.com/office/drawing/2014/main" id="{7C350E66-F573-41F9-BFE3-E119545FBD5E}"/>
              </a:ext>
            </a:extLst>
          </p:cNvPr>
          <p:cNvSpPr>
            <a:spLocks noGrp="1"/>
          </p:cNvSpPr>
          <p:nvPr>
            <p:ph type="sldNum" sz="quarter" idx="12"/>
          </p:nvPr>
        </p:nvSpPr>
        <p:spPr/>
        <p:txBody>
          <a:bodyPr/>
          <a:lstStyle/>
          <a:p>
            <a:fld id="{641C0F02-33DC-3A41-9F51-431B7FE03ABE}" type="slidenum">
              <a:rPr lang="en-US" smtClean="0"/>
              <a:t>131</a:t>
            </a:fld>
            <a:endParaRPr lang="en-US"/>
          </a:p>
        </p:txBody>
      </p:sp>
    </p:spTree>
    <p:extLst>
      <p:ext uri="{BB962C8B-B14F-4D97-AF65-F5344CB8AC3E}">
        <p14:creationId xmlns:p14="http://schemas.microsoft.com/office/powerpoint/2010/main" val="4166157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AE7A-27E6-0B4F-9ECD-08CA5EC6505D}"/>
              </a:ext>
            </a:extLst>
          </p:cNvPr>
          <p:cNvSpPr>
            <a:spLocks noGrp="1"/>
          </p:cNvSpPr>
          <p:nvPr>
            <p:ph type="title"/>
          </p:nvPr>
        </p:nvSpPr>
        <p:spPr>
          <a:xfrm>
            <a:off x="935305" y="6094286"/>
            <a:ext cx="10515600" cy="1325563"/>
          </a:xfrm>
        </p:spPr>
        <p:txBody>
          <a:bodyPr/>
          <a:lstStyle/>
          <a:p>
            <a:r>
              <a:rPr lang="en-US"/>
              <a:t>Convert to logical Schema</a:t>
            </a:r>
          </a:p>
        </p:txBody>
      </p:sp>
      <p:pic>
        <p:nvPicPr>
          <p:cNvPr id="4" name="Content Placeholder 3">
            <a:extLst>
              <a:ext uri="{FF2B5EF4-FFF2-40B4-BE49-F238E27FC236}">
                <a16:creationId xmlns:a16="http://schemas.microsoft.com/office/drawing/2014/main" id="{C0647AA5-FE76-B34B-834C-1E6C30A586EA}"/>
              </a:ext>
            </a:extLst>
          </p:cNvPr>
          <p:cNvPicPr>
            <a:picLocks noGrp="1" noChangeAspect="1"/>
          </p:cNvPicPr>
          <p:nvPr>
            <p:ph idx="1"/>
          </p:nvPr>
        </p:nvPicPr>
        <p:blipFill>
          <a:blip r:embed="rId2"/>
          <a:stretch>
            <a:fillRect/>
          </a:stretch>
        </p:blipFill>
        <p:spPr>
          <a:xfrm>
            <a:off x="629119" y="0"/>
            <a:ext cx="9405005" cy="6530273"/>
          </a:xfrm>
          <a:prstGeom prst="rect">
            <a:avLst/>
          </a:prstGeom>
        </p:spPr>
      </p:pic>
      <p:sp>
        <p:nvSpPr>
          <p:cNvPr id="3" name="Slide Number Placeholder 2">
            <a:extLst>
              <a:ext uri="{FF2B5EF4-FFF2-40B4-BE49-F238E27FC236}">
                <a16:creationId xmlns:a16="http://schemas.microsoft.com/office/drawing/2014/main" id="{E19243A7-1DB9-4635-B91F-5726C0E9352C}"/>
              </a:ext>
            </a:extLst>
          </p:cNvPr>
          <p:cNvSpPr>
            <a:spLocks noGrp="1"/>
          </p:cNvSpPr>
          <p:nvPr>
            <p:ph type="sldNum" sz="quarter" idx="12"/>
          </p:nvPr>
        </p:nvSpPr>
        <p:spPr/>
        <p:txBody>
          <a:bodyPr/>
          <a:lstStyle/>
          <a:p>
            <a:fld id="{641C0F02-33DC-3A41-9F51-431B7FE03ABE}" type="slidenum">
              <a:rPr lang="en-US" smtClean="0"/>
              <a:t>132</a:t>
            </a:fld>
            <a:endParaRPr lang="en-US"/>
          </a:p>
        </p:txBody>
      </p:sp>
    </p:spTree>
    <p:extLst>
      <p:ext uri="{BB962C8B-B14F-4D97-AF65-F5344CB8AC3E}">
        <p14:creationId xmlns:p14="http://schemas.microsoft.com/office/powerpoint/2010/main" val="699020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3B774-9733-92CA-0D3B-4D54504105C5}"/>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28A0C8B7-8887-4697-8436-678A09EE740A}"/>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3181026" y="1825625"/>
            <a:ext cx="5829948" cy="4351338"/>
          </a:xfrm>
        </p:spPr>
      </p:pic>
      <p:sp>
        <p:nvSpPr>
          <p:cNvPr id="4" name="Slide Number Placeholder 3">
            <a:extLst>
              <a:ext uri="{FF2B5EF4-FFF2-40B4-BE49-F238E27FC236}">
                <a16:creationId xmlns:a16="http://schemas.microsoft.com/office/drawing/2014/main" id="{D2DACBAA-DA0A-7257-9937-3C9A28DAD24E}"/>
              </a:ext>
            </a:extLst>
          </p:cNvPr>
          <p:cNvSpPr>
            <a:spLocks noGrp="1"/>
          </p:cNvSpPr>
          <p:nvPr>
            <p:ph type="sldNum" sz="quarter" idx="12"/>
          </p:nvPr>
        </p:nvSpPr>
        <p:spPr/>
        <p:txBody>
          <a:bodyPr/>
          <a:lstStyle/>
          <a:p>
            <a:fld id="{641C0F02-33DC-3A41-9F51-431B7FE03ABE}" type="slidenum">
              <a:rPr lang="en-US" smtClean="0"/>
              <a:t>133</a:t>
            </a:fld>
            <a:endParaRPr lang="en-US"/>
          </a:p>
        </p:txBody>
      </p:sp>
    </p:spTree>
    <p:extLst>
      <p:ext uri="{BB962C8B-B14F-4D97-AF65-F5344CB8AC3E}">
        <p14:creationId xmlns:p14="http://schemas.microsoft.com/office/powerpoint/2010/main" val="23510279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28D01-8818-B14C-B14D-761D52662114}"/>
              </a:ext>
            </a:extLst>
          </p:cNvPr>
          <p:cNvSpPr>
            <a:spLocks noGrp="1"/>
          </p:cNvSpPr>
          <p:nvPr>
            <p:ph idx="1"/>
          </p:nvPr>
        </p:nvSpPr>
        <p:spPr/>
        <p:txBody>
          <a:bodyPr>
            <a:normAutofit fontScale="70000" lnSpcReduction="20000"/>
          </a:bodyPr>
          <a:lstStyle/>
          <a:p>
            <a:r>
              <a:rPr lang="en-US"/>
              <a:t>create table </a:t>
            </a:r>
            <a:r>
              <a:rPr lang="en-US" b="1"/>
              <a:t>bank</a:t>
            </a:r>
            <a:r>
              <a:rPr lang="en-US"/>
              <a:t>(code char(10), name varchar(20), </a:t>
            </a:r>
            <a:r>
              <a:rPr lang="en-US" err="1"/>
              <a:t>addr</a:t>
            </a:r>
            <a:r>
              <a:rPr lang="en-US"/>
              <a:t> varchar(100), primary key code)</a:t>
            </a:r>
          </a:p>
          <a:p>
            <a:r>
              <a:rPr lang="en-US"/>
              <a:t>Create table </a:t>
            </a:r>
            <a:r>
              <a:rPr lang="en-US" b="1" err="1"/>
              <a:t>bankbranch</a:t>
            </a:r>
            <a:r>
              <a:rPr lang="en-US"/>
              <a:t> (code char(10), </a:t>
            </a:r>
            <a:r>
              <a:rPr lang="en-US" err="1"/>
              <a:t>bronchno</a:t>
            </a:r>
            <a:r>
              <a:rPr lang="en-US"/>
              <a:t> int, </a:t>
            </a:r>
            <a:r>
              <a:rPr lang="en-US" err="1"/>
              <a:t>addr</a:t>
            </a:r>
            <a:r>
              <a:rPr lang="en-US"/>
              <a:t> varchar(100), primary key (code, </a:t>
            </a:r>
            <a:r>
              <a:rPr lang="en-US" err="1"/>
              <a:t>brachno</a:t>
            </a:r>
            <a:r>
              <a:rPr lang="en-US"/>
              <a:t>), foreign key code references bank on delete cascade)</a:t>
            </a:r>
          </a:p>
          <a:p>
            <a:r>
              <a:rPr lang="en-US"/>
              <a:t>create table </a:t>
            </a:r>
            <a:r>
              <a:rPr lang="en-US" b="1"/>
              <a:t>loan</a:t>
            </a:r>
            <a:r>
              <a:rPr lang="en-US"/>
              <a:t>(</a:t>
            </a:r>
            <a:r>
              <a:rPr lang="en-US" err="1"/>
              <a:t>loanno</a:t>
            </a:r>
            <a:r>
              <a:rPr lang="en-US"/>
              <a:t> int primary key amount decimal (10,2), type char(10) , code char(10) </a:t>
            </a:r>
            <a:r>
              <a:rPr lang="en-US" b="1" i="1"/>
              <a:t>NOT  NULL</a:t>
            </a:r>
            <a:r>
              <a:rPr lang="en-US"/>
              <a:t>, </a:t>
            </a:r>
            <a:r>
              <a:rPr lang="en-US" err="1"/>
              <a:t>branchno</a:t>
            </a:r>
            <a:r>
              <a:rPr lang="en-US"/>
              <a:t> int NOT NULL, foreign key code reference </a:t>
            </a:r>
            <a:r>
              <a:rPr lang="en-US" err="1"/>
              <a:t>bankbranch</a:t>
            </a:r>
            <a:r>
              <a:rPr lang="en-US"/>
              <a:t>, foreign key </a:t>
            </a:r>
            <a:r>
              <a:rPr lang="en-US" err="1"/>
              <a:t>branchno</a:t>
            </a:r>
            <a:r>
              <a:rPr lang="en-US"/>
              <a:t> references </a:t>
            </a:r>
            <a:r>
              <a:rPr lang="en-US" err="1"/>
              <a:t>bankbranch</a:t>
            </a:r>
            <a:r>
              <a:rPr lang="en-US"/>
              <a:t> )</a:t>
            </a:r>
          </a:p>
          <a:p>
            <a:r>
              <a:rPr lang="en-US"/>
              <a:t>create table </a:t>
            </a:r>
            <a:r>
              <a:rPr lang="en-US" b="1"/>
              <a:t>account</a:t>
            </a:r>
            <a:r>
              <a:rPr lang="en-US"/>
              <a:t>(</a:t>
            </a:r>
            <a:r>
              <a:rPr lang="en-US" err="1"/>
              <a:t>acctno</a:t>
            </a:r>
            <a:r>
              <a:rPr lang="en-US"/>
              <a:t> int primary key, balance decimal (10,2), type char(10) , code char(10) , </a:t>
            </a:r>
            <a:r>
              <a:rPr lang="en-US" err="1"/>
              <a:t>branchno</a:t>
            </a:r>
            <a:r>
              <a:rPr lang="en-US"/>
              <a:t>, foreign key code reference </a:t>
            </a:r>
            <a:r>
              <a:rPr lang="en-US" err="1"/>
              <a:t>bankbrach</a:t>
            </a:r>
            <a:r>
              <a:rPr lang="en-US"/>
              <a:t> ,foreign key </a:t>
            </a:r>
            <a:r>
              <a:rPr lang="en-US" err="1"/>
              <a:t>branchno</a:t>
            </a:r>
            <a:r>
              <a:rPr lang="en-US"/>
              <a:t> references </a:t>
            </a:r>
            <a:r>
              <a:rPr lang="en-US" err="1"/>
              <a:t>bankbranch</a:t>
            </a:r>
            <a:r>
              <a:rPr lang="en-US"/>
              <a:t>)</a:t>
            </a:r>
          </a:p>
          <a:p>
            <a:r>
              <a:rPr lang="en-US"/>
              <a:t>create table </a:t>
            </a:r>
            <a:r>
              <a:rPr lang="en-US" b="1"/>
              <a:t>customer</a:t>
            </a:r>
            <a:r>
              <a:rPr lang="en-US"/>
              <a:t>(</a:t>
            </a:r>
            <a:r>
              <a:rPr lang="en-US" err="1"/>
              <a:t>ssn</a:t>
            </a:r>
            <a:r>
              <a:rPr lang="en-US"/>
              <a:t> char(10) primary key, name varchar(20),phone char(10), </a:t>
            </a:r>
            <a:r>
              <a:rPr lang="en-US" err="1"/>
              <a:t>addr</a:t>
            </a:r>
            <a:r>
              <a:rPr lang="en-US"/>
              <a:t> varchar(100))</a:t>
            </a:r>
          </a:p>
          <a:p>
            <a:r>
              <a:rPr lang="en-US"/>
              <a:t>create table </a:t>
            </a:r>
            <a:r>
              <a:rPr lang="en-US" b="1"/>
              <a:t>AC</a:t>
            </a:r>
            <a:r>
              <a:rPr lang="en-US"/>
              <a:t> (</a:t>
            </a:r>
            <a:r>
              <a:rPr lang="en-US" err="1"/>
              <a:t>ssn</a:t>
            </a:r>
            <a:r>
              <a:rPr lang="en-US"/>
              <a:t> char(10), </a:t>
            </a:r>
            <a:r>
              <a:rPr lang="en-US" err="1"/>
              <a:t>actno</a:t>
            </a:r>
            <a:r>
              <a:rPr lang="en-US"/>
              <a:t> int, primary key (</a:t>
            </a:r>
            <a:r>
              <a:rPr lang="en-US" err="1"/>
              <a:t>ssn_actno</a:t>
            </a:r>
            <a:r>
              <a:rPr lang="en-US"/>
              <a:t>), foreign key (</a:t>
            </a:r>
            <a:r>
              <a:rPr lang="en-US" err="1"/>
              <a:t>ssn</a:t>
            </a:r>
            <a:r>
              <a:rPr lang="en-US"/>
              <a:t>) references customer, foreign key (</a:t>
            </a:r>
            <a:r>
              <a:rPr lang="en-US" err="1"/>
              <a:t>act_no</a:t>
            </a:r>
            <a:r>
              <a:rPr lang="en-US"/>
              <a:t>) references account)</a:t>
            </a:r>
          </a:p>
          <a:p>
            <a:r>
              <a:rPr lang="en-US"/>
              <a:t>create table </a:t>
            </a:r>
            <a:r>
              <a:rPr lang="en-US" b="1"/>
              <a:t>LC</a:t>
            </a:r>
            <a:r>
              <a:rPr lang="en-US"/>
              <a:t> (</a:t>
            </a:r>
            <a:r>
              <a:rPr lang="en-US" err="1"/>
              <a:t>ssn</a:t>
            </a:r>
            <a:r>
              <a:rPr lang="en-US"/>
              <a:t> char(10), </a:t>
            </a:r>
            <a:r>
              <a:rPr lang="en-US" err="1"/>
              <a:t>loanno</a:t>
            </a:r>
            <a:r>
              <a:rPr lang="en-US"/>
              <a:t> int, primary key (</a:t>
            </a:r>
            <a:r>
              <a:rPr lang="en-US" err="1"/>
              <a:t>ssn_actno</a:t>
            </a:r>
            <a:r>
              <a:rPr lang="en-US"/>
              <a:t>), foreign key (</a:t>
            </a:r>
            <a:r>
              <a:rPr lang="en-US" err="1"/>
              <a:t>ssn</a:t>
            </a:r>
            <a:r>
              <a:rPr lang="en-US"/>
              <a:t>) references customer, foreign key (</a:t>
            </a:r>
            <a:r>
              <a:rPr lang="en-US" err="1"/>
              <a:t>loanno</a:t>
            </a:r>
            <a:r>
              <a:rPr lang="en-US"/>
              <a:t>) references loan)</a:t>
            </a:r>
          </a:p>
        </p:txBody>
      </p:sp>
      <p:sp>
        <p:nvSpPr>
          <p:cNvPr id="2" name="Slide Number Placeholder 1">
            <a:extLst>
              <a:ext uri="{FF2B5EF4-FFF2-40B4-BE49-F238E27FC236}">
                <a16:creationId xmlns:a16="http://schemas.microsoft.com/office/drawing/2014/main" id="{6AA53350-016E-4D85-B6C1-FDD5EE43069B}"/>
              </a:ext>
            </a:extLst>
          </p:cNvPr>
          <p:cNvSpPr>
            <a:spLocks noGrp="1"/>
          </p:cNvSpPr>
          <p:nvPr>
            <p:ph type="sldNum" sz="quarter" idx="12"/>
          </p:nvPr>
        </p:nvSpPr>
        <p:spPr/>
        <p:txBody>
          <a:bodyPr/>
          <a:lstStyle/>
          <a:p>
            <a:fld id="{641C0F02-33DC-3A41-9F51-431B7FE03ABE}" type="slidenum">
              <a:rPr lang="en-US" smtClean="0"/>
              <a:t>134</a:t>
            </a:fld>
            <a:endParaRPr lang="en-US"/>
          </a:p>
        </p:txBody>
      </p:sp>
    </p:spTree>
    <p:extLst>
      <p:ext uri="{BB962C8B-B14F-4D97-AF65-F5344CB8AC3E}">
        <p14:creationId xmlns:p14="http://schemas.microsoft.com/office/powerpoint/2010/main" val="13171117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CC88-B7BE-C400-4994-72A02ED52D24}"/>
              </a:ext>
            </a:extLst>
          </p:cNvPr>
          <p:cNvSpPr>
            <a:spLocks noGrp="1"/>
          </p:cNvSpPr>
          <p:nvPr>
            <p:ph type="title"/>
          </p:nvPr>
        </p:nvSpPr>
        <p:spPr/>
        <p:txBody>
          <a:bodyPr/>
          <a:lstStyle/>
          <a:p>
            <a:r>
              <a:rPr lang="en-US"/>
              <a:t>ERD Example</a:t>
            </a:r>
          </a:p>
        </p:txBody>
      </p:sp>
      <p:sp>
        <p:nvSpPr>
          <p:cNvPr id="3" name="Content Placeholder 2">
            <a:extLst>
              <a:ext uri="{FF2B5EF4-FFF2-40B4-BE49-F238E27FC236}">
                <a16:creationId xmlns:a16="http://schemas.microsoft.com/office/drawing/2014/main" id="{706DEBB5-4F18-E738-734E-35619F2046F6}"/>
              </a:ext>
            </a:extLst>
          </p:cNvPr>
          <p:cNvSpPr>
            <a:spLocks noGrp="1"/>
          </p:cNvSpPr>
          <p:nvPr>
            <p:ph idx="1"/>
          </p:nvPr>
        </p:nvSpPr>
        <p:spPr>
          <a:xfrm>
            <a:off x="838200" y="1509311"/>
            <a:ext cx="10515600" cy="4983564"/>
          </a:xfrm>
        </p:spPr>
        <p:txBody>
          <a:bodyPr>
            <a:normAutofit fontScale="92500" lnSpcReduction="10000"/>
          </a:bodyPr>
          <a:lstStyle/>
          <a:p>
            <a:r>
              <a:rPr lang="en-US"/>
              <a:t>A retail company keeps tracks of </a:t>
            </a:r>
            <a:r>
              <a:rPr lang="en-US" b="0" i="0">
                <a:effectLst/>
                <a:latin typeface="Söhne"/>
              </a:rPr>
              <a:t>Customer, Order, Line Item, Part, Supplier, Nation.</a:t>
            </a:r>
          </a:p>
          <a:p>
            <a:r>
              <a:rPr lang="en-US">
                <a:latin typeface="Söhne"/>
              </a:rPr>
              <a:t>For customer, we keep track of name, id, and market segment. </a:t>
            </a:r>
          </a:p>
          <a:p>
            <a:r>
              <a:rPr lang="en-US" b="0" i="0">
                <a:effectLst/>
                <a:latin typeface="Söhne"/>
              </a:rPr>
              <a:t>Customer makes  orders.  The systems stores order number, order total price and date of the order.</a:t>
            </a:r>
          </a:p>
          <a:p>
            <a:r>
              <a:rPr lang="en-US" b="0" i="0">
                <a:effectLst/>
                <a:latin typeface="Söhne"/>
              </a:rPr>
              <a:t> Each </a:t>
            </a:r>
            <a:r>
              <a:rPr lang="en-US">
                <a:latin typeface="Söhne"/>
              </a:rPr>
              <a:t>order can have multiple line items. For each line item, we store </a:t>
            </a:r>
            <a:r>
              <a:rPr lang="en-US" b="0" i="0">
                <a:effectLst/>
                <a:latin typeface="Söhne"/>
              </a:rPr>
              <a:t>quantity, extended price, and return flag. </a:t>
            </a:r>
          </a:p>
          <a:p>
            <a:r>
              <a:rPr lang="en-US">
                <a:latin typeface="Söhne"/>
              </a:rPr>
              <a:t>Each l</a:t>
            </a:r>
            <a:r>
              <a:rPr lang="en-US" b="0" i="0">
                <a:effectLst/>
                <a:latin typeface="Söhne"/>
              </a:rPr>
              <a:t>ine item (with in an order is identified by line no) corresponds to a part, we store id for this part,  its   size, and  its retail price. The Supplier supplies these parts. We store </a:t>
            </a:r>
            <a:r>
              <a:rPr lang="en-US" b="0" i="0" err="1">
                <a:effectLst/>
                <a:latin typeface="Söhne"/>
              </a:rPr>
              <a:t>supplier_id</a:t>
            </a:r>
            <a:r>
              <a:rPr lang="en-US" b="0" i="0">
                <a:effectLst/>
                <a:latin typeface="Söhne"/>
              </a:rPr>
              <a:t>, name, address and account balance for supplier. </a:t>
            </a:r>
          </a:p>
          <a:p>
            <a:r>
              <a:rPr lang="en-US" b="0" i="0">
                <a:effectLst/>
                <a:latin typeface="Söhne"/>
              </a:rPr>
              <a:t> Both suppliers and customers belongs to a nation. We store nation name, capital and region.w</a:t>
            </a:r>
            <a:endParaRPr lang="en-US"/>
          </a:p>
        </p:txBody>
      </p:sp>
      <p:sp>
        <p:nvSpPr>
          <p:cNvPr id="4" name="Slide Number Placeholder 3">
            <a:extLst>
              <a:ext uri="{FF2B5EF4-FFF2-40B4-BE49-F238E27FC236}">
                <a16:creationId xmlns:a16="http://schemas.microsoft.com/office/drawing/2014/main" id="{BBF5FB9B-EFA1-44AE-B85A-65B7864BBE24}"/>
              </a:ext>
            </a:extLst>
          </p:cNvPr>
          <p:cNvSpPr>
            <a:spLocks noGrp="1"/>
          </p:cNvSpPr>
          <p:nvPr>
            <p:ph type="sldNum" sz="quarter" idx="12"/>
          </p:nvPr>
        </p:nvSpPr>
        <p:spPr/>
        <p:txBody>
          <a:bodyPr/>
          <a:lstStyle/>
          <a:p>
            <a:fld id="{641C0F02-33DC-3A41-9F51-431B7FE03ABE}" type="slidenum">
              <a:rPr lang="en-US" smtClean="0"/>
              <a:t>135</a:t>
            </a:fld>
            <a:endParaRPr lang="en-US"/>
          </a:p>
        </p:txBody>
      </p:sp>
    </p:spTree>
    <p:extLst>
      <p:ext uri="{BB962C8B-B14F-4D97-AF65-F5344CB8AC3E}">
        <p14:creationId xmlns:p14="http://schemas.microsoft.com/office/powerpoint/2010/main" val="427836002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357E-E601-4994-90CC-9289C88120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EEA723-87A4-4A9C-A443-726AC71D1EDF}"/>
              </a:ext>
            </a:extLst>
          </p:cNvPr>
          <p:cNvSpPr>
            <a:spLocks noGrp="1"/>
          </p:cNvSpPr>
          <p:nvPr>
            <p:ph idx="1"/>
          </p:nvPr>
        </p:nvSpPr>
        <p:spPr/>
        <p:txBody>
          <a:bodyPr>
            <a:normAutofit fontScale="25000" lnSpcReduction="20000"/>
          </a:bodyPr>
          <a:lstStyle/>
          <a:p>
            <a:r>
              <a:rPr lang="en-US"/>
              <a:t>Employee(</a:t>
            </a:r>
          </a:p>
          <a:p>
            <a:r>
              <a:rPr lang="en-US"/>
              <a:t>SSN, </a:t>
            </a:r>
            <a:r>
              <a:rPr lang="en-US" err="1"/>
              <a:t>fname</a:t>
            </a:r>
            <a:r>
              <a:rPr lang="en-US"/>
              <a:t>, </a:t>
            </a:r>
            <a:r>
              <a:rPr lang="en-US" err="1"/>
              <a:t>lname</a:t>
            </a:r>
            <a:r>
              <a:rPr lang="en-US"/>
              <a:t>, </a:t>
            </a:r>
            <a:r>
              <a:rPr lang="en-US" err="1"/>
              <a:t>minit</a:t>
            </a:r>
            <a:r>
              <a:rPr lang="en-US"/>
              <a:t>, </a:t>
            </a:r>
            <a:r>
              <a:rPr lang="en-US" err="1"/>
              <a:t>bdate</a:t>
            </a:r>
            <a:r>
              <a:rPr lang="en-US"/>
              <a:t>, gender, salary, address,</a:t>
            </a:r>
          </a:p>
          <a:p>
            <a:r>
              <a:rPr lang="en-US" err="1"/>
              <a:t>d_number</a:t>
            </a:r>
            <a:r>
              <a:rPr lang="en-US"/>
              <a:t> NOT NULL,</a:t>
            </a:r>
          </a:p>
          <a:p>
            <a:r>
              <a:rPr lang="en-US" err="1"/>
              <a:t>supervisor_ssn</a:t>
            </a:r>
            <a:r>
              <a:rPr lang="en-US"/>
              <a:t> </a:t>
            </a:r>
          </a:p>
          <a:p>
            <a:r>
              <a:rPr lang="en-US"/>
              <a:t>primary key (SSN)</a:t>
            </a:r>
          </a:p>
          <a:p>
            <a:r>
              <a:rPr lang="en-US"/>
              <a:t> )</a:t>
            </a:r>
          </a:p>
          <a:p>
            <a:endParaRPr lang="en-US"/>
          </a:p>
          <a:p>
            <a:r>
              <a:rPr lang="en-US"/>
              <a:t>Department(Number, Name)</a:t>
            </a:r>
          </a:p>
          <a:p>
            <a:r>
              <a:rPr lang="en-US" err="1"/>
              <a:t>Dept_loc</a:t>
            </a:r>
            <a:r>
              <a:rPr lang="en-US"/>
              <a:t>(Number, location, </a:t>
            </a:r>
          </a:p>
          <a:p>
            <a:r>
              <a:rPr lang="en-US" err="1"/>
              <a:t>manager_ssn</a:t>
            </a:r>
            <a:r>
              <a:rPr lang="en-US"/>
              <a:t> NOT NULL</a:t>
            </a:r>
          </a:p>
          <a:p>
            <a:r>
              <a:rPr lang="en-US"/>
              <a:t>primary key (Number, location))</a:t>
            </a:r>
          </a:p>
          <a:p>
            <a:endParaRPr lang="en-US"/>
          </a:p>
          <a:p>
            <a:endParaRPr lang="en-US"/>
          </a:p>
          <a:p>
            <a:r>
              <a:rPr lang="en-US"/>
              <a:t>Project(Number, Name, Location, </a:t>
            </a:r>
          </a:p>
          <a:p>
            <a:r>
              <a:rPr lang="en-US" err="1"/>
              <a:t>department_number</a:t>
            </a:r>
            <a:r>
              <a:rPr lang="en-US"/>
              <a:t> NOT NULL)</a:t>
            </a:r>
          </a:p>
          <a:p>
            <a:endParaRPr lang="en-US"/>
          </a:p>
          <a:p>
            <a:r>
              <a:rPr lang="en-US" err="1"/>
              <a:t>Works_on</a:t>
            </a:r>
            <a:r>
              <a:rPr lang="en-US"/>
              <a:t>(</a:t>
            </a:r>
            <a:r>
              <a:rPr lang="en-US" err="1"/>
              <a:t>Project_number</a:t>
            </a:r>
            <a:r>
              <a:rPr lang="en-US"/>
              <a:t>, </a:t>
            </a:r>
            <a:r>
              <a:rPr lang="en-US" err="1"/>
              <a:t>ssn</a:t>
            </a:r>
            <a:r>
              <a:rPr lang="en-US"/>
              <a:t>, hours</a:t>
            </a:r>
          </a:p>
          <a:p>
            <a:r>
              <a:rPr lang="en-US"/>
              <a:t> primary key (</a:t>
            </a:r>
            <a:r>
              <a:rPr lang="en-US" err="1"/>
              <a:t>project_number</a:t>
            </a:r>
            <a:r>
              <a:rPr lang="en-US"/>
              <a:t>, </a:t>
            </a:r>
            <a:r>
              <a:rPr lang="en-US" err="1"/>
              <a:t>ssn</a:t>
            </a:r>
            <a:r>
              <a:rPr lang="en-US"/>
              <a:t>))</a:t>
            </a:r>
          </a:p>
          <a:p>
            <a:endParaRPr lang="en-US"/>
          </a:p>
          <a:p>
            <a:r>
              <a:rPr lang="en-US"/>
              <a:t> </a:t>
            </a:r>
          </a:p>
          <a:p>
            <a:endParaRPr lang="en-US"/>
          </a:p>
        </p:txBody>
      </p:sp>
      <p:sp>
        <p:nvSpPr>
          <p:cNvPr id="4" name="Slide Number Placeholder 3">
            <a:extLst>
              <a:ext uri="{FF2B5EF4-FFF2-40B4-BE49-F238E27FC236}">
                <a16:creationId xmlns:a16="http://schemas.microsoft.com/office/drawing/2014/main" id="{961F5C2E-D465-4C83-B94A-437349418DCD}"/>
              </a:ext>
            </a:extLst>
          </p:cNvPr>
          <p:cNvSpPr>
            <a:spLocks noGrp="1"/>
          </p:cNvSpPr>
          <p:nvPr>
            <p:ph type="sldNum" sz="quarter" idx="12"/>
          </p:nvPr>
        </p:nvSpPr>
        <p:spPr/>
        <p:txBody>
          <a:bodyPr/>
          <a:lstStyle/>
          <a:p>
            <a:fld id="{641C0F02-33DC-3A41-9F51-431B7FE03ABE}" type="slidenum">
              <a:rPr lang="en-US" smtClean="0"/>
              <a:t>136</a:t>
            </a:fld>
            <a:endParaRPr lang="en-US"/>
          </a:p>
        </p:txBody>
      </p:sp>
    </p:spTree>
    <p:extLst>
      <p:ext uri="{BB962C8B-B14F-4D97-AF65-F5344CB8AC3E}">
        <p14:creationId xmlns:p14="http://schemas.microsoft.com/office/powerpoint/2010/main" val="74441201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114752CFC3094F980FAD7CDAC4FA66" ma:contentTypeVersion="18" ma:contentTypeDescription="Create a new document." ma:contentTypeScope="" ma:versionID="32dfdce3e40c9d5c8163c3e36a9b21ca">
  <xsd:schema xmlns:xsd="http://www.w3.org/2001/XMLSchema" xmlns:xs="http://www.w3.org/2001/XMLSchema" xmlns:p="http://schemas.microsoft.com/office/2006/metadata/properties" xmlns:ns3="eba54558-70c8-458e-84bd-8e3810559bd2" xmlns:ns4="fd28b98c-9d4a-4855-a326-788d407ff55a" targetNamespace="http://schemas.microsoft.com/office/2006/metadata/properties" ma:root="true" ma:fieldsID="c08f2c9dfa94df1fd38324790de5c238" ns3:_="" ns4:_="">
    <xsd:import namespace="eba54558-70c8-458e-84bd-8e3810559bd2"/>
    <xsd:import namespace="fd28b98c-9d4a-4855-a326-788d407ff55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MediaServiceSearchPropertie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54558-70c8-458e-84bd-8e3810559b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description="" ma:hidden="true" ma:indexed="true" ma:internalName="MediaServiceDateTaken" ma:readOnly="true">
      <xsd:simpleType>
        <xsd:restriction base="dms:Text"/>
      </xsd:simpleType>
    </xsd:element>
    <xsd:element name="MediaServiceLocation" ma:index="17" nillable="true" ma:displayName="Location" ma:description="" ma:indexed="true"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28b98c-9d4a-4855-a326-788d407ff55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ba54558-70c8-458e-84bd-8e3810559bd2" xsi:nil="true"/>
  </documentManagement>
</p:properties>
</file>

<file path=customXml/itemProps1.xml><?xml version="1.0" encoding="utf-8"?>
<ds:datastoreItem xmlns:ds="http://schemas.openxmlformats.org/officeDocument/2006/customXml" ds:itemID="{6AD76220-B423-49E3-BC78-02055739801A}">
  <ds:schemaRefs>
    <ds:schemaRef ds:uri="http://schemas.microsoft.com/sharepoint/v3/contenttype/forms"/>
  </ds:schemaRefs>
</ds:datastoreItem>
</file>

<file path=customXml/itemProps2.xml><?xml version="1.0" encoding="utf-8"?>
<ds:datastoreItem xmlns:ds="http://schemas.openxmlformats.org/officeDocument/2006/customXml" ds:itemID="{A73C14FC-0314-47CE-8F6A-3F962FD98747}">
  <ds:schemaRefs>
    <ds:schemaRef ds:uri="eba54558-70c8-458e-84bd-8e3810559bd2"/>
    <ds:schemaRef ds:uri="fd28b98c-9d4a-4855-a326-788d407ff5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8511885-D670-4BF8-897F-794ABF3028A2}">
  <ds:schemaRefs>
    <ds:schemaRef ds:uri="eba54558-70c8-458e-84bd-8e3810559bd2"/>
    <ds:schemaRef ds:uri="fd28b98c-9d4a-4855-a326-788d407ff55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136</Slides>
  <Notes>30</Notes>
  <HiddenSlides>10</HiddenSlides>
  <ScaleCrop>false</ScaleCrop>
  <HeadingPairs>
    <vt:vector size="4" baseType="variant">
      <vt:variant>
        <vt:lpstr>Theme</vt:lpstr>
      </vt:variant>
      <vt:variant>
        <vt:i4>1</vt:i4>
      </vt:variant>
      <vt:variant>
        <vt:lpstr>Slide Titles</vt:lpstr>
      </vt:variant>
      <vt:variant>
        <vt:i4>136</vt:i4>
      </vt:variant>
    </vt:vector>
  </HeadingPairs>
  <TitlesOfParts>
    <vt:vector size="137" baseType="lpstr">
      <vt:lpstr>1_Office Theme</vt:lpstr>
      <vt:lpstr>The E/R Model</vt:lpstr>
      <vt:lpstr>1. E/R Basics: Entities &amp; Relations</vt:lpstr>
      <vt:lpstr>Database Design</vt:lpstr>
      <vt:lpstr>Database Design Process</vt:lpstr>
      <vt:lpstr>Database Design Process</vt:lpstr>
      <vt:lpstr>Database Design Process</vt:lpstr>
      <vt:lpstr>Database Design Process</vt:lpstr>
      <vt:lpstr>Interlude: Impact of the ER model</vt:lpstr>
      <vt:lpstr>Entities and Entity Sets</vt:lpstr>
      <vt:lpstr>Entities and Entity Sets</vt:lpstr>
      <vt:lpstr>Entities vs. Entity Sets</vt:lpstr>
      <vt:lpstr>Keys</vt:lpstr>
      <vt:lpstr>Multivalued and Derived Attributes</vt:lpstr>
      <vt:lpstr>The R in E/R: Relationships</vt:lpstr>
      <vt:lpstr>What is a Relationship?</vt:lpstr>
      <vt:lpstr>What is a Relationship?</vt:lpstr>
      <vt:lpstr>What is a Relationship?</vt:lpstr>
      <vt:lpstr>What is a Relationship?</vt:lpstr>
      <vt:lpstr>What is a Relationship?</vt:lpstr>
      <vt:lpstr>What is a Relationship?</vt:lpstr>
      <vt:lpstr>What is a Relationship?</vt:lpstr>
      <vt:lpstr>What is a Relationship?</vt:lpstr>
      <vt:lpstr>What is a Relationship?</vt:lpstr>
      <vt:lpstr>Relationships and Attributes</vt:lpstr>
      <vt:lpstr>Relationships</vt:lpstr>
      <vt:lpstr>Conceptual Unary Relationship</vt:lpstr>
      <vt:lpstr>Conceptual Binary Relationship</vt:lpstr>
      <vt:lpstr>Conceptual Ternary Relationship</vt:lpstr>
      <vt:lpstr>Multiplicity of E/R Relationships</vt:lpstr>
      <vt:lpstr>Minimum Cardinality</vt:lpstr>
      <vt:lpstr>Maximum Cardinality</vt:lpstr>
      <vt:lpstr> </vt:lpstr>
      <vt:lpstr> </vt:lpstr>
      <vt:lpstr>Decision: Relationship vs. Entity?</vt:lpstr>
      <vt:lpstr>Multi-way Relationships</vt:lpstr>
      <vt:lpstr>Arrows in Multiway Relationships</vt:lpstr>
      <vt:lpstr>Arrows in Multiway Relationships</vt:lpstr>
      <vt:lpstr>Arrows in Multiway Relationships</vt:lpstr>
      <vt:lpstr>Converting Multi-way Relationships to Binary</vt:lpstr>
      <vt:lpstr>Decision: Multi-way or New Entity + Binary?</vt:lpstr>
      <vt:lpstr>Decision: Relationship vs. Entity?</vt:lpstr>
      <vt:lpstr>3. Design Principles</vt:lpstr>
      <vt:lpstr>Design Principles: What’s Wrong?</vt:lpstr>
      <vt:lpstr>Design Principles: What’s Wrong?</vt:lpstr>
      <vt:lpstr>Examples: Entity vs. Attribute</vt:lpstr>
      <vt:lpstr>Examples: Entity vs. Attribute</vt:lpstr>
      <vt:lpstr>Examples: Entity vs. Attribute</vt:lpstr>
      <vt:lpstr>ACTIVITY: E/R Diagrams</vt:lpstr>
      <vt:lpstr>DRAW AN E/R DIAGRAM FOR FOOTBALL</vt:lpstr>
      <vt:lpstr>Note two copies of  the Teams entity  here!</vt:lpstr>
      <vt:lpstr>PowerPoint Presentation</vt:lpstr>
      <vt:lpstr>PowerPoint Presentation</vt:lpstr>
      <vt:lpstr>PowerPoint Presentation</vt:lpstr>
      <vt:lpstr>PowerPoint Presentation</vt:lpstr>
      <vt:lpstr>PowerPoint Presentation</vt:lpstr>
      <vt:lpstr>ENHANCE YOUR E/R DIAGRAM!</vt:lpstr>
      <vt:lpstr>PowerPoint Presentation</vt:lpstr>
      <vt:lpstr>Mapping natural language</vt:lpstr>
      <vt:lpstr>E/R Summary</vt:lpstr>
      <vt:lpstr>From E/R Diagrams to Relational Schema</vt:lpstr>
      <vt:lpstr>From E/R Diagrams to Relational Schema</vt:lpstr>
      <vt:lpstr>From E/R Diagrams to Relational Schema</vt:lpstr>
      <vt:lpstr>From E/R Diagrams to Relational Schema</vt:lpstr>
      <vt:lpstr>From E/R Diagrams to Relational Schema</vt:lpstr>
      <vt:lpstr>From E/R Diagram to Relational Schema</vt:lpstr>
      <vt:lpstr>PowerPoint Presentation</vt:lpstr>
      <vt:lpstr>PowerPoint Presentation</vt:lpstr>
      <vt:lpstr>PowerPoint Presentation</vt:lpstr>
      <vt:lpstr>ER-to-Relational Mapping Algorithm</vt:lpstr>
      <vt:lpstr>ER-to-Relational Mapping Algorithm (cont’d.)</vt:lpstr>
      <vt:lpstr>ER-to-Relational Mapping Algorithm (cont’d.)</vt:lpstr>
      <vt:lpstr>ER-to-Relational Mapping Algorithm (cont’d.)</vt:lpstr>
      <vt:lpstr>ER-to-Relational Mapping Algorithm (cont’d.)</vt:lpstr>
      <vt:lpstr>ER-to-Relational Mapping Algorithm (cont’d.)</vt:lpstr>
      <vt:lpstr>ER-to-Relational Mapping Algorithm (cont’d.)</vt:lpstr>
      <vt:lpstr>Discussion and Summary of Mapping for ER Model Constructs</vt:lpstr>
      <vt:lpstr>PowerPoint Presentation</vt:lpstr>
      <vt:lpstr>Mapping Summary</vt:lpstr>
      <vt:lpstr>Example in Class</vt:lpstr>
      <vt:lpstr>Example in Class</vt:lpstr>
      <vt:lpstr>Not Recommended</vt:lpstr>
      <vt:lpstr>PowerPoint Presentation</vt:lpstr>
      <vt:lpstr>3. Advanced E/R Concepts (EERD)</vt:lpstr>
      <vt:lpstr>Modeling Subclasses</vt:lpstr>
      <vt:lpstr> </vt:lpstr>
      <vt:lpstr>Understanding Subclasses</vt:lpstr>
      <vt:lpstr> Think like tables… </vt:lpstr>
      <vt:lpstr>IsA Review</vt:lpstr>
      <vt:lpstr>Modeling UnionTypes With Subclasses</vt:lpstr>
      <vt:lpstr>Modeling Union Types with Subclasses</vt:lpstr>
      <vt:lpstr>Modeling Union Types with Subclasses</vt:lpstr>
      <vt:lpstr>Constraints in E/R Diagrams</vt:lpstr>
      <vt:lpstr>Participation Constraints: Partial v. Total</vt:lpstr>
      <vt:lpstr> Keys in E/R Diagrams</vt:lpstr>
      <vt:lpstr>Single Value Constraints</vt:lpstr>
      <vt:lpstr>Referential Integrity Constraints</vt:lpstr>
      <vt:lpstr>Weak Entity Sets</vt:lpstr>
      <vt:lpstr>Weak Entity Sets</vt:lpstr>
      <vt:lpstr>Strong and Weak Entities</vt:lpstr>
      <vt:lpstr>ACTIVITY: E/R Diagrams</vt:lpstr>
      <vt:lpstr>PowerPoint Presentation</vt:lpstr>
      <vt:lpstr>PowerPoint Presentation</vt:lpstr>
      <vt:lpstr>ADD IN: SUBCLASSES, CONSTRAINTS,  AND WEAK ENTITY SETS</vt:lpstr>
      <vt:lpstr>PowerPoint Presentation</vt:lpstr>
      <vt:lpstr>PowerPoint Presentation</vt:lpstr>
      <vt:lpstr>ER-to-Relational Mapping Algorithm (cont’d.)</vt:lpstr>
      <vt:lpstr>PowerPoint Presentation</vt:lpstr>
      <vt:lpstr>Mapping EER Model Constructs to Relations</vt:lpstr>
      <vt:lpstr>Mapping of Specialization or Generalization</vt:lpstr>
      <vt:lpstr>Mapping of Specialization or Generalization (cont’d.)</vt:lpstr>
      <vt:lpstr>Mapping of Shared Subclasses (Multiple Inheritance)</vt:lpstr>
      <vt:lpstr>Mapping of Categories (Union Types)</vt:lpstr>
      <vt:lpstr>PowerPoint Presentation</vt:lpstr>
      <vt:lpstr>Chen Notation (Summary)</vt:lpstr>
      <vt:lpstr>Example</vt:lpstr>
      <vt:lpstr>ERD Examples</vt:lpstr>
      <vt:lpstr>PowerPoint Presentation</vt:lpstr>
      <vt:lpstr>PowerPoint Presentation</vt:lpstr>
      <vt:lpstr>PowerPoint Presentation</vt:lpstr>
      <vt:lpstr>PowerPoint Presentation</vt:lpstr>
      <vt:lpstr>PowerPoint Presentation</vt:lpstr>
      <vt:lpstr>Advanced Notation</vt:lpstr>
      <vt:lpstr>Weak Entity in E/R Diagrams</vt:lpstr>
      <vt:lpstr>ERD Problems</vt:lpstr>
      <vt:lpstr>Congress</vt:lpstr>
      <vt:lpstr>PowerPoint Presentation</vt:lpstr>
      <vt:lpstr>Problem 2</vt:lpstr>
      <vt:lpstr>PowerPoint Presentation</vt:lpstr>
      <vt:lpstr>PowerPoint Presentation</vt:lpstr>
      <vt:lpstr>Convert to logical Schema</vt:lpstr>
      <vt:lpstr>PowerPoint Presentation</vt:lpstr>
      <vt:lpstr>Convert to logical Schema</vt:lpstr>
      <vt:lpstr>PowerPoint Presentation</vt:lpstr>
      <vt:lpstr>PowerPoint Presentation</vt:lpstr>
      <vt:lpstr>ERD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The ER Model</dc:title>
  <dc:creator>Alex Ratner</dc:creator>
  <cp:revision>95</cp:revision>
  <dcterms:created xsi:type="dcterms:W3CDTF">2015-09-18T05:48:25Z</dcterms:created>
  <dcterms:modified xsi:type="dcterms:W3CDTF">2026-10-13T04:27:16Z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0x01010011114752CFC3094F980FAD7CDAC4FA66</vt:lpwstr>
  </property>
</Properties>
</file>